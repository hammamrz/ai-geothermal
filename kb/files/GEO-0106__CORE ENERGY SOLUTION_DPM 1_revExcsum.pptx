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2.xml" ContentType="application/vnd.openxmlformats-officedocument.presentationml.notesSlid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147483177" r:id="rId2"/>
    <p:sldId id="2147483181" r:id="rId3"/>
    <p:sldId id="2147483180" r:id="rId4"/>
    <p:sldId id="2147483182" r:id="rId5"/>
    <p:sldId id="2147483198" r:id="rId6"/>
    <p:sldId id="2147483199" r:id="rId7"/>
    <p:sldId id="2147483200" r:id="rId8"/>
    <p:sldId id="2147483201" r:id="rId9"/>
    <p:sldId id="2147483183" r:id="rId10"/>
    <p:sldId id="2147483195" r:id="rId11"/>
    <p:sldId id="2147483196" r:id="rId12"/>
    <p:sldId id="2147483197" r:id="rId13"/>
    <p:sldId id="2147483184" r:id="rId14"/>
    <p:sldId id="2147483179" r:id="rId15"/>
    <p:sldId id="2147483185" r:id="rId16"/>
    <p:sldId id="2147483214" r:id="rId17"/>
    <p:sldId id="2147483215" r:id="rId18"/>
    <p:sldId id="2147483216" r:id="rId19"/>
    <p:sldId id="2147483217" r:id="rId20"/>
    <p:sldId id="2147483218" r:id="rId21"/>
    <p:sldId id="2147483219" r:id="rId22"/>
    <p:sldId id="2147483220" r:id="rId23"/>
    <p:sldId id="2147483186" r:id="rId24"/>
    <p:sldId id="2147483178" r:id="rId25"/>
    <p:sldId id="2147483203" r:id="rId26"/>
    <p:sldId id="2147483204" r:id="rId27"/>
    <p:sldId id="2147483205" r:id="rId28"/>
    <p:sldId id="2147483187" r:id="rId29"/>
    <p:sldId id="2147483206" r:id="rId30"/>
    <p:sldId id="2147483207" r:id="rId31"/>
    <p:sldId id="2147483188" r:id="rId32"/>
    <p:sldId id="2147483192" r:id="rId33"/>
    <p:sldId id="2147483193" r:id="rId34"/>
    <p:sldId id="2147483189" r:id="rId35"/>
    <p:sldId id="2147483221" r:id="rId36"/>
    <p:sldId id="2147483222" r:id="rId37"/>
    <p:sldId id="2147483190" r:id="rId38"/>
    <p:sldId id="2147483202" r:id="rId39"/>
    <p:sldId id="214748319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id="{FED5965F-868E-4EEE-8ADC-741D4DD4FBCD}">
          <p14:sldIdLst>
            <p14:sldId id="2147483177"/>
          </p14:sldIdLst>
        </p14:section>
        <p14:section name="TEAM" id="{0A67E460-23B2-4C18-8E9E-3273FEA22B56}">
          <p14:sldIdLst>
            <p14:sldId id="2147483181"/>
          </p14:sldIdLst>
        </p14:section>
        <p14:section name="OUTLINE" id="{E44FEFE2-D81C-4AAF-BADA-7B0CC9495AF7}">
          <p14:sldIdLst>
            <p14:sldId id="2147483180"/>
          </p14:sldIdLst>
        </p14:section>
        <p14:section name="EXECUTIVE SUMMARY" id="{3F218EC5-FFA0-4397-AC24-E81A3A1C483B}">
          <p14:sldIdLst>
            <p14:sldId id="2147483182"/>
            <p14:sldId id="2147483198"/>
            <p14:sldId id="2147483199"/>
            <p14:sldId id="2147483200"/>
            <p14:sldId id="2147483201"/>
          </p14:sldIdLst>
        </p14:section>
        <p14:section name="LOCATION, GEOGRAPHY, &amp; SURFACE RECONNAISSANCE" id="{D782901F-230B-4FF3-B970-F4D636C4750C}">
          <p14:sldIdLst>
            <p14:sldId id="2147483183"/>
            <p14:sldId id="2147483195"/>
            <p14:sldId id="2147483196"/>
            <p14:sldId id="2147483197"/>
          </p14:sldIdLst>
        </p14:section>
        <p14:section name="SUBSURFACE GEOLOGICAL PROGNOSIS (G&amp;G DATA)" id="{798CFDE0-DA47-4BAC-93E8-E5698314A0BE}">
          <p14:sldIdLst>
            <p14:sldId id="2147483184"/>
            <p14:sldId id="2147483179"/>
          </p14:sldIdLst>
        </p14:section>
        <p14:section name="OFFSET WELL ANALYSIS &amp; LESSONS LEARNED" id="{36E1D808-CF3F-4D0A-9F43-E036E776FBA5}">
          <p14:sldIdLst>
            <p14:sldId id="2147483185"/>
            <p14:sldId id="2147483214"/>
            <p14:sldId id="2147483215"/>
            <p14:sldId id="2147483216"/>
            <p14:sldId id="2147483217"/>
            <p14:sldId id="2147483218"/>
            <p14:sldId id="2147483219"/>
            <p14:sldId id="2147483220"/>
          </p14:sldIdLst>
        </p14:section>
        <p14:section name="CONCEPTUAL WELL CONSTRUCTION DESIGN (PRE-BOD)" id="{2EC5A923-61DF-453D-97A3-AC1CB9F9C534}">
          <p14:sldIdLst>
            <p14:sldId id="2147483186"/>
            <p14:sldId id="2147483178"/>
            <p14:sldId id="2147483203"/>
            <p14:sldId id="2147483204"/>
            <p14:sldId id="2147483205"/>
          </p14:sldIdLst>
        </p14:section>
        <p14:section name="MINIMUM RIG SPECIFICATIONS &amp; CRITICAL THIRD-PARTY SERVICES" id="{5ABB7191-4601-48B7-8D39-029DAF3B7B21}">
          <p14:sldIdLst>
            <p14:sldId id="2147483187"/>
            <p14:sldId id="2147483206"/>
            <p14:sldId id="2147483207"/>
          </p14:sldIdLst>
        </p14:section>
        <p14:section name="PROJECT RISK ASSESSMENT &amp; MITIGATION MATRIX (Corrected Position)" id="{73F0B494-3E6B-4F94-AC71-8431C017FCC3}">
          <p14:sldIdLst>
            <p14:sldId id="2147483188"/>
            <p14:sldId id="2147483192"/>
            <p14:sldId id="2147483193"/>
          </p14:sldIdLst>
        </p14:section>
        <p14:section name="PROJECT ECONOMICS &amp; PRELIMINARY AFE" id="{A929E6EC-6C53-4C73-AC5F-E5E71E372677}">
          <p14:sldIdLst>
            <p14:sldId id="2147483189"/>
            <p14:sldId id="2147483221"/>
            <p14:sldId id="2147483222"/>
          </p14:sldIdLst>
        </p14:section>
        <p14:section name="PRE-EXECUTION MILESTONES &amp; ROADMAP TO SPUD" id="{295D5A34-28F6-4258-A924-2D4CF75ABF68}">
          <p14:sldIdLst>
            <p14:sldId id="2147483190"/>
            <p14:sldId id="2147483202"/>
          </p14:sldIdLst>
        </p14:section>
        <p14:section name="CLOSING" id="{E7E833DB-8497-4742-85D0-A36283EC94D4}">
          <p14:sldIdLst>
            <p14:sldId id="21474831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9" autoAdjust="0"/>
    <p:restoredTop sz="94660"/>
  </p:normalViewPr>
  <p:slideViewPr>
    <p:cSldViewPr snapToGrid="0">
      <p:cViewPr>
        <p:scale>
          <a:sx n="71" d="100"/>
          <a:sy n="71"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HAMMAM REZA" userId="6f12bb17-f50d-4a66-af65-c2edb74213f0" providerId="ADAL" clId="{4BCD087C-5691-494D-8925-9B1271805249}"/>
    <pc:docChg chg="undo custSel modSld">
      <pc:chgData name="MUHAMMAD HAMMAM REZA" userId="6f12bb17-f50d-4a66-af65-c2edb74213f0" providerId="ADAL" clId="{4BCD087C-5691-494D-8925-9B1271805249}" dt="2026-06-27T02:56:26.301" v="289" actId="114"/>
      <pc:docMkLst>
        <pc:docMk/>
      </pc:docMkLst>
      <pc:sldChg chg="addSp delSp modSp mod">
        <pc:chgData name="MUHAMMAD HAMMAM REZA" userId="6f12bb17-f50d-4a66-af65-c2edb74213f0" providerId="ADAL" clId="{4BCD087C-5691-494D-8925-9B1271805249}" dt="2026-06-27T02:56:26.301" v="289" actId="114"/>
        <pc:sldMkLst>
          <pc:docMk/>
          <pc:sldMk cId="0" sldId="2147483198"/>
        </pc:sldMkLst>
        <pc:spChg chg="add mod">
          <ac:chgData name="MUHAMMAD HAMMAM REZA" userId="6f12bb17-f50d-4a66-af65-c2edb74213f0" providerId="ADAL" clId="{4BCD087C-5691-494D-8925-9B1271805249}" dt="2026-06-27T02:56:26.301" v="289" actId="114"/>
          <ac:spMkLst>
            <pc:docMk/>
            <pc:sldMk cId="0" sldId="2147483198"/>
            <ac:spMk id="3" creationId="{9FE4ECCD-1C8D-FB89-4B65-1F7207D8BE8D}"/>
          </ac:spMkLst>
        </pc:spChg>
        <pc:spChg chg="mod">
          <ac:chgData name="MUHAMMAD HAMMAM REZA" userId="6f12bb17-f50d-4a66-af65-c2edb74213f0" providerId="ADAL" clId="{4BCD087C-5691-494D-8925-9B1271805249}" dt="2026-06-27T02:52:01.697" v="0" actId="20577"/>
          <ac:spMkLst>
            <pc:docMk/>
            <pc:sldMk cId="0" sldId="2147483198"/>
            <ac:spMk id="12" creationId="{00000000-0000-0000-0000-000000000000}"/>
          </ac:spMkLst>
        </pc:spChg>
        <pc:graphicFrameChg chg="add del mod">
          <ac:chgData name="MUHAMMAD HAMMAM REZA" userId="6f12bb17-f50d-4a66-af65-c2edb74213f0" providerId="ADAL" clId="{4BCD087C-5691-494D-8925-9B1271805249}" dt="2026-06-27T02:55:13" v="204" actId="478"/>
          <ac:graphicFrameMkLst>
            <pc:docMk/>
            <pc:sldMk cId="0" sldId="2147483198"/>
            <ac:graphicFrameMk id="20" creationId="{9C6136B6-20AD-BCAF-39B6-F3808390F25B}"/>
          </ac:graphicFrameMkLst>
        </pc:graphicFrameChg>
        <pc:graphicFrameChg chg="add del">
          <ac:chgData name="MUHAMMAD HAMMAM REZA" userId="6f12bb17-f50d-4a66-af65-c2edb74213f0" providerId="ADAL" clId="{4BCD087C-5691-494D-8925-9B1271805249}" dt="2026-06-27T02:55:13" v="204" actId="478"/>
          <ac:graphicFrameMkLst>
            <pc:docMk/>
            <pc:sldMk cId="0" sldId="2147483198"/>
            <ac:graphicFrameMk id="22" creationId="{C731520F-BC54-1A93-7020-506E47B2478A}"/>
          </ac:graphicFrameMkLst>
        </pc:graphicFrameChg>
      </pc:sldChg>
      <pc:sldChg chg="addSp modSp mod">
        <pc:chgData name="MUHAMMAD HAMMAM REZA" userId="6f12bb17-f50d-4a66-af65-c2edb74213f0" providerId="ADAL" clId="{4BCD087C-5691-494D-8925-9B1271805249}" dt="2026-06-27T02:56:17.391" v="286" actId="1036"/>
        <pc:sldMkLst>
          <pc:docMk/>
          <pc:sldMk cId="0" sldId="2147483201"/>
        </pc:sldMkLst>
        <pc:spChg chg="add mod">
          <ac:chgData name="MUHAMMAD HAMMAM REZA" userId="6f12bb17-f50d-4a66-af65-c2edb74213f0" providerId="ADAL" clId="{4BCD087C-5691-494D-8925-9B1271805249}" dt="2026-06-27T02:56:17.391" v="286" actId="1036"/>
          <ac:spMkLst>
            <pc:docMk/>
            <pc:sldMk cId="0" sldId="2147483201"/>
            <ac:spMk id="13" creationId="{5A5060BF-C918-7EC3-9BBE-83A333F3AEA1}"/>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Chart%20in%20Microsoft%20PowerPoint"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oleObject" Target="https://ptptmn-my.sharepoint.com/personal/mk_asri_sirait_pertamina_com/Documents/Documents/JDS/DPM%201%20Forecas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Cement Return Volume by Well (bbls)</a:t>
            </a:r>
          </a:p>
        </c:rich>
      </c:tx>
      <c:overlay val="0"/>
    </c:title>
    <c:autoTitleDeleted val="0"/>
    <c:plotArea>
      <c:layout/>
      <c:barChart>
        <c:barDir val="col"/>
        <c:grouping val="clustered"/>
        <c:varyColors val="0"/>
        <c:ser>
          <c:idx val="0"/>
          <c:order val="0"/>
          <c:tx>
            <c:strRef>
              <c:f>Sheet1!$B$1</c:f>
              <c:strCache>
                <c:ptCount val="1"/>
                <c:pt idx="0">
                  <c:v>Surface Casing CMT Return (bbls)</c:v>
                </c:pt>
              </c:strCache>
            </c:strRef>
          </c:tx>
          <c:spPr>
            <a:solidFill>
              <a:srgbClr val="1E5FAD"/>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Alpha 001</c:v>
                </c:pt>
                <c:pt idx="1">
                  <c:v>Alpha 002</c:v>
                </c:pt>
                <c:pt idx="2">
                  <c:v>Alpha 003</c:v>
                </c:pt>
                <c:pt idx="3">
                  <c:v>Alpha 004</c:v>
                </c:pt>
                <c:pt idx="4">
                  <c:v>Alpha 005</c:v>
                </c:pt>
                <c:pt idx="5">
                  <c:v>Alpha 006</c:v>
                </c:pt>
              </c:strCache>
            </c:strRef>
          </c:cat>
          <c:val>
            <c:numRef>
              <c:f>Sheet1!$B$2:$B$7</c:f>
              <c:numCache>
                <c:formatCode>General</c:formatCode>
                <c:ptCount val="6"/>
                <c:pt idx="0">
                  <c:v>10</c:v>
                </c:pt>
                <c:pt idx="1">
                  <c:v>0</c:v>
                </c:pt>
                <c:pt idx="2">
                  <c:v>0</c:v>
                </c:pt>
                <c:pt idx="3">
                  <c:v>100</c:v>
                </c:pt>
                <c:pt idx="4">
                  <c:v>5</c:v>
                </c:pt>
                <c:pt idx="5">
                  <c:v>4</c:v>
                </c:pt>
              </c:numCache>
            </c:numRef>
          </c:val>
          <c:extLst>
            <c:ext xmlns:c16="http://schemas.microsoft.com/office/drawing/2014/chart" uri="{C3380CC4-5D6E-409C-BE32-E72D297353CC}">
              <c16:uniqueId val="{00000000-B5F2-4CAB-850F-5D428591E7F4}"/>
            </c:ext>
          </c:extLst>
        </c:ser>
        <c:ser>
          <c:idx val="1"/>
          <c:order val="1"/>
          <c:tx>
            <c:strRef>
              <c:f>Sheet1!$C$1</c:f>
              <c:strCache>
                <c:ptCount val="1"/>
                <c:pt idx="0">
                  <c:v>Production Casing CMT Return (bbls)</c:v>
                </c:pt>
              </c:strCache>
            </c:strRef>
          </c:tx>
          <c:spPr>
            <a:solidFill>
              <a:srgbClr val="E87722"/>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Alpha 001</c:v>
                </c:pt>
                <c:pt idx="1">
                  <c:v>Alpha 002</c:v>
                </c:pt>
                <c:pt idx="2">
                  <c:v>Alpha 003</c:v>
                </c:pt>
                <c:pt idx="3">
                  <c:v>Alpha 004</c:v>
                </c:pt>
                <c:pt idx="4">
                  <c:v>Alpha 005</c:v>
                </c:pt>
                <c:pt idx="5">
                  <c:v>Alpha 006</c:v>
                </c:pt>
              </c:strCache>
            </c:strRef>
          </c:cat>
          <c:val>
            <c:numRef>
              <c:f>Sheet1!$C$2:$C$7</c:f>
              <c:numCache>
                <c:formatCode>General</c:formatCode>
                <c:ptCount val="6"/>
                <c:pt idx="0">
                  <c:v>0</c:v>
                </c:pt>
                <c:pt idx="1">
                  <c:v>10</c:v>
                </c:pt>
                <c:pt idx="2">
                  <c:v>34</c:v>
                </c:pt>
                <c:pt idx="3">
                  <c:v>3</c:v>
                </c:pt>
                <c:pt idx="4">
                  <c:v>15</c:v>
                </c:pt>
                <c:pt idx="5">
                  <c:v>140</c:v>
                </c:pt>
              </c:numCache>
            </c:numRef>
          </c:val>
          <c:extLst>
            <c:ext xmlns:c16="http://schemas.microsoft.com/office/drawing/2014/chart" uri="{C3380CC4-5D6E-409C-BE32-E72D297353CC}">
              <c16:uniqueId val="{00000001-B5F2-4CAB-850F-5D428591E7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a:latin typeface="Telegraf"/>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Telegraf" panose="020B0604020202020204"/>
                <a:ea typeface="+mn-ea"/>
                <a:cs typeface="+mn-cs"/>
              </a:defRPr>
            </a:pPr>
            <a:r>
              <a:rPr lang="en-US"/>
              <a:t>ROP Comparison by Section ft/hr</a:t>
            </a:r>
          </a:p>
        </c:rich>
      </c:tx>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barChart>
        <c:barDir val="col"/>
        <c:grouping val="clustered"/>
        <c:varyColors val="0"/>
        <c:ser>
          <c:idx val="0"/>
          <c:order val="0"/>
          <c:tx>
            <c:strRef>
              <c:f>'[Chart in Microsoft PowerPoint]Sheet1'!$B$1</c:f>
              <c:strCache>
                <c:ptCount val="1"/>
                <c:pt idx="0">
                  <c:v>Surface Section (12.25" &amp; 17.5")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PowerPoint]Sheet1'!$B$2:$B$7</c:f>
              <c:numCache>
                <c:formatCode>General</c:formatCode>
                <c:ptCount val="6"/>
                <c:pt idx="0">
                  <c:v>48</c:v>
                </c:pt>
                <c:pt idx="1">
                  <c:v>47</c:v>
                </c:pt>
                <c:pt idx="2">
                  <c:v>47</c:v>
                </c:pt>
                <c:pt idx="3">
                  <c:v>49</c:v>
                </c:pt>
                <c:pt idx="4">
                  <c:v>50</c:v>
                </c:pt>
                <c:pt idx="5">
                  <c:v>52</c:v>
                </c:pt>
              </c:numCache>
            </c:numRef>
          </c:val>
          <c:extLst>
            <c:ext xmlns:c16="http://schemas.microsoft.com/office/drawing/2014/chart" uri="{C3380CC4-5D6E-409C-BE32-E72D297353CC}">
              <c16:uniqueId val="{00000000-738F-4441-BA18-A8C54602CFA0}"/>
            </c:ext>
          </c:extLst>
        </c:ser>
        <c:ser>
          <c:idx val="1"/>
          <c:order val="1"/>
          <c:tx>
            <c:strRef>
              <c:f>'[Chart in Microsoft PowerPoint]Sheet1'!$C$1</c:f>
              <c:strCache>
                <c:ptCount val="1"/>
                <c:pt idx="0">
                  <c:v>Intermediate Section (12.25")</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PowerPoint]Sheet1'!$C$2:$C$7</c:f>
              <c:numCache>
                <c:formatCode>General</c:formatCode>
                <c:ptCount val="6"/>
                <c:pt idx="3">
                  <c:v>44</c:v>
                </c:pt>
              </c:numCache>
            </c:numRef>
          </c:val>
          <c:extLst>
            <c:ext xmlns:c16="http://schemas.microsoft.com/office/drawing/2014/chart" uri="{C3380CC4-5D6E-409C-BE32-E72D297353CC}">
              <c16:uniqueId val="{00000001-738F-4441-BA18-A8C54602CFA0}"/>
            </c:ext>
          </c:extLst>
        </c:ser>
        <c:ser>
          <c:idx val="2"/>
          <c:order val="2"/>
          <c:tx>
            <c:strRef>
              <c:f>'[Chart in Microsoft PowerPoint]Sheet1'!$D$1</c:f>
              <c:strCache>
                <c:ptCount val="1"/>
                <c:pt idx="0">
                  <c:v>Production Section (8.5")</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Telegraf" panose="020B0604020202020204"/>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PowerPoint]Sheet1'!$A$2:$A$7</c:f>
              <c:strCache>
                <c:ptCount val="6"/>
                <c:pt idx="0">
                  <c:v>Alpha 001</c:v>
                </c:pt>
                <c:pt idx="1">
                  <c:v>Alpha 002</c:v>
                </c:pt>
                <c:pt idx="2">
                  <c:v>Alpha 003</c:v>
                </c:pt>
                <c:pt idx="3">
                  <c:v>Alpha 004</c:v>
                </c:pt>
                <c:pt idx="4">
                  <c:v>Alpha 005</c:v>
                </c:pt>
                <c:pt idx="5">
                  <c:v>Alpha 006</c:v>
                </c:pt>
              </c:strCache>
            </c:strRef>
          </c:cat>
          <c:val>
            <c:numRef>
              <c:f>'[Chart in Microsoft PowerPoint]Sheet1'!$D$2:$D$7</c:f>
              <c:numCache>
                <c:formatCode>General</c:formatCode>
                <c:ptCount val="6"/>
                <c:pt idx="0">
                  <c:v>39</c:v>
                </c:pt>
                <c:pt idx="1">
                  <c:v>41</c:v>
                </c:pt>
                <c:pt idx="2">
                  <c:v>44</c:v>
                </c:pt>
                <c:pt idx="3">
                  <c:v>45</c:v>
                </c:pt>
                <c:pt idx="4">
                  <c:v>43</c:v>
                </c:pt>
                <c:pt idx="5">
                  <c:v>47</c:v>
                </c:pt>
              </c:numCache>
            </c:numRef>
          </c:val>
          <c:extLst>
            <c:ext xmlns:c16="http://schemas.microsoft.com/office/drawing/2014/chart" uri="{C3380CC4-5D6E-409C-BE32-E72D297353CC}">
              <c16:uniqueId val="{00000002-738F-4441-BA18-A8C54602CFA0}"/>
            </c:ext>
          </c:extLst>
        </c:ser>
        <c:dLbls>
          <c:dLblPos val="outEnd"/>
          <c:showLegendKey val="0"/>
          <c:showVal val="1"/>
          <c:showCatName val="0"/>
          <c:showSerName val="0"/>
          <c:showPercent val="0"/>
          <c:showBubbleSize val="0"/>
        </c:dLbls>
        <c:gapWidth val="219"/>
        <c:overlap val="-27"/>
        <c:axId val="67637375"/>
        <c:axId val="67642783"/>
      </c:barChart>
      <c:catAx>
        <c:axId val="676373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crossAx val="67642783"/>
        <c:crosses val="autoZero"/>
        <c:auto val="1"/>
        <c:lblAlgn val="ctr"/>
        <c:lblOffset val="100"/>
        <c:noMultiLvlLbl val="0"/>
      </c:catAx>
      <c:valAx>
        <c:axId val="676427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crossAx val="67637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Telegraf" panose="020B0604020202020204"/>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Mud Weight vs FIT Range by Well</a:t>
            </a:r>
          </a:p>
        </c:rich>
      </c:tx>
      <c:overlay val="0"/>
    </c:title>
    <c:autoTitleDeleted val="0"/>
    <c:plotArea>
      <c:layout/>
      <c:lineChart>
        <c:grouping val="standard"/>
        <c:varyColors val="0"/>
        <c:ser>
          <c:idx val="0"/>
          <c:order val="0"/>
          <c:tx>
            <c:strRef>
              <c:f>Sheet1!$B$1</c:f>
              <c:strCache>
                <c:ptCount val="1"/>
                <c:pt idx="0">
                  <c:v>Min MW (ppg)</c:v>
                </c:pt>
              </c:strCache>
            </c:strRef>
          </c:tx>
          <c:spPr>
            <a:ln w="31750" cap="flat">
              <a:solidFill>
                <a:srgbClr val="2E9FD4"/>
              </a:solidFill>
              <a:prstDash val="solid"/>
              <a:round/>
            </a:ln>
            <a:effectLst/>
          </c:spPr>
          <c:marker>
            <c:symbol val="circle"/>
            <c:size val="6"/>
            <c:spPr>
              <a:solidFill>
                <a:srgbClr val="2E9FD4"/>
              </a:solidFill>
              <a:ln w="9525" cap="flat">
                <a:solidFill>
                  <a:srgbClr val="2E9FD4"/>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Sheet1!$B$2:$B$7</c:f>
              <c:numCache>
                <c:formatCode>General</c:formatCode>
                <c:ptCount val="6"/>
                <c:pt idx="0">
                  <c:v>8.8000000000000007</c:v>
                </c:pt>
                <c:pt idx="1">
                  <c:v>8.8000000000000007</c:v>
                </c:pt>
                <c:pt idx="2">
                  <c:v>8.6999999999999993</c:v>
                </c:pt>
                <c:pt idx="3">
                  <c:v>8.8000000000000007</c:v>
                </c:pt>
                <c:pt idx="4">
                  <c:v>8.8000000000000007</c:v>
                </c:pt>
                <c:pt idx="5">
                  <c:v>8.5</c:v>
                </c:pt>
              </c:numCache>
            </c:numRef>
          </c:val>
          <c:smooth val="0"/>
          <c:extLst>
            <c:ext xmlns:c16="http://schemas.microsoft.com/office/drawing/2014/chart" uri="{C3380CC4-5D6E-409C-BE32-E72D297353CC}">
              <c16:uniqueId val="{00000000-61E1-443C-ACE4-228A3EDA16C7}"/>
            </c:ext>
          </c:extLst>
        </c:ser>
        <c:ser>
          <c:idx val="1"/>
          <c:order val="1"/>
          <c:tx>
            <c:strRef>
              <c:f>Sheet1!$C$1</c:f>
              <c:strCache>
                <c:ptCount val="1"/>
                <c:pt idx="0">
                  <c:v>Max MW (ppg)</c:v>
                </c:pt>
              </c:strCache>
            </c:strRef>
          </c:tx>
          <c:spPr>
            <a:ln w="31750" cap="flat">
              <a:solidFill>
                <a:srgbClr val="CC2222"/>
              </a:solidFill>
              <a:prstDash val="solid"/>
              <a:round/>
            </a:ln>
            <a:effectLst/>
          </c:spPr>
          <c:marker>
            <c:symbol val="circle"/>
            <c:size val="6"/>
            <c:spPr>
              <a:solidFill>
                <a:srgbClr val="CC2222"/>
              </a:solidFill>
              <a:ln w="9525" cap="flat">
                <a:solidFill>
                  <a:srgbClr val="CC2222"/>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Sheet1!$C$2:$C$7</c:f>
              <c:numCache>
                <c:formatCode>General</c:formatCode>
                <c:ptCount val="6"/>
                <c:pt idx="0">
                  <c:v>9.8000000000000007</c:v>
                </c:pt>
                <c:pt idx="1">
                  <c:v>9.8000000000000007</c:v>
                </c:pt>
                <c:pt idx="2">
                  <c:v>10.1</c:v>
                </c:pt>
                <c:pt idx="3">
                  <c:v>9.4</c:v>
                </c:pt>
                <c:pt idx="4">
                  <c:v>10.7</c:v>
                </c:pt>
                <c:pt idx="5">
                  <c:v>9.6</c:v>
                </c:pt>
              </c:numCache>
            </c:numRef>
          </c:val>
          <c:smooth val="0"/>
          <c:extLst>
            <c:ext xmlns:c16="http://schemas.microsoft.com/office/drawing/2014/chart" uri="{C3380CC4-5D6E-409C-BE32-E72D297353CC}">
              <c16:uniqueId val="{00000001-61E1-443C-ACE4-228A3EDA16C7}"/>
            </c:ext>
          </c:extLst>
        </c:ser>
        <c:ser>
          <c:idx val="2"/>
          <c:order val="2"/>
          <c:tx>
            <c:strRef>
              <c:f>Sheet1!$D$1</c:f>
              <c:strCache>
                <c:ptCount val="1"/>
                <c:pt idx="0">
                  <c:v>FIT (ppg)</c:v>
                </c:pt>
              </c:strCache>
            </c:strRef>
          </c:tx>
          <c:spPr>
            <a:ln w="31750" cap="flat">
              <a:solidFill>
                <a:srgbClr val="E87722"/>
              </a:solidFill>
              <a:prstDash val="solid"/>
              <a:round/>
            </a:ln>
            <a:effectLst/>
          </c:spPr>
          <c:marker>
            <c:symbol val="circle"/>
            <c:size val="6"/>
            <c:spPr>
              <a:solidFill>
                <a:srgbClr val="E87722"/>
              </a:solidFill>
              <a:ln w="9525" cap="flat">
                <a:solidFill>
                  <a:srgbClr val="E87722"/>
                </a:solidFill>
                <a:prstDash val="solid"/>
                <a:round/>
              </a:ln>
              <a:effectLst/>
            </c:spPr>
          </c:marker>
          <c:cat>
            <c:strRef>
              <c:f>Sheet1!$A$2:$A$7</c:f>
              <c:strCache>
                <c:ptCount val="6"/>
                <c:pt idx="0">
                  <c:v>A-001</c:v>
                </c:pt>
                <c:pt idx="1">
                  <c:v>A-002</c:v>
                </c:pt>
                <c:pt idx="2">
                  <c:v>A-003</c:v>
                </c:pt>
                <c:pt idx="3">
                  <c:v>A-004</c:v>
                </c:pt>
                <c:pt idx="4">
                  <c:v>A-005</c:v>
                </c:pt>
                <c:pt idx="5">
                  <c:v>A-006</c:v>
                </c:pt>
              </c:strCache>
            </c:strRef>
          </c:cat>
          <c:val>
            <c:numRef>
              <c:f>Sheet1!$D$2:$D$7</c:f>
              <c:numCache>
                <c:formatCode>General</c:formatCode>
                <c:ptCount val="6"/>
                <c:pt idx="0">
                  <c:v>13.46</c:v>
                </c:pt>
                <c:pt idx="1">
                  <c:v>13.46</c:v>
                </c:pt>
                <c:pt idx="2">
                  <c:v>14.4</c:v>
                </c:pt>
                <c:pt idx="3">
                  <c:v>14.4</c:v>
                </c:pt>
                <c:pt idx="4">
                  <c:v>14.4</c:v>
                </c:pt>
                <c:pt idx="5">
                  <c:v>13.44</c:v>
                </c:pt>
              </c:numCache>
            </c:numRef>
          </c:val>
          <c:smooth val="0"/>
          <c:extLst>
            <c:ext xmlns:c16="http://schemas.microsoft.com/office/drawing/2014/chart" uri="{C3380CC4-5D6E-409C-BE32-E72D297353CC}">
              <c16:uniqueId val="{00000002-61E1-443C-ACE4-228A3EDA16C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a:latin typeface="Telegraf"/>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Contingency Budget Allocation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5023403324584425"/>
          <c:y val="0.2411450499193401"/>
          <c:w val="0.82198818897637793"/>
          <c:h val="0.54420028139187437"/>
        </c:manualLayout>
      </c:layout>
      <c:barChart>
        <c:barDir val="col"/>
        <c:grouping val="clustered"/>
        <c:varyColors val="0"/>
        <c:ser>
          <c:idx val="0"/>
          <c:order val="0"/>
          <c:tx>
            <c:strRef>
              <c:f>Sheet1!$E$6</c:f>
              <c:strCache>
                <c:ptCount val="1"/>
                <c:pt idx="0">
                  <c:v>Cost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Sheet1!$D$7:$D$10</c:f>
              <c:strCache>
                <c:ptCount val="4"/>
                <c:pt idx="0">
                  <c:v>Operational</c:v>
                </c:pt>
                <c:pt idx="1">
                  <c:v>Subsurface</c:v>
                </c:pt>
                <c:pt idx="2">
                  <c:v>HSE</c:v>
                </c:pt>
                <c:pt idx="3">
                  <c:v>Management Reserve</c:v>
                </c:pt>
              </c:strCache>
            </c:strRef>
          </c:cat>
          <c:val>
            <c:numRef>
              <c:f>Sheet1!$E$7:$E$10</c:f>
              <c:numCache>
                <c:formatCode>_("$"* #,##0_);_("$"* \(#,##0\);_("$"* "-"??_);_(@_)</c:formatCode>
                <c:ptCount val="4"/>
                <c:pt idx="0">
                  <c:v>855000</c:v>
                </c:pt>
                <c:pt idx="1">
                  <c:v>545000</c:v>
                </c:pt>
                <c:pt idx="2">
                  <c:v>265000</c:v>
                </c:pt>
                <c:pt idx="3">
                  <c:v>300000</c:v>
                </c:pt>
              </c:numCache>
            </c:numRef>
          </c:val>
          <c:extLst>
            <c:ext xmlns:c16="http://schemas.microsoft.com/office/drawing/2014/chart" uri="{C3380CC4-5D6E-409C-BE32-E72D297353CC}">
              <c16:uniqueId val="{00000000-8344-461B-9106-B10B527CB63A}"/>
            </c:ext>
          </c:extLst>
        </c:ser>
        <c:dLbls>
          <c:showLegendKey val="0"/>
          <c:showVal val="0"/>
          <c:showCatName val="0"/>
          <c:showSerName val="0"/>
          <c:showPercent val="0"/>
          <c:showBubbleSize val="0"/>
        </c:dLbls>
        <c:gapWidth val="219"/>
        <c:overlap val="-27"/>
        <c:axId val="1871689056"/>
        <c:axId val="1871697792"/>
      </c:barChart>
      <c:catAx>
        <c:axId val="187168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871697792"/>
        <c:crosses val="autoZero"/>
        <c:auto val="1"/>
        <c:lblAlgn val="ctr"/>
        <c:lblOffset val="100"/>
        <c:noMultiLvlLbl val="0"/>
      </c:catAx>
      <c:valAx>
        <c:axId val="1871697792"/>
        <c:scaling>
          <c:orientation val="minMax"/>
          <c:min val="100000"/>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1689056"/>
        <c:crosses val="autoZero"/>
        <c:crossBetween val="between"/>
        <c:majorUnit val="200000"/>
      </c:valAx>
      <c:spPr>
        <a:noFill/>
        <a:ln>
          <a:noFill/>
        </a:ln>
        <a:effectLst/>
      </c:spPr>
    </c:plotArea>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r>
              <a:rPr lang="en-US"/>
              <a:t>Production Forecast Alpha-07</a:t>
            </a:r>
          </a:p>
        </c:rich>
      </c:tx>
      <c:layout>
        <c:manualLayout>
          <c:xMode val="edge"/>
          <c:yMode val="edge"/>
          <c:x val="0.29323929453756714"/>
          <c:y val="1.1272985965895616E-2"/>
        </c:manualLayout>
      </c:layout>
      <c:overlay val="0"/>
      <c:spPr>
        <a:noFill/>
        <a:ln>
          <a:noFill/>
        </a:ln>
        <a:effectLst/>
      </c:spPr>
      <c:txPr>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endParaRPr lang="en-US"/>
        </a:p>
      </c:txPr>
    </c:title>
    <c:autoTitleDeleted val="0"/>
    <c:plotArea>
      <c:layout>
        <c:manualLayout>
          <c:layoutTarget val="inner"/>
          <c:xMode val="edge"/>
          <c:yMode val="edge"/>
          <c:x val="9.6776608802134165E-2"/>
          <c:y val="8.9084455770327003E-2"/>
          <c:w val="0.83667970273757486"/>
          <c:h val="0.77417365036034147"/>
        </c:manualLayout>
      </c:layout>
      <c:scatterChart>
        <c:scatterStyle val="smoothMarker"/>
        <c:varyColors val="0"/>
        <c:ser>
          <c:idx val="1"/>
          <c:order val="0"/>
          <c:tx>
            <c:v>DR 1</c:v>
          </c:tx>
          <c:spPr>
            <a:ln w="38100" cap="rnd">
              <a:solidFill>
                <a:schemeClr val="tx2">
                  <a:lumMod val="50000"/>
                  <a:lumOff val="50000"/>
                </a:schemeClr>
              </a:solidFill>
              <a:prstDash val="solid"/>
              <a:round/>
            </a:ln>
            <a:effectLst/>
          </c:spPr>
          <c:marker>
            <c:symbol val="none"/>
          </c:marker>
          <c:xVal>
            <c:numRef>
              <c:f>'ASNO P1'!$B$33:$B$39</c:f>
              <c:numCache>
                <c:formatCode>0</c:formatCode>
                <c:ptCount val="7"/>
                <c:pt idx="0">
                  <c:v>1</c:v>
                </c:pt>
                <c:pt idx="1">
                  <c:v>2</c:v>
                </c:pt>
                <c:pt idx="2">
                  <c:v>3</c:v>
                </c:pt>
                <c:pt idx="3">
                  <c:v>4</c:v>
                </c:pt>
                <c:pt idx="4">
                  <c:v>5</c:v>
                </c:pt>
                <c:pt idx="5">
                  <c:v>6</c:v>
                </c:pt>
                <c:pt idx="6">
                  <c:v>7</c:v>
                </c:pt>
              </c:numCache>
            </c:numRef>
          </c:xVal>
          <c:yVal>
            <c:numRef>
              <c:f>'ASNO P1'!$D$33:$D$39</c:f>
              <c:numCache>
                <c:formatCode>0</c:formatCode>
                <c:ptCount val="7"/>
                <c:pt idx="0">
                  <c:v>132</c:v>
                </c:pt>
                <c:pt idx="1">
                  <c:v>120.94089105791583</c:v>
                </c:pt>
                <c:pt idx="2">
                  <c:v>110.80832674153535</c:v>
                </c:pt>
                <c:pt idx="3">
                  <c:v>101.52468009665128</c:v>
                </c:pt>
                <c:pt idx="4">
                  <c:v>93.018827842870138</c:v>
                </c:pt>
                <c:pt idx="5">
                  <c:v>85.225605488481705</c:v>
                </c:pt>
                <c:pt idx="6">
                  <c:v>83.816950132584722</c:v>
                </c:pt>
              </c:numCache>
            </c:numRef>
          </c:yVal>
          <c:smooth val="1"/>
          <c:extLst xmlns:c15="http://schemas.microsoft.com/office/drawing/2012/chart">
            <c:ext xmlns:c16="http://schemas.microsoft.com/office/drawing/2014/chart" uri="{C3380CC4-5D6E-409C-BE32-E72D297353CC}">
              <c16:uniqueId val="{00000000-34F3-48D1-B6A0-920B6098073E}"/>
            </c:ext>
          </c:extLst>
        </c:ser>
        <c:ser>
          <c:idx val="4"/>
          <c:order val="1"/>
          <c:tx>
            <c:strRef>
              <c:f>'ASNO P1'!$V$31:$W$31</c:f>
              <c:strCache>
                <c:ptCount val="1"/>
                <c:pt idx="0">
                  <c:v>AL001</c:v>
                </c:pt>
              </c:strCache>
            </c:strRef>
          </c:tx>
          <c:spPr>
            <a:ln w="9525" cap="rnd">
              <a:solidFill>
                <a:schemeClr val="accent5"/>
              </a:solidFill>
              <a:prstDash val="dash"/>
              <a:round/>
            </a:ln>
            <a:effectLst/>
          </c:spPr>
          <c:marker>
            <c:symbol val="none"/>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P1'!$V$33:$V$106</c:f>
              <c:numCache>
                <c:formatCode>General</c:formatCode>
                <c:ptCount val="74"/>
                <c:pt idx="0">
                  <c:v>183</c:v>
                </c:pt>
                <c:pt idx="1">
                  <c:v>120.73</c:v>
                </c:pt>
                <c:pt idx="2">
                  <c:v>123.71</c:v>
                </c:pt>
                <c:pt idx="3">
                  <c:v>111.81</c:v>
                </c:pt>
                <c:pt idx="4">
                  <c:v>108.93</c:v>
                </c:pt>
                <c:pt idx="5">
                  <c:v>116.17</c:v>
                </c:pt>
                <c:pt idx="6">
                  <c:v>108.49</c:v>
                </c:pt>
                <c:pt idx="7">
                  <c:v>112.55</c:v>
                </c:pt>
                <c:pt idx="8">
                  <c:v>119.04</c:v>
                </c:pt>
                <c:pt idx="9">
                  <c:v>117.94</c:v>
                </c:pt>
                <c:pt idx="10">
                  <c:v>96.56</c:v>
                </c:pt>
                <c:pt idx="11">
                  <c:v>89.84</c:v>
                </c:pt>
                <c:pt idx="12">
                  <c:v>82.08</c:v>
                </c:pt>
                <c:pt idx="13">
                  <c:v>70.27</c:v>
                </c:pt>
                <c:pt idx="14">
                  <c:v>42.2</c:v>
                </c:pt>
                <c:pt idx="15">
                  <c:v>39.89</c:v>
                </c:pt>
                <c:pt idx="16">
                  <c:v>58.39</c:v>
                </c:pt>
                <c:pt idx="17">
                  <c:v>48.02</c:v>
                </c:pt>
                <c:pt idx="18">
                  <c:v>20.84</c:v>
                </c:pt>
                <c:pt idx="19">
                  <c:v>58.41</c:v>
                </c:pt>
                <c:pt idx="20">
                  <c:v>56.45</c:v>
                </c:pt>
                <c:pt idx="21">
                  <c:v>56.55</c:v>
                </c:pt>
                <c:pt idx="22">
                  <c:v>51.5</c:v>
                </c:pt>
                <c:pt idx="23">
                  <c:v>47.56</c:v>
                </c:pt>
                <c:pt idx="24">
                  <c:v>45.47</c:v>
                </c:pt>
                <c:pt idx="25">
                  <c:v>48.89</c:v>
                </c:pt>
                <c:pt idx="26">
                  <c:v>61.63</c:v>
                </c:pt>
                <c:pt idx="27">
                  <c:v>62.07</c:v>
                </c:pt>
                <c:pt idx="28">
                  <c:v>60.52</c:v>
                </c:pt>
                <c:pt idx="29">
                  <c:v>57.48</c:v>
                </c:pt>
                <c:pt idx="30">
                  <c:v>59.07</c:v>
                </c:pt>
                <c:pt idx="31">
                  <c:v>61.22</c:v>
                </c:pt>
                <c:pt idx="32">
                  <c:v>60.22</c:v>
                </c:pt>
                <c:pt idx="33">
                  <c:v>56.08</c:v>
                </c:pt>
                <c:pt idx="34">
                  <c:v>59.4</c:v>
                </c:pt>
                <c:pt idx="35">
                  <c:v>61.02</c:v>
                </c:pt>
                <c:pt idx="36">
                  <c:v>65.5</c:v>
                </c:pt>
                <c:pt idx="37">
                  <c:v>98.47</c:v>
                </c:pt>
                <c:pt idx="38">
                  <c:v>84.54</c:v>
                </c:pt>
                <c:pt idx="39">
                  <c:v>75.72</c:v>
                </c:pt>
                <c:pt idx="40">
                  <c:v>60.75</c:v>
                </c:pt>
                <c:pt idx="41">
                  <c:v>59.745890819663259</c:v>
                </c:pt>
                <c:pt idx="42">
                  <c:v>58.758378104281853</c:v>
                </c:pt>
                <c:pt idx="43">
                  <c:v>57.787187538418372</c:v>
                </c:pt>
                <c:pt idx="44">
                  <c:v>56.832049340670771</c:v>
                </c:pt>
                <c:pt idx="45">
                  <c:v>55.89269818873138</c:v>
                </c:pt>
                <c:pt idx="46">
                  <c:v>54.96887314568454</c:v>
                </c:pt>
                <c:pt idx="47">
                  <c:v>54.060317587522441</c:v>
                </c:pt>
                <c:pt idx="48">
                  <c:v>53.166779131859052</c:v>
                </c:pt>
                <c:pt idx="49">
                  <c:v>52.288009567822257</c:v>
                </c:pt>
                <c:pt idx="50">
                  <c:v>51.423764787104801</c:v>
                </c:pt>
                <c:pt idx="51">
                  <c:v>50.573804716154861</c:v>
                </c:pt>
                <c:pt idx="52">
                  <c:v>49.737893249487399</c:v>
                </c:pt>
                <c:pt idx="53">
                  <c:v>48.915798184097788</c:v>
                </c:pt>
                <c:pt idx="54">
                  <c:v>48.107291154959491</c:v>
                </c:pt>
                <c:pt idx="55">
                  <c:v>47.31214757158785</c:v>
                </c:pt>
                <c:pt idx="56">
                  <c:v>46.530146555652415</c:v>
                </c:pt>
                <c:pt idx="57">
                  <c:v>45.761070879620405</c:v>
                </c:pt>
                <c:pt idx="58">
                  <c:v>45.004706906414363</c:v>
                </c:pt>
                <c:pt idx="59">
                  <c:v>44.260844530067125</c:v>
                </c:pt>
                <c:pt idx="60">
                  <c:v>43.529277117357701</c:v>
                </c:pt>
                <c:pt idx="61">
                  <c:v>42.809801450411847</c:v>
                </c:pt>
                <c:pt idx="62">
                  <c:v>42.102217670251328</c:v>
                </c:pt>
                <c:pt idx="63">
                  <c:v>41.406329221276266</c:v>
                </c:pt>
                <c:pt idx="64">
                  <c:v>40.72194279666509</c:v>
                </c:pt>
                <c:pt idx="65">
                  <c:v>40.048868284676956</c:v>
                </c:pt>
                <c:pt idx="66">
                  <c:v>39.386918715841716</c:v>
                </c:pt>
                <c:pt idx="67">
                  <c:v>38.735910211022727</c:v>
                </c:pt>
                <c:pt idx="68">
                  <c:v>38.09566193033816</c:v>
                </c:pt>
                <c:pt idx="69">
                  <c:v>37.465996022926518</c:v>
                </c:pt>
                <c:pt idx="70">
                  <c:v>36.846737577542484</c:v>
                </c:pt>
                <c:pt idx="71">
                  <c:v>36.237714573969328</c:v>
                </c:pt>
                <c:pt idx="72">
                  <c:v>35.638757835234429</c:v>
                </c:pt>
                <c:pt idx="73">
                  <c:v>35.049700980614567</c:v>
                </c:pt>
              </c:numCache>
            </c:numRef>
          </c:yVal>
          <c:smooth val="1"/>
          <c:extLst>
            <c:ext xmlns:c16="http://schemas.microsoft.com/office/drawing/2014/chart" uri="{C3380CC4-5D6E-409C-BE32-E72D297353CC}">
              <c16:uniqueId val="{00000001-34F3-48D1-B6A0-920B6098073E}"/>
            </c:ext>
          </c:extLst>
        </c:ser>
        <c:ser>
          <c:idx val="5"/>
          <c:order val="2"/>
          <c:tx>
            <c:strRef>
              <c:f>'ASNO P1'!$Y$31:$Z$31</c:f>
              <c:strCache>
                <c:ptCount val="1"/>
                <c:pt idx="0">
                  <c:v>AL002</c:v>
                </c:pt>
              </c:strCache>
            </c:strRef>
          </c:tx>
          <c:spPr>
            <a:ln w="9525" cap="rnd">
              <a:solidFill>
                <a:schemeClr val="accent6"/>
              </a:solidFill>
              <a:prstDash val="dash"/>
              <a:round/>
            </a:ln>
            <a:effectLst/>
          </c:spPr>
          <c:marker>
            <c:symbol val="none"/>
          </c:marker>
          <c:xVal>
            <c:numRef>
              <c:f>'ASNO P1'!$B$33:$B$154</c:f>
              <c:numCache>
                <c:formatCode>0</c:formatCode>
                <c:ptCount val="12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numCache>
            </c:numRef>
          </c:xVal>
          <c:yVal>
            <c:numRef>
              <c:f>'ASNO P1'!$Y$33:$Y$154</c:f>
              <c:numCache>
                <c:formatCode>General</c:formatCode>
                <c:ptCount val="122"/>
                <c:pt idx="0">
                  <c:v>253.54</c:v>
                </c:pt>
                <c:pt idx="1">
                  <c:v>214.38</c:v>
                </c:pt>
                <c:pt idx="2">
                  <c:v>131.79</c:v>
                </c:pt>
                <c:pt idx="3">
                  <c:v>157.76</c:v>
                </c:pt>
                <c:pt idx="4">
                  <c:v>133.63</c:v>
                </c:pt>
                <c:pt idx="5">
                  <c:v>135.24</c:v>
                </c:pt>
                <c:pt idx="6">
                  <c:v>137.22</c:v>
                </c:pt>
                <c:pt idx="7">
                  <c:v>125.79</c:v>
                </c:pt>
                <c:pt idx="8">
                  <c:v>97.96</c:v>
                </c:pt>
                <c:pt idx="9">
                  <c:v>99.42</c:v>
                </c:pt>
                <c:pt idx="10">
                  <c:v>87.61</c:v>
                </c:pt>
                <c:pt idx="11">
                  <c:v>81.52</c:v>
                </c:pt>
                <c:pt idx="12">
                  <c:v>88.94</c:v>
                </c:pt>
                <c:pt idx="13">
                  <c:v>87.67</c:v>
                </c:pt>
                <c:pt idx="14">
                  <c:v>86.38</c:v>
                </c:pt>
                <c:pt idx="15">
                  <c:v>95.25</c:v>
                </c:pt>
                <c:pt idx="16">
                  <c:v>102.6</c:v>
                </c:pt>
                <c:pt idx="17">
                  <c:v>121.55</c:v>
                </c:pt>
                <c:pt idx="18">
                  <c:v>112.46</c:v>
                </c:pt>
                <c:pt idx="19">
                  <c:v>103.58</c:v>
                </c:pt>
                <c:pt idx="20">
                  <c:v>98.13</c:v>
                </c:pt>
                <c:pt idx="21">
                  <c:v>94.35</c:v>
                </c:pt>
                <c:pt idx="22">
                  <c:v>95.5</c:v>
                </c:pt>
                <c:pt idx="23">
                  <c:v>86.58</c:v>
                </c:pt>
                <c:pt idx="24">
                  <c:v>92.1</c:v>
                </c:pt>
                <c:pt idx="25">
                  <c:v>90.577720896970959</c:v>
                </c:pt>
                <c:pt idx="26">
                  <c:v>89.080602854392737</c:v>
                </c:pt>
                <c:pt idx="27">
                  <c:v>87.60822999651576</c:v>
                </c:pt>
                <c:pt idx="28">
                  <c:v>86.160193321411995</c:v>
                </c:pt>
                <c:pt idx="29">
                  <c:v>84.736090587360678</c:v>
                </c:pt>
                <c:pt idx="30">
                  <c:v>83.33552620111189</c:v>
                </c:pt>
                <c:pt idx="31">
                  <c:v>81.958111107997013</c:v>
                </c:pt>
                <c:pt idx="32">
                  <c:v>80.603462683855483</c:v>
                </c:pt>
                <c:pt idx="33">
                  <c:v>79.271204628747853</c:v>
                </c:pt>
                <c:pt idx="34">
                  <c:v>77.960966862425579</c:v>
                </c:pt>
                <c:pt idx="35">
                  <c:v>76.672385421528631</c:v>
                </c:pt>
                <c:pt idx="36">
                  <c:v>75.405102358482154</c:v>
                </c:pt>
                <c:pt idx="37">
                  <c:v>74.158765642064324</c:v>
                </c:pt>
                <c:pt idx="38">
                  <c:v>72.933029059617624</c:v>
                </c:pt>
                <c:pt idx="39">
                  <c:v>71.727552120876425</c:v>
                </c:pt>
                <c:pt idx="40">
                  <c:v>70.541999963384185</c:v>
                </c:pt>
                <c:pt idx="41">
                  <c:v>69.376043259473931</c:v>
                </c:pt>
                <c:pt idx="42">
                  <c:v>68.229358124786259</c:v>
                </c:pt>
                <c:pt idx="43">
                  <c:v>67.101626028299336</c:v>
                </c:pt>
                <c:pt idx="44">
                  <c:v>65.992533703846036</c:v>
                </c:pt>
                <c:pt idx="45">
                  <c:v>64.901773063093557</c:v>
                </c:pt>
                <c:pt idx="46">
                  <c:v>63.829041109961317</c:v>
                </c:pt>
                <c:pt idx="47">
                  <c:v>62.774039856453449</c:v>
                </c:pt>
                <c:pt idx="48">
                  <c:v>61.736476239882435</c:v>
                </c:pt>
                <c:pt idx="49">
                  <c:v>60.716062041460923</c:v>
                </c:pt>
                <c:pt idx="50">
                  <c:v>59.712513806239102</c:v>
                </c:pt>
                <c:pt idx="51">
                  <c:v>58.725552764365375</c:v>
                </c:pt>
                <c:pt idx="52">
                  <c:v>57.754904753648525</c:v>
                </c:pt>
                <c:pt idx="53">
                  <c:v>56.80030014339976</c:v>
                </c:pt>
                <c:pt idx="54">
                  <c:v>55.861473759533588</c:v>
                </c:pt>
                <c:pt idx="55">
                  <c:v>54.938164810906635</c:v>
                </c:pt>
                <c:pt idx="56">
                  <c:v>54.030116816873978</c:v>
                </c:pt>
                <c:pt idx="57">
                  <c:v>53.137077536042874</c:v>
                </c:pt>
                <c:pt idx="58">
                  <c:v>52.258798896204098</c:v>
                </c:pt>
                <c:pt idx="59">
                  <c:v>51.395036925421387</c:v>
                </c:pt>
                <c:pt idx="60">
                  <c:v>50.545551684259884</c:v>
                </c:pt>
                <c:pt idx="61">
                  <c:v>49.710107199134775</c:v>
                </c:pt>
                <c:pt idx="62">
                  <c:v>48.888471396761531</c:v>
                </c:pt>
                <c:pt idx="63">
                  <c:v>48.080416039689624</c:v>
                </c:pt>
                <c:pt idx="64">
                  <c:v>47.28571666290177</c:v>
                </c:pt>
                <c:pt idx="65">
                  <c:v>46.504152511461086</c:v>
                </c:pt>
                <c:pt idx="66">
                  <c:v>45.735506479188857</c:v>
                </c:pt>
                <c:pt idx="67">
                  <c:v>44.979565048355873</c:v>
                </c:pt>
                <c:pt idx="68">
                  <c:v>44.236118230370565</c:v>
                </c:pt>
                <c:pt idx="69">
                  <c:v>43.504959507447495</c:v>
                </c:pt>
                <c:pt idx="70">
                  <c:v>42.78588577523999</c:v>
                </c:pt>
                <c:pt idx="71">
                  <c:v>42.078697286420933</c:v>
                </c:pt>
                <c:pt idx="72">
                  <c:v>41.383197595196144</c:v>
                </c:pt>
                <c:pt idx="73">
                  <c:v>40.699193502734815</c:v>
                </c:pt>
                <c:pt idx="74">
                  <c:v>40.026495003501935</c:v>
                </c:pt>
                <c:pt idx="75">
                  <c:v>39.364915232477756</c:v>
                </c:pt>
                <c:pt idx="76">
                  <c:v>38.714270413249636</c:v>
                </c:pt>
                <c:pt idx="77">
                  <c:v>38.074379806961851</c:v>
                </c:pt>
                <c:pt idx="78">
                  <c:v>37.445065662109208</c:v>
                </c:pt>
                <c:pt idx="79">
                  <c:v>36.82615316516047</c:v>
                </c:pt>
                <c:pt idx="80">
                  <c:v>36.217470391997928</c:v>
                </c:pt>
                <c:pt idx="81">
                  <c:v>35.618848260159588</c:v>
                </c:pt>
                <c:pt idx="82">
                  <c:v>35.030120481870739</c:v>
                </c:pt>
                <c:pt idx="83">
                  <c:v>34.451123517851833</c:v>
                </c:pt>
                <c:pt idx="84">
                  <c:v>33.881696531889858</c:v>
                </c:pt>
                <c:pt idx="85">
                  <c:v>33.321681346160574</c:v>
                </c:pt>
                <c:pt idx="86">
                  <c:v>32.770922397289212</c:v>
                </c:pt>
                <c:pt idx="87">
                  <c:v>32.229266693137426</c:v>
                </c:pt>
                <c:pt idx="88">
                  <c:v>31.696563770304497</c:v>
                </c:pt>
                <c:pt idx="89">
                  <c:v>31.172665652330974</c:v>
                </c:pt>
                <c:pt idx="90">
                  <c:v>30.657426808593144</c:v>
                </c:pt>
                <c:pt idx="91">
                  <c:v>30.15070411387693</c:v>
                </c:pt>
                <c:pt idx="92">
                  <c:v>29.652356808619967</c:v>
                </c:pt>
                <c:pt idx="93">
                  <c:v>29.162246459810817</c:v>
                </c:pt>
                <c:pt idx="94">
                  <c:v>28.680236922534462</c:v>
                </c:pt>
                <c:pt idx="95">
                  <c:v>28.206194302153399</c:v>
                </c:pt>
                <c:pt idx="96">
                  <c:v>27.739986917113828</c:v>
                </c:pt>
                <c:pt idx="97">
                  <c:v>27.281485262366587</c:v>
                </c:pt>
                <c:pt idx="98">
                  <c:v>26.830561973392697</c:v>
                </c:pt>
                <c:pt idx="99">
                  <c:v>26.387091790823522</c:v>
                </c:pt>
                <c:pt idx="100">
                  <c:v>25.950951525645678</c:v>
                </c:pt>
                <c:pt idx="101">
                  <c:v>25.522020024981078</c:v>
                </c:pt>
                <c:pt idx="102">
                  <c:v>25.100178138432575</c:v>
                </c:pt>
                <c:pt idx="103">
                  <c:v>24.685308684985866</c:v>
                </c:pt>
                <c:pt idx="104">
                  <c:v>24.277296420458452</c:v>
                </c:pt>
                <c:pt idx="105">
                  <c:v>23.876028005486624</c:v>
                </c:pt>
                <c:pt idx="106">
                  <c:v>23.481391974041586</c:v>
                </c:pt>
                <c:pt idx="107">
                  <c:v>23.093278702465938</c:v>
                </c:pt>
                <c:pt idx="108">
                  <c:v>22.711580379021971</c:v>
                </c:pt>
                <c:pt idx="109">
                  <c:v>22.33619097394326</c:v>
                </c:pt>
                <c:pt idx="110">
                  <c:v>21.967006209981268</c:v>
                </c:pt>
                <c:pt idx="111">
                  <c:v>21.603923533438778</c:v>
                </c:pt>
                <c:pt idx="112">
                  <c:v>21.24684208568209</c:v>
                </c:pt>
                <c:pt idx="113">
                  <c:v>20.895662675124093</c:v>
                </c:pt>
                <c:pt idx="114">
                  <c:v>20.5502877496704</c:v>
                </c:pt>
                <c:pt idx="115">
                  <c:v>20.210621369620924</c:v>
                </c:pt>
                <c:pt idx="116">
                  <c:v>19.876569181019342</c:v>
                </c:pt>
                <c:pt idx="117">
                  <c:v>19.54803838944305</c:v>
                </c:pt>
                <c:pt idx="118">
                  <c:v>19.224937734226348</c:v>
                </c:pt>
                <c:pt idx="119">
                  <c:v>18.907177463109658</c:v>
                </c:pt>
                <c:pt idx="120">
                  <c:v>18.594669307307775</c:v>
                </c:pt>
                <c:pt idx="121">
                  <c:v>18.287326456990186</c:v>
                </c:pt>
              </c:numCache>
            </c:numRef>
          </c:yVal>
          <c:smooth val="1"/>
          <c:extLst>
            <c:ext xmlns:c16="http://schemas.microsoft.com/office/drawing/2014/chart" uri="{C3380CC4-5D6E-409C-BE32-E72D297353CC}">
              <c16:uniqueId val="{00000002-34F3-48D1-B6A0-920B6098073E}"/>
            </c:ext>
          </c:extLst>
        </c:ser>
        <c:ser>
          <c:idx val="6"/>
          <c:order val="3"/>
          <c:tx>
            <c:strRef>
              <c:f>'ASNO P1'!$AB$31:$AD$31</c:f>
              <c:strCache>
                <c:ptCount val="1"/>
                <c:pt idx="0">
                  <c:v>AL005</c:v>
                </c:pt>
              </c:strCache>
            </c:strRef>
          </c:tx>
          <c:spPr>
            <a:ln w="9525" cap="rnd">
              <a:solidFill>
                <a:schemeClr val="accent1">
                  <a:lumMod val="60000"/>
                </a:schemeClr>
              </a:solidFill>
              <a:prstDash val="dash"/>
              <a:round/>
            </a:ln>
            <a:effectLst/>
          </c:spPr>
          <c:marker>
            <c:symbol val="none"/>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P1'!$AB$33:$AB$96</c:f>
              <c:numCache>
                <c:formatCode>General</c:formatCode>
                <c:ptCount val="64"/>
                <c:pt idx="0">
                  <c:v>288.25</c:v>
                </c:pt>
                <c:pt idx="1">
                  <c:v>162.77000000000001</c:v>
                </c:pt>
                <c:pt idx="2">
                  <c:v>32.29</c:v>
                </c:pt>
                <c:pt idx="3">
                  <c:v>49.81</c:v>
                </c:pt>
                <c:pt idx="4">
                  <c:v>49.02</c:v>
                </c:pt>
                <c:pt idx="5">
                  <c:v>48.37</c:v>
                </c:pt>
                <c:pt idx="6">
                  <c:v>47.78</c:v>
                </c:pt>
                <c:pt idx="7">
                  <c:v>30.26</c:v>
                </c:pt>
                <c:pt idx="8">
                  <c:v>42.64</c:v>
                </c:pt>
                <c:pt idx="9">
                  <c:v>37.75</c:v>
                </c:pt>
                <c:pt idx="10">
                  <c:v>40.450000000000003</c:v>
                </c:pt>
                <c:pt idx="11">
                  <c:v>29.9</c:v>
                </c:pt>
                <c:pt idx="12">
                  <c:v>34.68</c:v>
                </c:pt>
                <c:pt idx="13">
                  <c:v>24.55</c:v>
                </c:pt>
                <c:pt idx="14">
                  <c:v>11.29</c:v>
                </c:pt>
                <c:pt idx="15">
                  <c:v>17.11</c:v>
                </c:pt>
                <c:pt idx="16">
                  <c:v>17.2</c:v>
                </c:pt>
                <c:pt idx="17">
                  <c:v>21.12</c:v>
                </c:pt>
                <c:pt idx="18">
                  <c:v>17.53</c:v>
                </c:pt>
                <c:pt idx="19">
                  <c:v>16.59</c:v>
                </c:pt>
                <c:pt idx="20">
                  <c:v>25.51</c:v>
                </c:pt>
                <c:pt idx="21">
                  <c:v>24.5</c:v>
                </c:pt>
                <c:pt idx="22">
                  <c:v>21.02</c:v>
                </c:pt>
                <c:pt idx="23">
                  <c:v>14.04</c:v>
                </c:pt>
                <c:pt idx="24">
                  <c:v>13.807939211655508</c:v>
                </c:pt>
                <c:pt idx="25">
                  <c:v>13.579714050767361</c:v>
                </c:pt>
                <c:pt idx="26">
                  <c:v>13.355261119990024</c:v>
                </c:pt>
                <c:pt idx="27">
                  <c:v>13.134518069843912</c:v>
                </c:pt>
                <c:pt idx="28">
                  <c:v>12.917423581395697</c:v>
                </c:pt>
                <c:pt idx="29">
                  <c:v>12.703917349224872</c:v>
                </c:pt>
                <c:pt idx="30">
                  <c:v>12.493940064671854</c:v>
                </c:pt>
                <c:pt idx="31">
                  <c:v>12.287433399362982</c:v>
                </c:pt>
                <c:pt idx="32">
                  <c:v>12.084339989007811</c:v>
                </c:pt>
                <c:pt idx="33">
                  <c:v>11.88460341746422</c:v>
                </c:pt>
                <c:pt idx="34">
                  <c:v>11.688168201066899</c:v>
                </c:pt>
                <c:pt idx="35">
                  <c:v>11.494979773214864</c:v>
                </c:pt>
                <c:pt idx="36">
                  <c:v>11.304984469213709</c:v>
                </c:pt>
                <c:pt idx="37">
                  <c:v>11.118129511368412</c:v>
                </c:pt>
                <c:pt idx="38">
                  <c:v>10.934362994322521</c:v>
                </c:pt>
                <c:pt idx="39">
                  <c:v>10.753633870639664</c:v>
                </c:pt>
                <c:pt idx="40">
                  <c:v>10.575891936623378</c:v>
                </c:pt>
                <c:pt idx="41">
                  <c:v>10.401087818371316</c:v>
                </c:pt>
                <c:pt idx="42">
                  <c:v>10.229172958059953</c:v>
                </c:pt>
                <c:pt idx="43">
                  <c:v>10.060099600455997</c:v>
                </c:pt>
                <c:pt idx="44">
                  <c:v>9.8938207796507331</c:v>
                </c:pt>
                <c:pt idx="45">
                  <c:v>9.7302903060136359</c:v>
                </c:pt>
                <c:pt idx="46">
                  <c:v>9.5694627533616217</c:v>
                </c:pt>
                <c:pt idx="47">
                  <c:v>9.4112934463403732</c:v>
                </c:pt>
                <c:pt idx="48">
                  <c:v>9.2557384480142275</c:v>
                </c:pt>
                <c:pt idx="49">
                  <c:v>9.1027545476611937</c:v>
                </c:pt>
                <c:pt idx="50">
                  <c:v>8.9522992487696946</c:v>
                </c:pt>
                <c:pt idx="51">
                  <c:v>8.8043307572337053</c:v>
                </c:pt>
                <c:pt idx="52">
                  <c:v>8.6588079697430143</c:v>
                </c:pt>
                <c:pt idx="53">
                  <c:v>8.5156904623653702</c:v>
                </c:pt>
                <c:pt idx="54">
                  <c:v>8.3749384793173522</c:v>
                </c:pt>
                <c:pt idx="55">
                  <c:v>8.2365129219208431</c:v>
                </c:pt>
                <c:pt idx="56">
                  <c:v>8.1003753377420296</c:v>
                </c:pt>
                <c:pt idx="57">
                  <c:v>7.9664879099099295</c:v>
                </c:pt>
                <c:pt idx="58">
                  <c:v>7.8348134466114576</c:v>
                </c:pt>
                <c:pt idx="59">
                  <c:v>7.7053153707601281</c:v>
                </c:pt>
                <c:pt idx="60">
                  <c:v>7.5779577098355189</c:v>
                </c:pt>
                <c:pt idx="61">
                  <c:v>7.4527050858906732</c:v>
                </c:pt>
                <c:pt idx="62">
                  <c:v>7.3295227057246626</c:v>
                </c:pt>
                <c:pt idx="63">
                  <c:v>7.2083763512175896</c:v>
                </c:pt>
              </c:numCache>
            </c:numRef>
          </c:yVal>
          <c:smooth val="1"/>
          <c:extLst xmlns:c15="http://schemas.microsoft.com/office/drawing/2012/chart">
            <c:ext xmlns:c16="http://schemas.microsoft.com/office/drawing/2014/chart" uri="{C3380CC4-5D6E-409C-BE32-E72D297353CC}">
              <c16:uniqueId val="{00000003-34F3-48D1-B6A0-920B6098073E}"/>
            </c:ext>
          </c:extLst>
        </c:ser>
        <c:ser>
          <c:idx val="0"/>
          <c:order val="6"/>
          <c:tx>
            <c:v>DR 2</c:v>
          </c:tx>
          <c:spPr>
            <a:ln w="38100" cap="rnd">
              <a:solidFill>
                <a:schemeClr val="tx2">
                  <a:lumMod val="50000"/>
                  <a:lumOff val="50000"/>
                </a:schemeClr>
              </a:solidFill>
              <a:prstDash val="solid"/>
              <a:round/>
            </a:ln>
            <a:effectLst/>
          </c:spPr>
          <c:marker>
            <c:symbol val="none"/>
          </c:marker>
          <c:xVal>
            <c:numRef>
              <c:f>'ASNO P1'!$B$39:$B$130</c:f>
              <c:numCache>
                <c:formatCode>0</c:formatCode>
                <c:ptCount val="92"/>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numCache>
            </c:numRef>
          </c:xVal>
          <c:yVal>
            <c:numRef>
              <c:f>'ASNO P1'!$D$39:$D$131</c:f>
              <c:numCache>
                <c:formatCode>0</c:formatCode>
                <c:ptCount val="93"/>
                <c:pt idx="0">
                  <c:v>83.816950132584722</c:v>
                </c:pt>
                <c:pt idx="1">
                  <c:v>82.431577801787114</c:v>
                </c:pt>
                <c:pt idx="2">
                  <c:v>81.069103661533347</c:v>
                </c:pt>
                <c:pt idx="3">
                  <c:v>79.729149238023609</c:v>
                </c:pt>
                <c:pt idx="4">
                  <c:v>78.411342313079786</c:v>
                </c:pt>
                <c:pt idx="5">
                  <c:v>77.115316820749086</c:v>
                </c:pt>
                <c:pt idx="6">
                  <c:v>75.840712745616742</c:v>
                </c:pt>
                <c:pt idx="7">
                  <c:v>74.587176022799369</c:v>
                </c:pt>
                <c:pt idx="8">
                  <c:v>73.35435843959138</c:v>
                </c:pt>
                <c:pt idx="9">
                  <c:v>72.141917538736976</c:v>
                </c:pt>
                <c:pt idx="10">
                  <c:v>70.9495165233009</c:v>
                </c:pt>
                <c:pt idx="11">
                  <c:v>69.776824163111613</c:v>
                </c:pt>
                <c:pt idx="12">
                  <c:v>68.62351470275074</c:v>
                </c:pt>
                <c:pt idx="13">
                  <c:v>67.48926777106341</c:v>
                </c:pt>
                <c:pt idx="14">
                  <c:v>66.373768292164172</c:v>
                </c:pt>
                <c:pt idx="15">
                  <c:v>65.27670639791387</c:v>
                </c:pt>
                <c:pt idx="16">
                  <c:v>64.197777341843235</c:v>
                </c:pt>
                <c:pt idx="17">
                  <c:v>63.136681414499058</c:v>
                </c:pt>
                <c:pt idx="18">
                  <c:v>62.093123860189685</c:v>
                </c:pt>
                <c:pt idx="19">
                  <c:v>61.066814795106517</c:v>
                </c:pt>
                <c:pt idx="20">
                  <c:v>60.057469126798864</c:v>
                </c:pt>
                <c:pt idx="21">
                  <c:v>59.06480647497979</c:v>
                </c:pt>
                <c:pt idx="22">
                  <c:v>58.088551093640859</c:v>
                </c:pt>
                <c:pt idx="23">
                  <c:v>57.128431794454286</c:v>
                </c:pt>
                <c:pt idx="24">
                  <c:v>56.184181871441076</c:v>
                </c:pt>
                <c:pt idx="25">
                  <c:v>55.255539026884321</c:v>
                </c:pt>
                <c:pt idx="26">
                  <c:v>54.342245298467049</c:v>
                </c:pt>
                <c:pt idx="27">
                  <c:v>53.44404698761435</c:v>
                </c:pt>
                <c:pt idx="28">
                  <c:v>52.560694589019924</c:v>
                </c:pt>
                <c:pt idx="29">
                  <c:v>51.691942721337448</c:v>
                </c:pt>
                <c:pt idx="30">
                  <c:v>50.837550059017516</c:v>
                </c:pt>
                <c:pt idx="31">
                  <c:v>49.99727926527121</c:v>
                </c:pt>
                <c:pt idx="32">
                  <c:v>49.170896926141687</c:v>
                </c:pt>
                <c:pt idx="33">
                  <c:v>48.358173485665468</c:v>
                </c:pt>
                <c:pt idx="34">
                  <c:v>47.558883182105411</c:v>
                </c:pt>
                <c:pt idx="35">
                  <c:v>46.77280398523768</c:v>
                </c:pt>
                <c:pt idx="36">
                  <c:v>45.999717534675248</c:v>
                </c:pt>
                <c:pt idx="37">
                  <c:v>45.239409079210816</c:v>
                </c:pt>
                <c:pt idx="38">
                  <c:v>44.49166741716234</c:v>
                </c:pt>
                <c:pt idx="39">
                  <c:v>43.756284837704534</c:v>
                </c:pt>
                <c:pt idx="40">
                  <c:v>43.033057063170077</c:v>
                </c:pt>
                <c:pt idx="41">
                  <c:v>42.321783192304501</c:v>
                </c:pt>
                <c:pt idx="42">
                  <c:v>41.622265644459006</c:v>
                </c:pt>
                <c:pt idx="43">
                  <c:v>40.934310104705659</c:v>
                </c:pt>
                <c:pt idx="44">
                  <c:v>40.2577254698598</c:v>
                </c:pt>
                <c:pt idx="45">
                  <c:v>39.592323795394577</c:v>
                </c:pt>
                <c:pt idx="46">
                  <c:v>38.937920243232924</c:v>
                </c:pt>
                <c:pt idx="47">
                  <c:v>38.29433303040247</c:v>
                </c:pt>
                <c:pt idx="48">
                  <c:v>37.661383378539107</c:v>
                </c:pt>
                <c:pt idx="49">
                  <c:v>37.038895464225156</c:v>
                </c:pt>
                <c:pt idx="50">
                  <c:v>36.426696370148427</c:v>
                </c:pt>
                <c:pt idx="51">
                  <c:v>35.824616037068509</c:v>
                </c:pt>
                <c:pt idx="52">
                  <c:v>35.232487216576999</c:v>
                </c:pt>
                <c:pt idx="53">
                  <c:v>34.650145424638538</c:v>
                </c:pt>
                <c:pt idx="54">
                  <c:v>34.077428895899729</c:v>
                </c:pt>
                <c:pt idx="55">
                  <c:v>33.514178538753306</c:v>
                </c:pt>
                <c:pt idx="56">
                  <c:v>32.960237891144963</c:v>
                </c:pt>
                <c:pt idx="57">
                  <c:v>32.415453077110698</c:v>
                </c:pt>
                <c:pt idx="58">
                  <c:v>31.879672764032481</c:v>
                </c:pt>
                <c:pt idx="59">
                  <c:v>31.352748120600449</c:v>
                </c:pt>
                <c:pt idx="60">
                  <c:v>30.83453277546991</c:v>
                </c:pt>
                <c:pt idx="61">
                  <c:v>30.324882776601708</c:v>
                </c:pt>
                <c:pt idx="62">
                  <c:v>29.82365655127461</c:v>
                </c:pt>
                <c:pt idx="63">
                  <c:v>29.330714866758647</c:v>
                </c:pt>
                <c:pt idx="64">
                  <c:v>28.845920791638456</c:v>
                </c:pt>
                <c:pt idx="65">
                  <c:v>28.369139657775897</c:v>
                </c:pt>
                <c:pt idx="66">
                  <c:v>27.900239022901363</c:v>
                </c:pt>
                <c:pt idx="67">
                  <c:v>27.439088633823427</c:v>
                </c:pt>
                <c:pt idx="68">
                  <c:v>26.985560390246548</c:v>
                </c:pt>
                <c:pt idx="69">
                  <c:v>26.539528309186828</c:v>
                </c:pt>
                <c:pt idx="70">
                  <c:v>26.100868489975944</c:v>
                </c:pt>
                <c:pt idx="71">
                  <c:v>25.669459079843488</c:v>
                </c:pt>
                <c:pt idx="72">
                  <c:v>25.245180240068194</c:v>
                </c:pt>
                <c:pt idx="73">
                  <c:v>24.827914112688639</c:v>
                </c:pt>
                <c:pt idx="74">
                  <c:v>24.41754478776415</c:v>
                </c:pt>
                <c:pt idx="75">
                  <c:v>24.013958271176868</c:v>
                </c:pt>
                <c:pt idx="76">
                  <c:v>23.617042452965972</c:v>
                </c:pt>
                <c:pt idx="77">
                  <c:v>23.226687076185303</c:v>
                </c:pt>
                <c:pt idx="78">
                  <c:v>22.842783706275736</c:v>
                </c:pt>
                <c:pt idx="79">
                  <c:v>22.465225700943755</c:v>
                </c:pt>
                <c:pt idx="80">
                  <c:v>22.09390818053792</c:v>
                </c:pt>
                <c:pt idx="81">
                  <c:v>21.728727998914955</c:v>
                </c:pt>
                <c:pt idx="82">
                  <c:v>21.369583714787378</c:v>
                </c:pt>
                <c:pt idx="83">
                  <c:v>21.016375563544702</c:v>
                </c:pt>
                <c:pt idx="84">
                  <c:v>20.669005429540423</c:v>
                </c:pt>
                <c:pt idx="85">
                  <c:v>20.327376818837024</c:v>
                </c:pt>
                <c:pt idx="86">
                  <c:v>19.991394832401493</c:v>
                </c:pt>
                <c:pt idx="87">
                  <c:v>19.660966139743866</c:v>
                </c:pt>
                <c:pt idx="88">
                  <c:v>19.335998952991496</c:v>
                </c:pt>
                <c:pt idx="89">
                  <c:v>19.016403001391819</c:v>
                </c:pt>
                <c:pt idx="90">
                  <c:v>18.702089506236582</c:v>
                </c:pt>
                <c:pt idx="91">
                  <c:v>18.39297115620051</c:v>
                </c:pt>
                <c:pt idx="92">
                  <c:v>18.088962083087591</c:v>
                </c:pt>
              </c:numCache>
            </c:numRef>
          </c:yVal>
          <c:smooth val="1"/>
          <c:extLst xmlns:c15="http://schemas.microsoft.com/office/drawing/2012/chart">
            <c:ext xmlns:c16="http://schemas.microsoft.com/office/drawing/2014/chart" uri="{C3380CC4-5D6E-409C-BE32-E72D297353CC}">
              <c16:uniqueId val="{00000004-34F3-48D1-B6A0-920B6098073E}"/>
            </c:ext>
          </c:extLst>
        </c:ser>
        <c:ser>
          <c:idx val="3"/>
          <c:order val="8"/>
          <c:tx>
            <c:v>DR1Low</c:v>
          </c:tx>
          <c:spPr>
            <a:ln w="38100" cap="rnd">
              <a:solidFill>
                <a:schemeClr val="accent3"/>
              </a:solidFill>
              <a:prstDash val="solid"/>
              <a:round/>
            </a:ln>
            <a:effectLst/>
          </c:spPr>
          <c:marker>
            <c:symbol val="none"/>
          </c:marker>
          <c:xVal>
            <c:numRef>
              <c:f>'ASNO P1'!$B$33:$B$39</c:f>
              <c:numCache>
                <c:formatCode>0</c:formatCode>
                <c:ptCount val="7"/>
                <c:pt idx="0">
                  <c:v>1</c:v>
                </c:pt>
                <c:pt idx="1">
                  <c:v>2</c:v>
                </c:pt>
                <c:pt idx="2">
                  <c:v>3</c:v>
                </c:pt>
                <c:pt idx="3">
                  <c:v>4</c:v>
                </c:pt>
                <c:pt idx="4">
                  <c:v>5</c:v>
                </c:pt>
                <c:pt idx="5">
                  <c:v>6</c:v>
                </c:pt>
                <c:pt idx="6">
                  <c:v>7</c:v>
                </c:pt>
              </c:numCache>
            </c:numRef>
          </c:xVal>
          <c:yVal>
            <c:numRef>
              <c:f>'ASNO P1'!$C$33:$C$39</c:f>
              <c:numCache>
                <c:formatCode>0</c:formatCode>
                <c:ptCount val="7"/>
                <c:pt idx="0">
                  <c:v>106</c:v>
                </c:pt>
                <c:pt idx="1">
                  <c:v>97.119200394993015</c:v>
                </c:pt>
                <c:pt idx="2">
                  <c:v>88.982444201535969</c:v>
                </c:pt>
                <c:pt idx="3">
                  <c:v>81.52739462306846</c:v>
                </c:pt>
                <c:pt idx="4">
                  <c:v>74.696937510183602</c:v>
                </c:pt>
                <c:pt idx="5">
                  <c:v>68.438743801356537</c:v>
                </c:pt>
                <c:pt idx="6">
                  <c:v>67.307550864045325</c:v>
                </c:pt>
              </c:numCache>
            </c:numRef>
          </c:yVal>
          <c:smooth val="1"/>
          <c:extLst xmlns:c15="http://schemas.microsoft.com/office/drawing/2012/chart">
            <c:ext xmlns:c16="http://schemas.microsoft.com/office/drawing/2014/chart" uri="{C3380CC4-5D6E-409C-BE32-E72D297353CC}">
              <c16:uniqueId val="{00000005-34F3-48D1-B6A0-920B6098073E}"/>
            </c:ext>
          </c:extLst>
        </c:ser>
        <c:ser>
          <c:idx val="9"/>
          <c:order val="9"/>
          <c:tx>
            <c:v>DR2Low</c:v>
          </c:tx>
          <c:spPr>
            <a:ln w="38100" cap="rnd">
              <a:solidFill>
                <a:schemeClr val="accent3"/>
              </a:solidFill>
              <a:prstDash val="solid"/>
              <a:round/>
            </a:ln>
            <a:effectLst/>
          </c:spPr>
          <c:marker>
            <c:symbol val="none"/>
          </c:marker>
          <c:xVal>
            <c:numRef>
              <c:f>'ASNO P1'!$B$39:$B$246</c:f>
              <c:numCache>
                <c:formatCode>0</c:formatCode>
                <c:ptCount val="208"/>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pt idx="92">
                  <c:v>99</c:v>
                </c:pt>
                <c:pt idx="93">
                  <c:v>100</c:v>
                </c:pt>
                <c:pt idx="94">
                  <c:v>101</c:v>
                </c:pt>
                <c:pt idx="95">
                  <c:v>102</c:v>
                </c:pt>
                <c:pt idx="96">
                  <c:v>103</c:v>
                </c:pt>
                <c:pt idx="97">
                  <c:v>104</c:v>
                </c:pt>
                <c:pt idx="98">
                  <c:v>105</c:v>
                </c:pt>
                <c:pt idx="99">
                  <c:v>106</c:v>
                </c:pt>
                <c:pt idx="100">
                  <c:v>107</c:v>
                </c:pt>
                <c:pt idx="101">
                  <c:v>108</c:v>
                </c:pt>
                <c:pt idx="102">
                  <c:v>109</c:v>
                </c:pt>
                <c:pt idx="103">
                  <c:v>110</c:v>
                </c:pt>
                <c:pt idx="104">
                  <c:v>111</c:v>
                </c:pt>
                <c:pt idx="105">
                  <c:v>112</c:v>
                </c:pt>
                <c:pt idx="106">
                  <c:v>113</c:v>
                </c:pt>
                <c:pt idx="107">
                  <c:v>114</c:v>
                </c:pt>
                <c:pt idx="108">
                  <c:v>115</c:v>
                </c:pt>
                <c:pt idx="109">
                  <c:v>116</c:v>
                </c:pt>
                <c:pt idx="110">
                  <c:v>117</c:v>
                </c:pt>
                <c:pt idx="111">
                  <c:v>118</c:v>
                </c:pt>
                <c:pt idx="112">
                  <c:v>119</c:v>
                </c:pt>
                <c:pt idx="113">
                  <c:v>120</c:v>
                </c:pt>
                <c:pt idx="114">
                  <c:v>121</c:v>
                </c:pt>
                <c:pt idx="115">
                  <c:v>122</c:v>
                </c:pt>
                <c:pt idx="116">
                  <c:v>123</c:v>
                </c:pt>
                <c:pt idx="117">
                  <c:v>124</c:v>
                </c:pt>
                <c:pt idx="118">
                  <c:v>125</c:v>
                </c:pt>
                <c:pt idx="119">
                  <c:v>126</c:v>
                </c:pt>
                <c:pt idx="120">
                  <c:v>127</c:v>
                </c:pt>
                <c:pt idx="121">
                  <c:v>128</c:v>
                </c:pt>
                <c:pt idx="122">
                  <c:v>129</c:v>
                </c:pt>
                <c:pt idx="123">
                  <c:v>130</c:v>
                </c:pt>
                <c:pt idx="124">
                  <c:v>131</c:v>
                </c:pt>
                <c:pt idx="125">
                  <c:v>132</c:v>
                </c:pt>
                <c:pt idx="126">
                  <c:v>133</c:v>
                </c:pt>
                <c:pt idx="127">
                  <c:v>134</c:v>
                </c:pt>
                <c:pt idx="128">
                  <c:v>135</c:v>
                </c:pt>
                <c:pt idx="129">
                  <c:v>136</c:v>
                </c:pt>
                <c:pt idx="130">
                  <c:v>137</c:v>
                </c:pt>
                <c:pt idx="131">
                  <c:v>138</c:v>
                </c:pt>
                <c:pt idx="132">
                  <c:v>139</c:v>
                </c:pt>
                <c:pt idx="133">
                  <c:v>140</c:v>
                </c:pt>
                <c:pt idx="134">
                  <c:v>141</c:v>
                </c:pt>
                <c:pt idx="135">
                  <c:v>142</c:v>
                </c:pt>
                <c:pt idx="136">
                  <c:v>143</c:v>
                </c:pt>
                <c:pt idx="137">
                  <c:v>144</c:v>
                </c:pt>
                <c:pt idx="138">
                  <c:v>145</c:v>
                </c:pt>
                <c:pt idx="139">
                  <c:v>146</c:v>
                </c:pt>
                <c:pt idx="140">
                  <c:v>147</c:v>
                </c:pt>
                <c:pt idx="141">
                  <c:v>148</c:v>
                </c:pt>
                <c:pt idx="142">
                  <c:v>149</c:v>
                </c:pt>
                <c:pt idx="143">
                  <c:v>150</c:v>
                </c:pt>
                <c:pt idx="144">
                  <c:v>151</c:v>
                </c:pt>
                <c:pt idx="145">
                  <c:v>152</c:v>
                </c:pt>
                <c:pt idx="146">
                  <c:v>153</c:v>
                </c:pt>
                <c:pt idx="147">
                  <c:v>154</c:v>
                </c:pt>
                <c:pt idx="148">
                  <c:v>155</c:v>
                </c:pt>
                <c:pt idx="149">
                  <c:v>156</c:v>
                </c:pt>
                <c:pt idx="150">
                  <c:v>157</c:v>
                </c:pt>
                <c:pt idx="151">
                  <c:v>158</c:v>
                </c:pt>
                <c:pt idx="152">
                  <c:v>159</c:v>
                </c:pt>
                <c:pt idx="153">
                  <c:v>160</c:v>
                </c:pt>
                <c:pt idx="154">
                  <c:v>161</c:v>
                </c:pt>
                <c:pt idx="155">
                  <c:v>162</c:v>
                </c:pt>
                <c:pt idx="156">
                  <c:v>163</c:v>
                </c:pt>
                <c:pt idx="157">
                  <c:v>164</c:v>
                </c:pt>
                <c:pt idx="158">
                  <c:v>165</c:v>
                </c:pt>
                <c:pt idx="159">
                  <c:v>166</c:v>
                </c:pt>
                <c:pt idx="160">
                  <c:v>167</c:v>
                </c:pt>
                <c:pt idx="161">
                  <c:v>168</c:v>
                </c:pt>
                <c:pt idx="162">
                  <c:v>169</c:v>
                </c:pt>
                <c:pt idx="163">
                  <c:v>170</c:v>
                </c:pt>
                <c:pt idx="164">
                  <c:v>171</c:v>
                </c:pt>
                <c:pt idx="165">
                  <c:v>172</c:v>
                </c:pt>
                <c:pt idx="166">
                  <c:v>173</c:v>
                </c:pt>
                <c:pt idx="167">
                  <c:v>174</c:v>
                </c:pt>
                <c:pt idx="168">
                  <c:v>175</c:v>
                </c:pt>
                <c:pt idx="169">
                  <c:v>176</c:v>
                </c:pt>
                <c:pt idx="170">
                  <c:v>177</c:v>
                </c:pt>
                <c:pt idx="171">
                  <c:v>178</c:v>
                </c:pt>
                <c:pt idx="172">
                  <c:v>179</c:v>
                </c:pt>
                <c:pt idx="173">
                  <c:v>180</c:v>
                </c:pt>
                <c:pt idx="174">
                  <c:v>181</c:v>
                </c:pt>
                <c:pt idx="175">
                  <c:v>182</c:v>
                </c:pt>
                <c:pt idx="176">
                  <c:v>183</c:v>
                </c:pt>
                <c:pt idx="177">
                  <c:v>184</c:v>
                </c:pt>
                <c:pt idx="178">
                  <c:v>185</c:v>
                </c:pt>
                <c:pt idx="179">
                  <c:v>186</c:v>
                </c:pt>
                <c:pt idx="180">
                  <c:v>187</c:v>
                </c:pt>
                <c:pt idx="181">
                  <c:v>188</c:v>
                </c:pt>
                <c:pt idx="182">
                  <c:v>189</c:v>
                </c:pt>
                <c:pt idx="183">
                  <c:v>190</c:v>
                </c:pt>
                <c:pt idx="184">
                  <c:v>191</c:v>
                </c:pt>
                <c:pt idx="185">
                  <c:v>192</c:v>
                </c:pt>
                <c:pt idx="186">
                  <c:v>193</c:v>
                </c:pt>
                <c:pt idx="187">
                  <c:v>194</c:v>
                </c:pt>
                <c:pt idx="188">
                  <c:v>195</c:v>
                </c:pt>
                <c:pt idx="189">
                  <c:v>196</c:v>
                </c:pt>
                <c:pt idx="190">
                  <c:v>197</c:v>
                </c:pt>
                <c:pt idx="191">
                  <c:v>198</c:v>
                </c:pt>
                <c:pt idx="192">
                  <c:v>199</c:v>
                </c:pt>
                <c:pt idx="193">
                  <c:v>200</c:v>
                </c:pt>
                <c:pt idx="194">
                  <c:v>201</c:v>
                </c:pt>
                <c:pt idx="195">
                  <c:v>202</c:v>
                </c:pt>
                <c:pt idx="196">
                  <c:v>203</c:v>
                </c:pt>
                <c:pt idx="197">
                  <c:v>204</c:v>
                </c:pt>
                <c:pt idx="198">
                  <c:v>205</c:v>
                </c:pt>
                <c:pt idx="199">
                  <c:v>206</c:v>
                </c:pt>
                <c:pt idx="200">
                  <c:v>207</c:v>
                </c:pt>
                <c:pt idx="201">
                  <c:v>208</c:v>
                </c:pt>
                <c:pt idx="202">
                  <c:v>209</c:v>
                </c:pt>
                <c:pt idx="203">
                  <c:v>210</c:v>
                </c:pt>
                <c:pt idx="204">
                  <c:v>211</c:v>
                </c:pt>
                <c:pt idx="205">
                  <c:v>212</c:v>
                </c:pt>
                <c:pt idx="206">
                  <c:v>213</c:v>
                </c:pt>
                <c:pt idx="207">
                  <c:v>214</c:v>
                </c:pt>
              </c:numCache>
            </c:numRef>
          </c:xVal>
          <c:yVal>
            <c:numRef>
              <c:f>'ASNO P1'!$C$39:$C$246</c:f>
              <c:numCache>
                <c:formatCode>0</c:formatCode>
                <c:ptCount val="208"/>
                <c:pt idx="0">
                  <c:v>67.307550864045325</c:v>
                </c:pt>
                <c:pt idx="1">
                  <c:v>66.195054901435128</c:v>
                </c:pt>
                <c:pt idx="2">
                  <c:v>65.10094687971619</c:v>
                </c:pt>
                <c:pt idx="3">
                  <c:v>64.024922872958371</c:v>
                </c:pt>
                <c:pt idx="4">
                  <c:v>62.966683978685303</c:v>
                </c:pt>
                <c:pt idx="5">
                  <c:v>61.925936234843988</c:v>
                </c:pt>
                <c:pt idx="6">
                  <c:v>60.902390538146797</c:v>
                </c:pt>
                <c:pt idx="7">
                  <c:v>59.895762563763149</c:v>
                </c:pt>
                <c:pt idx="8">
                  <c:v>58.905772686338558</c:v>
                </c:pt>
                <c:pt idx="9">
                  <c:v>57.932145902319107</c:v>
                </c:pt>
                <c:pt idx="10">
                  <c:v>56.974611753559834</c:v>
                </c:pt>
                <c:pt idx="11">
                  <c:v>56.032904252195706</c:v>
                </c:pt>
                <c:pt idx="12">
                  <c:v>55.106761806754406</c:v>
                </c:pt>
                <c:pt idx="13">
                  <c:v>54.195927149490338</c:v>
                </c:pt>
                <c:pt idx="14">
                  <c:v>53.30014726491973</c:v>
                </c:pt>
                <c:pt idx="15">
                  <c:v>52.419173319536917</c:v>
                </c:pt>
                <c:pt idx="16">
                  <c:v>51.552760592692316</c:v>
                </c:pt>
                <c:pt idx="17">
                  <c:v>50.700668408612906</c:v>
                </c:pt>
                <c:pt idx="18">
                  <c:v>49.862660069546287</c:v>
                </c:pt>
                <c:pt idx="19">
                  <c:v>49.038502790009801</c:v>
                </c:pt>
                <c:pt idx="20">
                  <c:v>48.227967632126386</c:v>
                </c:pt>
                <c:pt idx="21">
                  <c:v>47.43082944202925</c:v>
                </c:pt>
                <c:pt idx="22">
                  <c:v>46.646866787317684</c:v>
                </c:pt>
                <c:pt idx="23">
                  <c:v>45.875861895546649</c:v>
                </c:pt>
                <c:pt idx="24">
                  <c:v>45.117600593733009</c:v>
                </c:pt>
                <c:pt idx="25">
                  <c:v>44.371872248861678</c:v>
                </c:pt>
                <c:pt idx="26">
                  <c:v>43.63846970937508</c:v>
                </c:pt>
                <c:pt idx="27">
                  <c:v>42.917189247629729</c:v>
                </c:pt>
                <c:pt idx="28">
                  <c:v>42.207830503303903</c:v>
                </c:pt>
                <c:pt idx="29">
                  <c:v>41.510196427740702</c:v>
                </c:pt>
                <c:pt idx="30">
                  <c:v>40.824093229211059</c:v>
                </c:pt>
                <c:pt idx="31">
                  <c:v>40.14933031908145</c:v>
                </c:pt>
                <c:pt idx="32">
                  <c:v>39.485720258871382</c:v>
                </c:pt>
                <c:pt idx="33">
                  <c:v>38.83307870818593</c:v>
                </c:pt>
                <c:pt idx="34">
                  <c:v>38.191224373508916</c:v>
                </c:pt>
                <c:pt idx="35">
                  <c:v>37.559978957842404</c:v>
                </c:pt>
                <c:pt idx="36">
                  <c:v>36.939167111178634</c:v>
                </c:pt>
                <c:pt idx="37">
                  <c:v>36.328616381790532</c:v>
                </c:pt>
                <c:pt idx="38">
                  <c:v>35.728157168327364</c:v>
                </c:pt>
                <c:pt idx="39">
                  <c:v>35.137622672702157</c:v>
                </c:pt>
                <c:pt idx="40">
                  <c:v>34.55684885375782</c:v>
                </c:pt>
                <c:pt idx="41">
                  <c:v>33.985674381699098</c:v>
                </c:pt>
                <c:pt idx="42">
                  <c:v>33.423940593277713</c:v>
                </c:pt>
                <c:pt idx="43">
                  <c:v>32.871491447718206</c:v>
                </c:pt>
                <c:pt idx="44">
                  <c:v>32.328173483372289</c:v>
                </c:pt>
                <c:pt idx="45">
                  <c:v>31.793835775089608</c:v>
                </c:pt>
                <c:pt idx="46">
                  <c:v>31.268329892293131</c:v>
                </c:pt>
                <c:pt idx="47">
                  <c:v>30.751509857747465</c:v>
                </c:pt>
                <c:pt idx="48">
                  <c:v>30.243232107008701</c:v>
                </c:pt>
                <c:pt idx="49">
                  <c:v>29.743355448544467</c:v>
                </c:pt>
                <c:pt idx="50">
                  <c:v>29.251741024513155</c:v>
                </c:pt>
                <c:pt idx="51">
                  <c:v>28.768252272191404</c:v>
                </c:pt>
                <c:pt idx="52">
                  <c:v>28.29275488603913</c:v>
                </c:pt>
                <c:pt idx="53">
                  <c:v>27.825116780391575</c:v>
                </c:pt>
                <c:pt idx="54">
                  <c:v>27.365208052767986</c:v>
                </c:pt>
                <c:pt idx="55">
                  <c:v>26.912900947786767</c:v>
                </c:pt>
                <c:pt idx="56">
                  <c:v>26.468069821677037</c:v>
                </c:pt>
                <c:pt idx="57">
                  <c:v>26.030591107376797</c:v>
                </c:pt>
                <c:pt idx="58">
                  <c:v>25.600343280207927</c:v>
                </c:pt>
                <c:pt idx="59">
                  <c:v>25.177206824118567</c:v>
                </c:pt>
                <c:pt idx="60">
                  <c:v>24.761064198483435</c:v>
                </c:pt>
                <c:pt idx="61">
                  <c:v>24.351799805452909</c:v>
                </c:pt>
                <c:pt idx="62">
                  <c:v>23.949299957841756</c:v>
                </c:pt>
                <c:pt idx="63">
                  <c:v>23.553452847548634</c:v>
                </c:pt>
                <c:pt idx="64">
                  <c:v>23.164148514497573</c:v>
                </c:pt>
                <c:pt idx="65">
                  <c:v>22.78127881609279</c:v>
                </c:pt>
                <c:pt idx="66">
                  <c:v>22.404737397178394</c:v>
                </c:pt>
                <c:pt idx="67">
                  <c:v>22.034419660494599</c:v>
                </c:pt>
                <c:pt idx="68">
                  <c:v>21.670222737622254</c:v>
                </c:pt>
                <c:pt idx="69">
                  <c:v>21.312045460407631</c:v>
                </c:pt>
                <c:pt idx="70">
                  <c:v>20.959788332859496</c:v>
                </c:pt>
                <c:pt idx="71">
                  <c:v>20.613353503510705</c:v>
                </c:pt>
                <c:pt idx="72">
                  <c:v>20.272644738236604</c:v>
                </c:pt>
                <c:pt idx="73">
                  <c:v>19.937567393522716</c:v>
                </c:pt>
                <c:pt idx="74">
                  <c:v>19.608028390174262</c:v>
                </c:pt>
                <c:pt idx="75">
                  <c:v>19.283936187460231</c:v>
                </c:pt>
                <c:pt idx="76">
                  <c:v>18.965200757684812</c:v>
                </c:pt>
                <c:pt idx="77">
                  <c:v>18.651733561179125</c:v>
                </c:pt>
                <c:pt idx="78">
                  <c:v>18.343447521706288</c:v>
                </c:pt>
                <c:pt idx="79">
                  <c:v>18.04025700227303</c:v>
                </c:pt>
                <c:pt idx="80">
                  <c:v>17.742077781341074</c:v>
                </c:pt>
                <c:pt idx="81">
                  <c:v>17.448827029431722</c:v>
                </c:pt>
                <c:pt idx="82">
                  <c:v>17.160423286117151</c:v>
                </c:pt>
                <c:pt idx="83">
                  <c:v>16.876786437391974</c:v>
                </c:pt>
                <c:pt idx="84">
                  <c:v>16.597837693418843</c:v>
                </c:pt>
                <c:pt idx="85">
                  <c:v>16.323499566641871</c:v>
                </c:pt>
                <c:pt idx="86">
                  <c:v>16.053695850261825</c:v>
                </c:pt>
                <c:pt idx="87">
                  <c:v>15.788351597067065</c:v>
                </c:pt>
                <c:pt idx="88">
                  <c:v>15.527393098614402</c:v>
                </c:pt>
                <c:pt idx="89">
                  <c:v>15.270747864754055</c:v>
                </c:pt>
                <c:pt idx="90">
                  <c:v>15.018344603493032</c:v>
                </c:pt>
                <c:pt idx="91">
                  <c:v>14.770113201191336</c:v>
                </c:pt>
                <c:pt idx="92">
                  <c:v>14.525984703085507</c:v>
                </c:pt>
                <c:pt idx="93">
                  <c:v>14.28589129413408</c:v>
                </c:pt>
                <c:pt idx="94">
                  <c:v>14.049766280179632</c:v>
                </c:pt>
                <c:pt idx="95">
                  <c:v>13.817544069422201</c:v>
                </c:pt>
                <c:pt idx="96">
                  <c:v>13.589160154198922</c:v>
                </c:pt>
                <c:pt idx="97">
                  <c:v>13.36455109306481</c:v>
                </c:pt>
                <c:pt idx="98">
                  <c:v>13.143654493169736</c:v>
                </c:pt>
                <c:pt idx="99">
                  <c:v>12.926408992926675</c:v>
                </c:pt>
                <c:pt idx="100">
                  <c:v>12.712754244966428</c:v>
                </c:pt>
                <c:pt idx="101">
                  <c:v>12.502630899374072</c:v>
                </c:pt>
                <c:pt idx="102">
                  <c:v>12.295980587202495</c:v>
                </c:pt>
                <c:pt idx="103">
                  <c:v>12.092745904258424</c:v>
                </c:pt>
                <c:pt idx="104">
                  <c:v>11.892870395156443</c:v>
                </c:pt>
                <c:pt idx="105">
                  <c:v>11.696298537636581</c:v>
                </c:pt>
                <c:pt idx="106">
                  <c:v>11.502975727141107</c:v>
                </c:pt>
                <c:pt idx="107">
                  <c:v>11.312848261646243</c:v>
                </c:pt>
                <c:pt idx="108">
                  <c:v>11.125863326744589</c:v>
                </c:pt>
                <c:pt idx="109">
                  <c:v>10.941968980974119</c:v>
                </c:pt>
                <c:pt idx="110">
                  <c:v>10.76111414138966</c:v>
                </c:pt>
                <c:pt idx="111">
                  <c:v>10.583248569372856</c:v>
                </c:pt>
                <c:pt idx="112">
                  <c:v>10.408322856676676</c:v>
                </c:pt>
                <c:pt idx="113">
                  <c:v>10.236288411700581</c:v>
                </c:pt>
                <c:pt idx="114">
                  <c:v>10.067097445992546</c:v>
                </c:pt>
                <c:pt idx="115">
                  <c:v>9.9007029609741828</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numCache>
            </c:numRef>
          </c:yVal>
          <c:smooth val="1"/>
          <c:extLst xmlns:c15="http://schemas.microsoft.com/office/drawing/2012/chart">
            <c:ext xmlns:c16="http://schemas.microsoft.com/office/drawing/2014/chart" uri="{C3380CC4-5D6E-409C-BE32-E72D297353CC}">
              <c16:uniqueId val="{00000006-34F3-48D1-B6A0-920B6098073E}"/>
            </c:ext>
          </c:extLst>
        </c:ser>
        <c:ser>
          <c:idx val="10"/>
          <c:order val="10"/>
          <c:tx>
            <c:v>DR1High</c:v>
          </c:tx>
          <c:spPr>
            <a:ln w="38100" cap="rnd">
              <a:solidFill>
                <a:srgbClr val="FF0000"/>
              </a:solidFill>
              <a:round/>
            </a:ln>
            <a:effectLst/>
          </c:spPr>
          <c:marker>
            <c:symbol val="none"/>
          </c:marker>
          <c:dPt>
            <c:idx val="6"/>
            <c:marker>
              <c:symbol val="none"/>
            </c:marker>
            <c:bubble3D val="0"/>
            <c:spPr>
              <a:ln w="38100" cap="rnd">
                <a:solidFill>
                  <a:srgbClr val="FF0000"/>
                </a:solidFill>
                <a:prstDash val="dash"/>
                <a:round/>
              </a:ln>
              <a:effectLst/>
            </c:spPr>
            <c:extLst xmlns:c15="http://schemas.microsoft.com/office/drawing/2012/chart">
              <c:ext xmlns:c16="http://schemas.microsoft.com/office/drawing/2014/chart" uri="{C3380CC4-5D6E-409C-BE32-E72D297353CC}">
                <c16:uniqueId val="{00000008-34F3-48D1-B6A0-920B6098073E}"/>
              </c:ext>
            </c:extLst>
          </c:dPt>
          <c:xVal>
            <c:numRef>
              <c:f>'ASNO P1'!$B$33:$B$39</c:f>
              <c:numCache>
                <c:formatCode>0</c:formatCode>
                <c:ptCount val="7"/>
                <c:pt idx="0">
                  <c:v>1</c:v>
                </c:pt>
                <c:pt idx="1">
                  <c:v>2</c:v>
                </c:pt>
                <c:pt idx="2">
                  <c:v>3</c:v>
                </c:pt>
                <c:pt idx="3">
                  <c:v>4</c:v>
                </c:pt>
                <c:pt idx="4">
                  <c:v>5</c:v>
                </c:pt>
                <c:pt idx="5">
                  <c:v>6</c:v>
                </c:pt>
                <c:pt idx="6">
                  <c:v>7</c:v>
                </c:pt>
              </c:numCache>
            </c:numRef>
          </c:xVal>
          <c:yVal>
            <c:numRef>
              <c:f>'ASNO P1'!$E$33:$E$39</c:f>
              <c:numCache>
                <c:formatCode>0</c:formatCode>
                <c:ptCount val="7"/>
                <c:pt idx="0">
                  <c:v>158</c:v>
                </c:pt>
                <c:pt idx="1">
                  <c:v>144.76258172083865</c:v>
                </c:pt>
                <c:pt idx="2">
                  <c:v>132.63420928153474</c:v>
                </c:pt>
                <c:pt idx="3">
                  <c:v>121.52196557023412</c:v>
                </c:pt>
                <c:pt idx="4">
                  <c:v>111.34071817555669</c:v>
                </c:pt>
                <c:pt idx="5">
                  <c:v>102.0124671756069</c:v>
                </c:pt>
                <c:pt idx="6">
                  <c:v>100.32634940112415</c:v>
                </c:pt>
              </c:numCache>
            </c:numRef>
          </c:yVal>
          <c:smooth val="1"/>
          <c:extLst xmlns:c15="http://schemas.microsoft.com/office/drawing/2012/chart">
            <c:ext xmlns:c16="http://schemas.microsoft.com/office/drawing/2014/chart" uri="{C3380CC4-5D6E-409C-BE32-E72D297353CC}">
              <c16:uniqueId val="{00000009-34F3-48D1-B6A0-920B6098073E}"/>
            </c:ext>
          </c:extLst>
        </c:ser>
        <c:ser>
          <c:idx val="11"/>
          <c:order val="11"/>
          <c:tx>
            <c:v>DR2High</c:v>
          </c:tx>
          <c:spPr>
            <a:ln w="38100" cap="rnd">
              <a:solidFill>
                <a:srgbClr val="FF0000"/>
              </a:solidFill>
              <a:prstDash val="solid"/>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P1'!$E$33:$E$246</c:f>
              <c:numCache>
                <c:formatCode>0</c:formatCode>
                <c:ptCount val="214"/>
                <c:pt idx="0">
                  <c:v>158</c:v>
                </c:pt>
                <c:pt idx="1">
                  <c:v>144.76258172083865</c:v>
                </c:pt>
                <c:pt idx="2">
                  <c:v>132.63420928153474</c:v>
                </c:pt>
                <c:pt idx="3">
                  <c:v>121.52196557023412</c:v>
                </c:pt>
                <c:pt idx="4">
                  <c:v>111.34071817555669</c:v>
                </c:pt>
                <c:pt idx="5">
                  <c:v>102.0124671756069</c:v>
                </c:pt>
                <c:pt idx="6">
                  <c:v>100.32634940112415</c:v>
                </c:pt>
                <c:pt idx="7">
                  <c:v>98.668100702139128</c:v>
                </c:pt>
                <c:pt idx="8">
                  <c:v>97.037260443350533</c:v>
                </c:pt>
                <c:pt idx="9">
                  <c:v>95.433375603088876</c:v>
                </c:pt>
                <c:pt idx="10">
                  <c:v>93.856000647474303</c:v>
                </c:pt>
                <c:pt idx="11">
                  <c:v>92.304697406654228</c:v>
                </c:pt>
                <c:pt idx="12">
                  <c:v>90.779034953086722</c:v>
                </c:pt>
                <c:pt idx="13">
                  <c:v>89.278589481835624</c:v>
                </c:pt>
                <c:pt idx="14">
                  <c:v>87.802944192844251</c:v>
                </c:pt>
                <c:pt idx="15">
                  <c:v>86.351689175154888</c:v>
                </c:pt>
                <c:pt idx="16">
                  <c:v>84.924421293042002</c:v>
                </c:pt>
                <c:pt idx="17">
                  <c:v>83.520744074027547</c:v>
                </c:pt>
                <c:pt idx="18">
                  <c:v>82.140267598747116</c:v>
                </c:pt>
                <c:pt idx="19">
                  <c:v>80.782608392636533</c:v>
                </c:pt>
                <c:pt idx="20">
                  <c:v>79.447389319408643</c:v>
                </c:pt>
                <c:pt idx="21">
                  <c:v>78.134239476290858</c:v>
                </c:pt>
                <c:pt idx="22">
                  <c:v>76.84279409099419</c:v>
                </c:pt>
                <c:pt idx="23">
                  <c:v>75.572694420385247</c:v>
                </c:pt>
                <c:pt idx="24">
                  <c:v>74.323587650833119</c:v>
                </c:pt>
                <c:pt idx="25">
                  <c:v>73.095126800203261</c:v>
                </c:pt>
                <c:pt idx="26">
                  <c:v>71.886970621471377</c:v>
                </c:pt>
                <c:pt idx="27">
                  <c:v>70.698783507930358</c:v>
                </c:pt>
                <c:pt idx="28">
                  <c:v>69.53023539996407</c:v>
                </c:pt>
                <c:pt idx="29">
                  <c:v>68.381001693361952</c:v>
                </c:pt>
                <c:pt idx="30">
                  <c:v>67.250763149149165</c:v>
                </c:pt>
                <c:pt idx="31">
                  <c:v>66.139205804906993</c:v>
                </c:pt>
                <c:pt idx="32">
                  <c:v>65.046020887559038</c:v>
                </c:pt>
                <c:pt idx="33">
                  <c:v>63.970904727598985</c:v>
                </c:pt>
                <c:pt idx="34">
                  <c:v>62.91355867473596</c:v>
                </c:pt>
                <c:pt idx="35">
                  <c:v>61.873689014934207</c:v>
                </c:pt>
                <c:pt idx="36">
                  <c:v>60.851006888823989</c:v>
                </c:pt>
                <c:pt idx="37">
                  <c:v>59.845228211460991</c:v>
                </c:pt>
                <c:pt idx="38">
                  <c:v>58.85607359341202</c:v>
                </c:pt>
                <c:pt idx="39">
                  <c:v>57.883268263145027</c:v>
                </c:pt>
                <c:pt idx="40">
                  <c:v>56.926541990701935</c:v>
                </c:pt>
                <c:pt idx="41">
                  <c:v>55.985629012632984</c:v>
                </c:pt>
                <c:pt idx="42">
                  <c:v>55.060267958171885</c:v>
                </c:pt>
                <c:pt idx="43">
                  <c:v>54.150201776631128</c:v>
                </c:pt>
                <c:pt idx="44">
                  <c:v>53.255177665997351</c:v>
                </c:pt>
                <c:pt idx="45">
                  <c:v>52.374947002706946</c:v>
                </c:pt>
                <c:pt idx="46">
                  <c:v>51.509265272582368</c:v>
                </c:pt>
                <c:pt idx="47">
                  <c:v>50.657892002909939</c:v>
                </c:pt>
                <c:pt idx="48">
                  <c:v>49.820590695640327</c:v>
                </c:pt>
                <c:pt idx="49">
                  <c:v>48.997128761693141</c:v>
                </c:pt>
                <c:pt idx="50">
                  <c:v>48.187277456347339</c:v>
                </c:pt>
                <c:pt idx="51">
                  <c:v>47.390811815699571</c:v>
                </c:pt>
                <c:pt idx="52">
                  <c:v>46.607510594172744</c:v>
                </c:pt>
                <c:pt idx="53">
                  <c:v>45.837156203057511</c:v>
                </c:pt>
                <c:pt idx="54">
                  <c:v>45.07953465006954</c:v>
                </c:pt>
                <c:pt idx="55">
                  <c:v>44.334435479905871</c:v>
                </c:pt>
                <c:pt idx="56">
                  <c:v>43.601651715783724</c:v>
                </c:pt>
                <c:pt idx="57">
                  <c:v>42.880979801945642</c:v>
                </c:pt>
                <c:pt idx="58">
                  <c:v>42.172219547114899</c:v>
                </c:pt>
                <c:pt idx="59">
                  <c:v>41.475174068885522</c:v>
                </c:pt>
                <c:pt idx="60">
                  <c:v>40.789649739031496</c:v>
                </c:pt>
                <c:pt idx="61">
                  <c:v>40.115456129719867</c:v>
                </c:pt>
                <c:pt idx="62">
                  <c:v>39.452405960612914</c:v>
                </c:pt>
                <c:pt idx="63">
                  <c:v>38.800315046844631</c:v>
                </c:pt>
                <c:pt idx="64">
                  <c:v>38.159002247857067</c:v>
                </c:pt>
                <c:pt idx="65">
                  <c:v>37.528289417082362</c:v>
                </c:pt>
                <c:pt idx="66">
                  <c:v>36.908001352456417</c:v>
                </c:pt>
                <c:pt idx="67">
                  <c:v>36.297965747750538</c:v>
                </c:pt>
                <c:pt idx="68">
                  <c:v>35.698013144707495</c:v>
                </c:pt>
                <c:pt idx="69">
                  <c:v>35.107976885968689</c:v>
                </c:pt>
                <c:pt idx="70">
                  <c:v>34.527693068779371</c:v>
                </c:pt>
                <c:pt idx="71">
                  <c:v>33.957000499459035</c:v>
                </c:pt>
                <c:pt idx="72">
                  <c:v>33.395740648624368</c:v>
                </c:pt>
                <c:pt idx="73">
                  <c:v>32.843757607152291</c:v>
                </c:pt>
                <c:pt idx="74">
                  <c:v>32.30089804287087</c:v>
                </c:pt>
                <c:pt idx="75">
                  <c:v>31.767011157966053</c:v>
                </c:pt>
                <c:pt idx="76">
                  <c:v>31.241948647092418</c:v>
                </c:pt>
                <c:pt idx="77">
                  <c:v>30.725564656176296</c:v>
                </c:pt>
                <c:pt idx="78">
                  <c:v>30.217715741899809</c:v>
                </c:pt>
                <c:pt idx="79">
                  <c:v>29.718260831854582</c:v>
                </c:pt>
                <c:pt idx="80">
                  <c:v>29.227061185354057</c:v>
                </c:pt>
                <c:pt idx="81">
                  <c:v>28.74398035489352</c:v>
                </c:pt>
                <c:pt idx="82">
                  <c:v>28.268884148247142</c:v>
                </c:pt>
                <c:pt idx="83">
                  <c:v>27.801640591191493</c:v>
                </c:pt>
                <c:pt idx="84">
                  <c:v>27.34211989084519</c:v>
                </c:pt>
                <c:pt idx="85">
                  <c:v>26.890194399614483</c:v>
                </c:pt>
                <c:pt idx="86">
                  <c:v>26.445738579734773</c:v>
                </c:pt>
                <c:pt idx="87">
                  <c:v>26.008628968398195</c:v>
                </c:pt>
                <c:pt idx="88">
                  <c:v>25.578744143457609</c:v>
                </c:pt>
                <c:pt idx="89">
                  <c:v>25.155964689697438</c:v>
                </c:pt>
                <c:pt idx="90">
                  <c:v>24.740173165662014</c:v>
                </c:pt>
                <c:pt idx="91">
                  <c:v>24.331254071032191</c:v>
                </c:pt>
                <c:pt idx="92">
                  <c:v>23.929093814541179</c:v>
                </c:pt>
                <c:pt idx="93">
                  <c:v>23.533580682420688</c:v>
                </c:pt>
                <c:pt idx="94">
                  <c:v>23.144604807368605</c:v>
                </c:pt>
                <c:pt idx="95">
                  <c:v>22.762058138029598</c:v>
                </c:pt>
                <c:pt idx="96">
                  <c:v>22.385834408980148</c:v>
                </c:pt>
                <c:pt idx="97">
                  <c:v>22.015829111209698</c:v>
                </c:pt>
                <c:pt idx="98">
                  <c:v>21.65193946308969</c:v>
                </c:pt>
                <c:pt idx="99">
                  <c:v>21.294064381822469</c:v>
                </c:pt>
                <c:pt idx="100">
                  <c:v>20.942104455362067</c:v>
                </c:pt>
                <c:pt idx="101">
                  <c:v>20.595961914799105</c:v>
                </c:pt>
                <c:pt idx="102">
                  <c:v>20.255540607202139</c:v>
                </c:pt>
                <c:pt idx="103">
                  <c:v>19.920745968907898</c:v>
                </c:pt>
                <c:pt idx="104">
                  <c:v>19.591484999252977</c:v>
                </c:pt>
                <c:pt idx="105">
                  <c:v>19.267666234739735</c:v>
                </c:pt>
                <c:pt idx="106">
                  <c:v>18.949199723629178</c:v>
                </c:pt>
                <c:pt idx="107">
                  <c:v>18.635997000953779</c:v>
                </c:pt>
                <c:pt idx="108">
                  <c:v>18.327971063943316</c:v>
                </c:pt>
                <c:pt idx="109">
                  <c:v>18.025036347856872</c:v>
                </c:pt>
                <c:pt idx="110">
                  <c:v>17.727108702214295</c:v>
                </c:pt>
                <c:pt idx="111">
                  <c:v>17.434105367420539</c:v>
                </c:pt>
                <c:pt idx="112">
                  <c:v>17.145944951776343</c:v>
                </c:pt>
                <c:pt idx="113">
                  <c:v>16.862547408868902</c:v>
                </c:pt>
                <c:pt idx="114">
                  <c:v>16.583834015336247</c:v>
                </c:pt>
                <c:pt idx="115">
                  <c:v>16.309727348999132</c:v>
                </c:pt>
                <c:pt idx="116">
                  <c:v>16.040151267354371</c:v>
                </c:pt>
                <c:pt idx="117">
                  <c:v>15.775030886423664</c:v>
                </c:pt>
                <c:pt idx="118">
                  <c:v>15.514292559952001</c:v>
                </c:pt>
                <c:pt idx="119">
                  <c:v>15.257863858949898</c:v>
                </c:pt>
                <c:pt idx="120">
                  <c:v>15.005673551573771</c:v>
                </c:pt>
                <c:pt idx="121">
                  <c:v>14.757651583338852</c:v>
                </c:pt>
                <c:pt idx="122">
                  <c:v>14.513729057659155</c:v>
                </c:pt>
                <c:pt idx="123">
                  <c:v>14.273838216709104</c:v>
                </c:pt>
                <c:pt idx="124">
                  <c:v>14.037912422601465</c:v>
                </c:pt>
                <c:pt idx="125">
                  <c:v>13.805886138876408</c:v>
                </c:pt>
                <c:pt idx="126">
                  <c:v>13.577694912296499</c:v>
                </c:pt>
                <c:pt idx="127">
                  <c:v>13.353275354942618</c:v>
                </c:pt>
                <c:pt idx="128">
                  <c:v>13.132565126605792</c:v>
                </c:pt>
                <c:pt idx="129">
                  <c:v>12.915502917470073</c:v>
                </c:pt>
                <c:pt idx="130">
                  <c:v>12.702028431081635</c:v>
                </c:pt>
                <c:pt idx="131">
                  <c:v>12.492082367599375</c:v>
                </c:pt>
                <c:pt idx="132">
                  <c:v>12.285606407322351</c:v>
                </c:pt>
                <c:pt idx="133">
                  <c:v>12.082543194489492</c:v>
                </c:pt>
                <c:pt idx="134">
                  <c:v>11.882836321347071</c:v>
                </c:pt>
                <c:pt idx="135">
                  <c:v>11.686430312479525</c:v>
                </c:pt>
                <c:pt idx="136">
                  <c:v>11.493270609399257</c:v>
                </c:pt>
                <c:pt idx="137">
                  <c:v>11.303303555391155</c:v>
                </c:pt>
                <c:pt idx="138">
                  <c:v>11.116476380607597</c:v>
                </c:pt>
                <c:pt idx="139">
                  <c:v>10.932737187409826</c:v>
                </c:pt>
                <c:pt idx="140">
                  <c:v>10.752034935951603</c:v>
                </c:pt>
                <c:pt idx="141">
                  <c:v>10.574319430001145</c:v>
                </c:pt>
                <c:pt idx="142">
                  <c:v>10.399541302997404</c:v>
                </c:pt>
                <c:pt idx="143">
                  <c:v>10.227652004336816</c:v>
                </c:pt>
                <c:pt idx="144">
                  <c:v>10.058603785886708</c:v>
                </c:pt>
                <c:pt idx="145">
                  <c:v>9.8923496887216267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xmlns:c15="http://schemas.microsoft.com/office/drawing/2012/chart">
            <c:ext xmlns:c16="http://schemas.microsoft.com/office/drawing/2014/chart" uri="{C3380CC4-5D6E-409C-BE32-E72D297353CC}">
              <c16:uniqueId val="{0000000A-34F3-48D1-B6A0-920B6098073E}"/>
            </c:ext>
          </c:extLst>
        </c:ser>
        <c:ser>
          <c:idx val="12"/>
          <c:order val="12"/>
          <c:tx>
            <c:v>Low</c:v>
          </c:tx>
          <c:spPr>
            <a:ln w="38100" cap="rnd">
              <a:solidFill>
                <a:schemeClr val="accent6"/>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P1'!$C$33:$C$246</c:f>
              <c:numCache>
                <c:formatCode>0</c:formatCode>
                <c:ptCount val="214"/>
                <c:pt idx="0">
                  <c:v>106</c:v>
                </c:pt>
                <c:pt idx="1">
                  <c:v>97.119200394993015</c:v>
                </c:pt>
                <c:pt idx="2">
                  <c:v>88.982444201535969</c:v>
                </c:pt>
                <c:pt idx="3">
                  <c:v>81.52739462306846</c:v>
                </c:pt>
                <c:pt idx="4">
                  <c:v>74.696937510183602</c:v>
                </c:pt>
                <c:pt idx="5">
                  <c:v>68.438743801356537</c:v>
                </c:pt>
                <c:pt idx="6">
                  <c:v>67.307550864045325</c:v>
                </c:pt>
                <c:pt idx="7">
                  <c:v>66.195054901435128</c:v>
                </c:pt>
                <c:pt idx="8">
                  <c:v>65.10094687971619</c:v>
                </c:pt>
                <c:pt idx="9">
                  <c:v>64.024922872958371</c:v>
                </c:pt>
                <c:pt idx="10">
                  <c:v>62.966683978685303</c:v>
                </c:pt>
                <c:pt idx="11">
                  <c:v>61.925936234843988</c:v>
                </c:pt>
                <c:pt idx="12">
                  <c:v>60.902390538146797</c:v>
                </c:pt>
                <c:pt idx="13">
                  <c:v>59.895762563763149</c:v>
                </c:pt>
                <c:pt idx="14">
                  <c:v>58.905772686338558</c:v>
                </c:pt>
                <c:pt idx="15">
                  <c:v>57.932145902319107</c:v>
                </c:pt>
                <c:pt idx="16">
                  <c:v>56.974611753559834</c:v>
                </c:pt>
                <c:pt idx="17">
                  <c:v>56.032904252195706</c:v>
                </c:pt>
                <c:pt idx="18">
                  <c:v>55.106761806754406</c:v>
                </c:pt>
                <c:pt idx="19">
                  <c:v>54.195927149490338</c:v>
                </c:pt>
                <c:pt idx="20">
                  <c:v>53.30014726491973</c:v>
                </c:pt>
                <c:pt idx="21">
                  <c:v>52.419173319536917</c:v>
                </c:pt>
                <c:pt idx="22">
                  <c:v>51.552760592692316</c:v>
                </c:pt>
                <c:pt idx="23">
                  <c:v>50.700668408612906</c:v>
                </c:pt>
                <c:pt idx="24">
                  <c:v>49.862660069546287</c:v>
                </c:pt>
                <c:pt idx="25">
                  <c:v>49.038502790009801</c:v>
                </c:pt>
                <c:pt idx="26">
                  <c:v>48.227967632126386</c:v>
                </c:pt>
                <c:pt idx="27">
                  <c:v>47.43082944202925</c:v>
                </c:pt>
                <c:pt idx="28">
                  <c:v>46.646866787317684</c:v>
                </c:pt>
                <c:pt idx="29">
                  <c:v>45.875861895546649</c:v>
                </c:pt>
                <c:pt idx="30">
                  <c:v>45.117600593733009</c:v>
                </c:pt>
                <c:pt idx="31">
                  <c:v>44.371872248861678</c:v>
                </c:pt>
                <c:pt idx="32">
                  <c:v>43.63846970937508</c:v>
                </c:pt>
                <c:pt idx="33">
                  <c:v>42.917189247629729</c:v>
                </c:pt>
                <c:pt idx="34">
                  <c:v>42.207830503303903</c:v>
                </c:pt>
                <c:pt idx="35">
                  <c:v>41.510196427740702</c:v>
                </c:pt>
                <c:pt idx="36">
                  <c:v>40.824093229211059</c:v>
                </c:pt>
                <c:pt idx="37">
                  <c:v>40.14933031908145</c:v>
                </c:pt>
                <c:pt idx="38">
                  <c:v>39.485720258871382</c:v>
                </c:pt>
                <c:pt idx="39">
                  <c:v>38.83307870818593</c:v>
                </c:pt>
                <c:pt idx="40">
                  <c:v>38.191224373508916</c:v>
                </c:pt>
                <c:pt idx="41">
                  <c:v>37.559978957842404</c:v>
                </c:pt>
                <c:pt idx="42">
                  <c:v>36.939167111178634</c:v>
                </c:pt>
                <c:pt idx="43">
                  <c:v>36.328616381790532</c:v>
                </c:pt>
                <c:pt idx="44">
                  <c:v>35.728157168327364</c:v>
                </c:pt>
                <c:pt idx="45">
                  <c:v>35.137622672702157</c:v>
                </c:pt>
                <c:pt idx="46">
                  <c:v>34.55684885375782</c:v>
                </c:pt>
                <c:pt idx="47">
                  <c:v>33.985674381699098</c:v>
                </c:pt>
                <c:pt idx="48">
                  <c:v>33.423940593277713</c:v>
                </c:pt>
                <c:pt idx="49">
                  <c:v>32.871491447718206</c:v>
                </c:pt>
                <c:pt idx="50">
                  <c:v>32.328173483372289</c:v>
                </c:pt>
                <c:pt idx="51">
                  <c:v>31.793835775089608</c:v>
                </c:pt>
                <c:pt idx="52">
                  <c:v>31.268329892293131</c:v>
                </c:pt>
                <c:pt idx="53">
                  <c:v>30.751509857747465</c:v>
                </c:pt>
                <c:pt idx="54">
                  <c:v>30.243232107008701</c:v>
                </c:pt>
                <c:pt idx="55">
                  <c:v>29.743355448544467</c:v>
                </c:pt>
                <c:pt idx="56">
                  <c:v>29.251741024513155</c:v>
                </c:pt>
                <c:pt idx="57">
                  <c:v>28.768252272191404</c:v>
                </c:pt>
                <c:pt idx="58">
                  <c:v>28.29275488603913</c:v>
                </c:pt>
                <c:pt idx="59">
                  <c:v>27.825116780391575</c:v>
                </c:pt>
                <c:pt idx="60">
                  <c:v>27.365208052767986</c:v>
                </c:pt>
                <c:pt idx="61">
                  <c:v>26.912900947786767</c:v>
                </c:pt>
                <c:pt idx="62">
                  <c:v>26.468069821677037</c:v>
                </c:pt>
                <c:pt idx="63">
                  <c:v>26.030591107376797</c:v>
                </c:pt>
                <c:pt idx="64">
                  <c:v>25.600343280207927</c:v>
                </c:pt>
                <c:pt idx="65">
                  <c:v>25.177206824118567</c:v>
                </c:pt>
                <c:pt idx="66">
                  <c:v>24.761064198483435</c:v>
                </c:pt>
                <c:pt idx="67">
                  <c:v>24.351799805452909</c:v>
                </c:pt>
                <c:pt idx="68">
                  <c:v>23.949299957841756</c:v>
                </c:pt>
                <c:pt idx="69">
                  <c:v>23.553452847548634</c:v>
                </c:pt>
                <c:pt idx="70">
                  <c:v>23.164148514497573</c:v>
                </c:pt>
                <c:pt idx="71">
                  <c:v>22.78127881609279</c:v>
                </c:pt>
                <c:pt idx="72">
                  <c:v>22.404737397178394</c:v>
                </c:pt>
                <c:pt idx="73">
                  <c:v>22.034419660494599</c:v>
                </c:pt>
                <c:pt idx="74">
                  <c:v>21.670222737622254</c:v>
                </c:pt>
                <c:pt idx="75">
                  <c:v>21.312045460407631</c:v>
                </c:pt>
                <c:pt idx="76">
                  <c:v>20.959788332859496</c:v>
                </c:pt>
                <c:pt idx="77">
                  <c:v>20.613353503510705</c:v>
                </c:pt>
                <c:pt idx="78">
                  <c:v>20.272644738236604</c:v>
                </c:pt>
                <c:pt idx="79">
                  <c:v>19.937567393522716</c:v>
                </c:pt>
                <c:pt idx="80">
                  <c:v>19.608028390174262</c:v>
                </c:pt>
                <c:pt idx="81">
                  <c:v>19.283936187460231</c:v>
                </c:pt>
                <c:pt idx="82">
                  <c:v>18.965200757684812</c:v>
                </c:pt>
                <c:pt idx="83">
                  <c:v>18.651733561179125</c:v>
                </c:pt>
                <c:pt idx="84">
                  <c:v>18.343447521706288</c:v>
                </c:pt>
                <c:pt idx="85">
                  <c:v>18.04025700227303</c:v>
                </c:pt>
                <c:pt idx="86">
                  <c:v>17.742077781341074</c:v>
                </c:pt>
                <c:pt idx="87">
                  <c:v>17.448827029431722</c:v>
                </c:pt>
                <c:pt idx="88">
                  <c:v>17.160423286117151</c:v>
                </c:pt>
                <c:pt idx="89">
                  <c:v>16.876786437391974</c:v>
                </c:pt>
                <c:pt idx="90">
                  <c:v>16.597837693418843</c:v>
                </c:pt>
                <c:pt idx="91">
                  <c:v>16.323499566641871</c:v>
                </c:pt>
                <c:pt idx="92">
                  <c:v>16.053695850261825</c:v>
                </c:pt>
                <c:pt idx="93">
                  <c:v>15.788351597067065</c:v>
                </c:pt>
                <c:pt idx="94">
                  <c:v>15.527393098614402</c:v>
                </c:pt>
                <c:pt idx="95">
                  <c:v>15.270747864754055</c:v>
                </c:pt>
                <c:pt idx="96">
                  <c:v>15.018344603493032</c:v>
                </c:pt>
                <c:pt idx="97">
                  <c:v>14.770113201191336</c:v>
                </c:pt>
                <c:pt idx="98">
                  <c:v>14.525984703085507</c:v>
                </c:pt>
                <c:pt idx="99">
                  <c:v>14.28589129413408</c:v>
                </c:pt>
                <c:pt idx="100">
                  <c:v>14.049766280179632</c:v>
                </c:pt>
                <c:pt idx="101">
                  <c:v>13.817544069422201</c:v>
                </c:pt>
                <c:pt idx="102">
                  <c:v>13.589160154198922</c:v>
                </c:pt>
                <c:pt idx="103">
                  <c:v>13.36455109306481</c:v>
                </c:pt>
                <c:pt idx="104">
                  <c:v>13.143654493169736</c:v>
                </c:pt>
                <c:pt idx="105">
                  <c:v>12.926408992926675</c:v>
                </c:pt>
                <c:pt idx="106">
                  <c:v>12.712754244966428</c:v>
                </c:pt>
                <c:pt idx="107">
                  <c:v>12.502630899374072</c:v>
                </c:pt>
                <c:pt idx="108">
                  <c:v>12.295980587202495</c:v>
                </c:pt>
                <c:pt idx="109">
                  <c:v>12.092745904258424</c:v>
                </c:pt>
                <c:pt idx="110">
                  <c:v>11.892870395156443</c:v>
                </c:pt>
                <c:pt idx="111">
                  <c:v>11.696298537636581</c:v>
                </c:pt>
                <c:pt idx="112">
                  <c:v>11.502975727141107</c:v>
                </c:pt>
                <c:pt idx="113">
                  <c:v>11.312848261646243</c:v>
                </c:pt>
                <c:pt idx="114">
                  <c:v>11.125863326744589</c:v>
                </c:pt>
                <c:pt idx="115">
                  <c:v>10.941968980974119</c:v>
                </c:pt>
                <c:pt idx="116">
                  <c:v>10.76111414138966</c:v>
                </c:pt>
                <c:pt idx="117">
                  <c:v>10.583248569372856</c:v>
                </c:pt>
                <c:pt idx="118">
                  <c:v>10.408322856676676</c:v>
                </c:pt>
                <c:pt idx="119">
                  <c:v>10.236288411700581</c:v>
                </c:pt>
                <c:pt idx="120">
                  <c:v>10.067097445992546</c:v>
                </c:pt>
                <c:pt idx="121">
                  <c:v>9.9007029609741828</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B-34F3-48D1-B6A0-920B6098073E}"/>
            </c:ext>
          </c:extLst>
        </c:ser>
        <c:ser>
          <c:idx val="13"/>
          <c:order val="13"/>
          <c:tx>
            <c:v>Base</c:v>
          </c:tx>
          <c:spPr>
            <a:ln w="38100" cap="rnd">
              <a:solidFill>
                <a:schemeClr val="accent1"/>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P1'!$D$33:$D$246</c:f>
              <c:numCache>
                <c:formatCode>0</c:formatCode>
                <c:ptCount val="214"/>
                <c:pt idx="0">
                  <c:v>132</c:v>
                </c:pt>
                <c:pt idx="1">
                  <c:v>120.94089105791583</c:v>
                </c:pt>
                <c:pt idx="2">
                  <c:v>110.80832674153535</c:v>
                </c:pt>
                <c:pt idx="3">
                  <c:v>101.52468009665128</c:v>
                </c:pt>
                <c:pt idx="4">
                  <c:v>93.018827842870138</c:v>
                </c:pt>
                <c:pt idx="5">
                  <c:v>85.225605488481705</c:v>
                </c:pt>
                <c:pt idx="6">
                  <c:v>83.816950132584722</c:v>
                </c:pt>
                <c:pt idx="7">
                  <c:v>82.431577801787114</c:v>
                </c:pt>
                <c:pt idx="8">
                  <c:v>81.069103661533347</c:v>
                </c:pt>
                <c:pt idx="9">
                  <c:v>79.729149238023609</c:v>
                </c:pt>
                <c:pt idx="10">
                  <c:v>78.411342313079786</c:v>
                </c:pt>
                <c:pt idx="11">
                  <c:v>77.115316820749086</c:v>
                </c:pt>
                <c:pt idx="12">
                  <c:v>75.840712745616742</c:v>
                </c:pt>
                <c:pt idx="13">
                  <c:v>74.587176022799369</c:v>
                </c:pt>
                <c:pt idx="14">
                  <c:v>73.35435843959138</c:v>
                </c:pt>
                <c:pt idx="15">
                  <c:v>72.141917538736976</c:v>
                </c:pt>
                <c:pt idx="16">
                  <c:v>70.9495165233009</c:v>
                </c:pt>
                <c:pt idx="17">
                  <c:v>69.776824163111613</c:v>
                </c:pt>
                <c:pt idx="18">
                  <c:v>68.62351470275074</c:v>
                </c:pt>
                <c:pt idx="19">
                  <c:v>67.48926777106341</c:v>
                </c:pt>
                <c:pt idx="20">
                  <c:v>66.373768292164172</c:v>
                </c:pt>
                <c:pt idx="21">
                  <c:v>65.27670639791387</c:v>
                </c:pt>
                <c:pt idx="22">
                  <c:v>64.197777341843235</c:v>
                </c:pt>
                <c:pt idx="23">
                  <c:v>63.136681414499058</c:v>
                </c:pt>
                <c:pt idx="24">
                  <c:v>62.093123860189685</c:v>
                </c:pt>
                <c:pt idx="25">
                  <c:v>61.066814795106517</c:v>
                </c:pt>
                <c:pt idx="26">
                  <c:v>60.057469126798864</c:v>
                </c:pt>
                <c:pt idx="27">
                  <c:v>59.06480647497979</c:v>
                </c:pt>
                <c:pt idx="28">
                  <c:v>58.088551093640859</c:v>
                </c:pt>
                <c:pt idx="29">
                  <c:v>57.128431794454286</c:v>
                </c:pt>
                <c:pt idx="30">
                  <c:v>56.184181871441076</c:v>
                </c:pt>
                <c:pt idx="31">
                  <c:v>55.255539026884321</c:v>
                </c:pt>
                <c:pt idx="32">
                  <c:v>54.342245298467049</c:v>
                </c:pt>
                <c:pt idx="33">
                  <c:v>53.44404698761435</c:v>
                </c:pt>
                <c:pt idx="34">
                  <c:v>52.560694589019924</c:v>
                </c:pt>
                <c:pt idx="35">
                  <c:v>51.691942721337448</c:v>
                </c:pt>
                <c:pt idx="36">
                  <c:v>50.837550059017516</c:v>
                </c:pt>
                <c:pt idx="37">
                  <c:v>49.99727926527121</c:v>
                </c:pt>
                <c:pt idx="38">
                  <c:v>49.170896926141687</c:v>
                </c:pt>
                <c:pt idx="39">
                  <c:v>48.358173485665468</c:v>
                </c:pt>
                <c:pt idx="40">
                  <c:v>47.558883182105411</c:v>
                </c:pt>
                <c:pt idx="41">
                  <c:v>46.77280398523768</c:v>
                </c:pt>
                <c:pt idx="42">
                  <c:v>45.999717534675248</c:v>
                </c:pt>
                <c:pt idx="43">
                  <c:v>45.239409079210816</c:v>
                </c:pt>
                <c:pt idx="44">
                  <c:v>44.49166741716234</c:v>
                </c:pt>
                <c:pt idx="45">
                  <c:v>43.756284837704534</c:v>
                </c:pt>
                <c:pt idx="46">
                  <c:v>43.033057063170077</c:v>
                </c:pt>
                <c:pt idx="47">
                  <c:v>42.321783192304501</c:v>
                </c:pt>
                <c:pt idx="48">
                  <c:v>41.622265644459006</c:v>
                </c:pt>
                <c:pt idx="49">
                  <c:v>40.934310104705659</c:v>
                </c:pt>
                <c:pt idx="50">
                  <c:v>40.2577254698598</c:v>
                </c:pt>
                <c:pt idx="51">
                  <c:v>39.592323795394577</c:v>
                </c:pt>
                <c:pt idx="52">
                  <c:v>38.937920243232924</c:v>
                </c:pt>
                <c:pt idx="53">
                  <c:v>38.29433303040247</c:v>
                </c:pt>
                <c:pt idx="54">
                  <c:v>37.661383378539107</c:v>
                </c:pt>
                <c:pt idx="55">
                  <c:v>37.038895464225156</c:v>
                </c:pt>
                <c:pt idx="56">
                  <c:v>36.426696370148427</c:v>
                </c:pt>
                <c:pt idx="57">
                  <c:v>35.824616037068509</c:v>
                </c:pt>
                <c:pt idx="58">
                  <c:v>35.232487216576999</c:v>
                </c:pt>
                <c:pt idx="59">
                  <c:v>34.650145424638538</c:v>
                </c:pt>
                <c:pt idx="60">
                  <c:v>34.077428895899729</c:v>
                </c:pt>
                <c:pt idx="61">
                  <c:v>33.514178538753306</c:v>
                </c:pt>
                <c:pt idx="62">
                  <c:v>32.960237891144963</c:v>
                </c:pt>
                <c:pt idx="63">
                  <c:v>32.415453077110698</c:v>
                </c:pt>
                <c:pt idx="64">
                  <c:v>31.879672764032481</c:v>
                </c:pt>
                <c:pt idx="65">
                  <c:v>31.352748120600449</c:v>
                </c:pt>
                <c:pt idx="66">
                  <c:v>30.83453277546991</c:v>
                </c:pt>
                <c:pt idx="67">
                  <c:v>30.324882776601708</c:v>
                </c:pt>
                <c:pt idx="68">
                  <c:v>29.82365655127461</c:v>
                </c:pt>
                <c:pt idx="69">
                  <c:v>29.330714866758647</c:v>
                </c:pt>
                <c:pt idx="70">
                  <c:v>28.845920791638456</c:v>
                </c:pt>
                <c:pt idx="71">
                  <c:v>28.369139657775897</c:v>
                </c:pt>
                <c:pt idx="72">
                  <c:v>27.900239022901363</c:v>
                </c:pt>
                <c:pt idx="73">
                  <c:v>27.439088633823427</c:v>
                </c:pt>
                <c:pt idx="74">
                  <c:v>26.985560390246548</c:v>
                </c:pt>
                <c:pt idx="75">
                  <c:v>26.539528309186828</c:v>
                </c:pt>
                <c:pt idx="76">
                  <c:v>26.100868489975944</c:v>
                </c:pt>
                <c:pt idx="77">
                  <c:v>25.669459079843488</c:v>
                </c:pt>
                <c:pt idx="78">
                  <c:v>25.245180240068194</c:v>
                </c:pt>
                <c:pt idx="79">
                  <c:v>24.827914112688639</c:v>
                </c:pt>
                <c:pt idx="80">
                  <c:v>24.41754478776415</c:v>
                </c:pt>
                <c:pt idx="81">
                  <c:v>24.013958271176868</c:v>
                </c:pt>
                <c:pt idx="82">
                  <c:v>23.617042452965972</c:v>
                </c:pt>
                <c:pt idx="83">
                  <c:v>23.226687076185303</c:v>
                </c:pt>
                <c:pt idx="84">
                  <c:v>22.842783706275736</c:v>
                </c:pt>
                <c:pt idx="85">
                  <c:v>22.465225700943755</c:v>
                </c:pt>
                <c:pt idx="86">
                  <c:v>22.09390818053792</c:v>
                </c:pt>
                <c:pt idx="87">
                  <c:v>21.728727998914955</c:v>
                </c:pt>
                <c:pt idx="88">
                  <c:v>21.369583714787378</c:v>
                </c:pt>
                <c:pt idx="89">
                  <c:v>21.016375563544702</c:v>
                </c:pt>
                <c:pt idx="90">
                  <c:v>20.669005429540423</c:v>
                </c:pt>
                <c:pt idx="91">
                  <c:v>20.327376818837024</c:v>
                </c:pt>
                <c:pt idx="92">
                  <c:v>19.991394832401493</c:v>
                </c:pt>
                <c:pt idx="93">
                  <c:v>19.660966139743866</c:v>
                </c:pt>
                <c:pt idx="94">
                  <c:v>19.335998952991496</c:v>
                </c:pt>
                <c:pt idx="95">
                  <c:v>19.016403001391819</c:v>
                </c:pt>
                <c:pt idx="96">
                  <c:v>18.702089506236582</c:v>
                </c:pt>
                <c:pt idx="97">
                  <c:v>18.39297115620051</c:v>
                </c:pt>
                <c:pt idx="98">
                  <c:v>18.088962083087591</c:v>
                </c:pt>
                <c:pt idx="99">
                  <c:v>17.789977837978267</c:v>
                </c:pt>
                <c:pt idx="100">
                  <c:v>17.495935367770841</c:v>
                </c:pt>
                <c:pt idx="101">
                  <c:v>17.206752992110644</c:v>
                </c:pt>
                <c:pt idx="102">
                  <c:v>16.922350380700522</c:v>
                </c:pt>
                <c:pt idx="103">
                  <c:v>16.642648530986346</c:v>
                </c:pt>
                <c:pt idx="104">
                  <c:v>16.367569746211348</c:v>
                </c:pt>
                <c:pt idx="105">
                  <c:v>16.097037613833198</c:v>
                </c:pt>
                <c:pt idx="106">
                  <c:v>15.830976984297795</c:v>
                </c:pt>
                <c:pt idx="107">
                  <c:v>15.569313950163918</c:v>
                </c:pt>
                <c:pt idx="108">
                  <c:v>15.311975825572899</c:v>
                </c:pt>
                <c:pt idx="109">
                  <c:v>15.058891126057642</c:v>
                </c:pt>
                <c:pt idx="110">
                  <c:v>14.809989548685364</c:v>
                </c:pt>
                <c:pt idx="111">
                  <c:v>14.565201952528556</c:v>
                </c:pt>
                <c:pt idx="112">
                  <c:v>14.324460339458721</c:v>
                </c:pt>
                <c:pt idx="113">
                  <c:v>14.087697835257568</c:v>
                </c:pt>
                <c:pt idx="114">
                  <c:v>13.854848671040415</c:v>
                </c:pt>
                <c:pt idx="115">
                  <c:v>13.625848164986621</c:v>
                </c:pt>
                <c:pt idx="116">
                  <c:v>13.400632704372011</c:v>
                </c:pt>
                <c:pt idx="117">
                  <c:v>13.179139727898255</c:v>
                </c:pt>
                <c:pt idx="118">
                  <c:v>12.961307708314333</c:v>
                </c:pt>
                <c:pt idx="119">
                  <c:v>12.747076135325235</c:v>
                </c:pt>
                <c:pt idx="120">
                  <c:v>12.536385498783154</c:v>
                </c:pt>
                <c:pt idx="121">
                  <c:v>12.329177272156512</c:v>
                </c:pt>
                <c:pt idx="122">
                  <c:v>12.125393896272209</c:v>
                </c:pt>
                <c:pt idx="123">
                  <c:v>11.924978763326596</c:v>
                </c:pt>
                <c:pt idx="124">
                  <c:v>11.727876201160722</c:v>
                </c:pt>
                <c:pt idx="125">
                  <c:v>11.534031457795484</c:v>
                </c:pt>
                <c:pt idx="126">
                  <c:v>11.343390686222394</c:v>
                </c:pt>
                <c:pt idx="127">
                  <c:v>11.155900929445734</c:v>
                </c:pt>
                <c:pt idx="128">
                  <c:v>10.97151010577193</c:v>
                </c:pt>
                <c:pt idx="129">
                  <c:v>10.790166994342089</c:v>
                </c:pt>
                <c:pt idx="130">
                  <c:v>10.611821220903646</c:v>
                </c:pt>
                <c:pt idx="131">
                  <c:v>10.436423243817201</c:v>
                </c:pt>
                <c:pt idx="132">
                  <c:v>10.263924340294624</c:v>
                </c:pt>
                <c:pt idx="133">
                  <c:v>10.09427659286464</c:v>
                </c:pt>
                <c:pt idx="134">
                  <c:v>9.9274328760621113</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C-34F3-48D1-B6A0-920B6098073E}"/>
            </c:ext>
          </c:extLst>
        </c:ser>
        <c:ser>
          <c:idx val="14"/>
          <c:order val="14"/>
          <c:tx>
            <c:v>High</c:v>
          </c:tx>
          <c:spPr>
            <a:ln w="38100" cap="rnd">
              <a:solidFill>
                <a:srgbClr val="FF0000"/>
              </a:solidFill>
              <a:round/>
            </a:ln>
            <a:effectLst/>
          </c:spPr>
          <c:marker>
            <c:symbol val="none"/>
          </c:marker>
          <c:xVal>
            <c:numRef>
              <c:f>'ASNO P1'!$B$33:$B$246</c:f>
              <c:numCache>
                <c:formatCode>0</c:formatCode>
                <c:ptCount val="214"/>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numCache>
            </c:numRef>
          </c:xVal>
          <c:yVal>
            <c:numRef>
              <c:f>'ASNO P1'!$E$33:$E$246</c:f>
              <c:numCache>
                <c:formatCode>0</c:formatCode>
                <c:ptCount val="214"/>
                <c:pt idx="0">
                  <c:v>158</c:v>
                </c:pt>
                <c:pt idx="1">
                  <c:v>144.76258172083865</c:v>
                </c:pt>
                <c:pt idx="2">
                  <c:v>132.63420928153474</c:v>
                </c:pt>
                <c:pt idx="3">
                  <c:v>121.52196557023412</c:v>
                </c:pt>
                <c:pt idx="4">
                  <c:v>111.34071817555669</c:v>
                </c:pt>
                <c:pt idx="5">
                  <c:v>102.0124671756069</c:v>
                </c:pt>
                <c:pt idx="6">
                  <c:v>100.32634940112415</c:v>
                </c:pt>
                <c:pt idx="7">
                  <c:v>98.668100702139128</c:v>
                </c:pt>
                <c:pt idx="8">
                  <c:v>97.037260443350533</c:v>
                </c:pt>
                <c:pt idx="9">
                  <c:v>95.433375603088876</c:v>
                </c:pt>
                <c:pt idx="10">
                  <c:v>93.856000647474303</c:v>
                </c:pt>
                <c:pt idx="11">
                  <c:v>92.304697406654228</c:v>
                </c:pt>
                <c:pt idx="12">
                  <c:v>90.779034953086722</c:v>
                </c:pt>
                <c:pt idx="13">
                  <c:v>89.278589481835624</c:v>
                </c:pt>
                <c:pt idx="14">
                  <c:v>87.802944192844251</c:v>
                </c:pt>
                <c:pt idx="15">
                  <c:v>86.351689175154888</c:v>
                </c:pt>
                <c:pt idx="16">
                  <c:v>84.924421293042002</c:v>
                </c:pt>
                <c:pt idx="17">
                  <c:v>83.520744074027547</c:v>
                </c:pt>
                <c:pt idx="18">
                  <c:v>82.140267598747116</c:v>
                </c:pt>
                <c:pt idx="19">
                  <c:v>80.782608392636533</c:v>
                </c:pt>
                <c:pt idx="20">
                  <c:v>79.447389319408643</c:v>
                </c:pt>
                <c:pt idx="21">
                  <c:v>78.134239476290858</c:v>
                </c:pt>
                <c:pt idx="22">
                  <c:v>76.84279409099419</c:v>
                </c:pt>
                <c:pt idx="23">
                  <c:v>75.572694420385247</c:v>
                </c:pt>
                <c:pt idx="24">
                  <c:v>74.323587650833119</c:v>
                </c:pt>
                <c:pt idx="25">
                  <c:v>73.095126800203261</c:v>
                </c:pt>
                <c:pt idx="26">
                  <c:v>71.886970621471377</c:v>
                </c:pt>
                <c:pt idx="27">
                  <c:v>70.698783507930358</c:v>
                </c:pt>
                <c:pt idx="28">
                  <c:v>69.53023539996407</c:v>
                </c:pt>
                <c:pt idx="29">
                  <c:v>68.381001693361952</c:v>
                </c:pt>
                <c:pt idx="30">
                  <c:v>67.250763149149165</c:v>
                </c:pt>
                <c:pt idx="31">
                  <c:v>66.139205804906993</c:v>
                </c:pt>
                <c:pt idx="32">
                  <c:v>65.046020887559038</c:v>
                </c:pt>
                <c:pt idx="33">
                  <c:v>63.970904727598985</c:v>
                </c:pt>
                <c:pt idx="34">
                  <c:v>62.91355867473596</c:v>
                </c:pt>
                <c:pt idx="35">
                  <c:v>61.873689014934207</c:v>
                </c:pt>
                <c:pt idx="36">
                  <c:v>60.851006888823989</c:v>
                </c:pt>
                <c:pt idx="37">
                  <c:v>59.845228211460991</c:v>
                </c:pt>
                <c:pt idx="38">
                  <c:v>58.85607359341202</c:v>
                </c:pt>
                <c:pt idx="39">
                  <c:v>57.883268263145027</c:v>
                </c:pt>
                <c:pt idx="40">
                  <c:v>56.926541990701935</c:v>
                </c:pt>
                <c:pt idx="41">
                  <c:v>55.985629012632984</c:v>
                </c:pt>
                <c:pt idx="42">
                  <c:v>55.060267958171885</c:v>
                </c:pt>
                <c:pt idx="43">
                  <c:v>54.150201776631128</c:v>
                </c:pt>
                <c:pt idx="44">
                  <c:v>53.255177665997351</c:v>
                </c:pt>
                <c:pt idx="45">
                  <c:v>52.374947002706946</c:v>
                </c:pt>
                <c:pt idx="46">
                  <c:v>51.509265272582368</c:v>
                </c:pt>
                <c:pt idx="47">
                  <c:v>50.657892002909939</c:v>
                </c:pt>
                <c:pt idx="48">
                  <c:v>49.820590695640327</c:v>
                </c:pt>
                <c:pt idx="49">
                  <c:v>48.997128761693141</c:v>
                </c:pt>
                <c:pt idx="50">
                  <c:v>48.187277456347339</c:v>
                </c:pt>
                <c:pt idx="51">
                  <c:v>47.390811815699571</c:v>
                </c:pt>
                <c:pt idx="52">
                  <c:v>46.607510594172744</c:v>
                </c:pt>
                <c:pt idx="53">
                  <c:v>45.837156203057511</c:v>
                </c:pt>
                <c:pt idx="54">
                  <c:v>45.07953465006954</c:v>
                </c:pt>
                <c:pt idx="55">
                  <c:v>44.334435479905871</c:v>
                </c:pt>
                <c:pt idx="56">
                  <c:v>43.601651715783724</c:v>
                </c:pt>
                <c:pt idx="57">
                  <c:v>42.880979801945642</c:v>
                </c:pt>
                <c:pt idx="58">
                  <c:v>42.172219547114899</c:v>
                </c:pt>
                <c:pt idx="59">
                  <c:v>41.475174068885522</c:v>
                </c:pt>
                <c:pt idx="60">
                  <c:v>40.789649739031496</c:v>
                </c:pt>
                <c:pt idx="61">
                  <c:v>40.115456129719867</c:v>
                </c:pt>
                <c:pt idx="62">
                  <c:v>39.452405960612914</c:v>
                </c:pt>
                <c:pt idx="63">
                  <c:v>38.800315046844631</c:v>
                </c:pt>
                <c:pt idx="64">
                  <c:v>38.159002247857067</c:v>
                </c:pt>
                <c:pt idx="65">
                  <c:v>37.528289417082362</c:v>
                </c:pt>
                <c:pt idx="66">
                  <c:v>36.908001352456417</c:v>
                </c:pt>
                <c:pt idx="67">
                  <c:v>36.297965747750538</c:v>
                </c:pt>
                <c:pt idx="68">
                  <c:v>35.698013144707495</c:v>
                </c:pt>
                <c:pt idx="69">
                  <c:v>35.107976885968689</c:v>
                </c:pt>
                <c:pt idx="70">
                  <c:v>34.527693068779371</c:v>
                </c:pt>
                <c:pt idx="71">
                  <c:v>33.957000499459035</c:v>
                </c:pt>
                <c:pt idx="72">
                  <c:v>33.395740648624368</c:v>
                </c:pt>
                <c:pt idx="73">
                  <c:v>32.843757607152291</c:v>
                </c:pt>
                <c:pt idx="74">
                  <c:v>32.30089804287087</c:v>
                </c:pt>
                <c:pt idx="75">
                  <c:v>31.767011157966053</c:v>
                </c:pt>
                <c:pt idx="76">
                  <c:v>31.241948647092418</c:v>
                </c:pt>
                <c:pt idx="77">
                  <c:v>30.725564656176296</c:v>
                </c:pt>
                <c:pt idx="78">
                  <c:v>30.217715741899809</c:v>
                </c:pt>
                <c:pt idx="79">
                  <c:v>29.718260831854582</c:v>
                </c:pt>
                <c:pt idx="80">
                  <c:v>29.227061185354057</c:v>
                </c:pt>
                <c:pt idx="81">
                  <c:v>28.74398035489352</c:v>
                </c:pt>
                <c:pt idx="82">
                  <c:v>28.268884148247142</c:v>
                </c:pt>
                <c:pt idx="83">
                  <c:v>27.801640591191493</c:v>
                </c:pt>
                <c:pt idx="84">
                  <c:v>27.34211989084519</c:v>
                </c:pt>
                <c:pt idx="85">
                  <c:v>26.890194399614483</c:v>
                </c:pt>
                <c:pt idx="86">
                  <c:v>26.445738579734773</c:v>
                </c:pt>
                <c:pt idx="87">
                  <c:v>26.008628968398195</c:v>
                </c:pt>
                <c:pt idx="88">
                  <c:v>25.578744143457609</c:v>
                </c:pt>
                <c:pt idx="89">
                  <c:v>25.155964689697438</c:v>
                </c:pt>
                <c:pt idx="90">
                  <c:v>24.740173165662014</c:v>
                </c:pt>
                <c:pt idx="91">
                  <c:v>24.331254071032191</c:v>
                </c:pt>
                <c:pt idx="92">
                  <c:v>23.929093814541179</c:v>
                </c:pt>
                <c:pt idx="93">
                  <c:v>23.533580682420688</c:v>
                </c:pt>
                <c:pt idx="94">
                  <c:v>23.144604807368605</c:v>
                </c:pt>
                <c:pt idx="95">
                  <c:v>22.762058138029598</c:v>
                </c:pt>
                <c:pt idx="96">
                  <c:v>22.385834408980148</c:v>
                </c:pt>
                <c:pt idx="97">
                  <c:v>22.015829111209698</c:v>
                </c:pt>
                <c:pt idx="98">
                  <c:v>21.65193946308969</c:v>
                </c:pt>
                <c:pt idx="99">
                  <c:v>21.294064381822469</c:v>
                </c:pt>
                <c:pt idx="100">
                  <c:v>20.942104455362067</c:v>
                </c:pt>
                <c:pt idx="101">
                  <c:v>20.595961914799105</c:v>
                </c:pt>
                <c:pt idx="102">
                  <c:v>20.255540607202139</c:v>
                </c:pt>
                <c:pt idx="103">
                  <c:v>19.920745968907898</c:v>
                </c:pt>
                <c:pt idx="104">
                  <c:v>19.591484999252977</c:v>
                </c:pt>
                <c:pt idx="105">
                  <c:v>19.267666234739735</c:v>
                </c:pt>
                <c:pt idx="106">
                  <c:v>18.949199723629178</c:v>
                </c:pt>
                <c:pt idx="107">
                  <c:v>18.635997000953779</c:v>
                </c:pt>
                <c:pt idx="108">
                  <c:v>18.327971063943316</c:v>
                </c:pt>
                <c:pt idx="109">
                  <c:v>18.025036347856872</c:v>
                </c:pt>
                <c:pt idx="110">
                  <c:v>17.727108702214295</c:v>
                </c:pt>
                <c:pt idx="111">
                  <c:v>17.434105367420539</c:v>
                </c:pt>
                <c:pt idx="112">
                  <c:v>17.145944951776343</c:v>
                </c:pt>
                <c:pt idx="113">
                  <c:v>16.862547408868902</c:v>
                </c:pt>
                <c:pt idx="114">
                  <c:v>16.583834015336247</c:v>
                </c:pt>
                <c:pt idx="115">
                  <c:v>16.309727348999132</c:v>
                </c:pt>
                <c:pt idx="116">
                  <c:v>16.040151267354371</c:v>
                </c:pt>
                <c:pt idx="117">
                  <c:v>15.775030886423664</c:v>
                </c:pt>
                <c:pt idx="118">
                  <c:v>15.514292559952001</c:v>
                </c:pt>
                <c:pt idx="119">
                  <c:v>15.257863858949898</c:v>
                </c:pt>
                <c:pt idx="120">
                  <c:v>15.005673551573771</c:v>
                </c:pt>
                <c:pt idx="121">
                  <c:v>14.757651583338852</c:v>
                </c:pt>
                <c:pt idx="122">
                  <c:v>14.513729057659155</c:v>
                </c:pt>
                <c:pt idx="123">
                  <c:v>14.273838216709104</c:v>
                </c:pt>
                <c:pt idx="124">
                  <c:v>14.037912422601465</c:v>
                </c:pt>
                <c:pt idx="125">
                  <c:v>13.805886138876408</c:v>
                </c:pt>
                <c:pt idx="126">
                  <c:v>13.577694912296499</c:v>
                </c:pt>
                <c:pt idx="127">
                  <c:v>13.353275354942618</c:v>
                </c:pt>
                <c:pt idx="128">
                  <c:v>13.132565126605792</c:v>
                </c:pt>
                <c:pt idx="129">
                  <c:v>12.915502917470073</c:v>
                </c:pt>
                <c:pt idx="130">
                  <c:v>12.702028431081635</c:v>
                </c:pt>
                <c:pt idx="131">
                  <c:v>12.492082367599375</c:v>
                </c:pt>
                <c:pt idx="132">
                  <c:v>12.285606407322351</c:v>
                </c:pt>
                <c:pt idx="133">
                  <c:v>12.082543194489492</c:v>
                </c:pt>
                <c:pt idx="134">
                  <c:v>11.882836321347071</c:v>
                </c:pt>
                <c:pt idx="135">
                  <c:v>11.686430312479525</c:v>
                </c:pt>
                <c:pt idx="136">
                  <c:v>11.493270609399257</c:v>
                </c:pt>
                <c:pt idx="137">
                  <c:v>11.303303555391155</c:v>
                </c:pt>
                <c:pt idx="138">
                  <c:v>11.116476380607597</c:v>
                </c:pt>
                <c:pt idx="139">
                  <c:v>10.932737187409826</c:v>
                </c:pt>
                <c:pt idx="140">
                  <c:v>10.752034935951603</c:v>
                </c:pt>
                <c:pt idx="141">
                  <c:v>10.574319430001145</c:v>
                </c:pt>
                <c:pt idx="142">
                  <c:v>10.399541302997404</c:v>
                </c:pt>
                <c:pt idx="143">
                  <c:v>10.227652004336816</c:v>
                </c:pt>
                <c:pt idx="144">
                  <c:v>10.058603785886708</c:v>
                </c:pt>
                <c:pt idx="145">
                  <c:v>9.8923496887216267</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numCache>
            </c:numRef>
          </c:yVal>
          <c:smooth val="1"/>
          <c:extLst>
            <c:ext xmlns:c16="http://schemas.microsoft.com/office/drawing/2014/chart" uri="{C3380CC4-5D6E-409C-BE32-E72D297353CC}">
              <c16:uniqueId val="{0000000D-34F3-48D1-B6A0-920B6098073E}"/>
            </c:ext>
          </c:extLst>
        </c:ser>
        <c:dLbls>
          <c:showLegendKey val="0"/>
          <c:showVal val="0"/>
          <c:showCatName val="0"/>
          <c:showSerName val="0"/>
          <c:showPercent val="0"/>
          <c:showBubbleSize val="0"/>
        </c:dLbls>
        <c:axId val="1179992736"/>
        <c:axId val="1179993720"/>
        <c:extLst>
          <c:ext xmlns:c15="http://schemas.microsoft.com/office/drawing/2012/chart" uri="{02D57815-91ED-43cb-92C2-25804820EDAC}">
            <c15:filteredScatterSeries>
              <c15:ser>
                <c:idx val="7"/>
                <c:order val="4"/>
                <c:tx>
                  <c:strRef>
                    <c:extLst>
                      <c:ext uri="{02D57815-91ED-43cb-92C2-25804820EDAC}">
                        <c15:formulaRef>
                          <c15:sqref>'ASNO P1'!$AK$31:$AM$31</c15:sqref>
                        </c15:formulaRef>
                      </c:ext>
                    </c:extLst>
                    <c:strCache>
                      <c:ptCount val="1"/>
                    </c:strCache>
                  </c:strRef>
                </c:tx>
                <c:spPr>
                  <a:ln w="19050" cap="rnd">
                    <a:solidFill>
                      <a:schemeClr val="accent2">
                        <a:lumMod val="60000"/>
                      </a:schemeClr>
                    </a:solidFill>
                    <a:round/>
                  </a:ln>
                  <a:effectLst/>
                </c:spPr>
                <c:marker>
                  <c:symbol val="none"/>
                </c:marker>
                <c:xVal>
                  <c:numRef>
                    <c:extLst>
                      <c:ex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c:ext uri="{02D57815-91ED-43cb-92C2-25804820EDAC}">
                        <c15:formulaRef>
                          <c15:sqref>'ASNO P1'!$AK$33</c15:sqref>
                        </c15:formulaRef>
                      </c:ext>
                    </c:extLst>
                    <c:numCache>
                      <c:formatCode>General</c:formatCode>
                      <c:ptCount val="1"/>
                    </c:numCache>
                  </c:numRef>
                </c:yVal>
                <c:smooth val="1"/>
                <c:extLst>
                  <c:ext xmlns:c16="http://schemas.microsoft.com/office/drawing/2014/chart" uri="{C3380CC4-5D6E-409C-BE32-E72D297353CC}">
                    <c16:uniqueId val="{0000000E-34F3-48D1-B6A0-920B6098073E}"/>
                  </c:ext>
                </c:extLst>
              </c15:ser>
            </c15:filteredScatterSeries>
            <c15:filteredScatterSeries>
              <c15:ser>
                <c:idx val="8"/>
                <c:order val="5"/>
                <c:tx>
                  <c:strRef>
                    <c:extLst xmlns:c15="http://schemas.microsoft.com/office/drawing/2012/chart">
                      <c:ext xmlns:c15="http://schemas.microsoft.com/office/drawing/2012/chart" uri="{02D57815-91ED-43cb-92C2-25804820EDAC}">
                        <c15:formulaRef>
                          <c15:sqref>'ASNO P1'!$AN$31:$AO$31</c15:sqref>
                        </c15:formulaRef>
                      </c:ext>
                    </c:extLst>
                    <c:strCache>
                      <c:ptCount val="1"/>
                    </c:strCache>
                  </c:strRef>
                </c:tx>
                <c:spPr>
                  <a:ln w="9525" cap="rnd">
                    <a:solidFill>
                      <a:schemeClr val="accent3">
                        <a:lumMod val="60000"/>
                      </a:schemeClr>
                    </a:solidFill>
                    <a:prstDash val="dash"/>
                    <a:round/>
                  </a:ln>
                  <a:effectLst/>
                </c:spPr>
                <c:marker>
                  <c:symbol val="none"/>
                </c:marker>
                <c:xVal>
                  <c:numRef>
                    <c:extLst xmlns:c15="http://schemas.microsoft.com/office/drawing/2012/chart">
                      <c:ext xmlns:c15="http://schemas.microsoft.com/office/drawing/2012/char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xmlns:c15="http://schemas.microsoft.com/office/drawing/2012/chart">
                      <c:ext xmlns:c15="http://schemas.microsoft.com/office/drawing/2012/chart" uri="{02D57815-91ED-43cb-92C2-25804820EDAC}">
                        <c15:formulaRef>
                          <c15:sqref>'ASNO P1'!$AN$33:$AN$98</c15:sqref>
                        </c15:formulaRef>
                      </c:ext>
                    </c:extLst>
                    <c:numCache>
                      <c:formatCode>0</c:formatCode>
                      <c:ptCount val="66"/>
                      <c:pt idx="0">
                        <c:v>5.673</c:v>
                      </c:pt>
                      <c:pt idx="1">
                        <c:v>3.3804400000000001</c:v>
                      </c:pt>
                      <c:pt idx="2">
                        <c:v>3.8350099999999996</c:v>
                      </c:pt>
                      <c:pt idx="3">
                        <c:v>3.3543000000000003</c:v>
                      </c:pt>
                      <c:pt idx="4">
                        <c:v>3.3768300000000004</c:v>
                      </c:pt>
                      <c:pt idx="5">
                        <c:v>3.4851000000000001</c:v>
                      </c:pt>
                      <c:pt idx="6">
                        <c:v>3.3631899999999999</c:v>
                      </c:pt>
                      <c:pt idx="7">
                        <c:v>3.4890499999999998</c:v>
                      </c:pt>
                      <c:pt idx="8">
                        <c:v>3.5712000000000002</c:v>
                      </c:pt>
                      <c:pt idx="9">
                        <c:v>3.6561399999999997</c:v>
                      </c:pt>
                      <c:pt idx="10">
                        <c:v>2.8968000000000003</c:v>
                      </c:pt>
                      <c:pt idx="11">
                        <c:v>2.78504</c:v>
                      </c:pt>
                      <c:pt idx="12">
                        <c:v>2.5444800000000001</c:v>
                      </c:pt>
                      <c:pt idx="13">
                        <c:v>1.96756</c:v>
                      </c:pt>
                      <c:pt idx="14">
                        <c:v>1.3082</c:v>
                      </c:pt>
                      <c:pt idx="15">
                        <c:v>1.1967000000000001</c:v>
                      </c:pt>
                      <c:pt idx="16">
                        <c:v>1.81009</c:v>
                      </c:pt>
                      <c:pt idx="17">
                        <c:v>1.4406000000000001</c:v>
                      </c:pt>
                      <c:pt idx="18">
                        <c:v>0.64603999999999995</c:v>
                      </c:pt>
                      <c:pt idx="19">
                        <c:v>1.8107099999999998</c:v>
                      </c:pt>
                      <c:pt idx="20">
                        <c:v>1.6935</c:v>
                      </c:pt>
                      <c:pt idx="21">
                        <c:v>1.75305</c:v>
                      </c:pt>
                      <c:pt idx="22">
                        <c:v>1.5449999999999999</c:v>
                      </c:pt>
                      <c:pt idx="23">
                        <c:v>1.4743600000000001</c:v>
                      </c:pt>
                      <c:pt idx="24">
                        <c:v>1.40957</c:v>
                      </c:pt>
                      <c:pt idx="25">
                        <c:v>1.41781</c:v>
                      </c:pt>
                      <c:pt idx="26">
                        <c:v>1.9105300000000001</c:v>
                      </c:pt>
                      <c:pt idx="27">
                        <c:v>1.8620999999999999</c:v>
                      </c:pt>
                      <c:pt idx="28">
                        <c:v>1.87612</c:v>
                      </c:pt>
                      <c:pt idx="29">
                        <c:v>1.7243999999999999</c:v>
                      </c:pt>
                      <c:pt idx="30">
                        <c:v>1.83117</c:v>
                      </c:pt>
                      <c:pt idx="31">
                        <c:v>1.8978199999999998</c:v>
                      </c:pt>
                      <c:pt idx="32">
                        <c:v>1.8066</c:v>
                      </c:pt>
                      <c:pt idx="33">
                        <c:v>1.73848</c:v>
                      </c:pt>
                      <c:pt idx="34">
                        <c:v>1.782</c:v>
                      </c:pt>
                      <c:pt idx="35">
                        <c:v>1.8916200000000001</c:v>
                      </c:pt>
                      <c:pt idx="36">
                        <c:v>2.0305</c:v>
                      </c:pt>
                      <c:pt idx="37">
                        <c:v>2.7571599999999998</c:v>
                      </c:pt>
                      <c:pt idx="38">
                        <c:v>2.6207400000000001</c:v>
                      </c:pt>
                      <c:pt idx="39">
                        <c:v>2.2715999999999998</c:v>
                      </c:pt>
                      <c:pt idx="40">
                        <c:v>1.8832500000000001</c:v>
                      </c:pt>
                      <c:pt idx="41">
                        <c:v>1.7923767245898978</c:v>
                      </c:pt>
                      <c:pt idx="42">
                        <c:v>1.8215097212327376</c:v>
                      </c:pt>
                      <c:pt idx="43">
                        <c:v>1.7914028136909697</c:v>
                      </c:pt>
                      <c:pt idx="44">
                        <c:v>1.7049614802201232</c:v>
                      </c:pt>
                      <c:pt idx="45">
                        <c:v>1.7326736438506727</c:v>
                      </c:pt>
                      <c:pt idx="46">
                        <c:v>1.6490661943705363</c:v>
                      </c:pt>
                      <c:pt idx="47">
                        <c:v>1.6758698452131957</c:v>
                      </c:pt>
                      <c:pt idx="48">
                        <c:v>1.6481701530876305</c:v>
                      </c:pt>
                      <c:pt idx="49">
                        <c:v>1.4640642678990232</c:v>
                      </c:pt>
                      <c:pt idx="50">
                        <c:v>1.5941367084002489</c:v>
                      </c:pt>
                      <c:pt idx="51">
                        <c:v>1.5172141414846458</c:v>
                      </c:pt>
                      <c:pt idx="52">
                        <c:v>1.5418746907341094</c:v>
                      </c:pt>
                      <c:pt idx="53">
                        <c:v>1.4674739455229338</c:v>
                      </c:pt>
                      <c:pt idx="54">
                        <c:v>1.4913260258037442</c:v>
                      </c:pt>
                      <c:pt idx="55">
                        <c:v>1.4666765747192232</c:v>
                      </c:pt>
                      <c:pt idx="56">
                        <c:v>1.3959043966695723</c:v>
                      </c:pt>
                      <c:pt idx="57">
                        <c:v>1.4185931972682326</c:v>
                      </c:pt>
                      <c:pt idx="58">
                        <c:v>1.3501412071924308</c:v>
                      </c:pt>
                      <c:pt idx="59">
                        <c:v>1.372086180432081</c:v>
                      </c:pt>
                      <c:pt idx="60">
                        <c:v>1.3494075906380887</c:v>
                      </c:pt>
                      <c:pt idx="61">
                        <c:v>1.1986744406115317</c:v>
                      </c:pt>
                      <c:pt idx="62">
                        <c:v>1.3051687477777911</c:v>
                      </c:pt>
                      <c:pt idx="63">
                        <c:v>1.2421898766382882</c:v>
                      </c:pt>
                      <c:pt idx="64">
                        <c:v>1.2623802266966178</c:v>
                      </c:pt>
                      <c:pt idx="65">
                        <c:v>1.2014660485403088</c:v>
                      </c:pt>
                    </c:numCache>
                  </c:numRef>
                </c:yVal>
                <c:smooth val="1"/>
                <c:extLst xmlns:c15="http://schemas.microsoft.com/office/drawing/2012/chart">
                  <c:ext xmlns:c16="http://schemas.microsoft.com/office/drawing/2014/chart" uri="{C3380CC4-5D6E-409C-BE32-E72D297353CC}">
                    <c16:uniqueId val="{0000000F-34F3-48D1-B6A0-920B6098073E}"/>
                  </c:ext>
                </c:extLst>
              </c15:ser>
            </c15:filteredScatterSeries>
            <c15:filteredScatterSeries>
              <c15:ser>
                <c:idx val="2"/>
                <c:order val="7"/>
                <c:tx>
                  <c:strRef>
                    <c:extLst xmlns:c15="http://schemas.microsoft.com/office/drawing/2012/chart">
                      <c:ext xmlns:c15="http://schemas.microsoft.com/office/drawing/2012/chart" uri="{02D57815-91ED-43cb-92C2-25804820EDAC}">
                        <c15:formulaRef>
                          <c15:sqref>'ASNO P1'!$AK$31</c15:sqref>
                        </c15:formulaRef>
                      </c:ext>
                    </c:extLst>
                    <c:strCache>
                      <c:ptCount val="1"/>
                    </c:strCache>
                  </c:strRef>
                </c:tx>
                <c:spPr>
                  <a:ln w="12700" cap="rnd">
                    <a:solidFill>
                      <a:schemeClr val="accent3"/>
                    </a:solidFill>
                    <a:prstDash val="dash"/>
                    <a:round/>
                  </a:ln>
                  <a:effectLst/>
                </c:spPr>
                <c:marker>
                  <c:symbol val="none"/>
                </c:marker>
                <c:xVal>
                  <c:numRef>
                    <c:extLst xmlns:c15="http://schemas.microsoft.com/office/drawing/2012/chart">
                      <c:ext xmlns:c15="http://schemas.microsoft.com/office/drawing/2012/chart" uri="{02D57815-91ED-43cb-92C2-25804820EDAC}">
                        <c15:formulaRef>
                          <c15:sqref>'ASNO P1'!$B$33:$B$104</c15:sqref>
                        </c15:formulaRef>
                      </c:ext>
                    </c:extLst>
                    <c:numCache>
                      <c:formatCode>0</c:formatCode>
                      <c:ptCount val="7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numCache>
                  </c:numRef>
                </c:xVal>
                <c:yVal>
                  <c:numRef>
                    <c:extLst xmlns:c15="http://schemas.microsoft.com/office/drawing/2012/chart">
                      <c:ext xmlns:c15="http://schemas.microsoft.com/office/drawing/2012/chart" uri="{02D57815-91ED-43cb-92C2-25804820EDAC}">
                        <c15:formulaRef>
                          <c15:sqref>'ASNO P1'!$AK$33:$AK$48</c15:sqref>
                        </c15:formulaRef>
                      </c:ext>
                    </c:extLst>
                    <c:numCache>
                      <c:formatCode>General</c:formatCode>
                      <c:ptCount val="16"/>
                    </c:numCache>
                  </c:numRef>
                </c:yVal>
                <c:smooth val="1"/>
                <c:extLst xmlns:c15="http://schemas.microsoft.com/office/drawing/2012/chart">
                  <c:ext xmlns:c16="http://schemas.microsoft.com/office/drawing/2014/chart" uri="{C3380CC4-5D6E-409C-BE32-E72D297353CC}">
                    <c16:uniqueId val="{00000010-34F3-48D1-B6A0-920B6098073E}"/>
                  </c:ext>
                </c:extLst>
              </c15:ser>
            </c15:filteredScatterSeries>
          </c:ext>
        </c:extLst>
      </c:scatterChart>
      <c:valAx>
        <c:axId val="1179992736"/>
        <c:scaling>
          <c:orientation val="minMax"/>
          <c:max val="30"/>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3720"/>
        <c:crosses val="autoZero"/>
        <c:crossBetween val="midCat"/>
        <c:majorUnit val="10"/>
      </c:valAx>
      <c:valAx>
        <c:axId val="1179993720"/>
        <c:scaling>
          <c:logBase val="10"/>
          <c:orientation val="minMax"/>
          <c:max val="500"/>
          <c:min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r>
                  <a:rPr lang="en-US"/>
                  <a:t>Oil Rate, BOPD</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2736"/>
        <c:crosses val="autoZero"/>
        <c:crossBetween val="midCat"/>
      </c:valAx>
      <c:spPr>
        <a:solidFill>
          <a:schemeClr val="bg1"/>
        </a:solidFill>
        <a:ln>
          <a:noFill/>
        </a:ln>
        <a:effectLst/>
      </c:spPr>
    </c:plotArea>
    <c:legend>
      <c:legendPos val="b"/>
      <c:layout>
        <c:manualLayout>
          <c:xMode val="edge"/>
          <c:yMode val="edge"/>
          <c:x val="0.14567402011565286"/>
          <c:y val="0.93586953241209825"/>
          <c:w val="0.77812756466462374"/>
          <c:h val="5.0330344208975322E-2"/>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700">
          <a:solidFill>
            <a:sysClr val="windowText" lastClr="000000"/>
          </a:solidFill>
          <a:latin typeface="Telegraf" panose="020B0604020202020204"/>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r>
              <a:rPr lang="en-US"/>
              <a:t>Water Cut Forecast Alpha-07</a:t>
            </a:r>
          </a:p>
        </c:rich>
      </c:tx>
      <c:layout>
        <c:manualLayout>
          <c:xMode val="edge"/>
          <c:yMode val="edge"/>
          <c:x val="0.32391794522332568"/>
          <c:y val="3.316411125114388E-2"/>
        </c:manualLayout>
      </c:layout>
      <c:overlay val="0"/>
      <c:spPr>
        <a:noFill/>
        <a:ln>
          <a:noFill/>
        </a:ln>
        <a:effectLst/>
      </c:spPr>
      <c:txPr>
        <a:bodyPr rot="0" spcFirstLastPara="1" vertOverflow="ellipsis" vert="horz" wrap="square" anchor="ctr" anchorCtr="1"/>
        <a:lstStyle/>
        <a:p>
          <a:pPr>
            <a:defRPr sz="840" b="0" i="0" u="none" strike="noStrike" kern="1200" spc="0" baseline="0">
              <a:solidFill>
                <a:sysClr val="windowText" lastClr="000000"/>
              </a:solidFill>
              <a:latin typeface="Telegraf" panose="020B0604020202020204"/>
              <a:ea typeface="+mn-ea"/>
              <a:cs typeface="Arial" panose="020B0604020202020204" pitchFamily="34" charset="0"/>
            </a:defRPr>
          </a:pPr>
          <a:endParaRPr lang="en-US"/>
        </a:p>
      </c:txPr>
    </c:title>
    <c:autoTitleDeleted val="0"/>
    <c:plotArea>
      <c:layout>
        <c:manualLayout>
          <c:layoutTarget val="inner"/>
          <c:xMode val="edge"/>
          <c:yMode val="edge"/>
          <c:x val="6.2185241389953447E-2"/>
          <c:y val="0.10689305576199838"/>
          <c:w val="0.91007546000472783"/>
          <c:h val="0.75636506071288678"/>
        </c:manualLayout>
      </c:layout>
      <c:scatterChart>
        <c:scatterStyle val="smoothMarker"/>
        <c:varyColors val="0"/>
        <c:ser>
          <c:idx val="1"/>
          <c:order val="0"/>
          <c:tx>
            <c:v>WC Low</c:v>
          </c:tx>
          <c:spPr>
            <a:ln w="38100" cap="rnd">
              <a:solidFill>
                <a:schemeClr val="accent6"/>
              </a:solidFill>
              <a:round/>
            </a:ln>
            <a:effectLst/>
          </c:spPr>
          <c:marker>
            <c:symbol val="none"/>
          </c:marker>
          <c:xVal>
            <c:numRef>
              <c:f>'ASNO P1'!$B$33:$B$138</c:f>
              <c:numCache>
                <c:formatCode>0</c:formatCode>
                <c:ptCount val="10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numCache>
            </c:numRef>
          </c:xVal>
          <c:yVal>
            <c:numRef>
              <c:f>'ASNO P1'!$R$33:$R$138</c:f>
              <c:numCache>
                <c:formatCode>0%</c:formatCode>
                <c:ptCount val="106"/>
                <c:pt idx="0">
                  <c:v>0.94699999999999995</c:v>
                </c:pt>
                <c:pt idx="1">
                  <c:v>0.9514403998025035</c:v>
                </c:pt>
                <c:pt idx="2">
                  <c:v>0.95550877789923194</c:v>
                </c:pt>
                <c:pt idx="3">
                  <c:v>0.95923630268846583</c:v>
                </c:pt>
                <c:pt idx="4">
                  <c:v>0.96265153124490821</c:v>
                </c:pt>
                <c:pt idx="5">
                  <c:v>0.96578062809932164</c:v>
                </c:pt>
                <c:pt idx="6">
                  <c:v>0.96634622456797725</c:v>
                </c:pt>
                <c:pt idx="7">
                  <c:v>0.96690247254928252</c:v>
                </c:pt>
                <c:pt idx="8">
                  <c:v>0.96744952656014183</c:v>
                </c:pt>
                <c:pt idx="9">
                  <c:v>0.96798753856352082</c:v>
                </c:pt>
                <c:pt idx="10">
                  <c:v>0.96851665801065734</c:v>
                </c:pt>
                <c:pt idx="11">
                  <c:v>0.96903703188257806</c:v>
                </c:pt>
                <c:pt idx="12">
                  <c:v>0.96954880473092653</c:v>
                </c:pt>
                <c:pt idx="13">
                  <c:v>0.97005211871811847</c:v>
                </c:pt>
                <c:pt idx="14">
                  <c:v>0.97054711365683066</c:v>
                </c:pt>
                <c:pt idx="15">
                  <c:v>0.97103392704884051</c:v>
                </c:pt>
                <c:pt idx="16">
                  <c:v>0.97151269412322006</c:v>
                </c:pt>
                <c:pt idx="17">
                  <c:v>0.97198354787390218</c:v>
                </c:pt>
                <c:pt idx="18">
                  <c:v>0.97244661909662289</c:v>
                </c:pt>
                <c:pt idx="19">
                  <c:v>0.97290203642525475</c:v>
                </c:pt>
                <c:pt idx="20">
                  <c:v>0.97334992636754014</c:v>
                </c:pt>
                <c:pt idx="21">
                  <c:v>0.97379041334023153</c:v>
                </c:pt>
                <c:pt idx="22">
                  <c:v>0.9742236197036539</c:v>
                </c:pt>
                <c:pt idx="23">
                  <c:v>0.97464966579569356</c:v>
                </c:pt>
                <c:pt idx="24">
                  <c:v>0.97506866996522679</c:v>
                </c:pt>
                <c:pt idx="25">
                  <c:v>0.97548074860499512</c:v>
                </c:pt>
                <c:pt idx="26">
                  <c:v>0.97588601618393678</c:v>
                </c:pt>
                <c:pt idx="27">
                  <c:v>0.97628458527898532</c:v>
                </c:pt>
                <c:pt idx="28">
                  <c:v>0.97667656660634106</c:v>
                </c:pt>
                <c:pt idx="29">
                  <c:v>0.9770620690522267</c:v>
                </c:pt>
                <c:pt idx="30">
                  <c:v>0.97744119970313348</c:v>
                </c:pt>
                <c:pt idx="31">
                  <c:v>0.97781406387556924</c:v>
                </c:pt>
                <c:pt idx="32">
                  <c:v>0.97818076514531238</c:v>
                </c:pt>
                <c:pt idx="33">
                  <c:v>0.97854140537618517</c:v>
                </c:pt>
                <c:pt idx="34">
                  <c:v>0.97889608474834799</c:v>
                </c:pt>
                <c:pt idx="35">
                  <c:v>0.97924490178612966</c:v>
                </c:pt>
                <c:pt idx="36">
                  <c:v>0.97958795338539451</c:v>
                </c:pt>
                <c:pt idx="37">
                  <c:v>0.97992533484045929</c:v>
                </c:pt>
                <c:pt idx="38">
                  <c:v>0.98025713987056429</c:v>
                </c:pt>
                <c:pt idx="39">
                  <c:v>0.98058346064590707</c:v>
                </c:pt>
                <c:pt idx="40">
                  <c:v>0.98090438781324552</c:v>
                </c:pt>
                <c:pt idx="41">
                  <c:v>0.98122001052107888</c:v>
                </c:pt>
                <c:pt idx="42">
                  <c:v>0.98153041644441064</c:v>
                </c:pt>
                <c:pt idx="43">
                  <c:v>0.98183569180910479</c:v>
                </c:pt>
                <c:pt idx="44">
                  <c:v>0.98213592141583628</c:v>
                </c:pt>
                <c:pt idx="45">
                  <c:v>0.98243118866364887</c:v>
                </c:pt>
                <c:pt idx="46">
                  <c:v>0.98272157557312112</c:v>
                </c:pt>
                <c:pt idx="47">
                  <c:v>0.98300716280915046</c:v>
                </c:pt>
                <c:pt idx="48">
                  <c:v>0.98328802970336115</c:v>
                </c:pt>
                <c:pt idx="49">
                  <c:v>0.98356425427614091</c:v>
                </c:pt>
                <c:pt idx="50">
                  <c:v>0.98383591325831388</c:v>
                </c:pt>
                <c:pt idx="51">
                  <c:v>0.98410308211245523</c:v>
                </c:pt>
                <c:pt idx="52">
                  <c:v>0.98436583505385344</c:v>
                </c:pt>
                <c:pt idx="53">
                  <c:v>0.98462424507112634</c:v>
                </c:pt>
                <c:pt idx="54">
                  <c:v>0.98487838394649563</c:v>
                </c:pt>
                <c:pt idx="55">
                  <c:v>0.98512832227572777</c:v>
                </c:pt>
                <c:pt idx="56">
                  <c:v>0.98537412948774339</c:v>
                </c:pt>
                <c:pt idx="57">
                  <c:v>0.98561587386390426</c:v>
                </c:pt>
                <c:pt idx="58">
                  <c:v>0.98585362255698039</c:v>
                </c:pt>
                <c:pt idx="59">
                  <c:v>0.98608744160980411</c:v>
                </c:pt>
                <c:pt idx="60">
                  <c:v>0.98631739597361601</c:v>
                </c:pt>
                <c:pt idx="61">
                  <c:v>0.98654354952610668</c:v>
                </c:pt>
                <c:pt idx="62">
                  <c:v>0.98676596508916148</c:v>
                </c:pt>
                <c:pt idx="63">
                  <c:v>0.98698470444631159</c:v>
                </c:pt>
                <c:pt idx="64">
                  <c:v>0.98719982835989606</c:v>
                </c:pt>
                <c:pt idx="65">
                  <c:v>0.98741139658794075</c:v>
                </c:pt>
                <c:pt idx="66">
                  <c:v>0.98761946790075827</c:v>
                </c:pt>
                <c:pt idx="67">
                  <c:v>0.98782410009727362</c:v>
                </c:pt>
                <c:pt idx="68">
                  <c:v>0.98802535002107916</c:v>
                </c:pt>
                <c:pt idx="69">
                  <c:v>0.98822327357622564</c:v>
                </c:pt>
                <c:pt idx="70">
                  <c:v>0.98841792574275122</c:v>
                </c:pt>
                <c:pt idx="71">
                  <c:v>0.9886093605919537</c:v>
                </c:pt>
                <c:pt idx="72">
                  <c:v>0.98879763130141074</c:v>
                </c:pt>
                <c:pt idx="73">
                  <c:v>0.98898279016975266</c:v>
                </c:pt>
                <c:pt idx="74">
                  <c:v>0.9891648886311889</c:v>
                </c:pt>
                <c:pt idx="75">
                  <c:v>0.98934397726979617</c:v>
                </c:pt>
                <c:pt idx="76">
                  <c:v>0.98952010583357031</c:v>
                </c:pt>
                <c:pt idx="77">
                  <c:v>0.98969332324824466</c:v>
                </c:pt>
                <c:pt idx="78">
                  <c:v>0.98986367763088179</c:v>
                </c:pt>
                <c:pt idx="79">
                  <c:v>0.99003121630323865</c:v>
                </c:pt>
                <c:pt idx="80">
                  <c:v>0.99019598580491286</c:v>
                </c:pt>
                <c:pt idx="81">
                  <c:v>0.99035803190626981</c:v>
                </c:pt>
                <c:pt idx="82">
                  <c:v>0.99051739962115759</c:v>
                </c:pt>
                <c:pt idx="83">
                  <c:v>0.99067413321941045</c:v>
                </c:pt>
                <c:pt idx="84">
                  <c:v>0.99082827623914682</c:v>
                </c:pt>
                <c:pt idx="85">
                  <c:v>0.99097987149886357</c:v>
                </c:pt>
                <c:pt idx="86">
                  <c:v>0.99112896110932946</c:v>
                </c:pt>
                <c:pt idx="87">
                  <c:v>0.99127558648528413</c:v>
                </c:pt>
                <c:pt idx="88">
                  <c:v>0.99141978835694144</c:v>
                </c:pt>
                <c:pt idx="89">
                  <c:v>0.99156160678130401</c:v>
                </c:pt>
                <c:pt idx="90">
                  <c:v>0.99170108115329059</c:v>
                </c:pt>
                <c:pt idx="91">
                  <c:v>0.99183825021667904</c:v>
                </c:pt>
                <c:pt idx="92">
                  <c:v>0.99197315207486902</c:v>
                </c:pt>
                <c:pt idx="93">
                  <c:v>0.99210582420146642</c:v>
                </c:pt>
                <c:pt idx="94">
                  <c:v>0.9922363034506928</c:v>
                </c:pt>
                <c:pt idx="95">
                  <c:v>0.99236462606762299</c:v>
                </c:pt>
                <c:pt idx="96">
                  <c:v>0.99249082769825347</c:v>
                </c:pt>
                <c:pt idx="97">
                  <c:v>0.99261494339940426</c:v>
                </c:pt>
                <c:pt idx="98">
                  <c:v>0.99273700764845729</c:v>
                </c:pt>
                <c:pt idx="99">
                  <c:v>0.99285705435293303</c:v>
                </c:pt>
                <c:pt idx="100">
                  <c:v>0.99297511685991013</c:v>
                </c:pt>
                <c:pt idx="101">
                  <c:v>0.99309122796528893</c:v>
                </c:pt>
                <c:pt idx="102">
                  <c:v>0.99320541992290057</c:v>
                </c:pt>
                <c:pt idx="103">
                  <c:v>0.99331772445346755</c:v>
                </c:pt>
                <c:pt idx="104">
                  <c:v>0.99342817275341511</c:v>
                </c:pt>
                <c:pt idx="105">
                  <c:v>0.99353679550353657</c:v>
                </c:pt>
              </c:numCache>
            </c:numRef>
          </c:yVal>
          <c:smooth val="1"/>
          <c:extLst>
            <c:ext xmlns:c16="http://schemas.microsoft.com/office/drawing/2014/chart" uri="{C3380CC4-5D6E-409C-BE32-E72D297353CC}">
              <c16:uniqueId val="{00000000-23B6-4D9B-AF8B-5F5264DE304C}"/>
            </c:ext>
          </c:extLst>
        </c:ser>
        <c:ser>
          <c:idx val="2"/>
          <c:order val="1"/>
          <c:tx>
            <c:v>WC Base</c:v>
          </c:tx>
          <c:spPr>
            <a:ln w="38100" cap="rnd">
              <a:solidFill>
                <a:schemeClr val="accent1"/>
              </a:solidFill>
              <a:round/>
            </a:ln>
            <a:effectLst/>
          </c:spPr>
          <c:marker>
            <c:symbol val="none"/>
          </c:marker>
          <c:xVal>
            <c:numRef>
              <c:f>'ASNO P1'!$B$33:$B$138</c:f>
              <c:numCache>
                <c:formatCode>0</c:formatCode>
                <c:ptCount val="10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numCache>
            </c:numRef>
          </c:xVal>
          <c:yVal>
            <c:numRef>
              <c:f>'ASNO P1'!$S$33:$S$138</c:f>
              <c:numCache>
                <c:formatCode>0%</c:formatCode>
                <c:ptCount val="106"/>
                <c:pt idx="0">
                  <c:v>0.93400000000000005</c:v>
                </c:pt>
                <c:pt idx="1">
                  <c:v>0.93952955447104203</c:v>
                </c:pt>
                <c:pt idx="2">
                  <c:v>0.9445958366292323</c:v>
                </c:pt>
                <c:pt idx="3">
                  <c:v>0.94923765995167431</c:v>
                </c:pt>
                <c:pt idx="4">
                  <c:v>0.95349058607856485</c:v>
                </c:pt>
                <c:pt idx="5">
                  <c:v>0.95738719725575916</c:v>
                </c:pt>
                <c:pt idx="6">
                  <c:v>0.95809152493370764</c:v>
                </c:pt>
                <c:pt idx="7">
                  <c:v>0.95878421109910639</c:v>
                </c:pt>
                <c:pt idx="8">
                  <c:v>0.9594654481692334</c:v>
                </c:pt>
                <c:pt idx="9">
                  <c:v>0.96013542538098817</c:v>
                </c:pt>
                <c:pt idx="10">
                  <c:v>0.96079432884346005</c:v>
                </c:pt>
                <c:pt idx="11">
                  <c:v>0.96144234158962549</c:v>
                </c:pt>
                <c:pt idx="12">
                  <c:v>0.96207964362719167</c:v>
                </c:pt>
                <c:pt idx="13">
                  <c:v>0.9627064119886003</c:v>
                </c:pt>
                <c:pt idx="14">
                  <c:v>0.96332282078020437</c:v>
                </c:pt>
                <c:pt idx="15">
                  <c:v>0.9639290412306315</c:v>
                </c:pt>
                <c:pt idx="16">
                  <c:v>0.96452524173834953</c:v>
                </c:pt>
                <c:pt idx="17">
                  <c:v>0.9651115879184442</c:v>
                </c:pt>
                <c:pt idx="18">
                  <c:v>0.96568824264862463</c:v>
                </c:pt>
                <c:pt idx="19">
                  <c:v>0.96625536611446827</c:v>
                </c:pt>
                <c:pt idx="20">
                  <c:v>0.96681311585391794</c:v>
                </c:pt>
                <c:pt idx="21">
                  <c:v>0.96736164680104308</c:v>
                </c:pt>
                <c:pt idx="22">
                  <c:v>0.96790111132907841</c:v>
                </c:pt>
                <c:pt idx="23">
                  <c:v>0.96843165929275055</c:v>
                </c:pt>
                <c:pt idx="24">
                  <c:v>0.96895343806990508</c:v>
                </c:pt>
                <c:pt idx="25">
                  <c:v>0.96946659260244683</c:v>
                </c:pt>
                <c:pt idx="26">
                  <c:v>0.96997126543660062</c:v>
                </c:pt>
                <c:pt idx="27">
                  <c:v>0.97046759676251004</c:v>
                </c:pt>
                <c:pt idx="28">
                  <c:v>0.97095572445317957</c:v>
                </c:pt>
                <c:pt idx="29">
                  <c:v>0.97143578410277287</c:v>
                </c:pt>
                <c:pt idx="30">
                  <c:v>0.97190790906427948</c:v>
                </c:pt>
                <c:pt idx="31">
                  <c:v>0.97237223048655774</c:v>
                </c:pt>
                <c:pt idx="32">
                  <c:v>0.9728288773507664</c:v>
                </c:pt>
                <c:pt idx="33">
                  <c:v>0.97327797650619274</c:v>
                </c:pt>
                <c:pt idx="34">
                  <c:v>0.97371965270548999</c:v>
                </c:pt>
                <c:pt idx="35">
                  <c:v>0.97415402863933132</c:v>
                </c:pt>
                <c:pt idx="36">
                  <c:v>0.97458122497049127</c:v>
                </c:pt>
                <c:pt idx="37">
                  <c:v>0.9750013603673644</c:v>
                </c:pt>
                <c:pt idx="38">
                  <c:v>0.97541455153692913</c:v>
                </c:pt>
                <c:pt idx="39">
                  <c:v>0.97582091325716724</c:v>
                </c:pt>
                <c:pt idx="40">
                  <c:v>0.97622055840894739</c:v>
                </c:pt>
                <c:pt idx="41">
                  <c:v>0.97661359800738112</c:v>
                </c:pt>
                <c:pt idx="42">
                  <c:v>0.97700014123266232</c:v>
                </c:pt>
                <c:pt idx="43">
                  <c:v>0.97738029546039451</c:v>
                </c:pt>
                <c:pt idx="44">
                  <c:v>0.97775416629141887</c:v>
                </c:pt>
                <c:pt idx="45">
                  <c:v>0.97812185758114778</c:v>
                </c:pt>
                <c:pt idx="46">
                  <c:v>0.97848347146841497</c:v>
                </c:pt>
                <c:pt idx="47">
                  <c:v>0.97883910840384769</c:v>
                </c:pt>
                <c:pt idx="48">
                  <c:v>0.97918886717777043</c:v>
                </c:pt>
                <c:pt idx="49">
                  <c:v>0.97953284494764714</c:v>
                </c:pt>
                <c:pt idx="50">
                  <c:v>0.97987113726507002</c:v>
                </c:pt>
                <c:pt idx="51">
                  <c:v>0.98020383810230272</c:v>
                </c:pt>
                <c:pt idx="52">
                  <c:v>0.98053103987838353</c:v>
                </c:pt>
                <c:pt idx="53">
                  <c:v>0.98085283348479879</c:v>
                </c:pt>
                <c:pt idx="54">
                  <c:v>0.98116930831073046</c:v>
                </c:pt>
                <c:pt idx="55">
                  <c:v>0.98148055226788744</c:v>
                </c:pt>
                <c:pt idx="56">
                  <c:v>0.98178665181492575</c:v>
                </c:pt>
                <c:pt idx="57">
                  <c:v>0.98208769198146573</c:v>
                </c:pt>
                <c:pt idx="58">
                  <c:v>0.98238375639171149</c:v>
                </c:pt>
                <c:pt idx="59">
                  <c:v>0.98267492728768069</c:v>
                </c:pt>
                <c:pt idx="60">
                  <c:v>0.9829612855520502</c:v>
                </c:pt>
                <c:pt idx="61">
                  <c:v>0.98324291073062331</c:v>
                </c:pt>
                <c:pt idx="62">
                  <c:v>0.98351988105442756</c:v>
                </c:pt>
                <c:pt idx="63">
                  <c:v>0.98379227346144471</c:v>
                </c:pt>
                <c:pt idx="64">
                  <c:v>0.98406016361798376</c:v>
                </c:pt>
                <c:pt idx="65">
                  <c:v>0.9843236259396998</c:v>
                </c:pt>
                <c:pt idx="66">
                  <c:v>0.98458273361226512</c:v>
                </c:pt>
                <c:pt idx="67">
                  <c:v>0.98483755861169908</c:v>
                </c:pt>
                <c:pt idx="68">
                  <c:v>0.98508817172436269</c:v>
                </c:pt>
                <c:pt idx="69">
                  <c:v>0.98533464256662073</c:v>
                </c:pt>
                <c:pt idx="70">
                  <c:v>0.98557703960418075</c:v>
                </c:pt>
                <c:pt idx="71">
                  <c:v>0.98581543017111206</c:v>
                </c:pt>
                <c:pt idx="72">
                  <c:v>0.98604988048854936</c:v>
                </c:pt>
                <c:pt idx="73">
                  <c:v>0.9862804556830882</c:v>
                </c:pt>
                <c:pt idx="74">
                  <c:v>0.98650721980487677</c:v>
                </c:pt>
                <c:pt idx="75">
                  <c:v>0.98673023584540653</c:v>
                </c:pt>
                <c:pt idx="76">
                  <c:v>0.98694956575501203</c:v>
                </c:pt>
                <c:pt idx="77">
                  <c:v>0.98716527046007818</c:v>
                </c:pt>
                <c:pt idx="78">
                  <c:v>0.98737740987996581</c:v>
                </c:pt>
                <c:pt idx="79">
                  <c:v>0.98758604294365571</c:v>
                </c:pt>
                <c:pt idx="80">
                  <c:v>0.98779122760611793</c:v>
                </c:pt>
                <c:pt idx="81">
                  <c:v>0.98799302086441165</c:v>
                </c:pt>
                <c:pt idx="82">
                  <c:v>0.98819147877351698</c:v>
                </c:pt>
                <c:pt idx="83">
                  <c:v>0.98838665646190738</c:v>
                </c:pt>
                <c:pt idx="84">
                  <c:v>0.98857860814686216</c:v>
                </c:pt>
                <c:pt idx="85">
                  <c:v>0.98876738714952805</c:v>
                </c:pt>
                <c:pt idx="86">
                  <c:v>0.98895304590973099</c:v>
                </c:pt>
                <c:pt idx="87">
                  <c:v>0.98913563600054244</c:v>
                </c:pt>
                <c:pt idx="88">
                  <c:v>0.98931520814260632</c:v>
                </c:pt>
                <c:pt idx="89">
                  <c:v>0.98949181221822768</c:v>
                </c:pt>
                <c:pt idx="90">
                  <c:v>0.98966549728522979</c:v>
                </c:pt>
                <c:pt idx="91">
                  <c:v>0.9898363115905815</c:v>
                </c:pt>
                <c:pt idx="92">
                  <c:v>0.99000430258379923</c:v>
                </c:pt>
                <c:pt idx="93">
                  <c:v>0.99016951693012811</c:v>
                </c:pt>
                <c:pt idx="94">
                  <c:v>0.99033200052350423</c:v>
                </c:pt>
                <c:pt idx="95">
                  <c:v>0.99049179849930413</c:v>
                </c:pt>
                <c:pt idx="96">
                  <c:v>0.99064895524688168</c:v>
                </c:pt>
                <c:pt idx="97">
                  <c:v>0.99080351442189973</c:v>
                </c:pt>
                <c:pt idx="98">
                  <c:v>0.99095551895845624</c:v>
                </c:pt>
                <c:pt idx="99">
                  <c:v>0.99110501108101079</c:v>
                </c:pt>
                <c:pt idx="100">
                  <c:v>0.99125203231611458</c:v>
                </c:pt>
                <c:pt idx="101">
                  <c:v>0.99139662350394464</c:v>
                </c:pt>
                <c:pt idx="102">
                  <c:v>0.99153882480964983</c:v>
                </c:pt>
                <c:pt idx="103">
                  <c:v>0.99167867573450674</c:v>
                </c:pt>
                <c:pt idx="104">
                  <c:v>0.99181621512689433</c:v>
                </c:pt>
                <c:pt idx="105">
                  <c:v>0.99195148119308341</c:v>
                </c:pt>
              </c:numCache>
            </c:numRef>
          </c:yVal>
          <c:smooth val="1"/>
          <c:extLst>
            <c:ext xmlns:c16="http://schemas.microsoft.com/office/drawing/2014/chart" uri="{C3380CC4-5D6E-409C-BE32-E72D297353CC}">
              <c16:uniqueId val="{00000001-23B6-4D9B-AF8B-5F5264DE304C}"/>
            </c:ext>
          </c:extLst>
        </c:ser>
        <c:ser>
          <c:idx val="0"/>
          <c:order val="2"/>
          <c:tx>
            <c:v>WC High</c:v>
          </c:tx>
          <c:spPr>
            <a:ln w="38100" cap="rnd">
              <a:solidFill>
                <a:srgbClr val="FF0000"/>
              </a:solidFill>
              <a:round/>
            </a:ln>
            <a:effectLst/>
          </c:spPr>
          <c:marker>
            <c:symbol val="none"/>
          </c:marker>
          <c:xVal>
            <c:numRef>
              <c:f>'ASNO P1'!$B$33:$B$178</c:f>
              <c:numCache>
                <c:formatCode>0</c:formatCode>
                <c:ptCount val="14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numCache>
            </c:numRef>
          </c:xVal>
          <c:yVal>
            <c:numRef>
              <c:f>'ASNO P1'!$T$33:$T$178</c:f>
              <c:numCache>
                <c:formatCode>0%</c:formatCode>
                <c:ptCount val="146"/>
                <c:pt idx="0">
                  <c:v>0.92100000000000004</c:v>
                </c:pt>
                <c:pt idx="1">
                  <c:v>0.92761870913958067</c:v>
                </c:pt>
                <c:pt idx="2">
                  <c:v>0.93368289535923255</c:v>
                </c:pt>
                <c:pt idx="3">
                  <c:v>0.9392390172148829</c:v>
                </c:pt>
                <c:pt idx="4">
                  <c:v>0.9443296409122216</c:v>
                </c:pt>
                <c:pt idx="5">
                  <c:v>0.94899376641219657</c:v>
                </c:pt>
                <c:pt idx="6">
                  <c:v>0.94983682529943791</c:v>
                </c:pt>
                <c:pt idx="7">
                  <c:v>0.95066594964893048</c:v>
                </c:pt>
                <c:pt idx="8">
                  <c:v>0.95148136977832476</c:v>
                </c:pt>
                <c:pt idx="9">
                  <c:v>0.95228331219845552</c:v>
                </c:pt>
                <c:pt idx="10">
                  <c:v>0.95307199967626288</c:v>
                </c:pt>
                <c:pt idx="11">
                  <c:v>0.95384765129667293</c:v>
                </c:pt>
                <c:pt idx="12">
                  <c:v>0.9546104825234567</c:v>
                </c:pt>
                <c:pt idx="13">
                  <c:v>0.95536070525908223</c:v>
                </c:pt>
                <c:pt idx="14">
                  <c:v>0.95609852790357786</c:v>
                </c:pt>
                <c:pt idx="15">
                  <c:v>0.95682415541242261</c:v>
                </c:pt>
                <c:pt idx="16">
                  <c:v>0.957537789353479</c:v>
                </c:pt>
                <c:pt idx="17">
                  <c:v>0.95823962796298623</c:v>
                </c:pt>
                <c:pt idx="18">
                  <c:v>0.95892986620062637</c:v>
                </c:pt>
                <c:pt idx="19">
                  <c:v>0.95960869580368169</c:v>
                </c:pt>
                <c:pt idx="20">
                  <c:v>0.96027630534029573</c:v>
                </c:pt>
                <c:pt idx="21">
                  <c:v>0.96093288026185464</c:v>
                </c:pt>
                <c:pt idx="22">
                  <c:v>0.96157860295450293</c:v>
                </c:pt>
                <c:pt idx="23">
                  <c:v>0.96221365278980742</c:v>
                </c:pt>
                <c:pt idx="24">
                  <c:v>0.96283820617458349</c:v>
                </c:pt>
                <c:pt idx="25">
                  <c:v>0.96345243659989843</c:v>
                </c:pt>
                <c:pt idx="26">
                  <c:v>0.96405651468926434</c:v>
                </c:pt>
                <c:pt idx="27">
                  <c:v>0.96465060824603488</c:v>
                </c:pt>
                <c:pt idx="28">
                  <c:v>0.96523488230001797</c:v>
                </c:pt>
                <c:pt idx="29">
                  <c:v>0.96580949915331904</c:v>
                </c:pt>
                <c:pt idx="30">
                  <c:v>0.96637461842542538</c:v>
                </c:pt>
                <c:pt idx="31">
                  <c:v>0.96693039709754647</c:v>
                </c:pt>
                <c:pt idx="32">
                  <c:v>0.96747698955622052</c:v>
                </c:pt>
                <c:pt idx="33">
                  <c:v>0.96801454763620054</c:v>
                </c:pt>
                <c:pt idx="34">
                  <c:v>0.9685432206626321</c:v>
                </c:pt>
                <c:pt idx="35">
                  <c:v>0.96906315549253297</c:v>
                </c:pt>
                <c:pt idx="36">
                  <c:v>0.96957449655558803</c:v>
                </c:pt>
                <c:pt idx="37">
                  <c:v>0.97007738589426951</c:v>
                </c:pt>
                <c:pt idx="38">
                  <c:v>0.97057196320329397</c:v>
                </c:pt>
                <c:pt idx="39">
                  <c:v>0.97105836586842742</c:v>
                </c:pt>
                <c:pt idx="40">
                  <c:v>0.97153672900464905</c:v>
                </c:pt>
                <c:pt idx="41">
                  <c:v>0.97200718549368359</c:v>
                </c:pt>
                <c:pt idx="42">
                  <c:v>0.97246986602091412</c:v>
                </c:pt>
                <c:pt idx="43">
                  <c:v>0.97292489911168445</c:v>
                </c:pt>
                <c:pt idx="44">
                  <c:v>0.97337241116700135</c:v>
                </c:pt>
                <c:pt idx="45">
                  <c:v>0.97381252649864658</c:v>
                </c:pt>
                <c:pt idx="46">
                  <c:v>0.97424536736370881</c:v>
                </c:pt>
                <c:pt idx="47">
                  <c:v>0.97467105399854503</c:v>
                </c:pt>
                <c:pt idx="48">
                  <c:v>0.97508970465217992</c:v>
                </c:pt>
                <c:pt idx="49">
                  <c:v>0.97550143561915348</c:v>
                </c:pt>
                <c:pt idx="50">
                  <c:v>0.97590636127182628</c:v>
                </c:pt>
                <c:pt idx="51">
                  <c:v>0.9763045940921502</c:v>
                </c:pt>
                <c:pt idx="52">
                  <c:v>0.97669624470291361</c:v>
                </c:pt>
                <c:pt idx="53">
                  <c:v>0.97708142189847125</c:v>
                </c:pt>
                <c:pt idx="54">
                  <c:v>0.97746023267496529</c:v>
                </c:pt>
                <c:pt idx="55">
                  <c:v>0.97783278226004711</c:v>
                </c:pt>
                <c:pt idx="56">
                  <c:v>0.97819917414210822</c:v>
                </c:pt>
                <c:pt idx="57">
                  <c:v>0.9785595100990272</c:v>
                </c:pt>
                <c:pt idx="58">
                  <c:v>0.97891389022644248</c:v>
                </c:pt>
                <c:pt idx="59">
                  <c:v>0.97926241296555727</c:v>
                </c:pt>
                <c:pt idx="60">
                  <c:v>0.97960517513048417</c:v>
                </c:pt>
                <c:pt idx="61">
                  <c:v>0.97994227193514005</c:v>
                </c:pt>
                <c:pt idx="62">
                  <c:v>0.98027379701969353</c:v>
                </c:pt>
                <c:pt idx="63">
                  <c:v>0.98059984247657772</c:v>
                </c:pt>
                <c:pt idx="64">
                  <c:v>0.98092049887607147</c:v>
                </c:pt>
                <c:pt idx="65">
                  <c:v>0.98123585529145885</c:v>
                </c:pt>
                <c:pt idx="66">
                  <c:v>0.98154599932377173</c:v>
                </c:pt>
                <c:pt idx="67">
                  <c:v>0.98185101712612466</c:v>
                </c:pt>
                <c:pt idx="68">
                  <c:v>0.98215099342764622</c:v>
                </c:pt>
                <c:pt idx="69">
                  <c:v>0.98244601155701572</c:v>
                </c:pt>
                <c:pt idx="70">
                  <c:v>0.98273615346561027</c:v>
                </c:pt>
                <c:pt idx="71">
                  <c:v>0.98302149975027042</c:v>
                </c:pt>
                <c:pt idx="72">
                  <c:v>0.98330212967568786</c:v>
                </c:pt>
                <c:pt idx="73">
                  <c:v>0.98357812119642385</c:v>
                </c:pt>
                <c:pt idx="74">
                  <c:v>0.98384955097856464</c:v>
                </c:pt>
                <c:pt idx="75">
                  <c:v>0.98411649442101701</c:v>
                </c:pt>
                <c:pt idx="76">
                  <c:v>0.98437902567645386</c:v>
                </c:pt>
                <c:pt idx="77">
                  <c:v>0.98463721767191181</c:v>
                </c:pt>
                <c:pt idx="78">
                  <c:v>0.98489114212905005</c:v>
                </c:pt>
                <c:pt idx="79">
                  <c:v>0.98514086958407265</c:v>
                </c:pt>
                <c:pt idx="80">
                  <c:v>0.98538646940732288</c:v>
                </c:pt>
                <c:pt idx="81">
                  <c:v>0.98562800982255327</c:v>
                </c:pt>
                <c:pt idx="82">
                  <c:v>0.98586555792587638</c:v>
                </c:pt>
                <c:pt idx="83">
                  <c:v>0.98609917970440431</c:v>
                </c:pt>
                <c:pt idx="84">
                  <c:v>0.98632894005457739</c:v>
                </c:pt>
                <c:pt idx="85">
                  <c:v>0.98655490280019276</c:v>
                </c:pt>
                <c:pt idx="86">
                  <c:v>0.98677713071013262</c:v>
                </c:pt>
                <c:pt idx="87">
                  <c:v>0.98699568551580097</c:v>
                </c:pt>
                <c:pt idx="88">
                  <c:v>0.98721062792827119</c:v>
                </c:pt>
                <c:pt idx="89">
                  <c:v>0.98742201765515136</c:v>
                </c:pt>
                <c:pt idx="90">
                  <c:v>0.98762991341716899</c:v>
                </c:pt>
                <c:pt idx="91">
                  <c:v>0.98783437296448395</c:v>
                </c:pt>
                <c:pt idx="92">
                  <c:v>0.98803545309272944</c:v>
                </c:pt>
                <c:pt idx="93">
                  <c:v>0.98823320965878958</c:v>
                </c:pt>
                <c:pt idx="94">
                  <c:v>0.98842769759631577</c:v>
                </c:pt>
                <c:pt idx="95">
                  <c:v>0.98861897093098527</c:v>
                </c:pt>
                <c:pt idx="96">
                  <c:v>0.98880708279550988</c:v>
                </c:pt>
                <c:pt idx="97">
                  <c:v>0.9889920854443951</c:v>
                </c:pt>
                <c:pt idx="98">
                  <c:v>0.98917403026845507</c:v>
                </c:pt>
                <c:pt idx="99">
                  <c:v>0.98935296780908877</c:v>
                </c:pt>
                <c:pt idx="100">
                  <c:v>0.98952894777231892</c:v>
                </c:pt>
                <c:pt idx="101">
                  <c:v>0.98970201904260047</c:v>
                </c:pt>
                <c:pt idx="102">
                  <c:v>0.98987222969639888</c:v>
                </c:pt>
                <c:pt idx="103">
                  <c:v>0.99003962701554615</c:v>
                </c:pt>
                <c:pt idx="104">
                  <c:v>0.99020425750037355</c:v>
                </c:pt>
                <c:pt idx="105">
                  <c:v>0.99036616688263013</c:v>
                </c:pt>
                <c:pt idx="106">
                  <c:v>0.99052540013818546</c:v>
                </c:pt>
                <c:pt idx="107">
                  <c:v>0.99068200149952312</c:v>
                </c:pt>
                <c:pt idx="108">
                  <c:v>0.99083601446802838</c:v>
                </c:pt>
                <c:pt idx="109">
                  <c:v>0.99098748182607155</c:v>
                </c:pt>
                <c:pt idx="110">
                  <c:v>0.99113644564889281</c:v>
                </c:pt>
                <c:pt idx="111">
                  <c:v>0.99128294731628974</c:v>
                </c:pt>
                <c:pt idx="112">
                  <c:v>0.99142702752411183</c:v>
                </c:pt>
                <c:pt idx="113">
                  <c:v>0.99156872629556547</c:v>
                </c:pt>
                <c:pt idx="114">
                  <c:v>0.99170808299233193</c:v>
                </c:pt>
                <c:pt idx="115">
                  <c:v>0.99184513632550042</c:v>
                </c:pt>
                <c:pt idx="116">
                  <c:v>0.99197992436632287</c:v>
                </c:pt>
                <c:pt idx="117">
                  <c:v>0.99211248455678824</c:v>
                </c:pt>
                <c:pt idx="118">
                  <c:v>0.99224285372002397</c:v>
                </c:pt>
                <c:pt idx="119">
                  <c:v>0.99237106807052511</c:v>
                </c:pt>
                <c:pt idx="120">
                  <c:v>0.99249716322421311</c:v>
                </c:pt>
                <c:pt idx="121">
                  <c:v>0.99262117420833051</c:v>
                </c:pt>
                <c:pt idx="122">
                  <c:v>0.99274313547117032</c:v>
                </c:pt>
                <c:pt idx="123">
                  <c:v>0.99286308089164554</c:v>
                </c:pt>
                <c:pt idx="124">
                  <c:v>0.99298104378869922</c:v>
                </c:pt>
                <c:pt idx="125">
                  <c:v>0.99309705693056183</c:v>
                </c:pt>
                <c:pt idx="126">
                  <c:v>0.99321115254385173</c:v>
                </c:pt>
                <c:pt idx="127">
                  <c:v>0.99332336232252871</c:v>
                </c:pt>
                <c:pt idx="128">
                  <c:v>0.99343371743669706</c:v>
                </c:pt>
                <c:pt idx="129">
                  <c:v>0.99354224854126494</c:v>
                </c:pt>
                <c:pt idx="130">
                  <c:v>0.99364898578445926</c:v>
                </c:pt>
                <c:pt idx="131">
                  <c:v>0.99375395881620032</c:v>
                </c:pt>
                <c:pt idx="132">
                  <c:v>0.99385719679633877</c:v>
                </c:pt>
                <c:pt idx="133">
                  <c:v>0.99395872840275523</c:v>
                </c:pt>
                <c:pt idx="134">
                  <c:v>0.99405858183932649</c:v>
                </c:pt>
                <c:pt idx="135">
                  <c:v>0.99415678484376024</c:v>
                </c:pt>
                <c:pt idx="136">
                  <c:v>0.99425336469530035</c:v>
                </c:pt>
                <c:pt idx="137">
                  <c:v>0.99434834822230433</c:v>
                </c:pt>
                <c:pt idx="138">
                  <c:v>0.99444176180969623</c:v>
                </c:pt>
                <c:pt idx="139">
                  <c:v>0.99453363140629503</c:v>
                </c:pt>
                <c:pt idx="140">
                  <c:v>0.99462398253202422</c:v>
                </c:pt>
                <c:pt idx="141">
                  <c:v>0.9947128402849994</c:v>
                </c:pt>
                <c:pt idx="142">
                  <c:v>0.99480022934850121</c:v>
                </c:pt>
                <c:pt idx="143">
                  <c:v>0.99488617399783164</c:v>
                </c:pt>
                <c:pt idx="144">
                  <c:v>0.99497069810705663</c:v>
                </c:pt>
                <c:pt idx="145">
                  <c:v>0.99505382515563923</c:v>
                </c:pt>
              </c:numCache>
            </c:numRef>
          </c:yVal>
          <c:smooth val="1"/>
          <c:extLst>
            <c:ext xmlns:c16="http://schemas.microsoft.com/office/drawing/2014/chart" uri="{C3380CC4-5D6E-409C-BE32-E72D297353CC}">
              <c16:uniqueId val="{00000002-23B6-4D9B-AF8B-5F5264DE304C}"/>
            </c:ext>
          </c:extLst>
        </c:ser>
        <c:ser>
          <c:idx val="4"/>
          <c:order val="3"/>
          <c:tx>
            <c:strRef>
              <c:f>'ASNO P1'!$V$31:$W$31</c:f>
              <c:strCache>
                <c:ptCount val="1"/>
                <c:pt idx="0">
                  <c:v>AL001</c:v>
                </c:pt>
              </c:strCache>
            </c:strRef>
          </c:tx>
          <c:spPr>
            <a:ln w="19050" cap="rnd">
              <a:noFill/>
              <a:round/>
            </a:ln>
            <a:effectLst/>
          </c:spPr>
          <c:marker>
            <c:symbol val="circle"/>
            <c:size val="5"/>
            <c:spPr>
              <a:solidFill>
                <a:schemeClr val="accent5"/>
              </a:solidFill>
              <a:ln w="9525">
                <a:solidFill>
                  <a:schemeClr val="accent5"/>
                </a:solid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P1'!$X$33:$X$106</c:f>
              <c:numCache>
                <c:formatCode>0%</c:formatCode>
                <c:ptCount val="74"/>
                <c:pt idx="0">
                  <c:v>0.96110735644789025</c:v>
                </c:pt>
                <c:pt idx="1">
                  <c:v>0.97541856445067943</c:v>
                </c:pt>
                <c:pt idx="2">
                  <c:v>0.9734393954032613</c:v>
                </c:pt>
                <c:pt idx="3">
                  <c:v>0.97615737285424875</c:v>
                </c:pt>
                <c:pt idx="4">
                  <c:v>0.97736072575365518</c:v>
                </c:pt>
                <c:pt idx="5">
                  <c:v>0.97512787189901273</c:v>
                </c:pt>
                <c:pt idx="6">
                  <c:v>0.97707389437381664</c:v>
                </c:pt>
                <c:pt idx="7">
                  <c:v>0.97908330808958399</c:v>
                </c:pt>
                <c:pt idx="8">
                  <c:v>0.97822037960648855</c:v>
                </c:pt>
                <c:pt idx="9">
                  <c:v>0.97846485886393653</c:v>
                </c:pt>
                <c:pt idx="10">
                  <c:v>0.97548018811388404</c:v>
                </c:pt>
                <c:pt idx="11">
                  <c:v>0.97667838285456177</c:v>
                </c:pt>
                <c:pt idx="12">
                  <c:v>0.98091508982091624</c:v>
                </c:pt>
                <c:pt idx="13">
                  <c:v>0.98341930034024994</c:v>
                </c:pt>
                <c:pt idx="14">
                  <c:v>0.98973580646887427</c:v>
                </c:pt>
                <c:pt idx="15">
                  <c:v>0.99034060915426458</c:v>
                </c:pt>
                <c:pt idx="16">
                  <c:v>0.97696447028933486</c:v>
                </c:pt>
                <c:pt idx="17">
                  <c:v>0.98842866471802993</c:v>
                </c:pt>
                <c:pt idx="18">
                  <c:v>0.98850206896551729</c:v>
                </c:pt>
                <c:pt idx="19">
                  <c:v>0.98696601031829623</c:v>
                </c:pt>
                <c:pt idx="20">
                  <c:v>0.98683096275110405</c:v>
                </c:pt>
                <c:pt idx="21">
                  <c:v>0.98670481635954121</c:v>
                </c:pt>
                <c:pt idx="22">
                  <c:v>0.98785680938256004</c:v>
                </c:pt>
                <c:pt idx="23">
                  <c:v>0.98943317751195314</c:v>
                </c:pt>
                <c:pt idx="24">
                  <c:v>0.9902858278196629</c:v>
                </c:pt>
                <c:pt idx="25">
                  <c:v>0.98886378235060968</c:v>
                </c:pt>
                <c:pt idx="26">
                  <c:v>0.98626614224113918</c:v>
                </c:pt>
                <c:pt idx="27">
                  <c:v>0.98576529594286866</c:v>
                </c:pt>
                <c:pt idx="28">
                  <c:v>0.98589895337241473</c:v>
                </c:pt>
                <c:pt idx="29">
                  <c:v>0.98652721979758029</c:v>
                </c:pt>
                <c:pt idx="30">
                  <c:v>0.98623317601817873</c:v>
                </c:pt>
                <c:pt idx="31">
                  <c:v>0.98525703854795565</c:v>
                </c:pt>
                <c:pt idx="32">
                  <c:v>0.98541796820138805</c:v>
                </c:pt>
                <c:pt idx="33">
                  <c:v>0.98632875349825944</c:v>
                </c:pt>
                <c:pt idx="34">
                  <c:v>0.98601698206925137</c:v>
                </c:pt>
                <c:pt idx="35">
                  <c:v>0.9859814050298773</c:v>
                </c:pt>
                <c:pt idx="36">
                  <c:v>0.98470219494308286</c:v>
                </c:pt>
                <c:pt idx="37">
                  <c:v>0.97742052354484243</c:v>
                </c:pt>
                <c:pt idx="38">
                  <c:v>0.98072195744874924</c:v>
                </c:pt>
                <c:pt idx="39">
                  <c:v>0.98303098212785023</c:v>
                </c:pt>
                <c:pt idx="40">
                  <c:v>0.9861554554342401</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numCache>
            </c:numRef>
          </c:yVal>
          <c:smooth val="1"/>
          <c:extLst>
            <c:ext xmlns:c16="http://schemas.microsoft.com/office/drawing/2014/chart" uri="{C3380CC4-5D6E-409C-BE32-E72D297353CC}">
              <c16:uniqueId val="{00000003-23B6-4D9B-AF8B-5F5264DE304C}"/>
            </c:ext>
          </c:extLst>
        </c:ser>
        <c:ser>
          <c:idx val="5"/>
          <c:order val="4"/>
          <c:tx>
            <c:strRef>
              <c:f>'ASNO P1'!$Y$31:$Z$31</c:f>
              <c:strCache>
                <c:ptCount val="1"/>
                <c:pt idx="0">
                  <c:v>AL002</c:v>
                </c:pt>
              </c:strCache>
            </c:strRef>
          </c:tx>
          <c:spPr>
            <a:ln w="19050" cap="rnd">
              <a:noFill/>
              <a:round/>
            </a:ln>
            <a:effectLst/>
          </c:spPr>
          <c:marker>
            <c:symbol val="circle"/>
            <c:size val="5"/>
            <c:spPr>
              <a:solidFill>
                <a:schemeClr val="accent6"/>
              </a:solidFill>
              <a:ln w="9525">
                <a:solidFill>
                  <a:schemeClr val="accent6"/>
                </a:solid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P1'!$AA$33:$AA$154</c:f>
              <c:numCache>
                <c:formatCode>0%</c:formatCode>
                <c:ptCount val="122"/>
                <c:pt idx="0">
                  <c:v>0.94210609240099652</c:v>
                </c:pt>
                <c:pt idx="1">
                  <c:v>0.94844069043971402</c:v>
                </c:pt>
                <c:pt idx="2">
                  <c:v>0.9570786516853933</c:v>
                </c:pt>
                <c:pt idx="3">
                  <c:v>0.96121707962839598</c:v>
                </c:pt>
                <c:pt idx="4">
                  <c:v>0.96754670792037123</c:v>
                </c:pt>
                <c:pt idx="5">
                  <c:v>0.96644210369598393</c:v>
                </c:pt>
                <c:pt idx="6">
                  <c:v>0.9680323916066973</c:v>
                </c:pt>
                <c:pt idx="7">
                  <c:v>0.96791685264298921</c:v>
                </c:pt>
                <c:pt idx="8">
                  <c:v>0.97544788314435527</c:v>
                </c:pt>
                <c:pt idx="9">
                  <c:v>0.97548834697968212</c:v>
                </c:pt>
                <c:pt idx="10">
                  <c:v>0.97796534716964989</c:v>
                </c:pt>
                <c:pt idx="11">
                  <c:v>0.97972214967103222</c:v>
                </c:pt>
                <c:pt idx="12">
                  <c:v>0.97953011793082501</c:v>
                </c:pt>
                <c:pt idx="13">
                  <c:v>0.97839879563491572</c:v>
                </c:pt>
                <c:pt idx="14">
                  <c:v>0.97915294038146405</c:v>
                </c:pt>
                <c:pt idx="15">
                  <c:v>0.97830513570393851</c:v>
                </c:pt>
                <c:pt idx="17" formatCode="General">
                  <c:v>83.35</c:v>
                </c:pt>
                <c:pt idx="18" formatCode="General">
                  <c:v>85.7</c:v>
                </c:pt>
                <c:pt idx="19" formatCode="General">
                  <c:v>87.56</c:v>
                </c:pt>
                <c:pt idx="20" formatCode="General">
                  <c:v>87.02</c:v>
                </c:pt>
                <c:pt idx="22" formatCode="General">
                  <c:v>87.72</c:v>
                </c:pt>
                <c:pt idx="23" formatCode="General">
                  <c:v>89.29</c:v>
                </c:pt>
                <c:pt idx="24" formatCode="General">
                  <c:v>89.77</c:v>
                </c:pt>
                <c:pt idx="25" formatCode="General">
                  <c:v>89.58</c:v>
                </c:pt>
                <c:pt idx="26" formatCode="General">
                  <c:v>88.58</c:v>
                </c:pt>
                <c:pt idx="27" formatCode="General">
                  <c:v>87.81</c:v>
                </c:pt>
                <c:pt idx="32" formatCode="General">
                  <c:v>90.05</c:v>
                </c:pt>
                <c:pt idx="33" formatCode="General">
                  <c:v>92.41</c:v>
                </c:pt>
                <c:pt idx="34" formatCode="General">
                  <c:v>92.18</c:v>
                </c:pt>
                <c:pt idx="35" formatCode="General">
                  <c:v>92.69</c:v>
                </c:pt>
                <c:pt idx="36" formatCode="General">
                  <c:v>96.94</c:v>
                </c:pt>
                <c:pt idx="37" formatCode="General">
                  <c:v>97.28</c:v>
                </c:pt>
                <c:pt idx="38" formatCode="General">
                  <c:v>96.87</c:v>
                </c:pt>
                <c:pt idx="39" formatCode="General">
                  <c:v>94.28</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numCache>
            </c:numRef>
          </c:yVal>
          <c:smooth val="1"/>
          <c:extLst>
            <c:ext xmlns:c16="http://schemas.microsoft.com/office/drawing/2014/chart" uri="{C3380CC4-5D6E-409C-BE32-E72D297353CC}">
              <c16:uniqueId val="{00000004-23B6-4D9B-AF8B-5F5264DE304C}"/>
            </c:ext>
          </c:extLst>
        </c:ser>
        <c:ser>
          <c:idx val="7"/>
          <c:order val="6"/>
          <c:tx>
            <c:strRef>
              <c:f>'ASNO P1'!$AB$31:$AD$31</c:f>
              <c:strCache>
                <c:ptCount val="1"/>
                <c:pt idx="0">
                  <c:v>AL005</c:v>
                </c:pt>
              </c:strCache>
            </c:strRef>
          </c:tx>
          <c:spPr>
            <a:ln w="19050" cap="rnd">
              <a:noFill/>
              <a:round/>
            </a:ln>
            <a:effectLst/>
          </c:spPr>
          <c:marker>
            <c:symbol val="circle"/>
            <c:size val="5"/>
            <c:spPr>
              <a:solidFill>
                <a:schemeClr val="accent1"/>
              </a:solidFill>
              <a:ln w="9525">
                <a:noFill/>
              </a:ln>
              <a:effectLst/>
            </c:spPr>
          </c:marker>
          <c:xVal>
            <c:numRef>
              <c:f>'ASNO P1'!$B$33:$B$121</c:f>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f>'ASNO P1'!$AD$33:$AD$98</c:f>
              <c:numCache>
                <c:formatCode>0%</c:formatCode>
                <c:ptCount val="66"/>
                <c:pt idx="0">
                  <c:v>0.34591209240055365</c:v>
                </c:pt>
                <c:pt idx="1">
                  <c:v>0.67697955943639609</c:v>
                </c:pt>
                <c:pt idx="2">
                  <c:v>0.93325064599483198</c:v>
                </c:pt>
                <c:pt idx="3">
                  <c:v>0.90556450848421655</c:v>
                </c:pt>
                <c:pt idx="4">
                  <c:v>0.90223764508795024</c:v>
                </c:pt>
                <c:pt idx="5">
                  <c:v>0.90507869225636794</c:v>
                </c:pt>
                <c:pt idx="6">
                  <c:v>0.88486469553483227</c:v>
                </c:pt>
                <c:pt idx="7">
                  <c:v>0.88512641409156489</c:v>
                </c:pt>
                <c:pt idx="8">
                  <c:v>0.89696998985164067</c:v>
                </c:pt>
                <c:pt idx="9">
                  <c:v>0.90755705749828586</c:v>
                </c:pt>
                <c:pt idx="10">
                  <c:v>0.90055805492047103</c:v>
                </c:pt>
                <c:pt idx="11">
                  <c:v>0.9318860058773949</c:v>
                </c:pt>
                <c:pt idx="12">
                  <c:v>0.93189851543476554</c:v>
                </c:pt>
                <c:pt idx="13">
                  <c:v>0.95255488559059986</c:v>
                </c:pt>
                <c:pt idx="14">
                  <c:v>0.98147510050045128</c:v>
                </c:pt>
                <c:pt idx="15">
                  <c:v>0.97300623175830236</c:v>
                </c:pt>
                <c:pt idx="16">
                  <c:v>0.97239076695881077</c:v>
                </c:pt>
                <c:pt idx="17">
                  <c:v>0.96680915262760869</c:v>
                </c:pt>
                <c:pt idx="18">
                  <c:v>0.97171713912327973</c:v>
                </c:pt>
                <c:pt idx="19">
                  <c:v>0.97402292371288979</c:v>
                </c:pt>
                <c:pt idx="20">
                  <c:v>0.96086703074185431</c:v>
                </c:pt>
                <c:pt idx="21">
                  <c:v>0.95896009916580116</c:v>
                </c:pt>
                <c:pt idx="22">
                  <c:v>0.96605845309220095</c:v>
                </c:pt>
                <c:pt idx="23">
                  <c:v>0.97754498200719719</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numCache>
            </c:numRef>
          </c:yVal>
          <c:smooth val="1"/>
          <c:extLst xmlns:c15="http://schemas.microsoft.com/office/drawing/2012/chart">
            <c:ext xmlns:c16="http://schemas.microsoft.com/office/drawing/2014/chart" uri="{C3380CC4-5D6E-409C-BE32-E72D297353CC}">
              <c16:uniqueId val="{00000005-23B6-4D9B-AF8B-5F5264DE304C}"/>
            </c:ext>
          </c:extLst>
        </c:ser>
        <c:dLbls>
          <c:showLegendKey val="0"/>
          <c:showVal val="0"/>
          <c:showCatName val="0"/>
          <c:showSerName val="0"/>
          <c:showPercent val="0"/>
          <c:showBubbleSize val="0"/>
        </c:dLbls>
        <c:axId val="1179992736"/>
        <c:axId val="1179993720"/>
        <c:extLst>
          <c:ext xmlns:c15="http://schemas.microsoft.com/office/drawing/2012/chart" uri="{02D57815-91ED-43cb-92C2-25804820EDAC}">
            <c15:filteredScatterSeries>
              <c15:ser>
                <c:idx val="6"/>
                <c:order val="5"/>
                <c:tx>
                  <c:strRef>
                    <c:extLst>
                      <c:ext uri="{02D57815-91ED-43cb-92C2-25804820EDAC}">
                        <c15:formulaRef>
                          <c15:sqref>'ASNO P1'!$AE$31:$AF$31</c15:sqref>
                        </c15:formulaRef>
                      </c:ext>
                    </c:extLst>
                    <c:strCache>
                      <c:ptCount val="1"/>
                    </c:strCache>
                  </c:strRef>
                </c:tx>
                <c:spPr>
                  <a:ln w="19050" cap="rnd">
                    <a:noFill/>
                    <a:round/>
                  </a:ln>
                  <a:effectLst/>
                </c:spPr>
                <c:marker>
                  <c:symbol val="circle"/>
                  <c:size val="5"/>
                  <c:spPr>
                    <a:solidFill>
                      <a:schemeClr val="accent1">
                        <a:lumMod val="60000"/>
                      </a:schemeClr>
                    </a:solidFill>
                    <a:ln w="9525">
                      <a:solidFill>
                        <a:schemeClr val="accent1">
                          <a:lumMod val="60000"/>
                        </a:schemeClr>
                      </a:solidFill>
                    </a:ln>
                    <a:effectLst/>
                  </c:spPr>
                </c:marker>
                <c:xVal>
                  <c:numRef>
                    <c:extLst>
                      <c:ext uri="{02D57815-91ED-43cb-92C2-25804820EDAC}">
                        <c15:formulaRef>
                          <c15:sqref>'ASNO P1'!$B$33:$B$121</c15:sqref>
                        </c15:formulaRef>
                      </c:ext>
                    </c:extLst>
                    <c:numCache>
                      <c:formatCode>0</c:formatCode>
                      <c:ptCount val="8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numCache>
                  </c:numRef>
                </c:xVal>
                <c:yVal>
                  <c:numRef>
                    <c:extLst>
                      <c:ext uri="{02D57815-91ED-43cb-92C2-25804820EDAC}">
                        <c15:formulaRef>
                          <c15:sqref>'ASNO P1'!$AG$33:$AG$79</c15:sqref>
                        </c15:formulaRef>
                      </c:ext>
                    </c:extLst>
                    <c:numCache>
                      <c:formatCode>0.00</c:formatCode>
                      <c:ptCount val="47"/>
                      <c:pt idx="0">
                        <c:v>8.9357500000000005</c:v>
                      </c:pt>
                      <c:pt idx="1">
                        <c:v>4.5575600000000005</c:v>
                      </c:pt>
                      <c:pt idx="2">
                        <c:v>1.00099</c:v>
                      </c:pt>
                      <c:pt idx="3">
                        <c:v>1.4943000000000002</c:v>
                      </c:pt>
                      <c:pt idx="4">
                        <c:v>1.5196200000000002</c:v>
                      </c:pt>
                      <c:pt idx="5">
                        <c:v>1.4510999999999998</c:v>
                      </c:pt>
                      <c:pt idx="6">
                        <c:v>1.4811800000000002</c:v>
                      </c:pt>
                      <c:pt idx="7">
                        <c:v>0.93806</c:v>
                      </c:pt>
                      <c:pt idx="8">
                        <c:v>1.2792000000000001</c:v>
                      </c:pt>
                      <c:pt idx="9">
                        <c:v>1.17025</c:v>
                      </c:pt>
                      <c:pt idx="10">
                        <c:v>1.2135</c:v>
                      </c:pt>
                      <c:pt idx="11">
                        <c:v>0.92689999999999995</c:v>
                      </c:pt>
                      <c:pt idx="12">
                        <c:v>1.07508</c:v>
                      </c:pt>
                      <c:pt idx="13">
                        <c:v>0.68740000000000001</c:v>
                      </c:pt>
                      <c:pt idx="14">
                        <c:v>0.34998999999999997</c:v>
                      </c:pt>
                      <c:pt idx="15">
                        <c:v>0.51329999999999998</c:v>
                      </c:pt>
                      <c:pt idx="16">
                        <c:v>0.5331999999999999</c:v>
                      </c:pt>
                      <c:pt idx="17">
                        <c:v>0.63360000000000005</c:v>
                      </c:pt>
                      <c:pt idx="18">
                        <c:v>0.54343000000000008</c:v>
                      </c:pt>
                      <c:pt idx="19">
                        <c:v>0.51428999999999991</c:v>
                      </c:pt>
                      <c:pt idx="20">
                        <c:v>0.76530000000000009</c:v>
                      </c:pt>
                      <c:pt idx="21">
                        <c:v>0.75949999999999995</c:v>
                      </c:pt>
                      <c:pt idx="22">
                        <c:v>0.63060000000000005</c:v>
                      </c:pt>
                      <c:pt idx="23">
                        <c:v>0.43523999999999996</c:v>
                      </c:pt>
                      <c:pt idx="24">
                        <c:v>0.42804611556132077</c:v>
                      </c:pt>
                      <c:pt idx="25">
                        <c:v>0.39381170747225347</c:v>
                      </c:pt>
                      <c:pt idx="26">
                        <c:v>0.41401309471969072</c:v>
                      </c:pt>
                      <c:pt idx="27">
                        <c:v>0.39403554209531733</c:v>
                      </c:pt>
                      <c:pt idx="28">
                        <c:v>0.40044013102326659</c:v>
                      </c:pt>
                      <c:pt idx="29">
                        <c:v>0.38111752047674619</c:v>
                      </c:pt>
                      <c:pt idx="30">
                        <c:v>0.3873121420048275</c:v>
                      </c:pt>
                      <c:pt idx="31">
                        <c:v>0.38091043538025249</c:v>
                      </c:pt>
                      <c:pt idx="32">
                        <c:v>0.36253019967023431</c:v>
                      </c:pt>
                      <c:pt idx="33">
                        <c:v>0.36842270594139082</c:v>
                      </c:pt>
                      <c:pt idx="34">
                        <c:v>0.35064504603200697</c:v>
                      </c:pt>
                      <c:pt idx="35">
                        <c:v>0.35634437296966076</c:v>
                      </c:pt>
                      <c:pt idx="36">
                        <c:v>0.35045451854562498</c:v>
                      </c:pt>
                      <c:pt idx="37">
                        <c:v>0.31130762631831554</c:v>
                      </c:pt>
                      <c:pt idx="38">
                        <c:v>0.3389652528239982</c:v>
                      </c:pt>
                      <c:pt idx="39">
                        <c:v>0.32260901611918991</c:v>
                      </c:pt>
                      <c:pt idx="40">
                        <c:v>0.32785265003532471</c:v>
                      </c:pt>
                      <c:pt idx="41">
                        <c:v>0.3120326345511395</c:v>
                      </c:pt>
                      <c:pt idx="42">
                        <c:v>0.31710436169985856</c:v>
                      </c:pt>
                      <c:pt idx="43">
                        <c:v>0.31186308761413589</c:v>
                      </c:pt>
                      <c:pt idx="44">
                        <c:v>0.29681462338952203</c:v>
                      </c:pt>
                      <c:pt idx="45">
                        <c:v>0.30163899948642275</c:v>
                      </c:pt>
                      <c:pt idx="46">
                        <c:v>0.28708388260084866</c:v>
                      </c:pt>
                    </c:numCache>
                  </c:numRef>
                </c:yVal>
                <c:smooth val="1"/>
                <c:extLst>
                  <c:ext xmlns:c16="http://schemas.microsoft.com/office/drawing/2014/chart" uri="{C3380CC4-5D6E-409C-BE32-E72D297353CC}">
                    <c16:uniqueId val="{00000006-23B6-4D9B-AF8B-5F5264DE304C}"/>
                  </c:ext>
                </c:extLst>
              </c15:ser>
            </c15:filteredScatterSeries>
            <c15:filteredScatterSeries>
              <c15:ser>
                <c:idx val="3"/>
                <c:order val="7"/>
                <c:tx>
                  <c:strRef>
                    <c:extLst xmlns:c15="http://schemas.microsoft.com/office/drawing/2012/chart">
                      <c:ext xmlns:c15="http://schemas.microsoft.com/office/drawing/2012/chart" uri="{02D57815-91ED-43cb-92C2-25804820EDAC}">
                        <c15:formulaRef>
                          <c15:sqref>'ASNO P1'!$AK$31</c15:sqref>
                        </c15:formulaRef>
                      </c:ext>
                    </c:extLst>
                    <c:strCache>
                      <c:ptCount val="1"/>
                    </c:strCache>
                  </c:strRef>
                </c:tx>
                <c:spPr>
                  <a:ln w="19050" cap="rnd">
                    <a:noFill/>
                    <a:round/>
                  </a:ln>
                  <a:effectLst/>
                </c:spPr>
                <c:marker>
                  <c:symbol val="circle"/>
                  <c:size val="5"/>
                  <c:spPr>
                    <a:solidFill>
                      <a:schemeClr val="accent4"/>
                    </a:solidFill>
                    <a:ln w="9525">
                      <a:solidFill>
                        <a:schemeClr val="accent4"/>
                      </a:solidFill>
                    </a:ln>
                    <a:effectLst/>
                  </c:spPr>
                </c:marker>
                <c:xVal>
                  <c:numRef>
                    <c:extLst xmlns:c15="http://schemas.microsoft.com/office/drawing/2012/chart">
                      <c:ext xmlns:c15="http://schemas.microsoft.com/office/drawing/2012/chart" uri="{02D57815-91ED-43cb-92C2-25804820EDAC}">
                        <c15:formulaRef>
                          <c15:sqref>'ASNO P1'!$B$33:$B$103</c15:sqref>
                        </c15:formulaRef>
                      </c:ext>
                    </c:extLst>
                    <c:numCache>
                      <c:formatCode>0</c:formatCode>
                      <c:ptCount val="7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numCache>
                  </c:numRef>
                </c:xVal>
                <c:yVal>
                  <c:numRef>
                    <c:extLst xmlns:c15="http://schemas.microsoft.com/office/drawing/2012/chart">
                      <c:ext xmlns:c15="http://schemas.microsoft.com/office/drawing/2012/chart" uri="{02D57815-91ED-43cb-92C2-25804820EDAC}">
                        <c15:formulaRef>
                          <c15:sqref>'ASNO P1'!$AM$33:$AM$48</c15:sqref>
                        </c15:formulaRef>
                      </c:ext>
                    </c:extLst>
                    <c:numCache>
                      <c:formatCode>General</c:formatCode>
                      <c:ptCount val="16"/>
                    </c:numCache>
                  </c:numRef>
                </c:yVal>
                <c:smooth val="1"/>
                <c:extLst xmlns:c15="http://schemas.microsoft.com/office/drawing/2012/chart">
                  <c:ext xmlns:c16="http://schemas.microsoft.com/office/drawing/2014/chart" uri="{C3380CC4-5D6E-409C-BE32-E72D297353CC}">
                    <c16:uniqueId val="{00000007-23B6-4D9B-AF8B-5F5264DE304C}"/>
                  </c:ext>
                </c:extLst>
              </c15:ser>
            </c15:filteredScatterSeries>
            <c15:filteredScatterSeries>
              <c15:ser>
                <c:idx val="8"/>
                <c:order val="8"/>
                <c:tx>
                  <c:strRef>
                    <c:extLst xmlns:c15="http://schemas.microsoft.com/office/drawing/2012/chart">
                      <c:ext xmlns:c15="http://schemas.microsoft.com/office/drawing/2012/chart" uri="{02D57815-91ED-43cb-92C2-25804820EDAC}">
                        <c15:formulaRef>
                          <c15:sqref>'ASNO P1'!$AN$31</c15:sqref>
                        </c15:formulaRef>
                      </c:ext>
                    </c:extLst>
                    <c:strCache>
                      <c:ptCount val="1"/>
                    </c:strCache>
                  </c:strRef>
                </c:tx>
                <c:spPr>
                  <a:ln w="19050" cap="rnd">
                    <a:noFill/>
                    <a:round/>
                  </a:ln>
                  <a:effectLst/>
                </c:spPr>
                <c:marker>
                  <c:symbol val="circle"/>
                  <c:size val="5"/>
                  <c:spPr>
                    <a:solidFill>
                      <a:schemeClr val="accent3">
                        <a:lumMod val="60000"/>
                      </a:schemeClr>
                    </a:solidFill>
                    <a:ln w="9525">
                      <a:solidFill>
                        <a:schemeClr val="accent3">
                          <a:lumMod val="60000"/>
                        </a:schemeClr>
                      </a:solidFill>
                    </a:ln>
                    <a:effectLst/>
                  </c:spPr>
                </c:marker>
                <c:xVal>
                  <c:numRef>
                    <c:extLst xmlns:c15="http://schemas.microsoft.com/office/drawing/2012/chart">
                      <c:ext xmlns:c15="http://schemas.microsoft.com/office/drawing/2012/chart" uri="{02D57815-91ED-43cb-92C2-25804820EDAC}">
                        <c15:formulaRef>
                          <c15:sqref>'ASNO P1'!$B$33:$B$161</c15:sqref>
                        </c15:formulaRef>
                      </c:ext>
                    </c:extLst>
                    <c:numCache>
                      <c:formatCode>0</c:formatCode>
                      <c:ptCount val="12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numCache>
                  </c:numRef>
                </c:xVal>
                <c:yVal>
                  <c:numRef>
                    <c:extLst xmlns:c15="http://schemas.microsoft.com/office/drawing/2012/chart">
                      <c:ext xmlns:c15="http://schemas.microsoft.com/office/drawing/2012/chart" uri="{02D57815-91ED-43cb-92C2-25804820EDAC}">
                        <c15:formulaRef>
                          <c15:sqref>'ASNO P1'!$AP$33:$AP$57</c15:sqref>
                        </c15:formulaRef>
                      </c:ext>
                    </c:extLst>
                    <c:numCache>
                      <c:formatCode>0%</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yVal>
                <c:smooth val="1"/>
                <c:extLst xmlns:c15="http://schemas.microsoft.com/office/drawing/2012/chart">
                  <c:ext xmlns:c16="http://schemas.microsoft.com/office/drawing/2014/chart" uri="{C3380CC4-5D6E-409C-BE32-E72D297353CC}">
                    <c16:uniqueId val="{00000008-23B6-4D9B-AF8B-5F5264DE304C}"/>
                  </c:ext>
                </c:extLst>
              </c15:ser>
            </c15:filteredScatterSeries>
          </c:ext>
        </c:extLst>
      </c:scatterChart>
      <c:valAx>
        <c:axId val="1179992736"/>
        <c:scaling>
          <c:orientation val="minMax"/>
          <c:max val="70"/>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3720"/>
        <c:crosses val="autoZero"/>
        <c:crossBetween val="midCat"/>
        <c:majorUnit val="10"/>
      </c:valAx>
      <c:valAx>
        <c:axId val="1179993720"/>
        <c:scaling>
          <c:orientation val="minMax"/>
          <c:max val="1"/>
          <c:min val="0.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r>
                  <a:rPr lang="en-US"/>
                  <a:t>Water Cut</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crossAx val="1179992736"/>
        <c:crosses val="autoZero"/>
        <c:crossBetween val="midCat"/>
        <c:majorUnit val="0.1"/>
      </c:valAx>
      <c:spPr>
        <a:noFill/>
        <a:ln>
          <a:noFill/>
        </a:ln>
        <a:effectLst/>
      </c:spPr>
    </c:plotArea>
    <c:legend>
      <c:legendPos val="b"/>
      <c:layout>
        <c:manualLayout>
          <c:xMode val="edge"/>
          <c:yMode val="edge"/>
          <c:x val="0.13353385568403556"/>
          <c:y val="0.9278121025287257"/>
          <c:w val="0.80707770308249194"/>
          <c:h val="4.8331901694106422E-2"/>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elegraf" panose="020B0604020202020204"/>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700">
          <a:solidFill>
            <a:sysClr val="windowText" lastClr="000000"/>
          </a:solidFill>
          <a:latin typeface="Telegraf" panose="020B0604020202020204"/>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r>
              <a:rPr lang="en-US"/>
              <a:t>Initial Production</a:t>
            </a:r>
            <a:br>
              <a:rPr lang="en-US"/>
            </a:br>
            <a:r>
              <a:rPr lang="en-US"/>
              <a:t>Forecast vs Analog Alpha-07</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manualLayout>
          <c:layoutTarget val="inner"/>
          <c:xMode val="edge"/>
          <c:yMode val="edge"/>
          <c:x val="7.8596791040404193E-2"/>
          <c:y val="0.18439614658296552"/>
          <c:w val="0.88148053948472038"/>
          <c:h val="0.64603713549445363"/>
        </c:manualLayout>
      </c:layout>
      <c:barChart>
        <c:barDir val="col"/>
        <c:grouping val="clustered"/>
        <c:varyColors val="0"/>
        <c:ser>
          <c:idx val="0"/>
          <c:order val="0"/>
          <c:tx>
            <c:strRef>
              <c:f>'ASNO P1'!$K$3</c:f>
              <c:strCache>
                <c:ptCount val="1"/>
                <c:pt idx="0">
                  <c:v>Initial</c:v>
                </c:pt>
              </c:strCache>
            </c:strRef>
          </c:tx>
          <c:spPr>
            <a:solidFill>
              <a:schemeClr val="accent1"/>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1-2EC1-49F9-88B4-BEC927BACC2B}"/>
              </c:ext>
            </c:extLst>
          </c:dPt>
          <c:dPt>
            <c:idx val="1"/>
            <c:invertIfNegative val="0"/>
            <c:bubble3D val="0"/>
            <c:spPr>
              <a:solidFill>
                <a:schemeClr val="accent4"/>
              </a:solidFill>
              <a:ln>
                <a:noFill/>
              </a:ln>
              <a:effectLst/>
            </c:spPr>
            <c:extLst>
              <c:ext xmlns:c16="http://schemas.microsoft.com/office/drawing/2014/chart" uri="{C3380CC4-5D6E-409C-BE32-E72D297353CC}">
                <c16:uniqueId val="{00000003-2EC1-49F9-88B4-BEC927BACC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2EC1-49F9-88B4-BEC927BACC2B}"/>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7-2EC1-49F9-88B4-BEC927BACC2B}"/>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9-2EC1-49F9-88B4-BEC927BACC2B}"/>
              </c:ext>
            </c:extLst>
          </c:dPt>
          <c:dPt>
            <c:idx val="5"/>
            <c:invertIfNegative val="0"/>
            <c:bubble3D val="0"/>
            <c:spPr>
              <a:solidFill>
                <a:srgbClr val="FF0000"/>
              </a:solidFill>
              <a:ln>
                <a:noFill/>
              </a:ln>
              <a:effectLst/>
            </c:spPr>
            <c:extLst>
              <c:ext xmlns:c16="http://schemas.microsoft.com/office/drawing/2014/chart" uri="{C3380CC4-5D6E-409C-BE32-E72D297353CC}">
                <c16:uniqueId val="{0000000B-2EC1-49F9-88B4-BEC927BACC2B}"/>
              </c:ext>
            </c:extLst>
          </c:dPt>
          <c:cat>
            <c:strRef>
              <c:f>'ASNO P1'!$J$4:$J$9</c:f>
              <c:strCache>
                <c:ptCount val="6"/>
                <c:pt idx="0">
                  <c:v>AL001</c:v>
                </c:pt>
                <c:pt idx="1">
                  <c:v>AL002</c:v>
                </c:pt>
                <c:pt idx="2">
                  <c:v>AL005</c:v>
                </c:pt>
                <c:pt idx="3">
                  <c:v>Low</c:v>
                </c:pt>
                <c:pt idx="4">
                  <c:v>Base</c:v>
                </c:pt>
                <c:pt idx="5">
                  <c:v>High</c:v>
                </c:pt>
              </c:strCache>
            </c:strRef>
          </c:cat>
          <c:val>
            <c:numRef>
              <c:f>'ASNO P1'!$K$4:$K$9</c:f>
              <c:numCache>
                <c:formatCode>0</c:formatCode>
                <c:ptCount val="6"/>
                <c:pt idx="0">
                  <c:v>183</c:v>
                </c:pt>
                <c:pt idx="1">
                  <c:v>253.54</c:v>
                </c:pt>
                <c:pt idx="2">
                  <c:v>162.77000000000001</c:v>
                </c:pt>
                <c:pt idx="3">
                  <c:v>106</c:v>
                </c:pt>
                <c:pt idx="4">
                  <c:v>132</c:v>
                </c:pt>
                <c:pt idx="5">
                  <c:v>158</c:v>
                </c:pt>
              </c:numCache>
            </c:numRef>
          </c:val>
          <c:extLst>
            <c:ext xmlns:c16="http://schemas.microsoft.com/office/drawing/2014/chart" uri="{C3380CC4-5D6E-409C-BE32-E72D297353CC}">
              <c16:uniqueId val="{0000000C-2EC1-49F9-88B4-BEC927BACC2B}"/>
            </c:ext>
          </c:extLst>
        </c:ser>
        <c:dLbls>
          <c:showLegendKey val="0"/>
          <c:showVal val="0"/>
          <c:showCatName val="0"/>
          <c:showSerName val="0"/>
          <c:showPercent val="0"/>
          <c:showBubbleSize val="0"/>
        </c:dLbls>
        <c:gapWidth val="150"/>
        <c:axId val="695166960"/>
        <c:axId val="695167440"/>
      </c:barChart>
      <c:lineChart>
        <c:grouping val="standard"/>
        <c:varyColors val="0"/>
        <c:ser>
          <c:idx val="1"/>
          <c:order val="1"/>
          <c:tx>
            <c:strRef>
              <c:f>'ASNO P1'!$L$3</c:f>
              <c:strCache>
                <c:ptCount val="1"/>
                <c:pt idx="0">
                  <c:v>P10</c:v>
                </c:pt>
              </c:strCache>
            </c:strRef>
          </c:tx>
          <c:spPr>
            <a:ln w="38100" cap="rnd">
              <a:solidFill>
                <a:schemeClr val="accent6"/>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P1'!$L$4:$L$7</c:f>
              <c:numCache>
                <c:formatCode>0</c:formatCode>
                <c:ptCount val="4"/>
                <c:pt idx="0">
                  <c:v>106</c:v>
                </c:pt>
                <c:pt idx="1">
                  <c:v>106</c:v>
                </c:pt>
                <c:pt idx="2">
                  <c:v>106</c:v>
                </c:pt>
                <c:pt idx="3">
                  <c:v>106</c:v>
                </c:pt>
              </c:numCache>
            </c:numRef>
          </c:val>
          <c:smooth val="0"/>
          <c:extLst>
            <c:ext xmlns:c16="http://schemas.microsoft.com/office/drawing/2014/chart" uri="{C3380CC4-5D6E-409C-BE32-E72D297353CC}">
              <c16:uniqueId val="{0000000D-2EC1-49F9-88B4-BEC927BACC2B}"/>
            </c:ext>
          </c:extLst>
        </c:ser>
        <c:ser>
          <c:idx val="2"/>
          <c:order val="2"/>
          <c:tx>
            <c:strRef>
              <c:f>'ASNO P1'!$M$3</c:f>
              <c:strCache>
                <c:ptCount val="1"/>
                <c:pt idx="0">
                  <c:v>P50</c:v>
                </c:pt>
              </c:strCache>
            </c:strRef>
          </c:tx>
          <c:spPr>
            <a:ln w="38100" cap="rnd">
              <a:solidFill>
                <a:schemeClr val="accent1"/>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P1'!$M$4:$M$8</c:f>
              <c:numCache>
                <c:formatCode>0</c:formatCode>
                <c:ptCount val="5"/>
                <c:pt idx="0">
                  <c:v>132</c:v>
                </c:pt>
                <c:pt idx="1">
                  <c:v>132</c:v>
                </c:pt>
                <c:pt idx="2">
                  <c:v>132</c:v>
                </c:pt>
                <c:pt idx="3">
                  <c:v>132</c:v>
                </c:pt>
                <c:pt idx="4">
                  <c:v>132</c:v>
                </c:pt>
              </c:numCache>
            </c:numRef>
          </c:val>
          <c:smooth val="0"/>
          <c:extLst>
            <c:ext xmlns:c16="http://schemas.microsoft.com/office/drawing/2014/chart" uri="{C3380CC4-5D6E-409C-BE32-E72D297353CC}">
              <c16:uniqueId val="{0000000E-2EC1-49F9-88B4-BEC927BACC2B}"/>
            </c:ext>
          </c:extLst>
        </c:ser>
        <c:ser>
          <c:idx val="3"/>
          <c:order val="3"/>
          <c:tx>
            <c:strRef>
              <c:f>'ASNO P1'!$N$3</c:f>
              <c:strCache>
                <c:ptCount val="1"/>
                <c:pt idx="0">
                  <c:v>P90</c:v>
                </c:pt>
              </c:strCache>
            </c:strRef>
          </c:tx>
          <c:spPr>
            <a:ln w="38100" cap="rnd">
              <a:solidFill>
                <a:srgbClr val="FF0000"/>
              </a:solidFill>
              <a:round/>
            </a:ln>
            <a:effectLst/>
          </c:spPr>
          <c:marker>
            <c:symbol val="none"/>
          </c:marker>
          <c:cat>
            <c:strRef>
              <c:f>'ASNO P1'!$J$4:$J$10</c:f>
              <c:strCache>
                <c:ptCount val="6"/>
                <c:pt idx="0">
                  <c:v>AL001</c:v>
                </c:pt>
                <c:pt idx="1">
                  <c:v>AL002</c:v>
                </c:pt>
                <c:pt idx="2">
                  <c:v>AL005</c:v>
                </c:pt>
                <c:pt idx="3">
                  <c:v>Low</c:v>
                </c:pt>
                <c:pt idx="4">
                  <c:v>Base</c:v>
                </c:pt>
                <c:pt idx="5">
                  <c:v>High</c:v>
                </c:pt>
              </c:strCache>
            </c:strRef>
          </c:cat>
          <c:val>
            <c:numRef>
              <c:f>'ASNO P1'!$N$4:$N$9</c:f>
              <c:numCache>
                <c:formatCode>0</c:formatCode>
                <c:ptCount val="6"/>
                <c:pt idx="0">
                  <c:v>158</c:v>
                </c:pt>
                <c:pt idx="1">
                  <c:v>158</c:v>
                </c:pt>
                <c:pt idx="2">
                  <c:v>158</c:v>
                </c:pt>
                <c:pt idx="3">
                  <c:v>158</c:v>
                </c:pt>
                <c:pt idx="4">
                  <c:v>158</c:v>
                </c:pt>
                <c:pt idx="5">
                  <c:v>158</c:v>
                </c:pt>
              </c:numCache>
            </c:numRef>
          </c:val>
          <c:smooth val="0"/>
          <c:extLst>
            <c:ext xmlns:c16="http://schemas.microsoft.com/office/drawing/2014/chart" uri="{C3380CC4-5D6E-409C-BE32-E72D297353CC}">
              <c16:uniqueId val="{0000000F-2EC1-49F9-88B4-BEC927BACC2B}"/>
            </c:ext>
          </c:extLst>
        </c:ser>
        <c:dLbls>
          <c:showLegendKey val="0"/>
          <c:showVal val="0"/>
          <c:showCatName val="0"/>
          <c:showSerName val="0"/>
          <c:showPercent val="0"/>
          <c:showBubbleSize val="0"/>
        </c:dLbls>
        <c:marker val="1"/>
        <c:smooth val="0"/>
        <c:axId val="695166960"/>
        <c:axId val="695167440"/>
        <c:extLst>
          <c:ext xmlns:c15="http://schemas.microsoft.com/office/drawing/2012/chart" uri="{02D57815-91ED-43cb-92C2-25804820EDAC}">
            <c15:filteredLineSeries>
              <c15:ser>
                <c:idx val="4"/>
                <c:order val="4"/>
                <c:tx>
                  <c:strRef>
                    <c:extLst>
                      <c:ext uri="{02D57815-91ED-43cb-92C2-25804820EDAC}">
                        <c15:formulaRef>
                          <c15:sqref>'https://ptptmn-my.sharepoint.com/personal/mk_asri_sirait_pertamina_com/Documents/[Pungut Working File PE (PARA).xlsx]  Cluster B'!$O$3</c15:sqref>
                        </c15:formulaRef>
                      </c:ext>
                    </c:extLst>
                    <c:strCache>
                      <c:ptCount val="1"/>
                      <c:pt idx="0">
                        <c:v>EV</c:v>
                      </c:pt>
                    </c:strCache>
                  </c:strRef>
                </c:tx>
                <c:spPr>
                  <a:ln w="28575" cap="rnd">
                    <a:solidFill>
                      <a:schemeClr val="accent5"/>
                    </a:solidFill>
                    <a:round/>
                  </a:ln>
                  <a:effectLst/>
                </c:spPr>
                <c:marker>
                  <c:symbol val="none"/>
                </c:marker>
                <c:cat>
                  <c:strRef>
                    <c:extLst>
                      <c:ext uri="{02D57815-91ED-43cb-92C2-25804820EDAC}">
                        <c15:formulaRef>
                          <c15:sqref>'ASNO P1'!$J$4:$J$10</c15:sqref>
                        </c15:formulaRef>
                      </c:ext>
                    </c:extLst>
                    <c:strCache>
                      <c:ptCount val="6"/>
                      <c:pt idx="0">
                        <c:v>AL001</c:v>
                      </c:pt>
                      <c:pt idx="1">
                        <c:v>AL002</c:v>
                      </c:pt>
                      <c:pt idx="2">
                        <c:v>AL005</c:v>
                      </c:pt>
                      <c:pt idx="3">
                        <c:v>Low</c:v>
                      </c:pt>
                      <c:pt idx="4">
                        <c:v>Base</c:v>
                      </c:pt>
                      <c:pt idx="5">
                        <c:v>High</c:v>
                      </c:pt>
                    </c:strCache>
                  </c:strRef>
                </c:cat>
                <c:val>
                  <c:numRef>
                    <c:extLst>
                      <c:ext uri="{02D57815-91ED-43cb-92C2-25804820EDAC}">
                        <c15:formulaRef>
                          <c15:sqref>'https://ptptmn-my.sharepoint.com/personal/mk_asri_sirait_pertamina_com/Documents/[Pungut Working File PE (PARA).xlsx]  Cluster B'!$O$4:$O$9</c15:sqref>
                        </c15:formulaRef>
                      </c:ext>
                    </c:extLst>
                    <c:numCache>
                      <c:formatCode>General</c:formatCode>
                      <c:ptCount val="6"/>
                      <c:pt idx="0">
                        <c:v>120</c:v>
                      </c:pt>
                      <c:pt idx="1">
                        <c:v>98.22399999999999</c:v>
                      </c:pt>
                      <c:pt idx="2">
                        <c:v>98.22399999999999</c:v>
                      </c:pt>
                      <c:pt idx="3">
                        <c:v>98.22399999999999</c:v>
                      </c:pt>
                      <c:pt idx="4">
                        <c:v>98.22399999999999</c:v>
                      </c:pt>
                      <c:pt idx="5">
                        <c:v>98.22399999999999</c:v>
                      </c:pt>
                    </c:numCache>
                  </c:numRef>
                </c:val>
                <c:smooth val="0"/>
                <c:extLst>
                  <c:ext xmlns:c16="http://schemas.microsoft.com/office/drawing/2014/chart" uri="{C3380CC4-5D6E-409C-BE32-E72D297353CC}">
                    <c16:uniqueId val="{00000010-2EC1-49F9-88B4-BEC927BACC2B}"/>
                  </c:ext>
                </c:extLst>
              </c15:ser>
            </c15:filteredLineSeries>
          </c:ext>
        </c:extLst>
      </c:lineChart>
      <c:catAx>
        <c:axId val="69516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7440"/>
        <c:crosses val="autoZero"/>
        <c:auto val="1"/>
        <c:lblAlgn val="ctr"/>
        <c:lblOffset val="100"/>
        <c:noMultiLvlLbl val="0"/>
      </c:catAx>
      <c:valAx>
        <c:axId val="6951674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6960"/>
        <c:crosses val="autoZero"/>
        <c:crossBetween val="between"/>
      </c:valAx>
      <c:spPr>
        <a:noFill/>
        <a:ln>
          <a:noFill/>
        </a:ln>
        <a:effectLst/>
      </c:spPr>
    </c:plotArea>
    <c:legend>
      <c:legendPos val="b"/>
      <c:layout>
        <c:manualLayout>
          <c:xMode val="edge"/>
          <c:yMode val="edge"/>
          <c:x val="0.19138590532583272"/>
          <c:y val="0.90512517283173832"/>
          <c:w val="0.60996923639678613"/>
          <c:h val="7.2877076308379016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 cap="flat" cmpd="sng" algn="ctr">
      <a:solidFill>
        <a:schemeClr val="tx1"/>
      </a:solidFill>
      <a:round/>
    </a:ln>
    <a:effectLst/>
  </c:spPr>
  <c:txPr>
    <a:bodyPr/>
    <a:lstStyle/>
    <a:p>
      <a:pPr>
        <a:defRPr sz="700">
          <a:latin typeface="Telegraf" panose="020B0604020202020204"/>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r>
              <a:rPr lang="en-US"/>
              <a:t>EUR</a:t>
            </a:r>
            <a:br>
              <a:rPr lang="en-US"/>
            </a:br>
            <a:r>
              <a:rPr lang="en-US"/>
              <a:t>Forecast vs Analog Alpha-07</a:t>
            </a:r>
          </a:p>
        </c:rich>
      </c:tx>
      <c:overlay val="0"/>
      <c:spPr>
        <a:noFill/>
        <a:ln>
          <a:noFill/>
        </a:ln>
        <a:effectLst/>
      </c:spPr>
      <c:txPr>
        <a:bodyPr rot="0" spcFirstLastPara="1" vertOverflow="ellipsis" vert="horz" wrap="square" anchor="ctr" anchorCtr="1"/>
        <a:lstStyle/>
        <a:p>
          <a:pPr>
            <a:defRPr sz="840" b="0" i="0" u="none" strike="noStrike" kern="1200" spc="0" baseline="0">
              <a:solidFill>
                <a:schemeClr val="tx1">
                  <a:lumMod val="65000"/>
                  <a:lumOff val="35000"/>
                </a:schemeClr>
              </a:solidFill>
              <a:latin typeface="Telegraf" panose="020B0604020202020204"/>
              <a:ea typeface="+mn-ea"/>
              <a:cs typeface="+mn-cs"/>
            </a:defRPr>
          </a:pPr>
          <a:endParaRPr lang="en-US"/>
        </a:p>
      </c:txPr>
    </c:title>
    <c:autoTitleDeleted val="0"/>
    <c:plotArea>
      <c:layout>
        <c:manualLayout>
          <c:layoutTarget val="inner"/>
          <c:xMode val="edge"/>
          <c:yMode val="edge"/>
          <c:x val="7.8596791040404193E-2"/>
          <c:y val="0.16750875170811136"/>
          <c:w val="0.88148053948472038"/>
          <c:h val="0.67429086646986569"/>
        </c:manualLayout>
      </c:layout>
      <c:barChart>
        <c:barDir val="col"/>
        <c:grouping val="clustered"/>
        <c:varyColors val="0"/>
        <c:ser>
          <c:idx val="0"/>
          <c:order val="0"/>
          <c:tx>
            <c:strRef>
              <c:f>'ASNO P1'!$Q$3</c:f>
              <c:strCache>
                <c:ptCount val="1"/>
                <c:pt idx="0">
                  <c:v>EUR</c:v>
                </c:pt>
              </c:strCache>
            </c:strRef>
          </c:tx>
          <c:spPr>
            <a:solidFill>
              <a:schemeClr val="accent4"/>
            </a:solidFill>
            <a:ln>
              <a:noFill/>
            </a:ln>
            <a:effectLst/>
          </c:spPr>
          <c:invertIfNegative val="0"/>
          <c:dPt>
            <c:idx val="3"/>
            <c:invertIfNegative val="0"/>
            <c:bubble3D val="0"/>
            <c:spPr>
              <a:solidFill>
                <a:schemeClr val="accent6"/>
              </a:solidFill>
              <a:ln>
                <a:noFill/>
              </a:ln>
              <a:effectLst/>
            </c:spPr>
            <c:extLst>
              <c:ext xmlns:c16="http://schemas.microsoft.com/office/drawing/2014/chart" uri="{C3380CC4-5D6E-409C-BE32-E72D297353CC}">
                <c16:uniqueId val="{00000001-CCA0-450E-AFC9-F020016CB94E}"/>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3-CCA0-450E-AFC9-F020016CB94E}"/>
              </c:ext>
            </c:extLst>
          </c:dPt>
          <c:dPt>
            <c:idx val="5"/>
            <c:invertIfNegative val="0"/>
            <c:bubble3D val="0"/>
            <c:spPr>
              <a:solidFill>
                <a:srgbClr val="FF0000"/>
              </a:solidFill>
              <a:ln>
                <a:noFill/>
              </a:ln>
              <a:effectLst/>
            </c:spPr>
            <c:extLst>
              <c:ext xmlns:c16="http://schemas.microsoft.com/office/drawing/2014/chart" uri="{C3380CC4-5D6E-409C-BE32-E72D297353CC}">
                <c16:uniqueId val="{00000005-CCA0-450E-AFC9-F020016CB94E}"/>
              </c:ext>
            </c:extLst>
          </c:dPt>
          <c:cat>
            <c:strRef>
              <c:f>'ASNO P1'!$J$4:$J$9</c:f>
              <c:strCache>
                <c:ptCount val="6"/>
                <c:pt idx="0">
                  <c:v>AL001</c:v>
                </c:pt>
                <c:pt idx="1">
                  <c:v>AL002</c:v>
                </c:pt>
                <c:pt idx="2">
                  <c:v>AL005</c:v>
                </c:pt>
                <c:pt idx="3">
                  <c:v>Low</c:v>
                </c:pt>
                <c:pt idx="4">
                  <c:v>Base</c:v>
                </c:pt>
                <c:pt idx="5">
                  <c:v>High</c:v>
                </c:pt>
              </c:strCache>
            </c:strRef>
          </c:cat>
          <c:val>
            <c:numRef>
              <c:f>'ASNO P1'!$Q$4:$Q$9</c:f>
              <c:numCache>
                <c:formatCode>0</c:formatCode>
                <c:ptCount val="6"/>
                <c:pt idx="0">
                  <c:v>195.76698614374783</c:v>
                </c:pt>
                <c:pt idx="1">
                  <c:v>246.45211429000744</c:v>
                </c:pt>
                <c:pt idx="2">
                  <c:v>49.781571490515326</c:v>
                </c:pt>
                <c:pt idx="3">
                  <c:v>121.64250275767846</c:v>
                </c:pt>
                <c:pt idx="4">
                  <c:v>155.83413883196184</c:v>
                </c:pt>
                <c:pt idx="5">
                  <c:v>190.12646187104286</c:v>
                </c:pt>
              </c:numCache>
            </c:numRef>
          </c:val>
          <c:extLst>
            <c:ext xmlns:c16="http://schemas.microsoft.com/office/drawing/2014/chart" uri="{C3380CC4-5D6E-409C-BE32-E72D297353CC}">
              <c16:uniqueId val="{00000006-CCA0-450E-AFC9-F020016CB94E}"/>
            </c:ext>
          </c:extLst>
        </c:ser>
        <c:dLbls>
          <c:showLegendKey val="0"/>
          <c:showVal val="0"/>
          <c:showCatName val="0"/>
          <c:showSerName val="0"/>
          <c:showPercent val="0"/>
          <c:showBubbleSize val="0"/>
        </c:dLbls>
        <c:gapWidth val="150"/>
        <c:axId val="695166960"/>
        <c:axId val="695167440"/>
      </c:barChart>
      <c:lineChart>
        <c:grouping val="standard"/>
        <c:varyColors val="0"/>
        <c:ser>
          <c:idx val="1"/>
          <c:order val="1"/>
          <c:tx>
            <c:strRef>
              <c:f>'ASNO P1'!$R$3</c:f>
              <c:strCache>
                <c:ptCount val="1"/>
                <c:pt idx="0">
                  <c:v>P10</c:v>
                </c:pt>
              </c:strCache>
            </c:strRef>
          </c:tx>
          <c:spPr>
            <a:ln w="38100" cap="rnd">
              <a:solidFill>
                <a:schemeClr val="accent6"/>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P1'!$R$4:$R$7</c:f>
              <c:numCache>
                <c:formatCode>0</c:formatCode>
                <c:ptCount val="4"/>
                <c:pt idx="0">
                  <c:v>121.64250275767846</c:v>
                </c:pt>
                <c:pt idx="1">
                  <c:v>121.64250275767846</c:v>
                </c:pt>
                <c:pt idx="2">
                  <c:v>121.64250275767846</c:v>
                </c:pt>
                <c:pt idx="3">
                  <c:v>121.64250275767846</c:v>
                </c:pt>
              </c:numCache>
            </c:numRef>
          </c:val>
          <c:smooth val="0"/>
          <c:extLst>
            <c:ext xmlns:c16="http://schemas.microsoft.com/office/drawing/2014/chart" uri="{C3380CC4-5D6E-409C-BE32-E72D297353CC}">
              <c16:uniqueId val="{00000007-CCA0-450E-AFC9-F020016CB94E}"/>
            </c:ext>
          </c:extLst>
        </c:ser>
        <c:ser>
          <c:idx val="2"/>
          <c:order val="2"/>
          <c:tx>
            <c:strRef>
              <c:f>'ASNO P1'!$S$3</c:f>
              <c:strCache>
                <c:ptCount val="1"/>
                <c:pt idx="0">
                  <c:v>P50</c:v>
                </c:pt>
              </c:strCache>
            </c:strRef>
          </c:tx>
          <c:spPr>
            <a:ln w="38100" cap="rnd">
              <a:solidFill>
                <a:schemeClr val="accent1"/>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P1'!$S$4:$S$8</c:f>
              <c:numCache>
                <c:formatCode>0</c:formatCode>
                <c:ptCount val="5"/>
                <c:pt idx="0">
                  <c:v>155.83413883196184</c:v>
                </c:pt>
                <c:pt idx="1">
                  <c:v>155.83413883196184</c:v>
                </c:pt>
                <c:pt idx="2">
                  <c:v>155.83413883196184</c:v>
                </c:pt>
                <c:pt idx="3">
                  <c:v>155.83413883196184</c:v>
                </c:pt>
                <c:pt idx="4">
                  <c:v>155.83413883196184</c:v>
                </c:pt>
              </c:numCache>
            </c:numRef>
          </c:val>
          <c:smooth val="0"/>
          <c:extLst>
            <c:ext xmlns:c16="http://schemas.microsoft.com/office/drawing/2014/chart" uri="{C3380CC4-5D6E-409C-BE32-E72D297353CC}">
              <c16:uniqueId val="{00000008-CCA0-450E-AFC9-F020016CB94E}"/>
            </c:ext>
          </c:extLst>
        </c:ser>
        <c:ser>
          <c:idx val="3"/>
          <c:order val="3"/>
          <c:tx>
            <c:strRef>
              <c:f>'ASNO P1'!$T$3</c:f>
              <c:strCache>
                <c:ptCount val="1"/>
                <c:pt idx="0">
                  <c:v>P90</c:v>
                </c:pt>
              </c:strCache>
            </c:strRef>
          </c:tx>
          <c:spPr>
            <a:ln w="38100" cap="rnd">
              <a:solidFill>
                <a:srgbClr val="FF0000"/>
              </a:solidFill>
              <a:round/>
            </a:ln>
            <a:effectLst/>
          </c:spPr>
          <c:marker>
            <c:symbol val="none"/>
          </c:marker>
          <c:cat>
            <c:strRef>
              <c:f>'ASNO P1'!$P$4:$P$9</c:f>
              <c:strCache>
                <c:ptCount val="6"/>
                <c:pt idx="0">
                  <c:v>AL001</c:v>
                </c:pt>
                <c:pt idx="1">
                  <c:v>AL002</c:v>
                </c:pt>
                <c:pt idx="2">
                  <c:v>AL005</c:v>
                </c:pt>
                <c:pt idx="3">
                  <c:v>Low</c:v>
                </c:pt>
                <c:pt idx="4">
                  <c:v>Base</c:v>
                </c:pt>
                <c:pt idx="5">
                  <c:v>High</c:v>
                </c:pt>
              </c:strCache>
            </c:strRef>
          </c:cat>
          <c:val>
            <c:numRef>
              <c:f>'ASNO P1'!$T$4:$T$9</c:f>
              <c:numCache>
                <c:formatCode>0</c:formatCode>
                <c:ptCount val="6"/>
                <c:pt idx="0">
                  <c:v>190.12646187104286</c:v>
                </c:pt>
                <c:pt idx="1">
                  <c:v>190.12646187104286</c:v>
                </c:pt>
                <c:pt idx="2">
                  <c:v>190.12646187104286</c:v>
                </c:pt>
                <c:pt idx="3">
                  <c:v>190.12646187104286</c:v>
                </c:pt>
                <c:pt idx="4">
                  <c:v>190.12646187104286</c:v>
                </c:pt>
                <c:pt idx="5">
                  <c:v>190.12646187104286</c:v>
                </c:pt>
              </c:numCache>
            </c:numRef>
          </c:val>
          <c:smooth val="0"/>
          <c:extLst>
            <c:ext xmlns:c16="http://schemas.microsoft.com/office/drawing/2014/chart" uri="{C3380CC4-5D6E-409C-BE32-E72D297353CC}">
              <c16:uniqueId val="{00000009-CCA0-450E-AFC9-F020016CB94E}"/>
            </c:ext>
          </c:extLst>
        </c:ser>
        <c:dLbls>
          <c:showLegendKey val="0"/>
          <c:showVal val="0"/>
          <c:showCatName val="0"/>
          <c:showSerName val="0"/>
          <c:showPercent val="0"/>
          <c:showBubbleSize val="0"/>
        </c:dLbls>
        <c:marker val="1"/>
        <c:smooth val="0"/>
        <c:axId val="695166960"/>
        <c:axId val="695167440"/>
        <c:extLst>
          <c:ext xmlns:c15="http://schemas.microsoft.com/office/drawing/2012/chart" uri="{02D57815-91ED-43cb-92C2-25804820EDAC}">
            <c15:filteredLineSeries>
              <c15:ser>
                <c:idx val="4"/>
                <c:order val="4"/>
                <c:tx>
                  <c:strRef>
                    <c:extLst>
                      <c:ext uri="{02D57815-91ED-43cb-92C2-25804820EDAC}">
                        <c15:formulaRef>
                          <c15:sqref>'https://ptptmn-my.sharepoint.com/personal/mk_asri_sirait_pertamina_com/Documents/[Pungut Working File PE (PARA).xlsx]  Cluster B'!$O$3</c15:sqref>
                        </c15:formulaRef>
                      </c:ext>
                    </c:extLst>
                    <c:strCache>
                      <c:ptCount val="1"/>
                      <c:pt idx="0">
                        <c:v>EV</c:v>
                      </c:pt>
                    </c:strCache>
                  </c:strRef>
                </c:tx>
                <c:spPr>
                  <a:ln w="28575" cap="rnd">
                    <a:solidFill>
                      <a:schemeClr val="accent5"/>
                    </a:solidFill>
                    <a:round/>
                  </a:ln>
                  <a:effectLst/>
                </c:spPr>
                <c:marker>
                  <c:symbol val="none"/>
                </c:marker>
                <c:cat>
                  <c:strRef>
                    <c:extLst>
                      <c:ext uri="{02D57815-91ED-43cb-92C2-25804820EDAC}">
                        <c15:formulaRef>
                          <c15:sqref>'ASNO P1'!$P$4:$P$9</c15:sqref>
                        </c15:formulaRef>
                      </c:ext>
                    </c:extLst>
                    <c:strCache>
                      <c:ptCount val="6"/>
                      <c:pt idx="0">
                        <c:v>AL001</c:v>
                      </c:pt>
                      <c:pt idx="1">
                        <c:v>AL002</c:v>
                      </c:pt>
                      <c:pt idx="2">
                        <c:v>AL005</c:v>
                      </c:pt>
                      <c:pt idx="3">
                        <c:v>Low</c:v>
                      </c:pt>
                      <c:pt idx="4">
                        <c:v>Base</c:v>
                      </c:pt>
                      <c:pt idx="5">
                        <c:v>High</c:v>
                      </c:pt>
                    </c:strCache>
                  </c:strRef>
                </c:cat>
                <c:val>
                  <c:numRef>
                    <c:extLst>
                      <c:ext uri="{02D57815-91ED-43cb-92C2-25804820EDAC}">
                        <c15:formulaRef>
                          <c15:sqref>'https://ptptmn-my.sharepoint.com/personal/mk_asri_sirait_pertamina_com/Documents/[Pungut Working File PE (PARA).xlsx]  Cluster B'!$O$4:$O$9</c15:sqref>
                        </c15:formulaRef>
                      </c:ext>
                    </c:extLst>
                    <c:numCache>
                      <c:formatCode>General</c:formatCode>
                      <c:ptCount val="6"/>
                      <c:pt idx="0">
                        <c:v>120</c:v>
                      </c:pt>
                      <c:pt idx="1">
                        <c:v>98.22399999999999</c:v>
                      </c:pt>
                      <c:pt idx="2">
                        <c:v>98.22399999999999</c:v>
                      </c:pt>
                      <c:pt idx="3">
                        <c:v>98.22399999999999</c:v>
                      </c:pt>
                      <c:pt idx="4">
                        <c:v>98.22399999999999</c:v>
                      </c:pt>
                      <c:pt idx="5">
                        <c:v>98.22399999999999</c:v>
                      </c:pt>
                    </c:numCache>
                  </c:numRef>
                </c:val>
                <c:smooth val="0"/>
                <c:extLst>
                  <c:ext xmlns:c16="http://schemas.microsoft.com/office/drawing/2014/chart" uri="{C3380CC4-5D6E-409C-BE32-E72D297353CC}">
                    <c16:uniqueId val="{0000000A-CCA0-450E-AFC9-F020016CB94E}"/>
                  </c:ext>
                </c:extLst>
              </c15:ser>
            </c15:filteredLineSeries>
          </c:ext>
        </c:extLst>
      </c:lineChart>
      <c:catAx>
        <c:axId val="69516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7440"/>
        <c:crosses val="autoZero"/>
        <c:auto val="1"/>
        <c:lblAlgn val="ctr"/>
        <c:lblOffset val="100"/>
        <c:noMultiLvlLbl val="0"/>
      </c:catAx>
      <c:valAx>
        <c:axId val="6951674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crossAx val="695166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Telegraf" panose="020B0604020202020204"/>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 cap="flat" cmpd="sng" algn="ctr">
      <a:solidFill>
        <a:schemeClr val="tx1"/>
      </a:solidFill>
      <a:round/>
    </a:ln>
    <a:effectLst/>
  </c:spPr>
  <c:txPr>
    <a:bodyPr/>
    <a:lstStyle/>
    <a:p>
      <a:pPr>
        <a:defRPr sz="700">
          <a:latin typeface="Telegraf" panose="020B0604020202020204"/>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5C742-575D-4437-A5D5-16D991D457B5}" type="datetimeFigureOut">
              <a:rPr lang="en-ID" smtClean="0"/>
              <a:t>27/06/2026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2FC601-45A3-42A7-A86D-8AC2F8502859}" type="slidenum">
              <a:rPr lang="en-ID" smtClean="0"/>
              <a:t>‹#›</a:t>
            </a:fld>
            <a:endParaRPr lang="en-ID"/>
          </a:p>
        </p:txBody>
      </p:sp>
    </p:spTree>
    <p:extLst>
      <p:ext uri="{BB962C8B-B14F-4D97-AF65-F5344CB8AC3E}">
        <p14:creationId xmlns:p14="http://schemas.microsoft.com/office/powerpoint/2010/main" val="956289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69B51-7BDB-0873-6E9B-973EE188B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FDC9B-2EDB-EE71-CB81-3F36ADCEF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7D262-B4CF-4440-8108-BA5F50D443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120023-9775-2624-EE24-65C1E8530ADD}"/>
              </a:ext>
            </a:extLst>
          </p:cNvPr>
          <p:cNvSpPr>
            <a:spLocks noGrp="1"/>
          </p:cNvSpPr>
          <p:nvPr>
            <p:ph type="sldNum" sz="quarter" idx="5"/>
          </p:nvPr>
        </p:nvSpPr>
        <p:spPr/>
        <p:txBody>
          <a:bodyPr/>
          <a:lstStyle/>
          <a:p>
            <a:fld id="{29D34F52-26D3-BF48-A669-2D8603943452}" type="slidenum">
              <a:rPr lang="en-US" smtClean="0"/>
              <a:t>2</a:t>
            </a:fld>
            <a:endParaRPr lang="en-US"/>
          </a:p>
        </p:txBody>
      </p:sp>
    </p:spTree>
    <p:extLst>
      <p:ext uri="{BB962C8B-B14F-4D97-AF65-F5344CB8AC3E}">
        <p14:creationId xmlns:p14="http://schemas.microsoft.com/office/powerpoint/2010/main" val="229116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B6541-4451-1F8C-19C9-90DE4AFDF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BFC48-E8E5-0A67-8612-5056F7FDA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8BA45-B3F4-7EB7-C433-636D1F9262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36C59F-63A6-EBB2-9992-02DB15710208}"/>
              </a:ext>
            </a:extLst>
          </p:cNvPr>
          <p:cNvSpPr>
            <a:spLocks noGrp="1"/>
          </p:cNvSpPr>
          <p:nvPr>
            <p:ph type="sldNum" sz="quarter" idx="5"/>
          </p:nvPr>
        </p:nvSpPr>
        <p:spPr/>
        <p:txBody>
          <a:bodyPr/>
          <a:lstStyle/>
          <a:p>
            <a:fld id="{29D34F52-26D3-BF48-A669-2D8603943452}" type="slidenum">
              <a:rPr lang="en-US" smtClean="0"/>
              <a:t>3</a:t>
            </a:fld>
            <a:endParaRPr lang="en-US"/>
          </a:p>
        </p:txBody>
      </p:sp>
    </p:spTree>
    <p:extLst>
      <p:ext uri="{BB962C8B-B14F-4D97-AF65-F5344CB8AC3E}">
        <p14:creationId xmlns:p14="http://schemas.microsoft.com/office/powerpoint/2010/main" val="3542000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AECB-0EAB-003E-6FA2-DCA0EE02C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C2C9F-4D8C-DE88-534F-D75C0ED26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14769-F7C2-1FA6-3DAD-83441C7232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6F4131-D964-DB45-8A35-EA2540AFA155}"/>
              </a:ext>
            </a:extLst>
          </p:cNvPr>
          <p:cNvSpPr>
            <a:spLocks noGrp="1"/>
          </p:cNvSpPr>
          <p:nvPr>
            <p:ph type="sldNum" sz="quarter" idx="5"/>
          </p:nvPr>
        </p:nvSpPr>
        <p:spPr/>
        <p:txBody>
          <a:bodyPr/>
          <a:lstStyle/>
          <a:p>
            <a:fld id="{29D34F52-26D3-BF48-A669-2D8603943452}" type="slidenum">
              <a:rPr lang="en-US" smtClean="0"/>
              <a:t>10</a:t>
            </a:fld>
            <a:endParaRPr lang="en-US"/>
          </a:p>
        </p:txBody>
      </p:sp>
    </p:spTree>
    <p:extLst>
      <p:ext uri="{BB962C8B-B14F-4D97-AF65-F5344CB8AC3E}">
        <p14:creationId xmlns:p14="http://schemas.microsoft.com/office/powerpoint/2010/main" val="29120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DEEC7-4953-B3DD-3D54-B3A4DE15C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F70B1-F100-DEB0-04F7-0D0213E98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760FF0-1571-B7F9-DC70-0BAAD98EF1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774F06-FD84-E564-0259-7919228337EB}"/>
              </a:ext>
            </a:extLst>
          </p:cNvPr>
          <p:cNvSpPr>
            <a:spLocks noGrp="1"/>
          </p:cNvSpPr>
          <p:nvPr>
            <p:ph type="sldNum" sz="quarter" idx="5"/>
          </p:nvPr>
        </p:nvSpPr>
        <p:spPr/>
        <p:txBody>
          <a:bodyPr/>
          <a:lstStyle/>
          <a:p>
            <a:fld id="{29D34F52-26D3-BF48-A669-2D8603943452}" type="slidenum">
              <a:rPr lang="en-US" smtClean="0"/>
              <a:t>11</a:t>
            </a:fld>
            <a:endParaRPr lang="en-US"/>
          </a:p>
        </p:txBody>
      </p:sp>
    </p:spTree>
    <p:extLst>
      <p:ext uri="{BB962C8B-B14F-4D97-AF65-F5344CB8AC3E}">
        <p14:creationId xmlns:p14="http://schemas.microsoft.com/office/powerpoint/2010/main" val="233405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6105-6693-BCA7-9BCE-A4BCA3BD1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CC1F8-5A2E-569E-2579-EC52A6C2E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824D0-55AE-8AEE-9F82-4D02421BDE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BD0883-72AC-4A85-1DCA-CECB8327A920}"/>
              </a:ext>
            </a:extLst>
          </p:cNvPr>
          <p:cNvSpPr>
            <a:spLocks noGrp="1"/>
          </p:cNvSpPr>
          <p:nvPr>
            <p:ph type="sldNum" sz="quarter" idx="5"/>
          </p:nvPr>
        </p:nvSpPr>
        <p:spPr/>
        <p:txBody>
          <a:bodyPr/>
          <a:lstStyle/>
          <a:p>
            <a:fld id="{29D34F52-26D3-BF48-A669-2D8603943452}" type="slidenum">
              <a:rPr lang="en-US" smtClean="0"/>
              <a:t>12</a:t>
            </a:fld>
            <a:endParaRPr lang="en-US"/>
          </a:p>
        </p:txBody>
      </p:sp>
    </p:spTree>
    <p:extLst>
      <p:ext uri="{BB962C8B-B14F-4D97-AF65-F5344CB8AC3E}">
        <p14:creationId xmlns:p14="http://schemas.microsoft.com/office/powerpoint/2010/main" val="1815896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8775-D389-D8B5-3E50-D42C9D13D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16D50-2901-9EF0-7836-A066E6DB6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E737F-FB36-C61F-A675-600E03A7C0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C82988-9582-1532-4D56-CC3A7847B95A}"/>
              </a:ext>
            </a:extLst>
          </p:cNvPr>
          <p:cNvSpPr>
            <a:spLocks noGrp="1"/>
          </p:cNvSpPr>
          <p:nvPr>
            <p:ph type="sldNum" sz="quarter" idx="5"/>
          </p:nvPr>
        </p:nvSpPr>
        <p:spPr/>
        <p:txBody>
          <a:bodyPr/>
          <a:lstStyle/>
          <a:p>
            <a:fld id="{29D34F52-26D3-BF48-A669-2D8603943452}" type="slidenum">
              <a:rPr lang="en-US" smtClean="0"/>
              <a:t>14</a:t>
            </a:fld>
            <a:endParaRPr lang="en-US"/>
          </a:p>
        </p:txBody>
      </p:sp>
    </p:spTree>
    <p:extLst>
      <p:ext uri="{BB962C8B-B14F-4D97-AF65-F5344CB8AC3E}">
        <p14:creationId xmlns:p14="http://schemas.microsoft.com/office/powerpoint/2010/main" val="162462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7ECA4-27B5-823C-16C0-2CCA2F841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44EFC-48F4-C524-55B6-FD81B18F0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5EA3C-4F1E-0612-9F4C-C4846F87B4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347486-0383-BFF6-6293-D1DA83920F1F}"/>
              </a:ext>
            </a:extLst>
          </p:cNvPr>
          <p:cNvSpPr>
            <a:spLocks noGrp="1"/>
          </p:cNvSpPr>
          <p:nvPr>
            <p:ph type="sldNum" sz="quarter" idx="5"/>
          </p:nvPr>
        </p:nvSpPr>
        <p:spPr/>
        <p:txBody>
          <a:bodyPr/>
          <a:lstStyle/>
          <a:p>
            <a:fld id="{29D34F52-26D3-BF48-A669-2D8603943452}" type="slidenum">
              <a:rPr lang="en-US" smtClean="0"/>
              <a:t>16</a:t>
            </a:fld>
            <a:endParaRPr lang="en-US"/>
          </a:p>
        </p:txBody>
      </p:sp>
    </p:spTree>
    <p:extLst>
      <p:ext uri="{BB962C8B-B14F-4D97-AF65-F5344CB8AC3E}">
        <p14:creationId xmlns:p14="http://schemas.microsoft.com/office/powerpoint/2010/main" val="8052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467D-8A13-8A4C-7C4F-93DF1D251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7AC2D-E848-7302-9064-461EF3529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11504-A13F-24CE-10F8-9E9FEA7B80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11F209-5130-D38E-737B-5A6BB62C979E}"/>
              </a:ext>
            </a:extLst>
          </p:cNvPr>
          <p:cNvSpPr>
            <a:spLocks noGrp="1"/>
          </p:cNvSpPr>
          <p:nvPr>
            <p:ph type="sldNum" sz="quarter" idx="5"/>
          </p:nvPr>
        </p:nvSpPr>
        <p:spPr/>
        <p:txBody>
          <a:bodyPr/>
          <a:lstStyle/>
          <a:p>
            <a:fld id="{29D34F52-26D3-BF48-A669-2D8603943452}" type="slidenum">
              <a:rPr lang="en-US" smtClean="0"/>
              <a:t>17</a:t>
            </a:fld>
            <a:endParaRPr lang="en-US"/>
          </a:p>
        </p:txBody>
      </p:sp>
    </p:spTree>
    <p:extLst>
      <p:ext uri="{BB962C8B-B14F-4D97-AF65-F5344CB8AC3E}">
        <p14:creationId xmlns:p14="http://schemas.microsoft.com/office/powerpoint/2010/main" val="1551089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A457-81C1-A319-17BA-87D0F8813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55FC1-68FD-6ACB-CB41-90C6A7DEA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8591B-7B5B-CB75-2627-ACF737ACE9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6F3F00-5BD9-5568-6FFE-9AD0A6988A47}"/>
              </a:ext>
            </a:extLst>
          </p:cNvPr>
          <p:cNvSpPr>
            <a:spLocks noGrp="1"/>
          </p:cNvSpPr>
          <p:nvPr>
            <p:ph type="sldNum" sz="quarter" idx="5"/>
          </p:nvPr>
        </p:nvSpPr>
        <p:spPr/>
        <p:txBody>
          <a:bodyPr/>
          <a:lstStyle/>
          <a:p>
            <a:fld id="{29D34F52-26D3-BF48-A669-2D8603943452}" type="slidenum">
              <a:rPr lang="en-US" smtClean="0"/>
              <a:t>18</a:t>
            </a:fld>
            <a:endParaRPr lang="en-US"/>
          </a:p>
        </p:txBody>
      </p:sp>
    </p:spTree>
    <p:extLst>
      <p:ext uri="{BB962C8B-B14F-4D97-AF65-F5344CB8AC3E}">
        <p14:creationId xmlns:p14="http://schemas.microsoft.com/office/powerpoint/2010/main" val="811860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35BBA-0985-BD66-8BEB-583FBAD16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F7F-D28D-151A-8676-1659F67A3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D7042-39C0-DFEB-9E94-9CF0DD587F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83D83D-5B16-1354-6364-DF822CF69DF9}"/>
              </a:ext>
            </a:extLst>
          </p:cNvPr>
          <p:cNvSpPr>
            <a:spLocks noGrp="1"/>
          </p:cNvSpPr>
          <p:nvPr>
            <p:ph type="sldNum" sz="quarter" idx="5"/>
          </p:nvPr>
        </p:nvSpPr>
        <p:spPr/>
        <p:txBody>
          <a:bodyPr/>
          <a:lstStyle/>
          <a:p>
            <a:fld id="{29D34F52-26D3-BF48-A669-2D8603943452}" type="slidenum">
              <a:rPr lang="en-US" smtClean="0"/>
              <a:t>19</a:t>
            </a:fld>
            <a:endParaRPr lang="en-US"/>
          </a:p>
        </p:txBody>
      </p:sp>
    </p:spTree>
    <p:extLst>
      <p:ext uri="{BB962C8B-B14F-4D97-AF65-F5344CB8AC3E}">
        <p14:creationId xmlns:p14="http://schemas.microsoft.com/office/powerpoint/2010/main" val="27387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BBC6D-1C25-C261-D69D-91A5609FA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88CD6-70DC-B75B-F513-7F07D35D0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C8FCE-BA3A-0950-FE19-5414C411F2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505F5B-FC73-9BFF-82F0-190A8C8BBB38}"/>
              </a:ext>
            </a:extLst>
          </p:cNvPr>
          <p:cNvSpPr>
            <a:spLocks noGrp="1"/>
          </p:cNvSpPr>
          <p:nvPr>
            <p:ph type="sldNum" sz="quarter" idx="5"/>
          </p:nvPr>
        </p:nvSpPr>
        <p:spPr/>
        <p:txBody>
          <a:bodyPr/>
          <a:lstStyle/>
          <a:p>
            <a:fld id="{29D34F52-26D3-BF48-A669-2D8603943452}" type="slidenum">
              <a:rPr lang="en-US" smtClean="0"/>
              <a:t>20</a:t>
            </a:fld>
            <a:endParaRPr lang="en-US"/>
          </a:p>
        </p:txBody>
      </p:sp>
    </p:spTree>
    <p:extLst>
      <p:ext uri="{BB962C8B-B14F-4D97-AF65-F5344CB8AC3E}">
        <p14:creationId xmlns:p14="http://schemas.microsoft.com/office/powerpoint/2010/main" val="227572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BD2A5-BF9F-4B10-EBC0-945D1E22D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CB388-C566-0DAF-2ACD-F93EFD91A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0EAAC-E56C-2815-4B24-BABB593126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2A1B8C-5CA4-4E2F-9A78-2D3DA5DD5BBD}"/>
              </a:ext>
            </a:extLst>
          </p:cNvPr>
          <p:cNvSpPr>
            <a:spLocks noGrp="1"/>
          </p:cNvSpPr>
          <p:nvPr>
            <p:ph type="sldNum" sz="quarter" idx="5"/>
          </p:nvPr>
        </p:nvSpPr>
        <p:spPr/>
        <p:txBody>
          <a:bodyPr/>
          <a:lstStyle/>
          <a:p>
            <a:fld id="{29D34F52-26D3-BF48-A669-2D8603943452}" type="slidenum">
              <a:rPr lang="en-US" smtClean="0"/>
              <a:t>21</a:t>
            </a:fld>
            <a:endParaRPr lang="en-US"/>
          </a:p>
        </p:txBody>
      </p:sp>
    </p:spTree>
    <p:extLst>
      <p:ext uri="{BB962C8B-B14F-4D97-AF65-F5344CB8AC3E}">
        <p14:creationId xmlns:p14="http://schemas.microsoft.com/office/powerpoint/2010/main" val="666357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392A5-830C-B476-4258-B88065C65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C5F42-9DBE-1079-68CF-3ECD0F37A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1C79A-DCE8-0A66-51AD-D498C89181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D06F15-C52D-FE8F-5925-6D832752BDC9}"/>
              </a:ext>
            </a:extLst>
          </p:cNvPr>
          <p:cNvSpPr>
            <a:spLocks noGrp="1"/>
          </p:cNvSpPr>
          <p:nvPr>
            <p:ph type="sldNum" sz="quarter" idx="5"/>
          </p:nvPr>
        </p:nvSpPr>
        <p:spPr/>
        <p:txBody>
          <a:bodyPr/>
          <a:lstStyle/>
          <a:p>
            <a:fld id="{29D34F52-26D3-BF48-A669-2D8603943452}" type="slidenum">
              <a:rPr lang="en-US" smtClean="0"/>
              <a:t>22</a:t>
            </a:fld>
            <a:endParaRPr lang="en-US"/>
          </a:p>
        </p:txBody>
      </p:sp>
    </p:spTree>
    <p:extLst>
      <p:ext uri="{BB962C8B-B14F-4D97-AF65-F5344CB8AC3E}">
        <p14:creationId xmlns:p14="http://schemas.microsoft.com/office/powerpoint/2010/main" val="1734252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6E81-5A2A-1128-56E8-8780088E3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028B2-888B-7EC2-65E7-4216B7C61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10E91-5E4E-3CEC-31BB-9D17900EE7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58A25C-AC66-D62B-BF19-238680FD8277}"/>
              </a:ext>
            </a:extLst>
          </p:cNvPr>
          <p:cNvSpPr>
            <a:spLocks noGrp="1"/>
          </p:cNvSpPr>
          <p:nvPr>
            <p:ph type="sldNum" sz="quarter" idx="5"/>
          </p:nvPr>
        </p:nvSpPr>
        <p:spPr/>
        <p:txBody>
          <a:bodyPr/>
          <a:lstStyle/>
          <a:p>
            <a:fld id="{29D34F52-26D3-BF48-A669-2D8603943452}" type="slidenum">
              <a:rPr lang="en-US" smtClean="0"/>
              <a:t>24</a:t>
            </a:fld>
            <a:endParaRPr lang="en-US"/>
          </a:p>
        </p:txBody>
      </p:sp>
    </p:spTree>
    <p:extLst>
      <p:ext uri="{BB962C8B-B14F-4D97-AF65-F5344CB8AC3E}">
        <p14:creationId xmlns:p14="http://schemas.microsoft.com/office/powerpoint/2010/main" val="2585257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481E-FDDF-9BF3-1D64-01BD547FA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6A67-3FF0-E264-FCBB-ECD77984B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FADC4-D00B-2FA6-A3AA-A48A9655DD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144EB-DEC6-B2FA-D3D2-661E4EA2DFC0}"/>
              </a:ext>
            </a:extLst>
          </p:cNvPr>
          <p:cNvSpPr>
            <a:spLocks noGrp="1"/>
          </p:cNvSpPr>
          <p:nvPr>
            <p:ph type="sldNum" sz="quarter" idx="5"/>
          </p:nvPr>
        </p:nvSpPr>
        <p:spPr/>
        <p:txBody>
          <a:bodyPr/>
          <a:lstStyle/>
          <a:p>
            <a:fld id="{29D34F52-26D3-BF48-A669-2D8603943452}" type="slidenum">
              <a:rPr lang="en-US" smtClean="0"/>
              <a:t>25</a:t>
            </a:fld>
            <a:endParaRPr lang="en-US"/>
          </a:p>
        </p:txBody>
      </p:sp>
    </p:spTree>
    <p:extLst>
      <p:ext uri="{BB962C8B-B14F-4D97-AF65-F5344CB8AC3E}">
        <p14:creationId xmlns:p14="http://schemas.microsoft.com/office/powerpoint/2010/main" val="1638893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2201-C332-FE0C-4C69-802967CE2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2C8F5-4E44-9C3C-80BB-62D62489C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9D79-CA3B-9FFE-01A7-05685E6D37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0B7283-EA02-D8E5-3160-8322A2CA7178}"/>
              </a:ext>
            </a:extLst>
          </p:cNvPr>
          <p:cNvSpPr>
            <a:spLocks noGrp="1"/>
          </p:cNvSpPr>
          <p:nvPr>
            <p:ph type="sldNum" sz="quarter" idx="5"/>
          </p:nvPr>
        </p:nvSpPr>
        <p:spPr/>
        <p:txBody>
          <a:bodyPr/>
          <a:lstStyle/>
          <a:p>
            <a:fld id="{29D34F52-26D3-BF48-A669-2D8603943452}" type="slidenum">
              <a:rPr lang="en-US" smtClean="0"/>
              <a:t>26</a:t>
            </a:fld>
            <a:endParaRPr lang="en-US"/>
          </a:p>
        </p:txBody>
      </p:sp>
    </p:spTree>
    <p:extLst>
      <p:ext uri="{BB962C8B-B14F-4D97-AF65-F5344CB8AC3E}">
        <p14:creationId xmlns:p14="http://schemas.microsoft.com/office/powerpoint/2010/main" val="3003775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68DF1-230A-40AF-B582-276B8FEF2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8AE76-9D6E-72AC-3537-DFE316199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9ABBE-5C96-B846-A535-BC3502CD38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0C2F1A-473F-067D-0215-64754639233F}"/>
              </a:ext>
            </a:extLst>
          </p:cNvPr>
          <p:cNvSpPr>
            <a:spLocks noGrp="1"/>
          </p:cNvSpPr>
          <p:nvPr>
            <p:ph type="sldNum" sz="quarter" idx="5"/>
          </p:nvPr>
        </p:nvSpPr>
        <p:spPr/>
        <p:txBody>
          <a:bodyPr/>
          <a:lstStyle/>
          <a:p>
            <a:fld id="{29D34F52-26D3-BF48-A669-2D8603943452}" type="slidenum">
              <a:rPr lang="en-US" smtClean="0"/>
              <a:t>27</a:t>
            </a:fld>
            <a:endParaRPr lang="en-US"/>
          </a:p>
        </p:txBody>
      </p:sp>
    </p:spTree>
    <p:extLst>
      <p:ext uri="{BB962C8B-B14F-4D97-AF65-F5344CB8AC3E}">
        <p14:creationId xmlns:p14="http://schemas.microsoft.com/office/powerpoint/2010/main" val="27674441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0481E-FDDF-9BF3-1D64-01BD547FA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6A67-3FF0-E264-FCBB-ECD77984B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FADC4-D00B-2FA6-A3AA-A48A9655DD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6144EB-DEC6-B2FA-D3D2-661E4EA2DFC0}"/>
              </a:ext>
            </a:extLst>
          </p:cNvPr>
          <p:cNvSpPr>
            <a:spLocks noGrp="1"/>
          </p:cNvSpPr>
          <p:nvPr>
            <p:ph type="sldNum" sz="quarter" idx="5"/>
          </p:nvPr>
        </p:nvSpPr>
        <p:spPr/>
        <p:txBody>
          <a:bodyPr/>
          <a:lstStyle/>
          <a:p>
            <a:fld id="{29D34F52-26D3-BF48-A669-2D8603943452}" type="slidenum">
              <a:rPr lang="en-US" smtClean="0"/>
              <a:t>29</a:t>
            </a:fld>
            <a:endParaRPr lang="en-US"/>
          </a:p>
        </p:txBody>
      </p:sp>
    </p:spTree>
    <p:extLst>
      <p:ext uri="{BB962C8B-B14F-4D97-AF65-F5344CB8AC3E}">
        <p14:creationId xmlns:p14="http://schemas.microsoft.com/office/powerpoint/2010/main" val="1638893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2201-C332-FE0C-4C69-802967CE2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2C8F5-4E44-9C3C-80BB-62D62489C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9D79-CA3B-9FFE-01A7-05685E6D37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0B7283-EA02-D8E5-3160-8322A2CA7178}"/>
              </a:ext>
            </a:extLst>
          </p:cNvPr>
          <p:cNvSpPr>
            <a:spLocks noGrp="1"/>
          </p:cNvSpPr>
          <p:nvPr>
            <p:ph type="sldNum" sz="quarter" idx="5"/>
          </p:nvPr>
        </p:nvSpPr>
        <p:spPr/>
        <p:txBody>
          <a:bodyPr/>
          <a:lstStyle/>
          <a:p>
            <a:fld id="{29D34F52-26D3-BF48-A669-2D8603943452}" type="slidenum">
              <a:rPr lang="en-US" smtClean="0"/>
              <a:t>30</a:t>
            </a:fld>
            <a:endParaRPr lang="en-US"/>
          </a:p>
        </p:txBody>
      </p:sp>
    </p:spTree>
    <p:extLst>
      <p:ext uri="{BB962C8B-B14F-4D97-AF65-F5344CB8AC3E}">
        <p14:creationId xmlns:p14="http://schemas.microsoft.com/office/powerpoint/2010/main" val="3003775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25C71-685C-99CF-0F99-72AAE7858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7A896-CF6D-003D-E13C-68CCF2C62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0E844-2F64-F075-58E4-C7A4ED8628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B6E6AC-EBF4-10FC-615F-C71C3CD25B4B}"/>
              </a:ext>
            </a:extLst>
          </p:cNvPr>
          <p:cNvSpPr>
            <a:spLocks noGrp="1"/>
          </p:cNvSpPr>
          <p:nvPr>
            <p:ph type="sldNum" sz="quarter" idx="5"/>
          </p:nvPr>
        </p:nvSpPr>
        <p:spPr/>
        <p:txBody>
          <a:bodyPr/>
          <a:lstStyle/>
          <a:p>
            <a:fld id="{29D34F52-26D3-BF48-A669-2D8603943452}" type="slidenum">
              <a:rPr lang="en-US" smtClean="0"/>
              <a:t>32</a:t>
            </a:fld>
            <a:endParaRPr lang="en-US"/>
          </a:p>
        </p:txBody>
      </p:sp>
    </p:spTree>
    <p:extLst>
      <p:ext uri="{BB962C8B-B14F-4D97-AF65-F5344CB8AC3E}">
        <p14:creationId xmlns:p14="http://schemas.microsoft.com/office/powerpoint/2010/main" val="3832652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59CF-5103-97F5-E5C8-D9C8C2F3F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CC0C4-00B0-A0B3-D7E3-5CDAD670F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C9681-4380-2772-B7CA-045F4A4CAB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F81AF5-B7E6-AB5B-2C02-FFED0FDC6DC1}"/>
              </a:ext>
            </a:extLst>
          </p:cNvPr>
          <p:cNvSpPr>
            <a:spLocks noGrp="1"/>
          </p:cNvSpPr>
          <p:nvPr>
            <p:ph type="sldNum" sz="quarter" idx="5"/>
          </p:nvPr>
        </p:nvSpPr>
        <p:spPr/>
        <p:txBody>
          <a:bodyPr/>
          <a:lstStyle/>
          <a:p>
            <a:fld id="{29D34F52-26D3-BF48-A669-2D8603943452}" type="slidenum">
              <a:rPr lang="en-US" smtClean="0"/>
              <a:t>33</a:t>
            </a:fld>
            <a:endParaRPr lang="en-US"/>
          </a:p>
        </p:txBody>
      </p:sp>
    </p:spTree>
    <p:extLst>
      <p:ext uri="{BB962C8B-B14F-4D97-AF65-F5344CB8AC3E}">
        <p14:creationId xmlns:p14="http://schemas.microsoft.com/office/powerpoint/2010/main" val="202852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C71E-9F22-8E14-85F4-8FA2A7959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A650C-A7D7-1554-6327-5DD45DCDB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1E4AE-022A-8BC0-A6A8-8535D4D171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CBE600-FBCD-F143-0388-679725766432}"/>
              </a:ext>
            </a:extLst>
          </p:cNvPr>
          <p:cNvSpPr>
            <a:spLocks noGrp="1"/>
          </p:cNvSpPr>
          <p:nvPr>
            <p:ph type="sldNum" sz="quarter" idx="5"/>
          </p:nvPr>
        </p:nvSpPr>
        <p:spPr/>
        <p:txBody>
          <a:bodyPr/>
          <a:lstStyle/>
          <a:p>
            <a:fld id="{29D34F52-26D3-BF48-A669-2D8603943452}" type="slidenum">
              <a:rPr lang="en-US" smtClean="0"/>
              <a:t>35</a:t>
            </a:fld>
            <a:endParaRPr lang="en-US"/>
          </a:p>
        </p:txBody>
      </p:sp>
    </p:spTree>
    <p:extLst>
      <p:ext uri="{BB962C8B-B14F-4D97-AF65-F5344CB8AC3E}">
        <p14:creationId xmlns:p14="http://schemas.microsoft.com/office/powerpoint/2010/main" val="3060922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483D6-A672-1B92-FC77-8B4949D00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A1760-E3F9-47F0-FD7C-1941C384B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8DB14-4E5A-E01A-3F42-47CF2D687B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6E6350-458A-7B8F-3377-51385D642A10}"/>
              </a:ext>
            </a:extLst>
          </p:cNvPr>
          <p:cNvSpPr>
            <a:spLocks noGrp="1"/>
          </p:cNvSpPr>
          <p:nvPr>
            <p:ph type="sldNum" sz="quarter" idx="5"/>
          </p:nvPr>
        </p:nvSpPr>
        <p:spPr/>
        <p:txBody>
          <a:bodyPr/>
          <a:lstStyle/>
          <a:p>
            <a:fld id="{29D34F52-26D3-BF48-A669-2D8603943452}" type="slidenum">
              <a:rPr lang="en-US" smtClean="0"/>
              <a:t>36</a:t>
            </a:fld>
            <a:endParaRPr lang="en-US"/>
          </a:p>
        </p:txBody>
      </p:sp>
    </p:spTree>
    <p:extLst>
      <p:ext uri="{BB962C8B-B14F-4D97-AF65-F5344CB8AC3E}">
        <p14:creationId xmlns:p14="http://schemas.microsoft.com/office/powerpoint/2010/main" val="38723613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39F0-0F9E-A643-B0EB-AD043A14D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E1351-7FA8-18C7-9585-6A256B044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F00F1-B14A-05F8-3DD4-4E47E3E2A1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4AD23A-DCA9-3143-7B86-F8605240BC50}"/>
              </a:ext>
            </a:extLst>
          </p:cNvPr>
          <p:cNvSpPr>
            <a:spLocks noGrp="1"/>
          </p:cNvSpPr>
          <p:nvPr>
            <p:ph type="sldNum" sz="quarter" idx="5"/>
          </p:nvPr>
        </p:nvSpPr>
        <p:spPr/>
        <p:txBody>
          <a:bodyPr/>
          <a:lstStyle/>
          <a:p>
            <a:fld id="{29D34F52-26D3-BF48-A669-2D8603943452}" type="slidenum">
              <a:rPr lang="en-US" smtClean="0"/>
              <a:t>38</a:t>
            </a:fld>
            <a:endParaRPr lang="en-US"/>
          </a:p>
        </p:txBody>
      </p:sp>
    </p:spTree>
    <p:extLst>
      <p:ext uri="{BB962C8B-B14F-4D97-AF65-F5344CB8AC3E}">
        <p14:creationId xmlns:p14="http://schemas.microsoft.com/office/powerpoint/2010/main" val="3169568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44422-278D-38FB-DE97-E22D1DB5D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E41EAB91-427D-CAA3-8C19-CA406086F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98F37CA5-3DD7-1884-B7F3-AFDB7470DB25}"/>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07E9B1C6-D225-67BF-45F6-F08A346242D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A6E9E22-9297-CD30-9EDA-30F20D01E95D}"/>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677373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4651-5411-4994-C84C-33DB6F7A2583}"/>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843D9C1-BE08-13E9-E461-FAAD025869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D84F5C6-274B-40BE-5EFD-CDAB14553DEF}"/>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A5B5312D-05E2-2BBA-9EE8-20897F0E332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79E6DE9-9230-3907-8331-53B0533E7290}"/>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93633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4D06-51FD-6092-9C03-DFB8A14184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808A5B51-D06B-F63E-C494-C15AFE5F0F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EE734E-DAEF-425A-EF60-546AC0CFFD48}"/>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585AC1E7-1BCA-0FEC-FF4F-458CE501D1A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61C6164-B1F8-E937-4ECA-BDA64A1E041E}"/>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608421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117FC-2F41-0EF7-5B99-2DBC1A90F08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A1593CA-DDD6-5180-D71C-58BA3FBA37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66E313AC-3B53-3EDC-33AE-C27EA6B9F1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B9A9B202-FF0F-000B-A9B3-052EFD086FF3}"/>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6" name="Footer Placeholder 5">
            <a:extLst>
              <a:ext uri="{FF2B5EF4-FFF2-40B4-BE49-F238E27FC236}">
                <a16:creationId xmlns:a16="http://schemas.microsoft.com/office/drawing/2014/main" id="{8D1C8583-58D3-6368-2247-2F7D00E6974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F27B462B-EBBB-AA3C-E438-83D79B39DD38}"/>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327754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5CDB-A2C8-D637-578F-34B6705E45B7}"/>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1F9FCA5E-05FA-6CBE-6E8D-D521B42CC4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D1761D-CB49-BFD3-3223-2DA3EC1FB6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CA5B8843-1B4A-B3B7-7604-904ABD2CB2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FEDA69-DA2B-D671-D5C2-87E1051403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13A55B53-CC99-8B93-E7BD-2A9FE0617E89}"/>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8" name="Footer Placeholder 7">
            <a:extLst>
              <a:ext uri="{FF2B5EF4-FFF2-40B4-BE49-F238E27FC236}">
                <a16:creationId xmlns:a16="http://schemas.microsoft.com/office/drawing/2014/main" id="{8533EC4E-8B36-CFBE-8C9E-4D51FC9F79BD}"/>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9F82ECBB-2126-62E8-7D71-154A0955E8FE}"/>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609057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C297-CBDE-4D5F-C814-CF8F6E662EA8}"/>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56C36122-06A7-BC26-2BE2-700EFE5F131B}"/>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4" name="Footer Placeholder 3">
            <a:extLst>
              <a:ext uri="{FF2B5EF4-FFF2-40B4-BE49-F238E27FC236}">
                <a16:creationId xmlns:a16="http://schemas.microsoft.com/office/drawing/2014/main" id="{24D87CAC-B5B9-8DBA-411C-35D0845D2C6B}"/>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6C684D80-BA8B-84EA-DC28-401EC82135F8}"/>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1613405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6C49B5-C34D-7C27-F40F-78E2D17E34D9}"/>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3" name="Footer Placeholder 2">
            <a:extLst>
              <a:ext uri="{FF2B5EF4-FFF2-40B4-BE49-F238E27FC236}">
                <a16:creationId xmlns:a16="http://schemas.microsoft.com/office/drawing/2014/main" id="{EAACDCFA-4A55-4E2D-9CFA-11C4E1BCA638}"/>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168E2559-1114-5E77-E7D3-EA4F866750B2}"/>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428494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A33F-49E7-14AA-1917-DEC2933D4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5ACFE43D-8AB7-5833-2AAA-D74A82C128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ECE1F2D4-70FB-A1A4-354A-C99BEBEC8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DA87A9-B80A-53E6-8182-B1166D3A1E85}"/>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6" name="Footer Placeholder 5">
            <a:extLst>
              <a:ext uri="{FF2B5EF4-FFF2-40B4-BE49-F238E27FC236}">
                <a16:creationId xmlns:a16="http://schemas.microsoft.com/office/drawing/2014/main" id="{FB6962D9-0C69-6902-E96D-406DB5B2F5C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1A409FC-41FC-3B2F-5B6B-A7706882E9A7}"/>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007969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C837A-D206-51C7-D416-64E696918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47531AB3-867F-5FE8-FEF2-A3048C3B2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07504275-FC61-4E58-4159-92346269CC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22B262-F3AD-35AF-829E-3A2DCDA161EF}"/>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6" name="Footer Placeholder 5">
            <a:extLst>
              <a:ext uri="{FF2B5EF4-FFF2-40B4-BE49-F238E27FC236}">
                <a16:creationId xmlns:a16="http://schemas.microsoft.com/office/drawing/2014/main" id="{15D54EFD-4666-12D6-C377-9962DD7DC81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67950EA-3476-BFD8-C6A0-6D2BFAD112A7}"/>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940984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4FE9-575F-8B1D-183D-CF2B65C5FB36}"/>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0B96E5B0-44DB-F2AB-7746-C2EFB5B5A2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1BBD0D8-BA6A-929C-4BFC-A345CC7F0084}"/>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99A126F5-E6DA-7E78-B90D-1A5E3DAD025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E94C50E-47AB-C2E6-4668-369BF639A58B}"/>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256698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C7F736-5C7D-F0B8-2599-3446D976C9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87CE56F9-6803-3270-99EA-8A8A635CAF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5DCF644-C440-7C15-B34D-627B63458A31}"/>
              </a:ext>
            </a:extLst>
          </p:cNvPr>
          <p:cNvSpPr>
            <a:spLocks noGrp="1"/>
          </p:cNvSpPr>
          <p:nvPr>
            <p:ph type="dt" sz="half" idx="10"/>
          </p:nvPr>
        </p:nvSpPr>
        <p:spPr/>
        <p:txBody>
          <a:body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2E1A7818-58C0-655A-BCDA-597F12F46BD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1B7ECD3-3D94-A6CD-A82F-6748EA8DE085}"/>
              </a:ext>
            </a:extLst>
          </p:cNvPr>
          <p:cNvSpPr>
            <a:spLocks noGrp="1"/>
          </p:cNvSpPr>
          <p:nvPr>
            <p:ph type="sldNum" sz="quarter" idx="12"/>
          </p:nvPr>
        </p:nvSpPr>
        <p:spPr/>
        <p:txBody>
          <a:bodyPr/>
          <a:lstStyle/>
          <a:p>
            <a:fld id="{5D5FC7D8-117D-4147-9C47-FDB549BE0BA8}" type="slidenum">
              <a:rPr lang="en-ID" smtClean="0"/>
              <a:t>‹#›</a:t>
            </a:fld>
            <a:endParaRPr lang="en-ID"/>
          </a:p>
        </p:txBody>
      </p:sp>
    </p:spTree>
    <p:extLst>
      <p:ext uri="{BB962C8B-B14F-4D97-AF65-F5344CB8AC3E}">
        <p14:creationId xmlns:p14="http://schemas.microsoft.com/office/powerpoint/2010/main" val="72415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249A2-23CA-2A5F-A08B-22D39A79E1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3A55B717-1AAF-2089-4532-A60AE6647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B0E35A14-D354-F79E-60CC-8A34A23E2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FCD06A-A8E6-4A01-A8C6-AB1C4D521A1B}" type="datetimeFigureOut">
              <a:rPr lang="en-ID" smtClean="0"/>
              <a:t>27/06/2026</a:t>
            </a:fld>
            <a:endParaRPr lang="en-ID"/>
          </a:p>
        </p:txBody>
      </p:sp>
      <p:sp>
        <p:nvSpPr>
          <p:cNvPr id="5" name="Footer Placeholder 4">
            <a:extLst>
              <a:ext uri="{FF2B5EF4-FFF2-40B4-BE49-F238E27FC236}">
                <a16:creationId xmlns:a16="http://schemas.microsoft.com/office/drawing/2014/main" id="{ECB8B38A-5BF1-DE0C-7C8E-B234B4F394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3DCF33A9-14CD-10BE-0D10-17B62FE995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5FC7D8-117D-4147-9C47-FDB549BE0BA8}" type="slidenum">
              <a:rPr lang="en-ID" smtClean="0"/>
              <a:t>‹#›</a:t>
            </a:fld>
            <a:endParaRPr lang="en-ID"/>
          </a:p>
        </p:txBody>
      </p:sp>
    </p:spTree>
    <p:extLst>
      <p:ext uri="{BB962C8B-B14F-4D97-AF65-F5344CB8AC3E}">
        <p14:creationId xmlns:p14="http://schemas.microsoft.com/office/powerpoint/2010/main" val="1525323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hart" Target="../charts/chart8.xml"/><Relationship Id="rId3" Type="http://schemas.openxmlformats.org/officeDocument/2006/relationships/image" Target="../media/image3.png"/><Relationship Id="rId7" Type="http://schemas.openxmlformats.org/officeDocument/2006/relationships/image" Target="../media/image15.jpeg"/><Relationship Id="rId12" Type="http://schemas.openxmlformats.org/officeDocument/2006/relationships/chart" Target="../charts/chart7.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chart" Target="../charts/chart6.xml"/><Relationship Id="rId5" Type="http://schemas.openxmlformats.org/officeDocument/2006/relationships/image" Target="../media/image4.png"/><Relationship Id="rId10" Type="http://schemas.openxmlformats.org/officeDocument/2006/relationships/chart" Target="../charts/chart5.xml"/><Relationship Id="rId4" Type="http://schemas.openxmlformats.org/officeDocument/2006/relationships/image" Target="../media/image2.png"/><Relationship Id="rId9" Type="http://schemas.openxmlformats.org/officeDocument/2006/relationships/image" Target="../media/image17.gif"/></Relationships>
</file>

<file path=ppt/slides/_rels/slide3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7.gif"/></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F21B86-E5F4-A78B-693C-71E17F9B9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7DF9DEE7-7B3B-DC72-DB89-FC3C4DF1BE52}"/>
              </a:ext>
            </a:extLst>
          </p:cNvPr>
          <p:cNvSpPr/>
          <p:nvPr/>
        </p:nvSpPr>
        <p:spPr>
          <a:xfrm>
            <a:off x="259075" y="1840243"/>
            <a:ext cx="11716269" cy="438144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356BA66D-6FF8-020B-B44E-4A8FA7580C60}"/>
              </a:ext>
            </a:extLst>
          </p:cNvPr>
          <p:cNvSpPr>
            <a:spLocks noGrp="1"/>
          </p:cNvSpPr>
          <p:nvPr>
            <p:ph type="ctrTitle"/>
          </p:nvPr>
        </p:nvSpPr>
        <p:spPr>
          <a:xfrm>
            <a:off x="553039" y="2585930"/>
            <a:ext cx="11202186" cy="2387600"/>
          </a:xfrm>
        </p:spPr>
        <p:txBody>
          <a:bodyPr>
            <a:normAutofit fontScale="90000"/>
          </a:bodyPr>
          <a:lstStyle/>
          <a:p>
            <a:pPr algn="l"/>
            <a:r>
              <a:rPr lang="en-US" dirty="0">
                <a:solidFill>
                  <a:schemeClr val="bg1"/>
                </a:solidFill>
                <a:latin typeface="Telegraf Bold" panose="020B0604020202020204" charset="0"/>
              </a:rPr>
              <a:t>JDS 2026 DRILLING CAMPAIGN</a:t>
            </a:r>
            <a:br>
              <a:rPr lang="en-US" dirty="0">
                <a:solidFill>
                  <a:schemeClr val="bg1"/>
                </a:solidFill>
                <a:latin typeface="Telegraf Bold" panose="020B0604020202020204" charset="0"/>
              </a:rPr>
            </a:br>
            <a:r>
              <a:rPr lang="en-US" dirty="0">
                <a:solidFill>
                  <a:schemeClr val="bg1"/>
                </a:solidFill>
                <a:latin typeface="Telegraf Bold" panose="020B0604020202020204" charset="0"/>
              </a:rPr>
              <a:t>SW (Single Well) DPM (Drilling Project Management) Phase-1: ALPHA-07</a:t>
            </a:r>
            <a:endParaRPr lang="en-ID" dirty="0">
              <a:solidFill>
                <a:schemeClr val="bg1"/>
              </a:solidFill>
              <a:latin typeface="Telegraf Bold" panose="020B0604020202020204" charset="0"/>
            </a:endParaRPr>
          </a:p>
        </p:txBody>
      </p:sp>
      <p:sp>
        <p:nvSpPr>
          <p:cNvPr id="3" name="Subtitle 2">
            <a:extLst>
              <a:ext uri="{FF2B5EF4-FFF2-40B4-BE49-F238E27FC236}">
                <a16:creationId xmlns:a16="http://schemas.microsoft.com/office/drawing/2014/main" id="{B468CB43-9086-987F-0C8A-B4B5F8455352}"/>
              </a:ext>
            </a:extLst>
          </p:cNvPr>
          <p:cNvSpPr>
            <a:spLocks noGrp="1"/>
          </p:cNvSpPr>
          <p:nvPr>
            <p:ph type="subTitle" idx="1"/>
          </p:nvPr>
        </p:nvSpPr>
        <p:spPr>
          <a:xfrm>
            <a:off x="553039" y="5092537"/>
            <a:ext cx="9144000" cy="1400175"/>
          </a:xfrm>
        </p:spPr>
        <p:txBody>
          <a:bodyPr/>
          <a:lstStyle/>
          <a:p>
            <a:pPr algn="l"/>
            <a:r>
              <a:rPr lang="en-US" b="1" dirty="0">
                <a:solidFill>
                  <a:schemeClr val="bg1"/>
                </a:solidFill>
                <a:latin typeface="Telegraf" panose="020B0604020202020204" charset="0"/>
              </a:rPr>
              <a:t>CORE ENERGY SOLUTION</a:t>
            </a:r>
          </a:p>
          <a:p>
            <a:pPr algn="l"/>
            <a:r>
              <a:rPr lang="en-US" b="1" dirty="0">
                <a:solidFill>
                  <a:schemeClr val="bg1"/>
                </a:solidFill>
                <a:latin typeface="Telegraf" panose="020B0604020202020204" charset="0"/>
              </a:rPr>
              <a:t>GROUP 6 ONLINE</a:t>
            </a:r>
            <a:endParaRPr lang="en-ID" b="1" dirty="0">
              <a:solidFill>
                <a:schemeClr val="bg1"/>
              </a:solidFill>
              <a:latin typeface="Telegraf" panose="020B0604020202020204" charset="0"/>
            </a:endParaRPr>
          </a:p>
        </p:txBody>
      </p:sp>
      <p:pic>
        <p:nvPicPr>
          <p:cNvPr id="9" name="Google Shape;40;p1" descr="Blue text and blue letters on a black background&#10;&#10;Description automatically generated">
            <a:extLst>
              <a:ext uri="{FF2B5EF4-FFF2-40B4-BE49-F238E27FC236}">
                <a16:creationId xmlns:a16="http://schemas.microsoft.com/office/drawing/2014/main" id="{92B2ED85-F54E-7FA3-0AF1-1516F8B12A48}"/>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10FB8FC1-A2F6-54B6-C989-180946C6C2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991115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26F2-A0C0-95F2-E583-3A183BEDA92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CB55F41-65FD-516D-F413-F88ED61D3E7B}"/>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MEET THE TEAM</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3C4B65AE-591E-BC45-9AEF-26742ACDA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86EE2195-98D9-8D99-E11B-E2ACACC63F0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5" name="Content Placeholder 2">
            <a:extLst>
              <a:ext uri="{FF2B5EF4-FFF2-40B4-BE49-F238E27FC236}">
                <a16:creationId xmlns:a16="http://schemas.microsoft.com/office/drawing/2014/main" id="{10E1811B-25E5-B9C8-137B-57339EEF4F33}"/>
              </a:ext>
            </a:extLst>
          </p:cNvPr>
          <p:cNvSpPr txBox="1">
            <a:spLocks/>
          </p:cNvSpPr>
          <p:nvPr/>
        </p:nvSpPr>
        <p:spPr>
          <a:xfrm>
            <a:off x="2249736" y="1243020"/>
            <a:ext cx="2065256" cy="29540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latin typeface="Telegraf" panose="020B0604020202020204"/>
              </a:rPr>
              <a:t>CORE ENERGY TEAMS</a:t>
            </a:r>
            <a:endParaRPr lang="en-ID" sz="1600" b="1" dirty="0">
              <a:latin typeface="Telegraf" panose="020B0604020202020204"/>
            </a:endParaRPr>
          </a:p>
        </p:txBody>
      </p:sp>
      <p:graphicFrame>
        <p:nvGraphicFramePr>
          <p:cNvPr id="56" name="Google Shape;50;p2">
            <a:extLst>
              <a:ext uri="{FF2B5EF4-FFF2-40B4-BE49-F238E27FC236}">
                <a16:creationId xmlns:a16="http://schemas.microsoft.com/office/drawing/2014/main" id="{28645AA1-BD38-AF77-9C84-007315939E8D}"/>
              </a:ext>
            </a:extLst>
          </p:cNvPr>
          <p:cNvGraphicFramePr/>
          <p:nvPr>
            <p:extLst>
              <p:ext uri="{D42A27DB-BD31-4B8C-83A1-F6EECF244321}">
                <p14:modId xmlns:p14="http://schemas.microsoft.com/office/powerpoint/2010/main" val="273089902"/>
              </p:ext>
            </p:extLst>
          </p:nvPr>
        </p:nvGraphicFramePr>
        <p:xfrm>
          <a:off x="842353" y="1538424"/>
          <a:ext cx="4880022" cy="450119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a:solidFill>
                            <a:schemeClr val="bg1"/>
                          </a:solidFill>
                          <a:latin typeface="Telegraf" panose="020B0604020202020204" charset="0"/>
                        </a:rPr>
                        <a:t>Abrar </a:t>
                      </a:r>
                      <a:r>
                        <a:rPr lang="en-US" sz="1600" u="none" strike="noStrike" cap="none" dirty="0" err="1">
                          <a:solidFill>
                            <a:schemeClr val="bg1"/>
                          </a:solidFill>
                          <a:latin typeface="Telegraf" panose="020B0604020202020204" charset="0"/>
                        </a:rPr>
                        <a:t>Laylramadhan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Project Manager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Asri </a:t>
                      </a:r>
                      <a:r>
                        <a:rPr lang="en-US" sz="1600" dirty="0" err="1">
                          <a:solidFill>
                            <a:schemeClr val="bg1"/>
                          </a:solidFill>
                          <a:latin typeface="Telegraf" panose="020B0604020202020204" charset="0"/>
                        </a:rPr>
                        <a:t>Permatasari</a:t>
                      </a:r>
                      <a:r>
                        <a:rPr lang="en-US" sz="1600" dirty="0">
                          <a:solidFill>
                            <a:schemeClr val="bg1"/>
                          </a:solidFill>
                          <a:latin typeface="Telegraf" panose="020B0604020202020204" charset="0"/>
                        </a:rPr>
                        <a:t> </a:t>
                      </a:r>
                      <a:r>
                        <a:rPr lang="en-US" sz="1600" dirty="0" err="1">
                          <a:solidFill>
                            <a:schemeClr val="bg1"/>
                          </a:solidFill>
                          <a:latin typeface="Telegraf" panose="020B0604020202020204" charset="0"/>
                        </a:rPr>
                        <a:t>Sirait</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Subsurface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29675699"/>
                  </a:ext>
                </a:extLst>
              </a:tr>
              <a:tr h="345475">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Abdi Surya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Subsurface</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408387554"/>
                  </a:ext>
                </a:extLst>
              </a:tr>
              <a:tr h="345475">
                <a:tc>
                  <a:txBody>
                    <a:bodyPr/>
                    <a:lstStyle/>
                    <a:p>
                      <a:pPr marL="0" marR="0" lvl="0" indent="0" algn="l" rtl="0">
                        <a:spcBef>
                          <a:spcPts val="0"/>
                        </a:spcBef>
                        <a:spcAft>
                          <a:spcPts val="0"/>
                        </a:spcAft>
                        <a:buNone/>
                      </a:pPr>
                      <a:r>
                        <a:rPr lang="en-ID" sz="1600" dirty="0" err="1">
                          <a:solidFill>
                            <a:schemeClr val="bg1"/>
                          </a:solidFill>
                          <a:latin typeface="Telegraf" panose="020B0604020202020204" charset="0"/>
                        </a:rPr>
                        <a:t>Adriansyah</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44693432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Nyoman Prema Ananda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51849831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Salman Arkan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Drilling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2979250523"/>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Shanaz Ivona Dewi </a:t>
                      </a:r>
                      <a:r>
                        <a:rPr lang="en-ID" sz="1600" dirty="0" err="1">
                          <a:solidFill>
                            <a:schemeClr val="bg1"/>
                          </a:solidFill>
                          <a:latin typeface="Telegraf" panose="020B0604020202020204" charset="0"/>
                        </a:rPr>
                        <a:t>Limaran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HSE Engineer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122849017"/>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Hana Malem Karina Panjaitan</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Project Contract &amp; Economist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945307726"/>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Muhammad Hammam Reza</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Project Contract &amp; Economist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3101712760"/>
                  </a:ext>
                </a:extLst>
              </a:tr>
              <a:tr h="345475">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Bernard Cavin </a:t>
                      </a:r>
                      <a:r>
                        <a:rPr lang="en-ID" sz="1600" dirty="0" err="1">
                          <a:solidFill>
                            <a:schemeClr val="bg1"/>
                          </a:solidFill>
                          <a:latin typeface="Telegraf" panose="020B0604020202020204" charset="0"/>
                        </a:rPr>
                        <a:t>Ronlei</a:t>
                      </a:r>
                      <a:r>
                        <a:rPr lang="en-ID" sz="1600" dirty="0">
                          <a:solidFill>
                            <a:schemeClr val="bg1"/>
                          </a:solidFill>
                          <a:latin typeface="Telegraf" panose="020B0604020202020204" charset="0"/>
                        </a:rPr>
                        <a:t> </a:t>
                      </a:r>
                      <a:r>
                        <a:rPr lang="en-ID" sz="1600" dirty="0" err="1">
                          <a:solidFill>
                            <a:schemeClr val="bg1"/>
                          </a:solidFill>
                          <a:latin typeface="Telegraf" panose="020B0604020202020204" charset="0"/>
                        </a:rPr>
                        <a:t>Sihombing</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ID" sz="1600" dirty="0">
                          <a:solidFill>
                            <a:schemeClr val="bg1"/>
                          </a:solidFill>
                          <a:latin typeface="Telegraf" panose="020B0604020202020204" charset="0"/>
                        </a:rPr>
                        <a:t>Logistic Coordinator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2825693962"/>
                  </a:ext>
                </a:extLst>
              </a:tr>
            </a:tbl>
          </a:graphicData>
        </a:graphic>
      </p:graphicFrame>
      <p:sp>
        <p:nvSpPr>
          <p:cNvPr id="6" name="Content Placeholder 2">
            <a:extLst>
              <a:ext uri="{FF2B5EF4-FFF2-40B4-BE49-F238E27FC236}">
                <a16:creationId xmlns:a16="http://schemas.microsoft.com/office/drawing/2014/main" id="{F1D7E220-54E5-041B-AAA4-9CB523A2F7D8}"/>
              </a:ext>
            </a:extLst>
          </p:cNvPr>
          <p:cNvSpPr txBox="1">
            <a:spLocks/>
          </p:cNvSpPr>
          <p:nvPr/>
        </p:nvSpPr>
        <p:spPr>
          <a:xfrm>
            <a:off x="7833674" y="2759684"/>
            <a:ext cx="2065256" cy="2954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latin typeface="Telegraf" panose="020B0604020202020204"/>
              </a:rPr>
              <a:t>Mentors</a:t>
            </a:r>
            <a:endParaRPr lang="en-ID" sz="1600" b="1" dirty="0">
              <a:latin typeface="Telegraf" panose="020B0604020202020204"/>
            </a:endParaRPr>
          </a:p>
        </p:txBody>
      </p:sp>
      <p:graphicFrame>
        <p:nvGraphicFramePr>
          <p:cNvPr id="7" name="Google Shape;50;p2">
            <a:extLst>
              <a:ext uri="{FF2B5EF4-FFF2-40B4-BE49-F238E27FC236}">
                <a16:creationId xmlns:a16="http://schemas.microsoft.com/office/drawing/2014/main" id="{652A2016-EB18-8474-511B-C60CCBE31666}"/>
              </a:ext>
            </a:extLst>
          </p:cNvPr>
          <p:cNvGraphicFramePr/>
          <p:nvPr>
            <p:extLst>
              <p:ext uri="{D42A27DB-BD31-4B8C-83A1-F6EECF244321}">
                <p14:modId xmlns:p14="http://schemas.microsoft.com/office/powerpoint/2010/main" val="3915935611"/>
              </p:ext>
            </p:extLst>
          </p:nvPr>
        </p:nvGraphicFramePr>
        <p:xfrm>
          <a:off x="6426291" y="3055090"/>
          <a:ext cx="4880022" cy="690950"/>
        </p:xfrm>
        <a:graphic>
          <a:graphicData uri="http://schemas.openxmlformats.org/drawingml/2006/table">
            <a:tbl>
              <a:tblPr firstRow="1" bandRow="1">
                <a:tableStyleId>{D113A9D2-9D6B-4929-AA2D-F23B5EE8CBE7}</a:tableStyleId>
              </a:tblPr>
              <a:tblGrid>
                <a:gridCol w="2598938">
                  <a:extLst>
                    <a:ext uri="{9D8B030D-6E8A-4147-A177-3AD203B41FA5}">
                      <a16:colId xmlns:a16="http://schemas.microsoft.com/office/drawing/2014/main" val="20000"/>
                    </a:ext>
                  </a:extLst>
                </a:gridCol>
                <a:gridCol w="2281084">
                  <a:extLst>
                    <a:ext uri="{9D8B030D-6E8A-4147-A177-3AD203B41FA5}">
                      <a16:colId xmlns:a16="http://schemas.microsoft.com/office/drawing/2014/main" val="20001"/>
                    </a:ext>
                  </a:extLst>
                </a:gridCol>
              </a:tblGrid>
              <a:tr h="345475">
                <a:tc>
                  <a:txBody>
                    <a:bodyPr/>
                    <a:lstStyle/>
                    <a:p>
                      <a:pPr marL="0" marR="0" lvl="0" indent="0" algn="ctr" rtl="0">
                        <a:spcBef>
                          <a:spcPts val="0"/>
                        </a:spcBef>
                        <a:spcAft>
                          <a:spcPts val="0"/>
                        </a:spcAft>
                        <a:buNone/>
                      </a:pPr>
                      <a:r>
                        <a:rPr lang="en-US" sz="1600" u="none" strike="noStrike" cap="none">
                          <a:solidFill>
                            <a:schemeClr val="bg1"/>
                          </a:solidFill>
                          <a:latin typeface="Telegraf" panose="020B0604020202020204" charset="0"/>
                        </a:rPr>
                        <a:t>Name</a:t>
                      </a:r>
                      <a:endParaRPr sz="1600">
                        <a:solidFill>
                          <a:schemeClr val="bg1"/>
                        </a:solidFill>
                        <a:latin typeface="Telegraf" panose="020B0604020202020204" charset="0"/>
                      </a:endParaRPr>
                    </a:p>
                  </a:txBody>
                  <a:tcPr marL="98525" marR="98525" marT="45725" marB="45725" anchor="ctr"/>
                </a:tc>
                <a:tc>
                  <a:txBody>
                    <a:bodyPr/>
                    <a:lstStyle/>
                    <a:p>
                      <a:pPr marL="0" marR="0" lvl="0" indent="0" algn="ctr" rtl="0">
                        <a:spcBef>
                          <a:spcPts val="0"/>
                        </a:spcBef>
                        <a:spcAft>
                          <a:spcPts val="0"/>
                        </a:spcAft>
                        <a:buNone/>
                      </a:pPr>
                      <a:r>
                        <a:rPr lang="en-US" sz="1600" u="none" strike="noStrike" cap="none" dirty="0">
                          <a:solidFill>
                            <a:schemeClr val="bg1"/>
                          </a:solidFill>
                          <a:latin typeface="Telegraf" panose="020B0604020202020204" charset="0"/>
                        </a:rPr>
                        <a:t>Role in Project</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0"/>
                  </a:ext>
                </a:extLst>
              </a:tr>
              <a:tr h="345475">
                <a:tc>
                  <a:txBody>
                    <a:bodyPr/>
                    <a:lstStyle/>
                    <a:p>
                      <a:pPr marL="0" marR="0" lvl="0" indent="0" algn="l" rtl="0">
                        <a:spcBef>
                          <a:spcPts val="0"/>
                        </a:spcBef>
                        <a:spcAft>
                          <a:spcPts val="0"/>
                        </a:spcAft>
                        <a:buNone/>
                      </a:pPr>
                      <a:r>
                        <a:rPr lang="en-US" sz="1600" u="none" strike="noStrike" cap="none" dirty="0" err="1">
                          <a:solidFill>
                            <a:schemeClr val="bg1"/>
                          </a:solidFill>
                          <a:latin typeface="Telegraf" panose="020B0604020202020204" charset="0"/>
                        </a:rPr>
                        <a:t>Abilati</a:t>
                      </a:r>
                      <a:r>
                        <a:rPr lang="en-US" sz="1600" u="none" strike="noStrike" cap="none" dirty="0">
                          <a:solidFill>
                            <a:schemeClr val="bg1"/>
                          </a:solidFill>
                          <a:latin typeface="Telegraf" panose="020B0604020202020204" charset="0"/>
                        </a:rPr>
                        <a:t> </a:t>
                      </a:r>
                      <a:r>
                        <a:rPr lang="en-US" sz="1600" u="none" strike="noStrike" cap="none" dirty="0" err="1">
                          <a:solidFill>
                            <a:schemeClr val="bg1"/>
                          </a:solidFill>
                          <a:latin typeface="Telegraf" panose="020B0604020202020204" charset="0"/>
                        </a:rPr>
                        <a:t>Monikha</a:t>
                      </a:r>
                      <a:r>
                        <a:rPr lang="en-US" sz="1600" u="none" strike="noStrike" cap="none" dirty="0">
                          <a:solidFill>
                            <a:schemeClr val="bg1"/>
                          </a:solidFill>
                          <a:latin typeface="Telegraf" panose="020B0604020202020204" charset="0"/>
                        </a:rPr>
                        <a:t> Wulandari</a:t>
                      </a:r>
                      <a:endParaRPr sz="1600" dirty="0">
                        <a:solidFill>
                          <a:schemeClr val="bg1"/>
                        </a:solidFill>
                        <a:latin typeface="Telegraf" panose="020B0604020202020204" charset="0"/>
                      </a:endParaRPr>
                    </a:p>
                  </a:txBody>
                  <a:tcPr marL="98525" marR="98525" marT="45725" marB="45725" anchor="ctr"/>
                </a:tc>
                <a:tc>
                  <a:txBody>
                    <a:bodyPr/>
                    <a:lstStyle/>
                    <a:p>
                      <a:pPr marL="0" marR="0" lvl="0" indent="0" algn="l" rtl="0">
                        <a:spcBef>
                          <a:spcPts val="0"/>
                        </a:spcBef>
                        <a:spcAft>
                          <a:spcPts val="0"/>
                        </a:spcAft>
                        <a:buNone/>
                      </a:pPr>
                      <a:r>
                        <a:rPr lang="en-US" sz="1600" dirty="0">
                          <a:solidFill>
                            <a:schemeClr val="bg1"/>
                          </a:solidFill>
                          <a:latin typeface="Telegraf" panose="020B0604020202020204" charset="0"/>
                        </a:rPr>
                        <a:t>Mentor</a:t>
                      </a:r>
                      <a:endParaRPr sz="1600" dirty="0">
                        <a:solidFill>
                          <a:schemeClr val="bg1"/>
                        </a:solidFill>
                        <a:latin typeface="Telegraf" panose="020B0604020202020204" charset="0"/>
                      </a:endParaRPr>
                    </a:p>
                  </a:txBody>
                  <a:tcPr marL="98525" marR="98525" marT="45725" marB="45725"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0737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880C-666A-D172-341F-AC36CBF3B825}"/>
            </a:ext>
          </a:extLst>
        </p:cNvPr>
        <p:cNvGrpSpPr/>
        <p:nvPr/>
      </p:nvGrpSpPr>
      <p:grpSpPr>
        <a:xfrm>
          <a:off x="0" y="0"/>
          <a:ext cx="0" cy="0"/>
          <a:chOff x="0" y="0"/>
          <a:chExt cx="0" cy="0"/>
        </a:xfrm>
      </p:grpSpPr>
      <p:sp>
        <p:nvSpPr>
          <p:cNvPr id="42" name="Freeform 6">
            <a:extLst>
              <a:ext uri="{FF2B5EF4-FFF2-40B4-BE49-F238E27FC236}">
                <a16:creationId xmlns:a16="http://schemas.microsoft.com/office/drawing/2014/main" id="{D44BDAD6-657D-21B2-3EAB-923A0B2EF9CA}"/>
              </a:ext>
            </a:extLst>
          </p:cNvPr>
          <p:cNvSpPr/>
          <p:nvPr/>
        </p:nvSpPr>
        <p:spPr>
          <a:xfrm rot="4409884" flipV="1">
            <a:off x="9366209" y="1644209"/>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en-ID"/>
          </a:p>
        </p:txBody>
      </p:sp>
      <p:sp>
        <p:nvSpPr>
          <p:cNvPr id="2" name="Arrow: Pentagon 1">
            <a:extLst>
              <a:ext uri="{FF2B5EF4-FFF2-40B4-BE49-F238E27FC236}">
                <a16:creationId xmlns:a16="http://schemas.microsoft.com/office/drawing/2014/main" id="{138ED789-5790-A8E6-FE9F-4AAF497A99D8}"/>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OUTLINE</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7CB27D75-0F5C-8CF7-9458-75107C503E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C5B679C7-F0E3-EEB7-3980-82BCA89B1012}"/>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grpSp>
        <p:nvGrpSpPr>
          <p:cNvPr id="11" name="Google Shape;70;p3">
            <a:extLst>
              <a:ext uri="{FF2B5EF4-FFF2-40B4-BE49-F238E27FC236}">
                <a16:creationId xmlns:a16="http://schemas.microsoft.com/office/drawing/2014/main" id="{5DA78E60-5490-3F15-D1C7-643F227431B3}"/>
              </a:ext>
            </a:extLst>
          </p:cNvPr>
          <p:cNvGrpSpPr/>
          <p:nvPr/>
        </p:nvGrpSpPr>
        <p:grpSpPr>
          <a:xfrm>
            <a:off x="320815" y="1249202"/>
            <a:ext cx="10921104" cy="529712"/>
            <a:chOff x="635448" y="1396610"/>
            <a:chExt cx="10921104" cy="529712"/>
          </a:xfrm>
        </p:grpSpPr>
        <p:sp>
          <p:nvSpPr>
            <p:cNvPr id="12" name="Google Shape;71;p3">
              <a:extLst>
                <a:ext uri="{FF2B5EF4-FFF2-40B4-BE49-F238E27FC236}">
                  <a16:creationId xmlns:a16="http://schemas.microsoft.com/office/drawing/2014/main" id="{61111B1A-049B-D480-472F-33A6A6DE5828}"/>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3" name="Google Shape;72;p3">
              <a:extLst>
                <a:ext uri="{FF2B5EF4-FFF2-40B4-BE49-F238E27FC236}">
                  <a16:creationId xmlns:a16="http://schemas.microsoft.com/office/drawing/2014/main" id="{C40914A1-B75F-89CC-E4F1-241CE9EE6E41}"/>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4" name="Google Shape;73;p3">
              <a:extLst>
                <a:ext uri="{FF2B5EF4-FFF2-40B4-BE49-F238E27FC236}">
                  <a16:creationId xmlns:a16="http://schemas.microsoft.com/office/drawing/2014/main" id="{255DC3A7-C9AA-C395-6573-FBDF3A31C196}"/>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1</a:t>
              </a:r>
              <a:endParaRPr sz="2000" b="1" dirty="0">
                <a:solidFill>
                  <a:schemeClr val="lt1"/>
                </a:solidFill>
                <a:latin typeface="Telegraf" panose="020B0604020202020204" charset="0"/>
                <a:ea typeface="Quattrocento Sans"/>
                <a:cs typeface="Quattrocento Sans"/>
                <a:sym typeface="Quattrocento Sans"/>
              </a:endParaRPr>
            </a:p>
          </p:txBody>
        </p:sp>
        <p:sp>
          <p:nvSpPr>
            <p:cNvPr id="15" name="Google Shape;74;p3">
              <a:extLst>
                <a:ext uri="{FF2B5EF4-FFF2-40B4-BE49-F238E27FC236}">
                  <a16:creationId xmlns:a16="http://schemas.microsoft.com/office/drawing/2014/main" id="{21644AB9-79A9-DD4A-BEE5-6D70B2DD6620}"/>
                </a:ext>
              </a:extLst>
            </p:cNvPr>
            <p:cNvSpPr txBox="1"/>
            <p:nvPr/>
          </p:nvSpPr>
          <p:spPr>
            <a:xfrm>
              <a:off x="1355448" y="1455939"/>
              <a:ext cx="439256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EXECUTIVE SUMMARY</a:t>
              </a:r>
              <a:endParaRPr sz="1600" dirty="0">
                <a:latin typeface="Telegraf" panose="020B0604020202020204" charset="0"/>
              </a:endParaRPr>
            </a:p>
          </p:txBody>
        </p:sp>
      </p:grpSp>
      <p:grpSp>
        <p:nvGrpSpPr>
          <p:cNvPr id="16" name="Google Shape;70;p3">
            <a:extLst>
              <a:ext uri="{FF2B5EF4-FFF2-40B4-BE49-F238E27FC236}">
                <a16:creationId xmlns:a16="http://schemas.microsoft.com/office/drawing/2014/main" id="{ADB9426B-3C8C-3D94-8E40-9FAC99A8C5F5}"/>
              </a:ext>
            </a:extLst>
          </p:cNvPr>
          <p:cNvGrpSpPr/>
          <p:nvPr/>
        </p:nvGrpSpPr>
        <p:grpSpPr>
          <a:xfrm>
            <a:off x="320814" y="1838185"/>
            <a:ext cx="10921104" cy="529712"/>
            <a:chOff x="635448" y="1396610"/>
            <a:chExt cx="10921104" cy="529712"/>
          </a:xfrm>
        </p:grpSpPr>
        <p:sp>
          <p:nvSpPr>
            <p:cNvPr id="17" name="Google Shape;71;p3">
              <a:extLst>
                <a:ext uri="{FF2B5EF4-FFF2-40B4-BE49-F238E27FC236}">
                  <a16:creationId xmlns:a16="http://schemas.microsoft.com/office/drawing/2014/main" id="{35967E66-73D7-87F4-047B-0097EC7260F7}"/>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8" name="Google Shape;72;p3">
              <a:extLst>
                <a:ext uri="{FF2B5EF4-FFF2-40B4-BE49-F238E27FC236}">
                  <a16:creationId xmlns:a16="http://schemas.microsoft.com/office/drawing/2014/main" id="{5B593B4F-F47A-05C3-CD93-032233B9B5B9}"/>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19" name="Google Shape;73;p3">
              <a:extLst>
                <a:ext uri="{FF2B5EF4-FFF2-40B4-BE49-F238E27FC236}">
                  <a16:creationId xmlns:a16="http://schemas.microsoft.com/office/drawing/2014/main" id="{52C75CAB-3EA4-5EF6-E0C6-F6C297FE005D}"/>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2</a:t>
              </a:r>
              <a:endParaRPr sz="2000" b="1" dirty="0">
                <a:solidFill>
                  <a:schemeClr val="lt1"/>
                </a:solidFill>
                <a:latin typeface="Telegraf" panose="020B0604020202020204" charset="0"/>
                <a:ea typeface="Quattrocento Sans"/>
                <a:cs typeface="Quattrocento Sans"/>
                <a:sym typeface="Quattrocento Sans"/>
              </a:endParaRPr>
            </a:p>
          </p:txBody>
        </p:sp>
        <p:sp>
          <p:nvSpPr>
            <p:cNvPr id="20" name="Google Shape;74;p3">
              <a:extLst>
                <a:ext uri="{FF2B5EF4-FFF2-40B4-BE49-F238E27FC236}">
                  <a16:creationId xmlns:a16="http://schemas.microsoft.com/office/drawing/2014/main" id="{743B7554-43B5-72DD-AC02-F79968B25785}"/>
                </a:ext>
              </a:extLst>
            </p:cNvPr>
            <p:cNvSpPr txBox="1"/>
            <p:nvPr/>
          </p:nvSpPr>
          <p:spPr>
            <a:xfrm>
              <a:off x="1355448" y="1455939"/>
              <a:ext cx="653985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LOCATION, GEOGRAPHY, &amp; SURFACE RECONNAISSANCE</a:t>
              </a:r>
              <a:endParaRPr sz="1600" dirty="0">
                <a:latin typeface="Telegraf" panose="020B0604020202020204" charset="0"/>
              </a:endParaRPr>
            </a:p>
          </p:txBody>
        </p:sp>
      </p:grpSp>
      <p:grpSp>
        <p:nvGrpSpPr>
          <p:cNvPr id="21" name="Google Shape;70;p3">
            <a:extLst>
              <a:ext uri="{FF2B5EF4-FFF2-40B4-BE49-F238E27FC236}">
                <a16:creationId xmlns:a16="http://schemas.microsoft.com/office/drawing/2014/main" id="{7B943314-ECC6-765F-6FE1-3D3869248362}"/>
              </a:ext>
            </a:extLst>
          </p:cNvPr>
          <p:cNvGrpSpPr/>
          <p:nvPr/>
        </p:nvGrpSpPr>
        <p:grpSpPr>
          <a:xfrm>
            <a:off x="320813" y="2427110"/>
            <a:ext cx="10921104" cy="529712"/>
            <a:chOff x="635448" y="1396610"/>
            <a:chExt cx="10921104" cy="529712"/>
          </a:xfrm>
        </p:grpSpPr>
        <p:sp>
          <p:nvSpPr>
            <p:cNvPr id="22" name="Google Shape;71;p3">
              <a:extLst>
                <a:ext uri="{FF2B5EF4-FFF2-40B4-BE49-F238E27FC236}">
                  <a16:creationId xmlns:a16="http://schemas.microsoft.com/office/drawing/2014/main" id="{33E0EEA5-72CE-607A-3F23-10CB25BC8420}"/>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3" name="Google Shape;72;p3">
              <a:extLst>
                <a:ext uri="{FF2B5EF4-FFF2-40B4-BE49-F238E27FC236}">
                  <a16:creationId xmlns:a16="http://schemas.microsoft.com/office/drawing/2014/main" id="{35440DC7-33C1-A0A9-FAF4-85A5FAC78423}"/>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4" name="Google Shape;73;p3">
              <a:extLst>
                <a:ext uri="{FF2B5EF4-FFF2-40B4-BE49-F238E27FC236}">
                  <a16:creationId xmlns:a16="http://schemas.microsoft.com/office/drawing/2014/main" id="{916B44DE-9219-2A51-71A1-4B0B277C944B}"/>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3</a:t>
              </a:r>
              <a:endParaRPr sz="2000" b="1" dirty="0">
                <a:solidFill>
                  <a:schemeClr val="lt1"/>
                </a:solidFill>
                <a:latin typeface="Telegraf" panose="020B0604020202020204" charset="0"/>
                <a:ea typeface="Quattrocento Sans"/>
                <a:cs typeface="Quattrocento Sans"/>
                <a:sym typeface="Quattrocento Sans"/>
              </a:endParaRPr>
            </a:p>
          </p:txBody>
        </p:sp>
        <p:sp>
          <p:nvSpPr>
            <p:cNvPr id="25" name="Google Shape;74;p3">
              <a:extLst>
                <a:ext uri="{FF2B5EF4-FFF2-40B4-BE49-F238E27FC236}">
                  <a16:creationId xmlns:a16="http://schemas.microsoft.com/office/drawing/2014/main" id="{A2FC2554-8E69-D030-8A7A-D3678CD2B55E}"/>
                </a:ext>
              </a:extLst>
            </p:cNvPr>
            <p:cNvSpPr txBox="1"/>
            <p:nvPr/>
          </p:nvSpPr>
          <p:spPr>
            <a:xfrm>
              <a:off x="1355448" y="1455939"/>
              <a:ext cx="6264555"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600" b="1" dirty="0">
                  <a:solidFill>
                    <a:srgbClr val="3F3F3F"/>
                  </a:solidFill>
                  <a:latin typeface="Telegraf" panose="020B0604020202020204" charset="0"/>
                  <a:ea typeface="Quattrocento Sans"/>
                  <a:cs typeface="Quattrocento Sans"/>
                  <a:sym typeface="Quattrocento Sans"/>
                </a:rPr>
                <a:t>SUBSURFACE GEOLOGICAL PROGNOSIS (G&amp;G DATA)</a:t>
              </a:r>
              <a:endParaRPr sz="1600" dirty="0">
                <a:latin typeface="Telegraf" panose="020B0604020202020204" charset="0"/>
              </a:endParaRPr>
            </a:p>
          </p:txBody>
        </p:sp>
      </p:grpSp>
      <p:grpSp>
        <p:nvGrpSpPr>
          <p:cNvPr id="26" name="Google Shape;70;p3">
            <a:extLst>
              <a:ext uri="{FF2B5EF4-FFF2-40B4-BE49-F238E27FC236}">
                <a16:creationId xmlns:a16="http://schemas.microsoft.com/office/drawing/2014/main" id="{F5E17ED8-0A78-91FE-EA58-02ED5ADA5125}"/>
              </a:ext>
            </a:extLst>
          </p:cNvPr>
          <p:cNvGrpSpPr/>
          <p:nvPr/>
        </p:nvGrpSpPr>
        <p:grpSpPr>
          <a:xfrm>
            <a:off x="320813" y="3013736"/>
            <a:ext cx="10921104" cy="529712"/>
            <a:chOff x="635448" y="1396610"/>
            <a:chExt cx="10921104" cy="529712"/>
          </a:xfrm>
        </p:grpSpPr>
        <p:sp>
          <p:nvSpPr>
            <p:cNvPr id="27" name="Google Shape;71;p3">
              <a:extLst>
                <a:ext uri="{FF2B5EF4-FFF2-40B4-BE49-F238E27FC236}">
                  <a16:creationId xmlns:a16="http://schemas.microsoft.com/office/drawing/2014/main" id="{5319D759-2D74-643D-688E-4E5B1A75FCC3}"/>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8" name="Google Shape;72;p3">
              <a:extLst>
                <a:ext uri="{FF2B5EF4-FFF2-40B4-BE49-F238E27FC236}">
                  <a16:creationId xmlns:a16="http://schemas.microsoft.com/office/drawing/2014/main" id="{CA252AE3-5835-EFAB-9884-B8946738DE7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29" name="Google Shape;73;p3">
              <a:extLst>
                <a:ext uri="{FF2B5EF4-FFF2-40B4-BE49-F238E27FC236}">
                  <a16:creationId xmlns:a16="http://schemas.microsoft.com/office/drawing/2014/main" id="{8EC9B263-0497-9C21-9D1F-F7A494CC2F45}"/>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4</a:t>
              </a:r>
              <a:endParaRPr sz="2000" b="1" dirty="0">
                <a:solidFill>
                  <a:schemeClr val="lt1"/>
                </a:solidFill>
                <a:latin typeface="Telegraf" panose="020B0604020202020204" charset="0"/>
                <a:ea typeface="Quattrocento Sans"/>
                <a:cs typeface="Quattrocento Sans"/>
                <a:sym typeface="Quattrocento Sans"/>
              </a:endParaRPr>
            </a:p>
          </p:txBody>
        </p:sp>
        <p:sp>
          <p:nvSpPr>
            <p:cNvPr id="30" name="Google Shape;74;p3">
              <a:extLst>
                <a:ext uri="{FF2B5EF4-FFF2-40B4-BE49-F238E27FC236}">
                  <a16:creationId xmlns:a16="http://schemas.microsoft.com/office/drawing/2014/main" id="{413D669C-03DE-B338-3EDE-37442A8202CE}"/>
                </a:ext>
              </a:extLst>
            </p:cNvPr>
            <p:cNvSpPr txBox="1"/>
            <p:nvPr/>
          </p:nvSpPr>
          <p:spPr>
            <a:xfrm>
              <a:off x="1355448" y="1455939"/>
              <a:ext cx="5920426"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OFFSET WELL ANALYSIS &amp; LESSONS LEARNED</a:t>
              </a:r>
              <a:endParaRPr sz="1600" dirty="0">
                <a:latin typeface="Telegraf" panose="020B0604020202020204" charset="0"/>
              </a:endParaRPr>
            </a:p>
          </p:txBody>
        </p:sp>
      </p:grpSp>
      <p:grpSp>
        <p:nvGrpSpPr>
          <p:cNvPr id="31" name="Google Shape;70;p3">
            <a:extLst>
              <a:ext uri="{FF2B5EF4-FFF2-40B4-BE49-F238E27FC236}">
                <a16:creationId xmlns:a16="http://schemas.microsoft.com/office/drawing/2014/main" id="{B50100EA-7712-0B77-70FE-86A196D4CCA7}"/>
              </a:ext>
            </a:extLst>
          </p:cNvPr>
          <p:cNvGrpSpPr/>
          <p:nvPr/>
        </p:nvGrpSpPr>
        <p:grpSpPr>
          <a:xfrm>
            <a:off x="320813" y="3600304"/>
            <a:ext cx="10921104" cy="529712"/>
            <a:chOff x="635448" y="1396610"/>
            <a:chExt cx="10921104" cy="529712"/>
          </a:xfrm>
        </p:grpSpPr>
        <p:sp>
          <p:nvSpPr>
            <p:cNvPr id="32" name="Google Shape;71;p3">
              <a:extLst>
                <a:ext uri="{FF2B5EF4-FFF2-40B4-BE49-F238E27FC236}">
                  <a16:creationId xmlns:a16="http://schemas.microsoft.com/office/drawing/2014/main" id="{46D76D0F-C931-E570-81D4-F0485C5940B5}"/>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33" name="Google Shape;72;p3">
              <a:extLst>
                <a:ext uri="{FF2B5EF4-FFF2-40B4-BE49-F238E27FC236}">
                  <a16:creationId xmlns:a16="http://schemas.microsoft.com/office/drawing/2014/main" id="{4C6E4988-3D2F-175D-1B9D-D6DC36ADEF3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34" name="Google Shape;73;p3">
              <a:extLst>
                <a:ext uri="{FF2B5EF4-FFF2-40B4-BE49-F238E27FC236}">
                  <a16:creationId xmlns:a16="http://schemas.microsoft.com/office/drawing/2014/main" id="{D4BA3E55-2356-60D7-0D5F-8ACE3893E66F}"/>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5</a:t>
              </a:r>
              <a:endParaRPr sz="2000" b="1" dirty="0">
                <a:solidFill>
                  <a:schemeClr val="lt1"/>
                </a:solidFill>
                <a:latin typeface="Telegraf" panose="020B0604020202020204" charset="0"/>
                <a:ea typeface="Quattrocento Sans"/>
                <a:cs typeface="Quattrocento Sans"/>
                <a:sym typeface="Quattrocento Sans"/>
              </a:endParaRPr>
            </a:p>
          </p:txBody>
        </p:sp>
        <p:sp>
          <p:nvSpPr>
            <p:cNvPr id="36" name="Google Shape;74;p3">
              <a:extLst>
                <a:ext uri="{FF2B5EF4-FFF2-40B4-BE49-F238E27FC236}">
                  <a16:creationId xmlns:a16="http://schemas.microsoft.com/office/drawing/2014/main" id="{A7192BC1-0BCB-64E7-1DFA-137A29ABA1DE}"/>
                </a:ext>
              </a:extLst>
            </p:cNvPr>
            <p:cNvSpPr txBox="1"/>
            <p:nvPr/>
          </p:nvSpPr>
          <p:spPr>
            <a:xfrm>
              <a:off x="1355448" y="1455939"/>
              <a:ext cx="6185897"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CONCEPTUAL WELL CONSTRUCTION DESIGN (PRE-BOD)</a:t>
              </a:r>
              <a:endParaRPr sz="1600" dirty="0">
                <a:latin typeface="Telegraf" panose="020B0604020202020204" charset="0"/>
              </a:endParaRPr>
            </a:p>
          </p:txBody>
        </p:sp>
      </p:grpSp>
      <p:grpSp>
        <p:nvGrpSpPr>
          <p:cNvPr id="38" name="Google Shape;70;p3">
            <a:extLst>
              <a:ext uri="{FF2B5EF4-FFF2-40B4-BE49-F238E27FC236}">
                <a16:creationId xmlns:a16="http://schemas.microsoft.com/office/drawing/2014/main" id="{63A7BDCE-2D8B-FB1E-1B66-4745848BDD65}"/>
              </a:ext>
            </a:extLst>
          </p:cNvPr>
          <p:cNvGrpSpPr/>
          <p:nvPr/>
        </p:nvGrpSpPr>
        <p:grpSpPr>
          <a:xfrm>
            <a:off x="320812" y="4186814"/>
            <a:ext cx="10921104" cy="529712"/>
            <a:chOff x="635448" y="1396610"/>
            <a:chExt cx="10921104" cy="529712"/>
          </a:xfrm>
        </p:grpSpPr>
        <p:sp>
          <p:nvSpPr>
            <p:cNvPr id="41" name="Google Shape;71;p3">
              <a:extLst>
                <a:ext uri="{FF2B5EF4-FFF2-40B4-BE49-F238E27FC236}">
                  <a16:creationId xmlns:a16="http://schemas.microsoft.com/office/drawing/2014/main" id="{DB2F12FE-2512-638B-7803-0D825EBA0C19}"/>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43" name="Google Shape;72;p3">
              <a:extLst>
                <a:ext uri="{FF2B5EF4-FFF2-40B4-BE49-F238E27FC236}">
                  <a16:creationId xmlns:a16="http://schemas.microsoft.com/office/drawing/2014/main" id="{F6D234F5-D0AE-6668-A28B-CBA1C834E5B9}"/>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44" name="Google Shape;73;p3">
              <a:extLst>
                <a:ext uri="{FF2B5EF4-FFF2-40B4-BE49-F238E27FC236}">
                  <a16:creationId xmlns:a16="http://schemas.microsoft.com/office/drawing/2014/main" id="{C56155A1-6E11-1247-242E-7F678F977613}"/>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6</a:t>
              </a:r>
              <a:endParaRPr sz="2000" b="1" dirty="0">
                <a:solidFill>
                  <a:schemeClr val="lt1"/>
                </a:solidFill>
                <a:latin typeface="Telegraf" panose="020B0604020202020204" charset="0"/>
                <a:ea typeface="Quattrocento Sans"/>
                <a:cs typeface="Quattrocento Sans"/>
                <a:sym typeface="Quattrocento Sans"/>
              </a:endParaRPr>
            </a:p>
          </p:txBody>
        </p:sp>
        <p:sp>
          <p:nvSpPr>
            <p:cNvPr id="46" name="Google Shape;74;p3">
              <a:extLst>
                <a:ext uri="{FF2B5EF4-FFF2-40B4-BE49-F238E27FC236}">
                  <a16:creationId xmlns:a16="http://schemas.microsoft.com/office/drawing/2014/main" id="{A5385B8F-BBAE-1616-6A28-E7B15748585C}"/>
                </a:ext>
              </a:extLst>
            </p:cNvPr>
            <p:cNvSpPr txBox="1"/>
            <p:nvPr/>
          </p:nvSpPr>
          <p:spPr>
            <a:xfrm>
              <a:off x="1355448" y="1455939"/>
              <a:ext cx="718878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MINIMUM RIG SPECIFICATIONS &amp; CRITICAL THIRD-PARTY SERVICES</a:t>
              </a:r>
              <a:endParaRPr sz="1600" dirty="0">
                <a:latin typeface="Telegraf" panose="020B0604020202020204" charset="0"/>
              </a:endParaRPr>
            </a:p>
          </p:txBody>
        </p:sp>
      </p:grpSp>
      <p:grpSp>
        <p:nvGrpSpPr>
          <p:cNvPr id="48" name="Google Shape;70;p3">
            <a:extLst>
              <a:ext uri="{FF2B5EF4-FFF2-40B4-BE49-F238E27FC236}">
                <a16:creationId xmlns:a16="http://schemas.microsoft.com/office/drawing/2014/main" id="{7433D4DC-F4B4-7908-AACC-8BAD77E31680}"/>
              </a:ext>
            </a:extLst>
          </p:cNvPr>
          <p:cNvGrpSpPr/>
          <p:nvPr/>
        </p:nvGrpSpPr>
        <p:grpSpPr>
          <a:xfrm>
            <a:off x="320812" y="4780835"/>
            <a:ext cx="10921104" cy="529712"/>
            <a:chOff x="635448" y="1396610"/>
            <a:chExt cx="10921104" cy="529712"/>
          </a:xfrm>
        </p:grpSpPr>
        <p:sp>
          <p:nvSpPr>
            <p:cNvPr id="49" name="Google Shape;71;p3">
              <a:extLst>
                <a:ext uri="{FF2B5EF4-FFF2-40B4-BE49-F238E27FC236}">
                  <a16:creationId xmlns:a16="http://schemas.microsoft.com/office/drawing/2014/main" id="{2C206918-433F-747A-CA4D-E31BCC1D3563}"/>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0" name="Google Shape;72;p3">
              <a:extLst>
                <a:ext uri="{FF2B5EF4-FFF2-40B4-BE49-F238E27FC236}">
                  <a16:creationId xmlns:a16="http://schemas.microsoft.com/office/drawing/2014/main" id="{49A886FB-6D55-0BA1-F86B-61C45533097E}"/>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1" name="Google Shape;73;p3">
              <a:extLst>
                <a:ext uri="{FF2B5EF4-FFF2-40B4-BE49-F238E27FC236}">
                  <a16:creationId xmlns:a16="http://schemas.microsoft.com/office/drawing/2014/main" id="{EC973606-2532-256A-E4AB-66E25F26EB34}"/>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7</a:t>
              </a:r>
              <a:endParaRPr sz="2000" b="1" dirty="0">
                <a:solidFill>
                  <a:schemeClr val="lt1"/>
                </a:solidFill>
                <a:latin typeface="Telegraf" panose="020B0604020202020204" charset="0"/>
                <a:ea typeface="Quattrocento Sans"/>
                <a:cs typeface="Quattrocento Sans"/>
                <a:sym typeface="Quattrocento Sans"/>
              </a:endParaRPr>
            </a:p>
          </p:txBody>
        </p:sp>
        <p:sp>
          <p:nvSpPr>
            <p:cNvPr id="52" name="Google Shape;74;p3">
              <a:extLst>
                <a:ext uri="{FF2B5EF4-FFF2-40B4-BE49-F238E27FC236}">
                  <a16:creationId xmlns:a16="http://schemas.microsoft.com/office/drawing/2014/main" id="{CCCEF808-7BD7-27F5-B5B9-4D9025B71F2A}"/>
                </a:ext>
              </a:extLst>
            </p:cNvPr>
            <p:cNvSpPr txBox="1"/>
            <p:nvPr/>
          </p:nvSpPr>
          <p:spPr>
            <a:xfrm>
              <a:off x="1355448" y="1455939"/>
              <a:ext cx="772956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PROJECT RISK ASSESSMENT &amp; MITIGATION MATRIX (Corrected Position)</a:t>
              </a:r>
              <a:endParaRPr sz="1600" dirty="0">
                <a:latin typeface="Telegraf" panose="020B0604020202020204" charset="0"/>
              </a:endParaRPr>
            </a:p>
          </p:txBody>
        </p:sp>
      </p:grpSp>
      <p:grpSp>
        <p:nvGrpSpPr>
          <p:cNvPr id="53" name="Google Shape;70;p3">
            <a:extLst>
              <a:ext uri="{FF2B5EF4-FFF2-40B4-BE49-F238E27FC236}">
                <a16:creationId xmlns:a16="http://schemas.microsoft.com/office/drawing/2014/main" id="{5D51500D-FB88-526E-FDBA-393EB8018C5F}"/>
              </a:ext>
            </a:extLst>
          </p:cNvPr>
          <p:cNvGrpSpPr/>
          <p:nvPr/>
        </p:nvGrpSpPr>
        <p:grpSpPr>
          <a:xfrm>
            <a:off x="320812" y="5364854"/>
            <a:ext cx="10921104" cy="529712"/>
            <a:chOff x="635448" y="1396610"/>
            <a:chExt cx="10921104" cy="529712"/>
          </a:xfrm>
        </p:grpSpPr>
        <p:sp>
          <p:nvSpPr>
            <p:cNvPr id="57" name="Google Shape;71;p3">
              <a:extLst>
                <a:ext uri="{FF2B5EF4-FFF2-40B4-BE49-F238E27FC236}">
                  <a16:creationId xmlns:a16="http://schemas.microsoft.com/office/drawing/2014/main" id="{15859908-5C8B-8926-4441-B9309BA2F6E6}"/>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8" name="Google Shape;72;p3">
              <a:extLst>
                <a:ext uri="{FF2B5EF4-FFF2-40B4-BE49-F238E27FC236}">
                  <a16:creationId xmlns:a16="http://schemas.microsoft.com/office/drawing/2014/main" id="{D600AF4C-562B-BF4A-5DDF-01B310335A8D}"/>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59" name="Google Shape;73;p3">
              <a:extLst>
                <a:ext uri="{FF2B5EF4-FFF2-40B4-BE49-F238E27FC236}">
                  <a16:creationId xmlns:a16="http://schemas.microsoft.com/office/drawing/2014/main" id="{FF5E2DFB-B024-6537-95AE-DFBF6DA23C97}"/>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8</a:t>
              </a:r>
              <a:endParaRPr sz="2000" b="1" dirty="0">
                <a:solidFill>
                  <a:schemeClr val="lt1"/>
                </a:solidFill>
                <a:latin typeface="Telegraf" panose="020B0604020202020204" charset="0"/>
                <a:ea typeface="Quattrocento Sans"/>
                <a:cs typeface="Quattrocento Sans"/>
                <a:sym typeface="Quattrocento Sans"/>
              </a:endParaRPr>
            </a:p>
          </p:txBody>
        </p:sp>
        <p:sp>
          <p:nvSpPr>
            <p:cNvPr id="60" name="Google Shape;74;p3">
              <a:extLst>
                <a:ext uri="{FF2B5EF4-FFF2-40B4-BE49-F238E27FC236}">
                  <a16:creationId xmlns:a16="http://schemas.microsoft.com/office/drawing/2014/main" id="{694798E2-983E-A7E9-6BE2-02BE8F716164}"/>
                </a:ext>
              </a:extLst>
            </p:cNvPr>
            <p:cNvSpPr txBox="1"/>
            <p:nvPr/>
          </p:nvSpPr>
          <p:spPr>
            <a:xfrm>
              <a:off x="1355448" y="1455939"/>
              <a:ext cx="749358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PROJECT ECONOMICS &amp; PRELIMINARY AFE</a:t>
              </a:r>
              <a:endParaRPr sz="1600" dirty="0">
                <a:latin typeface="Telegraf" panose="020B0604020202020204" charset="0"/>
              </a:endParaRPr>
            </a:p>
          </p:txBody>
        </p:sp>
      </p:grpSp>
      <p:grpSp>
        <p:nvGrpSpPr>
          <p:cNvPr id="61" name="Google Shape;70;p3">
            <a:extLst>
              <a:ext uri="{FF2B5EF4-FFF2-40B4-BE49-F238E27FC236}">
                <a16:creationId xmlns:a16="http://schemas.microsoft.com/office/drawing/2014/main" id="{3AC99521-9F91-2BF2-AFA0-CC4C2122E4FA}"/>
              </a:ext>
            </a:extLst>
          </p:cNvPr>
          <p:cNvGrpSpPr/>
          <p:nvPr/>
        </p:nvGrpSpPr>
        <p:grpSpPr>
          <a:xfrm>
            <a:off x="320811" y="5946460"/>
            <a:ext cx="10921104" cy="529712"/>
            <a:chOff x="635448" y="1396610"/>
            <a:chExt cx="10921104" cy="529712"/>
          </a:xfrm>
        </p:grpSpPr>
        <p:sp>
          <p:nvSpPr>
            <p:cNvPr id="62" name="Google Shape;71;p3">
              <a:extLst>
                <a:ext uri="{FF2B5EF4-FFF2-40B4-BE49-F238E27FC236}">
                  <a16:creationId xmlns:a16="http://schemas.microsoft.com/office/drawing/2014/main" id="{9FA483C8-0C82-EFDE-0559-6AFC885A93CE}"/>
                </a:ext>
              </a:extLst>
            </p:cNvPr>
            <p:cNvSpPr/>
            <p:nvPr/>
          </p:nvSpPr>
          <p:spPr>
            <a:xfrm>
              <a:off x="635448" y="1396610"/>
              <a:ext cx="10921104" cy="529712"/>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63" name="Google Shape;72;p3">
              <a:extLst>
                <a:ext uri="{FF2B5EF4-FFF2-40B4-BE49-F238E27FC236}">
                  <a16:creationId xmlns:a16="http://schemas.microsoft.com/office/drawing/2014/main" id="{F292F1D3-3535-C099-C9A3-18B3C3831BD8}"/>
                </a:ext>
              </a:extLst>
            </p:cNvPr>
            <p:cNvSpPr/>
            <p:nvPr/>
          </p:nvSpPr>
          <p:spPr>
            <a:xfrm rot="5400000">
              <a:off x="730621" y="1301437"/>
              <a:ext cx="529653" cy="720000"/>
            </a:xfrm>
            <a:prstGeom prst="rtTriangle">
              <a:avLst/>
            </a:prstGeom>
            <a:solidFill>
              <a:srgbClr val="0050AA"/>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elegraf" panose="020B0604020202020204" charset="0"/>
                <a:ea typeface="Quattrocento Sans"/>
                <a:cs typeface="Quattrocento Sans"/>
                <a:sym typeface="Quattrocento Sans"/>
              </a:endParaRPr>
            </a:p>
          </p:txBody>
        </p:sp>
        <p:sp>
          <p:nvSpPr>
            <p:cNvPr id="64" name="Google Shape;73;p3">
              <a:extLst>
                <a:ext uri="{FF2B5EF4-FFF2-40B4-BE49-F238E27FC236}">
                  <a16:creationId xmlns:a16="http://schemas.microsoft.com/office/drawing/2014/main" id="{04EAD3B4-A951-5A28-9D12-AA49455C6A1F}"/>
                </a:ext>
              </a:extLst>
            </p:cNvPr>
            <p:cNvSpPr txBox="1"/>
            <p:nvPr/>
          </p:nvSpPr>
          <p:spPr>
            <a:xfrm>
              <a:off x="635448" y="1396610"/>
              <a:ext cx="53316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lt1"/>
                  </a:solidFill>
                  <a:latin typeface="Telegraf" panose="020B0604020202020204" charset="0"/>
                  <a:ea typeface="Quattrocento Sans"/>
                  <a:cs typeface="Quattrocento Sans"/>
                  <a:sym typeface="Quattrocento Sans"/>
                </a:rPr>
                <a:t>9</a:t>
              </a:r>
              <a:endParaRPr sz="2000" b="1" dirty="0">
                <a:solidFill>
                  <a:schemeClr val="lt1"/>
                </a:solidFill>
                <a:latin typeface="Telegraf" panose="020B0604020202020204" charset="0"/>
                <a:ea typeface="Quattrocento Sans"/>
                <a:cs typeface="Quattrocento Sans"/>
                <a:sym typeface="Quattrocento Sans"/>
              </a:endParaRPr>
            </a:p>
          </p:txBody>
        </p:sp>
        <p:sp>
          <p:nvSpPr>
            <p:cNvPr id="65" name="Google Shape;74;p3">
              <a:extLst>
                <a:ext uri="{FF2B5EF4-FFF2-40B4-BE49-F238E27FC236}">
                  <a16:creationId xmlns:a16="http://schemas.microsoft.com/office/drawing/2014/main" id="{98256697-3CB9-AD9F-09E2-E151ACE6D8A6}"/>
                </a:ext>
              </a:extLst>
            </p:cNvPr>
            <p:cNvSpPr txBox="1"/>
            <p:nvPr/>
          </p:nvSpPr>
          <p:spPr>
            <a:xfrm>
              <a:off x="1355448" y="1455939"/>
              <a:ext cx="653986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3F3F3F"/>
                  </a:solidFill>
                  <a:latin typeface="Telegraf" panose="020B0604020202020204" charset="0"/>
                  <a:ea typeface="Quattrocento Sans"/>
                  <a:cs typeface="Quattrocento Sans"/>
                  <a:sym typeface="Quattrocento Sans"/>
                </a:rPr>
                <a:t>PRE-EXECUTION MILESTONES &amp; ROADMAP TO SPUD</a:t>
              </a:r>
              <a:endParaRPr sz="1600" dirty="0">
                <a:latin typeface="Telegraf" panose="020B0604020202020204" charset="0"/>
              </a:endParaRPr>
            </a:p>
          </p:txBody>
        </p:sp>
      </p:grpSp>
    </p:spTree>
    <p:extLst>
      <p:ext uri="{BB962C8B-B14F-4D97-AF65-F5344CB8AC3E}">
        <p14:creationId xmlns:p14="http://schemas.microsoft.com/office/powerpoint/2010/main" val="342169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29B2E-4FBC-0211-C0E0-6A875A93B3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1ABBCD-9B38-BDC5-C6B9-07EFA3DB5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89659FED-E562-B857-3A7A-96CA1B954CFA}"/>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B470DB7B-7741-A0E1-41A9-4CBC0E45D7C4}"/>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EXECUTIVE SUMMARY</a:t>
            </a:r>
          </a:p>
        </p:txBody>
      </p:sp>
      <p:pic>
        <p:nvPicPr>
          <p:cNvPr id="9" name="Google Shape;40;p1" descr="Blue text and blue letters on a black background&#10;&#10;Description automatically generated">
            <a:extLst>
              <a:ext uri="{FF2B5EF4-FFF2-40B4-BE49-F238E27FC236}">
                <a16:creationId xmlns:a16="http://schemas.microsoft.com/office/drawing/2014/main" id="{4E3764C0-A520-9CF9-7A58-EC6050274D21}"/>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9229D0E7-9C9D-AA23-ED14-ACDB91B97E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192107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a:rPr>
              <a:t>PROJECT MANDATE &amp; JUSTIFICATION</a:t>
            </a:r>
          </a:p>
        </p:txBody>
      </p:sp>
      <p:sp>
        <p:nvSpPr>
          <p:cNvPr id="5" name="AnswerBox"/>
          <p:cNvSpPr txBox="1">
            <a:spLocks/>
          </p:cNvSpPr>
          <p:nvPr/>
        </p:nvSpPr>
        <p:spPr>
          <a:xfrm>
            <a:off x="250316" y="1467164"/>
            <a:ext cx="11691684" cy="1075039"/>
          </a:xfrm>
          <a:prstGeom prst="rect">
            <a:avLst/>
          </a:prstGeom>
          <a:solidFill>
            <a:srgbClr val="1F4E79"/>
          </a:solidFill>
          <a:ln>
            <a:noFill/>
          </a:ln>
        </p:spPr>
        <p:txBody>
          <a:bodyPr lIns="120000" tIns="60000" rIns="120000" bIns="60000" anchor="ctr">
            <a:normAutofit fontScale="92500"/>
          </a:bodyPr>
          <a:lstStyle/>
          <a:p>
            <a:r>
              <a:rPr lang="en-US" sz="2800" b="1" dirty="0">
                <a:solidFill>
                  <a:prstClr val="white"/>
                </a:solidFill>
                <a:latin typeface="Telegraf"/>
              </a:rPr>
              <a:t>“Sanction Alpha-07 to unlock stranded reserves at low-risk USD 1.78M investment, delivering incremental recovery of 0.58 MMBO leveraging existing infrastructure.”</a:t>
            </a:r>
          </a:p>
        </p:txBody>
      </p:sp>
      <p:sp>
        <p:nvSpPr>
          <p:cNvPr id="6" name="ReasoningLabel"/>
          <p:cNvSpPr txBox="1">
            <a:spLocks/>
          </p:cNvSpPr>
          <p:nvPr/>
        </p:nvSpPr>
        <p:spPr>
          <a:xfrm>
            <a:off x="250316" y="2756916"/>
            <a:ext cx="1200000" cy="340000"/>
          </a:xfrm>
          <a:prstGeom prst="rect">
            <a:avLst/>
          </a:prstGeom>
          <a:solidFill>
            <a:srgbClr val="2E75B6"/>
          </a:solidFill>
          <a:ln>
            <a:noFill/>
          </a:ln>
        </p:spPr>
        <p:txBody>
          <a:bodyPr lIns="80000" tIns="40000" rIns="80000" bIns="40000" anchor="ctr">
            <a:normAutofit/>
          </a:bodyPr>
          <a:lstStyle/>
          <a:p>
            <a:pPr algn="ctr"/>
            <a:r>
              <a:rPr lang="en-US" sz="1200" b="1" dirty="0">
                <a:solidFill>
                  <a:prstClr val="white"/>
                </a:solidFill>
                <a:latin typeface="Telegraf"/>
              </a:rPr>
              <a:t>Description</a:t>
            </a:r>
          </a:p>
        </p:txBody>
      </p:sp>
      <p:sp>
        <p:nvSpPr>
          <p:cNvPr id="7" name="ReasoningText"/>
          <p:cNvSpPr txBox="1">
            <a:spLocks/>
          </p:cNvSpPr>
          <p:nvPr/>
        </p:nvSpPr>
        <p:spPr>
          <a:xfrm>
            <a:off x="250316" y="3126916"/>
            <a:ext cx="5600000" cy="1200000"/>
          </a:xfrm>
          <a:prstGeom prst="rect">
            <a:avLst/>
          </a:prstGeom>
          <a:solidFill>
            <a:srgbClr val="EBF3FB"/>
          </a:solidFill>
          <a:ln>
            <a:noFill/>
          </a:ln>
        </p:spPr>
        <p:txBody>
          <a:bodyPr lIns="120000" tIns="80000" rIns="120000" bIns="80000" anchor="t">
            <a:noAutofit/>
          </a:bodyPr>
          <a:lstStyle/>
          <a:p>
            <a:pPr algn="just"/>
            <a:r>
              <a:rPr lang="en-US" sz="1200" dirty="0">
                <a:solidFill>
                  <a:srgbClr val="1F4E79"/>
                </a:solidFill>
                <a:latin typeface="Telegraf"/>
              </a:rPr>
              <a:t>Alpha Field is significantly under-developed. With OOIP of 21.66 MMSTB and cumulative production of only 6.48 MMSTB, the recovery factor stands at just 16.62%. The 5-well development program anchored by Alpha-07 provides a phased, capital-efficient pathway to improve recovery using existing surface facilities, promotes the optimization of mature assets, minimizing new infrastructure requirements. Directional J-type design avoids land complications above target reservoirs.</a:t>
            </a:r>
          </a:p>
        </p:txBody>
      </p:sp>
      <p:sp>
        <p:nvSpPr>
          <p:cNvPr id="8" name="EvidenceLabel"/>
          <p:cNvSpPr txBox="1">
            <a:spLocks/>
          </p:cNvSpPr>
          <p:nvPr/>
        </p:nvSpPr>
        <p:spPr>
          <a:xfrm>
            <a:off x="6100316" y="2756916"/>
            <a:ext cx="1200000" cy="340000"/>
          </a:xfrm>
          <a:prstGeom prst="rect">
            <a:avLst/>
          </a:prstGeom>
          <a:solidFill>
            <a:srgbClr val="002060"/>
          </a:solidFill>
          <a:ln>
            <a:noFill/>
          </a:ln>
        </p:spPr>
        <p:txBody>
          <a:bodyPr lIns="80000" tIns="40000" rIns="80000" bIns="40000" anchor="ctr">
            <a:normAutofit/>
          </a:bodyPr>
          <a:lstStyle/>
          <a:p>
            <a:pPr algn="ctr"/>
            <a:r>
              <a:rPr lang="en-US" sz="1200" b="1" dirty="0">
                <a:solidFill>
                  <a:prstClr val="white"/>
                </a:solidFill>
                <a:latin typeface="Telegraf"/>
              </a:rPr>
              <a:t>Key highlights</a:t>
            </a:r>
          </a:p>
        </p:txBody>
      </p:sp>
      <p:sp>
        <p:nvSpPr>
          <p:cNvPr id="9" name="EvidenceText"/>
          <p:cNvSpPr txBox="1">
            <a:spLocks/>
          </p:cNvSpPr>
          <p:nvPr/>
        </p:nvSpPr>
        <p:spPr>
          <a:xfrm>
            <a:off x="6100316" y="3126916"/>
            <a:ext cx="5841684" cy="1200000"/>
          </a:xfrm>
          <a:prstGeom prst="rect">
            <a:avLst/>
          </a:prstGeom>
          <a:solidFill>
            <a:srgbClr val="DDEEFF"/>
          </a:solidFill>
          <a:ln>
            <a:noFill/>
          </a:ln>
        </p:spPr>
        <p:txBody>
          <a:bodyPr lIns="120000" tIns="80000" rIns="120000" bIns="80000" anchor="t">
            <a:normAutofit lnSpcReduction="10000"/>
          </a:bodyPr>
          <a:lstStyle/>
          <a:p>
            <a:pPr marL="171450" indent="-171450">
              <a:buFont typeface="Arial" panose="020B0604020202020204" pitchFamily="34" charset="0"/>
              <a:buChar char="•"/>
            </a:pPr>
            <a:r>
              <a:rPr lang="en-US" sz="1200" dirty="0">
                <a:solidFill>
                  <a:srgbClr val="1F2D3D"/>
                </a:solidFill>
                <a:latin typeface="Telegraf"/>
              </a:rPr>
              <a:t>located at Central Sumatra Basin</a:t>
            </a:r>
          </a:p>
          <a:p>
            <a:pPr marL="171450" indent="-171450">
              <a:buFont typeface="Arial" panose="020B0604020202020204" pitchFamily="34" charset="0"/>
              <a:buChar char="•"/>
            </a:pPr>
            <a:r>
              <a:rPr lang="en-US" sz="1200" dirty="0">
                <a:solidFill>
                  <a:srgbClr val="1F2D3D"/>
                </a:solidFill>
                <a:latin typeface="Telegraf"/>
              </a:rPr>
              <a:t>OOIP 21.66 MMSTB vs 6.48 MMSTB current| Recovery Factor only 16.62%</a:t>
            </a:r>
          </a:p>
          <a:p>
            <a:pPr marL="171450" indent="-171450">
              <a:buFont typeface="Arial" panose="020B0604020202020204" pitchFamily="34" charset="0"/>
              <a:buChar char="•"/>
            </a:pPr>
            <a:r>
              <a:rPr lang="en-US" sz="1200" dirty="0">
                <a:solidFill>
                  <a:srgbClr val="1F2D3D"/>
                </a:solidFill>
                <a:latin typeface="Telegraf"/>
              </a:rPr>
              <a:t>5-well program delivers ~0.58 MMBO incremental to 2041</a:t>
            </a:r>
          </a:p>
          <a:p>
            <a:pPr marL="171450" indent="-171450">
              <a:buFont typeface="Arial" panose="020B0604020202020204" pitchFamily="34" charset="0"/>
              <a:buChar char="•"/>
            </a:pPr>
            <a:r>
              <a:rPr lang="en-US" sz="1200" dirty="0">
                <a:solidFill>
                  <a:srgbClr val="1F2D3D"/>
                </a:solidFill>
                <a:latin typeface="Telegraf"/>
              </a:rPr>
              <a:t>Existing CES surface facilities — no major new infrastructure</a:t>
            </a:r>
          </a:p>
          <a:p>
            <a:pPr marL="171450" indent="-171450">
              <a:buFont typeface="Arial" panose="020B0604020202020204" pitchFamily="34" charset="0"/>
              <a:buChar char="•"/>
            </a:pPr>
            <a:r>
              <a:rPr lang="en-US" sz="1200" dirty="0" err="1">
                <a:solidFill>
                  <a:srgbClr val="1F2D3D"/>
                </a:solidFill>
                <a:latin typeface="Telegraf"/>
              </a:rPr>
              <a:t>Wellpad</a:t>
            </a:r>
            <a:r>
              <a:rPr lang="en-US" sz="1200" dirty="0">
                <a:solidFill>
                  <a:srgbClr val="1F2D3D"/>
                </a:solidFill>
                <a:latin typeface="Telegraf"/>
              </a:rPr>
              <a:t> footprint minimized to 2–2.5 ha (J-type directional)</a:t>
            </a:r>
          </a:p>
          <a:p>
            <a:pPr marL="171450" indent="-171450">
              <a:buFont typeface="Arial" panose="020B0604020202020204" pitchFamily="34" charset="0"/>
              <a:buChar char="•"/>
            </a:pPr>
            <a:r>
              <a:rPr lang="en-US" sz="1200" dirty="0">
                <a:solidFill>
                  <a:srgbClr val="1F2D3D"/>
                </a:solidFill>
                <a:latin typeface="Telegraf"/>
              </a:rPr>
              <a:t>Aligns with SKK Migas production growth targets</a:t>
            </a:r>
          </a:p>
        </p:txBody>
      </p:sp>
      <p:sp>
        <p:nvSpPr>
          <p:cNvPr id="10" name="StatCard1"/>
          <p:cNvSpPr txBox="1">
            <a:spLocks/>
          </p:cNvSpPr>
          <p:nvPr/>
        </p:nvSpPr>
        <p:spPr>
          <a:xfrm>
            <a:off x="250316" y="4624977"/>
            <a:ext cx="3750000" cy="1000000"/>
          </a:xfrm>
          <a:prstGeom prst="rect">
            <a:avLst/>
          </a:prstGeom>
          <a:solidFill>
            <a:srgbClr val="002060"/>
          </a:solidFill>
          <a:ln>
            <a:noFill/>
          </a:ln>
        </p:spPr>
        <p:txBody>
          <a:bodyPr lIns="120000" tIns="80000" rIns="120000" bIns="80000" anchor="ctr">
            <a:normAutofit/>
          </a:bodyPr>
          <a:lstStyle/>
          <a:p>
            <a:pPr algn="ctr"/>
            <a:r>
              <a:rPr lang="en-US" sz="2800" b="1" dirty="0">
                <a:solidFill>
                  <a:prstClr val="white"/>
                </a:solidFill>
                <a:latin typeface="Telegraf"/>
              </a:rPr>
              <a:t>21.66 MMSTB</a:t>
            </a:r>
          </a:p>
          <a:p>
            <a:pPr algn="ctr"/>
            <a:r>
              <a:rPr lang="en-US" sz="1100" dirty="0">
                <a:solidFill>
                  <a:srgbClr val="BDD7EE"/>
                </a:solidFill>
                <a:latin typeface="Telegraf"/>
              </a:rPr>
              <a:t>Original Oil in Place (OOIP)</a:t>
            </a:r>
          </a:p>
        </p:txBody>
      </p:sp>
      <p:sp>
        <p:nvSpPr>
          <p:cNvPr id="11" name="StatCard2"/>
          <p:cNvSpPr txBox="1">
            <a:spLocks/>
          </p:cNvSpPr>
          <p:nvPr/>
        </p:nvSpPr>
        <p:spPr>
          <a:xfrm>
            <a:off x="4071150" y="4624977"/>
            <a:ext cx="3750000" cy="1000000"/>
          </a:xfrm>
          <a:prstGeom prst="rect">
            <a:avLst/>
          </a:prstGeom>
          <a:solidFill>
            <a:srgbClr val="1F4E79"/>
          </a:solidFill>
          <a:ln>
            <a:noFill/>
          </a:ln>
        </p:spPr>
        <p:txBody>
          <a:bodyPr lIns="120000" tIns="80000" rIns="120000" bIns="80000" anchor="ctr">
            <a:normAutofit/>
          </a:bodyPr>
          <a:lstStyle/>
          <a:p>
            <a:pPr algn="ctr"/>
            <a:r>
              <a:rPr lang="en-US" sz="2800" b="1" dirty="0">
                <a:solidFill>
                  <a:prstClr val="white"/>
                </a:solidFill>
                <a:latin typeface="Telegraf"/>
              </a:rPr>
              <a:t>16.62% RF</a:t>
            </a:r>
          </a:p>
          <a:p>
            <a:pPr algn="ctr"/>
            <a:r>
              <a:rPr lang="en-US" sz="1100" dirty="0">
                <a:solidFill>
                  <a:srgbClr val="BDD7EE"/>
                </a:solidFill>
                <a:latin typeface="Telegraf"/>
              </a:rPr>
              <a:t>Current Recovery Factor — significant upside</a:t>
            </a:r>
          </a:p>
        </p:txBody>
      </p:sp>
      <p:sp>
        <p:nvSpPr>
          <p:cNvPr id="12" name="StatCard3"/>
          <p:cNvSpPr txBox="1">
            <a:spLocks/>
          </p:cNvSpPr>
          <p:nvPr/>
        </p:nvSpPr>
        <p:spPr>
          <a:xfrm>
            <a:off x="7891984" y="4624977"/>
            <a:ext cx="4050316" cy="1000000"/>
          </a:xfrm>
          <a:prstGeom prst="rect">
            <a:avLst/>
          </a:prstGeom>
          <a:solidFill>
            <a:srgbClr val="2E75B6"/>
          </a:solidFill>
          <a:ln>
            <a:noFill/>
          </a:ln>
        </p:spPr>
        <p:txBody>
          <a:bodyPr lIns="120000" tIns="80000" rIns="120000" bIns="80000" anchor="ctr">
            <a:normAutofit/>
          </a:bodyPr>
          <a:lstStyle/>
          <a:p>
            <a:pPr algn="ctr"/>
            <a:r>
              <a:rPr lang="en-US" sz="2800" b="1" dirty="0">
                <a:solidFill>
                  <a:prstClr val="white"/>
                </a:solidFill>
                <a:latin typeface="Telegraf"/>
              </a:rPr>
              <a:t>USD 1.78M*</a:t>
            </a:r>
          </a:p>
          <a:p>
            <a:pPr algn="ctr"/>
            <a:r>
              <a:rPr lang="en-US" sz="1100" dirty="0">
                <a:solidFill>
                  <a:prstClr val="white"/>
                </a:solidFill>
                <a:latin typeface="Telegraf"/>
              </a:rPr>
              <a:t>Total D&amp;C Investment (AFE)</a:t>
            </a:r>
          </a:p>
        </p:txBody>
      </p:sp>
      <p:grpSp>
        <p:nvGrpSpPr>
          <p:cNvPr id="18" name="Group 17">
            <a:extLst>
              <a:ext uri="{FF2B5EF4-FFF2-40B4-BE49-F238E27FC236}">
                <a16:creationId xmlns:a16="http://schemas.microsoft.com/office/drawing/2014/main" id="{80533A82-DCB7-9CA2-4577-7DABADAA4BBA}"/>
              </a:ext>
            </a:extLst>
          </p:cNvPr>
          <p:cNvGrpSpPr/>
          <p:nvPr/>
        </p:nvGrpSpPr>
        <p:grpSpPr>
          <a:xfrm>
            <a:off x="6750353" y="101335"/>
            <a:ext cx="2283261" cy="833604"/>
            <a:chOff x="6340114" y="241985"/>
            <a:chExt cx="3555591" cy="1510315"/>
          </a:xfrm>
        </p:grpSpPr>
        <p:pic>
          <p:nvPicPr>
            <p:cNvPr id="15" name="Picture 14">
              <a:extLst>
                <a:ext uri="{FF2B5EF4-FFF2-40B4-BE49-F238E27FC236}">
                  <a16:creationId xmlns:a16="http://schemas.microsoft.com/office/drawing/2014/main" id="{FB28C465-CD0D-280F-A8E2-B0A035DB45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0114" y="241985"/>
              <a:ext cx="1329267" cy="1510315"/>
            </a:xfrm>
            <a:prstGeom prst="rect">
              <a:avLst/>
            </a:prstGeom>
            <a:noFill/>
          </p:spPr>
        </p:pic>
        <p:sp>
          <p:nvSpPr>
            <p:cNvPr id="17" name="TextBox 16">
              <a:extLst>
                <a:ext uri="{FF2B5EF4-FFF2-40B4-BE49-F238E27FC236}">
                  <a16:creationId xmlns:a16="http://schemas.microsoft.com/office/drawing/2014/main" id="{6B601F9E-2687-4139-D6E7-1AD3A3B24190}"/>
                </a:ext>
              </a:extLst>
            </p:cNvPr>
            <p:cNvSpPr txBox="1"/>
            <p:nvPr/>
          </p:nvSpPr>
          <p:spPr>
            <a:xfrm>
              <a:off x="7669381" y="241985"/>
              <a:ext cx="2226324" cy="1510315"/>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ID" dirty="0"/>
                <a:t>Alpha Field Proposed Development Well Location Map</a:t>
              </a:r>
              <a:endParaRPr lang="en-US" dirty="0"/>
            </a:p>
          </p:txBody>
        </p:sp>
      </p:grpSp>
      <p:sp>
        <p:nvSpPr>
          <p:cNvPr id="4" name="Freeform 6">
            <a:extLst>
              <a:ext uri="{FF2B5EF4-FFF2-40B4-BE49-F238E27FC236}">
                <a16:creationId xmlns:a16="http://schemas.microsoft.com/office/drawing/2014/main" id="{8709E0E7-7B1C-78DA-2553-2A5D6FED5507}"/>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3"/>
            <a:stretch>
              <a:fillRect/>
            </a:stretch>
          </a:blipFill>
        </p:spPr>
        <p:txBody>
          <a:bodyPr/>
          <a:lstStyle/>
          <a:p>
            <a:endParaRPr lang="en-ID"/>
          </a:p>
        </p:txBody>
      </p:sp>
      <p:sp>
        <p:nvSpPr>
          <p:cNvPr id="14" name="Title 1">
            <a:extLst>
              <a:ext uri="{FF2B5EF4-FFF2-40B4-BE49-F238E27FC236}">
                <a16:creationId xmlns:a16="http://schemas.microsoft.com/office/drawing/2014/main" id="{9F11579A-B87B-EDC8-37C2-20DDA9B4EC9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05</a:t>
            </a:r>
            <a:endParaRPr lang="en-ID" dirty="0">
              <a:solidFill>
                <a:schemeClr val="bg1"/>
              </a:solidFill>
              <a:latin typeface="Telegraf Bold" panose="020B0604020202020204" charset="0"/>
            </a:endParaRPr>
          </a:p>
        </p:txBody>
      </p:sp>
      <p:pic>
        <p:nvPicPr>
          <p:cNvPr id="13" name="Picture 12">
            <a:extLst>
              <a:ext uri="{FF2B5EF4-FFF2-40B4-BE49-F238E27FC236}">
                <a16:creationId xmlns:a16="http://schemas.microsoft.com/office/drawing/2014/main" id="{659DFCC7-91E7-3628-1AC6-99C2EC775C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9" name="Google Shape;40;p1" descr="Blue text and blue letters on a black background&#10;&#10;Description automatically generated">
            <a:extLst>
              <a:ext uri="{FF2B5EF4-FFF2-40B4-BE49-F238E27FC236}">
                <a16:creationId xmlns:a16="http://schemas.microsoft.com/office/drawing/2014/main" id="{FEEB1037-77D9-B5C1-D035-7D595D89FC3D}"/>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sp>
        <p:nvSpPr>
          <p:cNvPr id="3" name="ReasoningText">
            <a:extLst>
              <a:ext uri="{FF2B5EF4-FFF2-40B4-BE49-F238E27FC236}">
                <a16:creationId xmlns:a16="http://schemas.microsoft.com/office/drawing/2014/main" id="{9FE4ECCD-1C8D-FB89-4B65-1F7207D8BE8D}"/>
              </a:ext>
            </a:extLst>
          </p:cNvPr>
          <p:cNvSpPr txBox="1">
            <a:spLocks/>
          </p:cNvSpPr>
          <p:nvPr/>
        </p:nvSpPr>
        <p:spPr>
          <a:xfrm>
            <a:off x="7891984" y="5574840"/>
            <a:ext cx="4049700" cy="648126"/>
          </a:xfrm>
          <a:prstGeom prst="rect">
            <a:avLst/>
          </a:prstGeom>
          <a:noFill/>
          <a:ln>
            <a:noFill/>
          </a:ln>
        </p:spPr>
        <p:txBody>
          <a:bodyPr lIns="120000" tIns="80000" rIns="120000" bIns="80000" anchor="t">
            <a:noAutofit/>
          </a:bodyPr>
          <a:lstStyle/>
          <a:p>
            <a:r>
              <a:rPr lang="en-US" sz="1200" i="1" dirty="0">
                <a:solidFill>
                  <a:sysClr val="windowText" lastClr="000000"/>
                </a:solidFill>
                <a:latin typeface="Telegraf"/>
              </a:rPr>
              <a:t>* Estimation Total capex with Road access and land development and permitting + production facilities = 3.765 MUSD (road &amp; land 601K USD; Prod. Facilities 1.011 MUSD)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panose="020B0604020202020204"/>
              </a:rPr>
              <a:t>WELL CLASSIFICATION</a:t>
            </a:r>
          </a:p>
        </p:txBody>
      </p:sp>
      <p:sp>
        <p:nvSpPr>
          <p:cNvPr id="5" name="AnswerBox"/>
          <p:cNvSpPr txBox="1">
            <a:spLocks/>
          </p:cNvSpPr>
          <p:nvPr/>
        </p:nvSpPr>
        <p:spPr>
          <a:xfrm>
            <a:off x="250316" y="1610601"/>
            <a:ext cx="11691684" cy="1046374"/>
          </a:xfrm>
          <a:prstGeom prst="rect">
            <a:avLst/>
          </a:prstGeom>
          <a:solidFill>
            <a:srgbClr val="1F4E79"/>
          </a:solidFill>
          <a:ln>
            <a:noFill/>
          </a:ln>
        </p:spPr>
        <p:txBody>
          <a:bodyPr lIns="120000" tIns="60000" rIns="120000" bIns="60000" anchor="ctr">
            <a:normAutofit fontScale="92500"/>
          </a:bodyPr>
          <a:lstStyle>
            <a:defPPr>
              <a:defRPr lang="en-US"/>
            </a:defPPr>
            <a:lvl1pPr>
              <a:defRPr sz="2800" b="1">
                <a:solidFill>
                  <a:prstClr val="white"/>
                </a:solidFill>
                <a:latin typeface="Calibri"/>
              </a:defRPr>
            </a:lvl1pPr>
          </a:lstStyle>
          <a:p>
            <a:r>
              <a:rPr lang="en-US" dirty="0">
                <a:latin typeface="Telegraf"/>
              </a:rPr>
              <a:t>“Alpha-07 is a Development Well — directional J-type producer with cased-hole completion and ESP artificial lift — the lowest-risk execution path for Alpha Field.”</a:t>
            </a:r>
          </a:p>
        </p:txBody>
      </p:sp>
      <p:sp>
        <p:nvSpPr>
          <p:cNvPr id="7" name="ReasoningText"/>
          <p:cNvSpPr txBox="1">
            <a:spLocks/>
          </p:cNvSpPr>
          <p:nvPr/>
        </p:nvSpPr>
        <p:spPr>
          <a:xfrm>
            <a:off x="250316" y="3168251"/>
            <a:ext cx="5600000" cy="1200000"/>
          </a:xfrm>
          <a:prstGeom prst="rect">
            <a:avLst/>
          </a:prstGeom>
          <a:solidFill>
            <a:srgbClr val="EBF3FB"/>
          </a:solidFill>
          <a:ln>
            <a:noFill/>
          </a:ln>
        </p:spPr>
        <p:txBody>
          <a:bodyPr lIns="120000" tIns="80000" rIns="120000" bIns="80000" anchor="t">
            <a:normAutofit fontScale="85000" lnSpcReduction="10000"/>
          </a:bodyPr>
          <a:lstStyle/>
          <a:p>
            <a:pPr algn="just"/>
            <a:r>
              <a:rPr lang="en-US" sz="1400" dirty="0">
                <a:solidFill>
                  <a:srgbClr val="1F4E79"/>
                </a:solidFill>
                <a:latin typeface="Telegraf"/>
              </a:rPr>
              <a:t>The four target reservoirs (Bara, Bama, Raja, Prima sands) are fully delineated through 6 prior drilling campaigns (Alpha-01 to Alpha-06), removing subsurface definition risk. Classification as Development Well allows execution team to focus on operational variables: wellbore stability, loss circulation, and cementing quality. ESP is required to overcome field-wide ~99% water cut and sustain economic production rates. the primary objective of the well is hydrocarbon production.</a:t>
            </a:r>
          </a:p>
        </p:txBody>
      </p:sp>
      <p:sp>
        <p:nvSpPr>
          <p:cNvPr id="9" name="EvidenceText"/>
          <p:cNvSpPr txBox="1">
            <a:spLocks/>
          </p:cNvSpPr>
          <p:nvPr/>
        </p:nvSpPr>
        <p:spPr>
          <a:xfrm>
            <a:off x="6100316" y="3168251"/>
            <a:ext cx="5841684" cy="1200000"/>
          </a:xfrm>
          <a:prstGeom prst="rect">
            <a:avLst/>
          </a:prstGeom>
          <a:solidFill>
            <a:srgbClr val="DDEEFF"/>
          </a:solidFill>
          <a:ln>
            <a:noFill/>
          </a:ln>
        </p:spPr>
        <p:txBody>
          <a:bodyPr lIns="120000" tIns="80000" rIns="120000" bIns="80000" anchor="t">
            <a:normAutofit/>
          </a:bodyPr>
          <a:lstStyle/>
          <a:p>
            <a:r>
              <a:rPr lang="en-US" sz="1100" b="1" dirty="0">
                <a:solidFill>
                  <a:srgbClr val="002060"/>
                </a:solidFill>
                <a:latin typeface="Telegraf"/>
              </a:rPr>
              <a:t>• </a:t>
            </a:r>
            <a:r>
              <a:rPr lang="en-US" sz="1100" dirty="0">
                <a:solidFill>
                  <a:srgbClr val="1F2D3D"/>
                </a:solidFill>
                <a:latin typeface="Telegraf"/>
              </a:rPr>
              <a:t>6 offset wells (Alpha-01–06) provide direct analog data</a:t>
            </a:r>
          </a:p>
          <a:p>
            <a:r>
              <a:rPr lang="en-US" sz="1100" b="1" dirty="0">
                <a:solidFill>
                  <a:srgbClr val="002060"/>
                </a:solidFill>
                <a:latin typeface="Telegraf"/>
              </a:rPr>
              <a:t>• </a:t>
            </a:r>
            <a:r>
              <a:rPr lang="en-US" sz="1100" dirty="0">
                <a:solidFill>
                  <a:srgbClr val="1F2D3D"/>
                </a:solidFill>
                <a:latin typeface="Telegraf"/>
              </a:rPr>
              <a:t>Bara, Bama, Raja, Prima sands: proven hydrocarbon productivity (adequately defined through previous development activities)</a:t>
            </a:r>
          </a:p>
          <a:p>
            <a:r>
              <a:rPr lang="en-US" sz="1100" b="1" dirty="0">
                <a:solidFill>
                  <a:srgbClr val="002060"/>
                </a:solidFill>
                <a:latin typeface="Telegraf"/>
              </a:rPr>
              <a:t>• </a:t>
            </a:r>
            <a:r>
              <a:rPr lang="en-US" sz="1100" dirty="0">
                <a:solidFill>
                  <a:srgbClr val="1F2D3D"/>
                </a:solidFill>
                <a:latin typeface="Telegraf"/>
              </a:rPr>
              <a:t>Cased-hole completion enables selective zonal perforation</a:t>
            </a:r>
          </a:p>
          <a:p>
            <a:r>
              <a:rPr lang="en-US" sz="1100" b="1" dirty="0">
                <a:solidFill>
                  <a:srgbClr val="002060"/>
                </a:solidFill>
                <a:latin typeface="Telegraf"/>
              </a:rPr>
              <a:t>• </a:t>
            </a:r>
            <a:r>
              <a:rPr lang="en-US" sz="1100" dirty="0">
                <a:solidFill>
                  <a:srgbClr val="1F2D3D"/>
                </a:solidFill>
                <a:latin typeface="Telegraf"/>
              </a:rPr>
              <a:t>ESP: custom-manufactured to well spec; 16–24 week lead time</a:t>
            </a:r>
          </a:p>
          <a:p>
            <a:r>
              <a:rPr lang="en-US" sz="1100" b="1" dirty="0">
                <a:solidFill>
                  <a:srgbClr val="002060"/>
                </a:solidFill>
                <a:latin typeface="Telegraf"/>
              </a:rPr>
              <a:t>• </a:t>
            </a:r>
            <a:r>
              <a:rPr lang="en-US" sz="1100" dirty="0">
                <a:solidFill>
                  <a:srgbClr val="1F2D3D"/>
                </a:solidFill>
                <a:latin typeface="Telegraf"/>
              </a:rPr>
              <a:t>Target TD ~4,042–4,676 ft TVD; within 750 HP rig competency</a:t>
            </a:r>
          </a:p>
        </p:txBody>
      </p:sp>
      <p:sp>
        <p:nvSpPr>
          <p:cNvPr id="10" name="Card1"/>
          <p:cNvSpPr txBox="1">
            <a:spLocks/>
          </p:cNvSpPr>
          <p:nvPr/>
        </p:nvSpPr>
        <p:spPr>
          <a:xfrm>
            <a:off x="250316" y="4596949"/>
            <a:ext cx="3750000" cy="1000000"/>
          </a:xfrm>
          <a:prstGeom prst="rect">
            <a:avLst/>
          </a:prstGeom>
          <a:solidFill>
            <a:srgbClr val="002060"/>
          </a:solidFill>
          <a:ln>
            <a:noFill/>
          </a:ln>
        </p:spPr>
        <p:txBody>
          <a:bodyPr lIns="120000" tIns="80000" rIns="120000" bIns="80000" anchor="ctr">
            <a:normAutofit/>
          </a:bodyPr>
          <a:lstStyle/>
          <a:p>
            <a:pPr algn="ctr"/>
            <a:r>
              <a:rPr lang="en-US" sz="2400" b="1" dirty="0">
                <a:solidFill>
                  <a:prstClr val="white"/>
                </a:solidFill>
                <a:latin typeface="Telegraf"/>
              </a:rPr>
              <a:t>750 HP Rig</a:t>
            </a:r>
          </a:p>
          <a:p>
            <a:pPr algn="ctr"/>
            <a:r>
              <a:rPr lang="en-US" sz="1100" dirty="0">
                <a:solidFill>
                  <a:srgbClr val="BDD7EE"/>
                </a:solidFill>
                <a:latin typeface="Telegraf"/>
              </a:rPr>
              <a:t>Land rig | Directional J-type</a:t>
            </a:r>
          </a:p>
        </p:txBody>
      </p:sp>
      <p:sp>
        <p:nvSpPr>
          <p:cNvPr id="11" name="Card2"/>
          <p:cNvSpPr txBox="1">
            <a:spLocks/>
          </p:cNvSpPr>
          <p:nvPr/>
        </p:nvSpPr>
        <p:spPr>
          <a:xfrm>
            <a:off x="4071150" y="4596949"/>
            <a:ext cx="3750000" cy="1000000"/>
          </a:xfrm>
          <a:prstGeom prst="rect">
            <a:avLst/>
          </a:prstGeom>
          <a:solidFill>
            <a:srgbClr val="1F4E79"/>
          </a:solidFill>
          <a:ln>
            <a:noFill/>
          </a:ln>
        </p:spPr>
        <p:txBody>
          <a:bodyPr lIns="120000" tIns="80000" rIns="120000" bIns="80000" anchor="ctr">
            <a:normAutofit/>
          </a:bodyPr>
          <a:lstStyle/>
          <a:p>
            <a:pPr algn="ctr"/>
            <a:r>
              <a:rPr lang="en-US" sz="2400" b="1" dirty="0">
                <a:solidFill>
                  <a:prstClr val="white"/>
                </a:solidFill>
                <a:latin typeface="Telegraf"/>
              </a:rPr>
              <a:t>~5,312 ft MD</a:t>
            </a:r>
          </a:p>
          <a:p>
            <a:pPr algn="ctr"/>
            <a:r>
              <a:rPr lang="en-US" sz="1100" dirty="0">
                <a:solidFill>
                  <a:srgbClr val="BDD7EE"/>
                </a:solidFill>
                <a:latin typeface="Telegraf"/>
              </a:rPr>
              <a:t>Planned Total Depth</a:t>
            </a:r>
          </a:p>
        </p:txBody>
      </p:sp>
      <p:sp>
        <p:nvSpPr>
          <p:cNvPr id="12" name="Card3"/>
          <p:cNvSpPr txBox="1">
            <a:spLocks/>
          </p:cNvSpPr>
          <p:nvPr/>
        </p:nvSpPr>
        <p:spPr>
          <a:xfrm>
            <a:off x="7891984" y="4596949"/>
            <a:ext cx="4050316" cy="1000000"/>
          </a:xfrm>
          <a:prstGeom prst="rect">
            <a:avLst/>
          </a:prstGeom>
          <a:solidFill>
            <a:srgbClr val="2E75B6"/>
          </a:solidFill>
          <a:ln>
            <a:noFill/>
          </a:ln>
        </p:spPr>
        <p:txBody>
          <a:bodyPr lIns="120000" tIns="80000" rIns="120000" bIns="80000" anchor="ctr">
            <a:normAutofit/>
          </a:bodyPr>
          <a:lstStyle/>
          <a:p>
            <a:pPr algn="ctr"/>
            <a:r>
              <a:rPr lang="en-US" sz="2400" b="1" dirty="0">
                <a:solidFill>
                  <a:prstClr val="white"/>
                </a:solidFill>
                <a:latin typeface="Telegraf"/>
              </a:rPr>
              <a:t>Cased-hole + ESP</a:t>
            </a:r>
          </a:p>
          <a:p>
            <a:pPr algn="ctr"/>
            <a:r>
              <a:rPr lang="en-US" sz="1100" dirty="0">
                <a:solidFill>
                  <a:prstClr val="white"/>
                </a:solidFill>
                <a:latin typeface="Telegraf"/>
              </a:rPr>
              <a:t>Completion design | Artificial lift (Submersible Pump)</a:t>
            </a:r>
          </a:p>
        </p:txBody>
      </p:sp>
      <p:sp>
        <p:nvSpPr>
          <p:cNvPr id="21" name="TextBox 20">
            <a:extLst>
              <a:ext uri="{FF2B5EF4-FFF2-40B4-BE49-F238E27FC236}">
                <a16:creationId xmlns:a16="http://schemas.microsoft.com/office/drawing/2014/main" id="{14EEB722-9058-1139-E101-E384D715451B}"/>
              </a:ext>
            </a:extLst>
          </p:cNvPr>
          <p:cNvSpPr txBox="1"/>
          <p:nvPr/>
        </p:nvSpPr>
        <p:spPr>
          <a:xfrm>
            <a:off x="5083446" y="96981"/>
            <a:ext cx="1445512"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400" dirty="0"/>
              <a:t>Typical Design </a:t>
            </a:r>
            <a:r>
              <a:rPr lang="en-US" sz="1400" dirty="0" err="1"/>
              <a:t>Wellpad</a:t>
            </a:r>
            <a:r>
              <a:rPr lang="en-US" sz="1400" dirty="0"/>
              <a:t> Rig Layout 750 HP</a:t>
            </a:r>
          </a:p>
        </p:txBody>
      </p:sp>
      <p:sp>
        <p:nvSpPr>
          <p:cNvPr id="15" name="ReasoningLabel">
            <a:extLst>
              <a:ext uri="{FF2B5EF4-FFF2-40B4-BE49-F238E27FC236}">
                <a16:creationId xmlns:a16="http://schemas.microsoft.com/office/drawing/2014/main" id="{84E149CC-A490-C021-82EC-1F5885411B31}"/>
              </a:ext>
            </a:extLst>
          </p:cNvPr>
          <p:cNvSpPr txBox="1">
            <a:spLocks/>
          </p:cNvSpPr>
          <p:nvPr/>
        </p:nvSpPr>
        <p:spPr>
          <a:xfrm>
            <a:off x="250316" y="2780002"/>
            <a:ext cx="1200000" cy="340000"/>
          </a:xfrm>
          <a:prstGeom prst="rect">
            <a:avLst/>
          </a:prstGeom>
          <a:solidFill>
            <a:srgbClr val="2E75B6"/>
          </a:solidFill>
          <a:ln>
            <a:noFill/>
          </a:ln>
        </p:spPr>
        <p:txBody>
          <a:bodyPr lIns="80000" tIns="40000" rIns="80000" bIns="40000" anchor="ctr">
            <a:normAutofit/>
          </a:bodyPr>
          <a:lstStyle/>
          <a:p>
            <a:pPr algn="ctr"/>
            <a:r>
              <a:rPr lang="en-US" sz="1200" b="1" dirty="0">
                <a:solidFill>
                  <a:prstClr val="white"/>
                </a:solidFill>
                <a:latin typeface="Telegraf"/>
              </a:rPr>
              <a:t>Description</a:t>
            </a:r>
          </a:p>
        </p:txBody>
      </p:sp>
      <p:sp>
        <p:nvSpPr>
          <p:cNvPr id="17" name="EvidenceLabel">
            <a:extLst>
              <a:ext uri="{FF2B5EF4-FFF2-40B4-BE49-F238E27FC236}">
                <a16:creationId xmlns:a16="http://schemas.microsoft.com/office/drawing/2014/main" id="{0242A1E5-BE02-E09C-2A6F-27DEC47FCA83}"/>
              </a:ext>
            </a:extLst>
          </p:cNvPr>
          <p:cNvSpPr txBox="1">
            <a:spLocks/>
          </p:cNvSpPr>
          <p:nvPr/>
        </p:nvSpPr>
        <p:spPr>
          <a:xfrm>
            <a:off x="6100316" y="2780002"/>
            <a:ext cx="1200000" cy="340000"/>
          </a:xfrm>
          <a:prstGeom prst="rect">
            <a:avLst/>
          </a:prstGeom>
          <a:solidFill>
            <a:srgbClr val="002060"/>
          </a:solidFill>
          <a:ln>
            <a:noFill/>
          </a:ln>
        </p:spPr>
        <p:txBody>
          <a:bodyPr lIns="80000" tIns="40000" rIns="80000" bIns="40000" anchor="ctr">
            <a:normAutofit/>
          </a:bodyPr>
          <a:lstStyle/>
          <a:p>
            <a:pPr algn="ctr"/>
            <a:r>
              <a:rPr lang="en-US" sz="1200" b="1" dirty="0">
                <a:solidFill>
                  <a:prstClr val="white"/>
                </a:solidFill>
                <a:latin typeface="Telegraf"/>
              </a:rPr>
              <a:t>Key highlights</a:t>
            </a:r>
          </a:p>
        </p:txBody>
      </p:sp>
      <p:pic>
        <p:nvPicPr>
          <p:cNvPr id="19" name="Picture 18">
            <a:extLst>
              <a:ext uri="{FF2B5EF4-FFF2-40B4-BE49-F238E27FC236}">
                <a16:creationId xmlns:a16="http://schemas.microsoft.com/office/drawing/2014/main" id="{9F84D47C-9E8F-8A68-2A9E-35029CF5DA62}"/>
              </a:ext>
            </a:extLst>
          </p:cNvPr>
          <p:cNvPicPr>
            <a:picLocks noChangeAspect="1"/>
          </p:cNvPicPr>
          <p:nvPr/>
        </p:nvPicPr>
        <p:blipFill>
          <a:blip r:embed="rId2"/>
          <a:stretch>
            <a:fillRect/>
          </a:stretch>
        </p:blipFill>
        <p:spPr>
          <a:xfrm>
            <a:off x="4126326" y="-24454"/>
            <a:ext cx="1210061" cy="1144381"/>
          </a:xfrm>
          <a:prstGeom prst="rect">
            <a:avLst/>
          </a:prstGeom>
        </p:spPr>
      </p:pic>
      <p:pic>
        <p:nvPicPr>
          <p:cNvPr id="23" name="Picture 22">
            <a:extLst>
              <a:ext uri="{FF2B5EF4-FFF2-40B4-BE49-F238E27FC236}">
                <a16:creationId xmlns:a16="http://schemas.microsoft.com/office/drawing/2014/main" id="{CB7DABD4-43B6-F372-CC18-66EE0FD24D9F}"/>
              </a:ext>
            </a:extLst>
          </p:cNvPr>
          <p:cNvPicPr>
            <a:picLocks noChangeAspect="1"/>
          </p:cNvPicPr>
          <p:nvPr/>
        </p:nvPicPr>
        <p:blipFill>
          <a:blip r:embed="rId3"/>
          <a:stretch>
            <a:fillRect/>
          </a:stretch>
        </p:blipFill>
        <p:spPr>
          <a:xfrm>
            <a:off x="6527753" y="57679"/>
            <a:ext cx="1193987" cy="1062248"/>
          </a:xfrm>
          <a:prstGeom prst="rect">
            <a:avLst/>
          </a:prstGeom>
        </p:spPr>
      </p:pic>
      <p:sp>
        <p:nvSpPr>
          <p:cNvPr id="24" name="TextBox 23">
            <a:extLst>
              <a:ext uri="{FF2B5EF4-FFF2-40B4-BE49-F238E27FC236}">
                <a16:creationId xmlns:a16="http://schemas.microsoft.com/office/drawing/2014/main" id="{B087D598-4450-D011-CE3D-7634368A9209}"/>
              </a:ext>
            </a:extLst>
          </p:cNvPr>
          <p:cNvSpPr txBox="1"/>
          <p:nvPr/>
        </p:nvSpPr>
        <p:spPr>
          <a:xfrm>
            <a:off x="7575333" y="96981"/>
            <a:ext cx="1509400"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600" dirty="0"/>
              <a:t>Well Trajectory Profile Alpha-07</a:t>
            </a:r>
          </a:p>
        </p:txBody>
      </p:sp>
      <p:sp>
        <p:nvSpPr>
          <p:cNvPr id="4" name="Freeform 6">
            <a:extLst>
              <a:ext uri="{FF2B5EF4-FFF2-40B4-BE49-F238E27FC236}">
                <a16:creationId xmlns:a16="http://schemas.microsoft.com/office/drawing/2014/main" id="{4BACB8BA-EF64-C1AD-8A97-B6354176A1A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4"/>
            <a:stretch>
              <a:fillRect/>
            </a:stretch>
          </a:blipFill>
        </p:spPr>
        <p:txBody>
          <a:bodyPr/>
          <a:lstStyle/>
          <a:p>
            <a:endParaRPr lang="en-ID"/>
          </a:p>
        </p:txBody>
      </p:sp>
      <p:sp>
        <p:nvSpPr>
          <p:cNvPr id="8" name="Title 1">
            <a:extLst>
              <a:ext uri="{FF2B5EF4-FFF2-40B4-BE49-F238E27FC236}">
                <a16:creationId xmlns:a16="http://schemas.microsoft.com/office/drawing/2014/main" id="{3F28C81D-36F9-670F-831D-58EF57AD10F6}"/>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06</a:t>
            </a:r>
            <a:endParaRPr lang="en-ID" dirty="0">
              <a:solidFill>
                <a:schemeClr val="bg1"/>
              </a:solidFill>
              <a:latin typeface="Telegraf Bold" panose="020B0604020202020204" charset="0"/>
            </a:endParaRPr>
          </a:p>
        </p:txBody>
      </p:sp>
      <p:pic>
        <p:nvPicPr>
          <p:cNvPr id="6" name="Picture 5">
            <a:extLst>
              <a:ext uri="{FF2B5EF4-FFF2-40B4-BE49-F238E27FC236}">
                <a16:creationId xmlns:a16="http://schemas.microsoft.com/office/drawing/2014/main" id="{BAD0D114-45F3-7391-8329-50FB27B663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4" name="Google Shape;40;p1" descr="Blue text and blue letters on a black background&#10;&#10;Description automatically generated">
            <a:extLst>
              <a:ext uri="{FF2B5EF4-FFF2-40B4-BE49-F238E27FC236}">
                <a16:creationId xmlns:a16="http://schemas.microsoft.com/office/drawing/2014/main" id="{274C33FD-4FD2-0CD9-16A0-4325340315A9}"/>
              </a:ext>
            </a:extLst>
          </p:cNvPr>
          <p:cNvPicPr preferRelativeResize="0"/>
          <p:nvPr/>
        </p:nvPicPr>
        <p:blipFill rotWithShape="1">
          <a:blip r:embed="rId6">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Telegraf Bold"/>
              </a:rPr>
              <a:t>SUCCESS CRITERIA &amp; KPIs</a:t>
            </a:r>
          </a:p>
        </p:txBody>
      </p:sp>
      <p:sp>
        <p:nvSpPr>
          <p:cNvPr id="5" name="AnswerBox"/>
          <p:cNvSpPr txBox="1">
            <a:spLocks/>
          </p:cNvSpPr>
          <p:nvPr/>
        </p:nvSpPr>
        <p:spPr>
          <a:xfrm>
            <a:off x="250316" y="1267934"/>
            <a:ext cx="11691684" cy="1277333"/>
          </a:xfrm>
          <a:prstGeom prst="rect">
            <a:avLst/>
          </a:prstGeom>
          <a:solidFill>
            <a:srgbClr val="1F4E79"/>
          </a:solidFill>
          <a:ln>
            <a:noFill/>
          </a:ln>
        </p:spPr>
        <p:txBody>
          <a:bodyPr lIns="120000" tIns="60000" rIns="120000" bIns="60000" anchor="ctr">
            <a:normAutofit fontScale="92500" lnSpcReduction="10000"/>
          </a:bodyPr>
          <a:lstStyle>
            <a:defPPr>
              <a:defRPr lang="en-US"/>
            </a:defPPr>
            <a:lvl1pPr>
              <a:defRPr sz="2800" b="1">
                <a:solidFill>
                  <a:prstClr val="white"/>
                </a:solidFill>
                <a:latin typeface="Calibri"/>
              </a:defRPr>
            </a:lvl1pPr>
          </a:lstStyle>
          <a:p>
            <a:pPr algn="just"/>
            <a:r>
              <a:rPr lang="en-US" dirty="0">
                <a:latin typeface="Telegraf"/>
              </a:rPr>
              <a:t>Success is defined by three mutually reinforcing criteria: subsurface data capture, production rate confirmation, and cost discipline — within a zero-LTI HSSE envelope.</a:t>
            </a:r>
          </a:p>
        </p:txBody>
      </p:sp>
      <p:sp>
        <p:nvSpPr>
          <p:cNvPr id="6" name="KPI1"/>
          <p:cNvSpPr txBox="1">
            <a:spLocks/>
          </p:cNvSpPr>
          <p:nvPr/>
        </p:nvSpPr>
        <p:spPr>
          <a:xfrm>
            <a:off x="250316" y="2685450"/>
            <a:ext cx="3810000" cy="840000"/>
          </a:xfrm>
          <a:prstGeom prst="rect">
            <a:avLst/>
          </a:prstGeom>
          <a:solidFill>
            <a:srgbClr val="002060"/>
          </a:solidFill>
          <a:ln>
            <a:noFill/>
          </a:ln>
        </p:spPr>
        <p:txBody>
          <a:bodyPr lIns="120000" tIns="80000" rIns="120000" bIns="60000" anchor="ctr">
            <a:normAutofit/>
          </a:bodyPr>
          <a:lstStyle/>
          <a:p>
            <a:pPr algn="ctr"/>
            <a:r>
              <a:rPr lang="en-US" sz="2400" b="1" dirty="0">
                <a:solidFill>
                  <a:prstClr val="white"/>
                </a:solidFill>
                <a:latin typeface="Telegraf"/>
              </a:rPr>
              <a:t>~5,000 ft MD</a:t>
            </a:r>
          </a:p>
          <a:p>
            <a:pPr algn="ctr"/>
            <a:r>
              <a:rPr lang="en-US" sz="1050" dirty="0">
                <a:solidFill>
                  <a:srgbClr val="BDD7EE"/>
                </a:solidFill>
                <a:latin typeface="Telegraf"/>
              </a:rPr>
              <a:t>Planned Total Depth | All 4 reservoirs penetrated</a:t>
            </a:r>
          </a:p>
        </p:txBody>
      </p:sp>
      <p:sp>
        <p:nvSpPr>
          <p:cNvPr id="7" name="KPI2"/>
          <p:cNvSpPr txBox="1">
            <a:spLocks/>
          </p:cNvSpPr>
          <p:nvPr/>
        </p:nvSpPr>
        <p:spPr>
          <a:xfrm>
            <a:off x="4190316" y="2685450"/>
            <a:ext cx="3810000" cy="840000"/>
          </a:xfrm>
          <a:prstGeom prst="rect">
            <a:avLst/>
          </a:prstGeom>
          <a:solidFill>
            <a:srgbClr val="1F4E79"/>
          </a:solidFill>
          <a:ln>
            <a:noFill/>
          </a:ln>
        </p:spPr>
        <p:txBody>
          <a:bodyPr lIns="120000" tIns="80000" rIns="120000" bIns="60000" anchor="ctr">
            <a:normAutofit/>
          </a:bodyPr>
          <a:lstStyle/>
          <a:p>
            <a:pPr algn="ctr"/>
            <a:r>
              <a:rPr lang="en-US" sz="2400" b="1" dirty="0">
                <a:solidFill>
                  <a:prstClr val="white"/>
                </a:solidFill>
                <a:latin typeface="Telegraf"/>
              </a:rPr>
              <a:t>132 BOPD</a:t>
            </a:r>
          </a:p>
          <a:p>
            <a:pPr algn="ctr"/>
            <a:r>
              <a:rPr lang="en-US" sz="1050" dirty="0">
                <a:solidFill>
                  <a:srgbClr val="BDD7EE"/>
                </a:solidFill>
                <a:latin typeface="Telegraf"/>
              </a:rPr>
              <a:t>IP P50 | P10–P90: 106–158 BOPD</a:t>
            </a:r>
          </a:p>
        </p:txBody>
      </p:sp>
      <p:sp>
        <p:nvSpPr>
          <p:cNvPr id="8" name="KPI3"/>
          <p:cNvSpPr txBox="1">
            <a:spLocks/>
          </p:cNvSpPr>
          <p:nvPr/>
        </p:nvSpPr>
        <p:spPr>
          <a:xfrm>
            <a:off x="8130316" y="2685450"/>
            <a:ext cx="3812000" cy="840000"/>
          </a:xfrm>
          <a:prstGeom prst="rect">
            <a:avLst/>
          </a:prstGeom>
          <a:solidFill>
            <a:srgbClr val="2E75B6"/>
          </a:solidFill>
          <a:ln>
            <a:noFill/>
          </a:ln>
        </p:spPr>
        <p:txBody>
          <a:bodyPr lIns="120000" tIns="80000" rIns="120000" bIns="60000" anchor="ctr">
            <a:normAutofit/>
          </a:bodyPr>
          <a:lstStyle/>
          <a:p>
            <a:pPr algn="ctr"/>
            <a:r>
              <a:rPr lang="en-US" sz="2400" b="1" dirty="0">
                <a:solidFill>
                  <a:prstClr val="white"/>
                </a:solidFill>
                <a:latin typeface="Telegraf"/>
              </a:rPr>
              <a:t>156 MBO</a:t>
            </a:r>
          </a:p>
          <a:p>
            <a:pPr algn="ctr"/>
            <a:r>
              <a:rPr lang="en-US" sz="1050" dirty="0">
                <a:solidFill>
                  <a:prstClr val="white"/>
                </a:solidFill>
                <a:latin typeface="Telegraf"/>
              </a:rPr>
              <a:t>EUR P50 / well | 5-well = 0.58 MMBO</a:t>
            </a:r>
          </a:p>
        </p:txBody>
      </p:sp>
      <p:sp>
        <p:nvSpPr>
          <p:cNvPr id="9" name="KPI4"/>
          <p:cNvSpPr txBox="1">
            <a:spLocks/>
          </p:cNvSpPr>
          <p:nvPr/>
        </p:nvSpPr>
        <p:spPr>
          <a:xfrm>
            <a:off x="250316" y="3575450"/>
            <a:ext cx="3810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21.3–29.3 days</a:t>
            </a:r>
          </a:p>
          <a:p>
            <a:pPr algn="ctr"/>
            <a:r>
              <a:rPr lang="en-US" sz="1050" dirty="0">
                <a:solidFill>
                  <a:srgbClr val="1F4E79"/>
                </a:solidFill>
                <a:latin typeface="Telegraf"/>
              </a:rPr>
              <a:t>Total Well Cycle Time | intra-field: 18%, inter field: 42%, drilling: 34%; completion: 6%</a:t>
            </a:r>
          </a:p>
        </p:txBody>
      </p:sp>
      <p:sp>
        <p:nvSpPr>
          <p:cNvPr id="10" name="KPI5"/>
          <p:cNvSpPr txBox="1">
            <a:spLocks/>
          </p:cNvSpPr>
          <p:nvPr/>
        </p:nvSpPr>
        <p:spPr>
          <a:xfrm>
            <a:off x="4190316" y="3575450"/>
            <a:ext cx="3810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&lt;5–10% NPT</a:t>
            </a:r>
          </a:p>
          <a:p>
            <a:pPr algn="ctr"/>
            <a:r>
              <a:rPr lang="en-US" sz="1050" dirty="0">
                <a:solidFill>
                  <a:srgbClr val="1F4E79"/>
                </a:solidFill>
                <a:latin typeface="Telegraf"/>
              </a:rPr>
              <a:t>Non-Productive Time Target</a:t>
            </a:r>
          </a:p>
        </p:txBody>
      </p:sp>
      <p:sp>
        <p:nvSpPr>
          <p:cNvPr id="11" name="KPI6"/>
          <p:cNvSpPr txBox="1">
            <a:spLocks/>
          </p:cNvSpPr>
          <p:nvPr/>
        </p:nvSpPr>
        <p:spPr>
          <a:xfrm>
            <a:off x="8130316" y="3575450"/>
            <a:ext cx="3812000" cy="840000"/>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Zero LTI</a:t>
            </a:r>
          </a:p>
          <a:p>
            <a:pPr algn="ctr"/>
            <a:r>
              <a:rPr lang="en-US" sz="1050" dirty="0">
                <a:solidFill>
                  <a:srgbClr val="1F4E79"/>
                </a:solidFill>
                <a:latin typeface="Telegraf"/>
              </a:rPr>
              <a:t>HSSE | SKK Migas + CES compliance</a:t>
            </a:r>
          </a:p>
        </p:txBody>
      </p:sp>
      <p:sp>
        <p:nvSpPr>
          <p:cNvPr id="18" name="TextBox 17">
            <a:extLst>
              <a:ext uri="{FF2B5EF4-FFF2-40B4-BE49-F238E27FC236}">
                <a16:creationId xmlns:a16="http://schemas.microsoft.com/office/drawing/2014/main" id="{6C55173C-A0B8-2665-34E9-A3F3E440EE7E}"/>
              </a:ext>
            </a:extLst>
          </p:cNvPr>
          <p:cNvSpPr txBox="1"/>
          <p:nvPr/>
        </p:nvSpPr>
        <p:spPr>
          <a:xfrm>
            <a:off x="5974101" y="96981"/>
            <a:ext cx="1445512"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2000" dirty="0"/>
              <a:t>Conceptual casing</a:t>
            </a:r>
          </a:p>
        </p:txBody>
      </p:sp>
      <p:sp>
        <p:nvSpPr>
          <p:cNvPr id="12" name="ReasoningBox"/>
          <p:cNvSpPr txBox="1">
            <a:spLocks/>
          </p:cNvSpPr>
          <p:nvPr/>
        </p:nvSpPr>
        <p:spPr>
          <a:xfrm>
            <a:off x="250316" y="4588913"/>
            <a:ext cx="5580000" cy="1277332"/>
          </a:xfrm>
          <a:prstGeom prst="rect">
            <a:avLst/>
          </a:prstGeom>
          <a:solidFill>
            <a:srgbClr val="002060"/>
          </a:solidFill>
          <a:ln>
            <a:noFill/>
          </a:ln>
        </p:spPr>
        <p:txBody>
          <a:bodyPr lIns="120000" tIns="80000" rIns="120000" bIns="60000" anchor="t">
            <a:normAutofit fontScale="92500" lnSpcReduction="10000"/>
          </a:bodyPr>
          <a:lstStyle/>
          <a:p>
            <a:r>
              <a:rPr lang="en-US" sz="1600" b="1" dirty="0">
                <a:solidFill>
                  <a:srgbClr val="BDD7EE"/>
                </a:solidFill>
                <a:latin typeface="Telegraf"/>
              </a:rPr>
              <a:t>Description: </a:t>
            </a:r>
          </a:p>
          <a:p>
            <a:r>
              <a:rPr lang="en-US" sz="1600" dirty="0">
                <a:solidFill>
                  <a:prstClr val="white"/>
                </a:solidFill>
                <a:latin typeface="Telegraf"/>
              </a:rPr>
              <a:t>Gate 1 requires confidence across three dimensions: geological data capture (to de-risk wells 2–5), production validation (DCA-based reserve), and cost control (to keep program investable). Failure on any single dimension impairs the USD ~7.4M 5-well business case.</a:t>
            </a:r>
          </a:p>
        </p:txBody>
      </p:sp>
      <p:sp>
        <p:nvSpPr>
          <p:cNvPr id="13" name="EvidenceBox"/>
          <p:cNvSpPr txBox="1">
            <a:spLocks/>
          </p:cNvSpPr>
          <p:nvPr/>
        </p:nvSpPr>
        <p:spPr>
          <a:xfrm>
            <a:off x="5950316" y="4588913"/>
            <a:ext cx="5992000" cy="1277332"/>
          </a:xfrm>
          <a:prstGeom prst="rect">
            <a:avLst/>
          </a:prstGeom>
          <a:solidFill>
            <a:srgbClr val="1F4E79"/>
          </a:solidFill>
          <a:ln>
            <a:noFill/>
          </a:ln>
        </p:spPr>
        <p:txBody>
          <a:bodyPr lIns="120000" tIns="80000" rIns="120000" bIns="60000" anchor="t">
            <a:normAutofit fontScale="92500" lnSpcReduction="10000"/>
          </a:bodyPr>
          <a:lstStyle/>
          <a:p>
            <a:r>
              <a:rPr lang="en-US" sz="1400" b="1" dirty="0">
                <a:solidFill>
                  <a:srgbClr val="BDD7EE"/>
                </a:solidFill>
                <a:latin typeface="Telegraf"/>
              </a:rPr>
              <a:t>Key </a:t>
            </a:r>
            <a:r>
              <a:rPr lang="en-US" sz="1400" b="1" dirty="0" err="1">
                <a:solidFill>
                  <a:srgbClr val="BDD7EE"/>
                </a:solidFill>
                <a:latin typeface="Telegraf"/>
              </a:rPr>
              <a:t>Higlights</a:t>
            </a:r>
            <a:r>
              <a:rPr lang="en-US" sz="1400" b="1" dirty="0">
                <a:solidFill>
                  <a:srgbClr val="BDD7EE"/>
                </a:solidFill>
                <a:latin typeface="Telegraf"/>
              </a:rPr>
              <a:t>: </a:t>
            </a:r>
          </a:p>
          <a:p>
            <a:pPr marL="171450" indent="-171450">
              <a:buFont typeface="Arial" panose="020B0604020202020204" pitchFamily="34" charset="0"/>
              <a:buChar char="•"/>
            </a:pPr>
            <a:r>
              <a:rPr lang="en-US" sz="1400" dirty="0">
                <a:solidFill>
                  <a:prstClr val="white"/>
                </a:solidFill>
                <a:latin typeface="Telegraf"/>
              </a:rPr>
              <a:t>acquiring complete subsurface data by triple combo logging + pressure test + Side Wall Coring required for full formation evaluation</a:t>
            </a:r>
          </a:p>
          <a:p>
            <a:pPr marL="171450" indent="-171450">
              <a:buFont typeface="Arial" panose="020B0604020202020204" pitchFamily="34" charset="0"/>
              <a:buChar char="•"/>
            </a:pPr>
            <a:r>
              <a:rPr lang="en-US" sz="1400" dirty="0">
                <a:solidFill>
                  <a:prstClr val="white"/>
                </a:solidFill>
                <a:latin typeface="Telegraf"/>
              </a:rPr>
              <a:t>AFE max overrun 10% (USD 177,961 contingency)</a:t>
            </a:r>
          </a:p>
          <a:p>
            <a:pPr marL="171450" indent="-171450">
              <a:buFont typeface="Arial" panose="020B0604020202020204" pitchFamily="34" charset="0"/>
              <a:buChar char="•"/>
            </a:pPr>
            <a:r>
              <a:rPr lang="en-US" sz="1400" dirty="0">
                <a:solidFill>
                  <a:prstClr val="white"/>
                </a:solidFill>
                <a:latin typeface="Telegraf"/>
              </a:rPr>
              <a:t>DCA-validated by Alpha-01, 02, 05 analogs</a:t>
            </a:r>
          </a:p>
          <a:p>
            <a:pPr marL="171450" indent="-171450">
              <a:buFont typeface="Arial" panose="020B0604020202020204" pitchFamily="34" charset="0"/>
              <a:buChar char="•"/>
            </a:pPr>
            <a:r>
              <a:rPr lang="en-US" sz="1400" dirty="0">
                <a:solidFill>
                  <a:prstClr val="white"/>
                </a:solidFill>
                <a:latin typeface="Telegraf"/>
              </a:rPr>
              <a:t>Logging program needed for Gate 2 sanction of wells 2–5.</a:t>
            </a:r>
          </a:p>
        </p:txBody>
      </p:sp>
      <p:pic>
        <p:nvPicPr>
          <p:cNvPr id="15" name="Picture 14">
            <a:extLst>
              <a:ext uri="{FF2B5EF4-FFF2-40B4-BE49-F238E27FC236}">
                <a16:creationId xmlns:a16="http://schemas.microsoft.com/office/drawing/2014/main" id="{CF0648D5-B054-E97F-BDA4-A56A6C427DA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1979" y="-61736"/>
            <a:ext cx="1698586" cy="1016775"/>
          </a:xfrm>
          <a:prstGeom prst="rect">
            <a:avLst/>
          </a:prstGeom>
          <a:noFill/>
        </p:spPr>
      </p:pic>
      <p:pic>
        <p:nvPicPr>
          <p:cNvPr id="16" name="Picture 15">
            <a:extLst>
              <a:ext uri="{FF2B5EF4-FFF2-40B4-BE49-F238E27FC236}">
                <a16:creationId xmlns:a16="http://schemas.microsoft.com/office/drawing/2014/main" id="{6D41AFFE-F7FD-43A3-A959-A080151FB4C5}"/>
              </a:ext>
            </a:extLst>
          </p:cNvPr>
          <p:cNvPicPr>
            <a:picLocks noChangeAspect="1"/>
          </p:cNvPicPr>
          <p:nvPr/>
        </p:nvPicPr>
        <p:blipFill>
          <a:blip r:embed="rId3"/>
          <a:stretch>
            <a:fillRect/>
          </a:stretch>
        </p:blipFill>
        <p:spPr>
          <a:xfrm>
            <a:off x="7334527" y="111674"/>
            <a:ext cx="1003516" cy="823026"/>
          </a:xfrm>
          <a:prstGeom prst="rect">
            <a:avLst/>
          </a:prstGeom>
          <a:ln>
            <a:solidFill>
              <a:schemeClr val="tx1"/>
            </a:solidFill>
          </a:ln>
        </p:spPr>
      </p:pic>
      <p:sp>
        <p:nvSpPr>
          <p:cNvPr id="19" name="TextBox 18">
            <a:extLst>
              <a:ext uri="{FF2B5EF4-FFF2-40B4-BE49-F238E27FC236}">
                <a16:creationId xmlns:a16="http://schemas.microsoft.com/office/drawing/2014/main" id="{10EA3E53-095F-9560-9D43-5E77E8A10DF9}"/>
              </a:ext>
            </a:extLst>
          </p:cNvPr>
          <p:cNvSpPr txBox="1"/>
          <p:nvPr/>
        </p:nvSpPr>
        <p:spPr>
          <a:xfrm>
            <a:off x="8053893" y="96981"/>
            <a:ext cx="1183240" cy="833604"/>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1600" dirty="0"/>
              <a:t>Conceptual wellhead</a:t>
            </a:r>
          </a:p>
        </p:txBody>
      </p:sp>
      <p:sp>
        <p:nvSpPr>
          <p:cNvPr id="4" name="Freeform 6">
            <a:extLst>
              <a:ext uri="{FF2B5EF4-FFF2-40B4-BE49-F238E27FC236}">
                <a16:creationId xmlns:a16="http://schemas.microsoft.com/office/drawing/2014/main" id="{04DE3D96-7922-1BA4-211F-B1149EDA938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4"/>
            <a:stretch>
              <a:fillRect/>
            </a:stretch>
          </a:blipFill>
        </p:spPr>
        <p:txBody>
          <a:bodyPr/>
          <a:lstStyle/>
          <a:p>
            <a:endParaRPr lang="en-ID"/>
          </a:p>
        </p:txBody>
      </p:sp>
      <p:sp>
        <p:nvSpPr>
          <p:cNvPr id="17" name="Title 1">
            <a:extLst>
              <a:ext uri="{FF2B5EF4-FFF2-40B4-BE49-F238E27FC236}">
                <a16:creationId xmlns:a16="http://schemas.microsoft.com/office/drawing/2014/main" id="{B35C6060-4490-5E25-D028-58FF2AA47BE5}"/>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07</a:t>
            </a:r>
            <a:endParaRPr lang="en-ID" dirty="0">
              <a:solidFill>
                <a:schemeClr val="bg1"/>
              </a:solidFill>
              <a:latin typeface="Telegraf Bold" panose="020B0604020202020204" charset="0"/>
            </a:endParaRPr>
          </a:p>
        </p:txBody>
      </p:sp>
      <p:pic>
        <p:nvPicPr>
          <p:cNvPr id="14" name="Picture 13">
            <a:extLst>
              <a:ext uri="{FF2B5EF4-FFF2-40B4-BE49-F238E27FC236}">
                <a16:creationId xmlns:a16="http://schemas.microsoft.com/office/drawing/2014/main" id="{42244E7B-FAE2-3B3B-6752-8A0395B37E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22" name="Google Shape;40;p1" descr="Blue text and blue letters on a black background&#10;&#10;Description automatically generated">
            <a:extLst>
              <a:ext uri="{FF2B5EF4-FFF2-40B4-BE49-F238E27FC236}">
                <a16:creationId xmlns:a16="http://schemas.microsoft.com/office/drawing/2014/main" id="{31921C5B-4A89-5562-436A-D677BD8DFFA1}"/>
              </a:ext>
            </a:extLst>
          </p:cNvPr>
          <p:cNvPicPr preferRelativeResize="0"/>
          <p:nvPr/>
        </p:nvPicPr>
        <p:blipFill rotWithShape="1">
          <a:blip r:embed="rId6">
            <a:alphaModFix/>
          </a:blip>
          <a:srcRect t="18354" b="20955"/>
          <a:stretch>
            <a:fillRect/>
          </a:stretch>
        </p:blipFill>
        <p:spPr>
          <a:xfrm>
            <a:off x="10618381" y="0"/>
            <a:ext cx="1573619" cy="9550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6">
            <a:extLst>
              <a:ext uri="{FF2B5EF4-FFF2-40B4-BE49-F238E27FC236}">
                <a16:creationId xmlns:a16="http://schemas.microsoft.com/office/drawing/2014/main" id="{A4ACD66B-CD93-2A89-FAAB-C88D5AAC740A}"/>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2"/>
            <a:stretch>
              <a:fillRect/>
            </a:stretch>
          </a:blipFill>
        </p:spPr>
        <p:txBody>
          <a:bodyPr/>
          <a:lstStyle/>
          <a:p>
            <a:endParaRPr lang="en-ID"/>
          </a:p>
        </p:txBody>
      </p:sp>
      <p:sp>
        <p:nvSpPr>
          <p:cNvPr id="2" name="Header Bar"/>
          <p:cNvSpPr/>
          <p:nvPr/>
        </p:nvSpPr>
        <p:spPr>
          <a:xfrm>
            <a:off x="-9427" y="-9428"/>
            <a:ext cx="9436231" cy="955039"/>
          </a:xfrm>
          <a:prstGeom prst="homePlate">
            <a:avLst>
              <a:gd name="adj" fmla="val 22181"/>
            </a:avLst>
          </a:prstGeom>
          <a:solidFill>
            <a:srgbClr val="002060"/>
          </a:solidFill>
          <a:ln>
            <a:noFill/>
          </a:ln>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sz="2800" b="1" dirty="0">
                <a:solidFill>
                  <a:prstClr val="white"/>
                </a:solidFill>
                <a:latin typeface="Calibri"/>
              </a:rPr>
              <a:t>EXECUTIVE SANCTION REQUEST</a:t>
            </a:r>
          </a:p>
        </p:txBody>
      </p:sp>
      <p:sp>
        <p:nvSpPr>
          <p:cNvPr id="5" name="AnswerBox"/>
          <p:cNvSpPr txBox="1">
            <a:spLocks/>
          </p:cNvSpPr>
          <p:nvPr/>
        </p:nvSpPr>
        <p:spPr>
          <a:xfrm>
            <a:off x="250316" y="1056258"/>
            <a:ext cx="11691684" cy="1243668"/>
          </a:xfrm>
          <a:prstGeom prst="rect">
            <a:avLst/>
          </a:prstGeom>
          <a:solidFill>
            <a:srgbClr val="1F4E79"/>
          </a:solidFill>
          <a:ln>
            <a:noFill/>
          </a:ln>
        </p:spPr>
        <p:txBody>
          <a:bodyPr lIns="120000" tIns="60000" rIns="120000" bIns="60000" anchor="ctr">
            <a:noAutofit/>
          </a:bodyPr>
          <a:lstStyle>
            <a:defPPr>
              <a:defRPr lang="en-US"/>
            </a:defPPr>
            <a:lvl1pPr algn="just">
              <a:defRPr sz="2800" b="1">
                <a:solidFill>
                  <a:prstClr val="white"/>
                </a:solidFill>
                <a:latin typeface="Calibri"/>
              </a:defRPr>
            </a:lvl1pPr>
          </a:lstStyle>
          <a:p>
            <a:r>
              <a:rPr lang="en-US" sz="2000" dirty="0">
                <a:latin typeface="Telegraf"/>
              </a:rPr>
              <a:t>“Management approval is requested for 3 specific actions:</a:t>
            </a:r>
          </a:p>
          <a:p>
            <a:pPr marL="514350" indent="-514350">
              <a:buAutoNum type="arabicParenBoth"/>
            </a:pPr>
            <a:r>
              <a:rPr lang="en-US" sz="2000" dirty="0">
                <a:latin typeface="Telegraf"/>
              </a:rPr>
              <a:t>Sanction Alpha-07 execution</a:t>
            </a:r>
          </a:p>
          <a:p>
            <a:pPr marL="514350" indent="-514350">
              <a:buAutoNum type="arabicParenBoth"/>
            </a:pPr>
            <a:r>
              <a:rPr lang="en-US" sz="2000" dirty="0">
                <a:latin typeface="Telegraf"/>
              </a:rPr>
              <a:t>Authorize USD 1.96M AFE + contingency</a:t>
            </a:r>
          </a:p>
          <a:p>
            <a:pPr marL="514350" indent="-514350">
              <a:buAutoNum type="arabicParenBoth"/>
            </a:pPr>
            <a:r>
              <a:rPr lang="en-US" sz="2000" dirty="0">
                <a:latin typeface="Telegraf"/>
              </a:rPr>
              <a:t>Formally accept the defined risk envelope to proceed to Gate 2.”</a:t>
            </a:r>
          </a:p>
        </p:txBody>
      </p:sp>
      <p:sp>
        <p:nvSpPr>
          <p:cNvPr id="6" name="Action1"/>
          <p:cNvSpPr txBox="1">
            <a:spLocks/>
          </p:cNvSpPr>
          <p:nvPr/>
        </p:nvSpPr>
        <p:spPr>
          <a:xfrm>
            <a:off x="250316" y="2359713"/>
            <a:ext cx="3750000" cy="1100000"/>
          </a:xfrm>
          <a:prstGeom prst="rect">
            <a:avLst/>
          </a:prstGeom>
          <a:solidFill>
            <a:srgbClr val="002060"/>
          </a:solidFill>
          <a:ln>
            <a:noFill/>
          </a:ln>
        </p:spPr>
        <p:txBody>
          <a:bodyPr lIns="140000" tIns="100000" rIns="140000" bIns="80000" anchor="ctr">
            <a:normAutofit/>
          </a:bodyPr>
          <a:lstStyle/>
          <a:p>
            <a:pPr algn="ctr"/>
            <a:r>
              <a:rPr lang="en-US" sz="3200" b="1" dirty="0">
                <a:solidFill>
                  <a:srgbClr val="FFD700"/>
                </a:solidFill>
                <a:latin typeface="Telegraf"/>
              </a:rPr>
              <a:t>ACTION 1</a:t>
            </a:r>
          </a:p>
          <a:p>
            <a:pPr algn="ctr"/>
            <a:r>
              <a:rPr lang="en-US" sz="1300" b="1" dirty="0">
                <a:solidFill>
                  <a:prstClr val="white"/>
                </a:solidFill>
                <a:latin typeface="Telegraf"/>
              </a:rPr>
              <a:t>Sanction Execution</a:t>
            </a:r>
          </a:p>
          <a:p>
            <a:pPr algn="ctr"/>
            <a:r>
              <a:rPr lang="en-US" sz="1050" dirty="0">
                <a:solidFill>
                  <a:srgbClr val="BDD7EE"/>
                </a:solidFill>
                <a:latin typeface="Telegraf"/>
              </a:rPr>
              <a:t>Deploy 750 HP land rig | Alpha-07 directional drilling ops</a:t>
            </a:r>
          </a:p>
        </p:txBody>
      </p:sp>
      <p:sp>
        <p:nvSpPr>
          <p:cNvPr id="7" name="Action2"/>
          <p:cNvSpPr txBox="1">
            <a:spLocks/>
          </p:cNvSpPr>
          <p:nvPr/>
        </p:nvSpPr>
        <p:spPr>
          <a:xfrm>
            <a:off x="4190316" y="2359713"/>
            <a:ext cx="3750000" cy="1100000"/>
          </a:xfrm>
          <a:prstGeom prst="rect">
            <a:avLst/>
          </a:prstGeom>
          <a:solidFill>
            <a:srgbClr val="1F4E79"/>
          </a:solidFill>
          <a:ln>
            <a:noFill/>
          </a:ln>
        </p:spPr>
        <p:txBody>
          <a:bodyPr lIns="140000" tIns="100000" rIns="140000" bIns="80000" anchor="ctr">
            <a:normAutofit/>
          </a:bodyPr>
          <a:lstStyle/>
          <a:p>
            <a:pPr algn="ctr"/>
            <a:r>
              <a:rPr lang="en-US" sz="3200" b="1" dirty="0">
                <a:solidFill>
                  <a:srgbClr val="FFD700"/>
                </a:solidFill>
                <a:latin typeface="Telegraf"/>
              </a:rPr>
              <a:t>ACTION 2</a:t>
            </a:r>
          </a:p>
          <a:p>
            <a:pPr algn="ctr"/>
            <a:r>
              <a:rPr lang="en-US" sz="1300" b="1" dirty="0">
                <a:solidFill>
                  <a:prstClr val="white"/>
                </a:solidFill>
                <a:latin typeface="Telegraf"/>
              </a:rPr>
              <a:t>Authorize AFE Budget</a:t>
            </a:r>
          </a:p>
          <a:p>
            <a:pPr algn="ctr"/>
            <a:r>
              <a:rPr lang="en-US" sz="1050" dirty="0">
                <a:solidFill>
                  <a:srgbClr val="BDD7EE"/>
                </a:solidFill>
                <a:latin typeface="Telegraf"/>
              </a:rPr>
              <a:t>USD 1,779,610 D&amp;C + USD 177,961 contingency (10%)</a:t>
            </a:r>
          </a:p>
        </p:txBody>
      </p:sp>
      <p:sp>
        <p:nvSpPr>
          <p:cNvPr id="8" name="Action3"/>
          <p:cNvSpPr txBox="1">
            <a:spLocks/>
          </p:cNvSpPr>
          <p:nvPr/>
        </p:nvSpPr>
        <p:spPr>
          <a:xfrm>
            <a:off x="8130316" y="2359713"/>
            <a:ext cx="3812000" cy="1100000"/>
          </a:xfrm>
          <a:prstGeom prst="rect">
            <a:avLst/>
          </a:prstGeom>
          <a:solidFill>
            <a:srgbClr val="2E75B6"/>
          </a:solidFill>
          <a:ln>
            <a:noFill/>
          </a:ln>
        </p:spPr>
        <p:txBody>
          <a:bodyPr lIns="140000" tIns="100000" rIns="140000" bIns="80000" anchor="ctr">
            <a:normAutofit/>
          </a:bodyPr>
          <a:lstStyle/>
          <a:p>
            <a:pPr algn="ctr"/>
            <a:r>
              <a:rPr lang="en-US" sz="3200" b="1" dirty="0">
                <a:solidFill>
                  <a:srgbClr val="FFD700"/>
                </a:solidFill>
                <a:latin typeface="Telegraf"/>
              </a:rPr>
              <a:t>ACTION 3</a:t>
            </a:r>
          </a:p>
          <a:p>
            <a:pPr algn="ctr"/>
            <a:r>
              <a:rPr lang="en-US" sz="1300" b="1" dirty="0">
                <a:solidFill>
                  <a:prstClr val="white"/>
                </a:solidFill>
                <a:latin typeface="Telegraf"/>
              </a:rPr>
              <a:t>Accept Risk Envelope</a:t>
            </a:r>
          </a:p>
          <a:p>
            <a:pPr algn="ctr"/>
            <a:r>
              <a:rPr lang="en-US" sz="1050" dirty="0">
                <a:solidFill>
                  <a:prstClr val="white"/>
                </a:solidFill>
                <a:latin typeface="Telegraf"/>
              </a:rPr>
              <a:t>0 Extreme | 7 High | 17 Medium | 5 Low risks</a:t>
            </a:r>
          </a:p>
        </p:txBody>
      </p:sp>
      <p:sp>
        <p:nvSpPr>
          <p:cNvPr id="9" name="Reasoning"/>
          <p:cNvSpPr txBox="1">
            <a:spLocks/>
          </p:cNvSpPr>
          <p:nvPr/>
        </p:nvSpPr>
        <p:spPr>
          <a:xfrm>
            <a:off x="250316" y="4455315"/>
            <a:ext cx="5580000" cy="1100000"/>
          </a:xfrm>
          <a:prstGeom prst="rect">
            <a:avLst/>
          </a:prstGeom>
          <a:solidFill>
            <a:srgbClr val="EBF3FB"/>
          </a:solidFill>
          <a:ln>
            <a:noFill/>
          </a:ln>
        </p:spPr>
        <p:txBody>
          <a:bodyPr lIns="120000" tIns="80000" rIns="120000" bIns="60000" anchor="t">
            <a:normAutofit lnSpcReduction="10000"/>
          </a:bodyPr>
          <a:lstStyle/>
          <a:p>
            <a:r>
              <a:rPr lang="en-US" sz="1100" b="1" dirty="0">
                <a:solidFill>
                  <a:srgbClr val="2E75B6"/>
                </a:solidFill>
                <a:latin typeface="Telegraf"/>
              </a:rPr>
              <a:t>Description: </a:t>
            </a:r>
          </a:p>
          <a:p>
            <a:r>
              <a:rPr lang="en-US" sz="1100" dirty="0">
                <a:solidFill>
                  <a:srgbClr val="1F4E79"/>
                </a:solidFill>
                <a:latin typeface="Telegraf"/>
              </a:rPr>
              <a:t>Gate 1 approval unlocks the critical path to Q4 2026 spud. LLI procurement (ESP: 16–24 wk, casing: 12+ wk) must begin immediately upon sanction. Delay cascades directly to spud date and first oil. The risk profile is well-understood — no Extreme risks — all High risks carry defined mitigation protocols. Gate 2 will cover detailed engineering, PPFG calibration, well design freeze, and PTD finalization.</a:t>
            </a:r>
          </a:p>
        </p:txBody>
      </p:sp>
      <p:sp>
        <p:nvSpPr>
          <p:cNvPr id="10" name="Evidence"/>
          <p:cNvSpPr txBox="1">
            <a:spLocks/>
          </p:cNvSpPr>
          <p:nvPr/>
        </p:nvSpPr>
        <p:spPr>
          <a:xfrm>
            <a:off x="5950316" y="4455315"/>
            <a:ext cx="5992000" cy="1100000"/>
          </a:xfrm>
          <a:prstGeom prst="rect">
            <a:avLst/>
          </a:prstGeom>
          <a:solidFill>
            <a:srgbClr val="DDEEFF"/>
          </a:solidFill>
          <a:ln>
            <a:noFill/>
          </a:ln>
        </p:spPr>
        <p:txBody>
          <a:bodyPr lIns="120000" tIns="80000" rIns="120000" bIns="60000" anchor="t">
            <a:normAutofit fontScale="92500"/>
          </a:bodyPr>
          <a:lstStyle/>
          <a:p>
            <a:r>
              <a:rPr lang="en-US" sz="1400" b="1" dirty="0">
                <a:solidFill>
                  <a:srgbClr val="002060"/>
                </a:solidFill>
                <a:latin typeface="Telegraf"/>
              </a:rPr>
              <a:t>EVIDENCE </a:t>
            </a:r>
          </a:p>
          <a:p>
            <a:pPr marL="171450" indent="-171450">
              <a:buFont typeface="Arial" panose="020B0604020202020204" pitchFamily="34" charset="0"/>
              <a:buChar char="•"/>
            </a:pPr>
            <a:r>
              <a:rPr lang="en-US" sz="1400" dirty="0">
                <a:solidFill>
                  <a:srgbClr val="1F2D3D"/>
                </a:solidFill>
                <a:latin typeface="Telegraf"/>
              </a:rPr>
              <a:t>LLI: ESP (16–24 wks), 7" Casing ×140 jts, 9-5/8" Casing ×48 jts, 3½" Tbg ×161 jts</a:t>
            </a:r>
          </a:p>
          <a:p>
            <a:pPr marL="171450" indent="-171450">
              <a:buFont typeface="Arial" panose="020B0604020202020204" pitchFamily="34" charset="0"/>
              <a:buChar char="•"/>
            </a:pPr>
            <a:r>
              <a:rPr lang="en-US" sz="1400" dirty="0">
                <a:solidFill>
                  <a:srgbClr val="1F2D3D"/>
                </a:solidFill>
                <a:latin typeface="Telegraf"/>
              </a:rPr>
              <a:t>Drawdown authority: DSup (≤5%), PM (5–10%), MgtCom (&gt;10%)</a:t>
            </a:r>
          </a:p>
          <a:p>
            <a:pPr marL="171450" indent="-171450">
              <a:buFont typeface="Arial" panose="020B0604020202020204" pitchFamily="34" charset="0"/>
              <a:buChar char="•"/>
            </a:pPr>
            <a:r>
              <a:rPr lang="en-US" sz="1400" dirty="0">
                <a:solidFill>
                  <a:srgbClr val="1F2D3D"/>
                </a:solidFill>
                <a:latin typeface="Telegraf"/>
              </a:rPr>
              <a:t>Target spud: 1 November 2026 (Gate 1 approval required Q2 2026)</a:t>
            </a:r>
          </a:p>
        </p:txBody>
      </p:sp>
      <p:pic>
        <p:nvPicPr>
          <p:cNvPr id="14" name="Picture 13">
            <a:extLst>
              <a:ext uri="{FF2B5EF4-FFF2-40B4-BE49-F238E27FC236}">
                <a16:creationId xmlns:a16="http://schemas.microsoft.com/office/drawing/2014/main" id="{42D64E5F-A1EC-E07C-931D-C56158E2057E}"/>
              </a:ext>
            </a:extLst>
          </p:cNvPr>
          <p:cNvPicPr>
            <a:picLocks noChangeAspect="1"/>
          </p:cNvPicPr>
          <p:nvPr/>
        </p:nvPicPr>
        <p:blipFill>
          <a:blip r:embed="rId3"/>
          <a:stretch>
            <a:fillRect/>
          </a:stretch>
        </p:blipFill>
        <p:spPr>
          <a:xfrm>
            <a:off x="5437888" y="-749"/>
            <a:ext cx="1445512" cy="958656"/>
          </a:xfrm>
          <a:prstGeom prst="rect">
            <a:avLst/>
          </a:prstGeom>
        </p:spPr>
      </p:pic>
      <p:sp>
        <p:nvSpPr>
          <p:cNvPr id="16" name="TextBox 15">
            <a:extLst>
              <a:ext uri="{FF2B5EF4-FFF2-40B4-BE49-F238E27FC236}">
                <a16:creationId xmlns:a16="http://schemas.microsoft.com/office/drawing/2014/main" id="{6D642102-5A7E-F8C1-DC01-1609430C1819}"/>
              </a:ext>
            </a:extLst>
          </p:cNvPr>
          <p:cNvSpPr txBox="1"/>
          <p:nvPr/>
        </p:nvSpPr>
        <p:spPr>
          <a:xfrm>
            <a:off x="6883400" y="0"/>
            <a:ext cx="1445512" cy="945611"/>
          </a:xfrm>
          <a:prstGeom prst="rect">
            <a:avLst/>
          </a:prstGeom>
          <a:solidFill>
            <a:srgbClr val="EBF3FB"/>
          </a:solidFill>
          <a:ln>
            <a:noFill/>
          </a:ln>
        </p:spPr>
        <p:txBody>
          <a:bodyPr lIns="120000" tIns="80000" rIns="120000" bIns="80000" anchor="t">
            <a:noAutofit/>
          </a:bodyPr>
          <a:lstStyle>
            <a:defPPr>
              <a:defRPr lang="en-US"/>
            </a:defPPr>
            <a:lvl1pPr>
              <a:defRPr sz="1200">
                <a:solidFill>
                  <a:srgbClr val="1F4E79"/>
                </a:solidFill>
                <a:latin typeface="Calibri"/>
              </a:defRPr>
            </a:lvl1pPr>
          </a:lstStyle>
          <a:p>
            <a:r>
              <a:rPr lang="en-US" sz="2000" dirty="0"/>
              <a:t>Production forecast</a:t>
            </a:r>
          </a:p>
        </p:txBody>
      </p:sp>
      <p:sp>
        <p:nvSpPr>
          <p:cNvPr id="19" name="KPI5">
            <a:extLst>
              <a:ext uri="{FF2B5EF4-FFF2-40B4-BE49-F238E27FC236}">
                <a16:creationId xmlns:a16="http://schemas.microsoft.com/office/drawing/2014/main" id="{3BA5E49D-8135-140C-A0CF-0A3A2DFF7703}"/>
              </a:ext>
            </a:extLst>
          </p:cNvPr>
          <p:cNvSpPr txBox="1">
            <a:spLocks/>
          </p:cNvSpPr>
          <p:nvPr/>
        </p:nvSpPr>
        <p:spPr>
          <a:xfrm>
            <a:off x="1795833" y="3645163"/>
            <a:ext cx="3810000" cy="644266"/>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USD 422,090</a:t>
            </a:r>
          </a:p>
          <a:p>
            <a:pPr algn="ctr"/>
            <a:r>
              <a:rPr lang="en-US" sz="1050" dirty="0">
                <a:solidFill>
                  <a:srgbClr val="1F4E79"/>
                </a:solidFill>
                <a:latin typeface="Telegraf"/>
              </a:rPr>
              <a:t>Total Tangible Cost</a:t>
            </a:r>
          </a:p>
        </p:txBody>
      </p:sp>
      <p:sp>
        <p:nvSpPr>
          <p:cNvPr id="20" name="KPI5">
            <a:extLst>
              <a:ext uri="{FF2B5EF4-FFF2-40B4-BE49-F238E27FC236}">
                <a16:creationId xmlns:a16="http://schemas.microsoft.com/office/drawing/2014/main" id="{130F18EF-BF07-EF9F-4D55-79F7D49CA354}"/>
              </a:ext>
            </a:extLst>
          </p:cNvPr>
          <p:cNvSpPr txBox="1">
            <a:spLocks/>
          </p:cNvSpPr>
          <p:nvPr/>
        </p:nvSpPr>
        <p:spPr>
          <a:xfrm>
            <a:off x="5762006" y="3645163"/>
            <a:ext cx="3810000" cy="644266"/>
          </a:xfrm>
          <a:prstGeom prst="rect">
            <a:avLst/>
          </a:prstGeom>
          <a:solidFill>
            <a:srgbClr val="EBF3FB"/>
          </a:solidFill>
          <a:ln>
            <a:noFill/>
          </a:ln>
        </p:spPr>
        <p:txBody>
          <a:bodyPr lIns="120000" tIns="80000" rIns="120000" bIns="60000" anchor="ctr">
            <a:normAutofit/>
          </a:bodyPr>
          <a:lstStyle/>
          <a:p>
            <a:pPr algn="ctr"/>
            <a:r>
              <a:rPr lang="en-US" sz="2000" b="1" dirty="0">
                <a:solidFill>
                  <a:srgbClr val="1F4E79"/>
                </a:solidFill>
                <a:latin typeface="Telegraf"/>
              </a:rPr>
              <a:t>USD 1,357,520</a:t>
            </a:r>
          </a:p>
          <a:p>
            <a:pPr algn="ctr"/>
            <a:r>
              <a:rPr lang="en-US" sz="1050" dirty="0">
                <a:solidFill>
                  <a:srgbClr val="1F4E79"/>
                </a:solidFill>
                <a:latin typeface="Telegraf"/>
              </a:rPr>
              <a:t>Total Intangible Cost</a:t>
            </a:r>
          </a:p>
        </p:txBody>
      </p:sp>
      <p:sp>
        <p:nvSpPr>
          <p:cNvPr id="21" name="Rectangle 20">
            <a:extLst>
              <a:ext uri="{FF2B5EF4-FFF2-40B4-BE49-F238E27FC236}">
                <a16:creationId xmlns:a16="http://schemas.microsoft.com/office/drawing/2014/main" id="{68BF52A1-4D11-760A-496A-6F5D53421F5F}"/>
              </a:ext>
            </a:extLst>
          </p:cNvPr>
          <p:cNvSpPr/>
          <p:nvPr/>
        </p:nvSpPr>
        <p:spPr>
          <a:xfrm>
            <a:off x="1718733" y="3552829"/>
            <a:ext cx="7984067" cy="805306"/>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cxnSp>
        <p:nvCxnSpPr>
          <p:cNvPr id="23" name="Straight Connector 22">
            <a:extLst>
              <a:ext uri="{FF2B5EF4-FFF2-40B4-BE49-F238E27FC236}">
                <a16:creationId xmlns:a16="http://schemas.microsoft.com/office/drawing/2014/main" id="{54F6C2D7-FCFD-1B30-712D-6FF74180A377}"/>
              </a:ext>
            </a:extLst>
          </p:cNvPr>
          <p:cNvCxnSpPr>
            <a:cxnSpLocks/>
            <a:stCxn id="21" idx="0"/>
          </p:cNvCxnSpPr>
          <p:nvPr/>
        </p:nvCxnSpPr>
        <p:spPr>
          <a:xfrm flipV="1">
            <a:off x="5710767" y="3459713"/>
            <a:ext cx="0" cy="9311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D41DC62D-E056-4500-0CE2-42EE2C8FA92A}"/>
              </a:ext>
            </a:extLst>
          </p:cNvPr>
          <p:cNvSpPr/>
          <p:nvPr/>
        </p:nvSpPr>
        <p:spPr>
          <a:xfrm>
            <a:off x="250316" y="5629394"/>
            <a:ext cx="11691684" cy="805306"/>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26" name="TextBox 25">
            <a:extLst>
              <a:ext uri="{FF2B5EF4-FFF2-40B4-BE49-F238E27FC236}">
                <a16:creationId xmlns:a16="http://schemas.microsoft.com/office/drawing/2014/main" id="{F48B359B-15A0-5C9E-9EE5-9DB876FCEE42}"/>
              </a:ext>
            </a:extLst>
          </p:cNvPr>
          <p:cNvSpPr txBox="1"/>
          <p:nvPr/>
        </p:nvSpPr>
        <p:spPr>
          <a:xfrm>
            <a:off x="1193219" y="5629394"/>
            <a:ext cx="848309" cy="276999"/>
          </a:xfrm>
          <a:prstGeom prst="rect">
            <a:avLst/>
          </a:prstGeom>
          <a:noFill/>
        </p:spPr>
        <p:txBody>
          <a:bodyPr wrap="none" rtlCol="0">
            <a:spAutoFit/>
          </a:bodyPr>
          <a:lstStyle/>
          <a:p>
            <a:r>
              <a:rPr lang="en-US" sz="1200" u="sng" dirty="0">
                <a:latin typeface="Telegraf"/>
              </a:rPr>
              <a:t>June 2026</a:t>
            </a:r>
          </a:p>
        </p:txBody>
      </p:sp>
      <p:sp>
        <p:nvSpPr>
          <p:cNvPr id="27" name="TextBox 26">
            <a:extLst>
              <a:ext uri="{FF2B5EF4-FFF2-40B4-BE49-F238E27FC236}">
                <a16:creationId xmlns:a16="http://schemas.microsoft.com/office/drawing/2014/main" id="{C2C78E9E-B446-267C-BBFF-4FCE4D0B0AE5}"/>
              </a:ext>
            </a:extLst>
          </p:cNvPr>
          <p:cNvSpPr txBox="1"/>
          <p:nvPr/>
        </p:nvSpPr>
        <p:spPr>
          <a:xfrm>
            <a:off x="900510" y="5849667"/>
            <a:ext cx="1340752"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VBWO submission</a:t>
            </a:r>
          </a:p>
          <a:p>
            <a:pPr marL="112713" indent="-112713">
              <a:buFont typeface="Arial" panose="020B0604020202020204" pitchFamily="34" charset="0"/>
              <a:buChar char="•"/>
            </a:pPr>
            <a:r>
              <a:rPr lang="en-US" sz="1100" dirty="0">
                <a:latin typeface="Telegraf"/>
              </a:rPr>
              <a:t>Gate 1 Sanction</a:t>
            </a:r>
          </a:p>
          <a:p>
            <a:pPr marL="112713" indent="-112713">
              <a:buFont typeface="Arial" panose="020B0604020202020204" pitchFamily="34" charset="0"/>
              <a:buChar char="•"/>
            </a:pPr>
            <a:r>
              <a:rPr lang="en-US" sz="1100" dirty="0">
                <a:latin typeface="Telegraf"/>
              </a:rPr>
              <a:t>AFE Authorization</a:t>
            </a:r>
          </a:p>
        </p:txBody>
      </p:sp>
      <p:cxnSp>
        <p:nvCxnSpPr>
          <p:cNvPr id="29" name="Straight Arrow Connector 28">
            <a:extLst>
              <a:ext uri="{FF2B5EF4-FFF2-40B4-BE49-F238E27FC236}">
                <a16:creationId xmlns:a16="http://schemas.microsoft.com/office/drawing/2014/main" id="{1A6ECC6D-5908-4A29-9A5B-06C24430679A}"/>
              </a:ext>
            </a:extLst>
          </p:cNvPr>
          <p:cNvCxnSpPr/>
          <p:nvPr/>
        </p:nvCxnSpPr>
        <p:spPr>
          <a:xfrm>
            <a:off x="2481943"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DC29B5F-D74F-5A0C-361A-B6B169801FDF}"/>
              </a:ext>
            </a:extLst>
          </p:cNvPr>
          <p:cNvSpPr txBox="1"/>
          <p:nvPr/>
        </p:nvSpPr>
        <p:spPr>
          <a:xfrm>
            <a:off x="3357524" y="5629394"/>
            <a:ext cx="790601" cy="276999"/>
          </a:xfrm>
          <a:prstGeom prst="rect">
            <a:avLst/>
          </a:prstGeom>
          <a:noFill/>
        </p:spPr>
        <p:txBody>
          <a:bodyPr wrap="none" rtlCol="0">
            <a:spAutoFit/>
          </a:bodyPr>
          <a:lstStyle/>
          <a:p>
            <a:r>
              <a:rPr lang="en-US" sz="1200" u="sng" dirty="0">
                <a:latin typeface="Telegraf"/>
              </a:rPr>
              <a:t>July 2026</a:t>
            </a:r>
          </a:p>
        </p:txBody>
      </p:sp>
      <p:sp>
        <p:nvSpPr>
          <p:cNvPr id="31" name="TextBox 30">
            <a:extLst>
              <a:ext uri="{FF2B5EF4-FFF2-40B4-BE49-F238E27FC236}">
                <a16:creationId xmlns:a16="http://schemas.microsoft.com/office/drawing/2014/main" id="{922F756D-32BD-1160-BB23-65822F4248E2}"/>
              </a:ext>
            </a:extLst>
          </p:cNvPr>
          <p:cNvSpPr txBox="1"/>
          <p:nvPr/>
        </p:nvSpPr>
        <p:spPr>
          <a:xfrm>
            <a:off x="3064815" y="5849667"/>
            <a:ext cx="1347164" cy="600164"/>
          </a:xfrm>
          <a:prstGeom prst="rect">
            <a:avLst/>
          </a:prstGeom>
          <a:noFill/>
        </p:spPr>
        <p:txBody>
          <a:bodyPr wrap="none" rtlCol="0">
            <a:spAutoFit/>
          </a:bodyPr>
          <a:lstStyle/>
          <a:p>
            <a:pPr marL="112713" indent="-112713">
              <a:buFont typeface="Arial" panose="020B0604020202020204" pitchFamily="34" charset="0"/>
              <a:buChar char="•"/>
            </a:pPr>
            <a:r>
              <a:rPr lang="en-US" sz="1100" u="sng" dirty="0">
                <a:solidFill>
                  <a:schemeClr val="accent6"/>
                </a:solidFill>
                <a:latin typeface="Telegraf"/>
              </a:rPr>
              <a:t>Engineering phase</a:t>
            </a:r>
          </a:p>
          <a:p>
            <a:pPr marL="112713" indent="-112713">
              <a:buFont typeface="Arial" panose="020B0604020202020204" pitchFamily="34" charset="0"/>
              <a:buChar char="•"/>
            </a:pPr>
            <a:r>
              <a:rPr lang="en-US" sz="1100" dirty="0">
                <a:solidFill>
                  <a:schemeClr val="accent6"/>
                </a:solidFill>
                <a:latin typeface="Telegraf"/>
              </a:rPr>
              <a:t>BOD finalization</a:t>
            </a:r>
          </a:p>
          <a:p>
            <a:pPr marL="112713" indent="-112713">
              <a:buFont typeface="Arial" panose="020B0604020202020204" pitchFamily="34" charset="0"/>
              <a:buChar char="•"/>
            </a:pPr>
            <a:r>
              <a:rPr lang="en-US" sz="1100" dirty="0">
                <a:solidFill>
                  <a:schemeClr val="accent6"/>
                </a:solidFill>
                <a:latin typeface="Telegraf"/>
              </a:rPr>
              <a:t>Directional Plan</a:t>
            </a:r>
          </a:p>
        </p:txBody>
      </p:sp>
      <p:cxnSp>
        <p:nvCxnSpPr>
          <p:cNvPr id="32" name="Straight Arrow Connector 31">
            <a:extLst>
              <a:ext uri="{FF2B5EF4-FFF2-40B4-BE49-F238E27FC236}">
                <a16:creationId xmlns:a16="http://schemas.microsoft.com/office/drawing/2014/main" id="{0BBA9EFA-C96D-1123-E598-98FF24AA023D}"/>
              </a:ext>
            </a:extLst>
          </p:cNvPr>
          <p:cNvCxnSpPr/>
          <p:nvPr/>
        </p:nvCxnSpPr>
        <p:spPr>
          <a:xfrm>
            <a:off x="5833987"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75E5C5A-C599-0A0A-85A8-1C85AEB51106}"/>
              </a:ext>
            </a:extLst>
          </p:cNvPr>
          <p:cNvSpPr txBox="1"/>
          <p:nvPr/>
        </p:nvSpPr>
        <p:spPr>
          <a:xfrm>
            <a:off x="4497813" y="5739765"/>
            <a:ext cx="1291059" cy="769441"/>
          </a:xfrm>
          <a:prstGeom prst="rect">
            <a:avLst/>
          </a:prstGeom>
          <a:noFill/>
        </p:spPr>
        <p:txBody>
          <a:bodyPr wrap="none" rtlCol="0">
            <a:spAutoFit/>
          </a:bodyPr>
          <a:lstStyle/>
          <a:p>
            <a:pPr marL="112713" indent="-112713">
              <a:buFont typeface="Arial" panose="020B0604020202020204" pitchFamily="34" charset="0"/>
              <a:buChar char="•"/>
            </a:pPr>
            <a:r>
              <a:rPr lang="en-US" sz="1100" u="sng" dirty="0">
                <a:solidFill>
                  <a:schemeClr val="accent2">
                    <a:lumMod val="75000"/>
                  </a:schemeClr>
                </a:solidFill>
                <a:latin typeface="Telegraf"/>
              </a:rPr>
              <a:t>Regulatory phase</a:t>
            </a:r>
          </a:p>
          <a:p>
            <a:pPr marL="112713" indent="-112713">
              <a:buFont typeface="Arial" panose="020B0604020202020204" pitchFamily="34" charset="0"/>
              <a:buChar char="•"/>
            </a:pPr>
            <a:r>
              <a:rPr lang="en-US" sz="1100" dirty="0">
                <a:solidFill>
                  <a:schemeClr val="accent2">
                    <a:lumMod val="75000"/>
                  </a:schemeClr>
                </a:solidFill>
                <a:latin typeface="Telegraf"/>
              </a:rPr>
              <a:t>PTD Submission</a:t>
            </a:r>
          </a:p>
          <a:p>
            <a:pPr marL="112713" indent="-112713">
              <a:buFont typeface="Arial" panose="020B0604020202020204" pitchFamily="34" charset="0"/>
              <a:buChar char="•"/>
            </a:pPr>
            <a:r>
              <a:rPr lang="en-US" sz="1100" dirty="0">
                <a:solidFill>
                  <a:schemeClr val="accent2">
                    <a:lumMod val="75000"/>
                  </a:schemeClr>
                </a:solidFill>
                <a:latin typeface="Telegraf"/>
              </a:rPr>
              <a:t>AMDAL/UKL-UPL</a:t>
            </a:r>
          </a:p>
          <a:p>
            <a:pPr marL="112713" indent="-112713">
              <a:buFont typeface="Arial" panose="020B0604020202020204" pitchFamily="34" charset="0"/>
              <a:buChar char="•"/>
            </a:pPr>
            <a:r>
              <a:rPr lang="en-US" sz="1100" dirty="0">
                <a:solidFill>
                  <a:schemeClr val="accent2">
                    <a:lumMod val="75000"/>
                  </a:schemeClr>
                </a:solidFill>
                <a:latin typeface="Telegraf"/>
              </a:rPr>
              <a:t>Land Clearance</a:t>
            </a:r>
          </a:p>
        </p:txBody>
      </p:sp>
      <p:sp>
        <p:nvSpPr>
          <p:cNvPr id="34" name="TextBox 33">
            <a:extLst>
              <a:ext uri="{FF2B5EF4-FFF2-40B4-BE49-F238E27FC236}">
                <a16:creationId xmlns:a16="http://schemas.microsoft.com/office/drawing/2014/main" id="{03AB6114-5528-CE61-EEDC-63671120D6A8}"/>
              </a:ext>
            </a:extLst>
          </p:cNvPr>
          <p:cNvSpPr txBox="1"/>
          <p:nvPr/>
        </p:nvSpPr>
        <p:spPr>
          <a:xfrm>
            <a:off x="6819121" y="5629394"/>
            <a:ext cx="1609993" cy="276999"/>
          </a:xfrm>
          <a:prstGeom prst="rect">
            <a:avLst/>
          </a:prstGeom>
          <a:noFill/>
        </p:spPr>
        <p:txBody>
          <a:bodyPr wrap="none" rtlCol="0">
            <a:spAutoFit/>
          </a:bodyPr>
          <a:lstStyle/>
          <a:p>
            <a:r>
              <a:rPr lang="en-US" sz="1200" u="sng" dirty="0">
                <a:latin typeface="Telegraf"/>
              </a:rPr>
              <a:t>Aug 2026 : Contracting</a:t>
            </a:r>
          </a:p>
        </p:txBody>
      </p:sp>
      <p:sp>
        <p:nvSpPr>
          <p:cNvPr id="35" name="TextBox 34">
            <a:extLst>
              <a:ext uri="{FF2B5EF4-FFF2-40B4-BE49-F238E27FC236}">
                <a16:creationId xmlns:a16="http://schemas.microsoft.com/office/drawing/2014/main" id="{0C8D7C59-FD39-337F-8D4B-3D015E9012A3}"/>
              </a:ext>
            </a:extLst>
          </p:cNvPr>
          <p:cNvSpPr txBox="1"/>
          <p:nvPr/>
        </p:nvSpPr>
        <p:spPr>
          <a:xfrm>
            <a:off x="6526412" y="5849667"/>
            <a:ext cx="1242969"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Rig confirmation</a:t>
            </a:r>
          </a:p>
          <a:p>
            <a:pPr marL="112713" indent="-112713">
              <a:buFont typeface="Arial" panose="020B0604020202020204" pitchFamily="34" charset="0"/>
              <a:buChar char="•"/>
            </a:pPr>
            <a:r>
              <a:rPr lang="en-US" sz="1100" dirty="0">
                <a:latin typeface="Telegraf"/>
              </a:rPr>
              <a:t>Tender launch</a:t>
            </a:r>
          </a:p>
          <a:p>
            <a:pPr marL="112713" indent="-112713">
              <a:buFont typeface="Arial" panose="020B0604020202020204" pitchFamily="34" charset="0"/>
              <a:buChar char="•"/>
            </a:pPr>
            <a:r>
              <a:rPr lang="en-US" sz="1100" dirty="0">
                <a:latin typeface="Telegraf"/>
              </a:rPr>
              <a:t>PTD Approval</a:t>
            </a:r>
          </a:p>
        </p:txBody>
      </p:sp>
      <p:sp>
        <p:nvSpPr>
          <p:cNvPr id="36" name="TextBox 35">
            <a:extLst>
              <a:ext uri="{FF2B5EF4-FFF2-40B4-BE49-F238E27FC236}">
                <a16:creationId xmlns:a16="http://schemas.microsoft.com/office/drawing/2014/main" id="{EFBE9C85-7C3F-91F4-96AB-B2FF9F1E9764}"/>
              </a:ext>
            </a:extLst>
          </p:cNvPr>
          <p:cNvSpPr txBox="1"/>
          <p:nvPr/>
        </p:nvSpPr>
        <p:spPr>
          <a:xfrm rot="16200000">
            <a:off x="577372" y="6011249"/>
            <a:ext cx="627864" cy="276999"/>
          </a:xfrm>
          <a:prstGeom prst="rect">
            <a:avLst/>
          </a:prstGeom>
          <a:noFill/>
        </p:spPr>
        <p:txBody>
          <a:bodyPr wrap="none" rtlCol="0">
            <a:spAutoFit/>
          </a:bodyPr>
          <a:lstStyle/>
          <a:p>
            <a:r>
              <a:rPr lang="en-US" sz="1200" u="sng" dirty="0">
                <a:latin typeface="Telegraf"/>
              </a:rPr>
              <a:t>Gate-1</a:t>
            </a:r>
          </a:p>
        </p:txBody>
      </p:sp>
      <p:sp>
        <p:nvSpPr>
          <p:cNvPr id="37" name="TextBox 36">
            <a:extLst>
              <a:ext uri="{FF2B5EF4-FFF2-40B4-BE49-F238E27FC236}">
                <a16:creationId xmlns:a16="http://schemas.microsoft.com/office/drawing/2014/main" id="{2FC83471-45CE-C6FB-5541-35AD913A702C}"/>
              </a:ext>
            </a:extLst>
          </p:cNvPr>
          <p:cNvSpPr txBox="1"/>
          <p:nvPr/>
        </p:nvSpPr>
        <p:spPr>
          <a:xfrm>
            <a:off x="7726562" y="5849667"/>
            <a:ext cx="1270220"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Contract award</a:t>
            </a:r>
          </a:p>
          <a:p>
            <a:pPr marL="112713" indent="-112713">
              <a:buFont typeface="Arial" panose="020B0604020202020204" pitchFamily="34" charset="0"/>
              <a:buChar char="•"/>
            </a:pPr>
            <a:r>
              <a:rPr lang="en-US" sz="1100" dirty="0">
                <a:latin typeface="Telegraf"/>
              </a:rPr>
              <a:t>Site preparation</a:t>
            </a:r>
          </a:p>
          <a:p>
            <a:pPr marL="112713" indent="-112713">
              <a:buFont typeface="Arial" panose="020B0604020202020204" pitchFamily="34" charset="0"/>
              <a:buChar char="•"/>
            </a:pPr>
            <a:r>
              <a:rPr lang="en-US" sz="1100" dirty="0">
                <a:latin typeface="Telegraf"/>
              </a:rPr>
              <a:t>LLI delivery</a:t>
            </a:r>
          </a:p>
        </p:txBody>
      </p:sp>
      <p:cxnSp>
        <p:nvCxnSpPr>
          <p:cNvPr id="38" name="Straight Arrow Connector 37">
            <a:extLst>
              <a:ext uri="{FF2B5EF4-FFF2-40B4-BE49-F238E27FC236}">
                <a16:creationId xmlns:a16="http://schemas.microsoft.com/office/drawing/2014/main" id="{D3596E1C-2A12-BAAB-9D49-3ED809CF3270}"/>
              </a:ext>
            </a:extLst>
          </p:cNvPr>
          <p:cNvCxnSpPr/>
          <p:nvPr/>
        </p:nvCxnSpPr>
        <p:spPr>
          <a:xfrm>
            <a:off x="8954634" y="6025880"/>
            <a:ext cx="62701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3089313F-C1FA-775E-3814-49D9A7EB8C77}"/>
              </a:ext>
            </a:extLst>
          </p:cNvPr>
          <p:cNvSpPr txBox="1"/>
          <p:nvPr/>
        </p:nvSpPr>
        <p:spPr>
          <a:xfrm>
            <a:off x="9939768" y="5629394"/>
            <a:ext cx="1620957" cy="276999"/>
          </a:xfrm>
          <a:prstGeom prst="rect">
            <a:avLst/>
          </a:prstGeom>
          <a:noFill/>
        </p:spPr>
        <p:txBody>
          <a:bodyPr wrap="none" rtlCol="0">
            <a:spAutoFit/>
          </a:bodyPr>
          <a:lstStyle/>
          <a:p>
            <a:r>
              <a:rPr lang="en-US" sz="1200" u="sng" dirty="0">
                <a:latin typeface="Telegraf"/>
              </a:rPr>
              <a:t>Sep – Oct  2026 : SPUD</a:t>
            </a:r>
          </a:p>
        </p:txBody>
      </p:sp>
      <p:sp>
        <p:nvSpPr>
          <p:cNvPr id="40" name="TextBox 39">
            <a:extLst>
              <a:ext uri="{FF2B5EF4-FFF2-40B4-BE49-F238E27FC236}">
                <a16:creationId xmlns:a16="http://schemas.microsoft.com/office/drawing/2014/main" id="{0DF7A3B8-3968-3907-0F98-94F126189808}"/>
              </a:ext>
            </a:extLst>
          </p:cNvPr>
          <p:cNvSpPr txBox="1"/>
          <p:nvPr/>
        </p:nvSpPr>
        <p:spPr>
          <a:xfrm>
            <a:off x="9647059" y="5849667"/>
            <a:ext cx="1323119" cy="600164"/>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Gate-2 sign off</a:t>
            </a:r>
          </a:p>
          <a:p>
            <a:pPr marL="112713" indent="-112713">
              <a:buFont typeface="Arial" panose="020B0604020202020204" pitchFamily="34" charset="0"/>
              <a:buChar char="•"/>
            </a:pPr>
            <a:r>
              <a:rPr lang="en-US" sz="1100" dirty="0">
                <a:latin typeface="Telegraf"/>
              </a:rPr>
              <a:t>Pre-Spud meeting</a:t>
            </a:r>
          </a:p>
          <a:p>
            <a:pPr marL="112713" indent="-112713">
              <a:buFont typeface="Arial" panose="020B0604020202020204" pitchFamily="34" charset="0"/>
              <a:buChar char="•"/>
            </a:pPr>
            <a:r>
              <a:rPr lang="en-US" sz="1100" dirty="0">
                <a:latin typeface="Telegraf"/>
              </a:rPr>
              <a:t>Rig mobilization</a:t>
            </a:r>
          </a:p>
        </p:txBody>
      </p:sp>
      <p:sp>
        <p:nvSpPr>
          <p:cNvPr id="41" name="TextBox 40">
            <a:extLst>
              <a:ext uri="{FF2B5EF4-FFF2-40B4-BE49-F238E27FC236}">
                <a16:creationId xmlns:a16="http://schemas.microsoft.com/office/drawing/2014/main" id="{05D19E73-A308-362E-FC2F-D97163E4E207}"/>
              </a:ext>
            </a:extLst>
          </p:cNvPr>
          <p:cNvSpPr txBox="1"/>
          <p:nvPr/>
        </p:nvSpPr>
        <p:spPr>
          <a:xfrm>
            <a:off x="10878647" y="5849667"/>
            <a:ext cx="962443" cy="430887"/>
          </a:xfrm>
          <a:prstGeom prst="rect">
            <a:avLst/>
          </a:prstGeom>
          <a:noFill/>
        </p:spPr>
        <p:txBody>
          <a:bodyPr wrap="none" rtlCol="0">
            <a:spAutoFit/>
          </a:bodyPr>
          <a:lstStyle/>
          <a:p>
            <a:pPr marL="112713" indent="-112713">
              <a:buFont typeface="Arial" panose="020B0604020202020204" pitchFamily="34" charset="0"/>
              <a:buChar char="•"/>
            </a:pPr>
            <a:r>
              <a:rPr lang="en-US" sz="1100" dirty="0">
                <a:latin typeface="Telegraf"/>
              </a:rPr>
              <a:t>BOP testing</a:t>
            </a:r>
          </a:p>
          <a:p>
            <a:pPr marL="112713" indent="-112713">
              <a:buFont typeface="Arial" panose="020B0604020202020204" pitchFamily="34" charset="0"/>
              <a:buChar char="•"/>
            </a:pPr>
            <a:r>
              <a:rPr lang="en-US" sz="1100" b="1" dirty="0">
                <a:solidFill>
                  <a:srgbClr val="C00000"/>
                </a:solidFill>
                <a:latin typeface="Telegraf"/>
              </a:rPr>
              <a:t>SPUD IN</a:t>
            </a:r>
          </a:p>
        </p:txBody>
      </p:sp>
      <p:sp>
        <p:nvSpPr>
          <p:cNvPr id="12" name="Title 1">
            <a:extLst>
              <a:ext uri="{FF2B5EF4-FFF2-40B4-BE49-F238E27FC236}">
                <a16:creationId xmlns:a16="http://schemas.microsoft.com/office/drawing/2014/main" id="{CC82CBC5-65A5-11BA-438A-354D5062D8AA}"/>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08</a:t>
            </a:r>
            <a:endParaRPr lang="en-ID" dirty="0">
              <a:solidFill>
                <a:schemeClr val="bg1"/>
              </a:solidFill>
              <a:latin typeface="Telegraf Bold" panose="020B0604020202020204" charset="0"/>
            </a:endParaRPr>
          </a:p>
        </p:txBody>
      </p:sp>
      <p:pic>
        <p:nvPicPr>
          <p:cNvPr id="11" name="Picture 10">
            <a:extLst>
              <a:ext uri="{FF2B5EF4-FFF2-40B4-BE49-F238E27FC236}">
                <a16:creationId xmlns:a16="http://schemas.microsoft.com/office/drawing/2014/main" id="{F302718B-63EA-BC86-828C-AA5576DCB4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15" name="Google Shape;40;p1" descr="Blue text and blue letters on a black background&#10;&#10;Description automatically generated">
            <a:extLst>
              <a:ext uri="{FF2B5EF4-FFF2-40B4-BE49-F238E27FC236}">
                <a16:creationId xmlns:a16="http://schemas.microsoft.com/office/drawing/2014/main" id="{F08C9545-F709-5A20-CF14-833467867C0D}"/>
              </a:ext>
            </a:extLst>
          </p:cNvPr>
          <p:cNvPicPr preferRelativeResize="0"/>
          <p:nvPr/>
        </p:nvPicPr>
        <p:blipFill rotWithShape="1">
          <a:blip r:embed="rId5">
            <a:alphaModFix/>
          </a:blip>
          <a:srcRect t="18354" b="20955"/>
          <a:stretch>
            <a:fillRect/>
          </a:stretch>
        </p:blipFill>
        <p:spPr>
          <a:xfrm>
            <a:off x="10618381" y="0"/>
            <a:ext cx="1573619" cy="955039"/>
          </a:xfrm>
          <a:prstGeom prst="rect">
            <a:avLst/>
          </a:prstGeom>
          <a:noFill/>
          <a:ln>
            <a:noFill/>
          </a:ln>
        </p:spPr>
      </p:pic>
      <p:sp>
        <p:nvSpPr>
          <p:cNvPr id="13" name="ReasoningText">
            <a:extLst>
              <a:ext uri="{FF2B5EF4-FFF2-40B4-BE49-F238E27FC236}">
                <a16:creationId xmlns:a16="http://schemas.microsoft.com/office/drawing/2014/main" id="{5A5060BF-C918-7EC3-9BBE-83A333F3AEA1}"/>
              </a:ext>
            </a:extLst>
          </p:cNvPr>
          <p:cNvSpPr txBox="1">
            <a:spLocks/>
          </p:cNvSpPr>
          <p:nvPr/>
        </p:nvSpPr>
        <p:spPr>
          <a:xfrm>
            <a:off x="9709814" y="3622817"/>
            <a:ext cx="2232182" cy="648126"/>
          </a:xfrm>
          <a:prstGeom prst="rect">
            <a:avLst/>
          </a:prstGeom>
          <a:noFill/>
          <a:ln>
            <a:noFill/>
          </a:ln>
        </p:spPr>
        <p:txBody>
          <a:bodyPr lIns="120000" tIns="80000" rIns="120000" bIns="80000" anchor="t">
            <a:noAutofit/>
          </a:bodyPr>
          <a:lstStyle/>
          <a:p>
            <a:r>
              <a:rPr lang="en-US" sz="1200" i="1" dirty="0">
                <a:solidFill>
                  <a:sysClr val="windowText" lastClr="000000"/>
                </a:solidFill>
                <a:latin typeface="Telegraf"/>
              </a:rPr>
              <a:t>* If Total Capex = 3.765 MUSD (road access &amp; land 601K USD; Prod. Facilities 1.011 MUSD)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DF7B-953C-8C33-88AC-FA06BA0055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C880FB-5448-7067-FF95-42F51E6BB7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8D15B7FD-4F3F-B46D-F34D-3028FE42103E}"/>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C7C7609-5799-02AC-3F3B-C060E63BCC71}"/>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LOCATION, GEOGRAPHY, &amp; SURFACE RECONNAISSANCE</a:t>
            </a:r>
          </a:p>
        </p:txBody>
      </p:sp>
      <p:pic>
        <p:nvPicPr>
          <p:cNvPr id="9" name="Google Shape;40;p1" descr="Blue text and blue letters on a black background&#10;&#10;Description automatically generated">
            <a:extLst>
              <a:ext uri="{FF2B5EF4-FFF2-40B4-BE49-F238E27FC236}">
                <a16:creationId xmlns:a16="http://schemas.microsoft.com/office/drawing/2014/main" id="{A0E47148-3577-B62F-DD97-40A670180A36}"/>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BAE2BDFD-C79D-FD74-C0BB-042CD3D840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568204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D1DF-681E-EACB-9DB1-17A7C621C33C}"/>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0ED751C5-1202-1396-CB2A-54A95B981F77}"/>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SURFACE &amp; BOTTOM-HOLE COORDINATES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6923788-A7F7-F031-7C23-BDC2477D5F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9FD3E05F-402A-1875-960A-F0B3B59353C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3610D8A0-66B8-318D-3568-3D3993B36199}"/>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0926EE12-57AA-2042-C13D-C4FBA5BECFD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10</a:t>
            </a:r>
            <a:endParaRPr lang="en-ID" dirty="0">
              <a:solidFill>
                <a:schemeClr val="bg1"/>
              </a:solidFill>
              <a:latin typeface="Telegraf Bold" panose="020B0604020202020204" charset="0"/>
            </a:endParaRPr>
          </a:p>
        </p:txBody>
      </p:sp>
      <p:graphicFrame>
        <p:nvGraphicFramePr>
          <p:cNvPr id="12" name="Table 11">
            <a:extLst>
              <a:ext uri="{FF2B5EF4-FFF2-40B4-BE49-F238E27FC236}">
                <a16:creationId xmlns:a16="http://schemas.microsoft.com/office/drawing/2014/main" id="{102A43B9-FCA2-E3B2-708D-6FFF3504D455}"/>
              </a:ext>
            </a:extLst>
          </p:cNvPr>
          <p:cNvGraphicFramePr>
            <a:graphicFrameLocks noGrp="1"/>
          </p:cNvGraphicFramePr>
          <p:nvPr>
            <p:extLst>
              <p:ext uri="{D42A27DB-BD31-4B8C-83A1-F6EECF244321}">
                <p14:modId xmlns:p14="http://schemas.microsoft.com/office/powerpoint/2010/main" val="3050289486"/>
              </p:ext>
            </p:extLst>
          </p:nvPr>
        </p:nvGraphicFramePr>
        <p:xfrm>
          <a:off x="548640" y="2827732"/>
          <a:ext cx="8489481" cy="1849754"/>
        </p:xfrm>
        <a:graphic>
          <a:graphicData uri="http://schemas.openxmlformats.org/drawingml/2006/table">
            <a:tbl>
              <a:tblPr firstRow="1" firstCol="1" bandRow="1">
                <a:tableStyleId>{D113A9D2-9D6B-4929-AA2D-F23B5EE8CBE7}</a:tableStyleId>
              </a:tblPr>
              <a:tblGrid>
                <a:gridCol w="2439150">
                  <a:extLst>
                    <a:ext uri="{9D8B030D-6E8A-4147-A177-3AD203B41FA5}">
                      <a16:colId xmlns:a16="http://schemas.microsoft.com/office/drawing/2014/main" val="2845172401"/>
                    </a:ext>
                  </a:extLst>
                </a:gridCol>
                <a:gridCol w="1810932">
                  <a:extLst>
                    <a:ext uri="{9D8B030D-6E8A-4147-A177-3AD203B41FA5}">
                      <a16:colId xmlns:a16="http://schemas.microsoft.com/office/drawing/2014/main" val="209757275"/>
                    </a:ext>
                  </a:extLst>
                </a:gridCol>
                <a:gridCol w="1875037">
                  <a:extLst>
                    <a:ext uri="{9D8B030D-6E8A-4147-A177-3AD203B41FA5}">
                      <a16:colId xmlns:a16="http://schemas.microsoft.com/office/drawing/2014/main" val="1137621343"/>
                    </a:ext>
                  </a:extLst>
                </a:gridCol>
                <a:gridCol w="2364362">
                  <a:extLst>
                    <a:ext uri="{9D8B030D-6E8A-4147-A177-3AD203B41FA5}">
                      <a16:colId xmlns:a16="http://schemas.microsoft.com/office/drawing/2014/main" val="3074856946"/>
                    </a:ext>
                  </a:extLst>
                </a:gridCol>
              </a:tblGrid>
              <a:tr h="693198">
                <a:tc>
                  <a:txBody>
                    <a:bodyPr/>
                    <a:lstStyle/>
                    <a:p>
                      <a:pPr algn="ctr">
                        <a:lnSpc>
                          <a:spcPct val="107000"/>
                        </a:lnSpc>
                        <a:spcAft>
                          <a:spcPts val="800"/>
                        </a:spcAft>
                        <a:buNone/>
                      </a:pPr>
                      <a:r>
                        <a:rPr lang="en-ID" sz="1600" b="1" kern="100" dirty="0">
                          <a:effectLst/>
                          <a:latin typeface="Telegraf" panose="020B0604020202020204"/>
                        </a:rPr>
                        <a:t>Parameter</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X</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Y</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Remarks</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2351622453"/>
                  </a:ext>
                </a:extLst>
              </a:tr>
              <a:tr h="578278">
                <a:tc>
                  <a:txBody>
                    <a:bodyPr/>
                    <a:lstStyle/>
                    <a:p>
                      <a:pPr algn="ctr">
                        <a:lnSpc>
                          <a:spcPct val="107000"/>
                        </a:lnSpc>
                        <a:spcAft>
                          <a:spcPts val="800"/>
                        </a:spcAft>
                        <a:buNone/>
                      </a:pPr>
                      <a:r>
                        <a:rPr lang="en-ID" sz="1600" b="1" kern="100" dirty="0">
                          <a:effectLst/>
                          <a:latin typeface="Telegraf" panose="020B0604020202020204"/>
                        </a:rPr>
                        <a:t>Surface Coordinate</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749,934.38</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110,089.99</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rowSpan="2">
                  <a:txBody>
                    <a:bodyPr/>
                    <a:lstStyle/>
                    <a:p>
                      <a:pPr algn="ctr">
                        <a:lnSpc>
                          <a:spcPct val="107000"/>
                        </a:lnSpc>
                        <a:spcAft>
                          <a:spcPts val="800"/>
                        </a:spcAft>
                        <a:buNone/>
                      </a:pPr>
                      <a:r>
                        <a:rPr lang="en-US" sz="1600" b="1" kern="100" dirty="0">
                          <a:effectLst/>
                          <a:latin typeface="Telegraf" panose="020B0604020202020204"/>
                          <a:ea typeface="Calibri" panose="020F0502020204030204" pitchFamily="34" charset="0"/>
                          <a:cs typeface="Times New Roman" panose="02020603050405020304" pitchFamily="18" charset="0"/>
                        </a:rPr>
                        <a:t>New </a:t>
                      </a:r>
                      <a:r>
                        <a:rPr lang="en-US" sz="1600" b="1" kern="100" dirty="0" err="1">
                          <a:effectLst/>
                          <a:latin typeface="Telegraf" panose="020B0604020202020204"/>
                          <a:ea typeface="Calibri" panose="020F0502020204030204" pitchFamily="34" charset="0"/>
                          <a:cs typeface="Times New Roman" panose="02020603050405020304" pitchFamily="18" charset="0"/>
                        </a:rPr>
                        <a:t>Wellpad</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2729934783"/>
                  </a:ext>
                </a:extLst>
              </a:tr>
              <a:tr h="578278">
                <a:tc>
                  <a:txBody>
                    <a:bodyPr/>
                    <a:lstStyle/>
                    <a:p>
                      <a:pPr algn="ctr">
                        <a:lnSpc>
                          <a:spcPct val="107000"/>
                        </a:lnSpc>
                        <a:spcAft>
                          <a:spcPts val="800"/>
                        </a:spcAft>
                        <a:buNone/>
                      </a:pPr>
                      <a:r>
                        <a:rPr lang="en-ID" sz="1600" b="1" kern="100" dirty="0">
                          <a:effectLst/>
                          <a:latin typeface="Telegraf" panose="020B0604020202020204"/>
                        </a:rPr>
                        <a:t>Subsurface Coordinate</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749,434.38</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a:txBody>
                    <a:bodyPr/>
                    <a:lstStyle/>
                    <a:p>
                      <a:pPr algn="ctr">
                        <a:lnSpc>
                          <a:spcPct val="107000"/>
                        </a:lnSpc>
                        <a:spcAft>
                          <a:spcPts val="800"/>
                        </a:spcAft>
                        <a:buNone/>
                      </a:pPr>
                      <a:r>
                        <a:rPr lang="en-ID" sz="1600" b="1" kern="100" dirty="0">
                          <a:effectLst/>
                          <a:latin typeface="Telegraf" panose="020B0604020202020204"/>
                        </a:rPr>
                        <a:t>109,589.99</a:t>
                      </a:r>
                      <a:endParaRPr lang="en-ID" sz="16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tcPr>
                </a:tc>
                <a:tc vMerge="1">
                  <a:txBody>
                    <a:bodyPr/>
                    <a:lstStyle/>
                    <a:p>
                      <a:pPr algn="ctr">
                        <a:lnSpc>
                          <a:spcPct val="107000"/>
                        </a:lnSpc>
                        <a:spcAft>
                          <a:spcPts val="800"/>
                        </a:spcAft>
                        <a:buNone/>
                      </a:pPr>
                      <a:endParaRPr lang="en-ID" sz="1400" b="1" kern="100" dirty="0">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bg2">
                          <a:lumMod val="90000"/>
                        </a:schemeClr>
                      </a:solidFill>
                      <a:prstDash val="solid"/>
                      <a:round/>
                      <a:headEnd type="none" w="med" len="med"/>
                      <a:tailEnd type="none" w="med" len="med"/>
                    </a:lnL>
                  </a:tcPr>
                </a:tc>
                <a:extLst>
                  <a:ext uri="{0D108BD9-81ED-4DB2-BD59-A6C34878D82A}">
                    <a16:rowId xmlns:a16="http://schemas.microsoft.com/office/drawing/2014/main" val="1283466241"/>
                  </a:ext>
                </a:extLst>
              </a:tr>
            </a:tbl>
          </a:graphicData>
        </a:graphic>
      </p:graphicFrame>
      <p:sp>
        <p:nvSpPr>
          <p:cNvPr id="3" name="TextBox 2">
            <a:extLst>
              <a:ext uri="{FF2B5EF4-FFF2-40B4-BE49-F238E27FC236}">
                <a16:creationId xmlns:a16="http://schemas.microsoft.com/office/drawing/2014/main" id="{34622834-E8D9-C867-6FEF-57E1FB4915A7}"/>
              </a:ext>
            </a:extLst>
          </p:cNvPr>
          <p:cNvSpPr txBox="1"/>
          <p:nvPr/>
        </p:nvSpPr>
        <p:spPr>
          <a:xfrm>
            <a:off x="250316" y="1092095"/>
            <a:ext cx="11454004" cy="1589153"/>
          </a:xfrm>
          <a:prstGeom prst="rect">
            <a:avLst/>
          </a:prstGeom>
          <a:noFill/>
        </p:spPr>
        <p:txBody>
          <a:bodyPr wrap="square">
            <a:spAutoFit/>
          </a:bodyPr>
          <a:lstStyle/>
          <a:p>
            <a:pPr marL="171450" indent="-171450">
              <a:lnSpc>
                <a:spcPct val="150000"/>
              </a:lnSpc>
              <a:buFontTx/>
              <a:buChar char="-"/>
            </a:pPr>
            <a:r>
              <a:rPr lang="en-US" dirty="0">
                <a:latin typeface="Telegraf" panose="020B0604020202020204"/>
              </a:rPr>
              <a:t>The proposed wells are designed as directional J-type wells with horizontal displacement 2,437 ft MD and a planned total depth of approximately 5,312 ft MD.</a:t>
            </a:r>
          </a:p>
          <a:p>
            <a:pPr marL="171450" indent="-171450">
              <a:lnSpc>
                <a:spcPct val="150000"/>
              </a:lnSpc>
              <a:buFontTx/>
              <a:buChar char="-"/>
            </a:pPr>
            <a:r>
              <a:rPr lang="en-US" dirty="0">
                <a:latin typeface="Telegraf" panose="020B0604020202020204"/>
              </a:rPr>
              <a:t>Below is the Surface and Subsurface Coordinate Alpha-07 well.</a:t>
            </a:r>
          </a:p>
          <a:p>
            <a:pPr>
              <a:lnSpc>
                <a:spcPct val="150000"/>
              </a:lnSpc>
            </a:pPr>
            <a:endParaRPr lang="en-US" sz="1200" dirty="0">
              <a:latin typeface="Telegraf" panose="020B0604020202020204"/>
            </a:endParaRPr>
          </a:p>
        </p:txBody>
      </p:sp>
    </p:spTree>
    <p:extLst>
      <p:ext uri="{BB962C8B-B14F-4D97-AF65-F5344CB8AC3E}">
        <p14:creationId xmlns:p14="http://schemas.microsoft.com/office/powerpoint/2010/main" val="39324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1FFF-5B49-D979-73EC-93A09D9BA128}"/>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6481E8A-4894-D6EB-7841-F4B9B8D2066C}"/>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LAND ACQUISITION &amp; CIVIL WORKS STATUS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AC1FB3E-6C01-9D2C-F8DF-A70C37EFB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9A6FC9BC-7A19-162C-0F41-DBB73EBDF5EC}"/>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8A04F0D-2927-548B-740F-13AD6FBF90D6}"/>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0CBC7668-5BDE-CA4C-0809-A1F95BB31D14}"/>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11</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B167EBD6-6322-FD34-2526-269DA74FB401}"/>
              </a:ext>
            </a:extLst>
          </p:cNvPr>
          <p:cNvSpPr txBox="1"/>
          <p:nvPr/>
        </p:nvSpPr>
        <p:spPr>
          <a:xfrm>
            <a:off x="250315" y="1092095"/>
            <a:ext cx="11771639" cy="5605637"/>
          </a:xfrm>
          <a:prstGeom prst="rect">
            <a:avLst/>
          </a:prstGeom>
          <a:noFill/>
        </p:spPr>
        <p:txBody>
          <a:bodyPr wrap="square">
            <a:spAutoFit/>
          </a:bodyPr>
          <a:lstStyle/>
          <a:p>
            <a:pPr marL="171450" indent="-171450">
              <a:buFontTx/>
              <a:buChar char="-"/>
            </a:pPr>
            <a:r>
              <a:rPr lang="en-US" dirty="0">
                <a:latin typeface="Telegraf" panose="020B0604020202020204"/>
              </a:rPr>
              <a:t>The Alpha-07 development project requires approximately 2–2.5 ha of land.</a:t>
            </a:r>
          </a:p>
          <a:p>
            <a:pPr marL="171450" indent="-171450">
              <a:buFontTx/>
              <a:buChar char="-"/>
            </a:pPr>
            <a:r>
              <a:rPr lang="en-US" dirty="0">
                <a:latin typeface="Telegraf" panose="020B0604020202020204"/>
              </a:rPr>
              <a:t>Land Rig of 750 HP will be required to drill Alpha-07 well, considering the limitation of land availability.</a:t>
            </a:r>
          </a:p>
          <a:p>
            <a:pPr marL="171450" indent="-171450">
              <a:buFontTx/>
              <a:buChar char="-"/>
            </a:pPr>
            <a:r>
              <a:rPr lang="en-US" dirty="0">
                <a:latin typeface="Telegraf" panose="020B0604020202020204"/>
              </a:rPr>
              <a:t>Please find the </a:t>
            </a:r>
            <a:r>
              <a:rPr lang="en-ID" dirty="0">
                <a:latin typeface="Telegraf" panose="020B0604020202020204"/>
              </a:rPr>
              <a:t>Typical Design </a:t>
            </a:r>
            <a:r>
              <a:rPr lang="en-ID" dirty="0" err="1">
                <a:latin typeface="Telegraf" panose="020B0604020202020204"/>
              </a:rPr>
              <a:t>Wellpad</a:t>
            </a:r>
            <a:r>
              <a:rPr lang="en-ID" dirty="0">
                <a:latin typeface="Telegraf" panose="020B0604020202020204"/>
              </a:rPr>
              <a:t> Rig Layout 750 HP</a:t>
            </a: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lnSpc>
                <a:spcPct val="150000"/>
              </a:lnSpc>
              <a:buFontTx/>
              <a:buChar char="-"/>
            </a:pPr>
            <a:endParaRPr lang="en-US" dirty="0">
              <a:latin typeface="Telegraf" panose="020B0604020202020204"/>
            </a:endParaRPr>
          </a:p>
          <a:p>
            <a:pPr marL="171450" indent="-171450">
              <a:buFontTx/>
              <a:buChar char="-"/>
            </a:pPr>
            <a:r>
              <a:rPr lang="en-US" dirty="0">
                <a:latin typeface="Telegraf" panose="020B0604020202020204"/>
              </a:rPr>
              <a:t>Permit to Drill (PTD) and other regulatory approvals are being processed as part of Project Initiation - Gate 1 Sanction process</a:t>
            </a:r>
          </a:p>
          <a:p>
            <a:pPr marL="171450" indent="-171450">
              <a:buFontTx/>
              <a:buChar char="-"/>
            </a:pPr>
            <a:r>
              <a:rPr lang="en-US" dirty="0">
                <a:latin typeface="Telegraf" panose="020B0604020202020204"/>
              </a:rPr>
              <a:t>The project is progressing from Gate-1 (Project Initiation) towards Gate-2 (Detailed Engineering and Execution Preparation), with major permitting and site preparation activities proceeding according to drilling schedule.</a:t>
            </a:r>
          </a:p>
          <a:p>
            <a:pPr>
              <a:lnSpc>
                <a:spcPct val="150000"/>
              </a:lnSpc>
            </a:pPr>
            <a:endParaRPr lang="en-US" sz="1200" dirty="0">
              <a:latin typeface="Telegraf" panose="020B0604020202020204"/>
            </a:endParaRPr>
          </a:p>
        </p:txBody>
      </p:sp>
      <p:pic>
        <p:nvPicPr>
          <p:cNvPr id="4" name="Picture 3">
            <a:extLst>
              <a:ext uri="{FF2B5EF4-FFF2-40B4-BE49-F238E27FC236}">
                <a16:creationId xmlns:a16="http://schemas.microsoft.com/office/drawing/2014/main" id="{F5515C21-46C8-5994-5212-C402C16FA5E4}"/>
              </a:ext>
            </a:extLst>
          </p:cNvPr>
          <p:cNvPicPr>
            <a:picLocks noChangeAspect="1"/>
          </p:cNvPicPr>
          <p:nvPr/>
        </p:nvPicPr>
        <p:blipFill>
          <a:blip r:embed="rId6"/>
          <a:stretch>
            <a:fillRect/>
          </a:stretch>
        </p:blipFill>
        <p:spPr>
          <a:xfrm>
            <a:off x="6095999" y="1740885"/>
            <a:ext cx="3502489" cy="3312378"/>
          </a:xfrm>
          <a:prstGeom prst="rect">
            <a:avLst/>
          </a:prstGeom>
        </p:spPr>
      </p:pic>
    </p:spTree>
    <p:extLst>
      <p:ext uri="{BB962C8B-B14F-4D97-AF65-F5344CB8AC3E}">
        <p14:creationId xmlns:p14="http://schemas.microsoft.com/office/powerpoint/2010/main" val="3080005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A531-8601-8964-7FFB-E7104B9B3D7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59DB038-D003-28A7-4F81-725FF2CAD1C6}"/>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TERRAIN &amp; LOGISTICS ACCESSIBILITY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15B40940-A0B9-46D9-A83C-C04B439073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2E795CC4-E582-0AD3-9F2E-A20FBA3C34B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25A8D2DF-DF57-209A-CD3D-95294D82433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2E3C42AC-BA42-25F3-DF7D-953E0B3682E6}"/>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12</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95FD76EE-A73F-A871-53BC-E221A2260FD0}"/>
              </a:ext>
            </a:extLst>
          </p:cNvPr>
          <p:cNvSpPr txBox="1"/>
          <p:nvPr/>
        </p:nvSpPr>
        <p:spPr>
          <a:xfrm>
            <a:off x="250316" y="1092095"/>
            <a:ext cx="11454004" cy="2126864"/>
          </a:xfrm>
          <a:prstGeom prst="rect">
            <a:avLst/>
          </a:prstGeom>
          <a:noFill/>
        </p:spPr>
        <p:txBody>
          <a:bodyPr wrap="square">
            <a:spAutoFit/>
          </a:bodyPr>
          <a:lstStyle/>
          <a:p>
            <a:pPr marL="171450" indent="-171450">
              <a:lnSpc>
                <a:spcPct val="150000"/>
              </a:lnSpc>
              <a:buFontTx/>
              <a:buChar char="-"/>
            </a:pPr>
            <a:r>
              <a:rPr lang="en-US" dirty="0">
                <a:latin typeface="Telegraf" panose="020B0604020202020204"/>
              </a:rPr>
              <a:t>Alpha Field is located in the southern part of WK Core Energy Solution in an onshore environment characterized by a combination of plantation areas, forested land, and operationally constrained zones</a:t>
            </a:r>
          </a:p>
          <a:p>
            <a:pPr marL="171450" indent="-171450">
              <a:lnSpc>
                <a:spcPct val="150000"/>
              </a:lnSpc>
              <a:buFontTx/>
              <a:buChar char="-"/>
            </a:pPr>
            <a:r>
              <a:rPr lang="en-US" dirty="0">
                <a:latin typeface="Telegraf" panose="020B0604020202020204"/>
              </a:rPr>
              <a:t>The terrain is generally flat, which facilitates drilling and infrastructure development.</a:t>
            </a:r>
          </a:p>
          <a:p>
            <a:pPr marL="171450" indent="-171450">
              <a:lnSpc>
                <a:spcPct val="150000"/>
              </a:lnSpc>
              <a:buFontTx/>
              <a:buChar char="-"/>
            </a:pPr>
            <a:r>
              <a:rPr lang="en-US" dirty="0">
                <a:latin typeface="Telegraf" panose="020B0604020202020204"/>
              </a:rPr>
              <a:t>Rig mobilization is estimated at approximately 6 days for intra field moves and up to 14 days for inter field mobilization.</a:t>
            </a:r>
          </a:p>
          <a:p>
            <a:pPr marL="171450" indent="-171450">
              <a:lnSpc>
                <a:spcPct val="150000"/>
              </a:lnSpc>
              <a:buFontTx/>
              <a:buChar char="-"/>
            </a:pPr>
            <a:r>
              <a:rPr lang="en-US" dirty="0">
                <a:latin typeface="Telegraf" panose="020B0604020202020204"/>
              </a:rPr>
              <a:t>Mobilization preparation will be in accordance with applicable API and ASME requirements.</a:t>
            </a:r>
          </a:p>
        </p:txBody>
      </p:sp>
    </p:spTree>
    <p:extLst>
      <p:ext uri="{BB962C8B-B14F-4D97-AF65-F5344CB8AC3E}">
        <p14:creationId xmlns:p14="http://schemas.microsoft.com/office/powerpoint/2010/main" val="39786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FA1E-A445-ED5B-FA19-F9478EFEA1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C96284-D0B4-56A4-A753-B6F1D446A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1567036D-D1E9-5E3D-35C3-D21612B075B0}"/>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EA79B48-C824-758B-82A6-CAD7995920A3}"/>
              </a:ext>
            </a:extLst>
          </p:cNvPr>
          <p:cNvSpPr>
            <a:spLocks noGrp="1"/>
          </p:cNvSpPr>
          <p:nvPr>
            <p:ph type="ctrTitle"/>
          </p:nvPr>
        </p:nvSpPr>
        <p:spPr>
          <a:xfrm>
            <a:off x="494907" y="2459920"/>
            <a:ext cx="11202186" cy="1958823"/>
          </a:xfrm>
        </p:spPr>
        <p:txBody>
          <a:bodyPr anchor="ctr">
            <a:normAutofit/>
          </a:bodyPr>
          <a:lstStyle/>
          <a:p>
            <a:r>
              <a:rPr lang="it-IT" dirty="0">
                <a:solidFill>
                  <a:schemeClr val="bg1"/>
                </a:solidFill>
                <a:latin typeface="Telegraf Bold" panose="020B0604020202020204" charset="0"/>
              </a:rPr>
              <a:t>SUBSURFACE GEOLOGICAL PROGNOSIS (G&amp;G DATA)</a:t>
            </a:r>
          </a:p>
        </p:txBody>
      </p:sp>
      <p:pic>
        <p:nvPicPr>
          <p:cNvPr id="9" name="Google Shape;40;p1" descr="Blue text and blue letters on a black background&#10;&#10;Description automatically generated">
            <a:extLst>
              <a:ext uri="{FF2B5EF4-FFF2-40B4-BE49-F238E27FC236}">
                <a16:creationId xmlns:a16="http://schemas.microsoft.com/office/drawing/2014/main" id="{88CFC866-0065-D882-3286-B7208CC5D65D}"/>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120052FD-23A3-0583-710E-E3B13D7EBE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182461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E741-932A-A4F6-6D47-2AEE2226CC9A}"/>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CF1FF5C-DE02-C876-9C90-E26DD66AA89E}"/>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GEOLOGICAL TARGET &amp; HYDROCARBON POTENTIAL</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33433141-C592-A166-BE33-DF293D6418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FCC30A5-79F9-471F-D754-06E52568074F}"/>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pic>
        <p:nvPicPr>
          <p:cNvPr id="5" name="Picture 4">
            <a:extLst>
              <a:ext uri="{FF2B5EF4-FFF2-40B4-BE49-F238E27FC236}">
                <a16:creationId xmlns:a16="http://schemas.microsoft.com/office/drawing/2014/main" id="{F55A3466-1593-571C-E5BE-18B174CBFB5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0316" y="1046376"/>
            <a:ext cx="5268495" cy="3810760"/>
          </a:xfrm>
          <a:prstGeom prst="rect">
            <a:avLst/>
          </a:prstGeom>
          <a:noFill/>
        </p:spPr>
      </p:pic>
      <p:sp>
        <p:nvSpPr>
          <p:cNvPr id="9" name="Freeform 6">
            <a:extLst>
              <a:ext uri="{FF2B5EF4-FFF2-40B4-BE49-F238E27FC236}">
                <a16:creationId xmlns:a16="http://schemas.microsoft.com/office/drawing/2014/main" id="{7E21971D-2813-5E6A-FDE9-10C1AE59026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11" name="Title 1">
            <a:extLst>
              <a:ext uri="{FF2B5EF4-FFF2-40B4-BE49-F238E27FC236}">
                <a16:creationId xmlns:a16="http://schemas.microsoft.com/office/drawing/2014/main" id="{E156CDBC-FA2F-BC22-2C1D-873EABB3D25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14</a:t>
            </a:r>
            <a:endParaRPr lang="en-ID" dirty="0">
              <a:solidFill>
                <a:schemeClr val="bg1"/>
              </a:solidFill>
              <a:latin typeface="Telegraf Bold" panose="020B0604020202020204" charset="0"/>
            </a:endParaRPr>
          </a:p>
        </p:txBody>
      </p:sp>
      <p:graphicFrame>
        <p:nvGraphicFramePr>
          <p:cNvPr id="12" name="Table 11">
            <a:extLst>
              <a:ext uri="{FF2B5EF4-FFF2-40B4-BE49-F238E27FC236}">
                <a16:creationId xmlns:a16="http://schemas.microsoft.com/office/drawing/2014/main" id="{58DDD221-48A1-7EDD-7063-CC2983DA27DE}"/>
              </a:ext>
            </a:extLst>
          </p:cNvPr>
          <p:cNvGraphicFramePr>
            <a:graphicFrameLocks noGrp="1"/>
          </p:cNvGraphicFramePr>
          <p:nvPr>
            <p:extLst>
              <p:ext uri="{D42A27DB-BD31-4B8C-83A1-F6EECF244321}">
                <p14:modId xmlns:p14="http://schemas.microsoft.com/office/powerpoint/2010/main" val="2087764436"/>
              </p:ext>
            </p:extLst>
          </p:nvPr>
        </p:nvGraphicFramePr>
        <p:xfrm>
          <a:off x="250316" y="5006015"/>
          <a:ext cx="6043635" cy="1727200"/>
        </p:xfrm>
        <a:graphic>
          <a:graphicData uri="http://schemas.openxmlformats.org/drawingml/2006/table">
            <a:tbl>
              <a:tblPr firstRow="1" firstCol="1" bandRow="1">
                <a:tableStyleId>{D113A9D2-9D6B-4929-AA2D-F23B5EE8CBE7}</a:tableStyleId>
              </a:tblPr>
              <a:tblGrid>
                <a:gridCol w="820992">
                  <a:extLst>
                    <a:ext uri="{9D8B030D-6E8A-4147-A177-3AD203B41FA5}">
                      <a16:colId xmlns:a16="http://schemas.microsoft.com/office/drawing/2014/main" val="2845172401"/>
                    </a:ext>
                  </a:extLst>
                </a:gridCol>
                <a:gridCol w="833184">
                  <a:extLst>
                    <a:ext uri="{9D8B030D-6E8A-4147-A177-3AD203B41FA5}">
                      <a16:colId xmlns:a16="http://schemas.microsoft.com/office/drawing/2014/main" val="209757275"/>
                    </a:ext>
                  </a:extLst>
                </a:gridCol>
                <a:gridCol w="1535176">
                  <a:extLst>
                    <a:ext uri="{9D8B030D-6E8A-4147-A177-3AD203B41FA5}">
                      <a16:colId xmlns:a16="http://schemas.microsoft.com/office/drawing/2014/main" val="1137621343"/>
                    </a:ext>
                  </a:extLst>
                </a:gridCol>
                <a:gridCol w="2854283">
                  <a:extLst>
                    <a:ext uri="{9D8B030D-6E8A-4147-A177-3AD203B41FA5}">
                      <a16:colId xmlns:a16="http://schemas.microsoft.com/office/drawing/2014/main" val="3074856946"/>
                    </a:ext>
                  </a:extLst>
                </a:gridCol>
              </a:tblGrid>
              <a:tr h="215900">
                <a:tc>
                  <a:txBody>
                    <a:bodyPr/>
                    <a:lstStyle/>
                    <a:p>
                      <a:pPr algn="ctr">
                        <a:lnSpc>
                          <a:spcPct val="107000"/>
                        </a:lnSpc>
                        <a:spcAft>
                          <a:spcPts val="800"/>
                        </a:spcAft>
                        <a:buNone/>
                      </a:pPr>
                      <a:r>
                        <a:rPr lang="en-ID" sz="1100" kern="100" dirty="0">
                          <a:solidFill>
                            <a:schemeClr val="bg1"/>
                          </a:solidFill>
                          <a:effectLst/>
                          <a:latin typeface="Telegraf" panose="020B0604020202020204"/>
                        </a:rPr>
                        <a:t>Formation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Lithology</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Interval Depth (</a:t>
                      </a:r>
                      <a:r>
                        <a:rPr lang="en-ID" sz="1100" kern="100" dirty="0" err="1">
                          <a:solidFill>
                            <a:schemeClr val="bg1"/>
                          </a:solidFill>
                          <a:effectLst/>
                          <a:latin typeface="Telegraf" panose="020B0604020202020204"/>
                        </a:rPr>
                        <a:t>ftTVD</a:t>
                      </a:r>
                      <a:r>
                        <a:rPr lang="en-ID" sz="1100" kern="100" dirty="0">
                          <a:solidFill>
                            <a:schemeClr val="bg1"/>
                          </a:solidFill>
                          <a:effectLst/>
                          <a:latin typeface="Telegraf" panose="020B0604020202020204"/>
                        </a:rPr>
                        <a:t>)</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Subsurface Drilling Hazard Remarks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1622453"/>
                  </a:ext>
                </a:extLst>
              </a:tr>
              <a:tr h="215900">
                <a:tc>
                  <a:txBody>
                    <a:bodyPr/>
                    <a:lstStyle/>
                    <a:p>
                      <a:pPr algn="ctr">
                        <a:lnSpc>
                          <a:spcPct val="107000"/>
                        </a:lnSpc>
                        <a:spcAft>
                          <a:spcPts val="800"/>
                        </a:spcAft>
                        <a:buNone/>
                      </a:pPr>
                      <a:r>
                        <a:rPr lang="en-ID" sz="1100" kern="100" dirty="0">
                          <a:solidFill>
                            <a:schemeClr val="bg1"/>
                          </a:solidFill>
                          <a:effectLst/>
                          <a:latin typeface="Telegraf" panose="020B0604020202020204"/>
                        </a:rPr>
                        <a:t>Surface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Soft &amp; Clay</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0-2487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No Issue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29934783"/>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Shale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2487-3460</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Sloughing shale, Gumbo, Tight hole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3466241"/>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3460-4042</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Sloughing shale, Gumbo, Tight hole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7876362"/>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4042-4238</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 Tool Stop</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4482495"/>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Bama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4238-4367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89039791"/>
                  </a:ext>
                </a:extLst>
              </a:tr>
              <a:tr h="215900">
                <a:tc>
                  <a:txBody>
                    <a:bodyPr/>
                    <a:lstStyle/>
                    <a:p>
                      <a:pPr algn="ctr">
                        <a:lnSpc>
                          <a:spcPct val="107000"/>
                        </a:lnSpc>
                        <a:spcAft>
                          <a:spcPts val="800"/>
                        </a:spcAft>
                        <a:buNone/>
                      </a:pPr>
                      <a:r>
                        <a:rPr lang="en-ID" sz="1100" b="1" kern="100">
                          <a:solidFill>
                            <a:schemeClr val="bg1"/>
                          </a:solidFill>
                          <a:effectLst/>
                          <a:latin typeface="Telegraf" panose="020B0604020202020204"/>
                          <a:ea typeface="Times New Roman" panose="02020603050405020304" pitchFamily="18" charset="0"/>
                          <a:cs typeface="Calibri" panose="020F0502020204030204" pitchFamily="34" charset="0"/>
                        </a:rPr>
                        <a:t>Raja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4367-4527</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31023830"/>
                  </a:ext>
                </a:extLst>
              </a:tr>
              <a:tr h="215900">
                <a:tc>
                  <a:txBody>
                    <a:bodyPr/>
                    <a:lstStyle/>
                    <a:p>
                      <a:pPr algn="ctr">
                        <a:lnSpc>
                          <a:spcPct val="107000"/>
                        </a:lnSpc>
                        <a:spcAft>
                          <a:spcPts val="800"/>
                        </a:spcAft>
                        <a:buNone/>
                      </a:pPr>
                      <a:r>
                        <a:rPr lang="en-ID" sz="1100" b="1" kern="100" dirty="0">
                          <a:solidFill>
                            <a:schemeClr val="bg1"/>
                          </a:solidFill>
                          <a:effectLst/>
                          <a:latin typeface="Telegraf" panose="020B0604020202020204"/>
                          <a:ea typeface="Times New Roman" panose="02020603050405020304" pitchFamily="18" charset="0"/>
                          <a:cs typeface="Calibri" panose="020F0502020204030204" pitchFamily="34" charset="0"/>
                        </a:rPr>
                        <a:t>Prima</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a:solidFill>
                            <a:schemeClr val="bg1"/>
                          </a:solidFill>
                          <a:effectLst/>
                          <a:latin typeface="Telegraf" panose="020B0604020202020204"/>
                        </a:rPr>
                        <a:t>Sandstone</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D" sz="1100" kern="100">
                          <a:solidFill>
                            <a:schemeClr val="bg1"/>
                          </a:solidFill>
                          <a:effectLst/>
                          <a:latin typeface="Telegraf" panose="020B0604020202020204"/>
                        </a:rPr>
                        <a:t>4527-4676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ID" sz="1100" kern="100" dirty="0">
                          <a:solidFill>
                            <a:schemeClr val="bg1"/>
                          </a:solidFill>
                          <a:effectLst/>
                          <a:latin typeface="Telegraf" panose="020B0604020202020204"/>
                        </a:rPr>
                        <a:t>Loss Circulation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0751152"/>
                  </a:ext>
                </a:extLst>
              </a:tr>
            </a:tbl>
          </a:graphicData>
        </a:graphic>
      </p:graphicFrame>
      <p:graphicFrame>
        <p:nvGraphicFramePr>
          <p:cNvPr id="13" name="Table 12">
            <a:extLst>
              <a:ext uri="{FF2B5EF4-FFF2-40B4-BE49-F238E27FC236}">
                <a16:creationId xmlns:a16="http://schemas.microsoft.com/office/drawing/2014/main" id="{626404EC-9777-E206-C31E-621620D978BB}"/>
              </a:ext>
            </a:extLst>
          </p:cNvPr>
          <p:cNvGraphicFramePr>
            <a:graphicFrameLocks noGrp="1"/>
          </p:cNvGraphicFramePr>
          <p:nvPr>
            <p:extLst>
              <p:ext uri="{D42A27DB-BD31-4B8C-83A1-F6EECF244321}">
                <p14:modId xmlns:p14="http://schemas.microsoft.com/office/powerpoint/2010/main" val="814840379"/>
              </p:ext>
            </p:extLst>
          </p:nvPr>
        </p:nvGraphicFramePr>
        <p:xfrm>
          <a:off x="6673190" y="1046375"/>
          <a:ext cx="4704960" cy="5686830"/>
        </p:xfrm>
        <a:graphic>
          <a:graphicData uri="http://schemas.openxmlformats.org/drawingml/2006/table">
            <a:tbl>
              <a:tblPr firstRow="1" firstCol="1" bandRow="1">
                <a:tableStyleId>{D113A9D2-9D6B-4929-AA2D-F23B5EE8CBE7}</a:tableStyleId>
              </a:tblPr>
              <a:tblGrid>
                <a:gridCol w="763145">
                  <a:extLst>
                    <a:ext uri="{9D8B030D-6E8A-4147-A177-3AD203B41FA5}">
                      <a16:colId xmlns:a16="http://schemas.microsoft.com/office/drawing/2014/main" val="4032460469"/>
                    </a:ext>
                  </a:extLst>
                </a:gridCol>
                <a:gridCol w="899458">
                  <a:extLst>
                    <a:ext uri="{9D8B030D-6E8A-4147-A177-3AD203B41FA5}">
                      <a16:colId xmlns:a16="http://schemas.microsoft.com/office/drawing/2014/main" val="867141200"/>
                    </a:ext>
                  </a:extLst>
                </a:gridCol>
                <a:gridCol w="1103926">
                  <a:extLst>
                    <a:ext uri="{9D8B030D-6E8A-4147-A177-3AD203B41FA5}">
                      <a16:colId xmlns:a16="http://schemas.microsoft.com/office/drawing/2014/main" val="339769069"/>
                    </a:ext>
                  </a:extLst>
                </a:gridCol>
                <a:gridCol w="1938431">
                  <a:extLst>
                    <a:ext uri="{9D8B030D-6E8A-4147-A177-3AD203B41FA5}">
                      <a16:colId xmlns:a16="http://schemas.microsoft.com/office/drawing/2014/main" val="2103952582"/>
                    </a:ext>
                  </a:extLst>
                </a:gridCol>
              </a:tblGrid>
              <a:tr h="189561">
                <a:tc>
                  <a:txBody>
                    <a:bodyPr/>
                    <a:lstStyle/>
                    <a:p>
                      <a:pPr algn="ctr">
                        <a:lnSpc>
                          <a:spcPct val="107000"/>
                        </a:lnSpc>
                        <a:spcAft>
                          <a:spcPts val="800"/>
                        </a:spcAft>
                        <a:buNone/>
                      </a:pPr>
                      <a:r>
                        <a:rPr lang="en-US" sz="1100" kern="0" dirty="0">
                          <a:solidFill>
                            <a:schemeClr val="bg1"/>
                          </a:solidFill>
                          <a:effectLst/>
                          <a:latin typeface="Telegraf" panose="020B0604020202020204"/>
                        </a:rPr>
                        <a:t>Formation</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Sand Marker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Reservoir Target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Estimated Fluid Content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69561462"/>
                  </a:ext>
                </a:extLst>
              </a:tr>
              <a:tr h="189561">
                <a:tc>
                  <a:txBody>
                    <a:bodyPr/>
                    <a:lstStyle/>
                    <a:p>
                      <a:pPr algn="ctr">
                        <a:lnSpc>
                          <a:spcPct val="107000"/>
                        </a:lnSpc>
                        <a:spcAft>
                          <a:spcPts val="800"/>
                        </a:spcAft>
                        <a:buNone/>
                      </a:pPr>
                      <a:r>
                        <a:rPr lang="en-US" sz="1100" kern="0" dirty="0">
                          <a:solidFill>
                            <a:schemeClr val="bg1"/>
                          </a:solidFill>
                          <a:effectLst/>
                          <a:latin typeface="Telegraf" panose="020B0604020202020204"/>
                        </a:rPr>
                        <a:t>Surface</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74157888"/>
                  </a:ext>
                </a:extLst>
              </a:tr>
              <a:tr h="189561">
                <a:tc>
                  <a:txBody>
                    <a:bodyPr/>
                    <a:lstStyle/>
                    <a:p>
                      <a:pPr algn="ctr">
                        <a:lnSpc>
                          <a:spcPct val="107000"/>
                        </a:lnSpc>
                        <a:spcAft>
                          <a:spcPts val="800"/>
                        </a:spcAft>
                        <a:buNone/>
                      </a:pPr>
                      <a:r>
                        <a:rPr lang="en-US" sz="1100" kern="0" dirty="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T_A1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39586466"/>
                  </a:ext>
                </a:extLst>
              </a:tr>
              <a:tr h="189561">
                <a:tc>
                  <a:txBody>
                    <a:bodyPr/>
                    <a:lstStyle/>
                    <a:p>
                      <a:pPr algn="ctr">
                        <a:lnSpc>
                          <a:spcPct val="107000"/>
                        </a:lnSpc>
                        <a:spcAft>
                          <a:spcPts val="800"/>
                        </a:spcAft>
                        <a:buNone/>
                      </a:pPr>
                      <a:r>
                        <a:rPr lang="en-US" sz="1100" kern="0">
                          <a:solidFill>
                            <a:schemeClr val="bg1"/>
                          </a:solidFill>
                          <a:effectLst/>
                          <a:latin typeface="Telegraf" panose="020B0604020202020204"/>
                          <a:ea typeface="Times New Roman" panose="02020603050405020304" pitchFamily="18" charset="0"/>
                          <a:cs typeface="Calibri" panose="020F0502020204030204" pitchFamily="34" charset="0"/>
                        </a:rPr>
                        <a:t>Arya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T_A2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99985250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72729140"/>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34279657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Possible 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4826296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71826979"/>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Buana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T_B5</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1546361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Yes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349131105"/>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632790314"/>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063038095"/>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93827419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T_C5</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12898839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Times New Roman" panose="02020603050405020304" pitchFamily="18" charset="0"/>
                          <a:cs typeface="Calibri" panose="020F0502020204030204" pitchFamily="34" charset="0"/>
                        </a:rPr>
                        <a:t>Bara</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T_C6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037949797"/>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T_D1</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554586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Yes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 &amp; Gas</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349152193"/>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82419454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6852903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T_D5</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766711442"/>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Bama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T_D6</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832542896"/>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T_E1</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422640388"/>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T_E2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Possible 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52174329"/>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T_E3</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99620233"/>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T_E4</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28208329"/>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Raja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T_E5</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Oil</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859004256"/>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dirty="0">
                          <a:solidFill>
                            <a:schemeClr val="bg1"/>
                          </a:solidFill>
                          <a:effectLst/>
                          <a:latin typeface="Telegraf" panose="020B0604020202020204"/>
                        </a:rPr>
                        <a:t>T_F1</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Yes</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Oil</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3442457591"/>
                  </a:ext>
                </a:extLst>
              </a:tr>
              <a:tr h="189561">
                <a:tc>
                  <a:txBody>
                    <a:bodyPr/>
                    <a:lstStyle/>
                    <a:p>
                      <a:pPr algn="ctr">
                        <a:lnSpc>
                          <a:spcPct val="107000"/>
                        </a:lnSpc>
                        <a:spcAft>
                          <a:spcPts val="800"/>
                        </a:spcAft>
                        <a:buNone/>
                      </a:pPr>
                      <a:r>
                        <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T_F2</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1989269474"/>
                  </a:ext>
                </a:extLst>
              </a:tr>
              <a:tr h="189561">
                <a:tc>
                  <a:txBody>
                    <a:bodyPr/>
                    <a:lstStyle/>
                    <a:p>
                      <a:pPr algn="ctr">
                        <a:lnSpc>
                          <a:spcPct val="107000"/>
                        </a:lnSpc>
                        <a:spcAft>
                          <a:spcPts val="800"/>
                        </a:spcAft>
                        <a:buNone/>
                      </a:pPr>
                      <a:r>
                        <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rPr>
                        <a:t>Prima</a:t>
                      </a:r>
                    </a:p>
                  </a:txBody>
                  <a:tcPr marL="68580" marR="68580" marT="0" marB="0"/>
                </a:tc>
                <a:tc>
                  <a:txBody>
                    <a:bodyPr/>
                    <a:lstStyle/>
                    <a:p>
                      <a:pPr algn="ctr">
                        <a:lnSpc>
                          <a:spcPct val="107000"/>
                        </a:lnSpc>
                        <a:spcAft>
                          <a:spcPts val="800"/>
                        </a:spcAft>
                        <a:buNone/>
                      </a:pPr>
                      <a:r>
                        <a:rPr lang="en-US" sz="1100" kern="0">
                          <a:solidFill>
                            <a:schemeClr val="bg1"/>
                          </a:solidFill>
                          <a:effectLst/>
                          <a:latin typeface="Telegraf" panose="020B0604020202020204"/>
                        </a:rPr>
                        <a:t>T_F3</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Water</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611658953"/>
                  </a:ext>
                </a:extLst>
              </a:tr>
              <a:tr h="189561">
                <a:tc>
                  <a:txBody>
                    <a:bodyPr/>
                    <a:lstStyle/>
                    <a:p>
                      <a:pPr algn="ctr">
                        <a:lnSpc>
                          <a:spcPct val="107000"/>
                        </a:lnSpc>
                        <a:spcAft>
                          <a:spcPts val="800"/>
                        </a:spcAft>
                        <a:buNone/>
                      </a:pPr>
                      <a:r>
                        <a:rPr lang="en-US" sz="1100" kern="0">
                          <a:solidFill>
                            <a:schemeClr val="bg1"/>
                          </a:solidFill>
                          <a:effectLst/>
                          <a:latin typeface="Telegraf" panose="020B0604020202020204"/>
                        </a:rPr>
                        <a:t>Basement</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T_BSM</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a:solidFill>
                            <a:schemeClr val="bg1"/>
                          </a:solidFill>
                          <a:effectLst/>
                          <a:latin typeface="Telegraf" panose="020B0604020202020204"/>
                        </a:rPr>
                        <a:t>No</a:t>
                      </a:r>
                      <a:endParaRPr lang="en-ID" sz="1100" kern="10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tc>
                  <a:txBody>
                    <a:bodyPr/>
                    <a:lstStyle/>
                    <a:p>
                      <a:pPr algn="ctr">
                        <a:lnSpc>
                          <a:spcPct val="107000"/>
                        </a:lnSpc>
                        <a:spcAft>
                          <a:spcPts val="800"/>
                        </a:spcAft>
                        <a:buNone/>
                      </a:pPr>
                      <a:r>
                        <a:rPr lang="en-US" sz="1100" kern="0" dirty="0">
                          <a:solidFill>
                            <a:schemeClr val="bg1"/>
                          </a:solidFill>
                          <a:effectLst/>
                          <a:latin typeface="Telegraf" panose="020B0604020202020204"/>
                        </a:rPr>
                        <a:t>Water</a:t>
                      </a:r>
                      <a:endParaRPr lang="en-ID" sz="1100" kern="100" dirty="0">
                        <a:solidFill>
                          <a:schemeClr val="bg1"/>
                        </a:solidFill>
                        <a:effectLst/>
                        <a:latin typeface="Telegraf" panose="020B0604020202020204"/>
                        <a:ea typeface="Calibri" panose="020F0502020204030204" pitchFamily="34" charset="0"/>
                        <a:cs typeface="Times New Roman" panose="02020603050405020304" pitchFamily="18" charset="0"/>
                      </a:endParaRPr>
                    </a:p>
                  </a:txBody>
                  <a:tcPr marL="58018" marR="58018" marT="0" marB="0" anchor="ctr"/>
                </a:tc>
                <a:extLst>
                  <a:ext uri="{0D108BD9-81ED-4DB2-BD59-A6C34878D82A}">
                    <a16:rowId xmlns:a16="http://schemas.microsoft.com/office/drawing/2014/main" val="2584886622"/>
                  </a:ext>
                </a:extLst>
              </a:tr>
            </a:tbl>
          </a:graphicData>
        </a:graphic>
      </p:graphicFrame>
    </p:spTree>
    <p:extLst>
      <p:ext uri="{BB962C8B-B14F-4D97-AF65-F5344CB8AC3E}">
        <p14:creationId xmlns:p14="http://schemas.microsoft.com/office/powerpoint/2010/main" val="2732435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AE4E-F5A5-FB5D-F0A7-638D29379C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5E6F88-FBA3-F7AE-044B-B16D0BE1A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970D1877-5CE6-FF24-581F-463789FA761B}"/>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75C49B0F-5305-4B90-686E-95A30C9013D2}"/>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OFFSET WELL ANALYSIS &amp; LESSONS LEARNED</a:t>
            </a:r>
          </a:p>
        </p:txBody>
      </p:sp>
      <p:pic>
        <p:nvPicPr>
          <p:cNvPr id="9" name="Google Shape;40;p1" descr="Blue text and blue letters on a black background&#10;&#10;Description automatically generated">
            <a:extLst>
              <a:ext uri="{FF2B5EF4-FFF2-40B4-BE49-F238E27FC236}">
                <a16:creationId xmlns:a16="http://schemas.microsoft.com/office/drawing/2014/main" id="{6044D997-5CA9-4D13-FA6D-26E2E060700D}"/>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56FFF1EE-F135-ECAC-EFF3-86931DE3C4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048121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1CD9-B1CE-80D8-E765-7440658A6E10}"/>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58C7027-B725-0357-7CF5-AB2ACB64F93E}"/>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OFFSET WELL OVERVIEW</a:t>
            </a:r>
          </a:p>
        </p:txBody>
      </p:sp>
      <p:pic>
        <p:nvPicPr>
          <p:cNvPr id="35" name="Picture 34">
            <a:extLst>
              <a:ext uri="{FF2B5EF4-FFF2-40B4-BE49-F238E27FC236}">
                <a16:creationId xmlns:a16="http://schemas.microsoft.com/office/drawing/2014/main" id="{9637B2A5-2437-CFB1-F1A7-8806B10971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2AFFE2A-3C7F-296E-AF90-56255ADC48B0}"/>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9F8F561E-6291-CAA8-6DD4-B4AA4E5A1EB9}"/>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A63493DE-B948-D812-E246-951D3CA71AD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16</a:t>
            </a:r>
            <a:endParaRPr lang="en-ID" dirty="0">
              <a:solidFill>
                <a:schemeClr val="bg1"/>
              </a:solidFill>
              <a:latin typeface="Telegraf Bold" panose="020B0604020202020204" charset="0"/>
            </a:endParaRPr>
          </a:p>
        </p:txBody>
      </p:sp>
      <p:graphicFrame>
        <p:nvGraphicFramePr>
          <p:cNvPr id="4" name="Table 0">
            <a:extLst>
              <a:ext uri="{FF2B5EF4-FFF2-40B4-BE49-F238E27FC236}">
                <a16:creationId xmlns:a16="http://schemas.microsoft.com/office/drawing/2014/main" id="{5FB5F383-FBC1-1719-3EFF-4C32C9668F69}"/>
              </a:ext>
            </a:extLst>
          </p:cNvPr>
          <p:cNvGraphicFramePr>
            <a:graphicFrameLocks noGrp="1"/>
          </p:cNvGraphicFramePr>
          <p:nvPr>
            <p:extLst>
              <p:ext uri="{D42A27DB-BD31-4B8C-83A1-F6EECF244321}">
                <p14:modId xmlns:p14="http://schemas.microsoft.com/office/powerpoint/2010/main" val="1883618583"/>
              </p:ext>
            </p:extLst>
          </p:nvPr>
        </p:nvGraphicFramePr>
        <p:xfrm>
          <a:off x="421345" y="1046375"/>
          <a:ext cx="10551455" cy="5482246"/>
        </p:xfrm>
        <a:graphic>
          <a:graphicData uri="http://schemas.openxmlformats.org/drawingml/2006/table">
            <a:tbl>
              <a:tblPr/>
              <a:tblGrid>
                <a:gridCol w="2127313">
                  <a:extLst>
                    <a:ext uri="{9D8B030D-6E8A-4147-A177-3AD203B41FA5}">
                      <a16:colId xmlns:a16="http://schemas.microsoft.com/office/drawing/2014/main" val="20000"/>
                    </a:ext>
                  </a:extLst>
                </a:gridCol>
                <a:gridCol w="1401279">
                  <a:extLst>
                    <a:ext uri="{9D8B030D-6E8A-4147-A177-3AD203B41FA5}">
                      <a16:colId xmlns:a16="http://schemas.microsoft.com/office/drawing/2014/main" val="20001"/>
                    </a:ext>
                  </a:extLst>
                </a:gridCol>
                <a:gridCol w="1417098">
                  <a:extLst>
                    <a:ext uri="{9D8B030D-6E8A-4147-A177-3AD203B41FA5}">
                      <a16:colId xmlns:a16="http://schemas.microsoft.com/office/drawing/2014/main" val="20002"/>
                    </a:ext>
                  </a:extLst>
                </a:gridCol>
                <a:gridCol w="1401279">
                  <a:extLst>
                    <a:ext uri="{9D8B030D-6E8A-4147-A177-3AD203B41FA5}">
                      <a16:colId xmlns:a16="http://schemas.microsoft.com/office/drawing/2014/main" val="20003"/>
                    </a:ext>
                  </a:extLst>
                </a:gridCol>
                <a:gridCol w="1401279">
                  <a:extLst>
                    <a:ext uri="{9D8B030D-6E8A-4147-A177-3AD203B41FA5}">
                      <a16:colId xmlns:a16="http://schemas.microsoft.com/office/drawing/2014/main" val="20004"/>
                    </a:ext>
                  </a:extLst>
                </a:gridCol>
                <a:gridCol w="1401279">
                  <a:extLst>
                    <a:ext uri="{9D8B030D-6E8A-4147-A177-3AD203B41FA5}">
                      <a16:colId xmlns:a16="http://schemas.microsoft.com/office/drawing/2014/main" val="20005"/>
                    </a:ext>
                  </a:extLst>
                </a:gridCol>
                <a:gridCol w="1401928">
                  <a:extLst>
                    <a:ext uri="{9D8B030D-6E8A-4147-A177-3AD203B41FA5}">
                      <a16:colId xmlns:a16="http://schemas.microsoft.com/office/drawing/2014/main" val="20006"/>
                    </a:ext>
                  </a:extLst>
                </a:gridCol>
              </a:tblGrid>
              <a:tr h="498386">
                <a:tc>
                  <a:txBody>
                    <a:bodyPr/>
                    <a:lstStyle/>
                    <a:p>
                      <a:pPr marL="0" indent="0" algn="ctr">
                        <a:buNone/>
                      </a:pPr>
                      <a:r>
                        <a:rPr lang="en-US" sz="1200" b="1" dirty="0">
                          <a:solidFill>
                            <a:srgbClr val="FFFFFF"/>
                          </a:solidFill>
                          <a:latin typeface="Telegraf"/>
                        </a:rPr>
                        <a:t>PARAMETER</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200" b="1" dirty="0">
                          <a:solidFill>
                            <a:srgbClr val="FFFFFF"/>
                          </a:solidFill>
                          <a:latin typeface="Telegraf"/>
                        </a:rPr>
                        <a:t>ALPHA 00001</a:t>
                      </a:r>
                      <a:endParaRPr lang="en-US" sz="1200" dirty="0">
                        <a:latin typeface="Telegraf"/>
                      </a:endParaRPr>
                    </a:p>
                    <a:p>
                      <a:pPr marL="0" indent="0" algn="ctr">
                        <a:buNone/>
                      </a:pPr>
                      <a:r>
                        <a:rPr lang="en-US" sz="1200" b="1" dirty="0">
                          <a:solidFill>
                            <a:srgbClr val="FFFFFF"/>
                          </a:solidFill>
                          <a:latin typeface="Telegraf"/>
                        </a:rPr>
                        <a:t>(O-O-44)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00002</a:t>
                      </a:r>
                      <a:endParaRPr lang="en-US" sz="1200" dirty="0">
                        <a:latin typeface="Telegraf"/>
                      </a:endParaRPr>
                    </a:p>
                    <a:p>
                      <a:pPr marL="0" indent="0" algn="ctr">
                        <a:buNone/>
                      </a:pPr>
                      <a:r>
                        <a:rPr lang="en-US" sz="1200" b="1" dirty="0">
                          <a:solidFill>
                            <a:srgbClr val="FFFFFF"/>
                          </a:solidFill>
                          <a:latin typeface="Telegraf"/>
                        </a:rPr>
                        <a:t>(O-O-64)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00003</a:t>
                      </a:r>
                      <a:endParaRPr lang="en-US" sz="1200" dirty="0">
                        <a:latin typeface="Telegraf"/>
                      </a:endParaRPr>
                    </a:p>
                    <a:p>
                      <a:pPr marL="0" indent="0" algn="ctr">
                        <a:buNone/>
                      </a:pPr>
                      <a:r>
                        <a:rPr lang="en-US" sz="1200" b="1" dirty="0">
                          <a:solidFill>
                            <a:srgbClr val="FFFFFF"/>
                          </a:solidFill>
                          <a:latin typeface="Telegraf"/>
                        </a:rPr>
                        <a:t>(O-O-74)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00004</a:t>
                      </a:r>
                      <a:endParaRPr lang="en-US" sz="1200" dirty="0">
                        <a:latin typeface="Telegraf"/>
                      </a:endParaRPr>
                    </a:p>
                    <a:p>
                      <a:pPr marL="0" indent="0" algn="ctr">
                        <a:buNone/>
                      </a:pPr>
                      <a:r>
                        <a:rPr lang="en-US" sz="1200" b="1" dirty="0">
                          <a:solidFill>
                            <a:srgbClr val="FFFFFF"/>
                          </a:solidFill>
                          <a:latin typeface="Telegraf"/>
                        </a:rPr>
                        <a:t>(O-O-74A)</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00005</a:t>
                      </a:r>
                      <a:endParaRPr lang="en-US" sz="1200" dirty="0">
                        <a:latin typeface="Telegraf"/>
                      </a:endParaRPr>
                    </a:p>
                    <a:p>
                      <a:pPr marL="0" indent="0" algn="ctr">
                        <a:buNone/>
                      </a:pPr>
                      <a:r>
                        <a:rPr lang="en-US" sz="1200" b="1" dirty="0">
                          <a:solidFill>
                            <a:srgbClr val="FFFFFF"/>
                          </a:solidFill>
                          <a:latin typeface="Telegraf"/>
                        </a:rPr>
                        <a:t>(O-O-44A)</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tc>
                  <a:txBody>
                    <a:bodyPr/>
                    <a:lstStyle/>
                    <a:p>
                      <a:pPr marL="0" indent="0" algn="ctr">
                        <a:buNone/>
                      </a:pPr>
                      <a:r>
                        <a:rPr lang="en-US" sz="1200" b="1" dirty="0">
                          <a:solidFill>
                            <a:srgbClr val="FFFFFF"/>
                          </a:solidFill>
                          <a:latin typeface="Telegraf"/>
                        </a:rPr>
                        <a:t>ALPHA 00006</a:t>
                      </a:r>
                      <a:endParaRPr lang="en-US" sz="1200" dirty="0">
                        <a:latin typeface="Telegraf"/>
                      </a:endParaRPr>
                    </a:p>
                    <a:p>
                      <a:pPr marL="0" indent="0" algn="ctr">
                        <a:buNone/>
                      </a:pPr>
                      <a:r>
                        <a:rPr lang="en-US" sz="1200" b="1" dirty="0">
                          <a:solidFill>
                            <a:srgbClr val="FFFFFF"/>
                          </a:solidFill>
                          <a:latin typeface="Telegraf"/>
                        </a:rPr>
                        <a:t>(O-O-66)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3F6F"/>
                    </a:solidFill>
                  </a:tcPr>
                </a:tc>
                <a:extLst>
                  <a:ext uri="{0D108BD9-81ED-4DB2-BD59-A6C34878D82A}">
                    <a16:rowId xmlns:a16="http://schemas.microsoft.com/office/drawing/2014/main" val="10000"/>
                  </a:ext>
                </a:extLst>
              </a:tr>
              <a:tr h="498386">
                <a:tc>
                  <a:txBody>
                    <a:bodyPr/>
                    <a:lstStyle/>
                    <a:p>
                      <a:pPr marL="0" indent="0" algn="ctr">
                        <a:buNone/>
                      </a:pPr>
                      <a:r>
                        <a:rPr lang="en-US" sz="1200" b="1" dirty="0">
                          <a:solidFill>
                            <a:srgbClr val="1A2F5A"/>
                          </a:solidFill>
                          <a:latin typeface="Telegraf"/>
                        </a:rPr>
                        <a:t>Spud Date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23-May-2000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30-Oct-2000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01-Jun-2008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29-Jun-2008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17-Oct-2012</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98386">
                <a:tc>
                  <a:txBody>
                    <a:bodyPr/>
                    <a:lstStyle/>
                    <a:p>
                      <a:pPr marL="0" indent="0" algn="ctr">
                        <a:buNone/>
                      </a:pPr>
                      <a:r>
                        <a:rPr lang="en-US" sz="1200" b="1" dirty="0">
                          <a:solidFill>
                            <a:srgbClr val="1A2F5A"/>
                          </a:solidFill>
                          <a:latin typeface="Telegraf"/>
                        </a:rPr>
                        <a:t>Well 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SOW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(S-Type)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(J-Type)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 (J-Type)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DOW</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8386">
                <a:tc>
                  <a:txBody>
                    <a:bodyPr/>
                    <a:lstStyle/>
                    <a:p>
                      <a:pPr marL="0" indent="0" algn="ctr">
                        <a:buNone/>
                      </a:pPr>
                      <a:r>
                        <a:rPr lang="en-US" sz="1200" b="1" dirty="0">
                          <a:solidFill>
                            <a:srgbClr val="1A2F5A"/>
                          </a:solidFill>
                          <a:latin typeface="Telegraf"/>
                        </a:rPr>
                        <a:t>Casing Design</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13⅜"-9⅝"-7"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24"-9⅝"-7"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498386">
                <a:tc>
                  <a:txBody>
                    <a:bodyPr/>
                    <a:lstStyle/>
                    <a:p>
                      <a:pPr marL="0" indent="0" algn="ctr">
                        <a:buNone/>
                      </a:pPr>
                      <a:r>
                        <a:rPr lang="en-US" sz="1200" b="1" dirty="0">
                          <a:solidFill>
                            <a:srgbClr val="1A2F5A"/>
                          </a:solidFill>
                          <a:latin typeface="Telegraf"/>
                        </a:rPr>
                        <a:t>TD (ft MD)</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5,143</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5,036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5,390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5,448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5,186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5,602</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8386">
                <a:tc>
                  <a:txBody>
                    <a:bodyPr/>
                    <a:lstStyle/>
                    <a:p>
                      <a:pPr marL="0" indent="0" algn="ctr">
                        <a:buNone/>
                      </a:pPr>
                      <a:r>
                        <a:rPr lang="en-US" sz="1200" b="1" dirty="0">
                          <a:solidFill>
                            <a:srgbClr val="1A2F5A"/>
                          </a:solidFill>
                          <a:latin typeface="Telegraf"/>
                        </a:rPr>
                        <a:t>Surf. CSG Depth (ft)</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1,469</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1,225</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1,233</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1,237*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1,245</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1,300</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5"/>
                  </a:ext>
                </a:extLst>
              </a:tr>
              <a:tr h="498386">
                <a:tc>
                  <a:txBody>
                    <a:bodyPr/>
                    <a:lstStyle/>
                    <a:p>
                      <a:pPr marL="0" indent="0" algn="ctr">
                        <a:buNone/>
                      </a:pPr>
                      <a:r>
                        <a:rPr lang="en-US" sz="1200" b="1" dirty="0">
                          <a:solidFill>
                            <a:srgbClr val="1A2F5A"/>
                          </a:solidFill>
                          <a:latin typeface="Telegraf"/>
                        </a:rPr>
                        <a:t>MW Range (ppg)</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8.8–9.8</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8.7–10.1</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8.8–9.4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8.8–10.7</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F5A"/>
                          </a:solidFill>
                          <a:latin typeface="Telegraf"/>
                        </a:rPr>
                        <a:t>8.5–9.6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8386">
                <a:tc>
                  <a:txBody>
                    <a:bodyPr/>
                    <a:lstStyle/>
                    <a:p>
                      <a:pPr marL="0" indent="0" algn="ctr">
                        <a:buNone/>
                      </a:pPr>
                      <a:r>
                        <a:rPr lang="en-US" sz="1200" b="1" dirty="0">
                          <a:solidFill>
                            <a:srgbClr val="1A2F5A"/>
                          </a:solidFill>
                          <a:latin typeface="Telegraf"/>
                        </a:rPr>
                        <a:t>FIT (ppg)</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13.46</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200" dirty="0">
                          <a:solidFill>
                            <a:srgbClr val="1A2F5A"/>
                          </a:solidFill>
                          <a:latin typeface="Telegraf"/>
                        </a:rPr>
                        <a:t>13.44</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7"/>
                  </a:ext>
                </a:extLst>
              </a:tr>
              <a:tr h="498386">
                <a:tc>
                  <a:txBody>
                    <a:bodyPr/>
                    <a:lstStyle/>
                    <a:p>
                      <a:pPr marL="0" indent="0" algn="ctr">
                        <a:buNone/>
                      </a:pPr>
                      <a:r>
                        <a:rPr lang="en-US" sz="1200" b="1" dirty="0">
                          <a:solidFill>
                            <a:srgbClr val="1A2F5A"/>
                          </a:solidFill>
                          <a:latin typeface="Telegraf"/>
                        </a:rPr>
                        <a:t>Surf. ROP (fph)</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48</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49</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50</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52</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8386">
                <a:tc>
                  <a:txBody>
                    <a:bodyPr/>
                    <a:lstStyle/>
                    <a:p>
                      <a:pPr marL="0" indent="0" algn="ctr">
                        <a:buNone/>
                      </a:pPr>
                      <a:r>
                        <a:rPr lang="en-US" sz="1200" b="1" dirty="0">
                          <a:solidFill>
                            <a:srgbClr val="1A2F5A"/>
                          </a:solidFill>
                          <a:latin typeface="Telegraf"/>
                        </a:rPr>
                        <a:t>Prod. ROP (fph)</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39</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41</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44</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45</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43</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defTabSz="914400" rtl="0" eaLnBrk="1" latinLnBrk="0" hangingPunct="1">
                        <a:buNone/>
                      </a:pPr>
                      <a:r>
                        <a:rPr lang="en-US" sz="1200" kern="1200" dirty="0">
                          <a:solidFill>
                            <a:srgbClr val="1A2F5A"/>
                          </a:solidFill>
                          <a:latin typeface="Telegraf"/>
                          <a:ea typeface="+mn-ea"/>
                          <a:cs typeface="+mn-cs"/>
                        </a:rPr>
                        <a:t>47</a:t>
                      </a: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9"/>
                  </a:ext>
                </a:extLst>
              </a:tr>
              <a:tr h="498386">
                <a:tc>
                  <a:txBody>
                    <a:bodyPr/>
                    <a:lstStyle/>
                    <a:p>
                      <a:pPr marL="0" indent="0" algn="ctr">
                        <a:buNone/>
                      </a:pPr>
                      <a:r>
                        <a:rPr lang="en-US" sz="1200" b="1" dirty="0">
                          <a:solidFill>
                            <a:srgbClr val="1A2F5A"/>
                          </a:solidFill>
                          <a:latin typeface="Telegraf"/>
                        </a:rPr>
                        <a:t>CMT Return (7" Prod.)</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C2222"/>
                          </a:solidFill>
                          <a:latin typeface="Telegraf"/>
                        </a:rPr>
                        <a:t>None</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10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34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8A722"/>
                          </a:solidFill>
                          <a:latin typeface="Telegraf"/>
                        </a:rPr>
                        <a:t>3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6A2A"/>
                          </a:solidFill>
                          <a:latin typeface="Telegraf"/>
                        </a:rPr>
                        <a:t>15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6A2A"/>
                          </a:solidFill>
                          <a:latin typeface="Telegraf"/>
                        </a:rPr>
                        <a:t>140 bbls</a:t>
                      </a:r>
                      <a:endParaRPr lang="en-US" sz="12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3">
            <a:extLst>
              <a:ext uri="{FF2B5EF4-FFF2-40B4-BE49-F238E27FC236}">
                <a16:creationId xmlns:a16="http://schemas.microsoft.com/office/drawing/2014/main" id="{FB43E989-B8D3-02E2-4E3D-5E0AF8BA1162}"/>
              </a:ext>
            </a:extLst>
          </p:cNvPr>
          <p:cNvSpPr/>
          <p:nvPr/>
        </p:nvSpPr>
        <p:spPr>
          <a:xfrm>
            <a:off x="421345" y="6528621"/>
            <a:ext cx="8869680" cy="182880"/>
          </a:xfrm>
          <a:prstGeom prst="rect">
            <a:avLst/>
          </a:prstGeom>
          <a:noFill/>
          <a:ln/>
        </p:spPr>
        <p:txBody>
          <a:bodyPr wrap="square" rtlCol="0" anchor="ctr"/>
          <a:lstStyle/>
          <a:p>
            <a:pPr marL="0" indent="0">
              <a:buNone/>
            </a:pPr>
            <a:r>
              <a:rPr lang="en-US" sz="1000" i="1" dirty="0">
                <a:solidFill>
                  <a:srgbClr val="8090AC"/>
                </a:solidFill>
              </a:rPr>
              <a:t>* Alpha 00004 has additional Intermediate 9⅝" section at 3,858 ft</a:t>
            </a:r>
            <a:endParaRPr lang="en-US" sz="1000" dirty="0"/>
          </a:p>
        </p:txBody>
      </p:sp>
    </p:spTree>
    <p:extLst>
      <p:ext uri="{BB962C8B-B14F-4D97-AF65-F5344CB8AC3E}">
        <p14:creationId xmlns:p14="http://schemas.microsoft.com/office/powerpoint/2010/main" val="1554124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FE30B-B5C7-4656-4A2E-FF13B7E9097C}"/>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2034F049-593F-3ED7-2A0E-F31FEABD5245}"/>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WELLBORE PROBLEM MATRIX</a:t>
            </a:r>
          </a:p>
        </p:txBody>
      </p:sp>
      <p:pic>
        <p:nvPicPr>
          <p:cNvPr id="35" name="Picture 34">
            <a:extLst>
              <a:ext uri="{FF2B5EF4-FFF2-40B4-BE49-F238E27FC236}">
                <a16:creationId xmlns:a16="http://schemas.microsoft.com/office/drawing/2014/main" id="{33A5DFB3-93B5-4E0D-DE43-6B8B05EAF8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5FF7964C-72F9-DB45-0DB5-CEC6F3CB725E}"/>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8667D45C-AF5B-2B9F-99A8-BEAD204D086C}"/>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C7DBD256-520B-7EA7-97D0-1079E2CCD85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17</a:t>
            </a:r>
            <a:endParaRPr lang="en-ID" dirty="0">
              <a:solidFill>
                <a:schemeClr val="bg1"/>
              </a:solidFill>
              <a:latin typeface="Telegraf Bold" panose="020B0604020202020204" charset="0"/>
            </a:endParaRPr>
          </a:p>
        </p:txBody>
      </p:sp>
      <p:graphicFrame>
        <p:nvGraphicFramePr>
          <p:cNvPr id="4" name="Table 0">
            <a:extLst>
              <a:ext uri="{FF2B5EF4-FFF2-40B4-BE49-F238E27FC236}">
                <a16:creationId xmlns:a16="http://schemas.microsoft.com/office/drawing/2014/main" id="{5BCC20FF-7A46-7D91-FD49-E3EEAE198EB9}"/>
              </a:ext>
            </a:extLst>
          </p:cNvPr>
          <p:cNvGraphicFramePr>
            <a:graphicFrameLocks noGrp="1"/>
          </p:cNvGraphicFramePr>
          <p:nvPr>
            <p:extLst>
              <p:ext uri="{D42A27DB-BD31-4B8C-83A1-F6EECF244321}">
                <p14:modId xmlns:p14="http://schemas.microsoft.com/office/powerpoint/2010/main" val="302602905"/>
              </p:ext>
            </p:extLst>
          </p:nvPr>
        </p:nvGraphicFramePr>
        <p:xfrm>
          <a:off x="113071" y="1160206"/>
          <a:ext cx="11965858" cy="4886628"/>
        </p:xfrm>
        <a:graphic>
          <a:graphicData uri="http://schemas.openxmlformats.org/drawingml/2006/table">
            <a:tbl>
              <a:tblPr/>
              <a:tblGrid>
                <a:gridCol w="2590547">
                  <a:extLst>
                    <a:ext uri="{9D8B030D-6E8A-4147-A177-3AD203B41FA5}">
                      <a16:colId xmlns:a16="http://schemas.microsoft.com/office/drawing/2014/main" val="20000"/>
                    </a:ext>
                  </a:extLst>
                </a:gridCol>
                <a:gridCol w="1233593">
                  <a:extLst>
                    <a:ext uri="{9D8B030D-6E8A-4147-A177-3AD203B41FA5}">
                      <a16:colId xmlns:a16="http://schemas.microsoft.com/office/drawing/2014/main" val="20001"/>
                    </a:ext>
                  </a:extLst>
                </a:gridCol>
                <a:gridCol w="1356953">
                  <a:extLst>
                    <a:ext uri="{9D8B030D-6E8A-4147-A177-3AD203B41FA5}">
                      <a16:colId xmlns:a16="http://schemas.microsoft.com/office/drawing/2014/main" val="20002"/>
                    </a:ext>
                  </a:extLst>
                </a:gridCol>
                <a:gridCol w="1356953">
                  <a:extLst>
                    <a:ext uri="{9D8B030D-6E8A-4147-A177-3AD203B41FA5}">
                      <a16:colId xmlns:a16="http://schemas.microsoft.com/office/drawing/2014/main" val="20003"/>
                    </a:ext>
                  </a:extLst>
                </a:gridCol>
                <a:gridCol w="1356953">
                  <a:extLst>
                    <a:ext uri="{9D8B030D-6E8A-4147-A177-3AD203B41FA5}">
                      <a16:colId xmlns:a16="http://schemas.microsoft.com/office/drawing/2014/main" val="20004"/>
                    </a:ext>
                  </a:extLst>
                </a:gridCol>
                <a:gridCol w="1356953">
                  <a:extLst>
                    <a:ext uri="{9D8B030D-6E8A-4147-A177-3AD203B41FA5}">
                      <a16:colId xmlns:a16="http://schemas.microsoft.com/office/drawing/2014/main" val="20005"/>
                    </a:ext>
                  </a:extLst>
                </a:gridCol>
                <a:gridCol w="1356953">
                  <a:extLst>
                    <a:ext uri="{9D8B030D-6E8A-4147-A177-3AD203B41FA5}">
                      <a16:colId xmlns:a16="http://schemas.microsoft.com/office/drawing/2014/main" val="20006"/>
                    </a:ext>
                  </a:extLst>
                </a:gridCol>
                <a:gridCol w="1356953">
                  <a:extLst>
                    <a:ext uri="{9D8B030D-6E8A-4147-A177-3AD203B41FA5}">
                      <a16:colId xmlns:a16="http://schemas.microsoft.com/office/drawing/2014/main" val="20007"/>
                    </a:ext>
                  </a:extLst>
                </a:gridCol>
              </a:tblGrid>
              <a:tr h="407219">
                <a:tc>
                  <a:txBody>
                    <a:bodyPr/>
                    <a:lstStyle/>
                    <a:p>
                      <a:pPr marL="0" indent="0" algn="ctr">
                        <a:buNone/>
                      </a:pPr>
                      <a:r>
                        <a:rPr lang="en-US" sz="1400" b="1" dirty="0">
                          <a:solidFill>
                            <a:srgbClr val="FFFFFF"/>
                          </a:solidFill>
                          <a:latin typeface="Telegraf"/>
                        </a:rPr>
                        <a:t>WELLBORE ISSUE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SECTION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A-001</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A-002</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A-003</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A-004</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A-005</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a:rPr>
                        <a:t>A-006</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407219">
                <a:tc>
                  <a:txBody>
                    <a:bodyPr/>
                    <a:lstStyle/>
                    <a:p>
                      <a:pPr marL="0" indent="0" algn="ctr">
                        <a:buNone/>
                      </a:pPr>
                      <a:r>
                        <a:rPr lang="en-US" sz="1400" b="1" dirty="0">
                          <a:solidFill>
                            <a:srgbClr val="1A2F5A"/>
                          </a:solidFill>
                          <a:latin typeface="Telegraf"/>
                        </a:rPr>
                        <a:t>Tight Hole / Tagging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01"/>
                  </a:ext>
                </a:extLst>
              </a:tr>
              <a:tr h="407219">
                <a:tc>
                  <a:txBody>
                    <a:bodyPr/>
                    <a:lstStyle/>
                    <a:p>
                      <a:pPr marL="0" indent="0" algn="ctr">
                        <a:buNone/>
                      </a:pPr>
                      <a:r>
                        <a:rPr lang="en-US" sz="1400" b="1" dirty="0">
                          <a:solidFill>
                            <a:srgbClr val="1A2F5A"/>
                          </a:solidFill>
                          <a:latin typeface="Telegraf"/>
                        </a:rPr>
                        <a:t>High Torque &amp; Drag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02"/>
                  </a:ext>
                </a:extLst>
              </a:tr>
              <a:tr h="407219">
                <a:tc>
                  <a:txBody>
                    <a:bodyPr/>
                    <a:lstStyle/>
                    <a:p>
                      <a:pPr marL="0" indent="0" algn="ctr">
                        <a:buNone/>
                      </a:pPr>
                      <a:r>
                        <a:rPr lang="en-US" sz="1400" b="1" dirty="0">
                          <a:solidFill>
                            <a:srgbClr val="1A2F5A"/>
                          </a:solidFill>
                          <a:latin typeface="Telegraf"/>
                        </a:rPr>
                        <a:t>Sloughing Shale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3"/>
                  </a:ext>
                </a:extLst>
              </a:tr>
              <a:tr h="407219">
                <a:tc>
                  <a:txBody>
                    <a:bodyPr/>
                    <a:lstStyle/>
                    <a:p>
                      <a:pPr marL="0" indent="0" algn="ctr">
                        <a:buNone/>
                      </a:pPr>
                      <a:r>
                        <a:rPr lang="en-US" sz="1400" b="1" dirty="0">
                          <a:solidFill>
                            <a:srgbClr val="1A2F5A"/>
                          </a:solidFill>
                          <a:latin typeface="Telegraf"/>
                        </a:rPr>
                        <a:t>Gumbo / Reactive Clay</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4"/>
                  </a:ext>
                </a:extLst>
              </a:tr>
              <a:tr h="407219">
                <a:tc>
                  <a:txBody>
                    <a:bodyPr/>
                    <a:lstStyle/>
                    <a:p>
                      <a:pPr marL="0" indent="0" algn="ctr">
                        <a:buNone/>
                      </a:pPr>
                      <a:r>
                        <a:rPr lang="en-US" sz="1400" b="1" dirty="0">
                          <a:solidFill>
                            <a:srgbClr val="1A2F5A"/>
                          </a:solidFill>
                          <a:latin typeface="Telegraf"/>
                        </a:rPr>
                        <a:t>Pack-Off / Swabbing</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5"/>
                  </a:ext>
                </a:extLst>
              </a:tr>
              <a:tr h="407219">
                <a:tc>
                  <a:txBody>
                    <a:bodyPr/>
                    <a:lstStyle/>
                    <a:p>
                      <a:pPr marL="0" indent="0" algn="ctr">
                        <a:buNone/>
                      </a:pPr>
                      <a:r>
                        <a:rPr lang="en-US" sz="1400" b="1" dirty="0">
                          <a:solidFill>
                            <a:srgbClr val="1A2F5A"/>
                          </a:solidFill>
                          <a:latin typeface="Telegraf"/>
                        </a:rPr>
                        <a:t>Casing Running Stop</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6"/>
                  </a:ext>
                </a:extLst>
              </a:tr>
              <a:tr h="407219">
                <a:tc>
                  <a:txBody>
                    <a:bodyPr/>
                    <a:lstStyle/>
                    <a:p>
                      <a:pPr marL="0" indent="0" algn="ctr">
                        <a:buNone/>
                      </a:pPr>
                      <a:r>
                        <a:rPr lang="en-US" sz="1400" b="1" dirty="0">
                          <a:solidFill>
                            <a:srgbClr val="1A2F5A"/>
                          </a:solidFill>
                          <a:latin typeface="Telegraf"/>
                        </a:rPr>
                        <a:t>Logging Tool Stop</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7"/>
                  </a:ext>
                </a:extLst>
              </a:tr>
              <a:tr h="407219">
                <a:tc>
                  <a:txBody>
                    <a:bodyPr/>
                    <a:lstStyle/>
                    <a:p>
                      <a:pPr marL="0" indent="0" algn="ctr">
                        <a:buNone/>
                      </a:pPr>
                      <a:r>
                        <a:rPr lang="en-US" sz="1400" b="1" dirty="0">
                          <a:solidFill>
                            <a:srgbClr val="1A2F5A"/>
                          </a:solidFill>
                          <a:latin typeface="Telegraf"/>
                        </a:rPr>
                        <a:t>Stuck Wireline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8"/>
                  </a:ext>
                </a:extLst>
              </a:tr>
              <a:tr h="407219">
                <a:tc>
                  <a:txBody>
                    <a:bodyPr/>
                    <a:lstStyle/>
                    <a:p>
                      <a:pPr marL="0" indent="0" algn="ctr">
                        <a:buNone/>
                      </a:pPr>
                      <a:r>
                        <a:rPr lang="en-US" sz="1400" b="1" dirty="0">
                          <a:solidFill>
                            <a:srgbClr val="1A2F5A"/>
                          </a:solidFill>
                          <a:latin typeface="Telegraf"/>
                        </a:rPr>
                        <a:t>No CMT Return (Surface)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Surface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extLst>
                  <a:ext uri="{0D108BD9-81ED-4DB2-BD59-A6C34878D82A}">
                    <a16:rowId xmlns:a16="http://schemas.microsoft.com/office/drawing/2014/main" val="10009"/>
                  </a:ext>
                </a:extLst>
              </a:tr>
              <a:tr h="407219">
                <a:tc>
                  <a:txBody>
                    <a:bodyPr/>
                    <a:lstStyle/>
                    <a:p>
                      <a:pPr marL="0" indent="0" algn="ctr">
                        <a:buNone/>
                      </a:pPr>
                      <a:r>
                        <a:rPr lang="en-US" sz="1400" b="1" dirty="0">
                          <a:solidFill>
                            <a:srgbClr val="1A2F5A"/>
                          </a:solidFill>
                          <a:latin typeface="Telegraf"/>
                        </a:rPr>
                        <a:t>Equipment Failure</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i="1" dirty="0">
                          <a:solidFill>
                            <a:srgbClr val="1A2F5A"/>
                          </a:solidFill>
                          <a:latin typeface="Telegraf"/>
                        </a:rPr>
                        <a:t>Any</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extLst>
                  <a:ext uri="{0D108BD9-81ED-4DB2-BD59-A6C34878D82A}">
                    <a16:rowId xmlns:a16="http://schemas.microsoft.com/office/drawing/2014/main" val="10010"/>
                  </a:ext>
                </a:extLst>
              </a:tr>
              <a:tr h="407219">
                <a:tc>
                  <a:txBody>
                    <a:bodyPr/>
                    <a:lstStyle/>
                    <a:p>
                      <a:pPr marL="0" indent="0" algn="ctr">
                        <a:buNone/>
                      </a:pPr>
                      <a:r>
                        <a:rPr lang="en-US" sz="1400" b="1" dirty="0">
                          <a:solidFill>
                            <a:srgbClr val="1A2F5A"/>
                          </a:solidFill>
                          <a:latin typeface="Telegraf"/>
                        </a:rPr>
                        <a:t>Hard Formation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i="1" dirty="0">
                          <a:solidFill>
                            <a:srgbClr val="1A2F5A"/>
                          </a:solidFill>
                          <a:latin typeface="Telegraf"/>
                        </a:rPr>
                        <a:t>Production</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NORMAL</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8F3A"/>
                    </a:solidFill>
                  </a:tcPr>
                </a:tc>
                <a:tc>
                  <a:txBody>
                    <a:bodyPr/>
                    <a:lstStyle/>
                    <a:p>
                      <a:pPr marL="0" indent="0" algn="ctr">
                        <a:buNone/>
                      </a:pPr>
                      <a:r>
                        <a:rPr lang="en-US" sz="1400" b="1" dirty="0">
                          <a:solidFill>
                            <a:srgbClr val="FFFFFF"/>
                          </a:solidFill>
                          <a:latin typeface="Telegraf"/>
                        </a:rPr>
                        <a:t>MAJOR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CC2222"/>
                    </a:solidFill>
                  </a:tcPr>
                </a:tc>
                <a:tc>
                  <a:txBody>
                    <a:bodyPr/>
                    <a:lstStyle/>
                    <a:p>
                      <a:pPr marL="0" indent="0" algn="ctr">
                        <a:buNone/>
                      </a:pPr>
                      <a:r>
                        <a:rPr lang="en-US" sz="1400" b="1" dirty="0">
                          <a:solidFill>
                            <a:srgbClr val="FFFFFF"/>
                          </a:solidFill>
                          <a:latin typeface="Telegraf"/>
                        </a:rPr>
                        <a:t>MINOR</a:t>
                      </a:r>
                      <a:endParaRPr lang="en-US" sz="1400" dirty="0">
                        <a:latin typeface="Telegraf"/>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8A722"/>
                    </a:solidFill>
                  </a:tcPr>
                </a:tc>
                <a:extLst>
                  <a:ext uri="{0D108BD9-81ED-4DB2-BD59-A6C34878D82A}">
                    <a16:rowId xmlns:a16="http://schemas.microsoft.com/office/drawing/2014/main" val="10011"/>
                  </a:ext>
                </a:extLst>
              </a:tr>
            </a:tbl>
          </a:graphicData>
        </a:graphic>
      </p:graphicFrame>
      <p:sp>
        <p:nvSpPr>
          <p:cNvPr id="6" name="Shape 3">
            <a:extLst>
              <a:ext uri="{FF2B5EF4-FFF2-40B4-BE49-F238E27FC236}">
                <a16:creationId xmlns:a16="http://schemas.microsoft.com/office/drawing/2014/main" id="{6E3BB3EF-4B8C-0E1F-C0F4-80AE49053B00}"/>
              </a:ext>
            </a:extLst>
          </p:cNvPr>
          <p:cNvSpPr/>
          <p:nvPr/>
        </p:nvSpPr>
        <p:spPr>
          <a:xfrm>
            <a:off x="113071" y="6252001"/>
            <a:ext cx="276520" cy="283561"/>
          </a:xfrm>
          <a:prstGeom prst="roundRect">
            <a:avLst>
              <a:gd name="adj" fmla="val 13636"/>
            </a:avLst>
          </a:prstGeom>
          <a:solidFill>
            <a:srgbClr val="CC2222"/>
          </a:solidFill>
          <a:ln w="12700">
            <a:solidFill>
              <a:srgbClr val="CC2222"/>
            </a:solidFill>
            <a:prstDash val="solid"/>
          </a:ln>
        </p:spPr>
        <p:txBody>
          <a:bodyPr/>
          <a:lstStyle/>
          <a:p>
            <a:endParaRPr lang="en-ID" sz="1600" b="1">
              <a:latin typeface="Telegraf"/>
            </a:endParaRPr>
          </a:p>
        </p:txBody>
      </p:sp>
      <p:sp>
        <p:nvSpPr>
          <p:cNvPr id="8" name="Text 4">
            <a:extLst>
              <a:ext uri="{FF2B5EF4-FFF2-40B4-BE49-F238E27FC236}">
                <a16:creationId xmlns:a16="http://schemas.microsoft.com/office/drawing/2014/main" id="{43144B4C-85BA-371F-4EE1-1B902DAD62FC}"/>
              </a:ext>
            </a:extLst>
          </p:cNvPr>
          <p:cNvSpPr/>
          <p:nvPr/>
        </p:nvSpPr>
        <p:spPr>
          <a:xfrm>
            <a:off x="34167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MAJOR</a:t>
            </a:r>
            <a:endParaRPr lang="en-US" sz="1600" b="1" dirty="0">
              <a:latin typeface="Telegraf"/>
            </a:endParaRPr>
          </a:p>
        </p:txBody>
      </p:sp>
      <p:sp>
        <p:nvSpPr>
          <p:cNvPr id="12" name="Shape 5">
            <a:extLst>
              <a:ext uri="{FF2B5EF4-FFF2-40B4-BE49-F238E27FC236}">
                <a16:creationId xmlns:a16="http://schemas.microsoft.com/office/drawing/2014/main" id="{050E9C6E-FF0A-B0CB-F09F-0145FFE4B868}"/>
              </a:ext>
            </a:extLst>
          </p:cNvPr>
          <p:cNvSpPr/>
          <p:nvPr/>
        </p:nvSpPr>
        <p:spPr>
          <a:xfrm>
            <a:off x="1804711" y="6252001"/>
            <a:ext cx="276520" cy="283561"/>
          </a:xfrm>
          <a:prstGeom prst="roundRect">
            <a:avLst>
              <a:gd name="adj" fmla="val 13636"/>
            </a:avLst>
          </a:prstGeom>
          <a:solidFill>
            <a:srgbClr val="E8A722"/>
          </a:solidFill>
          <a:ln w="12700">
            <a:solidFill>
              <a:srgbClr val="E8A722"/>
            </a:solidFill>
            <a:prstDash val="solid"/>
          </a:ln>
        </p:spPr>
        <p:txBody>
          <a:bodyPr/>
          <a:lstStyle/>
          <a:p>
            <a:endParaRPr lang="en-ID" sz="1600" b="1">
              <a:latin typeface="Telegraf"/>
            </a:endParaRPr>
          </a:p>
        </p:txBody>
      </p:sp>
      <p:sp>
        <p:nvSpPr>
          <p:cNvPr id="14" name="Text 6">
            <a:extLst>
              <a:ext uri="{FF2B5EF4-FFF2-40B4-BE49-F238E27FC236}">
                <a16:creationId xmlns:a16="http://schemas.microsoft.com/office/drawing/2014/main" id="{0D1A4508-6F7E-2D5E-040B-6FF4B9A7D03B}"/>
              </a:ext>
            </a:extLst>
          </p:cNvPr>
          <p:cNvSpPr/>
          <p:nvPr/>
        </p:nvSpPr>
        <p:spPr>
          <a:xfrm>
            <a:off x="203331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MINOR</a:t>
            </a:r>
            <a:endParaRPr lang="en-US" sz="1600" b="1" dirty="0">
              <a:latin typeface="Telegraf"/>
            </a:endParaRPr>
          </a:p>
        </p:txBody>
      </p:sp>
      <p:sp>
        <p:nvSpPr>
          <p:cNvPr id="16" name="Shape 7">
            <a:extLst>
              <a:ext uri="{FF2B5EF4-FFF2-40B4-BE49-F238E27FC236}">
                <a16:creationId xmlns:a16="http://schemas.microsoft.com/office/drawing/2014/main" id="{DAD1E15B-07DC-3CDB-78EA-ABBB91591C42}"/>
              </a:ext>
            </a:extLst>
          </p:cNvPr>
          <p:cNvSpPr/>
          <p:nvPr/>
        </p:nvSpPr>
        <p:spPr>
          <a:xfrm>
            <a:off x="3496351" y="6252001"/>
            <a:ext cx="276520" cy="283561"/>
          </a:xfrm>
          <a:prstGeom prst="roundRect">
            <a:avLst>
              <a:gd name="adj" fmla="val 13636"/>
            </a:avLst>
          </a:prstGeom>
          <a:solidFill>
            <a:srgbClr val="1A8F3A"/>
          </a:solidFill>
          <a:ln w="12700">
            <a:solidFill>
              <a:srgbClr val="1A8F3A"/>
            </a:solidFill>
            <a:prstDash val="solid"/>
          </a:ln>
        </p:spPr>
        <p:txBody>
          <a:bodyPr/>
          <a:lstStyle/>
          <a:p>
            <a:endParaRPr lang="en-ID" sz="1600" b="1">
              <a:latin typeface="Telegraf"/>
            </a:endParaRPr>
          </a:p>
        </p:txBody>
      </p:sp>
      <p:sp>
        <p:nvSpPr>
          <p:cNvPr id="18" name="Text 8">
            <a:extLst>
              <a:ext uri="{FF2B5EF4-FFF2-40B4-BE49-F238E27FC236}">
                <a16:creationId xmlns:a16="http://schemas.microsoft.com/office/drawing/2014/main" id="{84E4B55E-FE45-8B48-DB19-4DF20ADBD953}"/>
              </a:ext>
            </a:extLst>
          </p:cNvPr>
          <p:cNvSpPr/>
          <p:nvPr/>
        </p:nvSpPr>
        <p:spPr>
          <a:xfrm>
            <a:off x="372495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NORMAL</a:t>
            </a:r>
            <a:endParaRPr lang="en-US" sz="1600" b="1" dirty="0">
              <a:latin typeface="Telegraf"/>
            </a:endParaRPr>
          </a:p>
        </p:txBody>
      </p:sp>
      <p:sp>
        <p:nvSpPr>
          <p:cNvPr id="20" name="Shape 9">
            <a:extLst>
              <a:ext uri="{FF2B5EF4-FFF2-40B4-BE49-F238E27FC236}">
                <a16:creationId xmlns:a16="http://schemas.microsoft.com/office/drawing/2014/main" id="{5207B559-C305-DA24-47DE-6F9A16C01C4F}"/>
              </a:ext>
            </a:extLst>
          </p:cNvPr>
          <p:cNvSpPr/>
          <p:nvPr/>
        </p:nvSpPr>
        <p:spPr>
          <a:xfrm>
            <a:off x="5187991" y="6252001"/>
            <a:ext cx="276520" cy="283561"/>
          </a:xfrm>
          <a:prstGeom prst="roundRect">
            <a:avLst>
              <a:gd name="adj" fmla="val 13636"/>
            </a:avLst>
          </a:prstGeom>
          <a:solidFill>
            <a:srgbClr val="EEEEEE"/>
          </a:solidFill>
          <a:ln w="12700">
            <a:solidFill>
              <a:srgbClr val="EEEEEE"/>
            </a:solidFill>
            <a:prstDash val="solid"/>
          </a:ln>
        </p:spPr>
        <p:txBody>
          <a:bodyPr/>
          <a:lstStyle/>
          <a:p>
            <a:endParaRPr lang="en-ID" sz="1600" b="1">
              <a:latin typeface="Telegraf"/>
            </a:endParaRPr>
          </a:p>
        </p:txBody>
      </p:sp>
      <p:sp>
        <p:nvSpPr>
          <p:cNvPr id="22" name="Text 10">
            <a:extLst>
              <a:ext uri="{FF2B5EF4-FFF2-40B4-BE49-F238E27FC236}">
                <a16:creationId xmlns:a16="http://schemas.microsoft.com/office/drawing/2014/main" id="{62B95FE8-6E4A-BC1E-338A-A08D9F5276BB}"/>
              </a:ext>
            </a:extLst>
          </p:cNvPr>
          <p:cNvSpPr/>
          <p:nvPr/>
        </p:nvSpPr>
        <p:spPr>
          <a:xfrm>
            <a:off x="5416591" y="6252001"/>
            <a:ext cx="1131216" cy="283561"/>
          </a:xfrm>
          <a:prstGeom prst="rect">
            <a:avLst/>
          </a:prstGeom>
          <a:noFill/>
          <a:ln/>
        </p:spPr>
        <p:txBody>
          <a:bodyPr wrap="square" rtlCol="0" anchor="ctr"/>
          <a:lstStyle/>
          <a:p>
            <a:pPr marL="0" indent="0">
              <a:buNone/>
            </a:pPr>
            <a:r>
              <a:rPr lang="en-US" sz="1600" b="1" dirty="0">
                <a:solidFill>
                  <a:srgbClr val="333333"/>
                </a:solidFill>
                <a:latin typeface="Telegraf"/>
              </a:rPr>
              <a:t>N/A</a:t>
            </a:r>
            <a:endParaRPr lang="en-US" sz="1600" b="1" dirty="0">
              <a:latin typeface="Telegraf"/>
            </a:endParaRPr>
          </a:p>
        </p:txBody>
      </p:sp>
    </p:spTree>
    <p:extLst>
      <p:ext uri="{BB962C8B-B14F-4D97-AF65-F5344CB8AC3E}">
        <p14:creationId xmlns:p14="http://schemas.microsoft.com/office/powerpoint/2010/main" val="1541616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47A90-4A82-A3ED-5A71-DCAF0923096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43AAF59D-37B7-07DD-A3D3-C6019947B0C7}"/>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WELLBORE STABILITY ANALYSIS</a:t>
            </a:r>
          </a:p>
        </p:txBody>
      </p:sp>
      <p:pic>
        <p:nvPicPr>
          <p:cNvPr id="35" name="Picture 34">
            <a:extLst>
              <a:ext uri="{FF2B5EF4-FFF2-40B4-BE49-F238E27FC236}">
                <a16:creationId xmlns:a16="http://schemas.microsoft.com/office/drawing/2014/main" id="{25E15162-1656-94D6-8FC3-302AF15E2C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F5B9B80-391C-DEA4-DAD2-BFDCB335F6F2}"/>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7064CE64-0FD5-3D00-3AC3-99BF9642583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grpSp>
        <p:nvGrpSpPr>
          <p:cNvPr id="3" name="Group 2">
            <a:extLst>
              <a:ext uri="{FF2B5EF4-FFF2-40B4-BE49-F238E27FC236}">
                <a16:creationId xmlns:a16="http://schemas.microsoft.com/office/drawing/2014/main" id="{8F1259D5-343B-32C0-D60D-C8A892F2FDBD}"/>
              </a:ext>
            </a:extLst>
          </p:cNvPr>
          <p:cNvGrpSpPr/>
          <p:nvPr/>
        </p:nvGrpSpPr>
        <p:grpSpPr>
          <a:xfrm>
            <a:off x="179016" y="1176866"/>
            <a:ext cx="5400000" cy="2520000"/>
            <a:chOff x="179016" y="1176866"/>
            <a:chExt cx="4297680" cy="1828800"/>
          </a:xfrm>
        </p:grpSpPr>
        <p:sp>
          <p:nvSpPr>
            <p:cNvPr id="4" name="Shape 3">
              <a:extLst>
                <a:ext uri="{FF2B5EF4-FFF2-40B4-BE49-F238E27FC236}">
                  <a16:creationId xmlns:a16="http://schemas.microsoft.com/office/drawing/2014/main" id="{B8D69376-A699-8A4B-D42A-579B846688BF}"/>
                </a:ext>
              </a:extLst>
            </p:cNvPr>
            <p:cNvSpPr/>
            <p:nvPr/>
          </p:nvSpPr>
          <p:spPr>
            <a:xfrm>
              <a:off x="179016" y="117686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5" name="Shape 4">
              <a:extLst>
                <a:ext uri="{FF2B5EF4-FFF2-40B4-BE49-F238E27FC236}">
                  <a16:creationId xmlns:a16="http://schemas.microsoft.com/office/drawing/2014/main" id="{8DF17647-1DD9-B123-7072-735B0E1BE3B5}"/>
                </a:ext>
              </a:extLst>
            </p:cNvPr>
            <p:cNvSpPr/>
            <p:nvPr/>
          </p:nvSpPr>
          <p:spPr>
            <a:xfrm>
              <a:off x="179016" y="1176866"/>
              <a:ext cx="4297680" cy="384048"/>
            </a:xfrm>
            <a:prstGeom prst="roundRect">
              <a:avLst>
                <a:gd name="adj" fmla="val 19048"/>
              </a:avLst>
            </a:prstGeom>
            <a:solidFill>
              <a:srgbClr val="CC2222"/>
            </a:solidFill>
            <a:ln w="12700">
              <a:solidFill>
                <a:srgbClr val="CC2222"/>
              </a:solidFill>
              <a:prstDash val="solid"/>
            </a:ln>
          </p:spPr>
          <p:txBody>
            <a:bodyPr/>
            <a:lstStyle/>
            <a:p>
              <a:endParaRPr lang="en-ID" sz="2000">
                <a:latin typeface="Telegraf"/>
              </a:endParaRPr>
            </a:p>
          </p:txBody>
        </p:sp>
        <p:sp>
          <p:nvSpPr>
            <p:cNvPr id="6" name="Text 5">
              <a:extLst>
                <a:ext uri="{FF2B5EF4-FFF2-40B4-BE49-F238E27FC236}">
                  <a16:creationId xmlns:a16="http://schemas.microsoft.com/office/drawing/2014/main" id="{517F60C5-4CB9-5965-A1E5-B27FDA4398D5}"/>
                </a:ext>
              </a:extLst>
            </p:cNvPr>
            <p:cNvSpPr/>
            <p:nvPr/>
          </p:nvSpPr>
          <p:spPr>
            <a:xfrm>
              <a:off x="270456" y="117686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TIGHT HOLE / TAGGING</a:t>
              </a:r>
              <a:endParaRPr lang="en-US" sz="1050" dirty="0">
                <a:latin typeface="Telegraf"/>
              </a:endParaRPr>
            </a:p>
          </p:txBody>
        </p:sp>
        <p:sp>
          <p:nvSpPr>
            <p:cNvPr id="7" name="Text 6">
              <a:extLst>
                <a:ext uri="{FF2B5EF4-FFF2-40B4-BE49-F238E27FC236}">
                  <a16:creationId xmlns:a16="http://schemas.microsoft.com/office/drawing/2014/main" id="{F5A05B56-18F5-D7C0-E01F-BE72AD2860C6}"/>
                </a:ext>
              </a:extLst>
            </p:cNvPr>
            <p:cNvSpPr/>
            <p:nvPr/>
          </p:nvSpPr>
          <p:spPr>
            <a:xfrm>
              <a:off x="3196536" y="117686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5/6 Wells</a:t>
              </a:r>
              <a:endParaRPr lang="en-US" sz="1050" dirty="0">
                <a:latin typeface="Telegraf"/>
              </a:endParaRPr>
            </a:p>
          </p:txBody>
        </p:sp>
        <p:sp>
          <p:nvSpPr>
            <p:cNvPr id="8" name="Text 7">
              <a:extLst>
                <a:ext uri="{FF2B5EF4-FFF2-40B4-BE49-F238E27FC236}">
                  <a16:creationId xmlns:a16="http://schemas.microsoft.com/office/drawing/2014/main" id="{8EF3027E-39DE-7B04-964B-9F466BB24A16}"/>
                </a:ext>
              </a:extLst>
            </p:cNvPr>
            <p:cNvSpPr/>
            <p:nvPr/>
          </p:nvSpPr>
          <p:spPr>
            <a:xfrm>
              <a:off x="270456" y="1579202"/>
              <a:ext cx="4114800" cy="201168"/>
            </a:xfrm>
            <a:prstGeom prst="rect">
              <a:avLst/>
            </a:prstGeom>
            <a:noFill/>
            <a:ln/>
          </p:spPr>
          <p:txBody>
            <a:bodyPr wrap="square" rtlCol="0" anchor="ctr"/>
            <a:lstStyle/>
            <a:p>
              <a:pPr marL="0" indent="0">
                <a:buNone/>
              </a:pPr>
              <a:r>
                <a:rPr lang="en-US" sz="1050" b="1" i="1" dirty="0">
                  <a:solidFill>
                    <a:srgbClr val="CC2222"/>
                  </a:solidFill>
                  <a:latin typeface="Telegraf"/>
                </a:rPr>
                <a:t>Depth range: 1,342–5,316 ft MD</a:t>
              </a:r>
              <a:endParaRPr lang="en-US" sz="1050" dirty="0">
                <a:latin typeface="Telegraf"/>
              </a:endParaRPr>
            </a:p>
          </p:txBody>
        </p:sp>
        <p:sp>
          <p:nvSpPr>
            <p:cNvPr id="10" name="Text 8">
              <a:extLst>
                <a:ext uri="{FF2B5EF4-FFF2-40B4-BE49-F238E27FC236}">
                  <a16:creationId xmlns:a16="http://schemas.microsoft.com/office/drawing/2014/main" id="{4033BD94-E165-97E9-BD92-CE57CD5228C5}"/>
                </a:ext>
              </a:extLst>
            </p:cNvPr>
            <p:cNvSpPr/>
            <p:nvPr/>
          </p:nvSpPr>
          <p:spPr>
            <a:xfrm>
              <a:off x="270456" y="177122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3: Tagged at 5316', 5330', 5354' – multiple reaming passes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Tagged at 2623', 3310', 3325', 3372', 3786' – casing required swage</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5: Tagged at 3854', 4197', 4467', 5127' – required multiple wiper trips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6: Drag 40 klbs at 4873'–4868' during wiper trip</a:t>
              </a:r>
              <a:endParaRPr lang="en-US" sz="1400" dirty="0">
                <a:latin typeface="Telegraf"/>
              </a:endParaRPr>
            </a:p>
          </p:txBody>
        </p:sp>
      </p:grpSp>
      <p:grpSp>
        <p:nvGrpSpPr>
          <p:cNvPr id="12" name="Group 11">
            <a:extLst>
              <a:ext uri="{FF2B5EF4-FFF2-40B4-BE49-F238E27FC236}">
                <a16:creationId xmlns:a16="http://schemas.microsoft.com/office/drawing/2014/main" id="{9FBE7DAB-8F15-EAB3-A7BE-23D5B83522E5}"/>
              </a:ext>
            </a:extLst>
          </p:cNvPr>
          <p:cNvGrpSpPr/>
          <p:nvPr/>
        </p:nvGrpSpPr>
        <p:grpSpPr>
          <a:xfrm>
            <a:off x="6279294" y="1167776"/>
            <a:ext cx="5400000" cy="2520000"/>
            <a:chOff x="4659576" y="1176866"/>
            <a:chExt cx="4297680" cy="1828800"/>
          </a:xfrm>
        </p:grpSpPr>
        <p:sp>
          <p:nvSpPr>
            <p:cNvPr id="13" name="Shape 9">
              <a:extLst>
                <a:ext uri="{FF2B5EF4-FFF2-40B4-BE49-F238E27FC236}">
                  <a16:creationId xmlns:a16="http://schemas.microsoft.com/office/drawing/2014/main" id="{E3E791DB-683E-C887-E465-E8B74C9D2006}"/>
                </a:ext>
              </a:extLst>
            </p:cNvPr>
            <p:cNvSpPr/>
            <p:nvPr/>
          </p:nvSpPr>
          <p:spPr>
            <a:xfrm>
              <a:off x="4659576" y="117686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4" name="Shape 10">
              <a:extLst>
                <a:ext uri="{FF2B5EF4-FFF2-40B4-BE49-F238E27FC236}">
                  <a16:creationId xmlns:a16="http://schemas.microsoft.com/office/drawing/2014/main" id="{98012B71-48FE-22EA-190A-7D3A2746AAC3}"/>
                </a:ext>
              </a:extLst>
            </p:cNvPr>
            <p:cNvSpPr/>
            <p:nvPr/>
          </p:nvSpPr>
          <p:spPr>
            <a:xfrm>
              <a:off x="4659576" y="1176866"/>
              <a:ext cx="4297680" cy="384048"/>
            </a:xfrm>
            <a:prstGeom prst="roundRect">
              <a:avLst>
                <a:gd name="adj" fmla="val 19048"/>
              </a:avLst>
            </a:prstGeom>
            <a:solidFill>
              <a:srgbClr val="E87722"/>
            </a:solidFill>
            <a:ln w="12700">
              <a:solidFill>
                <a:srgbClr val="E87722"/>
              </a:solidFill>
              <a:prstDash val="solid"/>
            </a:ln>
          </p:spPr>
          <p:txBody>
            <a:bodyPr/>
            <a:lstStyle/>
            <a:p>
              <a:endParaRPr lang="en-ID" sz="2000">
                <a:latin typeface="Telegraf"/>
              </a:endParaRPr>
            </a:p>
          </p:txBody>
        </p:sp>
        <p:sp>
          <p:nvSpPr>
            <p:cNvPr id="15" name="Text 11">
              <a:extLst>
                <a:ext uri="{FF2B5EF4-FFF2-40B4-BE49-F238E27FC236}">
                  <a16:creationId xmlns:a16="http://schemas.microsoft.com/office/drawing/2014/main" id="{550E67BB-E59F-B6D7-E6F3-5B61082F5BF3}"/>
                </a:ext>
              </a:extLst>
            </p:cNvPr>
            <p:cNvSpPr/>
            <p:nvPr/>
          </p:nvSpPr>
          <p:spPr>
            <a:xfrm>
              <a:off x="4751016" y="117686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SLOUGHING SHALE</a:t>
              </a:r>
              <a:endParaRPr lang="en-US" sz="1050" dirty="0">
                <a:latin typeface="Telegraf"/>
              </a:endParaRPr>
            </a:p>
          </p:txBody>
        </p:sp>
        <p:sp>
          <p:nvSpPr>
            <p:cNvPr id="16" name="Text 12">
              <a:extLst>
                <a:ext uri="{FF2B5EF4-FFF2-40B4-BE49-F238E27FC236}">
                  <a16:creationId xmlns:a16="http://schemas.microsoft.com/office/drawing/2014/main" id="{5F0BD68D-30D6-0A97-1C1C-A0CEE3492886}"/>
                </a:ext>
              </a:extLst>
            </p:cNvPr>
            <p:cNvSpPr/>
            <p:nvPr/>
          </p:nvSpPr>
          <p:spPr>
            <a:xfrm>
              <a:off x="7677096" y="117686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3/6 Wells</a:t>
              </a:r>
              <a:endParaRPr lang="en-US" sz="1050" dirty="0">
                <a:latin typeface="Telegraf"/>
              </a:endParaRPr>
            </a:p>
          </p:txBody>
        </p:sp>
        <p:sp>
          <p:nvSpPr>
            <p:cNvPr id="17" name="Text 13">
              <a:extLst>
                <a:ext uri="{FF2B5EF4-FFF2-40B4-BE49-F238E27FC236}">
                  <a16:creationId xmlns:a16="http://schemas.microsoft.com/office/drawing/2014/main" id="{FECF3D2C-AAA0-B1FA-EDEC-C37E7A9C72B3}"/>
                </a:ext>
              </a:extLst>
            </p:cNvPr>
            <p:cNvSpPr/>
            <p:nvPr/>
          </p:nvSpPr>
          <p:spPr>
            <a:xfrm>
              <a:off x="4751016" y="1579202"/>
              <a:ext cx="4114800" cy="201168"/>
            </a:xfrm>
            <a:prstGeom prst="rect">
              <a:avLst/>
            </a:prstGeom>
            <a:noFill/>
            <a:ln/>
          </p:spPr>
          <p:txBody>
            <a:bodyPr wrap="square" rtlCol="0" anchor="ctr"/>
            <a:lstStyle/>
            <a:p>
              <a:pPr marL="0" indent="0">
                <a:buNone/>
              </a:pPr>
              <a:r>
                <a:rPr lang="en-US" sz="1050" b="1" i="1" dirty="0">
                  <a:solidFill>
                    <a:srgbClr val="E87722"/>
                  </a:solidFill>
                  <a:latin typeface="Telegraf"/>
                </a:rPr>
                <a:t>Depth range: 1,743–5,186 ft MD</a:t>
              </a:r>
              <a:endParaRPr lang="en-US" sz="1050" dirty="0">
                <a:latin typeface="Telegraf"/>
              </a:endParaRPr>
            </a:p>
          </p:txBody>
        </p:sp>
        <p:sp>
          <p:nvSpPr>
            <p:cNvPr id="18" name="Text 14">
              <a:extLst>
                <a:ext uri="{FF2B5EF4-FFF2-40B4-BE49-F238E27FC236}">
                  <a16:creationId xmlns:a16="http://schemas.microsoft.com/office/drawing/2014/main" id="{269AC984-0AF2-0E43-AFA7-8CB803C45444}"/>
                </a:ext>
              </a:extLst>
            </p:cNvPr>
            <p:cNvSpPr/>
            <p:nvPr/>
          </p:nvSpPr>
          <p:spPr>
            <a:xfrm>
              <a:off x="4751016" y="177122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5: Continuous sloughing shale cutting (1-2" × 1/3" width) over shakers</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5: Required MW increase from 9.1 to 10.0 ppg to stabilize</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2: Gumbo circulation – wiper trip required at 3286'</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3: Increased MW to 10.1 ppg – hi-vis sweeps performed</a:t>
              </a:r>
              <a:endParaRPr lang="en-US" sz="1400" dirty="0">
                <a:latin typeface="Telegraf"/>
              </a:endParaRPr>
            </a:p>
          </p:txBody>
        </p:sp>
      </p:grpSp>
      <p:grpSp>
        <p:nvGrpSpPr>
          <p:cNvPr id="19" name="Group 18">
            <a:extLst>
              <a:ext uri="{FF2B5EF4-FFF2-40B4-BE49-F238E27FC236}">
                <a16:creationId xmlns:a16="http://schemas.microsoft.com/office/drawing/2014/main" id="{9395EE72-7D5F-94B8-574C-10F3889B4DCF}"/>
              </a:ext>
            </a:extLst>
          </p:cNvPr>
          <p:cNvGrpSpPr/>
          <p:nvPr/>
        </p:nvGrpSpPr>
        <p:grpSpPr>
          <a:xfrm>
            <a:off x="179016" y="3977576"/>
            <a:ext cx="5400000" cy="2520000"/>
            <a:chOff x="179016" y="3142826"/>
            <a:chExt cx="4297680" cy="1828800"/>
          </a:xfrm>
        </p:grpSpPr>
        <p:sp>
          <p:nvSpPr>
            <p:cNvPr id="20" name="Shape 15">
              <a:extLst>
                <a:ext uri="{FF2B5EF4-FFF2-40B4-BE49-F238E27FC236}">
                  <a16:creationId xmlns:a16="http://schemas.microsoft.com/office/drawing/2014/main" id="{4CA9610E-C286-539F-EFF9-F4A3CE02BF5F}"/>
                </a:ext>
              </a:extLst>
            </p:cNvPr>
            <p:cNvSpPr/>
            <p:nvPr/>
          </p:nvSpPr>
          <p:spPr>
            <a:xfrm>
              <a:off x="179016" y="314282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1" name="Shape 16">
              <a:extLst>
                <a:ext uri="{FF2B5EF4-FFF2-40B4-BE49-F238E27FC236}">
                  <a16:creationId xmlns:a16="http://schemas.microsoft.com/office/drawing/2014/main" id="{971E6A69-5CBB-2921-8DF5-42A68F6C5FAB}"/>
                </a:ext>
              </a:extLst>
            </p:cNvPr>
            <p:cNvSpPr/>
            <p:nvPr/>
          </p:nvSpPr>
          <p:spPr>
            <a:xfrm>
              <a:off x="179016" y="3142826"/>
              <a:ext cx="4297680" cy="384048"/>
            </a:xfrm>
            <a:prstGeom prst="roundRect">
              <a:avLst>
                <a:gd name="adj" fmla="val 19048"/>
              </a:avLst>
            </a:prstGeom>
            <a:solidFill>
              <a:srgbClr val="E8A722"/>
            </a:solidFill>
            <a:ln w="12700">
              <a:solidFill>
                <a:srgbClr val="E8A722"/>
              </a:solidFill>
              <a:prstDash val="solid"/>
            </a:ln>
          </p:spPr>
          <p:txBody>
            <a:bodyPr/>
            <a:lstStyle/>
            <a:p>
              <a:endParaRPr lang="en-ID" sz="2000">
                <a:latin typeface="Telegraf"/>
              </a:endParaRPr>
            </a:p>
          </p:txBody>
        </p:sp>
        <p:sp>
          <p:nvSpPr>
            <p:cNvPr id="22" name="Text 17">
              <a:extLst>
                <a:ext uri="{FF2B5EF4-FFF2-40B4-BE49-F238E27FC236}">
                  <a16:creationId xmlns:a16="http://schemas.microsoft.com/office/drawing/2014/main" id="{FC573CF2-A613-27F8-0C97-AF9A4E61283F}"/>
                </a:ext>
              </a:extLst>
            </p:cNvPr>
            <p:cNvSpPr/>
            <p:nvPr/>
          </p:nvSpPr>
          <p:spPr>
            <a:xfrm>
              <a:off x="270456" y="314282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HIGH TORQUE &amp; DRAG</a:t>
              </a:r>
              <a:endParaRPr lang="en-US" sz="1050" dirty="0">
                <a:latin typeface="Telegraf"/>
              </a:endParaRPr>
            </a:p>
          </p:txBody>
        </p:sp>
        <p:sp>
          <p:nvSpPr>
            <p:cNvPr id="23" name="Text 18">
              <a:extLst>
                <a:ext uri="{FF2B5EF4-FFF2-40B4-BE49-F238E27FC236}">
                  <a16:creationId xmlns:a16="http://schemas.microsoft.com/office/drawing/2014/main" id="{5733C4F3-42BA-3D6F-42F3-A2527C7E76C0}"/>
                </a:ext>
              </a:extLst>
            </p:cNvPr>
            <p:cNvSpPr/>
            <p:nvPr/>
          </p:nvSpPr>
          <p:spPr>
            <a:xfrm>
              <a:off x="3196536" y="314282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4/6 Wells</a:t>
              </a:r>
              <a:endParaRPr lang="en-US" sz="1050" dirty="0">
                <a:latin typeface="Telegraf"/>
              </a:endParaRPr>
            </a:p>
          </p:txBody>
        </p:sp>
        <p:sp>
          <p:nvSpPr>
            <p:cNvPr id="24" name="Text 19">
              <a:extLst>
                <a:ext uri="{FF2B5EF4-FFF2-40B4-BE49-F238E27FC236}">
                  <a16:creationId xmlns:a16="http://schemas.microsoft.com/office/drawing/2014/main" id="{CFE7B5A3-69E8-F51B-F9B7-B8481187ABCD}"/>
                </a:ext>
              </a:extLst>
            </p:cNvPr>
            <p:cNvSpPr/>
            <p:nvPr/>
          </p:nvSpPr>
          <p:spPr>
            <a:xfrm>
              <a:off x="270456" y="3545162"/>
              <a:ext cx="4114800" cy="201168"/>
            </a:xfrm>
            <a:prstGeom prst="rect">
              <a:avLst/>
            </a:prstGeom>
            <a:noFill/>
            <a:ln/>
          </p:spPr>
          <p:txBody>
            <a:bodyPr wrap="square" rtlCol="0" anchor="ctr"/>
            <a:lstStyle/>
            <a:p>
              <a:pPr marL="0" indent="0">
                <a:buNone/>
              </a:pPr>
              <a:r>
                <a:rPr lang="en-US" sz="1050" b="1" i="1" dirty="0">
                  <a:solidFill>
                    <a:srgbClr val="E8A722"/>
                  </a:solidFill>
                  <a:latin typeface="Telegraf"/>
                </a:rPr>
                <a:t>Depth range: 2,000–5,350 ft MD</a:t>
              </a:r>
              <a:endParaRPr lang="en-US" sz="1050" dirty="0">
                <a:latin typeface="Telegraf"/>
              </a:endParaRPr>
            </a:p>
          </p:txBody>
        </p:sp>
        <p:sp>
          <p:nvSpPr>
            <p:cNvPr id="25" name="Text 20">
              <a:extLst>
                <a:ext uri="{FF2B5EF4-FFF2-40B4-BE49-F238E27FC236}">
                  <a16:creationId xmlns:a16="http://schemas.microsoft.com/office/drawing/2014/main" id="{AC78531C-C907-BCBF-B95B-0CF5D81A5311}"/>
                </a:ext>
              </a:extLst>
            </p:cNvPr>
            <p:cNvSpPr/>
            <p:nvPr/>
          </p:nvSpPr>
          <p:spPr>
            <a:xfrm>
              <a:off x="270456" y="373718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1: Hi-torque at 4240'–4518' – decided to POOH &amp; change bit</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3: Overpull 50 klbs – casing point decided based on instability</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High drag during POOH 50 klbs at 3659' &amp; 45 klbs at 3638'</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6: Drag 40 klbs during final trip – reciprocated string OK</a:t>
              </a:r>
              <a:endParaRPr lang="en-US" sz="1400" dirty="0">
                <a:latin typeface="Telegraf"/>
              </a:endParaRPr>
            </a:p>
          </p:txBody>
        </p:sp>
      </p:grpSp>
      <p:grpSp>
        <p:nvGrpSpPr>
          <p:cNvPr id="26" name="Group 25">
            <a:extLst>
              <a:ext uri="{FF2B5EF4-FFF2-40B4-BE49-F238E27FC236}">
                <a16:creationId xmlns:a16="http://schemas.microsoft.com/office/drawing/2014/main" id="{27427663-F6F1-F37D-B243-7FC7F36A928D}"/>
              </a:ext>
            </a:extLst>
          </p:cNvPr>
          <p:cNvGrpSpPr/>
          <p:nvPr/>
        </p:nvGrpSpPr>
        <p:grpSpPr>
          <a:xfrm>
            <a:off x="6279294" y="3977576"/>
            <a:ext cx="5400000" cy="2520000"/>
            <a:chOff x="4659576" y="3142826"/>
            <a:chExt cx="4297680" cy="1828800"/>
          </a:xfrm>
        </p:grpSpPr>
        <p:sp>
          <p:nvSpPr>
            <p:cNvPr id="27" name="Shape 21">
              <a:extLst>
                <a:ext uri="{FF2B5EF4-FFF2-40B4-BE49-F238E27FC236}">
                  <a16:creationId xmlns:a16="http://schemas.microsoft.com/office/drawing/2014/main" id="{3C0D273F-2854-BB28-F909-8C324D9C49A9}"/>
                </a:ext>
              </a:extLst>
            </p:cNvPr>
            <p:cNvSpPr/>
            <p:nvPr/>
          </p:nvSpPr>
          <p:spPr>
            <a:xfrm>
              <a:off x="4659576" y="3142826"/>
              <a:ext cx="4297680" cy="1828800"/>
            </a:xfrm>
            <a:prstGeom prst="roundRect">
              <a:avLst>
                <a:gd name="adj" fmla="val 4000"/>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8" name="Shape 22">
              <a:extLst>
                <a:ext uri="{FF2B5EF4-FFF2-40B4-BE49-F238E27FC236}">
                  <a16:creationId xmlns:a16="http://schemas.microsoft.com/office/drawing/2014/main" id="{49065448-5361-9324-3DB1-596400877399}"/>
                </a:ext>
              </a:extLst>
            </p:cNvPr>
            <p:cNvSpPr/>
            <p:nvPr/>
          </p:nvSpPr>
          <p:spPr>
            <a:xfrm>
              <a:off x="4659576" y="3142826"/>
              <a:ext cx="4297680" cy="384048"/>
            </a:xfrm>
            <a:prstGeom prst="roundRect">
              <a:avLst>
                <a:gd name="adj" fmla="val 19048"/>
              </a:avLst>
            </a:prstGeom>
            <a:solidFill>
              <a:srgbClr val="1E5FAD"/>
            </a:solidFill>
            <a:ln w="12700">
              <a:solidFill>
                <a:srgbClr val="1E5FAD"/>
              </a:solidFill>
              <a:prstDash val="solid"/>
            </a:ln>
          </p:spPr>
          <p:txBody>
            <a:bodyPr/>
            <a:lstStyle/>
            <a:p>
              <a:endParaRPr lang="en-ID" sz="2000">
                <a:latin typeface="Telegraf"/>
              </a:endParaRPr>
            </a:p>
          </p:txBody>
        </p:sp>
        <p:sp>
          <p:nvSpPr>
            <p:cNvPr id="29" name="Text 23">
              <a:extLst>
                <a:ext uri="{FF2B5EF4-FFF2-40B4-BE49-F238E27FC236}">
                  <a16:creationId xmlns:a16="http://schemas.microsoft.com/office/drawing/2014/main" id="{445A4816-788F-F2DD-7375-BE0C6D7251B4}"/>
                </a:ext>
              </a:extLst>
            </p:cNvPr>
            <p:cNvSpPr/>
            <p:nvPr/>
          </p:nvSpPr>
          <p:spPr>
            <a:xfrm>
              <a:off x="4751016" y="3142826"/>
              <a:ext cx="2926080" cy="384048"/>
            </a:xfrm>
            <a:prstGeom prst="rect">
              <a:avLst/>
            </a:prstGeom>
            <a:noFill/>
            <a:ln/>
          </p:spPr>
          <p:txBody>
            <a:bodyPr wrap="square" rtlCol="0" anchor="ctr"/>
            <a:lstStyle/>
            <a:p>
              <a:pPr marL="0" indent="0">
                <a:buNone/>
              </a:pPr>
              <a:r>
                <a:rPr lang="en-US" sz="1050" b="1" dirty="0">
                  <a:solidFill>
                    <a:srgbClr val="FFFFFF"/>
                  </a:solidFill>
                  <a:latin typeface="Telegraf"/>
                </a:rPr>
                <a:t>GUMBO / REACTIVE CLAY</a:t>
              </a:r>
              <a:endParaRPr lang="en-US" sz="1050" dirty="0">
                <a:latin typeface="Telegraf"/>
              </a:endParaRPr>
            </a:p>
          </p:txBody>
        </p:sp>
        <p:sp>
          <p:nvSpPr>
            <p:cNvPr id="30" name="Text 24">
              <a:extLst>
                <a:ext uri="{FF2B5EF4-FFF2-40B4-BE49-F238E27FC236}">
                  <a16:creationId xmlns:a16="http://schemas.microsoft.com/office/drawing/2014/main" id="{028BA236-0620-51C0-9D42-B442078777BD}"/>
                </a:ext>
              </a:extLst>
            </p:cNvPr>
            <p:cNvSpPr/>
            <p:nvPr/>
          </p:nvSpPr>
          <p:spPr>
            <a:xfrm>
              <a:off x="7677096" y="3142826"/>
              <a:ext cx="1188720" cy="384048"/>
            </a:xfrm>
            <a:prstGeom prst="rect">
              <a:avLst/>
            </a:prstGeom>
            <a:noFill/>
            <a:ln/>
          </p:spPr>
          <p:txBody>
            <a:bodyPr wrap="square" rtlCol="0" anchor="ctr"/>
            <a:lstStyle/>
            <a:p>
              <a:pPr marL="0" indent="0" algn="r">
                <a:buNone/>
              </a:pPr>
              <a:r>
                <a:rPr lang="en-US" sz="1050" b="1" dirty="0">
                  <a:solidFill>
                    <a:srgbClr val="FFFFFF"/>
                  </a:solidFill>
                  <a:latin typeface="Telegraf"/>
                </a:rPr>
                <a:t>2/6 Wells</a:t>
              </a:r>
              <a:endParaRPr lang="en-US" sz="1050" dirty="0">
                <a:latin typeface="Telegraf"/>
              </a:endParaRPr>
            </a:p>
          </p:txBody>
        </p:sp>
        <p:sp>
          <p:nvSpPr>
            <p:cNvPr id="31" name="Text 25">
              <a:extLst>
                <a:ext uri="{FF2B5EF4-FFF2-40B4-BE49-F238E27FC236}">
                  <a16:creationId xmlns:a16="http://schemas.microsoft.com/office/drawing/2014/main" id="{663247C1-033D-0967-7089-0466B7440EF8}"/>
                </a:ext>
              </a:extLst>
            </p:cNvPr>
            <p:cNvSpPr/>
            <p:nvPr/>
          </p:nvSpPr>
          <p:spPr>
            <a:xfrm>
              <a:off x="4751016" y="3545162"/>
              <a:ext cx="4114800" cy="201168"/>
            </a:xfrm>
            <a:prstGeom prst="rect">
              <a:avLst/>
            </a:prstGeom>
            <a:noFill/>
            <a:ln/>
          </p:spPr>
          <p:txBody>
            <a:bodyPr wrap="square" rtlCol="0" anchor="ctr"/>
            <a:lstStyle/>
            <a:p>
              <a:pPr marL="0" indent="0">
                <a:buNone/>
              </a:pPr>
              <a:r>
                <a:rPr lang="en-US" sz="1050" b="1" i="1" dirty="0">
                  <a:solidFill>
                    <a:srgbClr val="1E5FAD"/>
                  </a:solidFill>
                  <a:latin typeface="Telegraf"/>
                </a:rPr>
                <a:t>Depth range: 1,400–3,286 ft MD</a:t>
              </a:r>
              <a:endParaRPr lang="en-US" sz="1050" dirty="0">
                <a:latin typeface="Telegraf"/>
              </a:endParaRPr>
            </a:p>
          </p:txBody>
        </p:sp>
        <p:sp>
          <p:nvSpPr>
            <p:cNvPr id="32" name="Text 26">
              <a:extLst>
                <a:ext uri="{FF2B5EF4-FFF2-40B4-BE49-F238E27FC236}">
                  <a16:creationId xmlns:a16="http://schemas.microsoft.com/office/drawing/2014/main" id="{DE175088-9CDA-6651-9A53-1B1D275A5DF3}"/>
                </a:ext>
              </a:extLst>
            </p:cNvPr>
            <p:cNvSpPr/>
            <p:nvPr/>
          </p:nvSpPr>
          <p:spPr>
            <a:xfrm>
              <a:off x="4751016" y="3737186"/>
              <a:ext cx="4114800" cy="1170432"/>
            </a:xfrm>
            <a:prstGeom prst="rect">
              <a:avLst/>
            </a:prstGeom>
            <a:noFill/>
            <a:ln/>
          </p:spPr>
          <p:txBody>
            <a:bodyPr wrap="square" rtlCol="0" anchor="t"/>
            <a:lstStyle/>
            <a:p>
              <a:pPr marL="342900" indent="-342900">
                <a:spcAft>
                  <a:spcPts val="200"/>
                </a:spcAft>
                <a:buSzPct val="100000"/>
                <a:buChar char="•"/>
              </a:pPr>
              <a:r>
                <a:rPr lang="en-US" sz="1400" dirty="0">
                  <a:solidFill>
                    <a:srgbClr val="2A3A5A"/>
                  </a:solidFill>
                  <a:latin typeface="Telegraf"/>
                </a:rPr>
                <a:t>Alpha 2: Circulated out gumbo after wiper trip from 1404'–3286'</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2: Required additional KCl spotting to stabilize reactive clay</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Alpha 4: Cellar full of clay – required jetting with wash gun</a:t>
              </a:r>
              <a:endParaRPr lang="en-US" sz="1400" dirty="0">
                <a:latin typeface="Telegraf"/>
              </a:endParaRPr>
            </a:p>
            <a:p>
              <a:pPr marL="342900" indent="-342900">
                <a:spcAft>
                  <a:spcPts val="200"/>
                </a:spcAft>
                <a:buSzPct val="100000"/>
                <a:buChar char="•"/>
              </a:pPr>
              <a:r>
                <a:rPr lang="en-US" sz="1400" dirty="0">
                  <a:solidFill>
                    <a:srgbClr val="2A3A5A"/>
                  </a:solidFill>
                  <a:latin typeface="Telegraf"/>
                </a:rPr>
                <a:t>Common occurrence in bara shallow-intermediate section</a:t>
              </a:r>
              <a:endParaRPr lang="en-US" sz="1400" dirty="0">
                <a:latin typeface="Telegraf"/>
              </a:endParaRPr>
            </a:p>
          </p:txBody>
        </p:sp>
      </p:grpSp>
      <p:sp>
        <p:nvSpPr>
          <p:cNvPr id="34" name="Title 1">
            <a:extLst>
              <a:ext uri="{FF2B5EF4-FFF2-40B4-BE49-F238E27FC236}">
                <a16:creationId xmlns:a16="http://schemas.microsoft.com/office/drawing/2014/main" id="{BEADDDB6-1646-AE48-CC24-739F28DDCC8E}"/>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18</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4015063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C1308-4D13-7A8E-4B80-5BDD57AA2457}"/>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1027E1A6-667E-8F8D-48B7-B08AD8303F11}"/>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CEMENTING ANALYSIS</a:t>
            </a:r>
          </a:p>
        </p:txBody>
      </p:sp>
      <p:pic>
        <p:nvPicPr>
          <p:cNvPr id="35" name="Picture 34">
            <a:extLst>
              <a:ext uri="{FF2B5EF4-FFF2-40B4-BE49-F238E27FC236}">
                <a16:creationId xmlns:a16="http://schemas.microsoft.com/office/drawing/2014/main" id="{DD01AB1F-C7A8-7FBE-C33C-D356B67C6E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18F9ECF-09DA-FDA0-62E5-A91AAB30D256}"/>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4339D8B6-ADD9-82B2-C589-60CF8DBDC97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DEE68049-6B85-065A-54A1-D0896286572F}"/>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19</a:t>
            </a:r>
            <a:endParaRPr lang="en-ID" dirty="0">
              <a:solidFill>
                <a:schemeClr val="bg1"/>
              </a:solidFill>
              <a:latin typeface="Telegraf Bold" panose="020B0604020202020204" charset="0"/>
            </a:endParaRPr>
          </a:p>
        </p:txBody>
      </p:sp>
      <p:graphicFrame>
        <p:nvGraphicFramePr>
          <p:cNvPr id="3" name="Chart 0">
            <a:extLst>
              <a:ext uri="{FF2B5EF4-FFF2-40B4-BE49-F238E27FC236}">
                <a16:creationId xmlns:a16="http://schemas.microsoft.com/office/drawing/2014/main" id="{7B2C1F36-DDFB-D79C-D95D-55AE6E9BE98A}"/>
              </a:ext>
            </a:extLst>
          </p:cNvPr>
          <p:cNvGraphicFramePr/>
          <p:nvPr>
            <p:extLst>
              <p:ext uri="{D42A27DB-BD31-4B8C-83A1-F6EECF244321}">
                <p14:modId xmlns:p14="http://schemas.microsoft.com/office/powerpoint/2010/main" val="2824294603"/>
              </p:ext>
            </p:extLst>
          </p:nvPr>
        </p:nvGraphicFramePr>
        <p:xfrm>
          <a:off x="78658" y="1046375"/>
          <a:ext cx="6423742" cy="5678890"/>
        </p:xfrm>
        <a:graphic>
          <a:graphicData uri="http://schemas.openxmlformats.org/drawingml/2006/chart">
            <c:chart xmlns:c="http://schemas.openxmlformats.org/drawingml/2006/chart" xmlns:r="http://schemas.openxmlformats.org/officeDocument/2006/relationships" r:id="rId6"/>
          </a:graphicData>
        </a:graphic>
      </p:graphicFrame>
      <p:grpSp>
        <p:nvGrpSpPr>
          <p:cNvPr id="4" name="Group 3">
            <a:extLst>
              <a:ext uri="{FF2B5EF4-FFF2-40B4-BE49-F238E27FC236}">
                <a16:creationId xmlns:a16="http://schemas.microsoft.com/office/drawing/2014/main" id="{34EE6C2E-6AC1-EEAC-81C5-41EAE8C116D7}"/>
              </a:ext>
            </a:extLst>
          </p:cNvPr>
          <p:cNvGrpSpPr/>
          <p:nvPr/>
        </p:nvGrpSpPr>
        <p:grpSpPr>
          <a:xfrm>
            <a:off x="6960581" y="1441736"/>
            <a:ext cx="3960000" cy="1080000"/>
            <a:chOff x="6639560" y="2021840"/>
            <a:chExt cx="3337560" cy="877824"/>
          </a:xfrm>
        </p:grpSpPr>
        <p:sp>
          <p:nvSpPr>
            <p:cNvPr id="5" name="Shape 3">
              <a:extLst>
                <a:ext uri="{FF2B5EF4-FFF2-40B4-BE49-F238E27FC236}">
                  <a16:creationId xmlns:a16="http://schemas.microsoft.com/office/drawing/2014/main" id="{54B2F271-ECDF-1FD2-6B47-7E221DB26EE0}"/>
                </a:ext>
              </a:extLst>
            </p:cNvPr>
            <p:cNvSpPr/>
            <p:nvPr/>
          </p:nvSpPr>
          <p:spPr>
            <a:xfrm>
              <a:off x="6639560" y="202184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6" name="Shape 4">
              <a:extLst>
                <a:ext uri="{FF2B5EF4-FFF2-40B4-BE49-F238E27FC236}">
                  <a16:creationId xmlns:a16="http://schemas.microsoft.com/office/drawing/2014/main" id="{D2DB1358-16D7-82E6-73EF-438B7D454247}"/>
                </a:ext>
              </a:extLst>
            </p:cNvPr>
            <p:cNvSpPr/>
            <p:nvPr/>
          </p:nvSpPr>
          <p:spPr>
            <a:xfrm>
              <a:off x="6685280" y="2058416"/>
              <a:ext cx="201168" cy="201168"/>
            </a:xfrm>
            <a:prstGeom prst="ellipse">
              <a:avLst/>
            </a:prstGeom>
            <a:solidFill>
              <a:srgbClr val="CC2222"/>
            </a:solidFill>
            <a:ln w="12700">
              <a:solidFill>
                <a:srgbClr val="CC2222"/>
              </a:solidFill>
              <a:prstDash val="solid"/>
            </a:ln>
          </p:spPr>
          <p:txBody>
            <a:bodyPr/>
            <a:lstStyle/>
            <a:p>
              <a:endParaRPr lang="en-ID" sz="2000">
                <a:latin typeface="Telegraf"/>
              </a:endParaRPr>
            </a:p>
          </p:txBody>
        </p:sp>
        <p:sp>
          <p:nvSpPr>
            <p:cNvPr id="7" name="Text 5">
              <a:extLst>
                <a:ext uri="{FF2B5EF4-FFF2-40B4-BE49-F238E27FC236}">
                  <a16:creationId xmlns:a16="http://schemas.microsoft.com/office/drawing/2014/main" id="{5CE64093-AE04-4B2E-2C24-23E8B0872BEA}"/>
                </a:ext>
              </a:extLst>
            </p:cNvPr>
            <p:cNvSpPr/>
            <p:nvPr/>
          </p:nvSpPr>
          <p:spPr>
            <a:xfrm>
              <a:off x="6932168" y="202184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No CMT Return (Surface):</a:t>
              </a:r>
              <a:endParaRPr lang="en-US" sz="1400" dirty="0">
                <a:latin typeface="Telegraf"/>
              </a:endParaRPr>
            </a:p>
            <a:p>
              <a:pPr marL="0" indent="0" algn="just">
                <a:buNone/>
              </a:pPr>
              <a:r>
                <a:rPr lang="en-US" sz="1400" dirty="0">
                  <a:solidFill>
                    <a:srgbClr val="1A2A4A"/>
                  </a:solidFill>
                  <a:latin typeface="Telegraf"/>
                </a:rPr>
                <a:t>Alpha 002 &amp; 003 – full circulation but ZERO cement return on surface casing. Suspected lost circulation at shallow depth.</a:t>
              </a:r>
              <a:endParaRPr lang="en-US" sz="1400" dirty="0">
                <a:latin typeface="Telegraf"/>
              </a:endParaRPr>
            </a:p>
          </p:txBody>
        </p:sp>
      </p:grpSp>
      <p:grpSp>
        <p:nvGrpSpPr>
          <p:cNvPr id="8" name="Group 7">
            <a:extLst>
              <a:ext uri="{FF2B5EF4-FFF2-40B4-BE49-F238E27FC236}">
                <a16:creationId xmlns:a16="http://schemas.microsoft.com/office/drawing/2014/main" id="{246E4B40-CEEC-8043-3847-137C5A73C016}"/>
              </a:ext>
            </a:extLst>
          </p:cNvPr>
          <p:cNvGrpSpPr/>
          <p:nvPr/>
        </p:nvGrpSpPr>
        <p:grpSpPr>
          <a:xfrm>
            <a:off x="6960581" y="2649752"/>
            <a:ext cx="3960000" cy="1080000"/>
            <a:chOff x="6639560" y="3027680"/>
            <a:chExt cx="3337560" cy="877824"/>
          </a:xfrm>
        </p:grpSpPr>
        <p:sp>
          <p:nvSpPr>
            <p:cNvPr id="10" name="Shape 6">
              <a:extLst>
                <a:ext uri="{FF2B5EF4-FFF2-40B4-BE49-F238E27FC236}">
                  <a16:creationId xmlns:a16="http://schemas.microsoft.com/office/drawing/2014/main" id="{E795651A-7AEE-F6AD-3093-F60E66906D97}"/>
                </a:ext>
              </a:extLst>
            </p:cNvPr>
            <p:cNvSpPr/>
            <p:nvPr/>
          </p:nvSpPr>
          <p:spPr>
            <a:xfrm>
              <a:off x="6639560" y="302768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2" name="Shape 7">
              <a:extLst>
                <a:ext uri="{FF2B5EF4-FFF2-40B4-BE49-F238E27FC236}">
                  <a16:creationId xmlns:a16="http://schemas.microsoft.com/office/drawing/2014/main" id="{FF9A8D16-9C29-37E8-40D2-C7A63ED4DDAA}"/>
                </a:ext>
              </a:extLst>
            </p:cNvPr>
            <p:cNvSpPr/>
            <p:nvPr/>
          </p:nvSpPr>
          <p:spPr>
            <a:xfrm>
              <a:off x="6685280" y="3064256"/>
              <a:ext cx="201168" cy="201168"/>
            </a:xfrm>
            <a:prstGeom prst="ellipse">
              <a:avLst/>
            </a:prstGeom>
            <a:solidFill>
              <a:srgbClr val="E87722"/>
            </a:solidFill>
            <a:ln w="12700">
              <a:solidFill>
                <a:srgbClr val="E87722"/>
              </a:solidFill>
              <a:prstDash val="solid"/>
            </a:ln>
          </p:spPr>
          <p:txBody>
            <a:bodyPr/>
            <a:lstStyle/>
            <a:p>
              <a:endParaRPr lang="en-ID" sz="2000">
                <a:latin typeface="Telegraf"/>
              </a:endParaRPr>
            </a:p>
          </p:txBody>
        </p:sp>
        <p:sp>
          <p:nvSpPr>
            <p:cNvPr id="13" name="Text 8">
              <a:extLst>
                <a:ext uri="{FF2B5EF4-FFF2-40B4-BE49-F238E27FC236}">
                  <a16:creationId xmlns:a16="http://schemas.microsoft.com/office/drawing/2014/main" id="{1E6517E8-D6A7-D5C1-85A0-97E1475E7DF8}"/>
                </a:ext>
              </a:extLst>
            </p:cNvPr>
            <p:cNvSpPr/>
            <p:nvPr/>
          </p:nvSpPr>
          <p:spPr>
            <a:xfrm>
              <a:off x="6932168" y="302768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Excess CMT Return (Intermediate/Production):</a:t>
              </a:r>
              <a:endParaRPr lang="en-US" sz="1400" dirty="0">
                <a:latin typeface="Telegraf"/>
              </a:endParaRPr>
            </a:p>
            <a:p>
              <a:pPr marL="0" indent="0" algn="just">
                <a:buNone/>
              </a:pPr>
              <a:r>
                <a:rPr lang="en-US" sz="1400" dirty="0">
                  <a:solidFill>
                    <a:srgbClr val="1A2A4A"/>
                  </a:solidFill>
                  <a:latin typeface="Telegraf"/>
                </a:rPr>
                <a:t>Alpha 004: 100 bbls at 13-3/8" surface &amp; Alpha 006: 140 bbls at 7" production – indicates good hole cleaning &amp; excess volume required.</a:t>
              </a:r>
              <a:endParaRPr lang="en-US" sz="1400" dirty="0">
                <a:latin typeface="Telegraf"/>
              </a:endParaRPr>
            </a:p>
          </p:txBody>
        </p:sp>
      </p:grpSp>
      <p:grpSp>
        <p:nvGrpSpPr>
          <p:cNvPr id="14" name="Group 13">
            <a:extLst>
              <a:ext uri="{FF2B5EF4-FFF2-40B4-BE49-F238E27FC236}">
                <a16:creationId xmlns:a16="http://schemas.microsoft.com/office/drawing/2014/main" id="{76117D11-1932-BF29-BFDA-6A8871B09E0D}"/>
              </a:ext>
            </a:extLst>
          </p:cNvPr>
          <p:cNvGrpSpPr/>
          <p:nvPr/>
        </p:nvGrpSpPr>
        <p:grpSpPr>
          <a:xfrm>
            <a:off x="6960581" y="3857768"/>
            <a:ext cx="3960000" cy="1080000"/>
            <a:chOff x="6639560" y="4033520"/>
            <a:chExt cx="3337560" cy="877824"/>
          </a:xfrm>
        </p:grpSpPr>
        <p:sp>
          <p:nvSpPr>
            <p:cNvPr id="15" name="Shape 9">
              <a:extLst>
                <a:ext uri="{FF2B5EF4-FFF2-40B4-BE49-F238E27FC236}">
                  <a16:creationId xmlns:a16="http://schemas.microsoft.com/office/drawing/2014/main" id="{BBEE3C0F-DB0D-5CCE-EED1-04E8A978E9D3}"/>
                </a:ext>
              </a:extLst>
            </p:cNvPr>
            <p:cNvSpPr/>
            <p:nvPr/>
          </p:nvSpPr>
          <p:spPr>
            <a:xfrm>
              <a:off x="6639560" y="403352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16" name="Shape 10">
              <a:extLst>
                <a:ext uri="{FF2B5EF4-FFF2-40B4-BE49-F238E27FC236}">
                  <a16:creationId xmlns:a16="http://schemas.microsoft.com/office/drawing/2014/main" id="{C0D7A822-3F04-4662-B80D-E3E61E2B492F}"/>
                </a:ext>
              </a:extLst>
            </p:cNvPr>
            <p:cNvSpPr/>
            <p:nvPr/>
          </p:nvSpPr>
          <p:spPr>
            <a:xfrm>
              <a:off x="6685280" y="4070096"/>
              <a:ext cx="201168" cy="201168"/>
            </a:xfrm>
            <a:prstGeom prst="ellipse">
              <a:avLst/>
            </a:prstGeom>
            <a:solidFill>
              <a:srgbClr val="1A8F3A"/>
            </a:solidFill>
            <a:ln w="12700">
              <a:solidFill>
                <a:srgbClr val="1A8F3A"/>
              </a:solidFill>
              <a:prstDash val="solid"/>
            </a:ln>
          </p:spPr>
          <p:txBody>
            <a:bodyPr/>
            <a:lstStyle/>
            <a:p>
              <a:endParaRPr lang="en-ID" sz="2000">
                <a:latin typeface="Telegraf"/>
              </a:endParaRPr>
            </a:p>
          </p:txBody>
        </p:sp>
        <p:sp>
          <p:nvSpPr>
            <p:cNvPr id="17" name="Text 11">
              <a:extLst>
                <a:ext uri="{FF2B5EF4-FFF2-40B4-BE49-F238E27FC236}">
                  <a16:creationId xmlns:a16="http://schemas.microsoft.com/office/drawing/2014/main" id="{953E7380-141F-161F-9B52-0B02BBA6298F}"/>
                </a:ext>
              </a:extLst>
            </p:cNvPr>
            <p:cNvSpPr/>
            <p:nvPr/>
          </p:nvSpPr>
          <p:spPr>
            <a:xfrm>
              <a:off x="6932168" y="403352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Best Practice – Fluid Caliper:</a:t>
              </a:r>
              <a:endParaRPr lang="en-US" sz="1400" dirty="0">
                <a:latin typeface="Telegraf"/>
              </a:endParaRPr>
            </a:p>
            <a:p>
              <a:pPr marL="0" indent="0" algn="just">
                <a:buNone/>
              </a:pPr>
              <a:r>
                <a:rPr lang="en-US" sz="1400" dirty="0">
                  <a:solidFill>
                    <a:srgbClr val="1A2A4A"/>
                  </a:solidFill>
                  <a:latin typeface="Telegraf"/>
                </a:rPr>
                <a:t>Alpha 006 performed fluid caliper using Hi-Vis sweeps, determining 300% excess for lead cement. This improved cement job quality significantly.</a:t>
              </a:r>
              <a:endParaRPr lang="en-US" sz="1400" dirty="0">
                <a:latin typeface="Telegraf"/>
              </a:endParaRPr>
            </a:p>
          </p:txBody>
        </p:sp>
      </p:grpSp>
      <p:grpSp>
        <p:nvGrpSpPr>
          <p:cNvPr id="18" name="Group 17">
            <a:extLst>
              <a:ext uri="{FF2B5EF4-FFF2-40B4-BE49-F238E27FC236}">
                <a16:creationId xmlns:a16="http://schemas.microsoft.com/office/drawing/2014/main" id="{084EE24D-1777-C26D-ADEF-8AC72DFAE7C9}"/>
              </a:ext>
            </a:extLst>
          </p:cNvPr>
          <p:cNvGrpSpPr/>
          <p:nvPr/>
        </p:nvGrpSpPr>
        <p:grpSpPr>
          <a:xfrm>
            <a:off x="6960581" y="5065784"/>
            <a:ext cx="3960000" cy="1080000"/>
            <a:chOff x="6639560" y="5039360"/>
            <a:chExt cx="3337560" cy="877824"/>
          </a:xfrm>
        </p:grpSpPr>
        <p:sp>
          <p:nvSpPr>
            <p:cNvPr id="19" name="Shape 12">
              <a:extLst>
                <a:ext uri="{FF2B5EF4-FFF2-40B4-BE49-F238E27FC236}">
                  <a16:creationId xmlns:a16="http://schemas.microsoft.com/office/drawing/2014/main" id="{47C7CFE9-F5E9-C595-6C64-7D1F8DE39B15}"/>
                </a:ext>
              </a:extLst>
            </p:cNvPr>
            <p:cNvSpPr/>
            <p:nvPr/>
          </p:nvSpPr>
          <p:spPr>
            <a:xfrm>
              <a:off x="6639560" y="5039360"/>
              <a:ext cx="3337560" cy="877824"/>
            </a:xfrm>
            <a:prstGeom prst="roundRect">
              <a:avLst>
                <a:gd name="adj" fmla="val 7292"/>
              </a:avLst>
            </a:prstGeom>
            <a:solidFill>
              <a:srgbClr val="FFFFFF"/>
            </a:solidFill>
            <a:ln w="6350">
              <a:solidFill>
                <a:srgbClr val="DDE4EF"/>
              </a:solidFill>
              <a:prstDash val="solid"/>
            </a:ln>
            <a:effectLst>
              <a:outerShdw blurRad="101600" dist="25400" dir="2700000" algn="bl" rotWithShape="0">
                <a:srgbClr val="000000">
                  <a:alpha val="18000"/>
                </a:srgbClr>
              </a:outerShdw>
            </a:effectLst>
          </p:spPr>
          <p:txBody>
            <a:bodyPr/>
            <a:lstStyle/>
            <a:p>
              <a:endParaRPr lang="en-ID" sz="2000">
                <a:latin typeface="Telegraf"/>
              </a:endParaRPr>
            </a:p>
          </p:txBody>
        </p:sp>
        <p:sp>
          <p:nvSpPr>
            <p:cNvPr id="20" name="Shape 13">
              <a:extLst>
                <a:ext uri="{FF2B5EF4-FFF2-40B4-BE49-F238E27FC236}">
                  <a16:creationId xmlns:a16="http://schemas.microsoft.com/office/drawing/2014/main" id="{6DCC89F6-366A-13BB-0703-CD9891DD7A46}"/>
                </a:ext>
              </a:extLst>
            </p:cNvPr>
            <p:cNvSpPr/>
            <p:nvPr/>
          </p:nvSpPr>
          <p:spPr>
            <a:xfrm>
              <a:off x="6685280" y="5075936"/>
              <a:ext cx="201168" cy="201168"/>
            </a:xfrm>
            <a:prstGeom prst="ellipse">
              <a:avLst/>
            </a:prstGeom>
            <a:solidFill>
              <a:srgbClr val="1E5FAD"/>
            </a:solidFill>
            <a:ln w="12700">
              <a:solidFill>
                <a:srgbClr val="1E5FAD"/>
              </a:solidFill>
              <a:prstDash val="solid"/>
            </a:ln>
          </p:spPr>
          <p:txBody>
            <a:bodyPr/>
            <a:lstStyle/>
            <a:p>
              <a:endParaRPr lang="en-ID" sz="2000">
                <a:latin typeface="Telegraf"/>
              </a:endParaRPr>
            </a:p>
          </p:txBody>
        </p:sp>
        <p:sp>
          <p:nvSpPr>
            <p:cNvPr id="21" name="Text 14">
              <a:extLst>
                <a:ext uri="{FF2B5EF4-FFF2-40B4-BE49-F238E27FC236}">
                  <a16:creationId xmlns:a16="http://schemas.microsoft.com/office/drawing/2014/main" id="{9ABB62FE-EE51-7D3E-5090-A6B870835BBB}"/>
                </a:ext>
              </a:extLst>
            </p:cNvPr>
            <p:cNvSpPr/>
            <p:nvPr/>
          </p:nvSpPr>
          <p:spPr>
            <a:xfrm>
              <a:off x="6932168" y="5039360"/>
              <a:ext cx="2999232" cy="877824"/>
            </a:xfrm>
            <a:prstGeom prst="rect">
              <a:avLst/>
            </a:prstGeom>
            <a:noFill/>
            <a:ln/>
          </p:spPr>
          <p:txBody>
            <a:bodyPr wrap="square" rtlCol="0" anchor="ctr"/>
            <a:lstStyle/>
            <a:p>
              <a:pPr marL="0" indent="0" algn="just">
                <a:buNone/>
              </a:pPr>
              <a:r>
                <a:rPr lang="en-US" sz="1400" dirty="0">
                  <a:solidFill>
                    <a:srgbClr val="1A2A4A"/>
                  </a:solidFill>
                  <a:latin typeface="Telegraf"/>
                </a:rPr>
                <a:t>Bump Plug Pressure:</a:t>
              </a:r>
              <a:endParaRPr lang="en-US" sz="1400" dirty="0">
                <a:latin typeface="Telegraf"/>
              </a:endParaRPr>
            </a:p>
            <a:p>
              <a:pPr marL="0" indent="0" algn="just">
                <a:buNone/>
              </a:pPr>
              <a:r>
                <a:rPr lang="en-US" sz="1400" dirty="0">
                  <a:solidFill>
                    <a:srgbClr val="1A2A4A"/>
                  </a:solidFill>
                  <a:latin typeface="Telegraf"/>
                </a:rPr>
                <a:t>All wells confirmed float valve hold after bumping plug at 890 – 1800 PSI. Consistent float equipment reliability across all 6 wells.</a:t>
              </a:r>
              <a:endParaRPr lang="en-US" sz="1400" dirty="0">
                <a:latin typeface="Telegraf"/>
              </a:endParaRPr>
            </a:p>
          </p:txBody>
        </p:sp>
      </p:grpSp>
    </p:spTree>
    <p:extLst>
      <p:ext uri="{BB962C8B-B14F-4D97-AF65-F5344CB8AC3E}">
        <p14:creationId xmlns:p14="http://schemas.microsoft.com/office/powerpoint/2010/main" val="3657053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E2476-059A-A9F4-8F81-B7204BFA41F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A0711474-E7DF-DB7C-8049-55000F7E31E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DRILLING PERFORMANCE COMPARATION</a:t>
            </a:r>
          </a:p>
        </p:txBody>
      </p:sp>
      <p:pic>
        <p:nvPicPr>
          <p:cNvPr id="35" name="Picture 34">
            <a:extLst>
              <a:ext uri="{FF2B5EF4-FFF2-40B4-BE49-F238E27FC236}">
                <a16:creationId xmlns:a16="http://schemas.microsoft.com/office/drawing/2014/main" id="{D8CC51BD-2DB5-4029-452D-FB0217B3E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1F1AA631-6541-CB31-F223-F7515B64C739}"/>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27A093AB-1569-5E55-4394-8C3E718A22BC}"/>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96109A05-5C64-93CB-4F9C-077E663EB0E8}"/>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20</a:t>
            </a:r>
            <a:endParaRPr lang="en-ID" dirty="0">
              <a:solidFill>
                <a:schemeClr val="bg1"/>
              </a:solidFill>
              <a:latin typeface="Telegraf Bold" panose="020B0604020202020204" charset="0"/>
            </a:endParaRPr>
          </a:p>
        </p:txBody>
      </p:sp>
      <p:sp>
        <p:nvSpPr>
          <p:cNvPr id="33" name="Text 3">
            <a:extLst>
              <a:ext uri="{FF2B5EF4-FFF2-40B4-BE49-F238E27FC236}">
                <a16:creationId xmlns:a16="http://schemas.microsoft.com/office/drawing/2014/main" id="{A0B0DCE1-4071-C6EA-00B6-4594C3F67884}"/>
              </a:ext>
            </a:extLst>
          </p:cNvPr>
          <p:cNvSpPr/>
          <p:nvPr/>
        </p:nvSpPr>
        <p:spPr>
          <a:xfrm>
            <a:off x="7555141" y="2137812"/>
            <a:ext cx="3063240" cy="36576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KEY ROP INSIGHTS</a:t>
            </a:r>
            <a:endParaRPr lang="en-US" sz="1400" dirty="0">
              <a:latin typeface="Telegraf" panose="020B0604020202020204"/>
            </a:endParaRPr>
          </a:p>
        </p:txBody>
      </p:sp>
      <p:grpSp>
        <p:nvGrpSpPr>
          <p:cNvPr id="34" name="Group 33">
            <a:extLst>
              <a:ext uri="{FF2B5EF4-FFF2-40B4-BE49-F238E27FC236}">
                <a16:creationId xmlns:a16="http://schemas.microsoft.com/office/drawing/2014/main" id="{B2C2B115-9B48-A1B4-6BB2-93103ACC111E}"/>
              </a:ext>
            </a:extLst>
          </p:cNvPr>
          <p:cNvGrpSpPr/>
          <p:nvPr/>
        </p:nvGrpSpPr>
        <p:grpSpPr>
          <a:xfrm>
            <a:off x="7603067" y="2468243"/>
            <a:ext cx="4320000" cy="720000"/>
            <a:chOff x="7603067" y="2302933"/>
            <a:chExt cx="3063240" cy="731520"/>
          </a:xfrm>
        </p:grpSpPr>
        <p:sp>
          <p:nvSpPr>
            <p:cNvPr id="36" name="Shape 4">
              <a:extLst>
                <a:ext uri="{FF2B5EF4-FFF2-40B4-BE49-F238E27FC236}">
                  <a16:creationId xmlns:a16="http://schemas.microsoft.com/office/drawing/2014/main" id="{6E8ED8EA-EA8F-AAEF-D47F-EF345A1C50C9}"/>
                </a:ext>
              </a:extLst>
            </p:cNvPr>
            <p:cNvSpPr/>
            <p:nvPr/>
          </p:nvSpPr>
          <p:spPr>
            <a:xfrm>
              <a:off x="7603067" y="2302933"/>
              <a:ext cx="3063240" cy="0"/>
            </a:xfrm>
            <a:prstGeom prst="line">
              <a:avLst/>
            </a:prstGeom>
            <a:noFill/>
            <a:ln w="19050">
              <a:solidFill>
                <a:srgbClr val="E87722"/>
              </a:solidFill>
              <a:prstDash val="solid"/>
            </a:ln>
          </p:spPr>
          <p:txBody>
            <a:bodyPr/>
            <a:lstStyle/>
            <a:p>
              <a:endParaRPr lang="en-ID" sz="1400">
                <a:latin typeface="Telegraf" panose="020B0604020202020204"/>
              </a:endParaRPr>
            </a:p>
          </p:txBody>
        </p:sp>
        <p:sp>
          <p:nvSpPr>
            <p:cNvPr id="38" name="Shape 5">
              <a:extLst>
                <a:ext uri="{FF2B5EF4-FFF2-40B4-BE49-F238E27FC236}">
                  <a16:creationId xmlns:a16="http://schemas.microsoft.com/office/drawing/2014/main" id="{6F7C88EC-B9A1-FB80-13B9-7E87358DD090}"/>
                </a:ext>
              </a:extLst>
            </p:cNvPr>
            <p:cNvSpPr/>
            <p:nvPr/>
          </p:nvSpPr>
          <p:spPr>
            <a:xfrm>
              <a:off x="7603067" y="2376085"/>
              <a:ext cx="3063240" cy="658368"/>
            </a:xfrm>
            <a:prstGeom prst="roundRect">
              <a:avLst>
                <a:gd name="adj" fmla="val 6944"/>
              </a:avLst>
            </a:prstGeom>
            <a:solidFill>
              <a:srgbClr val="EEF3FC"/>
            </a:solidFill>
            <a:ln w="6350">
              <a:solidFill>
                <a:srgbClr val="DDE4EF"/>
              </a:solidFill>
              <a:prstDash val="solid"/>
            </a:ln>
          </p:spPr>
          <p:txBody>
            <a:bodyPr/>
            <a:lstStyle/>
            <a:p>
              <a:endParaRPr lang="en-ID" sz="1400">
                <a:latin typeface="Telegraf" panose="020B0604020202020204"/>
              </a:endParaRPr>
            </a:p>
          </p:txBody>
        </p:sp>
        <p:sp>
          <p:nvSpPr>
            <p:cNvPr id="39" name="Text 6">
              <a:extLst>
                <a:ext uri="{FF2B5EF4-FFF2-40B4-BE49-F238E27FC236}">
                  <a16:creationId xmlns:a16="http://schemas.microsoft.com/office/drawing/2014/main" id="{F1A683CD-44BE-66CA-7B09-6622ED40A05B}"/>
                </a:ext>
              </a:extLst>
            </p:cNvPr>
            <p:cNvSpPr/>
            <p:nvPr/>
          </p:nvSpPr>
          <p:spPr>
            <a:xfrm>
              <a:off x="7694507" y="2394373"/>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Surface Section Average:</a:t>
              </a:r>
              <a:endParaRPr lang="en-US" sz="1400" dirty="0">
                <a:latin typeface="Telegraf" panose="020B0604020202020204"/>
              </a:endParaRPr>
            </a:p>
          </p:txBody>
        </p:sp>
        <p:sp>
          <p:nvSpPr>
            <p:cNvPr id="40" name="Text 7">
              <a:extLst>
                <a:ext uri="{FF2B5EF4-FFF2-40B4-BE49-F238E27FC236}">
                  <a16:creationId xmlns:a16="http://schemas.microsoft.com/office/drawing/2014/main" id="{FDB586D3-E957-6265-A674-738CA26B4972}"/>
                </a:ext>
              </a:extLst>
            </p:cNvPr>
            <p:cNvSpPr/>
            <p:nvPr/>
          </p:nvSpPr>
          <p:spPr>
            <a:xfrm>
              <a:off x="7694507" y="2595541"/>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~49 fph</a:t>
              </a:r>
              <a:endParaRPr lang="en-US" sz="1400" dirty="0">
                <a:latin typeface="Telegraf" panose="020B0604020202020204"/>
              </a:endParaRPr>
            </a:p>
          </p:txBody>
        </p:sp>
        <p:sp>
          <p:nvSpPr>
            <p:cNvPr id="41" name="Text 8">
              <a:extLst>
                <a:ext uri="{FF2B5EF4-FFF2-40B4-BE49-F238E27FC236}">
                  <a16:creationId xmlns:a16="http://schemas.microsoft.com/office/drawing/2014/main" id="{25C4C944-CFB9-2A81-9FB4-8345679CCE41}"/>
                </a:ext>
              </a:extLst>
            </p:cNvPr>
            <p:cNvSpPr/>
            <p:nvPr/>
          </p:nvSpPr>
          <p:spPr>
            <a:xfrm>
              <a:off x="7694507" y="2741845"/>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Consistent drilling performance.</a:t>
              </a:r>
              <a:endParaRPr lang="en-US" sz="1400" dirty="0">
                <a:latin typeface="Telegraf" panose="020B0604020202020204"/>
              </a:endParaRPr>
            </a:p>
          </p:txBody>
        </p:sp>
      </p:grpSp>
      <p:grpSp>
        <p:nvGrpSpPr>
          <p:cNvPr id="42" name="Group 41">
            <a:extLst>
              <a:ext uri="{FF2B5EF4-FFF2-40B4-BE49-F238E27FC236}">
                <a16:creationId xmlns:a16="http://schemas.microsoft.com/office/drawing/2014/main" id="{91C525D9-E0A1-4685-F33B-4DF6E0715EE2}"/>
              </a:ext>
            </a:extLst>
          </p:cNvPr>
          <p:cNvGrpSpPr/>
          <p:nvPr/>
        </p:nvGrpSpPr>
        <p:grpSpPr>
          <a:xfrm>
            <a:off x="7603067" y="3205820"/>
            <a:ext cx="4320000" cy="720000"/>
            <a:chOff x="7603067" y="3071029"/>
            <a:chExt cx="3063240" cy="658368"/>
          </a:xfrm>
        </p:grpSpPr>
        <p:sp>
          <p:nvSpPr>
            <p:cNvPr id="43" name="Shape 9">
              <a:extLst>
                <a:ext uri="{FF2B5EF4-FFF2-40B4-BE49-F238E27FC236}">
                  <a16:creationId xmlns:a16="http://schemas.microsoft.com/office/drawing/2014/main" id="{0DC8902E-5A71-25F2-69BC-601744010477}"/>
                </a:ext>
              </a:extLst>
            </p:cNvPr>
            <p:cNvSpPr/>
            <p:nvPr/>
          </p:nvSpPr>
          <p:spPr>
            <a:xfrm>
              <a:off x="7603067" y="3071029"/>
              <a:ext cx="3063240" cy="658368"/>
            </a:xfrm>
            <a:prstGeom prst="roundRect">
              <a:avLst>
                <a:gd name="adj" fmla="val 6944"/>
              </a:avLst>
            </a:prstGeom>
            <a:solidFill>
              <a:srgbClr val="FFFFFF"/>
            </a:solidFill>
            <a:ln w="6350">
              <a:solidFill>
                <a:srgbClr val="DDE4EF"/>
              </a:solidFill>
              <a:prstDash val="solid"/>
            </a:ln>
          </p:spPr>
          <p:txBody>
            <a:bodyPr/>
            <a:lstStyle/>
            <a:p>
              <a:endParaRPr lang="en-ID" sz="1400">
                <a:latin typeface="Telegraf" panose="020B0604020202020204"/>
              </a:endParaRPr>
            </a:p>
          </p:txBody>
        </p:sp>
        <p:sp>
          <p:nvSpPr>
            <p:cNvPr id="44" name="Text 10">
              <a:extLst>
                <a:ext uri="{FF2B5EF4-FFF2-40B4-BE49-F238E27FC236}">
                  <a16:creationId xmlns:a16="http://schemas.microsoft.com/office/drawing/2014/main" id="{69064813-3331-1974-7112-E12F85418925}"/>
                </a:ext>
              </a:extLst>
            </p:cNvPr>
            <p:cNvSpPr/>
            <p:nvPr/>
          </p:nvSpPr>
          <p:spPr>
            <a:xfrm>
              <a:off x="7694507" y="3089317"/>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Production Section Average:</a:t>
              </a:r>
              <a:endParaRPr lang="en-US" sz="1400" dirty="0">
                <a:latin typeface="Telegraf" panose="020B0604020202020204"/>
              </a:endParaRPr>
            </a:p>
          </p:txBody>
        </p:sp>
        <p:sp>
          <p:nvSpPr>
            <p:cNvPr id="45" name="Text 11">
              <a:extLst>
                <a:ext uri="{FF2B5EF4-FFF2-40B4-BE49-F238E27FC236}">
                  <a16:creationId xmlns:a16="http://schemas.microsoft.com/office/drawing/2014/main" id="{806A5523-DC2A-AC23-2AB5-69B3F8D2AC7A}"/>
                </a:ext>
              </a:extLst>
            </p:cNvPr>
            <p:cNvSpPr/>
            <p:nvPr/>
          </p:nvSpPr>
          <p:spPr>
            <a:xfrm>
              <a:off x="7694507" y="3290485"/>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~43 fph</a:t>
              </a:r>
              <a:endParaRPr lang="en-US" sz="1400" dirty="0">
                <a:latin typeface="Telegraf" panose="020B0604020202020204"/>
              </a:endParaRPr>
            </a:p>
          </p:txBody>
        </p:sp>
        <p:sp>
          <p:nvSpPr>
            <p:cNvPr id="46" name="Text 12">
              <a:extLst>
                <a:ext uri="{FF2B5EF4-FFF2-40B4-BE49-F238E27FC236}">
                  <a16:creationId xmlns:a16="http://schemas.microsoft.com/office/drawing/2014/main" id="{FF72B8E9-8910-6E80-CE2E-F233ED59DA3D}"/>
                </a:ext>
              </a:extLst>
            </p:cNvPr>
            <p:cNvSpPr/>
            <p:nvPr/>
          </p:nvSpPr>
          <p:spPr>
            <a:xfrm>
              <a:off x="7694507" y="3436789"/>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Lower ROP due to drilling conditions.</a:t>
              </a:r>
              <a:endParaRPr lang="en-US" sz="1400" dirty="0">
                <a:latin typeface="Telegraf" panose="020B0604020202020204"/>
              </a:endParaRPr>
            </a:p>
          </p:txBody>
        </p:sp>
      </p:grpSp>
      <p:grpSp>
        <p:nvGrpSpPr>
          <p:cNvPr id="47" name="Group 46">
            <a:extLst>
              <a:ext uri="{FF2B5EF4-FFF2-40B4-BE49-F238E27FC236}">
                <a16:creationId xmlns:a16="http://schemas.microsoft.com/office/drawing/2014/main" id="{2C01C0C1-A698-8429-4E58-A66B49FBE066}"/>
              </a:ext>
            </a:extLst>
          </p:cNvPr>
          <p:cNvGrpSpPr/>
          <p:nvPr/>
        </p:nvGrpSpPr>
        <p:grpSpPr>
          <a:xfrm>
            <a:off x="7603067" y="3943397"/>
            <a:ext cx="4320000" cy="720000"/>
            <a:chOff x="7603067" y="3765973"/>
            <a:chExt cx="3063240" cy="658368"/>
          </a:xfrm>
        </p:grpSpPr>
        <p:sp>
          <p:nvSpPr>
            <p:cNvPr id="48" name="Shape 13">
              <a:extLst>
                <a:ext uri="{FF2B5EF4-FFF2-40B4-BE49-F238E27FC236}">
                  <a16:creationId xmlns:a16="http://schemas.microsoft.com/office/drawing/2014/main" id="{C80E133E-81CF-FD2D-68C3-1733EAE7EE5A}"/>
                </a:ext>
              </a:extLst>
            </p:cNvPr>
            <p:cNvSpPr/>
            <p:nvPr/>
          </p:nvSpPr>
          <p:spPr>
            <a:xfrm>
              <a:off x="7603067" y="3765973"/>
              <a:ext cx="3063240" cy="658368"/>
            </a:xfrm>
            <a:prstGeom prst="roundRect">
              <a:avLst>
                <a:gd name="adj" fmla="val 6944"/>
              </a:avLst>
            </a:prstGeom>
            <a:solidFill>
              <a:srgbClr val="EEF3FC"/>
            </a:solidFill>
            <a:ln w="6350">
              <a:solidFill>
                <a:srgbClr val="DDE4EF"/>
              </a:solidFill>
              <a:prstDash val="solid"/>
            </a:ln>
          </p:spPr>
          <p:txBody>
            <a:bodyPr/>
            <a:lstStyle/>
            <a:p>
              <a:endParaRPr lang="en-ID" sz="1400">
                <a:latin typeface="Telegraf" panose="020B0604020202020204"/>
              </a:endParaRPr>
            </a:p>
          </p:txBody>
        </p:sp>
        <p:sp>
          <p:nvSpPr>
            <p:cNvPr id="49" name="Text 14">
              <a:extLst>
                <a:ext uri="{FF2B5EF4-FFF2-40B4-BE49-F238E27FC236}">
                  <a16:creationId xmlns:a16="http://schemas.microsoft.com/office/drawing/2014/main" id="{0066F260-186F-2555-A2B2-46DA450F4968}"/>
                </a:ext>
              </a:extLst>
            </p:cNvPr>
            <p:cNvSpPr/>
            <p:nvPr/>
          </p:nvSpPr>
          <p:spPr>
            <a:xfrm>
              <a:off x="7694507" y="3784261"/>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Best Performer:</a:t>
              </a:r>
              <a:endParaRPr lang="en-US" sz="1400" dirty="0">
                <a:latin typeface="Telegraf" panose="020B0604020202020204"/>
              </a:endParaRPr>
            </a:p>
          </p:txBody>
        </p:sp>
        <p:sp>
          <p:nvSpPr>
            <p:cNvPr id="50" name="Text 15">
              <a:extLst>
                <a:ext uri="{FF2B5EF4-FFF2-40B4-BE49-F238E27FC236}">
                  <a16:creationId xmlns:a16="http://schemas.microsoft.com/office/drawing/2014/main" id="{339A9F20-3C37-BED9-6A89-6D41058548DB}"/>
                </a:ext>
              </a:extLst>
            </p:cNvPr>
            <p:cNvSpPr/>
            <p:nvPr/>
          </p:nvSpPr>
          <p:spPr>
            <a:xfrm>
              <a:off x="7694507" y="3985429"/>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Alpha 006 (47 fph)</a:t>
              </a:r>
              <a:endParaRPr lang="en-US" sz="1400" dirty="0">
                <a:latin typeface="Telegraf" panose="020B0604020202020204"/>
              </a:endParaRPr>
            </a:p>
          </p:txBody>
        </p:sp>
        <p:sp>
          <p:nvSpPr>
            <p:cNvPr id="51" name="Text 16">
              <a:extLst>
                <a:ext uri="{FF2B5EF4-FFF2-40B4-BE49-F238E27FC236}">
                  <a16:creationId xmlns:a16="http://schemas.microsoft.com/office/drawing/2014/main" id="{DDE67465-321E-BEF6-0813-4A2A06371B59}"/>
                </a:ext>
              </a:extLst>
            </p:cNvPr>
            <p:cNvSpPr/>
            <p:nvPr/>
          </p:nvSpPr>
          <p:spPr>
            <a:xfrm>
              <a:off x="7694507" y="4131733"/>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Highest production ROP.</a:t>
              </a:r>
              <a:endParaRPr lang="en-US" sz="1400" dirty="0">
                <a:latin typeface="Telegraf" panose="020B0604020202020204"/>
              </a:endParaRPr>
            </a:p>
          </p:txBody>
        </p:sp>
      </p:grpSp>
      <p:grpSp>
        <p:nvGrpSpPr>
          <p:cNvPr id="52" name="Group 51">
            <a:extLst>
              <a:ext uri="{FF2B5EF4-FFF2-40B4-BE49-F238E27FC236}">
                <a16:creationId xmlns:a16="http://schemas.microsoft.com/office/drawing/2014/main" id="{2AA97A31-EC75-EE08-E843-7A5954923C93}"/>
              </a:ext>
            </a:extLst>
          </p:cNvPr>
          <p:cNvGrpSpPr/>
          <p:nvPr/>
        </p:nvGrpSpPr>
        <p:grpSpPr>
          <a:xfrm>
            <a:off x="7603067" y="4680974"/>
            <a:ext cx="4320000" cy="720000"/>
            <a:chOff x="7603067" y="4460917"/>
            <a:chExt cx="3063240" cy="658368"/>
          </a:xfrm>
        </p:grpSpPr>
        <p:sp>
          <p:nvSpPr>
            <p:cNvPr id="53" name="Shape 17">
              <a:extLst>
                <a:ext uri="{FF2B5EF4-FFF2-40B4-BE49-F238E27FC236}">
                  <a16:creationId xmlns:a16="http://schemas.microsoft.com/office/drawing/2014/main" id="{E83C736F-2369-0901-A43F-6F7E2DF53D79}"/>
                </a:ext>
              </a:extLst>
            </p:cNvPr>
            <p:cNvSpPr/>
            <p:nvPr/>
          </p:nvSpPr>
          <p:spPr>
            <a:xfrm>
              <a:off x="7603067" y="4460917"/>
              <a:ext cx="3063240" cy="658368"/>
            </a:xfrm>
            <a:prstGeom prst="roundRect">
              <a:avLst>
                <a:gd name="adj" fmla="val 6944"/>
              </a:avLst>
            </a:prstGeom>
            <a:solidFill>
              <a:srgbClr val="FFFFFF"/>
            </a:solidFill>
            <a:ln w="6350">
              <a:solidFill>
                <a:srgbClr val="DDE4EF"/>
              </a:solidFill>
              <a:prstDash val="solid"/>
            </a:ln>
          </p:spPr>
          <p:txBody>
            <a:bodyPr/>
            <a:lstStyle/>
            <a:p>
              <a:endParaRPr lang="en-ID" sz="1400">
                <a:latin typeface="Telegraf" panose="020B0604020202020204"/>
              </a:endParaRPr>
            </a:p>
          </p:txBody>
        </p:sp>
        <p:sp>
          <p:nvSpPr>
            <p:cNvPr id="54" name="Text 18">
              <a:extLst>
                <a:ext uri="{FF2B5EF4-FFF2-40B4-BE49-F238E27FC236}">
                  <a16:creationId xmlns:a16="http://schemas.microsoft.com/office/drawing/2014/main" id="{EE4DEC71-1140-11A9-6173-48698A688427}"/>
                </a:ext>
              </a:extLst>
            </p:cNvPr>
            <p:cNvSpPr/>
            <p:nvPr/>
          </p:nvSpPr>
          <p:spPr>
            <a:xfrm>
              <a:off x="7694507" y="4479205"/>
              <a:ext cx="2926080" cy="228600"/>
            </a:xfrm>
            <a:prstGeom prst="rect">
              <a:avLst/>
            </a:prstGeom>
            <a:noFill/>
            <a:ln/>
          </p:spPr>
          <p:txBody>
            <a:bodyPr wrap="square" rtlCol="0" anchor="ctr"/>
            <a:lstStyle/>
            <a:p>
              <a:pPr marL="0" indent="0">
                <a:buNone/>
              </a:pPr>
              <a:r>
                <a:rPr lang="en-US" sz="1400" b="1" dirty="0">
                  <a:solidFill>
                    <a:srgbClr val="1A2F5A"/>
                  </a:solidFill>
                  <a:latin typeface="Telegraf" panose="020B0604020202020204"/>
                </a:rPr>
                <a:t>Slowest Performer:</a:t>
              </a:r>
              <a:endParaRPr lang="en-US" sz="1400" dirty="0">
                <a:latin typeface="Telegraf" panose="020B0604020202020204"/>
              </a:endParaRPr>
            </a:p>
          </p:txBody>
        </p:sp>
        <p:sp>
          <p:nvSpPr>
            <p:cNvPr id="55" name="Text 19">
              <a:extLst>
                <a:ext uri="{FF2B5EF4-FFF2-40B4-BE49-F238E27FC236}">
                  <a16:creationId xmlns:a16="http://schemas.microsoft.com/office/drawing/2014/main" id="{B4D03083-397E-2172-0D52-7DC7F78E8AAF}"/>
                </a:ext>
              </a:extLst>
            </p:cNvPr>
            <p:cNvSpPr/>
            <p:nvPr/>
          </p:nvSpPr>
          <p:spPr>
            <a:xfrm>
              <a:off x="7694507" y="4680373"/>
              <a:ext cx="2926080" cy="1828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Alpha 001 (39 fph)</a:t>
              </a:r>
              <a:endParaRPr lang="en-US" sz="1400" dirty="0">
                <a:latin typeface="Telegraf" panose="020B0604020202020204"/>
              </a:endParaRPr>
            </a:p>
          </p:txBody>
        </p:sp>
        <p:sp>
          <p:nvSpPr>
            <p:cNvPr id="56" name="Text 20">
              <a:extLst>
                <a:ext uri="{FF2B5EF4-FFF2-40B4-BE49-F238E27FC236}">
                  <a16:creationId xmlns:a16="http://schemas.microsoft.com/office/drawing/2014/main" id="{FB3EF2B7-6D6C-78AF-84E4-3B80E7CCDC02}"/>
                </a:ext>
              </a:extLst>
            </p:cNvPr>
            <p:cNvSpPr/>
            <p:nvPr/>
          </p:nvSpPr>
          <p:spPr>
            <a:xfrm>
              <a:off x="7694507" y="4826677"/>
              <a:ext cx="2926080" cy="201168"/>
            </a:xfrm>
            <a:prstGeom prst="rect">
              <a:avLst/>
            </a:prstGeom>
            <a:noFill/>
            <a:ln/>
          </p:spPr>
          <p:txBody>
            <a:bodyPr wrap="square" rtlCol="0" anchor="ctr"/>
            <a:lstStyle/>
            <a:p>
              <a:pPr marL="0" indent="0">
                <a:buNone/>
              </a:pPr>
              <a:r>
                <a:rPr lang="en-US" sz="1400" i="1" dirty="0">
                  <a:solidFill>
                    <a:srgbClr val="8090AC"/>
                  </a:solidFill>
                  <a:latin typeface="Telegraf" panose="020B0604020202020204"/>
                </a:rPr>
                <a:t>Lowest production ROP.</a:t>
              </a:r>
              <a:endParaRPr lang="en-US" sz="1400" dirty="0">
                <a:latin typeface="Telegraf" panose="020B0604020202020204"/>
              </a:endParaRPr>
            </a:p>
          </p:txBody>
        </p:sp>
      </p:grpSp>
      <p:graphicFrame>
        <p:nvGraphicFramePr>
          <p:cNvPr id="57" name="Chart 56">
            <a:extLst>
              <a:ext uri="{FF2B5EF4-FFF2-40B4-BE49-F238E27FC236}">
                <a16:creationId xmlns:a16="http://schemas.microsoft.com/office/drawing/2014/main" id="{D76CD7DF-ECF3-0909-FD4D-302476564CE8}"/>
              </a:ext>
            </a:extLst>
          </p:cNvPr>
          <p:cNvGraphicFramePr>
            <a:graphicFrameLocks/>
          </p:cNvGraphicFramePr>
          <p:nvPr>
            <p:extLst>
              <p:ext uri="{D42A27DB-BD31-4B8C-83A1-F6EECF244321}">
                <p14:modId xmlns:p14="http://schemas.microsoft.com/office/powerpoint/2010/main" val="1880961954"/>
              </p:ext>
            </p:extLst>
          </p:nvPr>
        </p:nvGraphicFramePr>
        <p:xfrm>
          <a:off x="333411" y="1408586"/>
          <a:ext cx="6924639" cy="503446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733566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F9EED-F56E-198C-10AC-1DC2A750F22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13FADDA-6AB0-C7A5-9B03-89EAABFEE74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MUD PROGRAM &amp; CASING CHALLENGES</a:t>
            </a:r>
          </a:p>
        </p:txBody>
      </p:sp>
      <p:pic>
        <p:nvPicPr>
          <p:cNvPr id="35" name="Picture 34">
            <a:extLst>
              <a:ext uri="{FF2B5EF4-FFF2-40B4-BE49-F238E27FC236}">
                <a16:creationId xmlns:a16="http://schemas.microsoft.com/office/drawing/2014/main" id="{3F496307-ED76-899C-202D-DD8D2FB750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16EAF26-03A2-76D0-6080-29C2AD294B7A}"/>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EF194B01-3AE6-305D-E44C-53E387C13683}"/>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859CE991-58DA-0601-53A1-9E4E8DA39A9F}"/>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21</a:t>
            </a:r>
            <a:endParaRPr lang="en-ID" dirty="0">
              <a:solidFill>
                <a:schemeClr val="bg1"/>
              </a:solidFill>
              <a:latin typeface="Telegraf Bold" panose="020B0604020202020204" charset="0"/>
            </a:endParaRPr>
          </a:p>
        </p:txBody>
      </p:sp>
      <p:graphicFrame>
        <p:nvGraphicFramePr>
          <p:cNvPr id="4" name="Chart 0">
            <a:extLst>
              <a:ext uri="{FF2B5EF4-FFF2-40B4-BE49-F238E27FC236}">
                <a16:creationId xmlns:a16="http://schemas.microsoft.com/office/drawing/2014/main" id="{411740A2-E08B-6B96-211A-46FECE6A3301}"/>
              </a:ext>
            </a:extLst>
          </p:cNvPr>
          <p:cNvGraphicFramePr/>
          <p:nvPr>
            <p:extLst>
              <p:ext uri="{D42A27DB-BD31-4B8C-83A1-F6EECF244321}">
                <p14:modId xmlns:p14="http://schemas.microsoft.com/office/powerpoint/2010/main" val="3096613083"/>
              </p:ext>
            </p:extLst>
          </p:nvPr>
        </p:nvGraphicFramePr>
        <p:xfrm>
          <a:off x="68826" y="1189703"/>
          <a:ext cx="6386160" cy="5351938"/>
        </p:xfrm>
        <a:graphic>
          <a:graphicData uri="http://schemas.openxmlformats.org/drawingml/2006/chart">
            <c:chart xmlns:c="http://schemas.openxmlformats.org/drawingml/2006/chart" xmlns:r="http://schemas.openxmlformats.org/officeDocument/2006/relationships" r:id="rId6"/>
          </a:graphicData>
        </a:graphic>
      </p:graphicFrame>
      <p:sp>
        <p:nvSpPr>
          <p:cNvPr id="6" name="Shape 3">
            <a:extLst>
              <a:ext uri="{FF2B5EF4-FFF2-40B4-BE49-F238E27FC236}">
                <a16:creationId xmlns:a16="http://schemas.microsoft.com/office/drawing/2014/main" id="{856D08C3-7962-94FA-6A15-7415BABB6F58}"/>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sp>
        <p:nvSpPr>
          <p:cNvPr id="8" name="Shape 4">
            <a:extLst>
              <a:ext uri="{FF2B5EF4-FFF2-40B4-BE49-F238E27FC236}">
                <a16:creationId xmlns:a16="http://schemas.microsoft.com/office/drawing/2014/main" id="{5C63F486-8D97-8060-EB20-A8721704AC7F}"/>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sp>
        <p:nvSpPr>
          <p:cNvPr id="12" name="Shape 5">
            <a:extLst>
              <a:ext uri="{FF2B5EF4-FFF2-40B4-BE49-F238E27FC236}">
                <a16:creationId xmlns:a16="http://schemas.microsoft.com/office/drawing/2014/main" id="{A33D8868-9527-E7A2-0FBC-D2CC2809AF86}"/>
              </a:ext>
            </a:extLst>
          </p:cNvPr>
          <p:cNvSpPr/>
          <p:nvPr/>
        </p:nvSpPr>
        <p:spPr>
          <a:xfrm>
            <a:off x="1882986" y="5014299"/>
            <a:ext cx="4572000" cy="274320"/>
          </a:xfrm>
          <a:prstGeom prst="roundRect">
            <a:avLst/>
          </a:prstGeom>
          <a:solidFill>
            <a:srgbClr val="FFFFFF"/>
          </a:solidFill>
          <a:ln w="12700">
            <a:solidFill>
              <a:srgbClr val="FFFFFF"/>
            </a:solidFill>
            <a:prstDash val="solid"/>
          </a:ln>
        </p:spPr>
        <p:txBody>
          <a:bodyPr/>
          <a:lstStyle/>
          <a:p>
            <a:endParaRPr lang="en-ID"/>
          </a:p>
        </p:txBody>
      </p:sp>
      <p:graphicFrame>
        <p:nvGraphicFramePr>
          <p:cNvPr id="14" name="Table 0">
            <a:extLst>
              <a:ext uri="{FF2B5EF4-FFF2-40B4-BE49-F238E27FC236}">
                <a16:creationId xmlns:a16="http://schemas.microsoft.com/office/drawing/2014/main" id="{1F92123A-FE54-7566-83BB-24866A310BD9}"/>
              </a:ext>
            </a:extLst>
          </p:cNvPr>
          <p:cNvGraphicFramePr>
            <a:graphicFrameLocks noGrp="1"/>
          </p:cNvGraphicFramePr>
          <p:nvPr>
            <p:extLst>
              <p:ext uri="{D42A27DB-BD31-4B8C-83A1-F6EECF244321}">
                <p14:modId xmlns:p14="http://schemas.microsoft.com/office/powerpoint/2010/main" val="1985826543"/>
              </p:ext>
            </p:extLst>
          </p:nvPr>
        </p:nvGraphicFramePr>
        <p:xfrm>
          <a:off x="6601977" y="974703"/>
          <a:ext cx="5422873" cy="5285095"/>
        </p:xfrm>
        <a:graphic>
          <a:graphicData uri="http://schemas.openxmlformats.org/drawingml/2006/table">
            <a:tbl>
              <a:tblPr/>
              <a:tblGrid>
                <a:gridCol w="1060997">
                  <a:extLst>
                    <a:ext uri="{9D8B030D-6E8A-4147-A177-3AD203B41FA5}">
                      <a16:colId xmlns:a16="http://schemas.microsoft.com/office/drawing/2014/main" val="20000"/>
                    </a:ext>
                  </a:extLst>
                </a:gridCol>
                <a:gridCol w="1886217">
                  <a:extLst>
                    <a:ext uri="{9D8B030D-6E8A-4147-A177-3AD203B41FA5}">
                      <a16:colId xmlns:a16="http://schemas.microsoft.com/office/drawing/2014/main" val="20001"/>
                    </a:ext>
                  </a:extLst>
                </a:gridCol>
                <a:gridCol w="1591495">
                  <a:extLst>
                    <a:ext uri="{9D8B030D-6E8A-4147-A177-3AD203B41FA5}">
                      <a16:colId xmlns:a16="http://schemas.microsoft.com/office/drawing/2014/main" val="20002"/>
                    </a:ext>
                  </a:extLst>
                </a:gridCol>
                <a:gridCol w="884164">
                  <a:extLst>
                    <a:ext uri="{9D8B030D-6E8A-4147-A177-3AD203B41FA5}">
                      <a16:colId xmlns:a16="http://schemas.microsoft.com/office/drawing/2014/main" val="20003"/>
                    </a:ext>
                  </a:extLst>
                </a:gridCol>
              </a:tblGrid>
              <a:tr h="1057019">
                <a:tc>
                  <a:txBody>
                    <a:bodyPr/>
                    <a:lstStyle/>
                    <a:p>
                      <a:pPr marL="0" indent="0" algn="ctr">
                        <a:buNone/>
                      </a:pPr>
                      <a:r>
                        <a:rPr lang="en-US" sz="1400" b="1" dirty="0">
                          <a:solidFill>
                            <a:srgbClr val="FFFFFF"/>
                          </a:solidFill>
                          <a:latin typeface="Telegraf" panose="020B0604020202020204"/>
                        </a:rPr>
                        <a:t>WELL</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CASING CHALLENGE</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SOLUTION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tc>
                  <a:txBody>
                    <a:bodyPr/>
                    <a:lstStyle/>
                    <a:p>
                      <a:pPr marL="0" indent="0" algn="ctr">
                        <a:buNone/>
                      </a:pPr>
                      <a:r>
                        <a:rPr lang="en-US" sz="1400" b="1" dirty="0">
                          <a:solidFill>
                            <a:srgbClr val="FFFFFF"/>
                          </a:solidFill>
                          <a:latin typeface="Telegraf" panose="020B0604020202020204"/>
                        </a:rPr>
                        <a:t>STATUS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1057019">
                <a:tc>
                  <a:txBody>
                    <a:bodyPr/>
                    <a:lstStyle/>
                    <a:p>
                      <a:pPr marL="0" indent="0" algn="ctr">
                        <a:buNone/>
                      </a:pPr>
                      <a:r>
                        <a:rPr lang="en-US" sz="1400" b="1" dirty="0">
                          <a:solidFill>
                            <a:srgbClr val="1A2F5A"/>
                          </a:solidFill>
                          <a:latin typeface="Telegraf" panose="020B0604020202020204"/>
                        </a:rPr>
                        <a:t>Alpha 003</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Casing stop @ 5332'</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High torque &amp; overpull 50 klbs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Decided casing point @ TD; used casing swage</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1057019">
                <a:tc>
                  <a:txBody>
                    <a:bodyPr/>
                    <a:lstStyle/>
                    <a:p>
                      <a:pPr marL="0" indent="0" algn="ctr">
                        <a:buNone/>
                      </a:pPr>
                      <a:r>
                        <a:rPr lang="en-US" sz="1400" b="1" dirty="0">
                          <a:solidFill>
                            <a:srgbClr val="1A2F5A"/>
                          </a:solidFill>
                          <a:latin typeface="Telegraf" panose="020B0604020202020204"/>
                        </a:rPr>
                        <a:t>Alpha 004</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CSG stop @ 3784' (Int.)</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Tagged at multiple depths during RIH</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Installed casing swage, washed down to 3857'</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7019">
                <a:tc>
                  <a:txBody>
                    <a:bodyPr/>
                    <a:lstStyle/>
                    <a:p>
                      <a:pPr marL="0" indent="0" algn="ctr">
                        <a:buNone/>
                      </a:pPr>
                      <a:r>
                        <a:rPr lang="en-US" sz="1400" b="1" dirty="0">
                          <a:solidFill>
                            <a:srgbClr val="1A2F5A"/>
                          </a:solidFill>
                          <a:latin typeface="Telegraf" panose="020B0604020202020204"/>
                        </a:rPr>
                        <a:t>Alpha 005</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CSG stop @ 5157'</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Casing could not go down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dirty="0">
                          <a:solidFill>
                            <a:srgbClr val="1A2F5A"/>
                          </a:solidFill>
                          <a:latin typeface="Telegraf" panose="020B0604020202020204"/>
                        </a:rPr>
                        <a:t>Set shoe @ 5146' (11 ft short of TD)</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tc>
                  <a:txBody>
                    <a:bodyPr/>
                    <a:lstStyle/>
                    <a:p>
                      <a:pPr marL="0" indent="0" algn="ctr">
                        <a:buNone/>
                      </a:pPr>
                      <a:r>
                        <a:rPr lang="en-US" sz="1400" b="1" dirty="0">
                          <a:solidFill>
                            <a:srgbClr val="E8A722"/>
                          </a:solidFill>
                          <a:latin typeface="Telegraf" panose="020B0604020202020204"/>
                        </a:rPr>
                        <a:t>PARTIAL</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1057019">
                <a:tc>
                  <a:txBody>
                    <a:bodyPr/>
                    <a:lstStyle/>
                    <a:p>
                      <a:pPr marL="0" indent="0" algn="ctr">
                        <a:buNone/>
                      </a:pPr>
                      <a:r>
                        <a:rPr lang="en-US" sz="1400" b="1" dirty="0">
                          <a:solidFill>
                            <a:srgbClr val="1A2F5A"/>
                          </a:solidFill>
                          <a:latin typeface="Telegraf" panose="020B0604020202020204"/>
                        </a:rPr>
                        <a:t>Alpha 002</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Tight hole during wiper trip</a:t>
                      </a:r>
                      <a:endParaRPr lang="en-US" sz="1400" dirty="0">
                        <a:latin typeface="Telegraf" panose="020B0604020202020204"/>
                      </a:endParaRPr>
                    </a:p>
                    <a:p>
                      <a:pPr marL="0" indent="0" algn="ctr">
                        <a:buNone/>
                      </a:pPr>
                      <a:r>
                        <a:rPr lang="en-US" sz="1400" dirty="0">
                          <a:solidFill>
                            <a:srgbClr val="1A2F5A"/>
                          </a:solidFill>
                          <a:latin typeface="Telegraf" panose="020B0604020202020204"/>
                        </a:rPr>
                        <a:t>3996'–4038' washed down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A2F5A"/>
                          </a:solidFill>
                          <a:latin typeface="Telegraf" panose="020B0604020202020204"/>
                        </a:rPr>
                        <a:t>Washed &amp; conditioned before casing run</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A8F3A"/>
                          </a:solidFill>
                          <a:latin typeface="Telegraf" panose="020B0604020202020204"/>
                        </a:rPr>
                        <a:t>SUCCESS</a:t>
                      </a:r>
                      <a:endParaRPr lang="en-US" sz="1400" dirty="0">
                        <a:latin typeface="Telegraf" panose="020B0604020202020204"/>
                      </a:endParaRPr>
                    </a:p>
                  </a:txBody>
                  <a:tcPr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 7">
            <a:extLst>
              <a:ext uri="{FF2B5EF4-FFF2-40B4-BE49-F238E27FC236}">
                <a16:creationId xmlns:a16="http://schemas.microsoft.com/office/drawing/2014/main" id="{751E57FF-3434-FB18-9F34-97744FDA04B8}"/>
              </a:ext>
            </a:extLst>
          </p:cNvPr>
          <p:cNvSpPr/>
          <p:nvPr/>
        </p:nvSpPr>
        <p:spPr>
          <a:xfrm>
            <a:off x="2072203" y="6474797"/>
            <a:ext cx="2379406" cy="316358"/>
          </a:xfrm>
          <a:prstGeom prst="rect">
            <a:avLst/>
          </a:prstGeom>
          <a:noFill/>
          <a:ln/>
        </p:spPr>
        <p:txBody>
          <a:bodyPr wrap="square" rtlCol="0" anchor="ctr"/>
          <a:lstStyle/>
          <a:p>
            <a:pPr marL="0" indent="0">
              <a:buNone/>
            </a:pPr>
            <a:r>
              <a:rPr lang="en-US" sz="800" b="1" dirty="0">
                <a:solidFill>
                  <a:srgbClr val="1A2F5A"/>
                </a:solidFill>
                <a:latin typeface="Telegraf" panose="020B0604020202020204"/>
              </a:rPr>
              <a:t>CASING RUNNING CHALLENGES &amp; SOLUTIONS</a:t>
            </a:r>
            <a:endParaRPr lang="en-US" sz="800" dirty="0">
              <a:latin typeface="Telegraf" panose="020B0604020202020204"/>
            </a:endParaRPr>
          </a:p>
        </p:txBody>
      </p:sp>
    </p:spTree>
    <p:extLst>
      <p:ext uri="{BB962C8B-B14F-4D97-AF65-F5344CB8AC3E}">
        <p14:creationId xmlns:p14="http://schemas.microsoft.com/office/powerpoint/2010/main" val="3236476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6C8C-5FD1-566D-FDB1-6557E5FB590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E6A41489-7308-A164-1536-EF82363B21E2}"/>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LESSON LEARNED</a:t>
            </a:r>
          </a:p>
        </p:txBody>
      </p:sp>
      <p:pic>
        <p:nvPicPr>
          <p:cNvPr id="35" name="Picture 34">
            <a:extLst>
              <a:ext uri="{FF2B5EF4-FFF2-40B4-BE49-F238E27FC236}">
                <a16:creationId xmlns:a16="http://schemas.microsoft.com/office/drawing/2014/main" id="{BD161EF4-018A-1860-3480-33F4F6554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A50E70A-ADC8-9159-AC1C-15E4D861BFFE}"/>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201BBE4-0756-3C96-576C-D5346C244905}"/>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1E773275-B32D-01C0-B746-050535E9A92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22</a:t>
            </a:r>
            <a:endParaRPr lang="en-ID" dirty="0">
              <a:solidFill>
                <a:schemeClr val="bg1"/>
              </a:solidFill>
              <a:latin typeface="Telegraf Bold" panose="020B0604020202020204" charset="0"/>
            </a:endParaRPr>
          </a:p>
        </p:txBody>
      </p:sp>
      <p:grpSp>
        <p:nvGrpSpPr>
          <p:cNvPr id="3" name="Group 2">
            <a:extLst>
              <a:ext uri="{FF2B5EF4-FFF2-40B4-BE49-F238E27FC236}">
                <a16:creationId xmlns:a16="http://schemas.microsoft.com/office/drawing/2014/main" id="{278C518F-3FCD-FD2B-C5C2-7DC1478452EE}"/>
              </a:ext>
            </a:extLst>
          </p:cNvPr>
          <p:cNvGrpSpPr/>
          <p:nvPr/>
        </p:nvGrpSpPr>
        <p:grpSpPr>
          <a:xfrm>
            <a:off x="439737" y="1478993"/>
            <a:ext cx="5539606" cy="2382626"/>
            <a:chOff x="1885861" y="2084493"/>
            <a:chExt cx="4251960" cy="1828800"/>
          </a:xfrm>
        </p:grpSpPr>
        <p:sp>
          <p:nvSpPr>
            <p:cNvPr id="4" name="Shape 4">
              <a:extLst>
                <a:ext uri="{FF2B5EF4-FFF2-40B4-BE49-F238E27FC236}">
                  <a16:creationId xmlns:a16="http://schemas.microsoft.com/office/drawing/2014/main" id="{15F529F5-7E6B-6BF2-81F0-FFDA55D96529}"/>
                </a:ext>
              </a:extLst>
            </p:cNvPr>
            <p:cNvSpPr/>
            <p:nvPr/>
          </p:nvSpPr>
          <p:spPr>
            <a:xfrm>
              <a:off x="1885861" y="2084493"/>
              <a:ext cx="4251960" cy="1828800"/>
            </a:xfrm>
            <a:prstGeom prst="roundRect">
              <a:avLst>
                <a:gd name="adj" fmla="val 5000"/>
              </a:avLst>
            </a:prstGeom>
            <a:solidFill>
              <a:srgbClr val="162446"/>
            </a:solidFill>
            <a:ln w="12700">
              <a:solidFill>
                <a:srgbClr val="CC2222"/>
              </a:solidFill>
              <a:prstDash val="solid"/>
            </a:ln>
          </p:spPr>
          <p:txBody>
            <a:bodyPr/>
            <a:lstStyle/>
            <a:p>
              <a:endParaRPr lang="en-ID" sz="2000">
                <a:latin typeface="Telegraf" panose="020B0604020202020204"/>
              </a:endParaRPr>
            </a:p>
          </p:txBody>
        </p:sp>
        <p:sp>
          <p:nvSpPr>
            <p:cNvPr id="5" name="Shape 5">
              <a:extLst>
                <a:ext uri="{FF2B5EF4-FFF2-40B4-BE49-F238E27FC236}">
                  <a16:creationId xmlns:a16="http://schemas.microsoft.com/office/drawing/2014/main" id="{34E6ABAC-3CAF-BE1F-1DB3-A97C720F2F84}"/>
                </a:ext>
              </a:extLst>
            </p:cNvPr>
            <p:cNvSpPr/>
            <p:nvPr/>
          </p:nvSpPr>
          <p:spPr>
            <a:xfrm>
              <a:off x="1977301" y="2175933"/>
              <a:ext cx="411480" cy="411480"/>
            </a:xfrm>
            <a:prstGeom prst="ellipse">
              <a:avLst/>
            </a:prstGeom>
            <a:solidFill>
              <a:srgbClr val="CC2222"/>
            </a:solidFill>
            <a:ln w="12700">
              <a:solidFill>
                <a:srgbClr val="CC2222"/>
              </a:solidFill>
              <a:prstDash val="solid"/>
            </a:ln>
          </p:spPr>
          <p:txBody>
            <a:bodyPr/>
            <a:lstStyle/>
            <a:p>
              <a:endParaRPr lang="en-ID" sz="2000">
                <a:latin typeface="Telegraf" panose="020B0604020202020204"/>
              </a:endParaRPr>
            </a:p>
          </p:txBody>
        </p:sp>
        <p:sp>
          <p:nvSpPr>
            <p:cNvPr id="6" name="Text 6">
              <a:extLst>
                <a:ext uri="{FF2B5EF4-FFF2-40B4-BE49-F238E27FC236}">
                  <a16:creationId xmlns:a16="http://schemas.microsoft.com/office/drawing/2014/main" id="{61D8E4C3-524F-03D3-9C08-C24D45013951}"/>
                </a:ext>
              </a:extLst>
            </p:cNvPr>
            <p:cNvSpPr/>
            <p:nvPr/>
          </p:nvSpPr>
          <p:spPr>
            <a:xfrm>
              <a:off x="1977301" y="2175933"/>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01</a:t>
              </a:r>
              <a:endParaRPr lang="en-US" sz="1200" dirty="0">
                <a:latin typeface="Telegraf" panose="020B0604020202020204"/>
              </a:endParaRPr>
            </a:p>
          </p:txBody>
        </p:sp>
        <p:sp>
          <p:nvSpPr>
            <p:cNvPr id="7" name="Text 7">
              <a:extLst>
                <a:ext uri="{FF2B5EF4-FFF2-40B4-BE49-F238E27FC236}">
                  <a16:creationId xmlns:a16="http://schemas.microsoft.com/office/drawing/2014/main" id="{CACAEB0C-8D5B-CD17-0DAE-7378240BF0D6}"/>
                </a:ext>
              </a:extLst>
            </p:cNvPr>
            <p:cNvSpPr/>
            <p:nvPr/>
          </p:nvSpPr>
          <p:spPr>
            <a:xfrm>
              <a:off x="2480221" y="2175933"/>
              <a:ext cx="3566160" cy="411480"/>
            </a:xfrm>
            <a:prstGeom prst="rect">
              <a:avLst/>
            </a:prstGeom>
            <a:noFill/>
            <a:ln/>
          </p:spPr>
          <p:txBody>
            <a:bodyPr wrap="square" rtlCol="0" anchor="ctr"/>
            <a:lstStyle/>
            <a:p>
              <a:pPr marL="0" indent="0">
                <a:buNone/>
              </a:pPr>
              <a:r>
                <a:rPr lang="en-US" sz="1400" b="1" dirty="0">
                  <a:solidFill>
                    <a:srgbClr val="CC2222"/>
                  </a:solidFill>
                  <a:latin typeface="Telegraf" panose="020B0604020202020204"/>
                </a:rPr>
                <a:t>WELLBORE STABILITY IS THE #1 RISK</a:t>
              </a:r>
              <a:endParaRPr lang="en-US" sz="1400" dirty="0">
                <a:latin typeface="Telegraf" panose="020B0604020202020204"/>
              </a:endParaRPr>
            </a:p>
          </p:txBody>
        </p:sp>
        <p:sp>
          <p:nvSpPr>
            <p:cNvPr id="8" name="Text 8">
              <a:extLst>
                <a:ext uri="{FF2B5EF4-FFF2-40B4-BE49-F238E27FC236}">
                  <a16:creationId xmlns:a16="http://schemas.microsoft.com/office/drawing/2014/main" id="{4BED4A66-A20C-7AA6-F76F-CCEB40CF4CAB}"/>
                </a:ext>
              </a:extLst>
            </p:cNvPr>
            <p:cNvSpPr/>
            <p:nvPr/>
          </p:nvSpPr>
          <p:spPr>
            <a:xfrm>
              <a:off x="1995589" y="2633133"/>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Tight hole was encountered in 5/6 wells, predominantly in the production section (8.5" hole)</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Sloughing shale requires proactive MW management – do not wait for signs to increase</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Multiple wiper trips before logging &amp; casing are MANDATORY, not optional</a:t>
              </a:r>
              <a:endParaRPr lang="en-US" sz="1400" dirty="0">
                <a:latin typeface="Telegraf" panose="020B0604020202020204"/>
              </a:endParaRPr>
            </a:p>
          </p:txBody>
        </p:sp>
      </p:grpSp>
      <p:grpSp>
        <p:nvGrpSpPr>
          <p:cNvPr id="10" name="Group 9">
            <a:extLst>
              <a:ext uri="{FF2B5EF4-FFF2-40B4-BE49-F238E27FC236}">
                <a16:creationId xmlns:a16="http://schemas.microsoft.com/office/drawing/2014/main" id="{25980AC0-8208-B594-2EC8-22DD1C279B64}"/>
              </a:ext>
            </a:extLst>
          </p:cNvPr>
          <p:cNvGrpSpPr/>
          <p:nvPr/>
        </p:nvGrpSpPr>
        <p:grpSpPr>
          <a:xfrm>
            <a:off x="6098492" y="1478419"/>
            <a:ext cx="5540400" cy="2383200"/>
            <a:chOff x="6366421" y="2084493"/>
            <a:chExt cx="4251960" cy="1828800"/>
          </a:xfrm>
        </p:grpSpPr>
        <p:sp>
          <p:nvSpPr>
            <p:cNvPr id="12" name="Shape 9">
              <a:extLst>
                <a:ext uri="{FF2B5EF4-FFF2-40B4-BE49-F238E27FC236}">
                  <a16:creationId xmlns:a16="http://schemas.microsoft.com/office/drawing/2014/main" id="{5267AC40-9C5B-7353-235D-E87D61C0C6CD}"/>
                </a:ext>
              </a:extLst>
            </p:cNvPr>
            <p:cNvSpPr/>
            <p:nvPr/>
          </p:nvSpPr>
          <p:spPr>
            <a:xfrm>
              <a:off x="6366421" y="2084493"/>
              <a:ext cx="4251960" cy="1828800"/>
            </a:xfrm>
            <a:prstGeom prst="roundRect">
              <a:avLst>
                <a:gd name="adj" fmla="val 5000"/>
              </a:avLst>
            </a:prstGeom>
            <a:solidFill>
              <a:srgbClr val="162446"/>
            </a:solidFill>
            <a:ln w="12700">
              <a:solidFill>
                <a:srgbClr val="E87722"/>
              </a:solidFill>
              <a:prstDash val="solid"/>
            </a:ln>
          </p:spPr>
          <p:txBody>
            <a:bodyPr/>
            <a:lstStyle/>
            <a:p>
              <a:endParaRPr lang="en-ID" sz="2000">
                <a:latin typeface="Telegraf" panose="020B0604020202020204"/>
              </a:endParaRPr>
            </a:p>
          </p:txBody>
        </p:sp>
        <p:sp>
          <p:nvSpPr>
            <p:cNvPr id="13" name="Shape 10">
              <a:extLst>
                <a:ext uri="{FF2B5EF4-FFF2-40B4-BE49-F238E27FC236}">
                  <a16:creationId xmlns:a16="http://schemas.microsoft.com/office/drawing/2014/main" id="{B242F769-35C4-C109-2096-81BE892B2A45}"/>
                </a:ext>
              </a:extLst>
            </p:cNvPr>
            <p:cNvSpPr/>
            <p:nvPr/>
          </p:nvSpPr>
          <p:spPr>
            <a:xfrm>
              <a:off x="6457861" y="2175933"/>
              <a:ext cx="411480" cy="411480"/>
            </a:xfrm>
            <a:prstGeom prst="ellipse">
              <a:avLst/>
            </a:prstGeom>
            <a:solidFill>
              <a:srgbClr val="E87722"/>
            </a:solidFill>
            <a:ln w="12700">
              <a:solidFill>
                <a:srgbClr val="E87722"/>
              </a:solidFill>
              <a:prstDash val="solid"/>
            </a:ln>
          </p:spPr>
          <p:txBody>
            <a:bodyPr/>
            <a:lstStyle/>
            <a:p>
              <a:endParaRPr lang="en-ID" sz="2000">
                <a:latin typeface="Telegraf" panose="020B0604020202020204"/>
              </a:endParaRPr>
            </a:p>
          </p:txBody>
        </p:sp>
        <p:sp>
          <p:nvSpPr>
            <p:cNvPr id="14" name="Text 11">
              <a:extLst>
                <a:ext uri="{FF2B5EF4-FFF2-40B4-BE49-F238E27FC236}">
                  <a16:creationId xmlns:a16="http://schemas.microsoft.com/office/drawing/2014/main" id="{19752D94-B67F-94C2-6B4C-C5A6E4BAA316}"/>
                </a:ext>
              </a:extLst>
            </p:cNvPr>
            <p:cNvSpPr/>
            <p:nvPr/>
          </p:nvSpPr>
          <p:spPr>
            <a:xfrm>
              <a:off x="6457861" y="2175933"/>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02</a:t>
              </a:r>
              <a:endParaRPr lang="en-US" sz="1200" dirty="0">
                <a:latin typeface="Telegraf" panose="020B0604020202020204"/>
              </a:endParaRPr>
            </a:p>
          </p:txBody>
        </p:sp>
        <p:sp>
          <p:nvSpPr>
            <p:cNvPr id="15" name="Text 12">
              <a:extLst>
                <a:ext uri="{FF2B5EF4-FFF2-40B4-BE49-F238E27FC236}">
                  <a16:creationId xmlns:a16="http://schemas.microsoft.com/office/drawing/2014/main" id="{1308913E-944B-1FD4-4031-8DD054F585C6}"/>
                </a:ext>
              </a:extLst>
            </p:cNvPr>
            <p:cNvSpPr/>
            <p:nvPr/>
          </p:nvSpPr>
          <p:spPr>
            <a:xfrm>
              <a:off x="6960781" y="2175933"/>
              <a:ext cx="3566160" cy="411480"/>
            </a:xfrm>
            <a:prstGeom prst="rect">
              <a:avLst/>
            </a:prstGeom>
            <a:noFill/>
            <a:ln/>
          </p:spPr>
          <p:txBody>
            <a:bodyPr wrap="square" rtlCol="0" anchor="ctr"/>
            <a:lstStyle/>
            <a:p>
              <a:pPr marL="0" indent="0">
                <a:buNone/>
              </a:pPr>
              <a:r>
                <a:rPr lang="en-US" sz="1400" b="1" dirty="0">
                  <a:solidFill>
                    <a:srgbClr val="E87722"/>
                  </a:solidFill>
                  <a:latin typeface="Telegraf" panose="020B0604020202020204"/>
                </a:rPr>
                <a:t>CASING RUNNING REQUIRES PRE-CONDITIONING</a:t>
              </a:r>
              <a:endParaRPr lang="en-US" sz="1400" dirty="0">
                <a:latin typeface="Telegraf" panose="020B0604020202020204"/>
              </a:endParaRPr>
            </a:p>
          </p:txBody>
        </p:sp>
        <p:sp>
          <p:nvSpPr>
            <p:cNvPr id="16" name="Text 13">
              <a:extLst>
                <a:ext uri="{FF2B5EF4-FFF2-40B4-BE49-F238E27FC236}">
                  <a16:creationId xmlns:a16="http://schemas.microsoft.com/office/drawing/2014/main" id="{00163A91-E586-9163-E451-956080282C46}"/>
                </a:ext>
              </a:extLst>
            </p:cNvPr>
            <p:cNvSpPr/>
            <p:nvPr/>
          </p:nvSpPr>
          <p:spPr>
            <a:xfrm>
              <a:off x="6476149" y="2633133"/>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Three wells (A-003, A-004, A-005) required casing swage – this must be part of standard equipment</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Always perform conditioning trip to TD before running casing; ensure hi-vis sweeps are conducted</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In deviated wells, increase circulation time and monitor T&amp;D carefully before &amp; during casing run</a:t>
              </a:r>
              <a:endParaRPr lang="en-US" sz="1400" dirty="0">
                <a:latin typeface="Telegraf" panose="020B0604020202020204"/>
              </a:endParaRPr>
            </a:p>
          </p:txBody>
        </p:sp>
      </p:grpSp>
      <p:grpSp>
        <p:nvGrpSpPr>
          <p:cNvPr id="17" name="Group 16">
            <a:extLst>
              <a:ext uri="{FF2B5EF4-FFF2-40B4-BE49-F238E27FC236}">
                <a16:creationId xmlns:a16="http://schemas.microsoft.com/office/drawing/2014/main" id="{4657D15F-AD3B-5CEE-3ADD-31FA9F74133E}"/>
              </a:ext>
            </a:extLst>
          </p:cNvPr>
          <p:cNvGrpSpPr/>
          <p:nvPr/>
        </p:nvGrpSpPr>
        <p:grpSpPr>
          <a:xfrm>
            <a:off x="439736" y="3980749"/>
            <a:ext cx="5539605" cy="2395469"/>
            <a:chOff x="1885861" y="4023021"/>
            <a:chExt cx="4251960" cy="1838658"/>
          </a:xfrm>
        </p:grpSpPr>
        <p:sp>
          <p:nvSpPr>
            <p:cNvPr id="18" name="Shape 14">
              <a:extLst>
                <a:ext uri="{FF2B5EF4-FFF2-40B4-BE49-F238E27FC236}">
                  <a16:creationId xmlns:a16="http://schemas.microsoft.com/office/drawing/2014/main" id="{9518E28E-8087-4421-8FD3-D92C58AA1C34}"/>
                </a:ext>
              </a:extLst>
            </p:cNvPr>
            <p:cNvSpPr/>
            <p:nvPr/>
          </p:nvSpPr>
          <p:spPr>
            <a:xfrm>
              <a:off x="1885861" y="4023021"/>
              <a:ext cx="4251960" cy="1838658"/>
            </a:xfrm>
            <a:prstGeom prst="roundRect">
              <a:avLst>
                <a:gd name="adj" fmla="val 5000"/>
              </a:avLst>
            </a:prstGeom>
            <a:solidFill>
              <a:srgbClr val="162446"/>
            </a:solidFill>
            <a:ln w="12700">
              <a:solidFill>
                <a:srgbClr val="E8A722"/>
              </a:solidFill>
              <a:prstDash val="solid"/>
            </a:ln>
          </p:spPr>
          <p:txBody>
            <a:bodyPr/>
            <a:lstStyle/>
            <a:p>
              <a:endParaRPr lang="en-ID" sz="2000">
                <a:latin typeface="Telegraf" panose="020B0604020202020204"/>
              </a:endParaRPr>
            </a:p>
          </p:txBody>
        </p:sp>
        <p:sp>
          <p:nvSpPr>
            <p:cNvPr id="19" name="Shape 15">
              <a:extLst>
                <a:ext uri="{FF2B5EF4-FFF2-40B4-BE49-F238E27FC236}">
                  <a16:creationId xmlns:a16="http://schemas.microsoft.com/office/drawing/2014/main" id="{598C1BA4-7C90-7EFF-EBBF-511F596F0927}"/>
                </a:ext>
              </a:extLst>
            </p:cNvPr>
            <p:cNvSpPr/>
            <p:nvPr/>
          </p:nvSpPr>
          <p:spPr>
            <a:xfrm>
              <a:off x="1977301" y="4114461"/>
              <a:ext cx="411480" cy="411480"/>
            </a:xfrm>
            <a:prstGeom prst="ellipse">
              <a:avLst/>
            </a:prstGeom>
            <a:solidFill>
              <a:srgbClr val="E8A722"/>
            </a:solidFill>
            <a:ln w="12700">
              <a:solidFill>
                <a:srgbClr val="E8A722"/>
              </a:solidFill>
              <a:prstDash val="solid"/>
            </a:ln>
          </p:spPr>
          <p:txBody>
            <a:bodyPr/>
            <a:lstStyle/>
            <a:p>
              <a:endParaRPr lang="en-ID" sz="2000">
                <a:latin typeface="Telegraf" panose="020B0604020202020204"/>
              </a:endParaRPr>
            </a:p>
          </p:txBody>
        </p:sp>
        <p:sp>
          <p:nvSpPr>
            <p:cNvPr id="20" name="Text 16">
              <a:extLst>
                <a:ext uri="{FF2B5EF4-FFF2-40B4-BE49-F238E27FC236}">
                  <a16:creationId xmlns:a16="http://schemas.microsoft.com/office/drawing/2014/main" id="{E44CF58D-59C9-D8DD-8AD7-74E13F844D75}"/>
                </a:ext>
              </a:extLst>
            </p:cNvPr>
            <p:cNvSpPr/>
            <p:nvPr/>
          </p:nvSpPr>
          <p:spPr>
            <a:xfrm>
              <a:off x="1977301" y="4114461"/>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03</a:t>
              </a:r>
              <a:endParaRPr lang="en-US" sz="1200" dirty="0">
                <a:latin typeface="Telegraf" panose="020B0604020202020204"/>
              </a:endParaRPr>
            </a:p>
          </p:txBody>
        </p:sp>
        <p:sp>
          <p:nvSpPr>
            <p:cNvPr id="21" name="Text 17">
              <a:extLst>
                <a:ext uri="{FF2B5EF4-FFF2-40B4-BE49-F238E27FC236}">
                  <a16:creationId xmlns:a16="http://schemas.microsoft.com/office/drawing/2014/main" id="{1F238CBA-AAC1-2512-862B-50D9BB2AB114}"/>
                </a:ext>
              </a:extLst>
            </p:cNvPr>
            <p:cNvSpPr/>
            <p:nvPr/>
          </p:nvSpPr>
          <p:spPr>
            <a:xfrm>
              <a:off x="2480221" y="4114461"/>
              <a:ext cx="3566160" cy="411480"/>
            </a:xfrm>
            <a:prstGeom prst="rect">
              <a:avLst/>
            </a:prstGeom>
            <a:noFill/>
            <a:ln/>
          </p:spPr>
          <p:txBody>
            <a:bodyPr wrap="square" rtlCol="0" anchor="ctr"/>
            <a:lstStyle/>
            <a:p>
              <a:pPr marL="0" indent="0">
                <a:buNone/>
              </a:pPr>
              <a:r>
                <a:rPr lang="en-US" sz="1400" b="1" dirty="0">
                  <a:solidFill>
                    <a:srgbClr val="E8A722"/>
                  </a:solidFill>
                  <a:latin typeface="Telegraf" panose="020B0604020202020204"/>
                </a:rPr>
                <a:t>LOGGING OPERATIONS NEED ENHANCED PLANNING</a:t>
              </a:r>
              <a:endParaRPr lang="en-US" sz="1400" dirty="0">
                <a:latin typeface="Telegraf" panose="020B0604020202020204"/>
              </a:endParaRPr>
            </a:p>
          </p:txBody>
        </p:sp>
        <p:sp>
          <p:nvSpPr>
            <p:cNvPr id="22" name="Text 18">
              <a:extLst>
                <a:ext uri="{FF2B5EF4-FFF2-40B4-BE49-F238E27FC236}">
                  <a16:creationId xmlns:a16="http://schemas.microsoft.com/office/drawing/2014/main" id="{7495AA9B-F28D-CD74-0B42-86B75D57E278}"/>
                </a:ext>
              </a:extLst>
            </p:cNvPr>
            <p:cNvSpPr/>
            <p:nvPr/>
          </p:nvSpPr>
          <p:spPr>
            <a:xfrm>
              <a:off x="1995589" y="4571661"/>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Tool stop occurred in 3/6 wells – pre-logging wiper trips significantly reduce this risk</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Alpha-003: Stuck MR Scanner required full fishing operation (20+ hours NPT) – avoid by pre-conditioning</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Have contingency plan ready: shorter logging assemblies, spare tools, fishing tools on standby</a:t>
              </a:r>
              <a:endParaRPr lang="en-US" sz="1400" dirty="0">
                <a:latin typeface="Telegraf" panose="020B0604020202020204"/>
              </a:endParaRPr>
            </a:p>
          </p:txBody>
        </p:sp>
      </p:grpSp>
      <p:grpSp>
        <p:nvGrpSpPr>
          <p:cNvPr id="23" name="Group 22">
            <a:extLst>
              <a:ext uri="{FF2B5EF4-FFF2-40B4-BE49-F238E27FC236}">
                <a16:creationId xmlns:a16="http://schemas.microsoft.com/office/drawing/2014/main" id="{63ECBFC6-BEE6-347D-9F9C-EDD28B22619E}"/>
              </a:ext>
            </a:extLst>
          </p:cNvPr>
          <p:cNvGrpSpPr/>
          <p:nvPr/>
        </p:nvGrpSpPr>
        <p:grpSpPr>
          <a:xfrm>
            <a:off x="6098472" y="3993019"/>
            <a:ext cx="5540940" cy="2383200"/>
            <a:chOff x="6366421" y="4023021"/>
            <a:chExt cx="4251960" cy="1828800"/>
          </a:xfrm>
        </p:grpSpPr>
        <p:sp>
          <p:nvSpPr>
            <p:cNvPr id="24" name="Shape 19">
              <a:extLst>
                <a:ext uri="{FF2B5EF4-FFF2-40B4-BE49-F238E27FC236}">
                  <a16:creationId xmlns:a16="http://schemas.microsoft.com/office/drawing/2014/main" id="{BA9CC79C-C722-6149-FF83-FF699D32E067}"/>
                </a:ext>
              </a:extLst>
            </p:cNvPr>
            <p:cNvSpPr/>
            <p:nvPr/>
          </p:nvSpPr>
          <p:spPr>
            <a:xfrm>
              <a:off x="6366421" y="4023021"/>
              <a:ext cx="4251960" cy="1828800"/>
            </a:xfrm>
            <a:prstGeom prst="roundRect">
              <a:avLst>
                <a:gd name="adj" fmla="val 5000"/>
              </a:avLst>
            </a:prstGeom>
            <a:solidFill>
              <a:srgbClr val="162446"/>
            </a:solidFill>
            <a:ln w="12700">
              <a:solidFill>
                <a:srgbClr val="2E9FD4"/>
              </a:solidFill>
              <a:prstDash val="solid"/>
            </a:ln>
          </p:spPr>
          <p:txBody>
            <a:bodyPr/>
            <a:lstStyle/>
            <a:p>
              <a:endParaRPr lang="en-ID" sz="2000">
                <a:latin typeface="Telegraf" panose="020B0604020202020204"/>
              </a:endParaRPr>
            </a:p>
          </p:txBody>
        </p:sp>
        <p:sp>
          <p:nvSpPr>
            <p:cNvPr id="25" name="Shape 20">
              <a:extLst>
                <a:ext uri="{FF2B5EF4-FFF2-40B4-BE49-F238E27FC236}">
                  <a16:creationId xmlns:a16="http://schemas.microsoft.com/office/drawing/2014/main" id="{D696BFBD-7ABF-5AD2-AF2F-13D54590002D}"/>
                </a:ext>
              </a:extLst>
            </p:cNvPr>
            <p:cNvSpPr/>
            <p:nvPr/>
          </p:nvSpPr>
          <p:spPr>
            <a:xfrm>
              <a:off x="6457861" y="4114461"/>
              <a:ext cx="411480" cy="411480"/>
            </a:xfrm>
            <a:prstGeom prst="ellipse">
              <a:avLst/>
            </a:prstGeom>
            <a:solidFill>
              <a:srgbClr val="2E9FD4"/>
            </a:solidFill>
            <a:ln w="12700">
              <a:solidFill>
                <a:srgbClr val="2E9FD4"/>
              </a:solidFill>
              <a:prstDash val="solid"/>
            </a:ln>
          </p:spPr>
          <p:txBody>
            <a:bodyPr/>
            <a:lstStyle/>
            <a:p>
              <a:endParaRPr lang="en-ID" sz="2000">
                <a:latin typeface="Telegraf" panose="020B0604020202020204"/>
              </a:endParaRPr>
            </a:p>
          </p:txBody>
        </p:sp>
        <p:sp>
          <p:nvSpPr>
            <p:cNvPr id="26" name="Text 21">
              <a:extLst>
                <a:ext uri="{FF2B5EF4-FFF2-40B4-BE49-F238E27FC236}">
                  <a16:creationId xmlns:a16="http://schemas.microsoft.com/office/drawing/2014/main" id="{A5BAAB85-3585-310C-1F5B-E1A10A0B0D56}"/>
                </a:ext>
              </a:extLst>
            </p:cNvPr>
            <p:cNvSpPr/>
            <p:nvPr/>
          </p:nvSpPr>
          <p:spPr>
            <a:xfrm>
              <a:off x="6457861" y="4114461"/>
              <a:ext cx="411480" cy="411480"/>
            </a:xfrm>
            <a:prstGeom prst="rect">
              <a:avLst/>
            </a:prstGeom>
            <a:noFill/>
            <a:ln/>
          </p:spPr>
          <p:txBody>
            <a:bodyPr wrap="square" rtlCol="0" anchor="ctr"/>
            <a:lstStyle/>
            <a:p>
              <a:pPr marL="0" indent="0" algn="ctr">
                <a:buNone/>
              </a:pPr>
              <a:r>
                <a:rPr lang="en-US" sz="1200" b="1" dirty="0">
                  <a:solidFill>
                    <a:srgbClr val="FFFFFF"/>
                  </a:solidFill>
                  <a:latin typeface="Telegraf" panose="020B0604020202020204"/>
                </a:rPr>
                <a:t>04</a:t>
              </a:r>
              <a:endParaRPr lang="en-US" sz="1200" dirty="0">
                <a:latin typeface="Telegraf" panose="020B0604020202020204"/>
              </a:endParaRPr>
            </a:p>
          </p:txBody>
        </p:sp>
        <p:sp>
          <p:nvSpPr>
            <p:cNvPr id="27" name="Text 22">
              <a:extLst>
                <a:ext uri="{FF2B5EF4-FFF2-40B4-BE49-F238E27FC236}">
                  <a16:creationId xmlns:a16="http://schemas.microsoft.com/office/drawing/2014/main" id="{D0E8E716-350D-6AE1-1675-98DD289353AE}"/>
                </a:ext>
              </a:extLst>
            </p:cNvPr>
            <p:cNvSpPr/>
            <p:nvPr/>
          </p:nvSpPr>
          <p:spPr>
            <a:xfrm>
              <a:off x="6960781" y="4114461"/>
              <a:ext cx="3566160" cy="411480"/>
            </a:xfrm>
            <a:prstGeom prst="rect">
              <a:avLst/>
            </a:prstGeom>
            <a:noFill/>
            <a:ln/>
          </p:spPr>
          <p:txBody>
            <a:bodyPr wrap="square" rtlCol="0" anchor="ctr"/>
            <a:lstStyle/>
            <a:p>
              <a:pPr marL="0" indent="0">
                <a:buNone/>
              </a:pPr>
              <a:r>
                <a:rPr lang="en-US" sz="1400" b="1" dirty="0">
                  <a:solidFill>
                    <a:srgbClr val="2E9FD4"/>
                  </a:solidFill>
                  <a:latin typeface="Telegraf" panose="020B0604020202020204"/>
                </a:rPr>
                <a:t>CEMENTING: FLUID CALIPER &amp; EXCESS VOLUME</a:t>
              </a:r>
              <a:endParaRPr lang="en-US" sz="1400" dirty="0">
                <a:latin typeface="Telegraf" panose="020B0604020202020204"/>
              </a:endParaRPr>
            </a:p>
          </p:txBody>
        </p:sp>
        <p:sp>
          <p:nvSpPr>
            <p:cNvPr id="28" name="Text 23">
              <a:extLst>
                <a:ext uri="{FF2B5EF4-FFF2-40B4-BE49-F238E27FC236}">
                  <a16:creationId xmlns:a16="http://schemas.microsoft.com/office/drawing/2014/main" id="{15AC7427-8404-F4A3-2739-A408CE824D31}"/>
                </a:ext>
              </a:extLst>
            </p:cNvPr>
            <p:cNvSpPr/>
            <p:nvPr/>
          </p:nvSpPr>
          <p:spPr>
            <a:xfrm>
              <a:off x="6476149" y="4571661"/>
              <a:ext cx="4069080" cy="1234440"/>
            </a:xfrm>
            <a:prstGeom prst="rect">
              <a:avLst/>
            </a:prstGeom>
            <a:noFill/>
            <a:ln/>
          </p:spPr>
          <p:txBody>
            <a:bodyPr wrap="square" rtlCol="0" anchor="t"/>
            <a:lstStyle/>
            <a:p>
              <a:pPr marL="342900" indent="-342900">
                <a:spcAft>
                  <a:spcPts val="300"/>
                </a:spcAft>
                <a:buSzPct val="100000"/>
                <a:buChar char="•"/>
              </a:pPr>
              <a:r>
                <a:rPr lang="en-US" sz="1400" dirty="0">
                  <a:solidFill>
                    <a:srgbClr val="FFFFFF"/>
                  </a:solidFill>
                  <a:latin typeface="Telegraf" panose="020B0604020202020204"/>
                </a:rPr>
                <a:t>Surface casing: No CMT return in 2/6 wells – design with lost circulation zone assumption</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Use fluid caliper (Hi-Vis monitoring) to determine actual hole volume before cementing</a:t>
              </a:r>
              <a:endParaRPr lang="en-US" sz="1400" dirty="0">
                <a:latin typeface="Telegraf" panose="020B0604020202020204"/>
              </a:endParaRPr>
            </a:p>
            <a:p>
              <a:pPr marL="342900" indent="-342900">
                <a:spcAft>
                  <a:spcPts val="300"/>
                </a:spcAft>
                <a:buSzPct val="100000"/>
                <a:buChar char="•"/>
              </a:pPr>
              <a:r>
                <a:rPr lang="en-US" sz="1400" dirty="0">
                  <a:solidFill>
                    <a:srgbClr val="FFFFFF"/>
                  </a:solidFill>
                  <a:latin typeface="Telegraf" panose="020B0604020202020204"/>
                </a:rPr>
                <a:t>Alpha-006 best practice: 300% excess lead, 40% excess tail CMT based on fluid caliper result</a:t>
              </a:r>
              <a:endParaRPr lang="en-US" sz="1400" dirty="0">
                <a:latin typeface="Telegraf" panose="020B0604020202020204"/>
              </a:endParaRPr>
            </a:p>
          </p:txBody>
        </p:sp>
      </p:grpSp>
    </p:spTree>
    <p:extLst>
      <p:ext uri="{BB962C8B-B14F-4D97-AF65-F5344CB8AC3E}">
        <p14:creationId xmlns:p14="http://schemas.microsoft.com/office/powerpoint/2010/main" val="464430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828FE-1161-AE46-E572-A776FA869A5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E7B7A6-0087-FD0B-9709-2920912D0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1265D1C7-80BA-B9E8-381C-56C6312E19C1}"/>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40F7BC6D-DCD0-547A-1CC9-720D3161226C}"/>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CONCEPTUAL WELL CONSTRUCTION DESIGN (PRE-BOD)</a:t>
            </a:r>
          </a:p>
        </p:txBody>
      </p:sp>
      <p:pic>
        <p:nvPicPr>
          <p:cNvPr id="9" name="Google Shape;40;p1" descr="Blue text and blue letters on a black background&#10;&#10;Description automatically generated">
            <a:extLst>
              <a:ext uri="{FF2B5EF4-FFF2-40B4-BE49-F238E27FC236}">
                <a16:creationId xmlns:a16="http://schemas.microsoft.com/office/drawing/2014/main" id="{16ECE35C-E0A5-B247-9CF9-081499ED2CCC}"/>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400B6A48-FEE0-221E-FC4F-117A9B232F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061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B8B7-7454-D528-71B1-770AC84C604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F40175DC-CBA8-BC0D-B536-9372AB2D66FC}"/>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TRAJECTORY DESIGN &amp; RATIONALE</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665B25F5-AFAA-AA86-60C7-C83792AA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6950F0B6-4742-D85C-88EE-7EBD28521E23}"/>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353B6F2F-1024-62CF-649B-A2B332842CE8}"/>
              </a:ext>
            </a:extLst>
          </p:cNvPr>
          <p:cNvSpPr>
            <a:spLocks noGrp="1"/>
          </p:cNvSpPr>
          <p:nvPr>
            <p:ph idx="1"/>
          </p:nvPr>
        </p:nvSpPr>
        <p:spPr>
          <a:xfrm>
            <a:off x="385714" y="1439127"/>
            <a:ext cx="5384150" cy="2117889"/>
          </a:xfrm>
        </p:spPr>
        <p:txBody>
          <a:bodyPr>
            <a:normAutofit/>
          </a:bodyPr>
          <a:lstStyle/>
          <a:p>
            <a:r>
              <a:rPr lang="en-ID" sz="2400" dirty="0">
                <a:latin typeface="Telegraf"/>
              </a:rPr>
              <a:t>J-Type selected due to large surface-to-target offset</a:t>
            </a:r>
          </a:p>
          <a:p>
            <a:r>
              <a:rPr lang="en-ID" sz="2400" dirty="0">
                <a:latin typeface="Telegraf"/>
              </a:rPr>
              <a:t>Simpler profile than S-Type, reducing torque, drag, and operational risk</a:t>
            </a:r>
          </a:p>
        </p:txBody>
      </p:sp>
      <p:pic>
        <p:nvPicPr>
          <p:cNvPr id="3" name="Picture 2">
            <a:extLst>
              <a:ext uri="{FF2B5EF4-FFF2-40B4-BE49-F238E27FC236}">
                <a16:creationId xmlns:a16="http://schemas.microsoft.com/office/drawing/2014/main" id="{BB65A4A9-4BB6-523E-F510-6F3C065DEF4A}"/>
              </a:ext>
            </a:extLst>
          </p:cNvPr>
          <p:cNvPicPr>
            <a:picLocks noChangeAspect="1"/>
          </p:cNvPicPr>
          <p:nvPr/>
        </p:nvPicPr>
        <p:blipFill rotWithShape="1">
          <a:blip r:embed="rId5">
            <a:extLst>
              <a:ext uri="{28A0092B-C50C-407E-A947-70E740481C1C}">
                <a14:useLocalDpi xmlns:a14="http://schemas.microsoft.com/office/drawing/2010/main" val="0"/>
              </a:ext>
            </a:extLst>
          </a:blip>
          <a:srcRect t="195" b="195"/>
          <a:stretch/>
        </p:blipFill>
        <p:spPr bwMode="auto">
          <a:xfrm>
            <a:off x="6096000" y="1439126"/>
            <a:ext cx="5306954" cy="4727741"/>
          </a:xfrm>
          <a:prstGeom prst="rect">
            <a:avLst/>
          </a:prstGeom>
          <a:ln>
            <a:noFill/>
          </a:ln>
          <a:extLst>
            <a:ext uri="{53640926-AAD7-44D8-BBD7-CCE9431645EC}">
              <a14:shadowObscured xmlns:a14="http://schemas.microsoft.com/office/drawing/2010/main"/>
            </a:ext>
          </a:extLst>
        </p:spPr>
      </p:pic>
      <p:graphicFrame>
        <p:nvGraphicFramePr>
          <p:cNvPr id="4" name="Table 3">
            <a:extLst>
              <a:ext uri="{FF2B5EF4-FFF2-40B4-BE49-F238E27FC236}">
                <a16:creationId xmlns:a16="http://schemas.microsoft.com/office/drawing/2014/main" id="{BA08F34D-D30D-9EDC-9FE0-F4F04FE3EA9B}"/>
              </a:ext>
            </a:extLst>
          </p:cNvPr>
          <p:cNvGraphicFramePr>
            <a:graphicFrameLocks noGrp="1"/>
          </p:cNvGraphicFramePr>
          <p:nvPr/>
        </p:nvGraphicFramePr>
        <p:xfrm>
          <a:off x="477110" y="3081528"/>
          <a:ext cx="5292753" cy="3085340"/>
        </p:xfrm>
        <a:graphic>
          <a:graphicData uri="http://schemas.openxmlformats.org/drawingml/2006/table">
            <a:tbl>
              <a:tblPr firstRow="1" bandRow="1">
                <a:tableStyleId>{5C22544A-7EE6-4342-B048-85BDC9FD1C3A}</a:tableStyleId>
              </a:tblPr>
              <a:tblGrid>
                <a:gridCol w="2912231">
                  <a:extLst>
                    <a:ext uri="{9D8B030D-6E8A-4147-A177-3AD203B41FA5}">
                      <a16:colId xmlns:a16="http://schemas.microsoft.com/office/drawing/2014/main" val="2508246642"/>
                    </a:ext>
                  </a:extLst>
                </a:gridCol>
                <a:gridCol w="2380522">
                  <a:extLst>
                    <a:ext uri="{9D8B030D-6E8A-4147-A177-3AD203B41FA5}">
                      <a16:colId xmlns:a16="http://schemas.microsoft.com/office/drawing/2014/main" val="3506467551"/>
                    </a:ext>
                  </a:extLst>
                </a:gridCol>
              </a:tblGrid>
              <a:tr h="663556">
                <a:tc>
                  <a:txBody>
                    <a:bodyPr/>
                    <a:lstStyle/>
                    <a:p>
                      <a:pPr marL="0" marR="0" algn="ctr">
                        <a:lnSpc>
                          <a:spcPct val="115000"/>
                        </a:lnSpc>
                        <a:buNone/>
                      </a:pPr>
                      <a:r>
                        <a:rPr lang="en-US" sz="1600" kern="100" dirty="0">
                          <a:effectLst/>
                        </a:rPr>
                        <a:t>Items</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buNone/>
                      </a:pPr>
                      <a:r>
                        <a:rPr lang="en-US" sz="1600" kern="100">
                          <a:effectLst/>
                        </a:rPr>
                        <a:t>Alpha-07</a:t>
                      </a:r>
                      <a:endParaRPr lang="en-ID" sz="1600" kern="100">
                        <a:effectLst/>
                      </a:endParaRPr>
                    </a:p>
                    <a:p>
                      <a:pPr marL="457200" marR="0" algn="ctr">
                        <a:lnSpc>
                          <a:spcPct val="115000"/>
                        </a:lnSpc>
                        <a:spcAft>
                          <a:spcPts val="800"/>
                        </a:spcAft>
                        <a:buNone/>
                      </a:pPr>
                      <a:r>
                        <a:rPr lang="en-US" sz="1600" kern="100">
                          <a:effectLst/>
                        </a:rPr>
                        <a:t>(J-Type)</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077181975"/>
                  </a:ext>
                </a:extLst>
              </a:tr>
              <a:tr h="78658">
                <a:tc>
                  <a:txBody>
                    <a:bodyPr/>
                    <a:lstStyle/>
                    <a:p>
                      <a:pPr marL="0" marR="0" algn="ctr">
                        <a:lnSpc>
                          <a:spcPct val="115000"/>
                        </a:lnSpc>
                        <a:buNone/>
                      </a:pPr>
                      <a:r>
                        <a:rPr lang="en-US" sz="1600" kern="100">
                          <a:effectLst/>
                        </a:rPr>
                        <a:t>BUR,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a:effectLst/>
                        </a:rPr>
                        <a:t>5</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213353607"/>
                  </a:ext>
                </a:extLst>
              </a:tr>
              <a:tr h="162215">
                <a:tc>
                  <a:txBody>
                    <a:bodyPr/>
                    <a:lstStyle/>
                    <a:p>
                      <a:pPr marL="0" marR="0" algn="ctr">
                        <a:lnSpc>
                          <a:spcPct val="115000"/>
                        </a:lnSpc>
                        <a:buNone/>
                      </a:pPr>
                      <a:r>
                        <a:rPr lang="en-US" sz="1600" kern="100">
                          <a:effectLst/>
                        </a:rPr>
                        <a:t>KOP, ftMD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200</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3089986250"/>
                  </a:ext>
                </a:extLst>
              </a:tr>
              <a:tr h="245772">
                <a:tc>
                  <a:txBody>
                    <a:bodyPr/>
                    <a:lstStyle/>
                    <a:p>
                      <a:pPr marL="0" marR="0" algn="ctr">
                        <a:lnSpc>
                          <a:spcPct val="115000"/>
                        </a:lnSpc>
                        <a:buNone/>
                      </a:pPr>
                      <a:r>
                        <a:rPr lang="en-US" sz="1600" kern="100">
                          <a:effectLst/>
                        </a:rPr>
                        <a:t>EOB, ftMD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808,2</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944294032"/>
                  </a:ext>
                </a:extLst>
              </a:tr>
              <a:tr h="245772">
                <a:tc>
                  <a:txBody>
                    <a:bodyPr/>
                    <a:lstStyle/>
                    <a:p>
                      <a:pPr marL="0" marR="0" algn="ctr">
                        <a:lnSpc>
                          <a:spcPct val="115000"/>
                        </a:lnSpc>
                        <a:buNone/>
                      </a:pPr>
                      <a:r>
                        <a:rPr lang="en-US" sz="1600" kern="100">
                          <a:effectLst/>
                        </a:rPr>
                        <a:t>Inclination,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30.41</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112178551"/>
                  </a:ext>
                </a:extLst>
              </a:tr>
              <a:tr h="162215">
                <a:tc>
                  <a:txBody>
                    <a:bodyPr/>
                    <a:lstStyle/>
                    <a:p>
                      <a:pPr marL="0" marR="0" algn="ctr">
                        <a:lnSpc>
                          <a:spcPct val="115000"/>
                        </a:lnSpc>
                        <a:buNone/>
                      </a:pPr>
                      <a:r>
                        <a:rPr lang="en-US" sz="1600" kern="100">
                          <a:effectLst/>
                        </a:rPr>
                        <a:t>Azimuth, deg</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135</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151943198"/>
                  </a:ext>
                </a:extLst>
              </a:tr>
              <a:tr h="162215">
                <a:tc>
                  <a:txBody>
                    <a:bodyPr/>
                    <a:lstStyle/>
                    <a:p>
                      <a:pPr marL="0" marR="0" algn="ctr">
                        <a:lnSpc>
                          <a:spcPct val="115000"/>
                        </a:lnSpc>
                        <a:buNone/>
                      </a:pPr>
                      <a:r>
                        <a:rPr lang="en-US" sz="1600" kern="100">
                          <a:effectLst/>
                        </a:rPr>
                        <a:t>Horizontal Displacement</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2437</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2378087582"/>
                  </a:ext>
                </a:extLst>
              </a:tr>
              <a:tr h="412886">
                <a:tc>
                  <a:txBody>
                    <a:bodyPr/>
                    <a:lstStyle/>
                    <a:p>
                      <a:pPr marL="0" marR="0" algn="ctr">
                        <a:lnSpc>
                          <a:spcPct val="115000"/>
                        </a:lnSpc>
                        <a:buNone/>
                      </a:pPr>
                      <a:r>
                        <a:rPr lang="en-US" sz="1600" kern="100">
                          <a:effectLst/>
                        </a:rPr>
                        <a:t>Surface CP, ftMD/ftTVD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a:effectLst/>
                        </a:rPr>
                        <a:t>1821/1654</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3046853477"/>
                  </a:ext>
                </a:extLst>
              </a:tr>
              <a:tr h="412886">
                <a:tc>
                  <a:txBody>
                    <a:bodyPr/>
                    <a:lstStyle/>
                    <a:p>
                      <a:pPr marL="0" marR="0" algn="ctr">
                        <a:lnSpc>
                          <a:spcPct val="115000"/>
                        </a:lnSpc>
                        <a:buNone/>
                      </a:pPr>
                      <a:r>
                        <a:rPr lang="en-US" sz="1600" kern="100">
                          <a:effectLst/>
                        </a:rPr>
                        <a:t>Production CP, ftMD/ftTVD</a:t>
                      </a:r>
                      <a:endParaRPr lang="en-ID" sz="1600" kern="10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tc>
                  <a:txBody>
                    <a:bodyPr/>
                    <a:lstStyle/>
                    <a:p>
                      <a:pPr marL="457200" marR="0" algn="ctr">
                        <a:lnSpc>
                          <a:spcPct val="115000"/>
                        </a:lnSpc>
                        <a:spcAft>
                          <a:spcPts val="800"/>
                        </a:spcAft>
                        <a:buNone/>
                      </a:pPr>
                      <a:r>
                        <a:rPr lang="en-US" sz="1600" kern="100" dirty="0">
                          <a:effectLst/>
                        </a:rPr>
                        <a:t>5312/4664</a:t>
                      </a:r>
                      <a:endParaRPr lang="en-ID"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5056" marR="45056" marT="0" marB="0" anchor="ctr"/>
                </a:tc>
                <a:extLst>
                  <a:ext uri="{0D108BD9-81ED-4DB2-BD59-A6C34878D82A}">
                    <a16:rowId xmlns:a16="http://schemas.microsoft.com/office/drawing/2014/main" val="1964235060"/>
                  </a:ext>
                </a:extLst>
              </a:tr>
            </a:tbl>
          </a:graphicData>
        </a:graphic>
      </p:graphicFrame>
      <p:sp>
        <p:nvSpPr>
          <p:cNvPr id="6" name="Freeform 6">
            <a:extLst>
              <a:ext uri="{FF2B5EF4-FFF2-40B4-BE49-F238E27FC236}">
                <a16:creationId xmlns:a16="http://schemas.microsoft.com/office/drawing/2014/main" id="{22BCB994-B620-A697-8518-B84211683150}"/>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8" name="Title 1">
            <a:extLst>
              <a:ext uri="{FF2B5EF4-FFF2-40B4-BE49-F238E27FC236}">
                <a16:creationId xmlns:a16="http://schemas.microsoft.com/office/drawing/2014/main" id="{116BECCB-7B93-600D-1523-2F4A1459E527}"/>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24</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666298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7E0E-02B8-0BEE-57ED-9192F329BB3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A48E4B2-CC94-2C26-3744-13774EE853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CASING &amp; COMPLETION PROGRAM</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54218ED8-058A-6223-0502-4299232E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E301011-BCB1-202E-A414-40825BCD453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230F84DC-20D7-CA49-9BB8-A87B0A9FC59A}"/>
              </a:ext>
            </a:extLst>
          </p:cNvPr>
          <p:cNvSpPr>
            <a:spLocks noGrp="1"/>
          </p:cNvSpPr>
          <p:nvPr>
            <p:ph idx="1"/>
          </p:nvPr>
        </p:nvSpPr>
        <p:spPr>
          <a:xfrm>
            <a:off x="385714" y="1439127"/>
            <a:ext cx="3785766" cy="4851945"/>
          </a:xfrm>
        </p:spPr>
        <p:txBody>
          <a:bodyPr>
            <a:normAutofit/>
          </a:bodyPr>
          <a:lstStyle/>
          <a:p>
            <a:r>
              <a:rPr lang="en-US" sz="2400" dirty="0">
                <a:latin typeface="Telegraf"/>
              </a:rPr>
              <a:t>Surface Casing: 9-5/8 in, 36 </a:t>
            </a:r>
            <a:r>
              <a:rPr lang="en-US" sz="2400" dirty="0" err="1">
                <a:latin typeface="Telegraf"/>
              </a:rPr>
              <a:t>ppf</a:t>
            </a:r>
            <a:r>
              <a:rPr lang="en-US" sz="2400" dirty="0">
                <a:latin typeface="Telegraf"/>
              </a:rPr>
              <a:t>, K55 BTC @ 1,821 ft MD - shallow formations and provide structural support</a:t>
            </a:r>
          </a:p>
          <a:p>
            <a:r>
              <a:rPr lang="en-US" sz="2400" dirty="0">
                <a:latin typeface="Telegraf"/>
              </a:rPr>
              <a:t>Production Casing: 7 in, 23 </a:t>
            </a:r>
            <a:r>
              <a:rPr lang="en-US" sz="2400" dirty="0" err="1">
                <a:latin typeface="Telegraf"/>
              </a:rPr>
              <a:t>ppf</a:t>
            </a:r>
            <a:r>
              <a:rPr lang="en-US" sz="2400" dirty="0">
                <a:latin typeface="Telegraf"/>
              </a:rPr>
              <a:t>, K55 BTC @ 5,312 ft MD</a:t>
            </a:r>
          </a:p>
          <a:p>
            <a:r>
              <a:rPr lang="en-US" sz="2400" dirty="0">
                <a:latin typeface="Telegraf"/>
              </a:rPr>
              <a:t>Cased-hole completion with selective perforations</a:t>
            </a:r>
          </a:p>
          <a:p>
            <a:r>
              <a:rPr lang="en-US" sz="2400" dirty="0">
                <a:latin typeface="Telegraf"/>
              </a:rPr>
              <a:t>ESP installed to support expected fluid rates and high water cut</a:t>
            </a:r>
          </a:p>
        </p:txBody>
      </p:sp>
      <p:pic>
        <p:nvPicPr>
          <p:cNvPr id="5" name="Picture 4">
            <a:extLst>
              <a:ext uri="{FF2B5EF4-FFF2-40B4-BE49-F238E27FC236}">
                <a16:creationId xmlns:a16="http://schemas.microsoft.com/office/drawing/2014/main" id="{C06FEDB0-3FBC-DE4E-F8CB-3246BC0680C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auto">
          <a:xfrm>
            <a:off x="4171480" y="1440603"/>
            <a:ext cx="7634806" cy="4567588"/>
          </a:xfrm>
          <a:prstGeom prst="rect">
            <a:avLst/>
          </a:prstGeom>
          <a:noFill/>
        </p:spPr>
      </p:pic>
      <p:sp>
        <p:nvSpPr>
          <p:cNvPr id="4" name="Freeform 6">
            <a:extLst>
              <a:ext uri="{FF2B5EF4-FFF2-40B4-BE49-F238E27FC236}">
                <a16:creationId xmlns:a16="http://schemas.microsoft.com/office/drawing/2014/main" id="{E223CC8D-DC3A-5AD4-7C2D-3D16ED403C01}"/>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6"/>
            <a:stretch>
              <a:fillRect/>
            </a:stretch>
          </a:blipFill>
        </p:spPr>
        <p:txBody>
          <a:bodyPr/>
          <a:lstStyle/>
          <a:p>
            <a:endParaRPr lang="en-ID"/>
          </a:p>
        </p:txBody>
      </p:sp>
      <p:sp>
        <p:nvSpPr>
          <p:cNvPr id="7" name="Title 1">
            <a:extLst>
              <a:ext uri="{FF2B5EF4-FFF2-40B4-BE49-F238E27FC236}">
                <a16:creationId xmlns:a16="http://schemas.microsoft.com/office/drawing/2014/main" id="{A8875730-0499-AD49-7366-7D1CCD0EC9C7}"/>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25</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2834829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281-CBA9-2B78-2596-16F204D0A10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4479267-8E55-1439-0EBA-CEB7EA7982B3}"/>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DRILLING FLUIDS STRATEGY</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8140B15A-2023-9A6D-3B52-C9316188A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D8FE27B-5CF0-72B5-EC36-A3A33A1728E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39" name="Content Placeholder 2">
            <a:extLst>
              <a:ext uri="{FF2B5EF4-FFF2-40B4-BE49-F238E27FC236}">
                <a16:creationId xmlns:a16="http://schemas.microsoft.com/office/drawing/2014/main" id="{17D936EE-9B9D-0855-7CFA-49C2AC47B907}"/>
              </a:ext>
            </a:extLst>
          </p:cNvPr>
          <p:cNvSpPr>
            <a:spLocks noGrp="1"/>
          </p:cNvSpPr>
          <p:nvPr>
            <p:ph idx="1"/>
          </p:nvPr>
        </p:nvSpPr>
        <p:spPr>
          <a:xfrm>
            <a:off x="385714" y="1439127"/>
            <a:ext cx="11419190" cy="4851945"/>
          </a:xfrm>
        </p:spPr>
        <p:txBody>
          <a:bodyPr>
            <a:normAutofit/>
          </a:bodyPr>
          <a:lstStyle/>
          <a:p>
            <a:pPr>
              <a:lnSpc>
                <a:spcPct val="110000"/>
              </a:lnSpc>
            </a:pPr>
            <a:r>
              <a:rPr lang="en-ID" dirty="0">
                <a:latin typeface="Telegraf"/>
              </a:rPr>
              <a:t>Water-Based Mud (WBM) KCl-Polymer system throughout well</a:t>
            </a:r>
          </a:p>
          <a:p>
            <a:pPr>
              <a:lnSpc>
                <a:spcPct val="110000"/>
              </a:lnSpc>
            </a:pPr>
            <a:r>
              <a:rPr lang="en-ID" dirty="0">
                <a:latin typeface="Telegraf"/>
              </a:rPr>
              <a:t>Surface section MW: 8.7–9.0 ppg</a:t>
            </a:r>
          </a:p>
          <a:p>
            <a:pPr>
              <a:lnSpc>
                <a:spcPct val="110000"/>
              </a:lnSpc>
            </a:pPr>
            <a:r>
              <a:rPr lang="en-ID" dirty="0">
                <a:latin typeface="Telegraf"/>
              </a:rPr>
              <a:t>Production section MW: 9.0–9.8 ppg</a:t>
            </a:r>
          </a:p>
          <a:p>
            <a:pPr>
              <a:lnSpc>
                <a:spcPct val="110000"/>
              </a:lnSpc>
            </a:pPr>
            <a:r>
              <a:rPr lang="en-ID" dirty="0">
                <a:latin typeface="Telegraf"/>
              </a:rPr>
              <a:t>Minimum KCl concentration: 5%</a:t>
            </a:r>
          </a:p>
          <a:p>
            <a:pPr>
              <a:lnSpc>
                <a:spcPct val="110000"/>
              </a:lnSpc>
            </a:pPr>
            <a:r>
              <a:rPr lang="en-ID" dirty="0">
                <a:latin typeface="Telegraf"/>
              </a:rPr>
              <a:t>Designed to control shale swelling, maintain stability, and improve hole cleaning in directional intervals</a:t>
            </a:r>
          </a:p>
        </p:txBody>
      </p:sp>
      <p:sp>
        <p:nvSpPr>
          <p:cNvPr id="4" name="Freeform 6">
            <a:extLst>
              <a:ext uri="{FF2B5EF4-FFF2-40B4-BE49-F238E27FC236}">
                <a16:creationId xmlns:a16="http://schemas.microsoft.com/office/drawing/2014/main" id="{4CE1B2B3-B393-1BBE-B50D-DEAF00250A52}"/>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6" name="Title 1">
            <a:extLst>
              <a:ext uri="{FF2B5EF4-FFF2-40B4-BE49-F238E27FC236}">
                <a16:creationId xmlns:a16="http://schemas.microsoft.com/office/drawing/2014/main" id="{5C3AD958-83B1-92DA-6800-8A280194345C}"/>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26</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441318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37DB-7C75-9D76-D5E0-10452FE3B393}"/>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CF724F21-0A69-1889-1C6F-BE0A58C7AC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CEMENTING STRATEGY &amp; KEY OBJECTIVES</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C76B5C07-2399-222D-F4B4-27ADC8818A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3FEA24C9-13E3-E23C-4AE5-B36381307FF5}"/>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graphicFrame>
        <p:nvGraphicFramePr>
          <p:cNvPr id="3" name="Table 2">
            <a:extLst>
              <a:ext uri="{FF2B5EF4-FFF2-40B4-BE49-F238E27FC236}">
                <a16:creationId xmlns:a16="http://schemas.microsoft.com/office/drawing/2014/main" id="{AFD6AE9B-C15B-F0A9-85DF-D5128E784CE3}"/>
              </a:ext>
            </a:extLst>
          </p:cNvPr>
          <p:cNvGraphicFramePr>
            <a:graphicFrameLocks noGrp="1"/>
          </p:cNvGraphicFramePr>
          <p:nvPr>
            <p:extLst>
              <p:ext uri="{D42A27DB-BD31-4B8C-83A1-F6EECF244321}">
                <p14:modId xmlns:p14="http://schemas.microsoft.com/office/powerpoint/2010/main" val="2800992782"/>
              </p:ext>
            </p:extLst>
          </p:nvPr>
        </p:nvGraphicFramePr>
        <p:xfrm>
          <a:off x="365760" y="1163321"/>
          <a:ext cx="10403840" cy="5243721"/>
        </p:xfrm>
        <a:graphic>
          <a:graphicData uri="http://schemas.openxmlformats.org/drawingml/2006/table">
            <a:tbl>
              <a:tblPr firstRow="1" firstCol="1" bandRow="1">
                <a:tableStyleId>{5C22544A-7EE6-4342-B048-85BDC9FD1C3A}</a:tableStyleId>
              </a:tblPr>
              <a:tblGrid>
                <a:gridCol w="1838960">
                  <a:extLst>
                    <a:ext uri="{9D8B030D-6E8A-4147-A177-3AD203B41FA5}">
                      <a16:colId xmlns:a16="http://schemas.microsoft.com/office/drawing/2014/main" val="4068718949"/>
                    </a:ext>
                  </a:extLst>
                </a:gridCol>
                <a:gridCol w="3647440">
                  <a:extLst>
                    <a:ext uri="{9D8B030D-6E8A-4147-A177-3AD203B41FA5}">
                      <a16:colId xmlns:a16="http://schemas.microsoft.com/office/drawing/2014/main" val="654183353"/>
                    </a:ext>
                  </a:extLst>
                </a:gridCol>
                <a:gridCol w="4917440">
                  <a:extLst>
                    <a:ext uri="{9D8B030D-6E8A-4147-A177-3AD203B41FA5}">
                      <a16:colId xmlns:a16="http://schemas.microsoft.com/office/drawing/2014/main" val="2328330407"/>
                    </a:ext>
                  </a:extLst>
                </a:gridCol>
              </a:tblGrid>
              <a:tr h="360214">
                <a:tc>
                  <a:txBody>
                    <a:bodyPr/>
                    <a:lstStyle/>
                    <a:p>
                      <a:pPr marL="0" marR="0" algn="ctr">
                        <a:lnSpc>
                          <a:spcPct val="107000"/>
                        </a:lnSpc>
                        <a:spcAft>
                          <a:spcPts val="800"/>
                        </a:spcAft>
                        <a:buNone/>
                      </a:pPr>
                      <a:r>
                        <a:rPr lang="en-US" sz="1600" kern="0" dirty="0">
                          <a:effectLst/>
                          <a:latin typeface="Telegraf"/>
                        </a:rPr>
                        <a:t>Parameter</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Surface Section (12-1/4" OH – 9-5/8" Casing)</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Production Section (8-1/2" OH – 7" Casing)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46712367"/>
                  </a:ext>
                </a:extLst>
              </a:tr>
              <a:tr h="360214">
                <a:tc>
                  <a:txBody>
                    <a:bodyPr/>
                    <a:lstStyle/>
                    <a:p>
                      <a:pPr marL="0" marR="0" algn="ctr">
                        <a:lnSpc>
                          <a:spcPct val="107000"/>
                        </a:lnSpc>
                        <a:spcAft>
                          <a:spcPts val="800"/>
                        </a:spcAft>
                        <a:buNone/>
                      </a:pPr>
                      <a:r>
                        <a:rPr lang="en-US" sz="1600" kern="0" dirty="0">
                          <a:effectLst/>
                          <a:latin typeface="Telegraf"/>
                        </a:rPr>
                        <a:t>Depth</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1821 ftMD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5312 ftMD</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8194130"/>
                  </a:ext>
                </a:extLst>
              </a:tr>
              <a:tr h="360214">
                <a:tc>
                  <a:txBody>
                    <a:bodyPr/>
                    <a:lstStyle/>
                    <a:p>
                      <a:pPr marL="0" marR="0" algn="ctr">
                        <a:lnSpc>
                          <a:spcPct val="107000"/>
                        </a:lnSpc>
                        <a:spcAft>
                          <a:spcPts val="800"/>
                        </a:spcAft>
                        <a:buNone/>
                      </a:pPr>
                      <a:r>
                        <a:rPr lang="en-US" sz="1600" kern="0">
                          <a:effectLst/>
                          <a:latin typeface="Telegraf"/>
                        </a:rPr>
                        <a:t>Mud Type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WBM KCl-Polymer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WBM KCl-Polymer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17935148"/>
                  </a:ext>
                </a:extLst>
              </a:tr>
              <a:tr h="360214">
                <a:tc>
                  <a:txBody>
                    <a:bodyPr/>
                    <a:lstStyle/>
                    <a:p>
                      <a:pPr marL="0" marR="0" algn="ctr">
                        <a:lnSpc>
                          <a:spcPct val="107000"/>
                        </a:lnSpc>
                        <a:spcAft>
                          <a:spcPts val="800"/>
                        </a:spcAft>
                        <a:buNone/>
                      </a:pPr>
                      <a:r>
                        <a:rPr lang="en-US" sz="1600" kern="0">
                          <a:effectLst/>
                          <a:latin typeface="Telegraf"/>
                        </a:rPr>
                        <a:t>Mud Weight (MW)</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8.7–9.0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9.0–9.8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72419479"/>
                  </a:ext>
                </a:extLst>
              </a:tr>
              <a:tr h="360214">
                <a:tc>
                  <a:txBody>
                    <a:bodyPr/>
                    <a:lstStyle/>
                    <a:p>
                      <a:pPr marL="0" marR="0" algn="ctr">
                        <a:lnSpc>
                          <a:spcPct val="107000"/>
                        </a:lnSpc>
                        <a:spcAft>
                          <a:spcPts val="800"/>
                        </a:spcAft>
                        <a:buNone/>
                      </a:pPr>
                      <a:r>
                        <a:rPr lang="en-US" sz="1600" kern="0">
                          <a:effectLst/>
                          <a:latin typeface="Telegraf"/>
                        </a:rPr>
                        <a:t>Rheology (PV/YP)</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PV: ALAP, YP: 16–22</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PV: ALAP, YP: 26–30</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55043706"/>
                  </a:ext>
                </a:extLst>
              </a:tr>
              <a:tr h="360214">
                <a:tc>
                  <a:txBody>
                    <a:bodyPr/>
                    <a:lstStyle/>
                    <a:p>
                      <a:pPr marL="0" marR="0" algn="ctr">
                        <a:lnSpc>
                          <a:spcPct val="107000"/>
                        </a:lnSpc>
                        <a:spcAft>
                          <a:spcPts val="800"/>
                        </a:spcAft>
                        <a:buNone/>
                      </a:pPr>
                      <a:r>
                        <a:rPr lang="en-US" sz="1600" kern="0">
                          <a:effectLst/>
                          <a:latin typeface="Telegraf"/>
                        </a:rPr>
                        <a:t>KCl Concentration</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 5%</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78655"/>
                  </a:ext>
                </a:extLst>
              </a:tr>
              <a:tr h="360214">
                <a:tc>
                  <a:txBody>
                    <a:bodyPr/>
                    <a:lstStyle/>
                    <a:p>
                      <a:pPr marL="0" marR="0" algn="ctr">
                        <a:lnSpc>
                          <a:spcPct val="107000"/>
                        </a:lnSpc>
                        <a:spcAft>
                          <a:spcPts val="800"/>
                        </a:spcAft>
                        <a:buNone/>
                      </a:pPr>
                      <a:r>
                        <a:rPr lang="en-US" sz="1600" kern="0">
                          <a:effectLst/>
                          <a:latin typeface="Telegraf"/>
                        </a:rPr>
                        <a:t>Cement Type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Class G cement</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Class G cement</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64568114"/>
                  </a:ext>
                </a:extLst>
              </a:tr>
              <a:tr h="360214">
                <a:tc>
                  <a:txBody>
                    <a:bodyPr/>
                    <a:lstStyle/>
                    <a:p>
                      <a:pPr marL="0" marR="0" algn="ctr">
                        <a:lnSpc>
                          <a:spcPct val="107000"/>
                        </a:lnSpc>
                        <a:spcAft>
                          <a:spcPts val="800"/>
                        </a:spcAft>
                        <a:buNone/>
                      </a:pPr>
                      <a:r>
                        <a:rPr lang="en-US" sz="1600" kern="0">
                          <a:effectLst/>
                          <a:latin typeface="Telegraf"/>
                        </a:rPr>
                        <a:t>Spacer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11.0 ppg scavenger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11.0 ppg scavenger</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6352807"/>
                  </a:ext>
                </a:extLst>
              </a:tr>
              <a:tr h="360214">
                <a:tc>
                  <a:txBody>
                    <a:bodyPr/>
                    <a:lstStyle/>
                    <a:p>
                      <a:pPr marL="0" marR="0" algn="ctr">
                        <a:lnSpc>
                          <a:spcPct val="107000"/>
                        </a:lnSpc>
                        <a:spcAft>
                          <a:spcPts val="800"/>
                        </a:spcAft>
                        <a:buNone/>
                      </a:pPr>
                      <a:r>
                        <a:rPr lang="en-US" sz="1600" kern="0">
                          <a:effectLst/>
                          <a:latin typeface="Telegraf"/>
                        </a:rPr>
                        <a:t>Slurry Design</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Dual slurry: Lead 12.5 ppg, Tail 15.8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Dual slurry: Lead 12.5 ppg, Tail 15.8 ppg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39926730"/>
                  </a:ext>
                </a:extLst>
              </a:tr>
              <a:tr h="360214">
                <a:tc>
                  <a:txBody>
                    <a:bodyPr/>
                    <a:lstStyle/>
                    <a:p>
                      <a:pPr marL="0" marR="0" algn="ctr">
                        <a:lnSpc>
                          <a:spcPct val="107000"/>
                        </a:lnSpc>
                        <a:spcAft>
                          <a:spcPts val="800"/>
                        </a:spcAft>
                        <a:buNone/>
                      </a:pPr>
                      <a:r>
                        <a:rPr lang="en-US" sz="1600" kern="0">
                          <a:effectLst/>
                          <a:latin typeface="Telegraf"/>
                        </a:rPr>
                        <a:t>Tail Cement Length</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Min 200 ft above casing shoe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Min 500 ft above Bara sand</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0148"/>
                  </a:ext>
                </a:extLst>
              </a:tr>
              <a:tr h="360214">
                <a:tc>
                  <a:txBody>
                    <a:bodyPr/>
                    <a:lstStyle/>
                    <a:p>
                      <a:pPr marL="0" marR="0" algn="ctr">
                        <a:lnSpc>
                          <a:spcPct val="107000"/>
                        </a:lnSpc>
                        <a:spcAft>
                          <a:spcPts val="800"/>
                        </a:spcAft>
                        <a:buNone/>
                      </a:pPr>
                      <a:r>
                        <a:rPr lang="en-US" sz="1600" kern="0">
                          <a:effectLst/>
                          <a:latin typeface="Telegraf"/>
                        </a:rPr>
                        <a:t>Special Additives</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Light Weight cement + fiber if loss circulation occurs</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53377579"/>
                  </a:ext>
                </a:extLst>
              </a:tr>
              <a:tr h="360214">
                <a:tc>
                  <a:txBody>
                    <a:bodyPr/>
                    <a:lstStyle/>
                    <a:p>
                      <a:pPr marL="0" marR="0" algn="ctr">
                        <a:lnSpc>
                          <a:spcPct val="107000"/>
                        </a:lnSpc>
                        <a:spcAft>
                          <a:spcPts val="800"/>
                        </a:spcAft>
                        <a:buNone/>
                      </a:pPr>
                      <a:r>
                        <a:rPr lang="en-US" sz="1600" kern="0">
                          <a:effectLst/>
                          <a:latin typeface="Telegraf"/>
                        </a:rPr>
                        <a:t>Bump Plug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500 psi above final circulating pressure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500 psi above final circulating pressure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0063517"/>
                  </a:ext>
                </a:extLst>
              </a:tr>
              <a:tr h="734060">
                <a:tc>
                  <a:txBody>
                    <a:bodyPr/>
                    <a:lstStyle/>
                    <a:p>
                      <a:pPr marL="0" marR="0" algn="ctr">
                        <a:lnSpc>
                          <a:spcPct val="107000"/>
                        </a:lnSpc>
                        <a:spcAft>
                          <a:spcPts val="800"/>
                        </a:spcAft>
                        <a:buNone/>
                      </a:pPr>
                      <a:r>
                        <a:rPr lang="en-US" sz="1600" kern="0">
                          <a:effectLst/>
                          <a:latin typeface="Telegraf"/>
                        </a:rPr>
                        <a:t>Main Objective</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a:effectLst/>
                          <a:latin typeface="Telegraf"/>
                        </a:rPr>
                        <a:t>Stabilize shallow hole, isolate surface formations, provide mechanical support for deeper casing</a:t>
                      </a:r>
                      <a:endParaRPr lang="en-ID" sz="1600" kern="100">
                        <a:effectLst/>
                        <a:latin typeface="Telegraf"/>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kern="0" dirty="0">
                          <a:effectLst/>
                          <a:latin typeface="Telegraf"/>
                        </a:rPr>
                        <a:t>Isolate reservoir (bara sand), prevent gas migration, ensure long-term zonal isolation during production</a:t>
                      </a:r>
                      <a:endParaRPr lang="en-ID" sz="1600" kern="100" dirty="0">
                        <a:effectLst/>
                        <a:latin typeface="Telegraf"/>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7093656"/>
                  </a:ext>
                </a:extLst>
              </a:tr>
            </a:tbl>
          </a:graphicData>
        </a:graphic>
      </p:graphicFrame>
      <p:sp>
        <p:nvSpPr>
          <p:cNvPr id="5" name="Freeform 6">
            <a:extLst>
              <a:ext uri="{FF2B5EF4-FFF2-40B4-BE49-F238E27FC236}">
                <a16:creationId xmlns:a16="http://schemas.microsoft.com/office/drawing/2014/main" id="{645CC790-A168-773D-04EB-DF21EEE2CF54}"/>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7" name="Title 1">
            <a:extLst>
              <a:ext uri="{FF2B5EF4-FFF2-40B4-BE49-F238E27FC236}">
                <a16:creationId xmlns:a16="http://schemas.microsoft.com/office/drawing/2014/main" id="{170544EE-0624-7427-2D06-BCB0133FF2F5}"/>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27</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4241735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16EBB-D9A7-B826-E3B6-05D4C9F51F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C44100-8139-C996-B3EA-6DAF8F7AB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90A7BA79-FED7-1ED6-87EE-26B42661937B}"/>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9158B277-FB40-49C1-9683-90C2655A2B46}"/>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MINIMUM RIG SPECIFICATIONS &amp; CRITICAL THIRD-PARTY SERVICES</a:t>
            </a:r>
          </a:p>
        </p:txBody>
      </p:sp>
      <p:pic>
        <p:nvPicPr>
          <p:cNvPr id="9" name="Google Shape;40;p1" descr="Blue text and blue letters on a black background&#10;&#10;Description automatically generated">
            <a:extLst>
              <a:ext uri="{FF2B5EF4-FFF2-40B4-BE49-F238E27FC236}">
                <a16:creationId xmlns:a16="http://schemas.microsoft.com/office/drawing/2014/main" id="{DB551367-35C5-55D8-AFE8-96A3D8BBEACE}"/>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C0FD291E-81CF-04E9-2E71-565F871636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2500211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7E0E-02B8-0BEE-57ED-9192F329BB3F}"/>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7A48E4B2-CC94-2C26-3744-13774EE85379}"/>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MINIMUM RIG SPECIFICATIONS </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54218ED8-058A-6223-0502-4299232ED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4E301011-BCB1-202E-A414-40825BCD453D}"/>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graphicFrame>
        <p:nvGraphicFramePr>
          <p:cNvPr id="4" name="Table 3">
            <a:extLst>
              <a:ext uri="{FF2B5EF4-FFF2-40B4-BE49-F238E27FC236}">
                <a16:creationId xmlns:a16="http://schemas.microsoft.com/office/drawing/2014/main" id="{DB6F04FC-9A20-41D9-D41A-1FF47DD647EC}"/>
              </a:ext>
            </a:extLst>
          </p:cNvPr>
          <p:cNvGraphicFramePr>
            <a:graphicFrameLocks noGrp="1"/>
          </p:cNvGraphicFramePr>
          <p:nvPr>
            <p:extLst>
              <p:ext uri="{D42A27DB-BD31-4B8C-83A1-F6EECF244321}">
                <p14:modId xmlns:p14="http://schemas.microsoft.com/office/powerpoint/2010/main" val="2811020994"/>
              </p:ext>
            </p:extLst>
          </p:nvPr>
        </p:nvGraphicFramePr>
        <p:xfrm>
          <a:off x="209745" y="1046375"/>
          <a:ext cx="11560629" cy="5606502"/>
        </p:xfrm>
        <a:graphic>
          <a:graphicData uri="http://schemas.openxmlformats.org/drawingml/2006/table">
            <a:tbl>
              <a:tblPr firstRow="1" bandRow="1">
                <a:tableStyleId>{5C22544A-7EE6-4342-B048-85BDC9FD1C3A}</a:tableStyleId>
              </a:tblPr>
              <a:tblGrid>
                <a:gridCol w="1459200">
                  <a:extLst>
                    <a:ext uri="{9D8B030D-6E8A-4147-A177-3AD203B41FA5}">
                      <a16:colId xmlns:a16="http://schemas.microsoft.com/office/drawing/2014/main" val="20000"/>
                    </a:ext>
                  </a:extLst>
                </a:gridCol>
                <a:gridCol w="2165264">
                  <a:extLst>
                    <a:ext uri="{9D8B030D-6E8A-4147-A177-3AD203B41FA5}">
                      <a16:colId xmlns:a16="http://schemas.microsoft.com/office/drawing/2014/main" val="20001"/>
                    </a:ext>
                  </a:extLst>
                </a:gridCol>
                <a:gridCol w="2541832">
                  <a:extLst>
                    <a:ext uri="{9D8B030D-6E8A-4147-A177-3AD203B41FA5}">
                      <a16:colId xmlns:a16="http://schemas.microsoft.com/office/drawing/2014/main" val="20002"/>
                    </a:ext>
                  </a:extLst>
                </a:gridCol>
                <a:gridCol w="5394333">
                  <a:extLst>
                    <a:ext uri="{9D8B030D-6E8A-4147-A177-3AD203B41FA5}">
                      <a16:colId xmlns:a16="http://schemas.microsoft.com/office/drawing/2014/main" val="20003"/>
                    </a:ext>
                  </a:extLst>
                </a:gridCol>
              </a:tblGrid>
              <a:tr h="316870">
                <a:tc>
                  <a:txBody>
                    <a:bodyPr/>
                    <a:lstStyle/>
                    <a:p>
                      <a:pPr algn="ctr"/>
                      <a:r>
                        <a:rPr sz="1100" b="1" i="0">
                          <a:solidFill>
                            <a:srgbClr val="FFFFFF"/>
                          </a:solidFill>
                          <a:latin typeface="Telegraf"/>
                        </a:rPr>
                        <a:t>Category</a:t>
                      </a:r>
                    </a:p>
                  </a:txBody>
                  <a:tcPr>
                    <a:solidFill>
                      <a:srgbClr val="002060"/>
                    </a:solidFill>
                  </a:tcPr>
                </a:tc>
                <a:tc>
                  <a:txBody>
                    <a:bodyPr/>
                    <a:lstStyle/>
                    <a:p>
                      <a:pPr algn="ctr"/>
                      <a:r>
                        <a:rPr sz="1100" b="1" i="0" dirty="0">
                          <a:solidFill>
                            <a:srgbClr val="FFFFFF"/>
                          </a:solidFill>
                          <a:latin typeface="Telegraf"/>
                        </a:rPr>
                        <a:t>Parameter</a:t>
                      </a:r>
                    </a:p>
                  </a:txBody>
                  <a:tcPr>
                    <a:solidFill>
                      <a:srgbClr val="002060"/>
                    </a:solidFill>
                  </a:tcPr>
                </a:tc>
                <a:tc>
                  <a:txBody>
                    <a:bodyPr/>
                    <a:lstStyle/>
                    <a:p>
                      <a:pPr algn="ctr"/>
                      <a:r>
                        <a:rPr sz="1100" b="1" i="0">
                          <a:solidFill>
                            <a:srgbClr val="FFFFFF"/>
                          </a:solidFill>
                          <a:latin typeface="Telegraf"/>
                        </a:rPr>
                        <a:t>Minimum Specification</a:t>
                      </a:r>
                    </a:p>
                  </a:txBody>
                  <a:tcPr>
                    <a:solidFill>
                      <a:srgbClr val="002060"/>
                    </a:solidFill>
                  </a:tcPr>
                </a:tc>
                <a:tc>
                  <a:txBody>
                    <a:bodyPr/>
                    <a:lstStyle/>
                    <a:p>
                      <a:pPr algn="ctr"/>
                      <a:r>
                        <a:rPr sz="1100" b="1" i="0">
                          <a:solidFill>
                            <a:srgbClr val="FFFFFF"/>
                          </a:solidFill>
                          <a:latin typeface="Telegraf"/>
                        </a:rPr>
                        <a:t>Design Basis</a:t>
                      </a:r>
                    </a:p>
                  </a:txBody>
                  <a:tcPr>
                    <a:solidFill>
                      <a:srgbClr val="002060"/>
                    </a:solidFill>
                  </a:tcPr>
                </a:tc>
                <a:extLst>
                  <a:ext uri="{0D108BD9-81ED-4DB2-BD59-A6C34878D82A}">
                    <a16:rowId xmlns:a16="http://schemas.microsoft.com/office/drawing/2014/main" val="10000"/>
                  </a:ext>
                </a:extLst>
              </a:tr>
              <a:tr h="340876">
                <a:tc>
                  <a:txBody>
                    <a:bodyPr/>
                    <a:lstStyle/>
                    <a:p>
                      <a:pPr algn="ctr"/>
                      <a:r>
                        <a:rPr sz="1100" b="1" i="0">
                          <a:solidFill>
                            <a:srgbClr val="002060"/>
                          </a:solidFill>
                          <a:latin typeface="Telegraf"/>
                        </a:rPr>
                        <a:t>RIG SYSTEM</a:t>
                      </a:r>
                    </a:p>
                  </a:txBody>
                  <a:tcPr>
                    <a:solidFill>
                      <a:srgbClr val="D6E4F0"/>
                    </a:solidFill>
                  </a:tcPr>
                </a:tc>
                <a:tc>
                  <a:txBody>
                    <a:bodyPr/>
                    <a:lstStyle/>
                    <a:p>
                      <a:pPr algn="l"/>
                      <a:r>
                        <a:rPr sz="1100" b="1" i="0">
                          <a:solidFill>
                            <a:srgbClr val="1B2733"/>
                          </a:solidFill>
                          <a:latin typeface="Telegraf"/>
                        </a:rPr>
                        <a:t>Rig Type</a:t>
                      </a:r>
                    </a:p>
                  </a:txBody>
                  <a:tcPr>
                    <a:solidFill>
                      <a:srgbClr val="FFFFFF"/>
                    </a:solidFill>
                  </a:tcPr>
                </a:tc>
                <a:tc>
                  <a:txBody>
                    <a:bodyPr/>
                    <a:lstStyle/>
                    <a:p>
                      <a:pPr algn="l"/>
                      <a:r>
                        <a:rPr sz="1100" b="0" i="0">
                          <a:solidFill>
                            <a:srgbClr val="002060"/>
                          </a:solidFill>
                          <a:latin typeface="Telegraf"/>
                        </a:rPr>
                        <a:t>Land Drilling Rig – Conventional</a:t>
                      </a:r>
                    </a:p>
                  </a:txBody>
                  <a:tcPr>
                    <a:solidFill>
                      <a:srgbClr val="FFFFFF"/>
                    </a:solidFill>
                  </a:tcPr>
                </a:tc>
                <a:tc>
                  <a:txBody>
                    <a:bodyPr/>
                    <a:lstStyle/>
                    <a:p>
                      <a:pPr algn="l"/>
                      <a:r>
                        <a:rPr sz="1100" b="0" i="1">
                          <a:solidFill>
                            <a:srgbClr val="5B6B76"/>
                          </a:solidFill>
                          <a:latin typeface="Telegraf"/>
                        </a:rPr>
                        <a:t>Onshore operation</a:t>
                      </a:r>
                    </a:p>
                  </a:txBody>
                  <a:tcPr>
                    <a:solidFill>
                      <a:srgbClr val="FFFFFF"/>
                    </a:solidFill>
                  </a:tcPr>
                </a:tc>
                <a:extLst>
                  <a:ext uri="{0D108BD9-81ED-4DB2-BD59-A6C34878D82A}">
                    <a16:rowId xmlns:a16="http://schemas.microsoft.com/office/drawing/2014/main" val="10001"/>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Rated Hook Load</a:t>
                      </a:r>
                    </a:p>
                  </a:txBody>
                  <a:tcPr>
                    <a:solidFill>
                      <a:srgbClr val="F0F5FA"/>
                    </a:solidFill>
                  </a:tcPr>
                </a:tc>
                <a:tc>
                  <a:txBody>
                    <a:bodyPr/>
                    <a:lstStyle/>
                    <a:p>
                      <a:pPr algn="l"/>
                      <a:r>
                        <a:rPr sz="1100" b="0" i="0">
                          <a:solidFill>
                            <a:srgbClr val="002060"/>
                          </a:solidFill>
                          <a:latin typeface="Telegraf"/>
                        </a:rPr>
                        <a:t>300,000 lbs (300K)</a:t>
                      </a:r>
                    </a:p>
                  </a:txBody>
                  <a:tcPr>
                    <a:solidFill>
                      <a:srgbClr val="F0F5FA"/>
                    </a:solidFill>
                  </a:tcPr>
                </a:tc>
                <a:tc>
                  <a:txBody>
                    <a:bodyPr/>
                    <a:lstStyle/>
                    <a:p>
                      <a:pPr algn="l"/>
                      <a:r>
                        <a:rPr sz="1100" b="0" i="1">
                          <a:solidFill>
                            <a:srgbClr val="5B6B76"/>
                          </a:solidFill>
                          <a:latin typeface="Telegraf"/>
                        </a:rPr>
                        <a:t>7" casing 23 ppf × 5,312 ft MD + drill string + safety margin</a:t>
                      </a:r>
                    </a:p>
                  </a:txBody>
                  <a:tcPr>
                    <a:solidFill>
                      <a:srgbClr val="F0F5FA"/>
                    </a:solidFill>
                  </a:tcPr>
                </a:tc>
                <a:extLst>
                  <a:ext uri="{0D108BD9-81ED-4DB2-BD59-A6C34878D82A}">
                    <a16:rowId xmlns:a16="http://schemas.microsoft.com/office/drawing/2014/main" val="10002"/>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Substructure Clear Height</a:t>
                      </a:r>
                    </a:p>
                  </a:txBody>
                  <a:tcPr>
                    <a:solidFill>
                      <a:srgbClr val="FFFFFF"/>
                    </a:solidFill>
                  </a:tcPr>
                </a:tc>
                <a:tc>
                  <a:txBody>
                    <a:bodyPr/>
                    <a:lstStyle/>
                    <a:p>
                      <a:pPr algn="l"/>
                      <a:r>
                        <a:rPr sz="1100" b="0" i="0" dirty="0">
                          <a:solidFill>
                            <a:srgbClr val="002060"/>
                          </a:solidFill>
                          <a:latin typeface="Telegraf"/>
                        </a:rPr>
                        <a:t>Min. 25 ft</a:t>
                      </a:r>
                    </a:p>
                  </a:txBody>
                  <a:tcPr>
                    <a:solidFill>
                      <a:srgbClr val="FFFFFF"/>
                    </a:solidFill>
                  </a:tcPr>
                </a:tc>
                <a:tc>
                  <a:txBody>
                    <a:bodyPr/>
                    <a:lstStyle/>
                    <a:p>
                      <a:pPr algn="l"/>
                      <a:r>
                        <a:rPr sz="1100" b="0" i="1">
                          <a:solidFill>
                            <a:srgbClr val="5B6B76"/>
                          </a:solidFill>
                          <a:latin typeface="Telegraf"/>
                        </a:rPr>
                        <a:t>BOP space out total height 24.25 ft (Fig 6.1 – Casing Head configuration)</a:t>
                      </a:r>
                    </a:p>
                  </a:txBody>
                  <a:tcPr>
                    <a:solidFill>
                      <a:srgbClr val="FFFFFF"/>
                    </a:solidFill>
                  </a:tcPr>
                </a:tc>
                <a:extLst>
                  <a:ext uri="{0D108BD9-81ED-4DB2-BD59-A6C34878D82A}">
                    <a16:rowId xmlns:a16="http://schemas.microsoft.com/office/drawing/2014/main" val="10003"/>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Drawworks Power</a:t>
                      </a:r>
                    </a:p>
                  </a:txBody>
                  <a:tcPr>
                    <a:solidFill>
                      <a:srgbClr val="F0F5FA"/>
                    </a:solidFill>
                  </a:tcPr>
                </a:tc>
                <a:tc>
                  <a:txBody>
                    <a:bodyPr/>
                    <a:lstStyle/>
                    <a:p>
                      <a:pPr algn="l"/>
                      <a:r>
                        <a:rPr sz="1100" b="0" i="0" dirty="0">
                          <a:solidFill>
                            <a:srgbClr val="002060"/>
                          </a:solidFill>
                          <a:latin typeface="Telegraf"/>
                        </a:rPr>
                        <a:t>≥ 500 HP</a:t>
                      </a:r>
                    </a:p>
                  </a:txBody>
                  <a:tcPr>
                    <a:solidFill>
                      <a:srgbClr val="F0F5FA"/>
                    </a:solidFill>
                  </a:tcPr>
                </a:tc>
                <a:tc>
                  <a:txBody>
                    <a:bodyPr/>
                    <a:lstStyle/>
                    <a:p>
                      <a:pPr algn="l"/>
                      <a:r>
                        <a:rPr sz="1100" b="0" i="1">
                          <a:solidFill>
                            <a:srgbClr val="5B6B76"/>
                          </a:solidFill>
                          <a:latin typeface="Telegraf"/>
                        </a:rPr>
                        <a:t>TD 5,312 ft MD; J-type directional profile with torque &amp; drag load</a:t>
                      </a:r>
                    </a:p>
                  </a:txBody>
                  <a:tcPr>
                    <a:solidFill>
                      <a:srgbClr val="F0F5FA"/>
                    </a:solidFill>
                  </a:tcPr>
                </a:tc>
                <a:extLst>
                  <a:ext uri="{0D108BD9-81ED-4DB2-BD59-A6C34878D82A}">
                    <a16:rowId xmlns:a16="http://schemas.microsoft.com/office/drawing/2014/main" val="10004"/>
                  </a:ext>
                </a:extLst>
              </a:tr>
              <a:tr h="340876">
                <a:tc>
                  <a:txBody>
                    <a:bodyPr/>
                    <a:lstStyle/>
                    <a:p>
                      <a:pPr algn="ctr"/>
                      <a:r>
                        <a:rPr sz="1100" b="1" i="0">
                          <a:solidFill>
                            <a:srgbClr val="002060"/>
                          </a:solidFill>
                          <a:latin typeface="Telegraf"/>
                        </a:rPr>
                        <a:t>ROTARY / TOP DRIVE</a:t>
                      </a:r>
                    </a:p>
                  </a:txBody>
                  <a:tcPr>
                    <a:solidFill>
                      <a:srgbClr val="D6E4F0"/>
                    </a:solidFill>
                  </a:tcPr>
                </a:tc>
                <a:tc>
                  <a:txBody>
                    <a:bodyPr/>
                    <a:lstStyle/>
                    <a:p>
                      <a:pPr algn="l"/>
                      <a:r>
                        <a:rPr sz="1100" b="1" i="0">
                          <a:solidFill>
                            <a:srgbClr val="1B2733"/>
                          </a:solidFill>
                          <a:latin typeface="Telegraf"/>
                        </a:rPr>
                        <a:t>Top Drive</a:t>
                      </a:r>
                    </a:p>
                  </a:txBody>
                  <a:tcPr>
                    <a:solidFill>
                      <a:srgbClr val="FFFFFF"/>
                    </a:solidFill>
                  </a:tcPr>
                </a:tc>
                <a:tc>
                  <a:txBody>
                    <a:bodyPr/>
                    <a:lstStyle/>
                    <a:p>
                      <a:pPr algn="l"/>
                      <a:r>
                        <a:rPr sz="1100" b="0" i="0">
                          <a:solidFill>
                            <a:srgbClr val="002060"/>
                          </a:solidFill>
                          <a:latin typeface="Telegraf"/>
                        </a:rPr>
                        <a:t>Required (electric or hydraulic)</a:t>
                      </a:r>
                    </a:p>
                  </a:txBody>
                  <a:tcPr>
                    <a:solidFill>
                      <a:srgbClr val="FFFFFF"/>
                    </a:solidFill>
                  </a:tcPr>
                </a:tc>
                <a:tc>
                  <a:txBody>
                    <a:bodyPr/>
                    <a:lstStyle/>
                    <a:p>
                      <a:pPr algn="l"/>
                      <a:r>
                        <a:rPr sz="1100" b="0" i="1">
                          <a:solidFill>
                            <a:srgbClr val="5B6B76"/>
                          </a:solidFill>
                          <a:latin typeface="Telegraf"/>
                        </a:rPr>
                        <a:t>J-type trajectory; 30.41° max inclination — rotary kelly not suitable</a:t>
                      </a:r>
                    </a:p>
                  </a:txBody>
                  <a:tcPr>
                    <a:solidFill>
                      <a:srgbClr val="FFFFFF"/>
                    </a:solidFill>
                  </a:tcPr>
                </a:tc>
                <a:extLst>
                  <a:ext uri="{0D108BD9-81ED-4DB2-BD59-A6C34878D82A}">
                    <a16:rowId xmlns:a16="http://schemas.microsoft.com/office/drawing/2014/main" val="10005"/>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Rotary Table Opening</a:t>
                      </a:r>
                    </a:p>
                  </a:txBody>
                  <a:tcPr>
                    <a:solidFill>
                      <a:srgbClr val="F0F5FA"/>
                    </a:solidFill>
                  </a:tcPr>
                </a:tc>
                <a:tc>
                  <a:txBody>
                    <a:bodyPr/>
                    <a:lstStyle/>
                    <a:p>
                      <a:pPr algn="l"/>
                      <a:r>
                        <a:rPr sz="1100" b="0" i="0">
                          <a:solidFill>
                            <a:srgbClr val="002060"/>
                          </a:solidFill>
                          <a:latin typeface="Telegraf"/>
                        </a:rPr>
                        <a:t>Min. 17½"</a:t>
                      </a:r>
                    </a:p>
                  </a:txBody>
                  <a:tcPr>
                    <a:solidFill>
                      <a:srgbClr val="F0F5FA"/>
                    </a:solidFill>
                  </a:tcPr>
                </a:tc>
                <a:tc>
                  <a:txBody>
                    <a:bodyPr/>
                    <a:lstStyle/>
                    <a:p>
                      <a:pPr algn="l"/>
                      <a:r>
                        <a:rPr sz="1100" b="0" i="1">
                          <a:solidFill>
                            <a:srgbClr val="5B6B76"/>
                          </a:solidFill>
                          <a:latin typeface="Telegraf"/>
                        </a:rPr>
                        <a:t>Accommodate 12¼" bit &amp; 9⅝" casing with tool joint through rotary</a:t>
                      </a:r>
                    </a:p>
                  </a:txBody>
                  <a:tcPr>
                    <a:solidFill>
                      <a:srgbClr val="F0F5FA"/>
                    </a:solidFill>
                  </a:tcPr>
                </a:tc>
                <a:extLst>
                  <a:ext uri="{0D108BD9-81ED-4DB2-BD59-A6C34878D82A}">
                    <a16:rowId xmlns:a16="http://schemas.microsoft.com/office/drawing/2014/main" val="10006"/>
                  </a:ext>
                </a:extLst>
              </a:tr>
              <a:tr h="340876">
                <a:tc>
                  <a:txBody>
                    <a:bodyPr/>
                    <a:lstStyle/>
                    <a:p>
                      <a:pPr algn="ctr"/>
                      <a:r>
                        <a:rPr sz="1100" b="1" i="0">
                          <a:solidFill>
                            <a:srgbClr val="002060"/>
                          </a:solidFill>
                          <a:latin typeface="Telegraf"/>
                        </a:rPr>
                        <a:t>HYDRAULICS</a:t>
                      </a:r>
                    </a:p>
                  </a:txBody>
                  <a:tcPr>
                    <a:solidFill>
                      <a:srgbClr val="D6E4F0"/>
                    </a:solidFill>
                  </a:tcPr>
                </a:tc>
                <a:tc>
                  <a:txBody>
                    <a:bodyPr/>
                    <a:lstStyle/>
                    <a:p>
                      <a:pPr algn="l"/>
                      <a:r>
                        <a:rPr sz="1100" b="1" i="0">
                          <a:solidFill>
                            <a:srgbClr val="1B2733"/>
                          </a:solidFill>
                          <a:latin typeface="Telegraf"/>
                        </a:rPr>
                        <a:t>Mud Pump</a:t>
                      </a:r>
                    </a:p>
                  </a:txBody>
                  <a:tcPr>
                    <a:solidFill>
                      <a:srgbClr val="FFFFFF"/>
                    </a:solidFill>
                  </a:tcPr>
                </a:tc>
                <a:tc>
                  <a:txBody>
                    <a:bodyPr/>
                    <a:lstStyle/>
                    <a:p>
                      <a:pPr algn="l"/>
                      <a:r>
                        <a:rPr sz="1100" b="0" i="0">
                          <a:solidFill>
                            <a:srgbClr val="002060"/>
                          </a:solidFill>
                          <a:latin typeface="Telegraf"/>
                        </a:rPr>
                        <a:t>2 units × ≥ 500 GPM each</a:t>
                      </a:r>
                    </a:p>
                  </a:txBody>
                  <a:tcPr>
                    <a:solidFill>
                      <a:srgbClr val="FFFFFF"/>
                    </a:solidFill>
                  </a:tcPr>
                </a:tc>
                <a:tc>
                  <a:txBody>
                    <a:bodyPr/>
                    <a:lstStyle/>
                    <a:p>
                      <a:pPr algn="l"/>
                      <a:r>
                        <a:rPr sz="1100" b="0" i="1">
                          <a:solidFill>
                            <a:srgbClr val="5B6B76"/>
                          </a:solidFill>
                          <a:latin typeface="Telegraf"/>
                        </a:rPr>
                        <a:t>ECD management &amp; hole cleaning in 12¼" directional interval (BUR 5°/100ft)</a:t>
                      </a:r>
                    </a:p>
                  </a:txBody>
                  <a:tcPr>
                    <a:solidFill>
                      <a:srgbClr val="FFFFFF"/>
                    </a:solidFill>
                  </a:tcPr>
                </a:tc>
                <a:extLst>
                  <a:ext uri="{0D108BD9-81ED-4DB2-BD59-A6C34878D82A}">
                    <a16:rowId xmlns:a16="http://schemas.microsoft.com/office/drawing/2014/main" val="10007"/>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Stand Pipe Pressure Rating</a:t>
                      </a:r>
                    </a:p>
                  </a:txBody>
                  <a:tcPr>
                    <a:solidFill>
                      <a:srgbClr val="F0F5FA"/>
                    </a:solidFill>
                  </a:tcPr>
                </a:tc>
                <a:tc>
                  <a:txBody>
                    <a:bodyPr/>
                    <a:lstStyle/>
                    <a:p>
                      <a:pPr algn="l"/>
                      <a:r>
                        <a:rPr sz="1100" b="0" i="0">
                          <a:solidFill>
                            <a:srgbClr val="002060"/>
                          </a:solidFill>
                          <a:latin typeface="Telegraf"/>
                        </a:rPr>
                        <a:t>≥ 3,000 psi</a:t>
                      </a:r>
                    </a:p>
                  </a:txBody>
                  <a:tcPr>
                    <a:solidFill>
                      <a:srgbClr val="F0F5FA"/>
                    </a:solidFill>
                  </a:tcPr>
                </a:tc>
                <a:tc>
                  <a:txBody>
                    <a:bodyPr/>
                    <a:lstStyle/>
                    <a:p>
                      <a:pPr algn="l"/>
                      <a:r>
                        <a:rPr sz="1100" b="0" i="1">
                          <a:solidFill>
                            <a:srgbClr val="5B6B76"/>
                          </a:solidFill>
                          <a:latin typeface="Telegraf"/>
                        </a:rPr>
                        <a:t>WBM KCl-Polymer; MW 8.7–9.8 ppg; directional section</a:t>
                      </a:r>
                    </a:p>
                  </a:txBody>
                  <a:tcPr>
                    <a:solidFill>
                      <a:srgbClr val="F0F5FA"/>
                    </a:solidFill>
                  </a:tcPr>
                </a:tc>
                <a:extLst>
                  <a:ext uri="{0D108BD9-81ED-4DB2-BD59-A6C34878D82A}">
                    <a16:rowId xmlns:a16="http://schemas.microsoft.com/office/drawing/2014/main" val="10008"/>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Active Mud Pit Volume</a:t>
                      </a:r>
                    </a:p>
                  </a:txBody>
                  <a:tcPr>
                    <a:solidFill>
                      <a:srgbClr val="FFFFFF"/>
                    </a:solidFill>
                  </a:tcPr>
                </a:tc>
                <a:tc>
                  <a:txBody>
                    <a:bodyPr/>
                    <a:lstStyle/>
                    <a:p>
                      <a:pPr algn="l"/>
                      <a:r>
                        <a:rPr sz="1100" b="0" i="0">
                          <a:solidFill>
                            <a:srgbClr val="002060"/>
                          </a:solidFill>
                          <a:latin typeface="Telegraf"/>
                        </a:rPr>
                        <a:t>Min. 3× open hole volume</a:t>
                      </a:r>
                    </a:p>
                  </a:txBody>
                  <a:tcPr>
                    <a:solidFill>
                      <a:srgbClr val="FFFFFF"/>
                    </a:solidFill>
                  </a:tcPr>
                </a:tc>
                <a:tc>
                  <a:txBody>
                    <a:bodyPr/>
                    <a:lstStyle/>
                    <a:p>
                      <a:pPr algn="l"/>
                      <a:r>
                        <a:rPr sz="1100" b="0" i="1">
                          <a:solidFill>
                            <a:srgbClr val="5B6B76"/>
                          </a:solidFill>
                          <a:latin typeface="Telegraf"/>
                        </a:rPr>
                        <a:t>Full-well WBM KCl-Polymer; fluid management &amp; contingency</a:t>
                      </a:r>
                    </a:p>
                  </a:txBody>
                  <a:tcPr>
                    <a:solidFill>
                      <a:srgbClr val="FFFFFF"/>
                    </a:solidFill>
                  </a:tcPr>
                </a:tc>
                <a:extLst>
                  <a:ext uri="{0D108BD9-81ED-4DB2-BD59-A6C34878D82A}">
                    <a16:rowId xmlns:a16="http://schemas.microsoft.com/office/drawing/2014/main" val="10009"/>
                  </a:ext>
                </a:extLst>
              </a:tr>
              <a:tr h="384086">
                <a:tc>
                  <a:txBody>
                    <a:bodyPr/>
                    <a:lstStyle/>
                    <a:p>
                      <a:pPr algn="ctr"/>
                      <a:r>
                        <a:rPr sz="1100" b="1" i="0">
                          <a:solidFill>
                            <a:srgbClr val="002060"/>
                          </a:solidFill>
                          <a:latin typeface="Telegraf"/>
                        </a:rPr>
                        <a:t>WELL CONTROL</a:t>
                      </a:r>
                    </a:p>
                  </a:txBody>
                  <a:tcPr>
                    <a:solidFill>
                      <a:srgbClr val="D6E4F0"/>
                    </a:solidFill>
                  </a:tcPr>
                </a:tc>
                <a:tc>
                  <a:txBody>
                    <a:bodyPr/>
                    <a:lstStyle/>
                    <a:p>
                      <a:pPr algn="l"/>
                      <a:r>
                        <a:rPr sz="1100" b="1" i="0">
                          <a:solidFill>
                            <a:srgbClr val="1B2733"/>
                          </a:solidFill>
                          <a:latin typeface="Telegraf"/>
                        </a:rPr>
                        <a:t>BOP Stack Configuration</a:t>
                      </a:r>
                    </a:p>
                  </a:txBody>
                  <a:tcPr>
                    <a:solidFill>
                      <a:srgbClr val="F0F5FA"/>
                    </a:solidFill>
                  </a:tcPr>
                </a:tc>
                <a:tc>
                  <a:txBody>
                    <a:bodyPr/>
                    <a:lstStyle/>
                    <a:p>
                      <a:pPr algn="l"/>
                      <a:r>
                        <a:rPr sz="1100" b="0" i="0">
                          <a:solidFill>
                            <a:srgbClr val="002060"/>
                          </a:solidFill>
                          <a:latin typeface="Telegraf"/>
                        </a:rPr>
                        <a:t>Annular 13-5/8" × 5M + Double Ram 13-5/8" × 5M</a:t>
                      </a:r>
                    </a:p>
                  </a:txBody>
                  <a:tcPr>
                    <a:solidFill>
                      <a:srgbClr val="F0F5FA"/>
                    </a:solidFill>
                  </a:tcPr>
                </a:tc>
                <a:tc>
                  <a:txBody>
                    <a:bodyPr/>
                    <a:lstStyle/>
                    <a:p>
                      <a:pPr algn="l"/>
                      <a:r>
                        <a:rPr sz="1100" b="0" i="1">
                          <a:solidFill>
                            <a:srgbClr val="5B6B76"/>
                          </a:solidFill>
                          <a:latin typeface="Telegraf"/>
                        </a:rPr>
                        <a:t>Per BOP space out Fig 6.1 &amp; 6.2 — Annular + Blind Ram + Pipe Ram</a:t>
                      </a:r>
                    </a:p>
                  </a:txBody>
                  <a:tcPr>
                    <a:solidFill>
                      <a:srgbClr val="F0F5FA"/>
                    </a:solidFill>
                  </a:tcPr>
                </a:tc>
                <a:extLst>
                  <a:ext uri="{0D108BD9-81ED-4DB2-BD59-A6C34878D82A}">
                    <a16:rowId xmlns:a16="http://schemas.microsoft.com/office/drawing/2014/main" val="10010"/>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BOP Pressure Rating</a:t>
                      </a:r>
                    </a:p>
                  </a:txBody>
                  <a:tcPr>
                    <a:solidFill>
                      <a:srgbClr val="FFFFFF"/>
                    </a:solidFill>
                  </a:tcPr>
                </a:tc>
                <a:tc>
                  <a:txBody>
                    <a:bodyPr/>
                    <a:lstStyle/>
                    <a:p>
                      <a:pPr algn="l"/>
                      <a:r>
                        <a:rPr sz="1100" b="0" i="0">
                          <a:solidFill>
                            <a:srgbClr val="002060"/>
                          </a:solidFill>
                          <a:latin typeface="Telegraf"/>
                        </a:rPr>
                        <a:t>5,000 psi (5M) – API 16A</a:t>
                      </a:r>
                    </a:p>
                  </a:txBody>
                  <a:tcPr>
                    <a:solidFill>
                      <a:srgbClr val="FFFFFF"/>
                    </a:solidFill>
                  </a:tcPr>
                </a:tc>
                <a:tc>
                  <a:txBody>
                    <a:bodyPr/>
                    <a:lstStyle/>
                    <a:p>
                      <a:pPr algn="l"/>
                      <a:r>
                        <a:rPr sz="1100" b="0" i="1">
                          <a:solidFill>
                            <a:srgbClr val="5B6B76"/>
                          </a:solidFill>
                          <a:latin typeface="Telegraf"/>
                        </a:rPr>
                        <a:t>BOP components rated 5M per space out drawing; production section up to 5,312 ft MD</a:t>
                      </a:r>
                    </a:p>
                  </a:txBody>
                  <a:tcPr>
                    <a:solidFill>
                      <a:srgbClr val="FFFFFF"/>
                    </a:solidFill>
                  </a:tcPr>
                </a:tc>
                <a:extLst>
                  <a:ext uri="{0D108BD9-81ED-4DB2-BD59-A6C34878D82A}">
                    <a16:rowId xmlns:a16="http://schemas.microsoft.com/office/drawing/2014/main" val="10011"/>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Choke Manifold</a:t>
                      </a:r>
                    </a:p>
                  </a:txBody>
                  <a:tcPr>
                    <a:solidFill>
                      <a:srgbClr val="F0F5FA"/>
                    </a:solidFill>
                  </a:tcPr>
                </a:tc>
                <a:tc>
                  <a:txBody>
                    <a:bodyPr/>
                    <a:lstStyle/>
                    <a:p>
                      <a:pPr algn="l"/>
                      <a:r>
                        <a:rPr sz="1100" b="0" i="0">
                          <a:solidFill>
                            <a:srgbClr val="002060"/>
                          </a:solidFill>
                          <a:latin typeface="Telegraf"/>
                        </a:rPr>
                        <a:t>Annular + Blind Ram + Pipe Ram configuration</a:t>
                      </a:r>
                    </a:p>
                  </a:txBody>
                  <a:tcPr>
                    <a:solidFill>
                      <a:srgbClr val="F0F5FA"/>
                    </a:solidFill>
                  </a:tcPr>
                </a:tc>
                <a:tc>
                  <a:txBody>
                    <a:bodyPr/>
                    <a:lstStyle/>
                    <a:p>
                      <a:pPr algn="l"/>
                      <a:r>
                        <a:rPr sz="1100" b="0" i="1">
                          <a:solidFill>
                            <a:srgbClr val="5B6B76"/>
                          </a:solidFill>
                          <a:latin typeface="Telegraf"/>
                        </a:rPr>
                        <a:t>Per Fig 6.3 – Choke Manifold with check valve, NO/NC valve arrangement</a:t>
                      </a:r>
                    </a:p>
                  </a:txBody>
                  <a:tcPr>
                    <a:solidFill>
                      <a:srgbClr val="F0F5FA"/>
                    </a:solidFill>
                  </a:tcPr>
                </a:tc>
                <a:extLst>
                  <a:ext uri="{0D108BD9-81ED-4DB2-BD59-A6C34878D82A}">
                    <a16:rowId xmlns:a16="http://schemas.microsoft.com/office/drawing/2014/main" val="10012"/>
                  </a:ext>
                </a:extLst>
              </a:tr>
              <a:tr h="340876">
                <a:tc>
                  <a:txBody>
                    <a:bodyPr/>
                    <a:lstStyle/>
                    <a:p>
                      <a:pPr algn="ctr"/>
                      <a:r>
                        <a:rPr sz="1100" b="1" i="0">
                          <a:solidFill>
                            <a:srgbClr val="002060"/>
                          </a:solidFill>
                          <a:latin typeface="Telegraf"/>
                        </a:rPr>
                        <a:t>POWER &amp; UTILITIES</a:t>
                      </a:r>
                    </a:p>
                  </a:txBody>
                  <a:tcPr>
                    <a:solidFill>
                      <a:srgbClr val="D6E4F0"/>
                    </a:solidFill>
                  </a:tcPr>
                </a:tc>
                <a:tc>
                  <a:txBody>
                    <a:bodyPr/>
                    <a:lstStyle/>
                    <a:p>
                      <a:pPr algn="l"/>
                      <a:r>
                        <a:rPr sz="1100" b="1" i="0">
                          <a:solidFill>
                            <a:srgbClr val="1B2733"/>
                          </a:solidFill>
                          <a:latin typeface="Telegraf"/>
                        </a:rPr>
                        <a:t>Power Generation</a:t>
                      </a:r>
                    </a:p>
                  </a:txBody>
                  <a:tcPr>
                    <a:solidFill>
                      <a:srgbClr val="FFFFFF"/>
                    </a:solidFill>
                  </a:tcPr>
                </a:tc>
                <a:tc>
                  <a:txBody>
                    <a:bodyPr/>
                    <a:lstStyle/>
                    <a:p>
                      <a:pPr algn="l"/>
                      <a:r>
                        <a:rPr sz="1100" b="0" i="0">
                          <a:solidFill>
                            <a:srgbClr val="002060"/>
                          </a:solidFill>
                          <a:latin typeface="Telegraf"/>
                        </a:rPr>
                        <a:t>Min. 750 kVA total</a:t>
                      </a:r>
                    </a:p>
                  </a:txBody>
                  <a:tcPr>
                    <a:solidFill>
                      <a:srgbClr val="FFFFFF"/>
                    </a:solidFill>
                  </a:tcPr>
                </a:tc>
                <a:tc>
                  <a:txBody>
                    <a:bodyPr/>
                    <a:lstStyle/>
                    <a:p>
                      <a:pPr algn="l"/>
                      <a:r>
                        <a:rPr sz="1100" b="0" i="1">
                          <a:solidFill>
                            <a:srgbClr val="5B6B76"/>
                          </a:solidFill>
                          <a:latin typeface="Telegraf"/>
                        </a:rPr>
                        <a:t>All rig services + MWD/LWD tools + wireline units + ESP installation</a:t>
                      </a:r>
                    </a:p>
                  </a:txBody>
                  <a:tcPr>
                    <a:solidFill>
                      <a:srgbClr val="FFFFFF"/>
                    </a:solidFill>
                  </a:tcPr>
                </a:tc>
                <a:extLst>
                  <a:ext uri="{0D108BD9-81ED-4DB2-BD59-A6C34878D82A}">
                    <a16:rowId xmlns:a16="http://schemas.microsoft.com/office/drawing/2014/main" val="10013"/>
                  </a:ext>
                </a:extLst>
              </a:tr>
              <a:tr h="384086">
                <a:tc>
                  <a:txBody>
                    <a:bodyPr/>
                    <a:lstStyle/>
                    <a:p>
                      <a:pPr algn="ctr"/>
                      <a:endParaRPr sz="1100">
                        <a:latin typeface="Telegraf"/>
                      </a:endParaRPr>
                    </a:p>
                  </a:txBody>
                  <a:tcPr>
                    <a:solidFill>
                      <a:srgbClr val="D6E4F0"/>
                    </a:solidFill>
                  </a:tcPr>
                </a:tc>
                <a:tc>
                  <a:txBody>
                    <a:bodyPr/>
                    <a:lstStyle/>
                    <a:p>
                      <a:pPr algn="l"/>
                      <a:r>
                        <a:rPr sz="1100" b="1" i="0">
                          <a:solidFill>
                            <a:srgbClr val="1B2733"/>
                          </a:solidFill>
                          <a:latin typeface="Telegraf"/>
                        </a:rPr>
                        <a:t>Data / Communications</a:t>
                      </a:r>
                    </a:p>
                  </a:txBody>
                  <a:tcPr>
                    <a:solidFill>
                      <a:srgbClr val="F0F5FA"/>
                    </a:solidFill>
                  </a:tcPr>
                </a:tc>
                <a:tc>
                  <a:txBody>
                    <a:bodyPr/>
                    <a:lstStyle/>
                    <a:p>
                      <a:pPr algn="l"/>
                      <a:r>
                        <a:rPr sz="1100" b="0" i="0">
                          <a:solidFill>
                            <a:srgbClr val="002060"/>
                          </a:solidFill>
                          <a:latin typeface="Telegraf"/>
                        </a:rPr>
                        <a:t>WITSML real-time data link</a:t>
                      </a:r>
                    </a:p>
                  </a:txBody>
                  <a:tcPr>
                    <a:solidFill>
                      <a:srgbClr val="F0F5FA"/>
                    </a:solidFill>
                  </a:tcPr>
                </a:tc>
                <a:tc>
                  <a:txBody>
                    <a:bodyPr/>
                    <a:lstStyle/>
                    <a:p>
                      <a:pPr algn="l"/>
                      <a:r>
                        <a:rPr sz="1100" b="0" i="1" dirty="0">
                          <a:solidFill>
                            <a:srgbClr val="5B6B76"/>
                          </a:solidFill>
                          <a:latin typeface="Telegraf"/>
                        </a:rPr>
                        <a:t>MWD/LWD downhole telemetry &amp; remote monitoring capability</a:t>
                      </a:r>
                    </a:p>
                  </a:txBody>
                  <a:tcPr>
                    <a:solidFill>
                      <a:srgbClr val="F0F5FA"/>
                    </a:solidFill>
                  </a:tcPr>
                </a:tc>
                <a:extLst>
                  <a:ext uri="{0D108BD9-81ED-4DB2-BD59-A6C34878D82A}">
                    <a16:rowId xmlns:a16="http://schemas.microsoft.com/office/drawing/2014/main" val="10014"/>
                  </a:ext>
                </a:extLst>
              </a:tr>
            </a:tbl>
          </a:graphicData>
        </a:graphic>
      </p:graphicFrame>
      <p:sp>
        <p:nvSpPr>
          <p:cNvPr id="5" name="Freeform 6">
            <a:extLst>
              <a:ext uri="{FF2B5EF4-FFF2-40B4-BE49-F238E27FC236}">
                <a16:creationId xmlns:a16="http://schemas.microsoft.com/office/drawing/2014/main" id="{00AEFCAE-7840-63FB-8252-99A2B2A2190A}"/>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7" name="Title 1">
            <a:extLst>
              <a:ext uri="{FF2B5EF4-FFF2-40B4-BE49-F238E27FC236}">
                <a16:creationId xmlns:a16="http://schemas.microsoft.com/office/drawing/2014/main" id="{E9CA3F4F-1AD9-BC5E-F5BD-E88D099C3C04}"/>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29</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766059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281-CBA9-2B78-2596-16F204D0A10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34479267-8E55-1439-0EBA-CEB7EA7982B3}"/>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CRITICAL THIRD-PARTY SERVICES </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8140B15A-2023-9A6D-3B52-C9316188AF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DD8FE27B-5CF0-72B5-EC36-A3A33A1728E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4" name="Rectangle 3">
            <a:extLst>
              <a:ext uri="{FF2B5EF4-FFF2-40B4-BE49-F238E27FC236}">
                <a16:creationId xmlns:a16="http://schemas.microsoft.com/office/drawing/2014/main" id="{797B79A8-1CAE-4F57-499C-76D807FA4D1C}"/>
              </a:ext>
            </a:extLst>
          </p:cNvPr>
          <p:cNvSpPr/>
          <p:nvPr/>
        </p:nvSpPr>
        <p:spPr>
          <a:xfrm>
            <a:off x="457200" y="1246223"/>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 name="Rectangle 5">
            <a:extLst>
              <a:ext uri="{FF2B5EF4-FFF2-40B4-BE49-F238E27FC236}">
                <a16:creationId xmlns:a16="http://schemas.microsoft.com/office/drawing/2014/main" id="{024955A6-D47D-ADFF-961C-FC3201017621}"/>
              </a:ext>
            </a:extLst>
          </p:cNvPr>
          <p:cNvSpPr/>
          <p:nvPr/>
        </p:nvSpPr>
        <p:spPr>
          <a:xfrm>
            <a:off x="457200" y="1246223"/>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 name="Oval 7">
            <a:extLst>
              <a:ext uri="{FF2B5EF4-FFF2-40B4-BE49-F238E27FC236}">
                <a16:creationId xmlns:a16="http://schemas.microsoft.com/office/drawing/2014/main" id="{E21191A5-FD8A-5D3B-3466-FF16CB3D760D}"/>
              </a:ext>
            </a:extLst>
          </p:cNvPr>
          <p:cNvSpPr/>
          <p:nvPr/>
        </p:nvSpPr>
        <p:spPr>
          <a:xfrm>
            <a:off x="704088" y="1337663"/>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10" name="TextBox 9">
            <a:extLst>
              <a:ext uri="{FF2B5EF4-FFF2-40B4-BE49-F238E27FC236}">
                <a16:creationId xmlns:a16="http://schemas.microsoft.com/office/drawing/2014/main" id="{A4F1BF8C-C92B-14BE-280A-1B4CB55106B8}"/>
              </a:ext>
            </a:extLst>
          </p:cNvPr>
          <p:cNvSpPr txBox="1"/>
          <p:nvPr/>
        </p:nvSpPr>
        <p:spPr>
          <a:xfrm>
            <a:off x="704088" y="1337663"/>
            <a:ext cx="301752" cy="230832"/>
          </a:xfrm>
          <a:prstGeom prst="rect">
            <a:avLst/>
          </a:prstGeom>
          <a:noFill/>
        </p:spPr>
        <p:txBody>
          <a:bodyPr wrap="square">
            <a:spAutoFit/>
          </a:bodyPr>
          <a:lstStyle/>
          <a:p>
            <a:pPr algn="ctr"/>
            <a:r>
              <a:rPr sz="900" b="1" i="0">
                <a:solidFill>
                  <a:srgbClr val="FFFFFF"/>
                </a:solidFill>
                <a:latin typeface="Telegraf"/>
              </a:rPr>
              <a:t>01</a:t>
            </a:r>
          </a:p>
        </p:txBody>
      </p:sp>
      <p:sp>
        <p:nvSpPr>
          <p:cNvPr id="12" name="TextBox 11">
            <a:extLst>
              <a:ext uri="{FF2B5EF4-FFF2-40B4-BE49-F238E27FC236}">
                <a16:creationId xmlns:a16="http://schemas.microsoft.com/office/drawing/2014/main" id="{50B89ADB-6355-F4B8-EA70-D5CB957233C9}"/>
              </a:ext>
            </a:extLst>
          </p:cNvPr>
          <p:cNvSpPr txBox="1"/>
          <p:nvPr/>
        </p:nvSpPr>
        <p:spPr>
          <a:xfrm>
            <a:off x="1078992" y="1310231"/>
            <a:ext cx="4828031" cy="276999"/>
          </a:xfrm>
          <a:prstGeom prst="rect">
            <a:avLst/>
          </a:prstGeom>
          <a:noFill/>
        </p:spPr>
        <p:txBody>
          <a:bodyPr wrap="square">
            <a:spAutoFit/>
          </a:bodyPr>
          <a:lstStyle/>
          <a:p>
            <a:pPr algn="l"/>
            <a:r>
              <a:rPr sz="1200" b="1" i="0" dirty="0">
                <a:solidFill>
                  <a:srgbClr val="002060"/>
                </a:solidFill>
                <a:latin typeface="Telegraf"/>
              </a:rPr>
              <a:t>Directional Drilling &amp; MWD/LWD</a:t>
            </a:r>
          </a:p>
        </p:txBody>
      </p:sp>
      <p:sp>
        <p:nvSpPr>
          <p:cNvPr id="14" name="TextBox 13">
            <a:extLst>
              <a:ext uri="{FF2B5EF4-FFF2-40B4-BE49-F238E27FC236}">
                <a16:creationId xmlns:a16="http://schemas.microsoft.com/office/drawing/2014/main" id="{B81CA2B4-9D27-ECB3-DBC6-06684D729276}"/>
              </a:ext>
            </a:extLst>
          </p:cNvPr>
          <p:cNvSpPr txBox="1"/>
          <p:nvPr/>
        </p:nvSpPr>
        <p:spPr>
          <a:xfrm>
            <a:off x="704088" y="1685135"/>
            <a:ext cx="5230368" cy="246221"/>
          </a:xfrm>
          <a:prstGeom prst="rect">
            <a:avLst/>
          </a:prstGeom>
          <a:noFill/>
        </p:spPr>
        <p:txBody>
          <a:bodyPr wrap="square">
            <a:spAutoFit/>
          </a:bodyPr>
          <a:lstStyle/>
          <a:p>
            <a:pPr algn="l"/>
            <a:r>
              <a:rPr sz="1000" b="0" i="0">
                <a:solidFill>
                  <a:srgbClr val="1B2733"/>
                </a:solidFill>
                <a:latin typeface="Telegraf"/>
              </a:rPr>
              <a:t>Real-time downhole trajectory monitoring &amp; control throughout build and tangent sections</a:t>
            </a:r>
          </a:p>
        </p:txBody>
      </p:sp>
      <p:sp>
        <p:nvSpPr>
          <p:cNvPr id="16" name="TextBox 15">
            <a:extLst>
              <a:ext uri="{FF2B5EF4-FFF2-40B4-BE49-F238E27FC236}">
                <a16:creationId xmlns:a16="http://schemas.microsoft.com/office/drawing/2014/main" id="{DD305421-D464-6A98-A149-E9E0C4D79A2E}"/>
              </a:ext>
            </a:extLst>
          </p:cNvPr>
          <p:cNvSpPr txBox="1"/>
          <p:nvPr/>
        </p:nvSpPr>
        <p:spPr>
          <a:xfrm>
            <a:off x="704088" y="1977743"/>
            <a:ext cx="5230368" cy="230832"/>
          </a:xfrm>
          <a:prstGeom prst="rect">
            <a:avLst/>
          </a:prstGeom>
          <a:noFill/>
        </p:spPr>
        <p:txBody>
          <a:bodyPr wrap="square">
            <a:spAutoFit/>
          </a:bodyPr>
          <a:lstStyle/>
          <a:p>
            <a:pPr algn="l"/>
            <a:r>
              <a:rPr sz="900" b="0" i="1">
                <a:solidFill>
                  <a:srgbClr val="5B6B76"/>
                </a:solidFill>
                <a:latin typeface="Telegraf"/>
              </a:rPr>
              <a:t>▸  J-type; KOP 200 ft MD; BUR 5°/100ft; 30.41° inclination; horizontal offset 2,437 ft</a:t>
            </a:r>
          </a:p>
        </p:txBody>
      </p:sp>
      <p:sp>
        <p:nvSpPr>
          <p:cNvPr id="18" name="Rectangle 17">
            <a:extLst>
              <a:ext uri="{FF2B5EF4-FFF2-40B4-BE49-F238E27FC236}">
                <a16:creationId xmlns:a16="http://schemas.microsoft.com/office/drawing/2014/main" id="{7B1D3A06-27A8-E191-1F33-833B80E6800A}"/>
              </a:ext>
            </a:extLst>
          </p:cNvPr>
          <p:cNvSpPr/>
          <p:nvPr/>
        </p:nvSpPr>
        <p:spPr>
          <a:xfrm>
            <a:off x="6153912" y="1246223"/>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0" name="Rectangle 19">
            <a:extLst>
              <a:ext uri="{FF2B5EF4-FFF2-40B4-BE49-F238E27FC236}">
                <a16:creationId xmlns:a16="http://schemas.microsoft.com/office/drawing/2014/main" id="{C6AAE8E6-61BD-F39F-75E8-BFACE02B871E}"/>
              </a:ext>
            </a:extLst>
          </p:cNvPr>
          <p:cNvSpPr/>
          <p:nvPr/>
        </p:nvSpPr>
        <p:spPr>
          <a:xfrm>
            <a:off x="6153912" y="1246223"/>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2" name="Oval 21">
            <a:extLst>
              <a:ext uri="{FF2B5EF4-FFF2-40B4-BE49-F238E27FC236}">
                <a16:creationId xmlns:a16="http://schemas.microsoft.com/office/drawing/2014/main" id="{48C039C1-DA97-6E1C-E500-5F1986B107A9}"/>
              </a:ext>
            </a:extLst>
          </p:cNvPr>
          <p:cNvSpPr/>
          <p:nvPr/>
        </p:nvSpPr>
        <p:spPr>
          <a:xfrm>
            <a:off x="6400800" y="1337663"/>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24" name="TextBox 23">
            <a:extLst>
              <a:ext uri="{FF2B5EF4-FFF2-40B4-BE49-F238E27FC236}">
                <a16:creationId xmlns:a16="http://schemas.microsoft.com/office/drawing/2014/main" id="{E8E6B7AE-D3DD-16D3-6FAE-BD24B53FA221}"/>
              </a:ext>
            </a:extLst>
          </p:cNvPr>
          <p:cNvSpPr txBox="1"/>
          <p:nvPr/>
        </p:nvSpPr>
        <p:spPr>
          <a:xfrm>
            <a:off x="6400800" y="1337663"/>
            <a:ext cx="301752" cy="230832"/>
          </a:xfrm>
          <a:prstGeom prst="rect">
            <a:avLst/>
          </a:prstGeom>
          <a:noFill/>
        </p:spPr>
        <p:txBody>
          <a:bodyPr wrap="square">
            <a:spAutoFit/>
          </a:bodyPr>
          <a:lstStyle/>
          <a:p>
            <a:pPr algn="ctr"/>
            <a:r>
              <a:rPr sz="900" b="1" i="0">
                <a:solidFill>
                  <a:srgbClr val="FFFFFF"/>
                </a:solidFill>
                <a:latin typeface="Telegraf"/>
              </a:rPr>
              <a:t>02</a:t>
            </a:r>
          </a:p>
        </p:txBody>
      </p:sp>
      <p:sp>
        <p:nvSpPr>
          <p:cNvPr id="26" name="TextBox 25">
            <a:extLst>
              <a:ext uri="{FF2B5EF4-FFF2-40B4-BE49-F238E27FC236}">
                <a16:creationId xmlns:a16="http://schemas.microsoft.com/office/drawing/2014/main" id="{3CDE2735-C1A8-3511-B9AF-9D58FCD7C4BB}"/>
              </a:ext>
            </a:extLst>
          </p:cNvPr>
          <p:cNvSpPr txBox="1"/>
          <p:nvPr/>
        </p:nvSpPr>
        <p:spPr>
          <a:xfrm>
            <a:off x="6775703" y="1310231"/>
            <a:ext cx="4828031" cy="276999"/>
          </a:xfrm>
          <a:prstGeom prst="rect">
            <a:avLst/>
          </a:prstGeom>
          <a:noFill/>
        </p:spPr>
        <p:txBody>
          <a:bodyPr wrap="square">
            <a:spAutoFit/>
          </a:bodyPr>
          <a:lstStyle/>
          <a:p>
            <a:pPr algn="l"/>
            <a:r>
              <a:rPr sz="1200" b="1" i="0">
                <a:solidFill>
                  <a:srgbClr val="002060"/>
                </a:solidFill>
                <a:latin typeface="Telegraf"/>
              </a:rPr>
              <a:t>Mud Engineering (Drilling Fluids)</a:t>
            </a:r>
          </a:p>
        </p:txBody>
      </p:sp>
      <p:sp>
        <p:nvSpPr>
          <p:cNvPr id="28" name="TextBox 27">
            <a:extLst>
              <a:ext uri="{FF2B5EF4-FFF2-40B4-BE49-F238E27FC236}">
                <a16:creationId xmlns:a16="http://schemas.microsoft.com/office/drawing/2014/main" id="{2877BCC0-A04B-781C-B23A-B6150A669032}"/>
              </a:ext>
            </a:extLst>
          </p:cNvPr>
          <p:cNvSpPr txBox="1"/>
          <p:nvPr/>
        </p:nvSpPr>
        <p:spPr>
          <a:xfrm>
            <a:off x="6400800" y="1685135"/>
            <a:ext cx="5230368" cy="246221"/>
          </a:xfrm>
          <a:prstGeom prst="rect">
            <a:avLst/>
          </a:prstGeom>
          <a:noFill/>
        </p:spPr>
        <p:txBody>
          <a:bodyPr wrap="square">
            <a:spAutoFit/>
          </a:bodyPr>
          <a:lstStyle/>
          <a:p>
            <a:pPr algn="l"/>
            <a:r>
              <a:rPr sz="1000" b="0" i="0">
                <a:solidFill>
                  <a:srgbClr val="1B2733"/>
                </a:solidFill>
                <a:latin typeface="Telegraf"/>
              </a:rPr>
              <a:t>WBM KCl-Polymer design, on-site maintenance, MW &amp; rheology control per hole section</a:t>
            </a:r>
          </a:p>
        </p:txBody>
      </p:sp>
      <p:sp>
        <p:nvSpPr>
          <p:cNvPr id="30" name="TextBox 29">
            <a:extLst>
              <a:ext uri="{FF2B5EF4-FFF2-40B4-BE49-F238E27FC236}">
                <a16:creationId xmlns:a16="http://schemas.microsoft.com/office/drawing/2014/main" id="{60CF4DC5-83B9-8AA1-17DC-1D88C802B563}"/>
              </a:ext>
            </a:extLst>
          </p:cNvPr>
          <p:cNvSpPr txBox="1"/>
          <p:nvPr/>
        </p:nvSpPr>
        <p:spPr>
          <a:xfrm>
            <a:off x="6400800" y="1977743"/>
            <a:ext cx="5230368" cy="230832"/>
          </a:xfrm>
          <a:prstGeom prst="rect">
            <a:avLst/>
          </a:prstGeom>
          <a:noFill/>
        </p:spPr>
        <p:txBody>
          <a:bodyPr wrap="square">
            <a:spAutoFit/>
          </a:bodyPr>
          <a:lstStyle/>
          <a:p>
            <a:pPr algn="l"/>
            <a:r>
              <a:rPr sz="900" b="0" i="1">
                <a:solidFill>
                  <a:srgbClr val="5B6B76"/>
                </a:solidFill>
                <a:latin typeface="Telegraf"/>
              </a:rPr>
              <a:t>▸  MW 8.7–9.0 ppg (surface) / 9.0–9.8 ppg (prod); KCl ≥5%; YP 16–22 / 26–30; reactive clay mitigation</a:t>
            </a:r>
          </a:p>
        </p:txBody>
      </p:sp>
      <p:sp>
        <p:nvSpPr>
          <p:cNvPr id="32" name="Rectangle 31">
            <a:extLst>
              <a:ext uri="{FF2B5EF4-FFF2-40B4-BE49-F238E27FC236}">
                <a16:creationId xmlns:a16="http://schemas.microsoft.com/office/drawing/2014/main" id="{1EAF8EE8-AE60-DDFE-2CDB-AAECC9A51CB0}"/>
              </a:ext>
            </a:extLst>
          </p:cNvPr>
          <p:cNvSpPr/>
          <p:nvPr/>
        </p:nvSpPr>
        <p:spPr>
          <a:xfrm>
            <a:off x="457200" y="2453231"/>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34" name="Rectangle 33">
            <a:extLst>
              <a:ext uri="{FF2B5EF4-FFF2-40B4-BE49-F238E27FC236}">
                <a16:creationId xmlns:a16="http://schemas.microsoft.com/office/drawing/2014/main" id="{3F60569A-CA81-DCC8-28D6-F81CD7AAE3E6}"/>
              </a:ext>
            </a:extLst>
          </p:cNvPr>
          <p:cNvSpPr/>
          <p:nvPr/>
        </p:nvSpPr>
        <p:spPr>
          <a:xfrm>
            <a:off x="457200" y="2453231"/>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38" name="Oval 37">
            <a:extLst>
              <a:ext uri="{FF2B5EF4-FFF2-40B4-BE49-F238E27FC236}">
                <a16:creationId xmlns:a16="http://schemas.microsoft.com/office/drawing/2014/main" id="{C4CCED7D-41EA-56FF-55A4-7FD45A98B91A}"/>
              </a:ext>
            </a:extLst>
          </p:cNvPr>
          <p:cNvSpPr/>
          <p:nvPr/>
        </p:nvSpPr>
        <p:spPr>
          <a:xfrm>
            <a:off x="704088" y="2544671"/>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41" name="TextBox 40">
            <a:extLst>
              <a:ext uri="{FF2B5EF4-FFF2-40B4-BE49-F238E27FC236}">
                <a16:creationId xmlns:a16="http://schemas.microsoft.com/office/drawing/2014/main" id="{8B1B45C2-DAFF-FAB2-441E-6904AA3FA07F}"/>
              </a:ext>
            </a:extLst>
          </p:cNvPr>
          <p:cNvSpPr txBox="1"/>
          <p:nvPr/>
        </p:nvSpPr>
        <p:spPr>
          <a:xfrm>
            <a:off x="704088" y="2544671"/>
            <a:ext cx="301752" cy="230832"/>
          </a:xfrm>
          <a:prstGeom prst="rect">
            <a:avLst/>
          </a:prstGeom>
          <a:noFill/>
        </p:spPr>
        <p:txBody>
          <a:bodyPr wrap="square">
            <a:spAutoFit/>
          </a:bodyPr>
          <a:lstStyle/>
          <a:p>
            <a:pPr algn="ctr"/>
            <a:r>
              <a:rPr sz="900" b="1" i="0">
                <a:solidFill>
                  <a:srgbClr val="FFFFFF"/>
                </a:solidFill>
                <a:latin typeface="Telegraf"/>
              </a:rPr>
              <a:t>03</a:t>
            </a:r>
          </a:p>
        </p:txBody>
      </p:sp>
      <p:sp>
        <p:nvSpPr>
          <p:cNvPr id="43" name="TextBox 42">
            <a:extLst>
              <a:ext uri="{FF2B5EF4-FFF2-40B4-BE49-F238E27FC236}">
                <a16:creationId xmlns:a16="http://schemas.microsoft.com/office/drawing/2014/main" id="{CC28FFEB-15A2-5E8F-E723-97DA8E59D9C2}"/>
              </a:ext>
            </a:extLst>
          </p:cNvPr>
          <p:cNvSpPr txBox="1"/>
          <p:nvPr/>
        </p:nvSpPr>
        <p:spPr>
          <a:xfrm>
            <a:off x="1078992" y="2517239"/>
            <a:ext cx="4828031" cy="276999"/>
          </a:xfrm>
          <a:prstGeom prst="rect">
            <a:avLst/>
          </a:prstGeom>
          <a:noFill/>
        </p:spPr>
        <p:txBody>
          <a:bodyPr wrap="square">
            <a:spAutoFit/>
          </a:bodyPr>
          <a:lstStyle/>
          <a:p>
            <a:pPr algn="l"/>
            <a:r>
              <a:rPr sz="1200" b="1" i="0">
                <a:solidFill>
                  <a:srgbClr val="002060"/>
                </a:solidFill>
                <a:latin typeface="Telegraf"/>
              </a:rPr>
              <a:t>Mud Logging</a:t>
            </a:r>
          </a:p>
        </p:txBody>
      </p:sp>
      <p:sp>
        <p:nvSpPr>
          <p:cNvPr id="45" name="TextBox 44">
            <a:extLst>
              <a:ext uri="{FF2B5EF4-FFF2-40B4-BE49-F238E27FC236}">
                <a16:creationId xmlns:a16="http://schemas.microsoft.com/office/drawing/2014/main" id="{F937A1B6-BC1E-620A-22E3-366432377825}"/>
              </a:ext>
            </a:extLst>
          </p:cNvPr>
          <p:cNvSpPr txBox="1"/>
          <p:nvPr/>
        </p:nvSpPr>
        <p:spPr>
          <a:xfrm>
            <a:off x="704088" y="2892143"/>
            <a:ext cx="5230368" cy="246221"/>
          </a:xfrm>
          <a:prstGeom prst="rect">
            <a:avLst/>
          </a:prstGeom>
          <a:noFill/>
        </p:spPr>
        <p:txBody>
          <a:bodyPr wrap="square">
            <a:spAutoFit/>
          </a:bodyPr>
          <a:lstStyle/>
          <a:p>
            <a:pPr algn="l"/>
            <a:r>
              <a:rPr sz="1000" b="0" i="0">
                <a:solidFill>
                  <a:srgbClr val="1B2733"/>
                </a:solidFill>
                <a:latin typeface="Telegraf"/>
              </a:rPr>
              <a:t>Continuous gas monitoring, lithology identification &amp; drilling parameter recording</a:t>
            </a:r>
          </a:p>
        </p:txBody>
      </p:sp>
      <p:sp>
        <p:nvSpPr>
          <p:cNvPr id="47" name="TextBox 46">
            <a:extLst>
              <a:ext uri="{FF2B5EF4-FFF2-40B4-BE49-F238E27FC236}">
                <a16:creationId xmlns:a16="http://schemas.microsoft.com/office/drawing/2014/main" id="{24998FE8-576A-7FB2-AA6C-15C61923CBEE}"/>
              </a:ext>
            </a:extLst>
          </p:cNvPr>
          <p:cNvSpPr txBox="1"/>
          <p:nvPr/>
        </p:nvSpPr>
        <p:spPr>
          <a:xfrm>
            <a:off x="704088" y="3184751"/>
            <a:ext cx="5230368" cy="230832"/>
          </a:xfrm>
          <a:prstGeom prst="rect">
            <a:avLst/>
          </a:prstGeom>
          <a:noFill/>
        </p:spPr>
        <p:txBody>
          <a:bodyPr wrap="square">
            <a:spAutoFit/>
          </a:bodyPr>
          <a:lstStyle/>
          <a:p>
            <a:pPr algn="l"/>
            <a:r>
              <a:rPr sz="900" b="0" i="1" dirty="0">
                <a:solidFill>
                  <a:srgbClr val="5B6B76"/>
                </a:solidFill>
                <a:latin typeface="Telegraf"/>
              </a:rPr>
              <a:t>▸  Full well coverage; critical at </a:t>
            </a:r>
            <a:r>
              <a:rPr lang="en-US" sz="900" b="0" i="1" dirty="0">
                <a:solidFill>
                  <a:srgbClr val="5B6B76"/>
                </a:solidFill>
                <a:latin typeface="Telegraf"/>
              </a:rPr>
              <a:t>bara</a:t>
            </a:r>
            <a:r>
              <a:rPr sz="900" b="0" i="1" dirty="0">
                <a:solidFill>
                  <a:srgbClr val="5B6B76"/>
                </a:solidFill>
                <a:latin typeface="Telegraf"/>
              </a:rPr>
              <a:t> sand entry for hydrocarbon detection</a:t>
            </a:r>
          </a:p>
        </p:txBody>
      </p:sp>
      <p:sp>
        <p:nvSpPr>
          <p:cNvPr id="49" name="Rectangle 48">
            <a:extLst>
              <a:ext uri="{FF2B5EF4-FFF2-40B4-BE49-F238E27FC236}">
                <a16:creationId xmlns:a16="http://schemas.microsoft.com/office/drawing/2014/main" id="{609A2CF7-142A-1180-B3B9-B5702B8960DA}"/>
              </a:ext>
            </a:extLst>
          </p:cNvPr>
          <p:cNvSpPr/>
          <p:nvPr/>
        </p:nvSpPr>
        <p:spPr>
          <a:xfrm>
            <a:off x="6153912" y="2453231"/>
            <a:ext cx="5577840" cy="1115568"/>
          </a:xfrm>
          <a:prstGeom prst="rect">
            <a:avLst/>
          </a:prstGeom>
          <a:solidFill>
            <a:srgbClr val="E6EE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1" name="Rectangle 50">
            <a:extLst>
              <a:ext uri="{FF2B5EF4-FFF2-40B4-BE49-F238E27FC236}">
                <a16:creationId xmlns:a16="http://schemas.microsoft.com/office/drawing/2014/main" id="{6F324D6A-488F-7041-D9F9-FAF71CD19E4A}"/>
              </a:ext>
            </a:extLst>
          </p:cNvPr>
          <p:cNvSpPr/>
          <p:nvPr/>
        </p:nvSpPr>
        <p:spPr>
          <a:xfrm>
            <a:off x="6153912" y="2453231"/>
            <a:ext cx="182880" cy="111556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3" name="Oval 52">
            <a:extLst>
              <a:ext uri="{FF2B5EF4-FFF2-40B4-BE49-F238E27FC236}">
                <a16:creationId xmlns:a16="http://schemas.microsoft.com/office/drawing/2014/main" id="{FAEDD2D8-6855-7F21-A320-CDDCB0DF0B41}"/>
              </a:ext>
            </a:extLst>
          </p:cNvPr>
          <p:cNvSpPr/>
          <p:nvPr/>
        </p:nvSpPr>
        <p:spPr>
          <a:xfrm>
            <a:off x="6400800" y="2544671"/>
            <a:ext cx="301752" cy="301752"/>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55" name="TextBox 54">
            <a:extLst>
              <a:ext uri="{FF2B5EF4-FFF2-40B4-BE49-F238E27FC236}">
                <a16:creationId xmlns:a16="http://schemas.microsoft.com/office/drawing/2014/main" id="{B6A2334B-084C-F5DA-79CC-5975D805E025}"/>
              </a:ext>
            </a:extLst>
          </p:cNvPr>
          <p:cNvSpPr txBox="1"/>
          <p:nvPr/>
        </p:nvSpPr>
        <p:spPr>
          <a:xfrm>
            <a:off x="6400800" y="2544671"/>
            <a:ext cx="301752" cy="230832"/>
          </a:xfrm>
          <a:prstGeom prst="rect">
            <a:avLst/>
          </a:prstGeom>
          <a:noFill/>
        </p:spPr>
        <p:txBody>
          <a:bodyPr wrap="square">
            <a:spAutoFit/>
          </a:bodyPr>
          <a:lstStyle/>
          <a:p>
            <a:pPr algn="ctr"/>
            <a:r>
              <a:rPr sz="900" b="1" i="0">
                <a:solidFill>
                  <a:srgbClr val="FFFFFF"/>
                </a:solidFill>
                <a:latin typeface="Telegraf"/>
              </a:rPr>
              <a:t>04</a:t>
            </a:r>
          </a:p>
        </p:txBody>
      </p:sp>
      <p:sp>
        <p:nvSpPr>
          <p:cNvPr id="57" name="TextBox 56">
            <a:extLst>
              <a:ext uri="{FF2B5EF4-FFF2-40B4-BE49-F238E27FC236}">
                <a16:creationId xmlns:a16="http://schemas.microsoft.com/office/drawing/2014/main" id="{169BE98D-2D05-3784-F39B-7AF3C196DC93}"/>
              </a:ext>
            </a:extLst>
          </p:cNvPr>
          <p:cNvSpPr txBox="1"/>
          <p:nvPr/>
        </p:nvSpPr>
        <p:spPr>
          <a:xfrm>
            <a:off x="6775703" y="2517239"/>
            <a:ext cx="4828031" cy="276999"/>
          </a:xfrm>
          <a:prstGeom prst="rect">
            <a:avLst/>
          </a:prstGeom>
          <a:noFill/>
        </p:spPr>
        <p:txBody>
          <a:bodyPr wrap="square">
            <a:spAutoFit/>
          </a:bodyPr>
          <a:lstStyle/>
          <a:p>
            <a:pPr algn="l"/>
            <a:r>
              <a:rPr sz="1200" b="1" i="0">
                <a:solidFill>
                  <a:srgbClr val="002060"/>
                </a:solidFill>
                <a:latin typeface="Telegraf"/>
              </a:rPr>
              <a:t>Cementing Services</a:t>
            </a:r>
          </a:p>
        </p:txBody>
      </p:sp>
      <p:sp>
        <p:nvSpPr>
          <p:cNvPr id="59" name="TextBox 58">
            <a:extLst>
              <a:ext uri="{FF2B5EF4-FFF2-40B4-BE49-F238E27FC236}">
                <a16:creationId xmlns:a16="http://schemas.microsoft.com/office/drawing/2014/main" id="{0B970543-681B-30ED-0B91-EA09B66C13A5}"/>
              </a:ext>
            </a:extLst>
          </p:cNvPr>
          <p:cNvSpPr txBox="1"/>
          <p:nvPr/>
        </p:nvSpPr>
        <p:spPr>
          <a:xfrm>
            <a:off x="6400800" y="2892143"/>
            <a:ext cx="5230368" cy="246221"/>
          </a:xfrm>
          <a:prstGeom prst="rect">
            <a:avLst/>
          </a:prstGeom>
          <a:noFill/>
        </p:spPr>
        <p:txBody>
          <a:bodyPr wrap="square">
            <a:spAutoFit/>
          </a:bodyPr>
          <a:lstStyle/>
          <a:p>
            <a:pPr algn="l"/>
            <a:r>
              <a:rPr sz="1000" b="0" i="0">
                <a:solidFill>
                  <a:srgbClr val="1B2733"/>
                </a:solidFill>
                <a:latin typeface="Telegraf"/>
              </a:rPr>
              <a:t>Dual slurry design, mixing, pumping &amp; post-job evaluation — both casing sections</a:t>
            </a:r>
          </a:p>
        </p:txBody>
      </p:sp>
      <p:sp>
        <p:nvSpPr>
          <p:cNvPr id="61" name="TextBox 60">
            <a:extLst>
              <a:ext uri="{FF2B5EF4-FFF2-40B4-BE49-F238E27FC236}">
                <a16:creationId xmlns:a16="http://schemas.microsoft.com/office/drawing/2014/main" id="{F6C0AC6F-03F2-C80D-F89F-1FD1B3C2A9E0}"/>
              </a:ext>
            </a:extLst>
          </p:cNvPr>
          <p:cNvSpPr txBox="1"/>
          <p:nvPr/>
        </p:nvSpPr>
        <p:spPr>
          <a:xfrm>
            <a:off x="6400800" y="3184751"/>
            <a:ext cx="5230368" cy="230832"/>
          </a:xfrm>
          <a:prstGeom prst="rect">
            <a:avLst/>
          </a:prstGeom>
          <a:noFill/>
        </p:spPr>
        <p:txBody>
          <a:bodyPr wrap="square">
            <a:spAutoFit/>
          </a:bodyPr>
          <a:lstStyle/>
          <a:p>
            <a:pPr algn="l"/>
            <a:r>
              <a:rPr sz="900" b="0" i="1" dirty="0">
                <a:solidFill>
                  <a:srgbClr val="5B6B76"/>
                </a:solidFill>
                <a:latin typeface="Telegraf"/>
              </a:rPr>
              <a:t>▸  Class G; Lead 12.5 ppg / Tail 15.8 ppg; tail min 500 ft above Bara sand / </a:t>
            </a:r>
            <a:r>
              <a:rPr lang="en-US" sz="900" b="0" i="1" dirty="0">
                <a:solidFill>
                  <a:srgbClr val="5B6B76"/>
                </a:solidFill>
                <a:latin typeface="Telegraf"/>
              </a:rPr>
              <a:t>bara</a:t>
            </a:r>
            <a:r>
              <a:rPr sz="900" b="0" i="1" dirty="0">
                <a:solidFill>
                  <a:srgbClr val="5B6B76"/>
                </a:solidFill>
                <a:latin typeface="Telegraf"/>
              </a:rPr>
              <a:t> reservoir</a:t>
            </a:r>
          </a:p>
        </p:txBody>
      </p:sp>
      <p:sp>
        <p:nvSpPr>
          <p:cNvPr id="63" name="Rectangle 62">
            <a:extLst>
              <a:ext uri="{FF2B5EF4-FFF2-40B4-BE49-F238E27FC236}">
                <a16:creationId xmlns:a16="http://schemas.microsoft.com/office/drawing/2014/main" id="{F9E7D0DD-715E-42F2-A4CA-4B0667A95A79}"/>
              </a:ext>
            </a:extLst>
          </p:cNvPr>
          <p:cNvSpPr/>
          <p:nvPr/>
        </p:nvSpPr>
        <p:spPr>
          <a:xfrm>
            <a:off x="457200" y="3660239"/>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5" name="Rectangle 64">
            <a:extLst>
              <a:ext uri="{FF2B5EF4-FFF2-40B4-BE49-F238E27FC236}">
                <a16:creationId xmlns:a16="http://schemas.microsoft.com/office/drawing/2014/main" id="{125E121A-49B2-C945-0F06-F0956DFB7FB3}"/>
              </a:ext>
            </a:extLst>
          </p:cNvPr>
          <p:cNvSpPr/>
          <p:nvPr/>
        </p:nvSpPr>
        <p:spPr>
          <a:xfrm>
            <a:off x="457200" y="3660239"/>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7" name="Oval 66">
            <a:extLst>
              <a:ext uri="{FF2B5EF4-FFF2-40B4-BE49-F238E27FC236}">
                <a16:creationId xmlns:a16="http://schemas.microsoft.com/office/drawing/2014/main" id="{D4F15B7A-D3AB-30F7-5204-1ED50079D8C3}"/>
              </a:ext>
            </a:extLst>
          </p:cNvPr>
          <p:cNvSpPr/>
          <p:nvPr/>
        </p:nvSpPr>
        <p:spPr>
          <a:xfrm>
            <a:off x="704088" y="3751679"/>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69" name="TextBox 68">
            <a:extLst>
              <a:ext uri="{FF2B5EF4-FFF2-40B4-BE49-F238E27FC236}">
                <a16:creationId xmlns:a16="http://schemas.microsoft.com/office/drawing/2014/main" id="{C1FD9C16-3C0D-6CFE-6B8A-FBF8B2DAC6C4}"/>
              </a:ext>
            </a:extLst>
          </p:cNvPr>
          <p:cNvSpPr txBox="1"/>
          <p:nvPr/>
        </p:nvSpPr>
        <p:spPr>
          <a:xfrm>
            <a:off x="704088" y="3751679"/>
            <a:ext cx="301752" cy="230832"/>
          </a:xfrm>
          <a:prstGeom prst="rect">
            <a:avLst/>
          </a:prstGeom>
          <a:noFill/>
        </p:spPr>
        <p:txBody>
          <a:bodyPr wrap="square">
            <a:spAutoFit/>
          </a:bodyPr>
          <a:lstStyle/>
          <a:p>
            <a:pPr algn="ctr"/>
            <a:r>
              <a:rPr sz="900" b="1" i="0">
                <a:solidFill>
                  <a:srgbClr val="FFFFFF"/>
                </a:solidFill>
                <a:latin typeface="Telegraf"/>
              </a:rPr>
              <a:t>05</a:t>
            </a:r>
          </a:p>
        </p:txBody>
      </p:sp>
      <p:sp>
        <p:nvSpPr>
          <p:cNvPr id="71" name="TextBox 70">
            <a:extLst>
              <a:ext uri="{FF2B5EF4-FFF2-40B4-BE49-F238E27FC236}">
                <a16:creationId xmlns:a16="http://schemas.microsoft.com/office/drawing/2014/main" id="{377A142E-DFCC-7426-6E0E-F000E7D1FCC6}"/>
              </a:ext>
            </a:extLst>
          </p:cNvPr>
          <p:cNvSpPr txBox="1"/>
          <p:nvPr/>
        </p:nvSpPr>
        <p:spPr>
          <a:xfrm>
            <a:off x="1078992" y="3724247"/>
            <a:ext cx="4828031" cy="276999"/>
          </a:xfrm>
          <a:prstGeom prst="rect">
            <a:avLst/>
          </a:prstGeom>
          <a:noFill/>
        </p:spPr>
        <p:txBody>
          <a:bodyPr wrap="square">
            <a:spAutoFit/>
          </a:bodyPr>
          <a:lstStyle/>
          <a:p>
            <a:pPr algn="l"/>
            <a:r>
              <a:rPr sz="1200" b="1" i="0">
                <a:solidFill>
                  <a:srgbClr val="002060"/>
                </a:solidFill>
                <a:latin typeface="Telegraf"/>
              </a:rPr>
              <a:t>Wireline Logging</a:t>
            </a:r>
          </a:p>
        </p:txBody>
      </p:sp>
      <p:sp>
        <p:nvSpPr>
          <p:cNvPr id="73" name="TextBox 72">
            <a:extLst>
              <a:ext uri="{FF2B5EF4-FFF2-40B4-BE49-F238E27FC236}">
                <a16:creationId xmlns:a16="http://schemas.microsoft.com/office/drawing/2014/main" id="{72C5827C-36FD-86E7-77CF-A72ABE81A518}"/>
              </a:ext>
            </a:extLst>
          </p:cNvPr>
          <p:cNvSpPr txBox="1"/>
          <p:nvPr/>
        </p:nvSpPr>
        <p:spPr>
          <a:xfrm>
            <a:off x="704088" y="4099151"/>
            <a:ext cx="5230368" cy="246221"/>
          </a:xfrm>
          <a:prstGeom prst="rect">
            <a:avLst/>
          </a:prstGeom>
          <a:noFill/>
        </p:spPr>
        <p:txBody>
          <a:bodyPr wrap="square">
            <a:spAutoFit/>
          </a:bodyPr>
          <a:lstStyle/>
          <a:p>
            <a:pPr algn="l"/>
            <a:r>
              <a:rPr sz="1000" b="0" i="0">
                <a:solidFill>
                  <a:srgbClr val="1B2733"/>
                </a:solidFill>
                <a:latin typeface="Telegraf"/>
              </a:rPr>
              <a:t>Open-hole petrophysical evaluation for reservoir characterization &amp; well correlation</a:t>
            </a:r>
          </a:p>
        </p:txBody>
      </p:sp>
      <p:sp>
        <p:nvSpPr>
          <p:cNvPr id="75" name="TextBox 74">
            <a:extLst>
              <a:ext uri="{FF2B5EF4-FFF2-40B4-BE49-F238E27FC236}">
                <a16:creationId xmlns:a16="http://schemas.microsoft.com/office/drawing/2014/main" id="{881A59E5-CD24-1EFB-85B4-4B49C68FC122}"/>
              </a:ext>
            </a:extLst>
          </p:cNvPr>
          <p:cNvSpPr txBox="1"/>
          <p:nvPr/>
        </p:nvSpPr>
        <p:spPr>
          <a:xfrm>
            <a:off x="704088" y="4391759"/>
            <a:ext cx="5230368" cy="230832"/>
          </a:xfrm>
          <a:prstGeom prst="rect">
            <a:avLst/>
          </a:prstGeom>
          <a:noFill/>
        </p:spPr>
        <p:txBody>
          <a:bodyPr wrap="square">
            <a:spAutoFit/>
          </a:bodyPr>
          <a:lstStyle/>
          <a:p>
            <a:pPr algn="l"/>
            <a:r>
              <a:rPr sz="900" b="0" i="1">
                <a:solidFill>
                  <a:srgbClr val="5B6B76"/>
                </a:solidFill>
                <a:latin typeface="Telegraf"/>
              </a:rPr>
              <a:t>▸  Post-drilling formation evaluation; reservoir presence, HC indication &amp; well condition</a:t>
            </a:r>
          </a:p>
        </p:txBody>
      </p:sp>
      <p:sp>
        <p:nvSpPr>
          <p:cNvPr id="77" name="Rectangle 76">
            <a:extLst>
              <a:ext uri="{FF2B5EF4-FFF2-40B4-BE49-F238E27FC236}">
                <a16:creationId xmlns:a16="http://schemas.microsoft.com/office/drawing/2014/main" id="{533C3D44-5CE1-F696-DF21-7BF4A5099D1F}"/>
              </a:ext>
            </a:extLst>
          </p:cNvPr>
          <p:cNvSpPr/>
          <p:nvPr/>
        </p:nvSpPr>
        <p:spPr>
          <a:xfrm>
            <a:off x="6153912" y="3660239"/>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79" name="Rectangle 78">
            <a:extLst>
              <a:ext uri="{FF2B5EF4-FFF2-40B4-BE49-F238E27FC236}">
                <a16:creationId xmlns:a16="http://schemas.microsoft.com/office/drawing/2014/main" id="{E84D0D70-D292-381D-8B2D-0A092F2488A0}"/>
              </a:ext>
            </a:extLst>
          </p:cNvPr>
          <p:cNvSpPr/>
          <p:nvPr/>
        </p:nvSpPr>
        <p:spPr>
          <a:xfrm>
            <a:off x="6153912" y="3660239"/>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1" name="Oval 80">
            <a:extLst>
              <a:ext uri="{FF2B5EF4-FFF2-40B4-BE49-F238E27FC236}">
                <a16:creationId xmlns:a16="http://schemas.microsoft.com/office/drawing/2014/main" id="{C432A4FF-1DE1-68E9-9D77-FCCB38C9CCCF}"/>
              </a:ext>
            </a:extLst>
          </p:cNvPr>
          <p:cNvSpPr/>
          <p:nvPr/>
        </p:nvSpPr>
        <p:spPr>
          <a:xfrm>
            <a:off x="6400800" y="3751679"/>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83" name="TextBox 82">
            <a:extLst>
              <a:ext uri="{FF2B5EF4-FFF2-40B4-BE49-F238E27FC236}">
                <a16:creationId xmlns:a16="http://schemas.microsoft.com/office/drawing/2014/main" id="{2DBEB711-05FC-C1D7-AF89-8497EF8CFFEA}"/>
              </a:ext>
            </a:extLst>
          </p:cNvPr>
          <p:cNvSpPr txBox="1"/>
          <p:nvPr/>
        </p:nvSpPr>
        <p:spPr>
          <a:xfrm>
            <a:off x="6400800" y="3751679"/>
            <a:ext cx="301752" cy="230832"/>
          </a:xfrm>
          <a:prstGeom prst="rect">
            <a:avLst/>
          </a:prstGeom>
          <a:noFill/>
        </p:spPr>
        <p:txBody>
          <a:bodyPr wrap="square">
            <a:spAutoFit/>
          </a:bodyPr>
          <a:lstStyle/>
          <a:p>
            <a:pPr algn="ctr"/>
            <a:r>
              <a:rPr sz="900" b="1" i="0">
                <a:solidFill>
                  <a:srgbClr val="FFFFFF"/>
                </a:solidFill>
                <a:latin typeface="Telegraf"/>
              </a:rPr>
              <a:t>06</a:t>
            </a:r>
          </a:p>
        </p:txBody>
      </p:sp>
      <p:sp>
        <p:nvSpPr>
          <p:cNvPr id="85" name="TextBox 84">
            <a:extLst>
              <a:ext uri="{FF2B5EF4-FFF2-40B4-BE49-F238E27FC236}">
                <a16:creationId xmlns:a16="http://schemas.microsoft.com/office/drawing/2014/main" id="{FC9DFD83-C2A9-D5DE-D65B-60D8BEE1899C}"/>
              </a:ext>
            </a:extLst>
          </p:cNvPr>
          <p:cNvSpPr txBox="1"/>
          <p:nvPr/>
        </p:nvSpPr>
        <p:spPr>
          <a:xfrm>
            <a:off x="6775703" y="3724247"/>
            <a:ext cx="4828031" cy="276999"/>
          </a:xfrm>
          <a:prstGeom prst="rect">
            <a:avLst/>
          </a:prstGeom>
          <a:noFill/>
        </p:spPr>
        <p:txBody>
          <a:bodyPr wrap="square">
            <a:spAutoFit/>
          </a:bodyPr>
          <a:lstStyle/>
          <a:p>
            <a:pPr algn="l"/>
            <a:r>
              <a:rPr sz="1200" b="1" i="0">
                <a:solidFill>
                  <a:srgbClr val="002060"/>
                </a:solidFill>
                <a:latin typeface="Telegraf"/>
              </a:rPr>
              <a:t>Perforating Services</a:t>
            </a:r>
          </a:p>
        </p:txBody>
      </p:sp>
      <p:sp>
        <p:nvSpPr>
          <p:cNvPr id="87" name="TextBox 86">
            <a:extLst>
              <a:ext uri="{FF2B5EF4-FFF2-40B4-BE49-F238E27FC236}">
                <a16:creationId xmlns:a16="http://schemas.microsoft.com/office/drawing/2014/main" id="{65D762BE-5332-44F5-65A2-78E40089F8C3}"/>
              </a:ext>
            </a:extLst>
          </p:cNvPr>
          <p:cNvSpPr txBox="1"/>
          <p:nvPr/>
        </p:nvSpPr>
        <p:spPr>
          <a:xfrm>
            <a:off x="6400800" y="4099151"/>
            <a:ext cx="5230368" cy="246221"/>
          </a:xfrm>
          <a:prstGeom prst="rect">
            <a:avLst/>
          </a:prstGeom>
          <a:noFill/>
        </p:spPr>
        <p:txBody>
          <a:bodyPr wrap="square">
            <a:spAutoFit/>
          </a:bodyPr>
          <a:lstStyle/>
          <a:p>
            <a:pPr algn="l"/>
            <a:r>
              <a:rPr sz="1000" b="0" i="0">
                <a:solidFill>
                  <a:srgbClr val="1B2733"/>
                </a:solidFill>
                <a:latin typeface="Telegraf"/>
              </a:rPr>
              <a:t>Selective cased-hole perforating across target sand intervals per completion design</a:t>
            </a:r>
          </a:p>
        </p:txBody>
      </p:sp>
      <p:sp>
        <p:nvSpPr>
          <p:cNvPr id="89" name="TextBox 88">
            <a:extLst>
              <a:ext uri="{FF2B5EF4-FFF2-40B4-BE49-F238E27FC236}">
                <a16:creationId xmlns:a16="http://schemas.microsoft.com/office/drawing/2014/main" id="{7827DF36-EEAE-921C-4038-74138E72C4BD}"/>
              </a:ext>
            </a:extLst>
          </p:cNvPr>
          <p:cNvSpPr txBox="1"/>
          <p:nvPr/>
        </p:nvSpPr>
        <p:spPr>
          <a:xfrm>
            <a:off x="6400800" y="4391759"/>
            <a:ext cx="5230368" cy="230832"/>
          </a:xfrm>
          <a:prstGeom prst="rect">
            <a:avLst/>
          </a:prstGeom>
          <a:noFill/>
        </p:spPr>
        <p:txBody>
          <a:bodyPr wrap="square">
            <a:spAutoFit/>
          </a:bodyPr>
          <a:lstStyle/>
          <a:p>
            <a:pPr algn="l"/>
            <a:r>
              <a:rPr sz="900" b="0" i="1" dirty="0">
                <a:solidFill>
                  <a:srgbClr val="5B6B76"/>
                </a:solidFill>
                <a:latin typeface="Telegraf"/>
              </a:rPr>
              <a:t>▸  Cased-hole completion; selective perforations — C/D/E/F Sand </a:t>
            </a:r>
            <a:r>
              <a:rPr lang="en-US" sz="900" b="0" i="1" dirty="0">
                <a:solidFill>
                  <a:srgbClr val="5B6B76"/>
                </a:solidFill>
                <a:latin typeface="Telegraf"/>
              </a:rPr>
              <a:t>bara</a:t>
            </a:r>
            <a:r>
              <a:rPr sz="900" b="0" i="1" dirty="0">
                <a:solidFill>
                  <a:srgbClr val="5B6B76"/>
                </a:solidFill>
                <a:latin typeface="Telegraf"/>
              </a:rPr>
              <a:t> intervals</a:t>
            </a:r>
          </a:p>
        </p:txBody>
      </p:sp>
      <p:sp>
        <p:nvSpPr>
          <p:cNvPr id="91" name="Rectangle 90">
            <a:extLst>
              <a:ext uri="{FF2B5EF4-FFF2-40B4-BE49-F238E27FC236}">
                <a16:creationId xmlns:a16="http://schemas.microsoft.com/office/drawing/2014/main" id="{710C8A60-FCDF-4063-5DDE-B3A88D2A2A67}"/>
              </a:ext>
            </a:extLst>
          </p:cNvPr>
          <p:cNvSpPr/>
          <p:nvPr/>
        </p:nvSpPr>
        <p:spPr>
          <a:xfrm>
            <a:off x="457200" y="4867247"/>
            <a:ext cx="5577840" cy="1115568"/>
          </a:xfrm>
          <a:prstGeom prst="rect">
            <a:avLst/>
          </a:prstGeom>
          <a:solidFill>
            <a:srgbClr val="E2F3F8"/>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3" name="Rectangle 92">
            <a:extLst>
              <a:ext uri="{FF2B5EF4-FFF2-40B4-BE49-F238E27FC236}">
                <a16:creationId xmlns:a16="http://schemas.microsoft.com/office/drawing/2014/main" id="{5CCC6CAB-506C-1086-3DE0-200C0AB049AC}"/>
              </a:ext>
            </a:extLst>
          </p:cNvPr>
          <p:cNvSpPr/>
          <p:nvPr/>
        </p:nvSpPr>
        <p:spPr>
          <a:xfrm>
            <a:off x="457200" y="4867247"/>
            <a:ext cx="182880" cy="1115568"/>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5" name="Oval 94">
            <a:extLst>
              <a:ext uri="{FF2B5EF4-FFF2-40B4-BE49-F238E27FC236}">
                <a16:creationId xmlns:a16="http://schemas.microsoft.com/office/drawing/2014/main" id="{D12F9976-BC73-09B4-BD38-985FA8ACC3F0}"/>
              </a:ext>
            </a:extLst>
          </p:cNvPr>
          <p:cNvSpPr/>
          <p:nvPr/>
        </p:nvSpPr>
        <p:spPr>
          <a:xfrm>
            <a:off x="704088" y="4958687"/>
            <a:ext cx="301752" cy="301752"/>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Telegraf"/>
            </a:endParaRPr>
          </a:p>
        </p:txBody>
      </p:sp>
      <p:sp>
        <p:nvSpPr>
          <p:cNvPr id="97" name="TextBox 96">
            <a:extLst>
              <a:ext uri="{FF2B5EF4-FFF2-40B4-BE49-F238E27FC236}">
                <a16:creationId xmlns:a16="http://schemas.microsoft.com/office/drawing/2014/main" id="{29E08C8D-291A-5453-FC79-BD792A64B3E3}"/>
              </a:ext>
            </a:extLst>
          </p:cNvPr>
          <p:cNvSpPr txBox="1"/>
          <p:nvPr/>
        </p:nvSpPr>
        <p:spPr>
          <a:xfrm>
            <a:off x="704088" y="4958687"/>
            <a:ext cx="301752" cy="230832"/>
          </a:xfrm>
          <a:prstGeom prst="rect">
            <a:avLst/>
          </a:prstGeom>
          <a:noFill/>
        </p:spPr>
        <p:txBody>
          <a:bodyPr wrap="square">
            <a:spAutoFit/>
          </a:bodyPr>
          <a:lstStyle/>
          <a:p>
            <a:pPr algn="ctr"/>
            <a:r>
              <a:rPr sz="900" b="1" i="0">
                <a:solidFill>
                  <a:srgbClr val="FFFFFF"/>
                </a:solidFill>
                <a:latin typeface="Telegraf"/>
              </a:rPr>
              <a:t>07</a:t>
            </a:r>
          </a:p>
        </p:txBody>
      </p:sp>
      <p:sp>
        <p:nvSpPr>
          <p:cNvPr id="99" name="TextBox 98">
            <a:extLst>
              <a:ext uri="{FF2B5EF4-FFF2-40B4-BE49-F238E27FC236}">
                <a16:creationId xmlns:a16="http://schemas.microsoft.com/office/drawing/2014/main" id="{307B76B2-B22A-41B4-7A90-D759B7C12C4B}"/>
              </a:ext>
            </a:extLst>
          </p:cNvPr>
          <p:cNvSpPr txBox="1"/>
          <p:nvPr/>
        </p:nvSpPr>
        <p:spPr>
          <a:xfrm>
            <a:off x="1078992" y="4931255"/>
            <a:ext cx="4828031" cy="276999"/>
          </a:xfrm>
          <a:prstGeom prst="rect">
            <a:avLst/>
          </a:prstGeom>
          <a:noFill/>
        </p:spPr>
        <p:txBody>
          <a:bodyPr wrap="square">
            <a:spAutoFit/>
          </a:bodyPr>
          <a:lstStyle/>
          <a:p>
            <a:pPr algn="l"/>
            <a:r>
              <a:rPr sz="1200" b="1" i="0">
                <a:solidFill>
                  <a:srgbClr val="002060"/>
                </a:solidFill>
                <a:latin typeface="Telegraf"/>
              </a:rPr>
              <a:t>ESP Contractor</a:t>
            </a:r>
          </a:p>
        </p:txBody>
      </p:sp>
      <p:sp>
        <p:nvSpPr>
          <p:cNvPr id="101" name="TextBox 100">
            <a:extLst>
              <a:ext uri="{FF2B5EF4-FFF2-40B4-BE49-F238E27FC236}">
                <a16:creationId xmlns:a16="http://schemas.microsoft.com/office/drawing/2014/main" id="{64BD1A81-AD77-659B-360E-2CBEC8B02B86}"/>
              </a:ext>
            </a:extLst>
          </p:cNvPr>
          <p:cNvSpPr txBox="1"/>
          <p:nvPr/>
        </p:nvSpPr>
        <p:spPr>
          <a:xfrm>
            <a:off x="704088" y="5306159"/>
            <a:ext cx="5230368" cy="246221"/>
          </a:xfrm>
          <a:prstGeom prst="rect">
            <a:avLst/>
          </a:prstGeom>
          <a:noFill/>
        </p:spPr>
        <p:txBody>
          <a:bodyPr wrap="square">
            <a:spAutoFit/>
          </a:bodyPr>
          <a:lstStyle/>
          <a:p>
            <a:pPr algn="l"/>
            <a:r>
              <a:rPr sz="1000" b="0" i="0">
                <a:solidFill>
                  <a:srgbClr val="1B2733"/>
                </a:solidFill>
                <a:latin typeface="Telegraf"/>
              </a:rPr>
              <a:t>Electric Submersible Pump supply, installation &amp; commissioning (custom-manufactured)</a:t>
            </a:r>
          </a:p>
        </p:txBody>
      </p:sp>
      <p:sp>
        <p:nvSpPr>
          <p:cNvPr id="103" name="TextBox 102">
            <a:extLst>
              <a:ext uri="{FF2B5EF4-FFF2-40B4-BE49-F238E27FC236}">
                <a16:creationId xmlns:a16="http://schemas.microsoft.com/office/drawing/2014/main" id="{5D9943F4-B0EC-526E-285E-BA8C3BCD6DED}"/>
              </a:ext>
            </a:extLst>
          </p:cNvPr>
          <p:cNvSpPr txBox="1"/>
          <p:nvPr/>
        </p:nvSpPr>
        <p:spPr>
          <a:xfrm>
            <a:off x="704088" y="5598767"/>
            <a:ext cx="5230368" cy="230832"/>
          </a:xfrm>
          <a:prstGeom prst="rect">
            <a:avLst/>
          </a:prstGeom>
          <a:noFill/>
        </p:spPr>
        <p:txBody>
          <a:bodyPr wrap="square">
            <a:spAutoFit/>
          </a:bodyPr>
          <a:lstStyle/>
          <a:p>
            <a:pPr algn="l"/>
            <a:r>
              <a:rPr sz="900" b="0" i="1">
                <a:solidFill>
                  <a:srgbClr val="5B6B76"/>
                </a:solidFill>
                <a:latin typeface="Telegraf"/>
              </a:rPr>
              <a:t>▸  LLI Cat-1: lead time 16–24 weeks; well-specific design (reservoir depth, flow rate, GOR)</a:t>
            </a:r>
          </a:p>
        </p:txBody>
      </p:sp>
      <p:sp>
        <p:nvSpPr>
          <p:cNvPr id="5" name="Freeform 6">
            <a:extLst>
              <a:ext uri="{FF2B5EF4-FFF2-40B4-BE49-F238E27FC236}">
                <a16:creationId xmlns:a16="http://schemas.microsoft.com/office/drawing/2014/main" id="{79DF602B-4339-E202-EA52-630CD61A9015}"/>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9" name="Title 1">
            <a:extLst>
              <a:ext uri="{FF2B5EF4-FFF2-40B4-BE49-F238E27FC236}">
                <a16:creationId xmlns:a16="http://schemas.microsoft.com/office/drawing/2014/main" id="{A80A7165-8229-FA59-8903-885D94019E5C}"/>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30</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209549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7A19-CA86-A9C5-08B4-BBD955BD191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4949C0-DDF1-5DC6-0E40-94C81D5E4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D11472E5-7B58-2CAA-2F71-3B80509542EC}"/>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592560A7-F16C-C47F-853D-52C106064DCE}"/>
              </a:ext>
            </a:extLst>
          </p:cNvPr>
          <p:cNvSpPr>
            <a:spLocks noGrp="1"/>
          </p:cNvSpPr>
          <p:nvPr>
            <p:ph type="ctrTitle"/>
          </p:nvPr>
        </p:nvSpPr>
        <p:spPr>
          <a:xfrm>
            <a:off x="494907" y="2459920"/>
            <a:ext cx="11202186" cy="1958823"/>
          </a:xfrm>
        </p:spPr>
        <p:txBody>
          <a:bodyPr anchor="ctr">
            <a:normAutofit fontScale="90000"/>
          </a:bodyPr>
          <a:lstStyle/>
          <a:p>
            <a:r>
              <a:rPr lang="en-US" dirty="0">
                <a:solidFill>
                  <a:schemeClr val="bg1"/>
                </a:solidFill>
                <a:latin typeface="Telegraf Bold" panose="020B0604020202020204" charset="0"/>
              </a:rPr>
              <a:t>PROJECT RISK ASSESSMENT &amp; MITIGATION MATRIX (Corrected Position)</a:t>
            </a:r>
          </a:p>
        </p:txBody>
      </p:sp>
      <p:pic>
        <p:nvPicPr>
          <p:cNvPr id="9" name="Google Shape;40;p1" descr="Blue text and blue letters on a black background&#10;&#10;Description automatically generated">
            <a:extLst>
              <a:ext uri="{FF2B5EF4-FFF2-40B4-BE49-F238E27FC236}">
                <a16:creationId xmlns:a16="http://schemas.microsoft.com/office/drawing/2014/main" id="{B9477264-E4F2-8AB3-E844-8FBD60F3CAF2}"/>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A5FB5D7F-13FE-76F1-F791-12CE4C1C67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4117072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E9787-5EBF-1AB8-C9B7-F0AC903E2C0B}"/>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8A56016-0737-9EB6-5AC5-AA9B58AA07C0}"/>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32</a:t>
            </a:r>
            <a:endParaRPr lang="en-ID" dirty="0">
              <a:solidFill>
                <a:schemeClr val="bg1"/>
              </a:solidFill>
              <a:latin typeface="Telegraf Bold" panose="020B0604020202020204" charset="0"/>
            </a:endParaRPr>
          </a:p>
        </p:txBody>
      </p:sp>
      <p:sp>
        <p:nvSpPr>
          <p:cNvPr id="2" name="Arrow: Pentagon 1">
            <a:extLst>
              <a:ext uri="{FF2B5EF4-FFF2-40B4-BE49-F238E27FC236}">
                <a16:creationId xmlns:a16="http://schemas.microsoft.com/office/drawing/2014/main" id="{21A18B99-70A8-9A9D-DD19-9FB341F4BE2B}"/>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PROJECT RISK ASSESSMENT &amp; MITIGATION MATRIX SUMMARY </a:t>
            </a:r>
          </a:p>
        </p:txBody>
      </p:sp>
      <p:pic>
        <p:nvPicPr>
          <p:cNvPr id="35" name="Picture 34">
            <a:extLst>
              <a:ext uri="{FF2B5EF4-FFF2-40B4-BE49-F238E27FC236}">
                <a16:creationId xmlns:a16="http://schemas.microsoft.com/office/drawing/2014/main" id="{AA06C615-F99E-C79C-24D9-4B9F657F87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44F9055-F28B-BD4D-70DE-CB1A3B1F5E0F}"/>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1A762E22-0FC2-3A08-4ED2-8A5F0115474E}"/>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graphicFrame>
        <p:nvGraphicFramePr>
          <p:cNvPr id="3" name="Content Placeholder 37">
            <a:extLst>
              <a:ext uri="{FF2B5EF4-FFF2-40B4-BE49-F238E27FC236}">
                <a16:creationId xmlns:a16="http://schemas.microsoft.com/office/drawing/2014/main" id="{DB49E7A0-889E-DA66-40D6-6C22B521F1EB}"/>
              </a:ext>
            </a:extLst>
          </p:cNvPr>
          <p:cNvGraphicFramePr>
            <a:graphicFrameLocks noGrp="1"/>
          </p:cNvGraphicFramePr>
          <p:nvPr>
            <p:ph idx="1"/>
            <p:extLst>
              <p:ext uri="{D42A27DB-BD31-4B8C-83A1-F6EECF244321}">
                <p14:modId xmlns:p14="http://schemas.microsoft.com/office/powerpoint/2010/main" val="182932084"/>
              </p:ext>
            </p:extLst>
          </p:nvPr>
        </p:nvGraphicFramePr>
        <p:xfrm>
          <a:off x="146095" y="1762757"/>
          <a:ext cx="11868921" cy="5011463"/>
        </p:xfrm>
        <a:graphic>
          <a:graphicData uri="http://schemas.openxmlformats.org/drawingml/2006/table">
            <a:tbl>
              <a:tblPr firstRow="1" bandRow="1" bandCol="1">
                <a:tableStyleId>{5C22544A-7EE6-4342-B048-85BDC9FD1C3A}</a:tableStyleId>
              </a:tblPr>
              <a:tblGrid>
                <a:gridCol w="359116">
                  <a:extLst>
                    <a:ext uri="{9D8B030D-6E8A-4147-A177-3AD203B41FA5}">
                      <a16:colId xmlns:a16="http://schemas.microsoft.com/office/drawing/2014/main" val="1956752839"/>
                    </a:ext>
                  </a:extLst>
                </a:gridCol>
                <a:gridCol w="1386042">
                  <a:extLst>
                    <a:ext uri="{9D8B030D-6E8A-4147-A177-3AD203B41FA5}">
                      <a16:colId xmlns:a16="http://schemas.microsoft.com/office/drawing/2014/main" val="2781028668"/>
                    </a:ext>
                  </a:extLst>
                </a:gridCol>
                <a:gridCol w="2443939">
                  <a:extLst>
                    <a:ext uri="{9D8B030D-6E8A-4147-A177-3AD203B41FA5}">
                      <a16:colId xmlns:a16="http://schemas.microsoft.com/office/drawing/2014/main" val="1517301017"/>
                    </a:ext>
                  </a:extLst>
                </a:gridCol>
                <a:gridCol w="321976">
                  <a:extLst>
                    <a:ext uri="{9D8B030D-6E8A-4147-A177-3AD203B41FA5}">
                      <a16:colId xmlns:a16="http://schemas.microsoft.com/office/drawing/2014/main" val="2614856850"/>
                    </a:ext>
                  </a:extLst>
                </a:gridCol>
                <a:gridCol w="321976">
                  <a:extLst>
                    <a:ext uri="{9D8B030D-6E8A-4147-A177-3AD203B41FA5}">
                      <a16:colId xmlns:a16="http://schemas.microsoft.com/office/drawing/2014/main" val="4026271882"/>
                    </a:ext>
                  </a:extLst>
                </a:gridCol>
                <a:gridCol w="660466">
                  <a:extLst>
                    <a:ext uri="{9D8B030D-6E8A-4147-A177-3AD203B41FA5}">
                      <a16:colId xmlns:a16="http://schemas.microsoft.com/office/drawing/2014/main" val="15028260"/>
                    </a:ext>
                  </a:extLst>
                </a:gridCol>
                <a:gridCol w="4528267">
                  <a:extLst>
                    <a:ext uri="{9D8B030D-6E8A-4147-A177-3AD203B41FA5}">
                      <a16:colId xmlns:a16="http://schemas.microsoft.com/office/drawing/2014/main" val="1619504892"/>
                    </a:ext>
                  </a:extLst>
                </a:gridCol>
                <a:gridCol w="885185">
                  <a:extLst>
                    <a:ext uri="{9D8B030D-6E8A-4147-A177-3AD203B41FA5}">
                      <a16:colId xmlns:a16="http://schemas.microsoft.com/office/drawing/2014/main" val="647919897"/>
                    </a:ext>
                  </a:extLst>
                </a:gridCol>
                <a:gridCol w="961954">
                  <a:extLst>
                    <a:ext uri="{9D8B030D-6E8A-4147-A177-3AD203B41FA5}">
                      <a16:colId xmlns:a16="http://schemas.microsoft.com/office/drawing/2014/main" val="2485094899"/>
                    </a:ext>
                  </a:extLst>
                </a:gridCol>
              </a:tblGrid>
              <a:tr h="0">
                <a:tc>
                  <a:txBody>
                    <a:bodyPr/>
                    <a:lstStyle/>
                    <a:p>
                      <a:pPr marL="0" marR="0" algn="ctr">
                        <a:spcBef>
                          <a:spcPts val="180"/>
                        </a:spcBef>
                        <a:spcAft>
                          <a:spcPts val="180"/>
                        </a:spcAft>
                      </a:pPr>
                      <a:r>
                        <a:rPr lang="en-US" sz="1200" dirty="0">
                          <a:effectLst/>
                          <a:latin typeface="Telegraf"/>
                        </a:rPr>
                        <a:t>No</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Risk Description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Potential Consequence</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L</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a:effectLst/>
                          <a:latin typeface="Telegraf"/>
                        </a:rPr>
                        <a:t>C</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Rating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Mitigation / Contingency Plan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Residual Risk</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Cost Impact (USD)</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2859432730"/>
                  </a:ext>
                </a:extLst>
              </a:tr>
              <a:tr h="287486">
                <a:tc gridSpan="9">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r>
                        <a:rPr lang="en-US" sz="1200" b="1" dirty="0">
                          <a:effectLst/>
                          <a:latin typeface="Telegraf"/>
                          <a:ea typeface="Aptos" panose="02110004020202020204"/>
                          <a:cs typeface="Times New Roman" panose="02020603050405020304" pitchFamily="18" charset="0"/>
                        </a:rPr>
                        <a:t>Subsurface &amp; Well Construction Risks (Estimated Contingency Allocation: USD 135,000)</a:t>
                      </a:r>
                      <a:endParaRPr lang="en-US" sz="1200" b="1" dirty="0">
                        <a:latin typeface="Telegraf"/>
                      </a:endParaRPr>
                    </a:p>
                  </a:txBody>
                  <a:tcPr marL="65942" marR="65942" marT="0" marB="0" anchor="ctr"/>
                </a:tc>
                <a:tc hMerge="1">
                  <a:txBody>
                    <a:bodyPr/>
                    <a:lstStyle/>
                    <a:p>
                      <a:endParaRPr lang="en-US"/>
                    </a:p>
                  </a:txBody>
                  <a:tcPr/>
                </a:tc>
                <a:tc hMerge="1">
                  <a:txBody>
                    <a:bodyPr/>
                    <a:lstStyle/>
                    <a:p>
                      <a:endParaRPr lang="en-US"/>
                    </a:p>
                  </a:txBody>
                  <a:tcP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endParaRPr lang="en-US" sz="1300" b="1" dirty="0"/>
                    </a:p>
                  </a:txBody>
                  <a:tcPr marL="65942" marR="65942" marT="0" marB="0" anchor="ctr"/>
                </a:tc>
                <a:extLst>
                  <a:ext uri="{0D108BD9-81ED-4DB2-BD59-A6C34878D82A}">
                    <a16:rowId xmlns:a16="http://schemas.microsoft.com/office/drawing/2014/main" val="2987800470"/>
                  </a:ext>
                </a:extLst>
              </a:tr>
              <a:tr h="527539">
                <a:tc>
                  <a:txBody>
                    <a:bodyPr/>
                    <a:lstStyle/>
                    <a:p>
                      <a:pPr marL="0" marR="0" algn="ctr">
                        <a:spcBef>
                          <a:spcPts val="180"/>
                        </a:spcBef>
                        <a:spcAft>
                          <a:spcPts val="180"/>
                        </a:spcAft>
                      </a:pPr>
                      <a:r>
                        <a:rPr lang="en-US" sz="1200" dirty="0">
                          <a:effectLst/>
                          <a:latin typeface="Telegraf"/>
                        </a:rPr>
                        <a:t>1</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Loss Circulation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Partial/total losses, cement failure, well-control risk</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5942" marR="65942" marT="0" marB="0" anchor="ctr"/>
                </a:tc>
                <a:tc>
                  <a:txBody>
                    <a:bodyPr/>
                    <a:lstStyle/>
                    <a:p>
                      <a:pPr marL="0" marR="0" algn="ctr">
                        <a:spcBef>
                          <a:spcPts val="180"/>
                        </a:spcBef>
                        <a:spcAft>
                          <a:spcPts val="180"/>
                        </a:spcAft>
                      </a:pPr>
                      <a:r>
                        <a:rPr lang="en-US" sz="1200">
                          <a:effectLst/>
                          <a:latin typeface="Telegraf"/>
                        </a:rPr>
                        <a:t>4</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ECD control, </a:t>
                      </a:r>
                      <a:r>
                        <a:rPr lang="en-US" sz="1200" dirty="0" err="1">
                          <a:effectLst/>
                          <a:latin typeface="Telegraf"/>
                        </a:rPr>
                        <a:t>HiVis</a:t>
                      </a:r>
                      <a:r>
                        <a:rPr lang="en-US" sz="1200" dirty="0">
                          <a:effectLst/>
                          <a:latin typeface="Telegraf"/>
                        </a:rPr>
                        <a:t> sweep, preventive LCM/fiber, LW cement + top-job SOP</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8</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30,000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618892587"/>
                  </a:ext>
                </a:extLst>
              </a:tr>
              <a:tr h="370026">
                <a:tc>
                  <a:txBody>
                    <a:bodyPr/>
                    <a:lstStyle/>
                    <a:p>
                      <a:pPr marL="0" marR="0" algn="ctr">
                        <a:spcBef>
                          <a:spcPts val="180"/>
                        </a:spcBef>
                        <a:spcAft>
                          <a:spcPts val="180"/>
                        </a:spcAft>
                      </a:pPr>
                      <a:r>
                        <a:rPr lang="en-US" sz="1200" dirty="0">
                          <a:effectLst/>
                          <a:latin typeface="Telegraf"/>
                        </a:rPr>
                        <a:t>2</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Differential Sticking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Stuck pipe, fishing job, NPT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Maintain MW within drilling window, monitor shale volume and </a:t>
                      </a:r>
                      <a:r>
                        <a:rPr lang="en-US" sz="1200" dirty="0" err="1">
                          <a:effectLst/>
                          <a:latin typeface="Telegraf"/>
                        </a:rPr>
                        <a:t>cavings</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137818026"/>
                  </a:ext>
                </a:extLst>
              </a:tr>
              <a:tr h="351692">
                <a:tc>
                  <a:txBody>
                    <a:bodyPr/>
                    <a:lstStyle/>
                    <a:p>
                      <a:pPr marL="0" marR="0" algn="ctr">
                        <a:spcBef>
                          <a:spcPts val="180"/>
                        </a:spcBef>
                        <a:spcAft>
                          <a:spcPts val="180"/>
                        </a:spcAft>
                      </a:pPr>
                      <a:r>
                        <a:rPr lang="en-US" sz="1200" dirty="0">
                          <a:effectLst/>
                          <a:latin typeface="Telegraf"/>
                        </a:rPr>
                        <a:t>3</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Surface Leaking</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Surface losses, poor cement job, weak shoe integrity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Piled conductor, 300 GPM/90 RPM early hole, LCM/cement plug if losses persist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15,000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3957876026"/>
                  </a:ext>
                </a:extLst>
              </a:tr>
              <a:tr h="351692">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l">
                        <a:spcBef>
                          <a:spcPts val="180"/>
                        </a:spcBef>
                        <a:spcAft>
                          <a:spcPts val="180"/>
                        </a:spcAft>
                      </a:pPr>
                      <a:r>
                        <a:rPr lang="en-US" sz="1200" dirty="0">
                          <a:effectLst/>
                          <a:latin typeface="Telegraf"/>
                        </a:rPr>
                        <a:t>Item Procurement Delay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Delayed spud, well construction delay, cost escalation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Gate-1 procurement, delivery tracking, backup suppliers</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32,000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1947700580"/>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5</a:t>
                      </a:r>
                    </a:p>
                  </a:txBody>
                  <a:tcPr marL="65942" marR="65942" marT="0" marB="0" anchor="ctr"/>
                </a:tc>
                <a:tc>
                  <a:txBody>
                    <a:bodyPr/>
                    <a:lstStyle/>
                    <a:p>
                      <a:pPr marL="0" marR="0" algn="l">
                        <a:spcBef>
                          <a:spcPts val="180"/>
                        </a:spcBef>
                        <a:spcAft>
                          <a:spcPts val="180"/>
                        </a:spcAft>
                      </a:pPr>
                      <a:r>
                        <a:rPr lang="en-US" sz="1200" dirty="0">
                          <a:effectLst/>
                          <a:latin typeface="Telegraf"/>
                        </a:rPr>
                        <a:t>ESP &amp; Completion Equipment Supply Chain Disruption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Deferred production, rig standby, completion delay</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3</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12</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0000"/>
                    </a:solidFill>
                  </a:tcPr>
                </a:tc>
                <a:tc>
                  <a:txBody>
                    <a:bodyPr/>
                    <a:lstStyle/>
                    <a:p>
                      <a:pPr marL="0" marR="0">
                        <a:spcBef>
                          <a:spcPts val="180"/>
                        </a:spcBef>
                        <a:spcAft>
                          <a:spcPts val="180"/>
                        </a:spcAft>
                      </a:pPr>
                      <a:r>
                        <a:rPr lang="en-US" sz="1200" dirty="0">
                          <a:effectLst/>
                          <a:latin typeface="Telegraf"/>
                        </a:rPr>
                        <a:t>Early ESP award, 50/80/100% fabrication checks, final spec alignment</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6</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23,000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2333074553"/>
                  </a:ext>
                </a:extLst>
              </a:tr>
              <a:tr h="351692">
                <a:tc gridSpan="9">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r>
                        <a:rPr lang="en-US" sz="1200" b="1" dirty="0">
                          <a:effectLst/>
                          <a:latin typeface="Telegraf"/>
                          <a:ea typeface="Aptos" panose="02110004020202020204"/>
                          <a:cs typeface="Times New Roman" panose="02020603050405020304" pitchFamily="18" charset="0"/>
                        </a:rPr>
                        <a:t>Operational, HSE &amp; Regulatory Risks (</a:t>
                      </a:r>
                      <a:r>
                        <a:rPr lang="en-US" sz="1200" b="1" dirty="0">
                          <a:latin typeface="Telegraf"/>
                        </a:rPr>
                        <a:t>Estimated Contingency Allocation: USD 42,961)</a:t>
                      </a:r>
                    </a:p>
                  </a:txBody>
                  <a:tcPr marL="65942" marR="65942" marT="0" marB="0" anchor="ctr"/>
                </a:tc>
                <a:tc hMerge="1">
                  <a:txBody>
                    <a:bodyPr/>
                    <a:lstStyle/>
                    <a:p>
                      <a:endParaRPr lang="en-US"/>
                    </a:p>
                  </a:txBody>
                  <a:tcPr/>
                </a:tc>
                <a:tc hMerge="1">
                  <a:txBody>
                    <a:bodyPr/>
                    <a:lstStyle/>
                    <a:p>
                      <a:endParaRPr lang="en-US"/>
                    </a:p>
                  </a:txBody>
                  <a:tcP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lgn="ctr">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nchor="ctr"/>
                </a:tc>
                <a:tc hMerge="1">
                  <a:txBody>
                    <a:bodyPr/>
                    <a:lstStyle/>
                    <a:p>
                      <a:pPr marL="0" marR="0">
                        <a:spcBef>
                          <a:spcPts val="180"/>
                        </a:spcBef>
                        <a:spcAft>
                          <a:spcPts val="180"/>
                        </a:spcAft>
                      </a:pPr>
                      <a:endParaRPr lang="en-US" sz="1400" dirty="0">
                        <a:effectLst/>
                        <a:latin typeface="Aptos" panose="02110004020202020204"/>
                        <a:ea typeface="Aptos" panose="02110004020202020204"/>
                        <a:cs typeface="Times New Roman" panose="02020603050405020304" pitchFamily="18" charset="0"/>
                      </a:endParaRPr>
                    </a:p>
                  </a:txBody>
                  <a:tcPr marL="65942" marR="65942" marT="0" marB="0"/>
                </a:tc>
                <a:tc hMerge="1">
                  <a:txBody>
                    <a:bodyPr/>
                    <a:lstStyle/>
                    <a:p>
                      <a:endParaRPr lang="en-US"/>
                    </a:p>
                  </a:txBody>
                  <a:tcPr/>
                </a:tc>
                <a:tc hMerge="1">
                  <a:txBody>
                    <a:bodyPr/>
                    <a:lstStyle/>
                    <a:p>
                      <a:pPr marL="0" marR="0" lvl="0" indent="0" algn="l" defTabSz="914400" rtl="0" eaLnBrk="1" fontAlgn="auto" latinLnBrk="0" hangingPunct="1">
                        <a:lnSpc>
                          <a:spcPct val="100000"/>
                        </a:lnSpc>
                        <a:spcBef>
                          <a:spcPts val="180"/>
                        </a:spcBef>
                        <a:spcAft>
                          <a:spcPts val="180"/>
                        </a:spcAft>
                        <a:buClrTx/>
                        <a:buSzTx/>
                        <a:buFontTx/>
                        <a:buNone/>
                        <a:tabLst/>
                        <a:defRPr/>
                      </a:pPr>
                      <a:endParaRPr lang="en-US" sz="1300" b="1" dirty="0"/>
                    </a:p>
                  </a:txBody>
                  <a:tcPr marL="65942" marR="65942" marT="0" marB="0" anchor="ctr"/>
                </a:tc>
                <a:extLst>
                  <a:ext uri="{0D108BD9-81ED-4DB2-BD59-A6C34878D82A}">
                    <a16:rowId xmlns:a16="http://schemas.microsoft.com/office/drawing/2014/main" val="909424862"/>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a:t>
                      </a:r>
                    </a:p>
                  </a:txBody>
                  <a:tcPr marL="65942" marR="65942" marT="0" marB="0" anchor="ctr"/>
                </a:tc>
                <a:tc>
                  <a:txBody>
                    <a:bodyPr/>
                    <a:lstStyle/>
                    <a:p>
                      <a:pPr marL="0" marR="0" algn="l">
                        <a:spcBef>
                          <a:spcPts val="180"/>
                        </a:spcBef>
                        <a:spcAft>
                          <a:spcPts val="180"/>
                        </a:spcAft>
                      </a:pPr>
                      <a:r>
                        <a:rPr lang="en-US" sz="1200" dirty="0">
                          <a:effectLst/>
                          <a:latin typeface="Telegraf"/>
                        </a:rPr>
                        <a:t>Well Control Incident / Blowout</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spcBef>
                          <a:spcPts val="180"/>
                        </a:spcBef>
                        <a:spcAft>
                          <a:spcPts val="180"/>
                        </a:spcAft>
                      </a:pPr>
                      <a:r>
                        <a:rPr lang="en-US" sz="1200" dirty="0">
                          <a:effectLst/>
                          <a:latin typeface="Telegraf"/>
                        </a:rPr>
                        <a:t>Loss of well, casualties, pollution, sanction</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2</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5</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rPr>
                        <a:t>10</a:t>
                      </a:r>
                      <a:endParaRPr lang="en-US" sz="1200" dirty="0">
                        <a:effectLst/>
                        <a:latin typeface="Telegraf"/>
                        <a:ea typeface="Aptos" panose="02110004020202020204"/>
                        <a:cs typeface="Times New Roman" panose="02020603050405020304" pitchFamily="18" charset="0"/>
                      </a:endParaRPr>
                    </a:p>
                  </a:txBody>
                  <a:tcPr marL="66583" marR="66583" marT="0" marB="0" anchor="ctr">
                    <a:solidFill>
                      <a:srgbClr val="FF0000"/>
                    </a:solidFill>
                  </a:tcPr>
                </a:tc>
                <a:tc>
                  <a:txBody>
                    <a:bodyPr/>
                    <a:lstStyle/>
                    <a:p>
                      <a:pPr marL="0" marR="0">
                        <a:spcBef>
                          <a:spcPts val="180"/>
                        </a:spcBef>
                        <a:spcAft>
                          <a:spcPts val="180"/>
                        </a:spcAft>
                      </a:pPr>
                      <a:r>
                        <a:rPr lang="en-US" sz="1200" dirty="0">
                          <a:effectLst/>
                          <a:latin typeface="Telegraf"/>
                        </a:rPr>
                        <a:t>Certified BOP/choke, IWCF/IADC crew, weekly BOP drill, dual barriers</a:t>
                      </a:r>
                      <a:endParaRPr lang="en-US" sz="1200" dirty="0">
                        <a:effectLst/>
                        <a:latin typeface="Telegraf"/>
                        <a:ea typeface="Aptos" panose="02110004020202020204"/>
                        <a:cs typeface="Times New Roman" panose="02020603050405020304" pitchFamily="18" charset="0"/>
                      </a:endParaRPr>
                    </a:p>
                  </a:txBody>
                  <a:tcPr marL="66583" marR="66583"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6583" marR="66583" marT="0" marB="0" anchor="ctr">
                    <a:solidFill>
                      <a:srgbClr val="FFFF66"/>
                    </a:solidFill>
                  </a:tcPr>
                </a:tc>
                <a:tc>
                  <a:txBody>
                    <a:bodyPr/>
                    <a:lstStyle/>
                    <a:p>
                      <a:pPr marL="0" marR="0" algn="ctr">
                        <a:spcBef>
                          <a:spcPts val="180"/>
                        </a:spcBef>
                        <a:spcAft>
                          <a:spcPts val="180"/>
                        </a:spcAft>
                      </a:pPr>
                      <a:r>
                        <a:rPr lang="en-US" sz="1200" dirty="0">
                          <a:effectLst/>
                          <a:latin typeface="Telegraf"/>
                        </a:rPr>
                        <a:t>20,000</a:t>
                      </a:r>
                      <a:endParaRPr lang="en-US" sz="1200" dirty="0">
                        <a:effectLst/>
                        <a:latin typeface="Telegraf"/>
                        <a:ea typeface="Aptos" panose="02110004020202020204"/>
                        <a:cs typeface="Times New Roman" panose="02020603050405020304" pitchFamily="18" charset="0"/>
                      </a:endParaRPr>
                    </a:p>
                  </a:txBody>
                  <a:tcPr marL="66583" marR="66583" marT="0" marB="0" anchor="ctr"/>
                </a:tc>
                <a:extLst>
                  <a:ext uri="{0D108BD9-81ED-4DB2-BD59-A6C34878D82A}">
                    <a16:rowId xmlns:a16="http://schemas.microsoft.com/office/drawing/2014/main" val="2260288425"/>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7</a:t>
                      </a:r>
                    </a:p>
                  </a:txBody>
                  <a:tcPr marL="65942" marR="65942" marT="0" marB="0" anchor="ctr"/>
                </a:tc>
                <a:tc>
                  <a:txBody>
                    <a:bodyPr/>
                    <a:lstStyle/>
                    <a:p>
                      <a:pPr marL="0" marR="0" algn="l">
                        <a:spcBef>
                          <a:spcPts val="180"/>
                        </a:spcBef>
                        <a:spcAft>
                          <a:spcPts val="180"/>
                        </a:spcAft>
                      </a:pPr>
                      <a:r>
                        <a:rPr lang="en-US" sz="1200" dirty="0">
                          <a:effectLst/>
                          <a:latin typeface="Telegraf"/>
                        </a:rPr>
                        <a:t>Personal Injury / LTI</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spcBef>
                          <a:spcPts val="180"/>
                        </a:spcBef>
                        <a:spcAft>
                          <a:spcPts val="180"/>
                        </a:spcAft>
                      </a:pPr>
                      <a:r>
                        <a:rPr lang="en-US" sz="1200" dirty="0">
                          <a:effectLst/>
                          <a:latin typeface="Telegraf"/>
                        </a:rPr>
                        <a:t>Fatality/serious injury, shutdown, reputation damage</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a:effectLst/>
                          <a:latin typeface="Telegraf"/>
                        </a:rPr>
                        <a:t>2</a:t>
                      </a:r>
                      <a:endParaRPr lang="en-US" sz="120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8</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spcBef>
                          <a:spcPts val="180"/>
                        </a:spcBef>
                        <a:spcAft>
                          <a:spcPts val="180"/>
                        </a:spcAft>
                      </a:pPr>
                      <a:r>
                        <a:rPr lang="en-US" sz="1200" dirty="0">
                          <a:effectLst/>
                          <a:latin typeface="Telegraf"/>
                        </a:rPr>
                        <a:t>JSA/STARRT, daily briefing, zero-LTI target, near-miss investigation</a:t>
                      </a:r>
                      <a:endParaRPr lang="en-US" sz="1200" dirty="0">
                        <a:effectLst/>
                        <a:latin typeface="Telegraf"/>
                        <a:ea typeface="Aptos" panose="02110004020202020204"/>
                        <a:cs typeface="Times New Roman" panose="02020603050405020304" pitchFamily="18" charset="0"/>
                      </a:endParaRPr>
                    </a:p>
                  </a:txBody>
                  <a:tcPr marL="65942" marR="65942" marT="0" marB="0" anchor="ctr"/>
                </a:tc>
                <a:tc>
                  <a:txBody>
                    <a:bodyPr/>
                    <a:lstStyle/>
                    <a:p>
                      <a:pPr marL="0" marR="0" algn="ctr">
                        <a:spcBef>
                          <a:spcPts val="180"/>
                        </a:spcBef>
                        <a:spcAft>
                          <a:spcPts val="180"/>
                        </a:spcAft>
                      </a:pPr>
                      <a:r>
                        <a:rPr lang="en-US" sz="1200" dirty="0">
                          <a:effectLst/>
                          <a:latin typeface="Telegraf"/>
                        </a:rPr>
                        <a:t>4</a:t>
                      </a:r>
                      <a:endParaRPr lang="en-US" sz="1200" dirty="0">
                        <a:effectLst/>
                        <a:latin typeface="Telegraf"/>
                        <a:ea typeface="Aptos" panose="02110004020202020204"/>
                        <a:cs typeface="Times New Roman" panose="02020603050405020304" pitchFamily="18" charset="0"/>
                      </a:endParaRPr>
                    </a:p>
                  </a:txBody>
                  <a:tcPr marL="65942" marR="65942" marT="0" marB="0" anchor="ctr">
                    <a:solidFill>
                      <a:srgbClr val="FFFF66"/>
                    </a:solidFill>
                  </a:tcPr>
                </a:tc>
                <a:tc>
                  <a:txBody>
                    <a:bodyPr/>
                    <a:lstStyle/>
                    <a:p>
                      <a:pPr marL="0" marR="0" algn="ctr">
                        <a:spcBef>
                          <a:spcPts val="180"/>
                        </a:spcBef>
                        <a:spcAft>
                          <a:spcPts val="180"/>
                        </a:spcAft>
                      </a:pPr>
                      <a:r>
                        <a:rPr lang="en-US" sz="1200" dirty="0">
                          <a:effectLst/>
                          <a:latin typeface="Telegraf"/>
                        </a:rPr>
                        <a:t>5,000</a:t>
                      </a:r>
                      <a:endParaRPr lang="en-US" sz="1200" dirty="0">
                        <a:effectLst/>
                        <a:latin typeface="Telegraf"/>
                        <a:ea typeface="Aptos" panose="02110004020202020204"/>
                        <a:cs typeface="Times New Roman" panose="02020603050405020304" pitchFamily="18" charset="0"/>
                      </a:endParaRPr>
                    </a:p>
                  </a:txBody>
                  <a:tcPr marL="65942" marR="65942" marT="0" marB="0" anchor="ctr"/>
                </a:tc>
                <a:extLst>
                  <a:ext uri="{0D108BD9-81ED-4DB2-BD59-A6C34878D82A}">
                    <a16:rowId xmlns:a16="http://schemas.microsoft.com/office/drawing/2014/main" val="43334924"/>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8</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PTD Delay / Non-Compliance</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Late spud, regulatory sanction, schedule overrun</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Parallel PTD process, SKK Migas coordination, complete design/env/land documents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7,000</a:t>
                      </a:r>
                    </a:p>
                  </a:txBody>
                  <a:tcPr marL="68580" marR="68580" marT="0" marB="0" anchor="ctr"/>
                </a:tc>
                <a:extLst>
                  <a:ext uri="{0D108BD9-81ED-4DB2-BD59-A6C34878D82A}">
                    <a16:rowId xmlns:a16="http://schemas.microsoft.com/office/drawing/2014/main" val="2456219193"/>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Drilling Fluid &amp; Mud Waste Spillage</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Soil/groundwater pollution, violation, complaint</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Geomembrane-lined pits, CMTF disposal, daily berm/liner inspection</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6,000</a:t>
                      </a:r>
                    </a:p>
                  </a:txBody>
                  <a:tcPr marL="68580" marR="68580" marT="0" marB="0" anchor="ctr"/>
                </a:tc>
                <a:extLst>
                  <a:ext uri="{0D108BD9-81ED-4DB2-BD59-A6C34878D82A}">
                    <a16:rowId xmlns:a16="http://schemas.microsoft.com/office/drawing/2014/main" val="3452329539"/>
                  </a:ext>
                </a:extLst>
              </a:tr>
              <a:tr h="351692">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10</a:t>
                      </a:r>
                    </a:p>
                  </a:txBody>
                  <a:tcPr marL="65942" marR="65942" marT="0" marB="0" anchor="ctr"/>
                </a:tc>
                <a:tc>
                  <a:txBody>
                    <a:bodyPr/>
                    <a:lstStyle/>
                    <a:p>
                      <a:pPr marL="0" marR="0" algn="l">
                        <a:spcBef>
                          <a:spcPts val="180"/>
                        </a:spcBef>
                        <a:spcAft>
                          <a:spcPts val="180"/>
                        </a:spcAft>
                      </a:pPr>
                      <a:r>
                        <a:rPr lang="en-US" sz="1200" dirty="0">
                          <a:effectLst/>
                          <a:latin typeface="Telegraf"/>
                          <a:ea typeface="Aptos" panose="02110004020202020204"/>
                          <a:cs typeface="Times New Roman" panose="02020603050405020304" pitchFamily="18" charset="0"/>
                        </a:rPr>
                        <a:t>NPT Exceeding Target</a:t>
                      </a:r>
                    </a:p>
                  </a:txBody>
                  <a:tcPr marL="68580" marR="68580" marT="0" marB="0" anchor="ct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AFE overrun, schedule delay to next wells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3</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9</a:t>
                      </a:r>
                    </a:p>
                  </a:txBody>
                  <a:tcPr marL="68580" marR="68580" marT="0" marB="0" anchor="ctr">
                    <a:solidFill>
                      <a:srgbClr val="FFFF66"/>
                    </a:solidFill>
                  </a:tcPr>
                </a:tc>
                <a:tc>
                  <a:txBody>
                    <a:bodyPr/>
                    <a:lstStyle/>
                    <a:p>
                      <a:pPr marL="0" marR="0">
                        <a:spcBef>
                          <a:spcPts val="180"/>
                        </a:spcBef>
                        <a:spcAft>
                          <a:spcPts val="180"/>
                        </a:spcAft>
                      </a:pPr>
                      <a:r>
                        <a:rPr lang="en-US" sz="1200" dirty="0">
                          <a:effectLst/>
                          <a:latin typeface="Telegraf"/>
                          <a:ea typeface="Aptos" panose="02110004020202020204"/>
                          <a:cs typeface="Times New Roman" panose="02020603050405020304" pitchFamily="18" charset="0"/>
                        </a:rPr>
                        <a:t>NPT &lt;5–10%, daily performance review, apply offset-well lessons</a:t>
                      </a:r>
                    </a:p>
                  </a:txBody>
                  <a:tcPr marL="68580" marR="68580" marT="0" marB="0" anchor="ct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a:t>
                      </a:r>
                    </a:p>
                  </a:txBody>
                  <a:tcPr marL="68580" marR="68580" marT="0" marB="0" anchor="ctr">
                    <a:solidFill>
                      <a:srgbClr val="FFFF66"/>
                    </a:solidFill>
                  </a:tcPr>
                </a:tc>
                <a:tc>
                  <a:txBody>
                    <a:bodyPr/>
                    <a:lstStyle/>
                    <a:p>
                      <a:pPr marL="0" marR="0" algn="ctr">
                        <a:spcBef>
                          <a:spcPts val="180"/>
                        </a:spcBef>
                        <a:spcAft>
                          <a:spcPts val="180"/>
                        </a:spcAft>
                      </a:pPr>
                      <a:r>
                        <a:rPr lang="en-US" sz="1200" dirty="0">
                          <a:effectLst/>
                          <a:latin typeface="Telegraf"/>
                          <a:ea typeface="Aptos" panose="02110004020202020204"/>
                          <a:cs typeface="Times New Roman" panose="02020603050405020304" pitchFamily="18" charset="0"/>
                        </a:rPr>
                        <a:t>4,961</a:t>
                      </a:r>
                    </a:p>
                  </a:txBody>
                  <a:tcPr marL="68580" marR="68580" marT="0" marB="0" anchor="ctr"/>
                </a:tc>
                <a:extLst>
                  <a:ext uri="{0D108BD9-81ED-4DB2-BD59-A6C34878D82A}">
                    <a16:rowId xmlns:a16="http://schemas.microsoft.com/office/drawing/2014/main" val="689354840"/>
                  </a:ext>
                </a:extLst>
              </a:tr>
            </a:tbl>
          </a:graphicData>
        </a:graphic>
      </p:graphicFrame>
      <p:sp>
        <p:nvSpPr>
          <p:cNvPr id="6" name="TextBox 5">
            <a:extLst>
              <a:ext uri="{FF2B5EF4-FFF2-40B4-BE49-F238E27FC236}">
                <a16:creationId xmlns:a16="http://schemas.microsoft.com/office/drawing/2014/main" id="{FFA0619B-CBA6-71C5-51B8-00895308CDF2}"/>
              </a:ext>
            </a:extLst>
          </p:cNvPr>
          <p:cNvSpPr txBox="1"/>
          <p:nvPr/>
        </p:nvSpPr>
        <p:spPr>
          <a:xfrm>
            <a:off x="146097" y="828057"/>
            <a:ext cx="7010896" cy="846386"/>
          </a:xfrm>
          <a:prstGeom prst="rect">
            <a:avLst/>
          </a:prstGeom>
          <a:noFill/>
        </p:spPr>
        <p:txBody>
          <a:bodyPr wrap="square">
            <a:spAutoFit/>
          </a:bodyPr>
          <a:lstStyle/>
          <a:p>
            <a:pPr>
              <a:lnSpc>
                <a:spcPct val="150000"/>
              </a:lnSpc>
            </a:pPr>
            <a:r>
              <a:rPr lang="en-US" sz="1400" b="1" u="sng" dirty="0">
                <a:latin typeface="Telegraf"/>
              </a:rPr>
              <a:t>KEY FINDINGS :</a:t>
            </a:r>
          </a:p>
          <a:p>
            <a:pPr marL="288925" indent="-288925">
              <a:buFont typeface="Arial" panose="020B0604020202020204" pitchFamily="34" charset="0"/>
              <a:buChar char="•"/>
              <a:tabLst>
                <a:tab pos="288925" algn="l"/>
              </a:tabLst>
            </a:pPr>
            <a:r>
              <a:rPr lang="en-US" sz="1400" dirty="0">
                <a:latin typeface="Telegraf"/>
              </a:rPr>
              <a:t>Primary Risk Driver: Loss Circulation and Differential Sticking </a:t>
            </a:r>
          </a:p>
          <a:p>
            <a:pPr marL="288925" indent="-288925">
              <a:buFont typeface="Arial" panose="020B0604020202020204" pitchFamily="34" charset="0"/>
              <a:buChar char="•"/>
              <a:tabLst>
                <a:tab pos="288925" algn="l"/>
              </a:tabLst>
            </a:pPr>
            <a:r>
              <a:rPr lang="en-US" sz="1400" dirty="0">
                <a:latin typeface="Telegraf"/>
              </a:rPr>
              <a:t>Dominant subsurface hazards originate from shale/tight-hole intervals</a:t>
            </a:r>
          </a:p>
        </p:txBody>
      </p:sp>
      <p:sp>
        <p:nvSpPr>
          <p:cNvPr id="8" name="TextBox 7">
            <a:extLst>
              <a:ext uri="{FF2B5EF4-FFF2-40B4-BE49-F238E27FC236}">
                <a16:creationId xmlns:a16="http://schemas.microsoft.com/office/drawing/2014/main" id="{B0123627-6F5F-0860-579B-40EF2B4ACF4D}"/>
              </a:ext>
            </a:extLst>
          </p:cNvPr>
          <p:cNvSpPr txBox="1"/>
          <p:nvPr/>
        </p:nvSpPr>
        <p:spPr>
          <a:xfrm>
            <a:off x="5687840" y="1073253"/>
            <a:ext cx="7010896" cy="738664"/>
          </a:xfrm>
          <a:prstGeom prst="rect">
            <a:avLst/>
          </a:prstGeom>
          <a:noFill/>
        </p:spPr>
        <p:txBody>
          <a:bodyPr wrap="square">
            <a:spAutoFit/>
          </a:bodyPr>
          <a:lstStyle/>
          <a:p>
            <a:pPr marL="288925" indent="-288925">
              <a:buFont typeface="Arial" panose="020B0604020202020204" pitchFamily="34" charset="0"/>
              <a:buChar char="•"/>
              <a:tabLst>
                <a:tab pos="288925" algn="l"/>
              </a:tabLst>
            </a:pPr>
            <a:r>
              <a:rPr lang="en-US" sz="1400" dirty="0">
                <a:latin typeface="Telegraf"/>
              </a:rPr>
              <a:t>Secondary risks include LLI/ESP supply chain, well control, permitting, and HSE</a:t>
            </a:r>
          </a:p>
          <a:p>
            <a:pPr marL="288925" indent="-288925">
              <a:buFont typeface="Arial" panose="020B0604020202020204" pitchFamily="34" charset="0"/>
              <a:buChar char="•"/>
              <a:tabLst>
                <a:tab pos="288925" algn="l"/>
              </a:tabLst>
            </a:pPr>
            <a:r>
              <a:rPr lang="en-US" sz="1400" dirty="0">
                <a:latin typeface="Telegraf"/>
              </a:rPr>
              <a:t>Recommended contingency provision: USD 177,961</a:t>
            </a:r>
          </a:p>
          <a:p>
            <a:pPr marL="288925" indent="-288925">
              <a:buFont typeface="Arial" panose="020B0604020202020204" pitchFamily="34" charset="0"/>
              <a:buChar char="•"/>
              <a:tabLst>
                <a:tab pos="288925" algn="l"/>
              </a:tabLst>
            </a:pPr>
            <a:r>
              <a:rPr lang="en-US" sz="1400" dirty="0">
                <a:latin typeface="Telegraf"/>
              </a:rPr>
              <a:t>Total AFE including contingency: USD 1.96 MM </a:t>
            </a:r>
          </a:p>
        </p:txBody>
      </p:sp>
    </p:spTree>
    <p:extLst>
      <p:ext uri="{BB962C8B-B14F-4D97-AF65-F5344CB8AC3E}">
        <p14:creationId xmlns:p14="http://schemas.microsoft.com/office/powerpoint/2010/main" val="1152002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F304A-CC2A-8CBC-EAB9-CDD20A4B1501}"/>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4A4139FB-9497-FF2E-5714-DC987DF848E0}"/>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RISK HEAT MAP &amp; CONTINGENCY BUDGET ALLOCATION</a:t>
            </a:r>
          </a:p>
        </p:txBody>
      </p:sp>
      <p:pic>
        <p:nvPicPr>
          <p:cNvPr id="35" name="Picture 34">
            <a:extLst>
              <a:ext uri="{FF2B5EF4-FFF2-40B4-BE49-F238E27FC236}">
                <a16:creationId xmlns:a16="http://schemas.microsoft.com/office/drawing/2014/main" id="{9AC312A5-8BEC-E3A5-9396-F2DBDF3A4A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F6B83253-1E68-67DD-1E68-937296C90679}"/>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FF278BA8-5A0A-611E-B5EF-40682DF12D2F}"/>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EA606D4E-A848-3BAE-2F3F-EF0B283D3BDD}"/>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33</a:t>
            </a:r>
            <a:endParaRPr lang="en-ID" dirty="0">
              <a:solidFill>
                <a:schemeClr val="bg1"/>
              </a:solidFill>
              <a:latin typeface="Telegraf Bold" panose="020B0604020202020204" charset="0"/>
            </a:endParaRPr>
          </a:p>
        </p:txBody>
      </p:sp>
      <p:sp>
        <p:nvSpPr>
          <p:cNvPr id="10" name="TextBox 9">
            <a:extLst>
              <a:ext uri="{FF2B5EF4-FFF2-40B4-BE49-F238E27FC236}">
                <a16:creationId xmlns:a16="http://schemas.microsoft.com/office/drawing/2014/main" id="{814558F3-AF8A-A686-C5FE-12D040429994}"/>
              </a:ext>
            </a:extLst>
          </p:cNvPr>
          <p:cNvSpPr txBox="1"/>
          <p:nvPr/>
        </p:nvSpPr>
        <p:spPr>
          <a:xfrm>
            <a:off x="221033" y="1033360"/>
            <a:ext cx="4237950" cy="369332"/>
          </a:xfrm>
          <a:prstGeom prst="rect">
            <a:avLst/>
          </a:prstGeom>
          <a:noFill/>
        </p:spPr>
        <p:txBody>
          <a:bodyPr wrap="square">
            <a:spAutoFit/>
          </a:bodyPr>
          <a:lstStyle/>
          <a:p>
            <a:r>
              <a:rPr lang="en-US" sz="1800" b="1" u="sng" dirty="0">
                <a:highlight>
                  <a:srgbClr val="00FFFF"/>
                </a:highlight>
              </a:rPr>
              <a:t>RISK HEAT MAP CLASSIFICATION</a:t>
            </a:r>
            <a:endParaRPr lang="en-US" dirty="0">
              <a:highlight>
                <a:srgbClr val="00FFFF"/>
              </a:highlight>
            </a:endParaRPr>
          </a:p>
        </p:txBody>
      </p:sp>
      <p:sp>
        <p:nvSpPr>
          <p:cNvPr id="13" name="TextBox 12">
            <a:extLst>
              <a:ext uri="{FF2B5EF4-FFF2-40B4-BE49-F238E27FC236}">
                <a16:creationId xmlns:a16="http://schemas.microsoft.com/office/drawing/2014/main" id="{21CAB4D6-7659-A30A-E745-12224B4295CE}"/>
              </a:ext>
            </a:extLst>
          </p:cNvPr>
          <p:cNvSpPr txBox="1"/>
          <p:nvPr/>
        </p:nvSpPr>
        <p:spPr>
          <a:xfrm>
            <a:off x="221033" y="1033360"/>
            <a:ext cx="4237950" cy="369332"/>
          </a:xfrm>
          <a:prstGeom prst="rect">
            <a:avLst/>
          </a:prstGeom>
          <a:noFill/>
        </p:spPr>
        <p:txBody>
          <a:bodyPr wrap="square">
            <a:spAutoFit/>
          </a:bodyPr>
          <a:lstStyle/>
          <a:p>
            <a:r>
              <a:rPr lang="en-US" sz="1800" b="1" u="sng" dirty="0">
                <a:highlight>
                  <a:srgbClr val="00FFFF"/>
                </a:highlight>
              </a:rPr>
              <a:t>RISK HEAT MAP CLASSIFICATION</a:t>
            </a:r>
            <a:endParaRPr lang="en-US" dirty="0">
              <a:highlight>
                <a:srgbClr val="00FFFF"/>
              </a:highlight>
            </a:endParaRPr>
          </a:p>
        </p:txBody>
      </p:sp>
      <p:pic>
        <p:nvPicPr>
          <p:cNvPr id="15" name="Picture 14">
            <a:extLst>
              <a:ext uri="{FF2B5EF4-FFF2-40B4-BE49-F238E27FC236}">
                <a16:creationId xmlns:a16="http://schemas.microsoft.com/office/drawing/2014/main" id="{7F426E6E-2371-4C01-88AF-0272E60526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791" y="1440479"/>
            <a:ext cx="4595235" cy="3217091"/>
          </a:xfrm>
          <a:prstGeom prst="rect">
            <a:avLst/>
          </a:prstGeom>
        </p:spPr>
      </p:pic>
      <p:sp>
        <p:nvSpPr>
          <p:cNvPr id="17" name="TextBox 16">
            <a:extLst>
              <a:ext uri="{FF2B5EF4-FFF2-40B4-BE49-F238E27FC236}">
                <a16:creationId xmlns:a16="http://schemas.microsoft.com/office/drawing/2014/main" id="{85BD310B-EB09-D531-02C7-C3EEF3F012A5}"/>
              </a:ext>
            </a:extLst>
          </p:cNvPr>
          <p:cNvSpPr txBox="1"/>
          <p:nvPr/>
        </p:nvSpPr>
        <p:spPr>
          <a:xfrm>
            <a:off x="107031" y="4735409"/>
            <a:ext cx="3742477" cy="1815882"/>
          </a:xfrm>
          <a:prstGeom prst="rect">
            <a:avLst/>
          </a:prstGeom>
          <a:solidFill>
            <a:schemeClr val="accent2">
              <a:lumMod val="20000"/>
              <a:lumOff val="80000"/>
            </a:schemeClr>
          </a:solidFill>
        </p:spPr>
        <p:txBody>
          <a:bodyPr wrap="square">
            <a:spAutoFit/>
          </a:bodyPr>
          <a:lstStyle/>
          <a:p>
            <a:r>
              <a:rPr lang="en-US" sz="1400" b="1" u="sng" dirty="0">
                <a:latin typeface="Telegraf"/>
              </a:rPr>
              <a:t>TOP PROJECT RISKS : </a:t>
            </a:r>
          </a:p>
          <a:p>
            <a:r>
              <a:rPr lang="en-US" sz="1400" dirty="0">
                <a:latin typeface="Telegraf"/>
              </a:rPr>
              <a:t>1. Loss Circulation (16)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r>
              <a:rPr lang="en-US" sz="1400" dirty="0">
                <a:solidFill>
                  <a:srgbClr val="FF0000"/>
                </a:solidFill>
                <a:latin typeface="Telegraf"/>
              </a:rPr>
              <a:t> </a:t>
            </a:r>
          </a:p>
          <a:p>
            <a:r>
              <a:rPr lang="en-US" sz="1400" dirty="0">
                <a:latin typeface="Telegraf"/>
              </a:rPr>
              <a:t>2. Differential Sticking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solidFill>
                <a:schemeClr val="accent2"/>
              </a:solidFill>
              <a:latin typeface="Telegraf"/>
            </a:endParaRPr>
          </a:p>
          <a:p>
            <a:r>
              <a:rPr lang="en-US" sz="1400" dirty="0">
                <a:latin typeface="Telegraf"/>
              </a:rPr>
              <a:t>3. Surface Leaking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4. Item Procurement Delay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5. ESP &amp; Completion Equipment Supply Chain Disruption (12)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a:p>
            <a:r>
              <a:rPr lang="en-US" sz="1400" dirty="0">
                <a:latin typeface="Telegraf"/>
              </a:rPr>
              <a:t>6. Well Control Incident / Blowout (10) </a:t>
            </a:r>
            <a:r>
              <a:rPr lang="en-US" sz="1400" dirty="0">
                <a:latin typeface="Telegraf"/>
                <a:sym typeface="Wingdings" panose="05000000000000000000" pitchFamily="2" charset="2"/>
              </a:rPr>
              <a:t> </a:t>
            </a:r>
            <a:r>
              <a:rPr lang="en-US" sz="1400" dirty="0">
                <a:solidFill>
                  <a:schemeClr val="accent2"/>
                </a:solidFill>
                <a:latin typeface="Telegraf"/>
                <a:sym typeface="Wingdings" panose="05000000000000000000" pitchFamily="2" charset="2"/>
              </a:rPr>
              <a:t>High</a:t>
            </a:r>
            <a:endParaRPr lang="en-US" sz="1400" dirty="0">
              <a:latin typeface="Telegraf"/>
            </a:endParaRPr>
          </a:p>
        </p:txBody>
      </p:sp>
      <p:graphicFrame>
        <p:nvGraphicFramePr>
          <p:cNvPr id="18" name="Content Placeholder 5">
            <a:extLst>
              <a:ext uri="{FF2B5EF4-FFF2-40B4-BE49-F238E27FC236}">
                <a16:creationId xmlns:a16="http://schemas.microsoft.com/office/drawing/2014/main" id="{77758C40-FF86-6D2D-E862-C129A6AEFE90}"/>
              </a:ext>
            </a:extLst>
          </p:cNvPr>
          <p:cNvGraphicFramePr>
            <a:graphicFrameLocks noGrp="1"/>
          </p:cNvGraphicFramePr>
          <p:nvPr>
            <p:ph idx="1"/>
            <p:extLst>
              <p:ext uri="{D42A27DB-BD31-4B8C-83A1-F6EECF244321}">
                <p14:modId xmlns:p14="http://schemas.microsoft.com/office/powerpoint/2010/main" val="1695437272"/>
              </p:ext>
            </p:extLst>
          </p:nvPr>
        </p:nvGraphicFramePr>
        <p:xfrm>
          <a:off x="5073373" y="1100389"/>
          <a:ext cx="5861472" cy="2004998"/>
        </p:xfrm>
        <a:graphic>
          <a:graphicData uri="http://schemas.openxmlformats.org/drawingml/2006/table">
            <a:tbl>
              <a:tblPr firstRow="1" bandRow="1" bandCol="1">
                <a:tableStyleId>{5C22544A-7EE6-4342-B048-85BDC9FD1C3A}</a:tableStyleId>
              </a:tblPr>
              <a:tblGrid>
                <a:gridCol w="4154345">
                  <a:extLst>
                    <a:ext uri="{9D8B030D-6E8A-4147-A177-3AD203B41FA5}">
                      <a16:colId xmlns:a16="http://schemas.microsoft.com/office/drawing/2014/main" val="2425094940"/>
                    </a:ext>
                  </a:extLst>
                </a:gridCol>
                <a:gridCol w="1707127">
                  <a:extLst>
                    <a:ext uri="{9D8B030D-6E8A-4147-A177-3AD203B41FA5}">
                      <a16:colId xmlns:a16="http://schemas.microsoft.com/office/drawing/2014/main" val="735805822"/>
                    </a:ext>
                  </a:extLst>
                </a:gridCol>
              </a:tblGrid>
              <a:tr h="423282">
                <a:tc>
                  <a:txBody>
                    <a:bodyPr/>
                    <a:lstStyle/>
                    <a:p>
                      <a:pPr marL="0" marR="0" algn="ctr">
                        <a:spcBef>
                          <a:spcPts val="180"/>
                        </a:spcBef>
                        <a:spcAft>
                          <a:spcPts val="180"/>
                        </a:spcAft>
                      </a:pPr>
                      <a:r>
                        <a:rPr lang="en-US" sz="1400" dirty="0">
                          <a:effectLst/>
                          <a:latin typeface="Telegraf" panose="020B0604020202020204"/>
                        </a:rPr>
                        <a:t>Risk Category</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spcBef>
                          <a:spcPts val="180"/>
                        </a:spcBef>
                        <a:spcAft>
                          <a:spcPts val="180"/>
                        </a:spcAft>
                      </a:pPr>
                      <a:r>
                        <a:rPr lang="en-US" sz="1400" dirty="0">
                          <a:effectLst/>
                          <a:latin typeface="Telegraf" panose="020B0604020202020204"/>
                        </a:rPr>
                        <a:t>Estimated Cost (USD)</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121656621"/>
                  </a:ext>
                </a:extLst>
              </a:tr>
              <a:tr h="329885">
                <a:tc>
                  <a:txBody>
                    <a:bodyPr/>
                    <a:lstStyle/>
                    <a:p>
                      <a:pPr marL="0" marR="0" algn="l">
                        <a:lnSpc>
                          <a:spcPct val="100000"/>
                        </a:lnSpc>
                        <a:spcBef>
                          <a:spcPts val="180"/>
                        </a:spcBef>
                        <a:spcAft>
                          <a:spcPts val="180"/>
                        </a:spcAft>
                      </a:pPr>
                      <a:r>
                        <a:rPr lang="en-US" sz="1400" dirty="0">
                          <a:effectLst/>
                          <a:latin typeface="Telegraf" panose="020B0604020202020204"/>
                        </a:rPr>
                        <a:t>Subsurface Technical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80,000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74778735"/>
                  </a:ext>
                </a:extLst>
              </a:tr>
              <a:tr h="306065">
                <a:tc>
                  <a:txBody>
                    <a:bodyPr/>
                    <a:lstStyle/>
                    <a:p>
                      <a:pPr marL="0" marR="0" algn="l">
                        <a:lnSpc>
                          <a:spcPct val="100000"/>
                        </a:lnSpc>
                        <a:spcBef>
                          <a:spcPts val="180"/>
                        </a:spcBef>
                        <a:spcAft>
                          <a:spcPts val="180"/>
                        </a:spcAft>
                      </a:pPr>
                      <a:r>
                        <a:rPr lang="en-US" sz="1400" dirty="0">
                          <a:effectLst/>
                          <a:latin typeface="Telegraf" panose="020B0604020202020204"/>
                        </a:rPr>
                        <a:t>Operational &amp; Equipment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59,961</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395954664"/>
                  </a:ext>
                </a:extLst>
              </a:tr>
              <a:tr h="323225">
                <a:tc>
                  <a:txBody>
                    <a:bodyPr/>
                    <a:lstStyle/>
                    <a:p>
                      <a:pPr marL="0" marR="0" algn="l">
                        <a:lnSpc>
                          <a:spcPct val="100000"/>
                        </a:lnSpc>
                        <a:spcBef>
                          <a:spcPts val="180"/>
                        </a:spcBef>
                        <a:spcAft>
                          <a:spcPts val="180"/>
                        </a:spcAft>
                      </a:pPr>
                      <a:r>
                        <a:rPr lang="en-US" sz="1400" dirty="0">
                          <a:effectLst/>
                          <a:latin typeface="Telegraf" panose="020B0604020202020204"/>
                        </a:rPr>
                        <a:t>HSE, Regulatory &amp; Community Risks</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23,000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2627633824"/>
                  </a:ext>
                </a:extLst>
              </a:tr>
              <a:tr h="317334">
                <a:tc>
                  <a:txBody>
                    <a:bodyPr/>
                    <a:lstStyle/>
                    <a:p>
                      <a:pPr marL="0" marR="0" algn="l">
                        <a:lnSpc>
                          <a:spcPct val="100000"/>
                        </a:lnSpc>
                        <a:spcBef>
                          <a:spcPts val="180"/>
                        </a:spcBef>
                        <a:spcAft>
                          <a:spcPts val="180"/>
                        </a:spcAft>
                      </a:pPr>
                      <a:r>
                        <a:rPr lang="en-US" sz="1400" dirty="0">
                          <a:effectLst/>
                          <a:latin typeface="Telegraf" panose="020B0604020202020204"/>
                        </a:rPr>
                        <a:t>Recommended Management Reserve</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dirty="0">
                          <a:effectLst/>
                          <a:latin typeface="Telegraf" panose="020B0604020202020204"/>
                        </a:rPr>
                        <a:t>15,000</a:t>
                      </a:r>
                      <a:endParaRPr lang="en-US" sz="1400" dirty="0">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1847134706"/>
                  </a:ext>
                </a:extLst>
              </a:tr>
              <a:tr h="305207">
                <a:tc>
                  <a:txBody>
                    <a:bodyPr/>
                    <a:lstStyle/>
                    <a:p>
                      <a:pPr marL="0" marR="0" algn="l">
                        <a:lnSpc>
                          <a:spcPct val="100000"/>
                        </a:lnSpc>
                        <a:spcBef>
                          <a:spcPts val="180"/>
                        </a:spcBef>
                        <a:spcAft>
                          <a:spcPts val="180"/>
                        </a:spcAft>
                      </a:pPr>
                      <a:r>
                        <a:rPr lang="en-US" sz="1400" b="1" dirty="0">
                          <a:solidFill>
                            <a:srgbClr val="0000FF"/>
                          </a:solidFill>
                          <a:effectLst/>
                          <a:latin typeface="Telegraf" panose="020B0604020202020204"/>
                        </a:rPr>
                        <a:t>Total Recommended Contingency Budget</a:t>
                      </a:r>
                      <a:endParaRPr lang="en-US" sz="1400" b="1" dirty="0">
                        <a:solidFill>
                          <a:srgbClr val="0000FF"/>
                        </a:solidFill>
                        <a:effectLst/>
                        <a:latin typeface="Telegraf" panose="020B0604020202020204"/>
                        <a:ea typeface="Aptos" panose="02110004020202020204"/>
                        <a:cs typeface="Times New Roman" panose="02020603050405020304" pitchFamily="18" charset="0"/>
                      </a:endParaRPr>
                    </a:p>
                  </a:txBody>
                  <a:tcPr marL="68580" marR="68580" marT="0" marB="0" anchor="ctr"/>
                </a:tc>
                <a:tc>
                  <a:txBody>
                    <a:bodyPr/>
                    <a:lstStyle/>
                    <a:p>
                      <a:pPr marL="0" marR="0" algn="ctr">
                        <a:lnSpc>
                          <a:spcPct val="100000"/>
                        </a:lnSpc>
                        <a:spcBef>
                          <a:spcPts val="180"/>
                        </a:spcBef>
                        <a:spcAft>
                          <a:spcPts val="180"/>
                        </a:spcAft>
                      </a:pPr>
                      <a:r>
                        <a:rPr lang="en-US" sz="1400" b="1" dirty="0">
                          <a:solidFill>
                            <a:srgbClr val="0000FF"/>
                          </a:solidFill>
                          <a:effectLst/>
                          <a:latin typeface="Telegraf" panose="020B0604020202020204"/>
                        </a:rPr>
                        <a:t>177,961</a:t>
                      </a:r>
                      <a:endParaRPr lang="en-US" sz="1400" b="1" dirty="0">
                        <a:solidFill>
                          <a:srgbClr val="0000FF"/>
                        </a:solidFill>
                        <a:effectLst/>
                        <a:latin typeface="Telegraf" panose="020B0604020202020204"/>
                        <a:ea typeface="Aptos" panose="02110004020202020204"/>
                        <a:cs typeface="Times New Roman" panose="02020603050405020304" pitchFamily="18" charset="0"/>
                      </a:endParaRPr>
                    </a:p>
                  </a:txBody>
                  <a:tcPr marL="68580" marR="68580" marT="0" marB="0" anchor="ctr"/>
                </a:tc>
                <a:extLst>
                  <a:ext uri="{0D108BD9-81ED-4DB2-BD59-A6C34878D82A}">
                    <a16:rowId xmlns:a16="http://schemas.microsoft.com/office/drawing/2014/main" val="2394068436"/>
                  </a:ext>
                </a:extLst>
              </a:tr>
            </a:tbl>
          </a:graphicData>
        </a:graphic>
      </p:graphicFrame>
      <p:sp>
        <p:nvSpPr>
          <p:cNvPr id="20" name="TextBox 19">
            <a:extLst>
              <a:ext uri="{FF2B5EF4-FFF2-40B4-BE49-F238E27FC236}">
                <a16:creationId xmlns:a16="http://schemas.microsoft.com/office/drawing/2014/main" id="{27F8501E-25E3-1116-3377-D037E0D682E0}"/>
              </a:ext>
            </a:extLst>
          </p:cNvPr>
          <p:cNvSpPr txBox="1"/>
          <p:nvPr/>
        </p:nvSpPr>
        <p:spPr>
          <a:xfrm>
            <a:off x="3920075" y="5244195"/>
            <a:ext cx="3026593" cy="1600438"/>
          </a:xfrm>
          <a:prstGeom prst="rect">
            <a:avLst/>
          </a:prstGeom>
          <a:solidFill>
            <a:schemeClr val="tx2">
              <a:lumMod val="10000"/>
              <a:lumOff val="90000"/>
            </a:schemeClr>
          </a:solidFill>
        </p:spPr>
        <p:txBody>
          <a:bodyPr wrap="square">
            <a:spAutoFit/>
          </a:bodyPr>
          <a:lstStyle/>
          <a:p>
            <a:r>
              <a:rPr lang="en-US" sz="1400" b="1" u="sng" dirty="0">
                <a:solidFill>
                  <a:srgbClr val="0000FF"/>
                </a:solidFill>
                <a:latin typeface="Telegraf" panose="020B0604020202020204"/>
              </a:rPr>
              <a:t>RISK REDUCTION STRATEGY :</a:t>
            </a:r>
            <a:endParaRPr lang="en-US" sz="1400" u="sng" dirty="0">
              <a:solidFill>
                <a:srgbClr val="0000FF"/>
              </a:solidFill>
              <a:latin typeface="Telegraf" panose="020B0604020202020204"/>
            </a:endParaRPr>
          </a:p>
          <a:p>
            <a:pPr marL="171450" indent="-171450">
              <a:buFont typeface="Arial" panose="020B0604020202020204" pitchFamily="34" charset="0"/>
              <a:buChar char="•"/>
            </a:pPr>
            <a:r>
              <a:rPr lang="en-US" sz="1400" dirty="0">
                <a:latin typeface="Telegraf" panose="020B0604020202020204"/>
              </a:rPr>
              <a:t>Mud System Optimization </a:t>
            </a:r>
          </a:p>
          <a:p>
            <a:pPr marL="171450" indent="-171450">
              <a:buFont typeface="Arial" panose="020B0604020202020204" pitchFamily="34" charset="0"/>
              <a:buChar char="•"/>
            </a:pPr>
            <a:r>
              <a:rPr lang="en-US" sz="1400" dirty="0">
                <a:latin typeface="Telegraf" panose="020B0604020202020204"/>
              </a:rPr>
              <a:t>Wellbore Stability Management </a:t>
            </a:r>
          </a:p>
          <a:p>
            <a:pPr marL="171450" indent="-171450">
              <a:buFont typeface="Arial" panose="020B0604020202020204" pitchFamily="34" charset="0"/>
              <a:buChar char="•"/>
            </a:pPr>
            <a:r>
              <a:rPr lang="en-US" sz="1400" dirty="0">
                <a:latin typeface="Telegraf" panose="020B0604020202020204"/>
              </a:rPr>
              <a:t>Loss Circulation Mitigation</a:t>
            </a:r>
          </a:p>
          <a:p>
            <a:pPr marL="171450" indent="-171450">
              <a:buFont typeface="Arial" panose="020B0604020202020204" pitchFamily="34" charset="0"/>
              <a:buChar char="•"/>
            </a:pPr>
            <a:r>
              <a:rPr lang="en-US" sz="1400" dirty="0">
                <a:latin typeface="Telegraf" panose="020B0604020202020204"/>
              </a:rPr>
              <a:t>Procurement Tracking for Critical Items</a:t>
            </a:r>
          </a:p>
          <a:p>
            <a:pPr marL="171450" indent="-171450">
              <a:buFont typeface="Arial" panose="020B0604020202020204" pitchFamily="34" charset="0"/>
              <a:buChar char="•"/>
            </a:pPr>
            <a:r>
              <a:rPr lang="en-US" sz="1400" dirty="0">
                <a:latin typeface="Telegraf" panose="020B0604020202020204"/>
              </a:rPr>
              <a:t>Well Control Readiness</a:t>
            </a:r>
          </a:p>
        </p:txBody>
      </p:sp>
      <p:graphicFrame>
        <p:nvGraphicFramePr>
          <p:cNvPr id="22" name="Chart 21">
            <a:extLst>
              <a:ext uri="{FF2B5EF4-FFF2-40B4-BE49-F238E27FC236}">
                <a16:creationId xmlns:a16="http://schemas.microsoft.com/office/drawing/2014/main" id="{40CD75F0-E04A-BB87-4C2F-6204365EE018}"/>
              </a:ext>
            </a:extLst>
          </p:cNvPr>
          <p:cNvGraphicFramePr>
            <a:graphicFrameLocks/>
          </p:cNvGraphicFramePr>
          <p:nvPr>
            <p:extLst>
              <p:ext uri="{D42A27DB-BD31-4B8C-83A1-F6EECF244321}">
                <p14:modId xmlns:p14="http://schemas.microsoft.com/office/powerpoint/2010/main" val="3301897871"/>
              </p:ext>
            </p:extLst>
          </p:nvPr>
        </p:nvGraphicFramePr>
        <p:xfrm>
          <a:off x="5073373" y="3140646"/>
          <a:ext cx="4796109" cy="206829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a:extLst>
              <a:ext uri="{FF2B5EF4-FFF2-40B4-BE49-F238E27FC236}">
                <a16:creationId xmlns:a16="http://schemas.microsoft.com/office/drawing/2014/main" id="{D8920087-FB25-FF5F-689C-E036155BDBBD}"/>
              </a:ext>
            </a:extLst>
          </p:cNvPr>
          <p:cNvSpPr txBox="1"/>
          <p:nvPr/>
        </p:nvSpPr>
        <p:spPr>
          <a:xfrm>
            <a:off x="9936060" y="3140646"/>
            <a:ext cx="2148909" cy="1615827"/>
          </a:xfrm>
          <a:prstGeom prst="rect">
            <a:avLst/>
          </a:prstGeom>
          <a:solidFill>
            <a:schemeClr val="accent1">
              <a:lumMod val="20000"/>
              <a:lumOff val="80000"/>
            </a:schemeClr>
          </a:solidFill>
        </p:spPr>
        <p:txBody>
          <a:bodyPr wrap="square">
            <a:spAutoFit/>
          </a:bodyPr>
          <a:lstStyle/>
          <a:p>
            <a:r>
              <a:rPr lang="en-US" sz="1100" dirty="0">
                <a:latin typeface="Telegraf" panose="020B0604020202020204"/>
              </a:rPr>
              <a:t>The overall project risk is considered manageable with the proposed mitigation measures and contingency provision of USD 177,961. The dominant exposure remains loss circulation, wellbore instability, and execution readiness including critical equipment supply.</a:t>
            </a:r>
          </a:p>
        </p:txBody>
      </p:sp>
      <p:sp>
        <p:nvSpPr>
          <p:cNvPr id="26" name="TextBox 25">
            <a:extLst>
              <a:ext uri="{FF2B5EF4-FFF2-40B4-BE49-F238E27FC236}">
                <a16:creationId xmlns:a16="http://schemas.microsoft.com/office/drawing/2014/main" id="{FF64442D-9B11-2C40-A130-66285FA0C9C0}"/>
              </a:ext>
            </a:extLst>
          </p:cNvPr>
          <p:cNvSpPr txBox="1"/>
          <p:nvPr/>
        </p:nvSpPr>
        <p:spPr>
          <a:xfrm>
            <a:off x="9869482" y="4803920"/>
            <a:ext cx="2401408" cy="461665"/>
          </a:xfrm>
          <a:prstGeom prst="rect">
            <a:avLst/>
          </a:prstGeom>
          <a:noFill/>
        </p:spPr>
        <p:txBody>
          <a:bodyPr wrap="square">
            <a:spAutoFit/>
          </a:bodyPr>
          <a:lstStyle/>
          <a:p>
            <a:r>
              <a:rPr lang="en-US" sz="1200" b="1" dirty="0">
                <a:highlight>
                  <a:srgbClr val="FFFF00"/>
                </a:highlight>
                <a:latin typeface="Telegraf" panose="020B0604020202020204"/>
              </a:rPr>
              <a:t>Recommendation</a:t>
            </a:r>
          </a:p>
          <a:p>
            <a:r>
              <a:rPr lang="en-US" sz="1200" dirty="0">
                <a:latin typeface="Telegraf" panose="020B0604020202020204"/>
              </a:rPr>
              <a:t>✅ </a:t>
            </a:r>
            <a:r>
              <a:rPr lang="en-US" sz="1200" i="1" dirty="0">
                <a:latin typeface="Telegraf" panose="020B0604020202020204"/>
              </a:rPr>
              <a:t>Proceed with drilling execution</a:t>
            </a:r>
          </a:p>
        </p:txBody>
      </p:sp>
      <p:sp>
        <p:nvSpPr>
          <p:cNvPr id="28" name="TextBox 27">
            <a:extLst>
              <a:ext uri="{FF2B5EF4-FFF2-40B4-BE49-F238E27FC236}">
                <a16:creationId xmlns:a16="http://schemas.microsoft.com/office/drawing/2014/main" id="{D623DD24-3874-FF42-9ABD-E0AA64CB3F34}"/>
              </a:ext>
            </a:extLst>
          </p:cNvPr>
          <p:cNvSpPr txBox="1"/>
          <p:nvPr/>
        </p:nvSpPr>
        <p:spPr>
          <a:xfrm>
            <a:off x="7017235" y="5400073"/>
            <a:ext cx="4447178" cy="1323439"/>
          </a:xfrm>
          <a:prstGeom prst="rect">
            <a:avLst/>
          </a:prstGeom>
          <a:solidFill>
            <a:schemeClr val="accent6">
              <a:lumMod val="20000"/>
              <a:lumOff val="80000"/>
            </a:schemeClr>
          </a:solidFill>
        </p:spPr>
        <p:txBody>
          <a:bodyPr wrap="square">
            <a:spAutoFit/>
          </a:bodyPr>
          <a:lstStyle/>
          <a:p>
            <a:pPr algn="just"/>
            <a:r>
              <a:rPr lang="en-US" sz="1600" b="1" dirty="0">
                <a:latin typeface="Telegraf" panose="020B0604020202020204"/>
              </a:rPr>
              <a:t>Successful well delivery will depend on disciplined wellbore stability management, proactive loss circulation control, timely procurement of critical equipment, and strong well control and HSE readiness throughout the drilling campaign.</a:t>
            </a:r>
          </a:p>
        </p:txBody>
      </p:sp>
      <p:cxnSp>
        <p:nvCxnSpPr>
          <p:cNvPr id="30" name="Straight Connector 29">
            <a:extLst>
              <a:ext uri="{FF2B5EF4-FFF2-40B4-BE49-F238E27FC236}">
                <a16:creationId xmlns:a16="http://schemas.microsoft.com/office/drawing/2014/main" id="{C08EFAB1-90C8-12EE-77CC-BAB705011F15}"/>
              </a:ext>
            </a:extLst>
          </p:cNvPr>
          <p:cNvCxnSpPr/>
          <p:nvPr/>
        </p:nvCxnSpPr>
        <p:spPr>
          <a:xfrm>
            <a:off x="4878028" y="1056207"/>
            <a:ext cx="0" cy="3960000"/>
          </a:xfrm>
          <a:prstGeom prst="line">
            <a:avLst/>
          </a:prstGeom>
          <a:ln>
            <a:solidFill>
              <a:schemeClr val="bg2">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3797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1FBC-99C2-6E17-1831-6AAD5E2AE8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8EC882-8072-D3CA-EF6A-ED840AE34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AE945B0C-38C3-CD85-5DCC-F26825F38682}"/>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A6A1FD67-A97D-D9DF-ED5E-F2E1B2DADEF9}"/>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PROJECT ECONOMICS &amp; PRELIMINARY AFE</a:t>
            </a:r>
          </a:p>
        </p:txBody>
      </p:sp>
      <p:pic>
        <p:nvPicPr>
          <p:cNvPr id="9" name="Google Shape;40;p1" descr="Blue text and blue letters on a black background&#10;&#10;Description automatically generated">
            <a:extLst>
              <a:ext uri="{FF2B5EF4-FFF2-40B4-BE49-F238E27FC236}">
                <a16:creationId xmlns:a16="http://schemas.microsoft.com/office/drawing/2014/main" id="{5D8705DB-746F-D6C0-FA16-FC098A4FE25F}"/>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BA2D2935-50AB-E067-9536-A1BAE839FF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354281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53754-1A8D-D9E9-795B-DE68F2BDE50D}"/>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FD75B134-DA81-A6CB-1B10-E0F08DF627D2}"/>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PRODUCTION FORECAST ALPHA-07</a:t>
            </a:r>
          </a:p>
        </p:txBody>
      </p:sp>
      <p:pic>
        <p:nvPicPr>
          <p:cNvPr id="35" name="Picture 34">
            <a:extLst>
              <a:ext uri="{FF2B5EF4-FFF2-40B4-BE49-F238E27FC236}">
                <a16:creationId xmlns:a16="http://schemas.microsoft.com/office/drawing/2014/main" id="{F5FE0167-C868-6179-9C5D-5E09850569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0BB64326-C59B-1286-CB2C-A128AD1D25D8}"/>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 name="Freeform 6">
            <a:extLst>
              <a:ext uri="{FF2B5EF4-FFF2-40B4-BE49-F238E27FC236}">
                <a16:creationId xmlns:a16="http://schemas.microsoft.com/office/drawing/2014/main" id="{32454064-435F-314C-4DEF-5F43D7DEDBA6}"/>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3" name="TextBox 2">
            <a:extLst>
              <a:ext uri="{FF2B5EF4-FFF2-40B4-BE49-F238E27FC236}">
                <a16:creationId xmlns:a16="http://schemas.microsoft.com/office/drawing/2014/main" id="{5AC42379-34D0-831E-3146-D239AB861E0F}"/>
              </a:ext>
            </a:extLst>
          </p:cNvPr>
          <p:cNvSpPr txBox="1"/>
          <p:nvPr/>
        </p:nvSpPr>
        <p:spPr>
          <a:xfrm>
            <a:off x="1519390" y="1427386"/>
            <a:ext cx="3321514" cy="1777410"/>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lIns="91440" tIns="45720" rIns="91440" bIns="45720" rtlCol="0" anchor="t">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ID" sz="1050" b="1" i="0" u="sng" strike="noStrike" kern="1200" cap="none" spc="0" normalizeH="0" baseline="0" noProof="0" dirty="0">
                <a:ln>
                  <a:noFill/>
                </a:ln>
                <a:solidFill>
                  <a:prstClr val="black"/>
                </a:solidFill>
                <a:effectLst/>
                <a:uLnTx/>
                <a:uFillTx/>
                <a:latin typeface="Telegraf" panose="020B0604020202020204"/>
              </a:rPr>
              <a:t>Summary </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ID" sz="1050" b="0" i="0" u="none" strike="noStrike" kern="1200" cap="none" spc="0" normalizeH="0" baseline="0" noProof="0" dirty="0">
                <a:ln>
                  <a:noFill/>
                </a:ln>
                <a:solidFill>
                  <a:prstClr val="black"/>
                </a:solidFill>
                <a:effectLst/>
                <a:uLnTx/>
                <a:uFillTx/>
                <a:latin typeface="Telegraf" panose="020B0604020202020204"/>
              </a:rPr>
              <a:t>Alpha-07 </a:t>
            </a:r>
            <a:r>
              <a:rPr lang="en-ID" sz="1050" dirty="0" err="1">
                <a:solidFill>
                  <a:prstClr val="black"/>
                </a:solidFill>
                <a:latin typeface="Telegraf" panose="020B0604020202020204"/>
              </a:rPr>
              <a:t>akan</a:t>
            </a:r>
            <a:r>
              <a:rPr lang="en-ID" sz="1050" dirty="0">
                <a:solidFill>
                  <a:prstClr val="black"/>
                </a:solidFill>
                <a:latin typeface="Telegraf" panose="020B0604020202020204"/>
              </a:rPr>
              <a:t> </a:t>
            </a:r>
            <a:r>
              <a:rPr lang="en-ID" sz="1050" dirty="0" err="1">
                <a:solidFill>
                  <a:prstClr val="black"/>
                </a:solidFill>
                <a:latin typeface="Telegraf" panose="020B0604020202020204"/>
              </a:rPr>
              <a:t>diproduksikan</a:t>
            </a:r>
            <a:r>
              <a:rPr lang="en-ID" sz="1050" dirty="0">
                <a:solidFill>
                  <a:prstClr val="black"/>
                </a:solidFill>
                <a:latin typeface="Telegraf" panose="020B0604020202020204"/>
              </a:rPr>
              <a:t> </a:t>
            </a:r>
            <a:r>
              <a:rPr lang="en-ID" sz="1050" dirty="0" err="1">
                <a:solidFill>
                  <a:prstClr val="black"/>
                </a:solidFill>
                <a:latin typeface="Telegraf" panose="020B0604020202020204"/>
              </a:rPr>
              <a:t>secara</a:t>
            </a:r>
            <a:r>
              <a:rPr lang="en-ID" sz="1050" dirty="0">
                <a:solidFill>
                  <a:prstClr val="black"/>
                </a:solidFill>
                <a:latin typeface="Telegraf" panose="020B0604020202020204"/>
              </a:rPr>
              <a:t> commingle</a:t>
            </a:r>
            <a:r>
              <a:rPr kumimoji="0" lang="en-ID" sz="1050" b="0" i="0" u="none" strike="noStrike" kern="1200" cap="none" spc="0" normalizeH="0" baseline="0" noProof="0" dirty="0">
                <a:ln>
                  <a:noFill/>
                </a:ln>
                <a:solidFill>
                  <a:prstClr val="black"/>
                </a:solidFill>
                <a:effectLst/>
                <a:uLnTx/>
                <a:uFillTx/>
                <a:latin typeface="Telegraf" panose="020B0604020202020204"/>
              </a:rPr>
              <a:t> </a:t>
            </a:r>
            <a:r>
              <a:rPr kumimoji="0" lang="en-ID" sz="1050" b="0" i="0" u="none" strike="noStrike" kern="1200" cap="none" spc="0" normalizeH="0" baseline="0" noProof="0" dirty="0" err="1">
                <a:ln>
                  <a:noFill/>
                </a:ln>
                <a:solidFill>
                  <a:prstClr val="black"/>
                </a:solidFill>
                <a:effectLst/>
                <a:uLnTx/>
                <a:uFillTx/>
                <a:latin typeface="Telegraf" panose="020B0604020202020204"/>
              </a:rPr>
              <a:t>dari</a:t>
            </a:r>
            <a:r>
              <a:rPr kumimoji="0" lang="en-ID" sz="1050" b="0" i="0" u="none" strike="noStrike" kern="1200" cap="none" spc="0" normalizeH="0" baseline="0" noProof="0" dirty="0">
                <a:ln>
                  <a:noFill/>
                </a:ln>
                <a:solidFill>
                  <a:prstClr val="black"/>
                </a:solidFill>
                <a:effectLst/>
                <a:uLnTx/>
                <a:uFillTx/>
                <a:latin typeface="Telegraf" panose="020B0604020202020204"/>
              </a:rPr>
              <a:t> </a:t>
            </a:r>
            <a:r>
              <a:rPr kumimoji="0" lang="en-ID" sz="1050" b="0" i="0" u="none" strike="noStrike" kern="1200" cap="none" spc="0" normalizeH="0" baseline="0" noProof="0" dirty="0" err="1">
                <a:ln>
                  <a:noFill/>
                </a:ln>
                <a:solidFill>
                  <a:prstClr val="black"/>
                </a:solidFill>
                <a:effectLst/>
                <a:uLnTx/>
                <a:uFillTx/>
                <a:latin typeface="Telegraf" panose="020B0604020202020204"/>
              </a:rPr>
              <a:t>formasi</a:t>
            </a:r>
            <a:r>
              <a:rPr kumimoji="0" lang="en-ID" sz="1050" b="0" i="0" u="none" strike="noStrike" kern="1200" cap="none" spc="0" normalizeH="0" baseline="0" noProof="0" dirty="0">
                <a:ln>
                  <a:noFill/>
                </a:ln>
                <a:solidFill>
                  <a:prstClr val="black"/>
                </a:solidFill>
                <a:effectLst/>
                <a:uLnTx/>
                <a:uFillTx/>
                <a:latin typeface="Telegraf" panose="020B0604020202020204"/>
              </a:rPr>
              <a:t> BARA, BAMA, RAJA, dan PRIMA</a:t>
            </a:r>
            <a:endParaRPr lang="en-ID" sz="1050" dirty="0">
              <a:solidFill>
                <a:prstClr val="black"/>
              </a:solidFill>
              <a:latin typeface="Telegraf" panose="020B0604020202020204"/>
            </a:endParaRP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Telegraf" panose="020B0604020202020204"/>
              </a:rPr>
              <a:t>Expected 1</a:t>
            </a:r>
            <a:r>
              <a:rPr kumimoji="0" lang="en-US" sz="1050" b="0" i="0" u="none" strike="noStrike" kern="1200" cap="none" spc="0" normalizeH="0" baseline="30000" noProof="0" dirty="0">
                <a:ln>
                  <a:noFill/>
                </a:ln>
                <a:solidFill>
                  <a:prstClr val="black"/>
                </a:solidFill>
                <a:effectLst/>
                <a:uLnTx/>
                <a:uFillTx/>
                <a:latin typeface="Telegraf" panose="020B0604020202020204"/>
              </a:rPr>
              <a:t>st</a:t>
            </a:r>
            <a:r>
              <a:rPr kumimoji="0" lang="en-US" sz="1050" b="0" i="0" u="none" strike="noStrike" kern="1200" cap="none" spc="0" normalizeH="0" baseline="0" noProof="0" dirty="0">
                <a:ln>
                  <a:noFill/>
                </a:ln>
                <a:solidFill>
                  <a:prstClr val="black"/>
                </a:solidFill>
                <a:effectLst/>
                <a:uLnTx/>
                <a:uFillTx/>
                <a:latin typeface="Telegraf" panose="020B0604020202020204"/>
              </a:rPr>
              <a:t> IP </a:t>
            </a:r>
            <a:r>
              <a:rPr kumimoji="0" lang="en-US" sz="1050" b="0" i="0" u="none" strike="noStrike" kern="1200" cap="none" spc="0" normalizeH="0" baseline="0" noProof="0" dirty="0" err="1">
                <a:ln>
                  <a:noFill/>
                </a:ln>
                <a:solidFill>
                  <a:prstClr val="black"/>
                </a:solidFill>
                <a:effectLst/>
                <a:uLnTx/>
                <a:uFillTx/>
                <a:latin typeface="Telegraf" panose="020B0604020202020204"/>
              </a:rPr>
              <a:t>untuk</a:t>
            </a:r>
            <a:r>
              <a:rPr kumimoji="0" lang="en-US" sz="1050" b="0" i="0" u="none" strike="noStrike" kern="1200" cap="none" spc="0" normalizeH="0" baseline="0" noProof="0" dirty="0">
                <a:ln>
                  <a:noFill/>
                </a:ln>
                <a:solidFill>
                  <a:prstClr val="black"/>
                </a:solidFill>
                <a:effectLst/>
                <a:uLnTx/>
                <a:uFillTx/>
                <a:latin typeface="Telegraf" panose="020B0604020202020204"/>
              </a:rPr>
              <a:t> </a:t>
            </a:r>
            <a:r>
              <a:rPr lang="en-US" sz="1050" dirty="0">
                <a:solidFill>
                  <a:prstClr val="black"/>
                </a:solidFill>
                <a:latin typeface="Telegraf" panose="020B0604020202020204"/>
              </a:rPr>
              <a:t>base</a:t>
            </a:r>
            <a:r>
              <a:rPr kumimoji="0" lang="en-US" sz="1050" b="0" i="0" u="none" strike="noStrike" kern="1200" cap="none" spc="0" normalizeH="0" baseline="0" noProof="0" dirty="0">
                <a:ln>
                  <a:noFill/>
                </a:ln>
                <a:solidFill>
                  <a:prstClr val="black"/>
                </a:solidFill>
                <a:effectLst/>
                <a:uLnTx/>
                <a:uFillTx/>
                <a:latin typeface="Telegraf" panose="020B0604020202020204"/>
              </a:rPr>
              <a:t>  case ~</a:t>
            </a:r>
            <a:r>
              <a:rPr lang="en-US" sz="1050" dirty="0">
                <a:solidFill>
                  <a:prstClr val="black"/>
                </a:solidFill>
                <a:latin typeface="Telegraf" panose="020B0604020202020204"/>
              </a:rPr>
              <a:t>132 </a:t>
            </a:r>
            <a:r>
              <a:rPr kumimoji="0" lang="en-US" sz="1050" b="0" i="0" u="none" strike="noStrike" kern="1200" cap="none" spc="0" normalizeH="0" baseline="0" noProof="0" dirty="0">
                <a:ln>
                  <a:noFill/>
                </a:ln>
                <a:solidFill>
                  <a:prstClr val="black"/>
                </a:solidFill>
                <a:effectLst/>
                <a:uLnTx/>
                <a:uFillTx/>
                <a:latin typeface="Telegraf" panose="020B0604020202020204"/>
              </a:rPr>
              <a:t>BOPD </a:t>
            </a:r>
            <a:r>
              <a:rPr kumimoji="0" lang="en-US" sz="1050" b="0" i="0" u="none" strike="noStrike" kern="1200" cap="none" spc="0" normalizeH="0" baseline="0" noProof="0" dirty="0" err="1">
                <a:ln>
                  <a:noFill/>
                </a:ln>
                <a:solidFill>
                  <a:prstClr val="black"/>
                </a:solidFill>
                <a:effectLst/>
                <a:uLnTx/>
                <a:uFillTx/>
                <a:latin typeface="Telegraf" panose="020B0604020202020204"/>
              </a:rPr>
              <a:t>dengan</a:t>
            </a:r>
            <a:r>
              <a:rPr kumimoji="0" lang="en-US" sz="1050" b="0" i="0" u="none" strike="noStrike" kern="1200" cap="none" spc="0" normalizeH="0" baseline="0" noProof="0" dirty="0">
                <a:ln>
                  <a:noFill/>
                </a:ln>
                <a:solidFill>
                  <a:prstClr val="black"/>
                </a:solidFill>
                <a:effectLst/>
                <a:uLnTx/>
                <a:uFillTx/>
                <a:latin typeface="Telegraf" panose="020B0604020202020204"/>
              </a:rPr>
              <a:t> EUR ~156 MBO</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nb-NO" sz="1050" b="0" i="0" u="none" strike="noStrike" kern="1200" cap="none" spc="0" normalizeH="0" baseline="0" noProof="0" dirty="0">
                <a:ln>
                  <a:noFill/>
                </a:ln>
                <a:solidFill>
                  <a:prstClr val="black"/>
                </a:solidFill>
                <a:effectLst/>
                <a:uLnTx/>
                <a:uFillTx/>
                <a:latin typeface="Telegraf" panose="020B0604020202020204"/>
              </a:rPr>
              <a:t>Metode Forecast menerapkan probabilistik dari data produksi sumur sekitar dengan double decline rate 105% dan 20%.</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endParaRPr kumimoji="0" lang="en-ID" sz="900" b="0" i="0" u="none" strike="noStrike" kern="1200" cap="none" spc="0" normalizeH="0" baseline="0" noProof="0" dirty="0">
              <a:ln>
                <a:noFill/>
              </a:ln>
              <a:solidFill>
                <a:prstClr val="black"/>
              </a:solidFill>
              <a:effectLst/>
              <a:highlight>
                <a:srgbClr val="FFFF00"/>
              </a:highlight>
              <a:uLnTx/>
              <a:uFillTx/>
              <a:latin typeface="Telegraf" panose="020B0604020202020204"/>
            </a:endParaRPr>
          </a:p>
        </p:txBody>
      </p:sp>
      <p:graphicFrame>
        <p:nvGraphicFramePr>
          <p:cNvPr id="7" name="Table 6">
            <a:extLst>
              <a:ext uri="{FF2B5EF4-FFF2-40B4-BE49-F238E27FC236}">
                <a16:creationId xmlns:a16="http://schemas.microsoft.com/office/drawing/2014/main" id="{4AB3BE45-7237-A626-55B7-00451B3730D2}"/>
              </a:ext>
            </a:extLst>
          </p:cNvPr>
          <p:cNvGraphicFramePr>
            <a:graphicFrameLocks noGrp="1"/>
          </p:cNvGraphicFramePr>
          <p:nvPr>
            <p:extLst>
              <p:ext uri="{D42A27DB-BD31-4B8C-83A1-F6EECF244321}">
                <p14:modId xmlns:p14="http://schemas.microsoft.com/office/powerpoint/2010/main" val="2165384109"/>
              </p:ext>
            </p:extLst>
          </p:nvPr>
        </p:nvGraphicFramePr>
        <p:xfrm>
          <a:off x="1519389" y="3298446"/>
          <a:ext cx="3321515" cy="1620902"/>
        </p:xfrm>
        <a:graphic>
          <a:graphicData uri="http://schemas.openxmlformats.org/drawingml/2006/table">
            <a:tbl>
              <a:tblPr/>
              <a:tblGrid>
                <a:gridCol w="1436787">
                  <a:extLst>
                    <a:ext uri="{9D8B030D-6E8A-4147-A177-3AD203B41FA5}">
                      <a16:colId xmlns:a16="http://schemas.microsoft.com/office/drawing/2014/main" val="1661645723"/>
                    </a:ext>
                  </a:extLst>
                </a:gridCol>
                <a:gridCol w="591619">
                  <a:extLst>
                    <a:ext uri="{9D8B030D-6E8A-4147-A177-3AD203B41FA5}">
                      <a16:colId xmlns:a16="http://schemas.microsoft.com/office/drawing/2014/main" val="2233579324"/>
                    </a:ext>
                  </a:extLst>
                </a:gridCol>
                <a:gridCol w="616975">
                  <a:extLst>
                    <a:ext uri="{9D8B030D-6E8A-4147-A177-3AD203B41FA5}">
                      <a16:colId xmlns:a16="http://schemas.microsoft.com/office/drawing/2014/main" val="1931599931"/>
                    </a:ext>
                  </a:extLst>
                </a:gridCol>
                <a:gridCol w="676134">
                  <a:extLst>
                    <a:ext uri="{9D8B030D-6E8A-4147-A177-3AD203B41FA5}">
                      <a16:colId xmlns:a16="http://schemas.microsoft.com/office/drawing/2014/main" val="2106020038"/>
                    </a:ext>
                  </a:extLst>
                </a:gridCol>
              </a:tblGrid>
              <a:tr h="200158">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2060"/>
                          </a:solidFill>
                          <a:effectLst/>
                          <a:latin typeface="Calibri" panose="020F0502020204030204" pitchFamily="34" charset="0"/>
                        </a:rPr>
                        <a:t>Alpha-07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algn="ctr" rtl="0" fontAlgn="ctr"/>
                      <a:endParaRPr lang="en-US" sz="1050" b="1" i="0" u="none" strike="noStrike">
                        <a:solidFill>
                          <a:srgbClr val="FFFFFF"/>
                        </a:solidFill>
                        <a:effectLst/>
                        <a:highlight>
                          <a:srgbClr val="002060"/>
                        </a:highligh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176984">
                <a:tc>
                  <a:txBody>
                    <a:bodyPr/>
                    <a:lstStyle/>
                    <a:p>
                      <a:pPr algn="ctr" rtl="0" fontAlgn="ctr"/>
                      <a:r>
                        <a:rPr lang="en-US" sz="1050" b="0" i="0" u="none" strike="noStrike" dirty="0">
                          <a:solidFill>
                            <a:schemeClr val="bg1"/>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P10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P50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P90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531783075"/>
                  </a:ext>
                </a:extLst>
              </a:tr>
              <a:tr h="176984">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12980">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FLUID, BFPD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4706062"/>
                  </a:ext>
                </a:extLst>
              </a:tr>
              <a:tr h="200719">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WC,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660403"/>
                  </a:ext>
                </a:extLst>
              </a:tr>
              <a:tr h="219915">
                <a:tc>
                  <a:txBody>
                    <a:bodyPr/>
                    <a:lstStyle/>
                    <a:p>
                      <a:pPr algn="ctr" rtl="0" fontAlgn="ctr">
                        <a:buNone/>
                      </a:pPr>
                      <a:r>
                        <a:rPr lang="en-ID" sz="900" b="1" i="0" u="none" strike="noStrike" dirty="0">
                          <a:solidFill>
                            <a:srgbClr val="000000"/>
                          </a:solidFill>
                          <a:effectLst/>
                          <a:latin typeface="Aptos Display" panose="020B0004020202020204" pitchFamily="34" charset="0"/>
                        </a:rPr>
                        <a:t>1</a:t>
                      </a:r>
                      <a:r>
                        <a:rPr lang="en-ID" sz="900" b="1" i="0" u="none" strike="noStrike" baseline="30000" dirty="0">
                          <a:solidFill>
                            <a:srgbClr val="000000"/>
                          </a:solidFill>
                          <a:effectLst/>
                          <a:latin typeface="Aptos Display" panose="020B0004020202020204" pitchFamily="34" charset="0"/>
                        </a:rPr>
                        <a:t>st</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281090"/>
                  </a:ext>
                </a:extLst>
              </a:tr>
              <a:tr h="199921">
                <a:tc>
                  <a:txBody>
                    <a:bodyPr/>
                    <a:lstStyle/>
                    <a:p>
                      <a:pPr algn="ctr" rtl="0" fontAlgn="ctr">
                        <a:buNone/>
                      </a:pPr>
                      <a:r>
                        <a:rPr lang="en-ID" sz="900" b="1" i="0" u="none" strike="noStrike" dirty="0">
                          <a:solidFill>
                            <a:srgbClr val="000000"/>
                          </a:solidFill>
                          <a:effectLst/>
                          <a:latin typeface="Aptos Display" panose="020B0004020202020204" pitchFamily="34" charset="0"/>
                        </a:rPr>
                        <a:t>2</a:t>
                      </a:r>
                      <a:r>
                        <a:rPr lang="en-ID" sz="900" b="1" i="0" u="none" strike="noStrike" baseline="30000" dirty="0">
                          <a:solidFill>
                            <a:srgbClr val="000000"/>
                          </a:solidFill>
                          <a:effectLst/>
                          <a:latin typeface="Aptos Display" panose="020B0004020202020204" pitchFamily="34" charset="0"/>
                        </a:rPr>
                        <a:t>nd</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14587"/>
                  </a:ext>
                </a:extLst>
              </a:tr>
              <a:tr h="233241">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Add Reserve,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6360487"/>
                  </a:ext>
                </a:extLst>
              </a:tr>
            </a:tbl>
          </a:graphicData>
        </a:graphic>
      </p:graphicFrame>
      <p:sp>
        <p:nvSpPr>
          <p:cNvPr id="11" name="TextBox 10">
            <a:extLst>
              <a:ext uri="{FF2B5EF4-FFF2-40B4-BE49-F238E27FC236}">
                <a16:creationId xmlns:a16="http://schemas.microsoft.com/office/drawing/2014/main" id="{3A6BFF57-B32F-B083-20A3-AAF5C2E958B1}"/>
              </a:ext>
            </a:extLst>
          </p:cNvPr>
          <p:cNvSpPr txBox="1"/>
          <p:nvPr/>
        </p:nvSpPr>
        <p:spPr>
          <a:xfrm>
            <a:off x="4940582" y="1090162"/>
            <a:ext cx="1930400" cy="307777"/>
          </a:xfrm>
          <a:prstGeom prst="rect">
            <a:avLst/>
          </a:prstGeom>
          <a:noFill/>
        </p:spPr>
        <p:txBody>
          <a:bodyPr wrap="none" rtlCol="0">
            <a:spAutoFit/>
          </a:bodyPr>
          <a:lstStyle/>
          <a:p>
            <a:pPr marL="285750" indent="-285750">
              <a:buFont typeface="Arial" panose="020B0604020202020204" pitchFamily="34" charset="0"/>
              <a:buChar char="•"/>
            </a:pPr>
            <a:r>
              <a:rPr lang="en-US" sz="1400">
                <a:latin typeface="Telegraf" panose="020B0604020202020204"/>
                <a:cs typeface="Poppins" panose="00000500000000000000" pitchFamily="2" charset="0"/>
              </a:rPr>
              <a:t>Production Forecast</a:t>
            </a:r>
            <a:endParaRPr lang="en-ID" sz="1400">
              <a:latin typeface="Telegraf" panose="020B0604020202020204"/>
              <a:cs typeface="Poppins" panose="00000500000000000000" pitchFamily="2" charset="0"/>
            </a:endParaRPr>
          </a:p>
        </p:txBody>
      </p:sp>
      <p:sp>
        <p:nvSpPr>
          <p:cNvPr id="13" name="TextBox 12">
            <a:extLst>
              <a:ext uri="{FF2B5EF4-FFF2-40B4-BE49-F238E27FC236}">
                <a16:creationId xmlns:a16="http://schemas.microsoft.com/office/drawing/2014/main" id="{FCC7DB13-BE7D-2DA6-6262-54BF5BD43307}"/>
              </a:ext>
            </a:extLst>
          </p:cNvPr>
          <p:cNvSpPr txBox="1"/>
          <p:nvPr/>
        </p:nvSpPr>
        <p:spPr>
          <a:xfrm>
            <a:off x="4999892" y="3821599"/>
            <a:ext cx="1805431" cy="307777"/>
          </a:xfrm>
          <a:prstGeom prst="rect">
            <a:avLst/>
          </a:prstGeom>
          <a:noFill/>
        </p:spPr>
        <p:txBody>
          <a:bodyPr wrap="none" rtlCol="0">
            <a:spAutoFit/>
          </a:bodyPr>
          <a:lstStyle/>
          <a:p>
            <a:pPr marL="285750" indent="-285750">
              <a:buFont typeface="Arial" panose="020B0604020202020204" pitchFamily="34" charset="0"/>
              <a:buChar char="•"/>
            </a:pPr>
            <a:r>
              <a:rPr lang="en-US" sz="1400" err="1">
                <a:latin typeface="Telegraf" panose="020B0604020202020204"/>
                <a:cs typeface="Poppins" panose="00000500000000000000" pitchFamily="2" charset="0"/>
              </a:rPr>
              <a:t>Watercut</a:t>
            </a:r>
            <a:r>
              <a:rPr lang="en-US" sz="1400">
                <a:latin typeface="Telegraf" panose="020B0604020202020204"/>
                <a:cs typeface="Poppins" panose="00000500000000000000" pitchFamily="2" charset="0"/>
              </a:rPr>
              <a:t> Forecast</a:t>
            </a:r>
            <a:endParaRPr lang="en-ID" sz="1400">
              <a:latin typeface="Telegraf" panose="020B0604020202020204"/>
              <a:cs typeface="Poppins" panose="00000500000000000000" pitchFamily="2" charset="0"/>
            </a:endParaRPr>
          </a:p>
        </p:txBody>
      </p:sp>
      <p:sp>
        <p:nvSpPr>
          <p:cNvPr id="15" name="TextBox 14">
            <a:extLst>
              <a:ext uri="{FF2B5EF4-FFF2-40B4-BE49-F238E27FC236}">
                <a16:creationId xmlns:a16="http://schemas.microsoft.com/office/drawing/2014/main" id="{2F57BAD2-D992-4981-8B72-2A8061486416}"/>
              </a:ext>
            </a:extLst>
          </p:cNvPr>
          <p:cNvSpPr txBox="1"/>
          <p:nvPr/>
        </p:nvSpPr>
        <p:spPr>
          <a:xfrm>
            <a:off x="8551421" y="1086453"/>
            <a:ext cx="1860702" cy="307777"/>
          </a:xfrm>
          <a:prstGeom prst="rect">
            <a:avLst/>
          </a:prstGeom>
          <a:noFill/>
        </p:spPr>
        <p:txBody>
          <a:bodyPr wrap="none" rtlCol="0">
            <a:spAutoFit/>
          </a:bodyPr>
          <a:lstStyle/>
          <a:p>
            <a:pPr marL="285750" indent="-285750">
              <a:buFont typeface="Arial" panose="020B0604020202020204" pitchFamily="34" charset="0"/>
              <a:buChar char="•"/>
            </a:pPr>
            <a:r>
              <a:rPr lang="en-US" sz="1400">
                <a:latin typeface="Telegraf" panose="020B0604020202020204"/>
                <a:cs typeface="Poppins" panose="00000500000000000000" pitchFamily="2" charset="0"/>
              </a:rPr>
              <a:t>Forecast Validation</a:t>
            </a:r>
            <a:endParaRPr lang="en-ID" sz="1400">
              <a:latin typeface="Telegraf" panose="020B0604020202020204"/>
              <a:cs typeface="Poppins" panose="00000500000000000000" pitchFamily="2" charset="0"/>
            </a:endParaRPr>
          </a:p>
        </p:txBody>
      </p:sp>
      <p:sp>
        <p:nvSpPr>
          <p:cNvPr id="17" name="TextBox 16">
            <a:extLst>
              <a:ext uri="{FF2B5EF4-FFF2-40B4-BE49-F238E27FC236}">
                <a16:creationId xmlns:a16="http://schemas.microsoft.com/office/drawing/2014/main" id="{F6726D5F-35F2-15F0-03E8-439196AD7697}"/>
              </a:ext>
            </a:extLst>
          </p:cNvPr>
          <p:cNvSpPr txBox="1"/>
          <p:nvPr/>
        </p:nvSpPr>
        <p:spPr>
          <a:xfrm>
            <a:off x="334672" y="1029252"/>
            <a:ext cx="1184717" cy="253916"/>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R="0" lvl="0" indent="0" algn="ctr" defTabSz="913526" fontAlgn="base">
              <a:lnSpc>
                <a:spcPct val="100000"/>
              </a:lnSpc>
              <a:spcBef>
                <a:spcPct val="0"/>
              </a:spcBef>
              <a:spcAft>
                <a:spcPct val="0"/>
              </a:spcAft>
              <a:buClrTx/>
              <a:buSzTx/>
              <a:buFontTx/>
              <a:buNone/>
              <a:tabLst/>
              <a:defRPr sz="1000" b="1">
                <a:solidFill>
                  <a:schemeClr val="bg1"/>
                </a:solidFill>
                <a:latin typeface="Daytona"/>
              </a:defRPr>
            </a:lvl1pPr>
          </a:lstStyle>
          <a:p>
            <a:pPr marL="0" marR="0" lvl="0" indent="0" algn="ctr" defTabSz="913526"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Telegraf" panose="020B0604020202020204"/>
              </a:rPr>
              <a:t>Initial Completion</a:t>
            </a:r>
          </a:p>
        </p:txBody>
      </p:sp>
      <p:pic>
        <p:nvPicPr>
          <p:cNvPr id="19" name="Picture 3">
            <a:extLst>
              <a:ext uri="{FF2B5EF4-FFF2-40B4-BE49-F238E27FC236}">
                <a16:creationId xmlns:a16="http://schemas.microsoft.com/office/drawing/2014/main" id="{70B74D6F-D6A1-D959-05FA-E211B99FCAD9}"/>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l="46587" r="46463" b="47827"/>
          <a:stretch/>
        </p:blipFill>
        <p:spPr>
          <a:xfrm>
            <a:off x="896125" y="1316316"/>
            <a:ext cx="154188" cy="877228"/>
          </a:xfrm>
          <a:prstGeom prst="rect">
            <a:avLst/>
          </a:prstGeom>
        </p:spPr>
      </p:pic>
      <p:grpSp>
        <p:nvGrpSpPr>
          <p:cNvPr id="21" name="ProdCsg">
            <a:extLst>
              <a:ext uri="{FF2B5EF4-FFF2-40B4-BE49-F238E27FC236}">
                <a16:creationId xmlns:a16="http://schemas.microsoft.com/office/drawing/2014/main" id="{6C003543-9555-693A-80E5-E3B4BBAA1CD4}"/>
              </a:ext>
            </a:extLst>
          </p:cNvPr>
          <p:cNvGrpSpPr/>
          <p:nvPr/>
        </p:nvGrpSpPr>
        <p:grpSpPr>
          <a:xfrm>
            <a:off x="689841" y="1366411"/>
            <a:ext cx="549832" cy="5008874"/>
            <a:chOff x="818668" y="0"/>
            <a:chExt cx="1097904" cy="3667241"/>
          </a:xfrm>
        </p:grpSpPr>
        <p:sp>
          <p:nvSpPr>
            <p:cNvPr id="23" name="Rectangle 22" descr="Blue tissue paper">
              <a:extLst>
                <a:ext uri="{FF2B5EF4-FFF2-40B4-BE49-F238E27FC236}">
                  <a16:creationId xmlns:a16="http://schemas.microsoft.com/office/drawing/2014/main" id="{10415CC5-2356-7B04-9832-E3A78061F946}"/>
                </a:ext>
              </a:extLst>
            </p:cNvPr>
            <p:cNvSpPr>
              <a:spLocks noChangeArrowheads="1"/>
            </p:cNvSpPr>
            <p:nvPr/>
          </p:nvSpPr>
          <p:spPr bwMode="auto">
            <a:xfrm>
              <a:off x="818668" y="1818"/>
              <a:ext cx="194524"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5" name="Rectangle 24" descr="Blue tissue paper">
              <a:extLst>
                <a:ext uri="{FF2B5EF4-FFF2-40B4-BE49-F238E27FC236}">
                  <a16:creationId xmlns:a16="http://schemas.microsoft.com/office/drawing/2014/main" id="{1BFB4F8B-E220-0230-0027-8D7CE083735E}"/>
                </a:ext>
              </a:extLst>
            </p:cNvPr>
            <p:cNvSpPr>
              <a:spLocks noChangeArrowheads="1"/>
            </p:cNvSpPr>
            <p:nvPr/>
          </p:nvSpPr>
          <p:spPr bwMode="auto">
            <a:xfrm>
              <a:off x="1721259" y="9641"/>
              <a:ext cx="195313"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7" name="Line 51" descr="Stationery">
              <a:extLst>
                <a:ext uri="{FF2B5EF4-FFF2-40B4-BE49-F238E27FC236}">
                  <a16:creationId xmlns:a16="http://schemas.microsoft.com/office/drawing/2014/main" id="{91C0CF1A-80A7-DF32-57F8-FA152BD5E34E}"/>
                </a:ext>
              </a:extLst>
            </p:cNvPr>
            <p:cNvSpPr>
              <a:spLocks noChangeShapeType="1"/>
            </p:cNvSpPr>
            <p:nvPr/>
          </p:nvSpPr>
          <p:spPr bwMode="auto">
            <a:xfrm>
              <a:off x="1705857" y="7823"/>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29" name="Line 52" descr="Stationery">
              <a:extLst>
                <a:ext uri="{FF2B5EF4-FFF2-40B4-BE49-F238E27FC236}">
                  <a16:creationId xmlns:a16="http://schemas.microsoft.com/office/drawing/2014/main" id="{D3BD8156-C65F-0AF5-CB20-8C75789AFE83}"/>
                </a:ext>
              </a:extLst>
            </p:cNvPr>
            <p:cNvSpPr>
              <a:spLocks noChangeShapeType="1"/>
            </p:cNvSpPr>
            <p:nvPr/>
          </p:nvSpPr>
          <p:spPr bwMode="auto">
            <a:xfrm>
              <a:off x="1013191" y="0"/>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31" name="AutoShape 46">
              <a:extLst>
                <a:ext uri="{FF2B5EF4-FFF2-40B4-BE49-F238E27FC236}">
                  <a16:creationId xmlns:a16="http://schemas.microsoft.com/office/drawing/2014/main" id="{3C7576E0-7578-8EE1-161B-3DE95F137604}"/>
                </a:ext>
              </a:extLst>
            </p:cNvPr>
            <p:cNvSpPr>
              <a:spLocks noChangeArrowheads="1"/>
            </p:cNvSpPr>
            <p:nvPr/>
          </p:nvSpPr>
          <p:spPr bwMode="auto">
            <a:xfrm>
              <a:off x="1713251" y="3529573"/>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sp>
          <p:nvSpPr>
            <p:cNvPr id="33" name="AutoShape 47">
              <a:extLst>
                <a:ext uri="{FF2B5EF4-FFF2-40B4-BE49-F238E27FC236}">
                  <a16:creationId xmlns:a16="http://schemas.microsoft.com/office/drawing/2014/main" id="{CDC8D507-A6C5-EEEE-C0C5-FA4D0684F69C}"/>
                </a:ext>
              </a:extLst>
            </p:cNvPr>
            <p:cNvSpPr>
              <a:spLocks noChangeArrowheads="1"/>
            </p:cNvSpPr>
            <p:nvPr/>
          </p:nvSpPr>
          <p:spPr bwMode="auto">
            <a:xfrm flipH="1">
              <a:off x="824299" y="3521637"/>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Telegraf" panose="020B0604020202020204"/>
              </a:endParaRPr>
            </a:p>
          </p:txBody>
        </p:sp>
      </p:grpSp>
      <p:cxnSp>
        <p:nvCxnSpPr>
          <p:cNvPr id="36" name="TopSand">
            <a:extLst>
              <a:ext uri="{FF2B5EF4-FFF2-40B4-BE49-F238E27FC236}">
                <a16:creationId xmlns:a16="http://schemas.microsoft.com/office/drawing/2014/main" id="{2892D8E8-9615-E8FD-C29B-B68F968D055B}"/>
              </a:ext>
            </a:extLst>
          </p:cNvPr>
          <p:cNvCxnSpPr/>
          <p:nvPr/>
        </p:nvCxnSpPr>
        <p:spPr>
          <a:xfrm>
            <a:off x="366774" y="2937259"/>
            <a:ext cx="1095293" cy="0"/>
          </a:xfrm>
          <a:prstGeom prst="line">
            <a:avLst/>
          </a:prstGeom>
          <a:noFill/>
          <a:ln w="19050" cap="flat" cmpd="sng" algn="ctr">
            <a:solidFill>
              <a:sysClr val="windowText" lastClr="000000"/>
            </a:solidFill>
            <a:prstDash val="lgDashDotDot"/>
          </a:ln>
          <a:effectLst/>
        </p:spPr>
      </p:cxnSp>
      <p:pic>
        <p:nvPicPr>
          <p:cNvPr id="39" name="SBPump">
            <a:extLst>
              <a:ext uri="{FF2B5EF4-FFF2-40B4-BE49-F238E27FC236}">
                <a16:creationId xmlns:a16="http://schemas.microsoft.com/office/drawing/2014/main" id="{398E9E2D-6344-1E0A-2625-B85ED7914DAD}"/>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89594" y="2189459"/>
            <a:ext cx="154188" cy="360196"/>
          </a:xfrm>
          <a:prstGeom prst="rect">
            <a:avLst/>
          </a:prstGeom>
        </p:spPr>
      </p:pic>
      <p:cxnSp>
        <p:nvCxnSpPr>
          <p:cNvPr id="40" name="TopSand">
            <a:extLst>
              <a:ext uri="{FF2B5EF4-FFF2-40B4-BE49-F238E27FC236}">
                <a16:creationId xmlns:a16="http://schemas.microsoft.com/office/drawing/2014/main" id="{6E5A7648-0B3C-0131-2F6B-3432A5403DCF}"/>
              </a:ext>
            </a:extLst>
          </p:cNvPr>
          <p:cNvCxnSpPr/>
          <p:nvPr/>
        </p:nvCxnSpPr>
        <p:spPr>
          <a:xfrm>
            <a:off x="366774" y="3580795"/>
            <a:ext cx="1065353" cy="0"/>
          </a:xfrm>
          <a:prstGeom prst="line">
            <a:avLst/>
          </a:prstGeom>
          <a:noFill/>
          <a:ln w="19050" cap="flat" cmpd="sng" algn="ctr">
            <a:solidFill>
              <a:sysClr val="windowText" lastClr="000000"/>
            </a:solidFill>
            <a:prstDash val="lgDashDotDot"/>
          </a:ln>
          <a:effectLst/>
        </p:spPr>
      </p:cxnSp>
      <p:sp>
        <p:nvSpPr>
          <p:cNvPr id="42" name="TextBox 38">
            <a:extLst>
              <a:ext uri="{FF2B5EF4-FFF2-40B4-BE49-F238E27FC236}">
                <a16:creationId xmlns:a16="http://schemas.microsoft.com/office/drawing/2014/main" id="{0CF45B24-0574-22B0-3128-D865AA3A6124}"/>
              </a:ext>
            </a:extLst>
          </p:cNvPr>
          <p:cNvSpPr txBox="1"/>
          <p:nvPr/>
        </p:nvSpPr>
        <p:spPr>
          <a:xfrm>
            <a:off x="64140" y="2684545"/>
            <a:ext cx="847613" cy="31496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dirty="0">
                <a:solidFill>
                  <a:srgbClr val="C00000"/>
                </a:solidFill>
                <a:latin typeface="Telegraf" panose="020B0604020202020204"/>
              </a:rPr>
              <a:t>BARA</a:t>
            </a:r>
            <a:endParaRPr kumimoji="0" lang="en-US" sz="1400" b="1" i="0" u="none" strike="noStrike" kern="0" cap="none" spc="0" normalizeH="0" baseline="0" noProof="0" dirty="0">
              <a:ln>
                <a:noFill/>
              </a:ln>
              <a:solidFill>
                <a:srgbClr val="C00000"/>
              </a:solidFill>
              <a:effectLst/>
              <a:uLnTx/>
              <a:uFillTx/>
              <a:latin typeface="Telegraf" panose="020B0604020202020204"/>
            </a:endParaRPr>
          </a:p>
        </p:txBody>
      </p:sp>
      <p:sp>
        <p:nvSpPr>
          <p:cNvPr id="44" name="TextBox 38">
            <a:extLst>
              <a:ext uri="{FF2B5EF4-FFF2-40B4-BE49-F238E27FC236}">
                <a16:creationId xmlns:a16="http://schemas.microsoft.com/office/drawing/2014/main" id="{BDE46EBC-D8C6-1656-C35C-94256AC8527C}"/>
              </a:ext>
            </a:extLst>
          </p:cNvPr>
          <p:cNvSpPr txBox="1"/>
          <p:nvPr/>
        </p:nvSpPr>
        <p:spPr>
          <a:xfrm>
            <a:off x="55198" y="3313938"/>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BAMA</a:t>
            </a:r>
          </a:p>
        </p:txBody>
      </p:sp>
      <p:pic>
        <p:nvPicPr>
          <p:cNvPr id="46" name="Picture 45">
            <a:extLst>
              <a:ext uri="{FF2B5EF4-FFF2-40B4-BE49-F238E27FC236}">
                <a16:creationId xmlns:a16="http://schemas.microsoft.com/office/drawing/2014/main" id="{47708569-74FF-846F-0053-7B940FF95A4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39583" y="3079264"/>
            <a:ext cx="626107" cy="259119"/>
          </a:xfrm>
          <a:prstGeom prst="rect">
            <a:avLst/>
          </a:prstGeom>
        </p:spPr>
      </p:pic>
      <p:pic>
        <p:nvPicPr>
          <p:cNvPr id="48" name="Picture 47">
            <a:extLst>
              <a:ext uri="{FF2B5EF4-FFF2-40B4-BE49-F238E27FC236}">
                <a16:creationId xmlns:a16="http://schemas.microsoft.com/office/drawing/2014/main" id="{1EE19DFC-8CF7-EA9C-2528-1C3CEC0E0EEF}"/>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36097" y="3738745"/>
            <a:ext cx="626107" cy="259119"/>
          </a:xfrm>
          <a:prstGeom prst="rect">
            <a:avLst/>
          </a:prstGeom>
        </p:spPr>
      </p:pic>
      <p:cxnSp>
        <p:nvCxnSpPr>
          <p:cNvPr id="50" name="TopSand">
            <a:extLst>
              <a:ext uri="{FF2B5EF4-FFF2-40B4-BE49-F238E27FC236}">
                <a16:creationId xmlns:a16="http://schemas.microsoft.com/office/drawing/2014/main" id="{7581F29D-CBD4-AAF5-8F63-8F2F3B79784C}"/>
              </a:ext>
            </a:extLst>
          </p:cNvPr>
          <p:cNvCxnSpPr/>
          <p:nvPr/>
        </p:nvCxnSpPr>
        <p:spPr>
          <a:xfrm>
            <a:off x="381667" y="4162081"/>
            <a:ext cx="1065353" cy="0"/>
          </a:xfrm>
          <a:prstGeom prst="line">
            <a:avLst/>
          </a:prstGeom>
          <a:noFill/>
          <a:ln w="19050" cap="flat" cmpd="sng" algn="ctr">
            <a:solidFill>
              <a:sysClr val="windowText" lastClr="000000"/>
            </a:solidFill>
            <a:prstDash val="lgDashDotDot"/>
          </a:ln>
          <a:effectLst/>
        </p:spPr>
      </p:cxnSp>
      <p:sp>
        <p:nvSpPr>
          <p:cNvPr id="52" name="TextBox 38">
            <a:extLst>
              <a:ext uri="{FF2B5EF4-FFF2-40B4-BE49-F238E27FC236}">
                <a16:creationId xmlns:a16="http://schemas.microsoft.com/office/drawing/2014/main" id="{148BCCE3-2845-D57E-E5D3-723FB04B3374}"/>
              </a:ext>
            </a:extLst>
          </p:cNvPr>
          <p:cNvSpPr txBox="1"/>
          <p:nvPr/>
        </p:nvSpPr>
        <p:spPr>
          <a:xfrm>
            <a:off x="54075" y="3926601"/>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RAJA</a:t>
            </a:r>
          </a:p>
        </p:txBody>
      </p:sp>
      <p:pic>
        <p:nvPicPr>
          <p:cNvPr id="54" name="Picture 53">
            <a:extLst>
              <a:ext uri="{FF2B5EF4-FFF2-40B4-BE49-F238E27FC236}">
                <a16:creationId xmlns:a16="http://schemas.microsoft.com/office/drawing/2014/main" id="{ADF13652-FE60-C31B-6609-1615814EB347}"/>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42818" y="4334934"/>
            <a:ext cx="626107" cy="259119"/>
          </a:xfrm>
          <a:prstGeom prst="rect">
            <a:avLst/>
          </a:prstGeom>
        </p:spPr>
      </p:pic>
      <p:pic>
        <p:nvPicPr>
          <p:cNvPr id="56" name="Picture 55">
            <a:extLst>
              <a:ext uri="{FF2B5EF4-FFF2-40B4-BE49-F238E27FC236}">
                <a16:creationId xmlns:a16="http://schemas.microsoft.com/office/drawing/2014/main" id="{EC9983F1-2B92-872D-51D7-9E37F6155DC0}"/>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636096" y="4919349"/>
            <a:ext cx="626107" cy="259119"/>
          </a:xfrm>
          <a:prstGeom prst="rect">
            <a:avLst/>
          </a:prstGeom>
        </p:spPr>
      </p:pic>
      <p:cxnSp>
        <p:nvCxnSpPr>
          <p:cNvPr id="58" name="TopSand">
            <a:extLst>
              <a:ext uri="{FF2B5EF4-FFF2-40B4-BE49-F238E27FC236}">
                <a16:creationId xmlns:a16="http://schemas.microsoft.com/office/drawing/2014/main" id="{13ED1C85-52BA-5362-11B7-B39C9E462115}"/>
              </a:ext>
            </a:extLst>
          </p:cNvPr>
          <p:cNvCxnSpPr/>
          <p:nvPr/>
        </p:nvCxnSpPr>
        <p:spPr>
          <a:xfrm>
            <a:off x="380384" y="4742961"/>
            <a:ext cx="1065353" cy="0"/>
          </a:xfrm>
          <a:prstGeom prst="line">
            <a:avLst/>
          </a:prstGeom>
          <a:noFill/>
          <a:ln w="19050" cap="flat" cmpd="sng" algn="ctr">
            <a:solidFill>
              <a:sysClr val="windowText" lastClr="000000"/>
            </a:solidFill>
            <a:prstDash val="lgDashDotDot"/>
          </a:ln>
          <a:effectLst/>
        </p:spPr>
      </p:cxnSp>
      <p:sp>
        <p:nvSpPr>
          <p:cNvPr id="60" name="TextBox 38">
            <a:extLst>
              <a:ext uri="{FF2B5EF4-FFF2-40B4-BE49-F238E27FC236}">
                <a16:creationId xmlns:a16="http://schemas.microsoft.com/office/drawing/2014/main" id="{606E4C6A-0BD3-C39D-1B15-F736A7BC1153}"/>
              </a:ext>
            </a:extLst>
          </p:cNvPr>
          <p:cNvSpPr txBox="1"/>
          <p:nvPr/>
        </p:nvSpPr>
        <p:spPr>
          <a:xfrm>
            <a:off x="54075" y="4478590"/>
            <a:ext cx="850233" cy="144476"/>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elegraf" panose="020B0604020202020204"/>
              </a:rPr>
              <a:t>PRIMA</a:t>
            </a:r>
          </a:p>
        </p:txBody>
      </p:sp>
      <p:graphicFrame>
        <p:nvGraphicFramePr>
          <p:cNvPr id="62" name="Chart 61">
            <a:extLst>
              <a:ext uri="{FF2B5EF4-FFF2-40B4-BE49-F238E27FC236}">
                <a16:creationId xmlns:a16="http://schemas.microsoft.com/office/drawing/2014/main" id="{A85755ED-AA60-86E1-5996-0935C5B75B0B}"/>
              </a:ext>
            </a:extLst>
          </p:cNvPr>
          <p:cNvGraphicFramePr>
            <a:graphicFrameLocks/>
          </p:cNvGraphicFramePr>
          <p:nvPr>
            <p:extLst>
              <p:ext uri="{D42A27DB-BD31-4B8C-83A1-F6EECF244321}">
                <p14:modId xmlns:p14="http://schemas.microsoft.com/office/powerpoint/2010/main" val="608979826"/>
              </p:ext>
            </p:extLst>
          </p:nvPr>
        </p:nvGraphicFramePr>
        <p:xfrm>
          <a:off x="4972721" y="1434705"/>
          <a:ext cx="3499265" cy="231935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4" name="Chart 63">
            <a:extLst>
              <a:ext uri="{FF2B5EF4-FFF2-40B4-BE49-F238E27FC236}">
                <a16:creationId xmlns:a16="http://schemas.microsoft.com/office/drawing/2014/main" id="{CD7D8565-698B-79CE-B5E7-C5C895484ED1}"/>
              </a:ext>
            </a:extLst>
          </p:cNvPr>
          <p:cNvGraphicFramePr>
            <a:graphicFrameLocks/>
          </p:cNvGraphicFramePr>
          <p:nvPr>
            <p:extLst>
              <p:ext uri="{D42A27DB-BD31-4B8C-83A1-F6EECF244321}">
                <p14:modId xmlns:p14="http://schemas.microsoft.com/office/powerpoint/2010/main" val="865312761"/>
              </p:ext>
            </p:extLst>
          </p:nvPr>
        </p:nvGraphicFramePr>
        <p:xfrm>
          <a:off x="4972720" y="4162081"/>
          <a:ext cx="3492545" cy="2282799"/>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66" name="Chart 65">
            <a:extLst>
              <a:ext uri="{FF2B5EF4-FFF2-40B4-BE49-F238E27FC236}">
                <a16:creationId xmlns:a16="http://schemas.microsoft.com/office/drawing/2014/main" id="{9F67B6E0-65D9-264E-9CE9-346F22B09084}"/>
              </a:ext>
            </a:extLst>
          </p:cNvPr>
          <p:cNvGraphicFramePr>
            <a:graphicFrameLocks/>
          </p:cNvGraphicFramePr>
          <p:nvPr>
            <p:extLst>
              <p:ext uri="{D42A27DB-BD31-4B8C-83A1-F6EECF244321}">
                <p14:modId xmlns:p14="http://schemas.microsoft.com/office/powerpoint/2010/main" val="3711253565"/>
              </p:ext>
            </p:extLst>
          </p:nvPr>
        </p:nvGraphicFramePr>
        <p:xfrm>
          <a:off x="8547935" y="1439716"/>
          <a:ext cx="3499265" cy="230932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8" name="Chart 67">
            <a:extLst>
              <a:ext uri="{FF2B5EF4-FFF2-40B4-BE49-F238E27FC236}">
                <a16:creationId xmlns:a16="http://schemas.microsoft.com/office/drawing/2014/main" id="{65FF76B0-B91D-BFB8-50C7-C7BF2FA009D1}"/>
              </a:ext>
            </a:extLst>
          </p:cNvPr>
          <p:cNvGraphicFramePr>
            <a:graphicFrameLocks/>
          </p:cNvGraphicFramePr>
          <p:nvPr>
            <p:extLst>
              <p:ext uri="{D42A27DB-BD31-4B8C-83A1-F6EECF244321}">
                <p14:modId xmlns:p14="http://schemas.microsoft.com/office/powerpoint/2010/main" val="2478452258"/>
              </p:ext>
            </p:extLst>
          </p:nvPr>
        </p:nvGraphicFramePr>
        <p:xfrm>
          <a:off x="8547934" y="4150583"/>
          <a:ext cx="3499265" cy="2314691"/>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70" name="Table 69">
            <a:extLst>
              <a:ext uri="{FF2B5EF4-FFF2-40B4-BE49-F238E27FC236}">
                <a16:creationId xmlns:a16="http://schemas.microsoft.com/office/drawing/2014/main" id="{C0DB72DD-289A-44C3-90B0-2EF0119B1FC0}"/>
              </a:ext>
            </a:extLst>
          </p:cNvPr>
          <p:cNvGraphicFramePr>
            <a:graphicFrameLocks noGrp="1"/>
          </p:cNvGraphicFramePr>
          <p:nvPr>
            <p:extLst>
              <p:ext uri="{D42A27DB-BD31-4B8C-83A1-F6EECF244321}">
                <p14:modId xmlns:p14="http://schemas.microsoft.com/office/powerpoint/2010/main" val="4279097449"/>
              </p:ext>
            </p:extLst>
          </p:nvPr>
        </p:nvGraphicFramePr>
        <p:xfrm>
          <a:off x="1870776" y="5066539"/>
          <a:ext cx="2618740" cy="1378341"/>
        </p:xfrm>
        <a:graphic>
          <a:graphicData uri="http://schemas.openxmlformats.org/drawingml/2006/table">
            <a:tbl>
              <a:tblPr/>
              <a:tblGrid>
                <a:gridCol w="1744980">
                  <a:extLst>
                    <a:ext uri="{9D8B030D-6E8A-4147-A177-3AD203B41FA5}">
                      <a16:colId xmlns:a16="http://schemas.microsoft.com/office/drawing/2014/main" val="338135237"/>
                    </a:ext>
                  </a:extLst>
                </a:gridCol>
                <a:gridCol w="873760">
                  <a:extLst>
                    <a:ext uri="{9D8B030D-6E8A-4147-A177-3AD203B41FA5}">
                      <a16:colId xmlns:a16="http://schemas.microsoft.com/office/drawing/2014/main" val="2815853602"/>
                    </a:ext>
                  </a:extLst>
                </a:gridCol>
              </a:tblGrid>
              <a:tr h="403960">
                <a:tc>
                  <a:txBody>
                    <a:bodyPr/>
                    <a:lstStyle/>
                    <a:p>
                      <a:pPr algn="ctr" rtl="0" fontAlgn="ctr"/>
                      <a:r>
                        <a:rPr lang="en-US" sz="1050" b="1" i="0" u="none" strike="noStrike" kern="1200" dirty="0">
                          <a:solidFill>
                            <a:schemeClr val="bg1"/>
                          </a:solidFill>
                          <a:effectLst/>
                          <a:latin typeface="Calibri" panose="020F0502020204030204" pitchFamily="34" charset="0"/>
                          <a:ea typeface="+mn-ea"/>
                          <a:cs typeface="+mn-cs"/>
                        </a:rPr>
                        <a:t>Economic Variables Input</a:t>
                      </a:r>
                      <a:br>
                        <a:rPr lang="en-US" sz="1050" b="1" i="0" u="none" strike="noStrike" kern="1200" dirty="0">
                          <a:solidFill>
                            <a:schemeClr val="bg1"/>
                          </a:solidFill>
                          <a:effectLst/>
                          <a:latin typeface="Calibri" panose="020F0502020204030204" pitchFamily="34" charset="0"/>
                          <a:ea typeface="+mn-ea"/>
                          <a:cs typeface="+mn-cs"/>
                        </a:rPr>
                      </a:br>
                      <a:r>
                        <a:rPr lang="en-US" sz="1050" b="1" i="0" u="none" strike="noStrike" kern="1200" dirty="0">
                          <a:solidFill>
                            <a:schemeClr val="bg1"/>
                          </a:solidFill>
                          <a:effectLst/>
                          <a:latin typeface="Calibri" panose="020F0502020204030204" pitchFamily="34" charset="0"/>
                          <a:ea typeface="+mn-ea"/>
                          <a:cs typeface="+mn-cs"/>
                        </a:rPr>
                        <a:t>(Assumption before tax)</a:t>
                      </a:r>
                      <a:endParaRPr lang="en-US" sz="900" b="1" i="0" u="none" strike="noStrike" kern="1200" dirty="0">
                        <a:solidFill>
                          <a:schemeClr val="bg1"/>
                        </a:solidFill>
                        <a:effectLst/>
                        <a:latin typeface="Aptos Display" panose="020B0004020202020204" pitchFamily="34"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MUSD</a:t>
                      </a:r>
                      <a:br>
                        <a:rPr lang="en-US" sz="1050" b="1" i="0" u="none" strike="noStrike" dirty="0">
                          <a:solidFill>
                            <a:schemeClr val="bg1"/>
                          </a:solidFill>
                          <a:effectLst/>
                          <a:latin typeface="Calibri" panose="020F0502020204030204" pitchFamily="34" charset="0"/>
                        </a:rPr>
                      </a:br>
                      <a:r>
                        <a:rPr lang="en-US" sz="1050" b="1" i="0" u="none" strike="noStrike" dirty="0">
                          <a:solidFill>
                            <a:schemeClr val="bg1"/>
                          </a:solidFill>
                          <a:effectLst/>
                          <a:latin typeface="Calibri" panose="020F0502020204030204" pitchFamily="34" charset="0"/>
                        </a:rPr>
                        <a:t>By Well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463104770"/>
                  </a:ext>
                </a:extLst>
              </a:tr>
              <a:tr h="229067">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Tangible Drilling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422,090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894927"/>
                  </a:ext>
                </a:extLst>
              </a:tr>
              <a:tr h="250974">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Drilling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1,357,520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823081"/>
                  </a:ext>
                </a:extLst>
              </a:tr>
              <a:tr h="228157">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Road and Location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601,388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687763"/>
                  </a:ext>
                </a:extLst>
              </a:tr>
              <a:tr h="266183">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Production Facilities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1,011,278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69316"/>
                  </a:ext>
                </a:extLst>
              </a:tr>
            </a:tbl>
          </a:graphicData>
        </a:graphic>
      </p:graphicFrame>
      <p:sp>
        <p:nvSpPr>
          <p:cNvPr id="9" name="Title 1">
            <a:extLst>
              <a:ext uri="{FF2B5EF4-FFF2-40B4-BE49-F238E27FC236}">
                <a16:creationId xmlns:a16="http://schemas.microsoft.com/office/drawing/2014/main" id="{C3C124C9-8831-549B-67C4-33DA9F964522}"/>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35</a:t>
            </a:r>
            <a:endParaRPr lang="en-ID" dirty="0">
              <a:solidFill>
                <a:schemeClr val="bg1"/>
              </a:solidFill>
              <a:latin typeface="Telegraf Bold" panose="020B0604020202020204" charset="0"/>
            </a:endParaRPr>
          </a:p>
        </p:txBody>
      </p:sp>
    </p:spTree>
    <p:extLst>
      <p:ext uri="{BB962C8B-B14F-4D97-AF65-F5344CB8AC3E}">
        <p14:creationId xmlns:p14="http://schemas.microsoft.com/office/powerpoint/2010/main" val="304989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ED99-9DBC-906E-CA6D-937992F5CF30}"/>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2FB75C39-A7F6-2476-3544-4FA7A0497C0D}"/>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ECONOMIC ASSESMENT ALPHA-07</a:t>
            </a:r>
          </a:p>
        </p:txBody>
      </p:sp>
      <p:pic>
        <p:nvPicPr>
          <p:cNvPr id="35" name="Picture 34">
            <a:extLst>
              <a:ext uri="{FF2B5EF4-FFF2-40B4-BE49-F238E27FC236}">
                <a16:creationId xmlns:a16="http://schemas.microsoft.com/office/drawing/2014/main" id="{9C714DD8-AA44-E8C2-DE39-6A1F4797D7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AEE19DA2-2815-CCD4-C0C6-8A8704A9C79B}"/>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5" name="Freeform 6">
            <a:extLst>
              <a:ext uri="{FF2B5EF4-FFF2-40B4-BE49-F238E27FC236}">
                <a16:creationId xmlns:a16="http://schemas.microsoft.com/office/drawing/2014/main" id="{D058B24F-07C2-AEDD-49C9-0D45F7C30A37}"/>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9" name="Title 1">
            <a:extLst>
              <a:ext uri="{FF2B5EF4-FFF2-40B4-BE49-F238E27FC236}">
                <a16:creationId xmlns:a16="http://schemas.microsoft.com/office/drawing/2014/main" id="{417E837B-912D-F454-2A43-CE5F466BE86A}"/>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charset="0"/>
              </a:rPr>
              <a:t>36</a:t>
            </a:r>
            <a:endParaRPr lang="en-ID" dirty="0">
              <a:solidFill>
                <a:schemeClr val="bg1"/>
              </a:solidFill>
              <a:latin typeface="Telegraf Bold" panose="020B0604020202020204" charset="0"/>
            </a:endParaRPr>
          </a:p>
        </p:txBody>
      </p:sp>
      <p:sp>
        <p:nvSpPr>
          <p:cNvPr id="3" name="TextBox 2">
            <a:extLst>
              <a:ext uri="{FF2B5EF4-FFF2-40B4-BE49-F238E27FC236}">
                <a16:creationId xmlns:a16="http://schemas.microsoft.com/office/drawing/2014/main" id="{A7B0A3F4-2E21-B34C-56CF-00D8BF0AB10B}"/>
              </a:ext>
            </a:extLst>
          </p:cNvPr>
          <p:cNvSpPr txBox="1"/>
          <p:nvPr/>
        </p:nvSpPr>
        <p:spPr>
          <a:xfrm>
            <a:off x="1588214" y="1515876"/>
            <a:ext cx="3321514" cy="1854354"/>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lIns="91440" tIns="45720" rIns="91440" bIns="45720" rtlCol="0" anchor="t">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ID" sz="1100" b="1" i="0" u="sng" strike="noStrike" kern="1200" cap="none" spc="0" normalizeH="0" baseline="0" noProof="0" dirty="0">
                <a:ln>
                  <a:noFill/>
                </a:ln>
                <a:solidFill>
                  <a:prstClr val="black"/>
                </a:solidFill>
                <a:effectLst/>
                <a:uLnTx/>
                <a:uFillTx/>
                <a:latin typeface="Telegraf" panose="020B0604020202020204"/>
              </a:rPr>
              <a:t>Summary </a:t>
            </a:r>
          </a:p>
          <a:p>
            <a:pPr marL="128270" lvl="0" indent="-128270" algn="just" defTabSz="685800" eaLnBrk="0" fontAlgn="base" hangingPunct="0">
              <a:spcBef>
                <a:spcPts val="300"/>
              </a:spcBef>
              <a:spcAft>
                <a:spcPts val="300"/>
              </a:spcAft>
              <a:buFont typeface="Arial" panose="020B0604020202020204" pitchFamily="34" charset="0"/>
              <a:buChar char="•"/>
              <a:defRPr/>
            </a:pPr>
            <a:r>
              <a:rPr kumimoji="0" lang="en-ID" sz="1100" b="0" i="0" u="none" strike="noStrike" kern="1200" cap="none" spc="0" normalizeH="0" baseline="0" noProof="0" dirty="0">
                <a:ln>
                  <a:noFill/>
                </a:ln>
                <a:solidFill>
                  <a:prstClr val="black"/>
                </a:solidFill>
                <a:effectLst/>
                <a:uLnTx/>
                <a:uFillTx/>
                <a:latin typeface="Telegraf" panose="020B0604020202020204"/>
              </a:rPr>
              <a:t>Alpha07 </a:t>
            </a:r>
            <a:r>
              <a:rPr kumimoji="0" lang="en-ID" sz="1100" b="0" i="0" u="none" strike="noStrike" kern="1200" cap="none" spc="0" normalizeH="0" baseline="0" noProof="0" dirty="0" err="1">
                <a:ln>
                  <a:noFill/>
                </a:ln>
                <a:solidFill>
                  <a:prstClr val="black"/>
                </a:solidFill>
                <a:effectLst/>
                <a:uLnTx/>
                <a:uFillTx/>
                <a:latin typeface="Telegraf" panose="020B0604020202020204"/>
              </a:rPr>
              <a:t>berlokasi</a:t>
            </a:r>
            <a:r>
              <a:rPr kumimoji="0" lang="en-ID" sz="1100" b="0" i="0" u="none" strike="noStrike" kern="1200" cap="none" spc="0" normalizeH="0" baseline="0" noProof="0" dirty="0">
                <a:ln>
                  <a:noFill/>
                </a:ln>
                <a:solidFill>
                  <a:prstClr val="black"/>
                </a:solidFill>
                <a:effectLst/>
                <a:uLnTx/>
                <a:uFillTx/>
                <a:latin typeface="Telegraf" panose="020B0604020202020204"/>
              </a:rPr>
              <a:t> di XX Area with Main target </a:t>
            </a:r>
            <a:r>
              <a:rPr kumimoji="0" lang="en-ID" sz="1100" b="0" i="0" u="none" strike="noStrike" kern="1200" cap="none" spc="0" normalizeH="0" baseline="0" noProof="0" dirty="0" err="1">
                <a:ln>
                  <a:noFill/>
                </a:ln>
                <a:solidFill>
                  <a:prstClr val="black"/>
                </a:solidFill>
                <a:effectLst/>
                <a:uLnTx/>
                <a:uFillTx/>
                <a:latin typeface="Telegraf" panose="020B0604020202020204"/>
              </a:rPr>
              <a:t>san</a:t>
            </a:r>
            <a:r>
              <a:rPr lang="en-ID" sz="1100" dirty="0">
                <a:solidFill>
                  <a:prstClr val="black"/>
                </a:solidFill>
                <a:latin typeface="Telegraf" panose="020B0604020202020204"/>
              </a:rPr>
              <a:t>d</a:t>
            </a:r>
            <a:r>
              <a:rPr kumimoji="0" lang="en-ID" sz="1100" b="0" i="0" u="none" strike="noStrike" kern="1200" cap="none" spc="0" normalizeH="0" baseline="0" noProof="0" dirty="0">
                <a:ln>
                  <a:noFill/>
                </a:ln>
                <a:solidFill>
                  <a:prstClr val="black"/>
                </a:solidFill>
                <a:effectLst/>
                <a:uLnTx/>
                <a:uFillTx/>
                <a:latin typeface="Telegraf" panose="020B0604020202020204"/>
              </a:rPr>
              <a:t> </a:t>
            </a:r>
            <a:r>
              <a:rPr lang="en-ID" sz="1100" dirty="0">
                <a:solidFill>
                  <a:prstClr val="black"/>
                </a:solidFill>
                <a:latin typeface="Telegraf" panose="020B0604020202020204"/>
              </a:rPr>
              <a:t>BARA, BAMA, RAJA, dan PRIMA</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Telegraf" panose="020B0604020202020204"/>
              </a:rPr>
              <a:t>Expected 1</a:t>
            </a:r>
            <a:r>
              <a:rPr kumimoji="0" lang="en-US" sz="1100" b="0" i="0" u="none" strike="noStrike" kern="1200" cap="none" spc="0" normalizeH="0" baseline="30000" noProof="0" dirty="0">
                <a:ln>
                  <a:noFill/>
                </a:ln>
                <a:solidFill>
                  <a:prstClr val="black"/>
                </a:solidFill>
                <a:effectLst/>
                <a:uLnTx/>
                <a:uFillTx/>
                <a:latin typeface="Telegraf" panose="020B0604020202020204"/>
              </a:rPr>
              <a:t>st</a:t>
            </a:r>
            <a:r>
              <a:rPr kumimoji="0" lang="en-US" sz="1100" b="0" i="0" u="none" strike="noStrike" kern="1200" cap="none" spc="0" normalizeH="0" baseline="0" noProof="0" dirty="0">
                <a:ln>
                  <a:noFill/>
                </a:ln>
                <a:solidFill>
                  <a:prstClr val="black"/>
                </a:solidFill>
                <a:effectLst/>
                <a:uLnTx/>
                <a:uFillTx/>
                <a:latin typeface="Telegraf" panose="020B0604020202020204"/>
              </a:rPr>
              <a:t> IP </a:t>
            </a:r>
            <a:r>
              <a:rPr kumimoji="0" lang="en-US" sz="1100" b="0" i="0" u="none" strike="noStrike" kern="1200" cap="none" spc="0" normalizeH="0" baseline="0" noProof="0" dirty="0" err="1">
                <a:ln>
                  <a:noFill/>
                </a:ln>
                <a:solidFill>
                  <a:prstClr val="black"/>
                </a:solidFill>
                <a:effectLst/>
                <a:uLnTx/>
                <a:uFillTx/>
                <a:latin typeface="Telegraf" panose="020B0604020202020204"/>
              </a:rPr>
              <a:t>untuk</a:t>
            </a:r>
            <a:r>
              <a:rPr kumimoji="0" lang="en-US" sz="1100" b="0" i="0" u="none" strike="noStrike" kern="1200" cap="none" spc="0" normalizeH="0" baseline="0" noProof="0" dirty="0">
                <a:ln>
                  <a:noFill/>
                </a:ln>
                <a:solidFill>
                  <a:prstClr val="black"/>
                </a:solidFill>
                <a:effectLst/>
                <a:uLnTx/>
                <a:uFillTx/>
                <a:latin typeface="Telegraf" panose="020B0604020202020204"/>
              </a:rPr>
              <a:t> </a:t>
            </a:r>
            <a:r>
              <a:rPr lang="en-US" sz="1100" dirty="0">
                <a:solidFill>
                  <a:prstClr val="black"/>
                </a:solidFill>
                <a:latin typeface="Telegraf" panose="020B0604020202020204"/>
              </a:rPr>
              <a:t>base</a:t>
            </a:r>
            <a:r>
              <a:rPr kumimoji="0" lang="en-US" sz="1100" b="0" i="0" u="none" strike="noStrike" kern="1200" cap="none" spc="0" normalizeH="0" baseline="0" noProof="0" dirty="0">
                <a:ln>
                  <a:noFill/>
                </a:ln>
                <a:solidFill>
                  <a:prstClr val="black"/>
                </a:solidFill>
                <a:effectLst/>
                <a:uLnTx/>
                <a:uFillTx/>
                <a:latin typeface="Telegraf" panose="020B0604020202020204"/>
              </a:rPr>
              <a:t>  case ~</a:t>
            </a:r>
            <a:r>
              <a:rPr lang="en-US" sz="1100" dirty="0">
                <a:solidFill>
                  <a:prstClr val="black"/>
                </a:solidFill>
                <a:latin typeface="Telegraf" panose="020B0604020202020204"/>
              </a:rPr>
              <a:t>132 </a:t>
            </a:r>
            <a:r>
              <a:rPr kumimoji="0" lang="en-US" sz="1100" b="0" i="0" u="none" strike="noStrike" kern="1200" cap="none" spc="0" normalizeH="0" baseline="0" noProof="0" dirty="0">
                <a:ln>
                  <a:noFill/>
                </a:ln>
                <a:solidFill>
                  <a:prstClr val="black"/>
                </a:solidFill>
                <a:effectLst/>
                <a:uLnTx/>
                <a:uFillTx/>
                <a:latin typeface="Telegraf" panose="020B0604020202020204"/>
              </a:rPr>
              <a:t>BOPD </a:t>
            </a:r>
            <a:r>
              <a:rPr kumimoji="0" lang="en-US" sz="1100" b="0" i="0" u="none" strike="noStrike" kern="1200" cap="none" spc="0" normalizeH="0" baseline="0" noProof="0" dirty="0" err="1">
                <a:ln>
                  <a:noFill/>
                </a:ln>
                <a:solidFill>
                  <a:prstClr val="black"/>
                </a:solidFill>
                <a:effectLst/>
                <a:uLnTx/>
                <a:uFillTx/>
                <a:latin typeface="Telegraf" panose="020B0604020202020204"/>
              </a:rPr>
              <a:t>dengan</a:t>
            </a:r>
            <a:r>
              <a:rPr kumimoji="0" lang="en-US" sz="1100" b="0" i="0" u="none" strike="noStrike" kern="1200" cap="none" spc="0" normalizeH="0" baseline="0" noProof="0" dirty="0">
                <a:ln>
                  <a:noFill/>
                </a:ln>
                <a:solidFill>
                  <a:prstClr val="black"/>
                </a:solidFill>
                <a:effectLst/>
                <a:uLnTx/>
                <a:uFillTx/>
                <a:latin typeface="Telegraf" panose="020B0604020202020204"/>
              </a:rPr>
              <a:t> EUR ~156 MBO</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r>
              <a:rPr kumimoji="0" lang="nb-NO" sz="1100" b="0" i="0" u="none" strike="noStrike" kern="1200" cap="none" spc="0" normalizeH="0" baseline="0" noProof="0" dirty="0">
                <a:ln>
                  <a:noFill/>
                </a:ln>
                <a:solidFill>
                  <a:prstClr val="black"/>
                </a:solidFill>
                <a:effectLst/>
                <a:uLnTx/>
                <a:uFillTx/>
                <a:latin typeface="Telegraf" panose="020B0604020202020204"/>
              </a:rPr>
              <a:t>Metode Forecast menerapkan probabilistik dari data produksi sumur sekitar dengan double decline rate 105% dan 20%.</a:t>
            </a:r>
          </a:p>
          <a:p>
            <a:pPr marL="128270" marR="0" lvl="0" indent="-128270" algn="just" defTabSz="685800" rtl="0" eaLnBrk="0" fontAlgn="base" latinLnBrk="0" hangingPunct="0">
              <a:lnSpc>
                <a:spcPct val="100000"/>
              </a:lnSpc>
              <a:spcBef>
                <a:spcPts val="300"/>
              </a:spcBef>
              <a:spcAft>
                <a:spcPts val="300"/>
              </a:spcAft>
              <a:buClrTx/>
              <a:buSzTx/>
              <a:buFont typeface="Arial" panose="020B0604020202020204" pitchFamily="34" charset="0"/>
              <a:buChar char="•"/>
              <a:tabLst/>
              <a:defRPr/>
            </a:pPr>
            <a:endParaRPr kumimoji="0" lang="en-ID" sz="1000" b="0" i="0" u="none" strike="noStrike" kern="1200" cap="none" spc="0" normalizeH="0" baseline="0" noProof="0" dirty="0">
              <a:ln>
                <a:noFill/>
              </a:ln>
              <a:solidFill>
                <a:prstClr val="black"/>
              </a:solidFill>
              <a:effectLst/>
              <a:highlight>
                <a:srgbClr val="FFFF00"/>
              </a:highlight>
              <a:uLnTx/>
              <a:uFillTx/>
              <a:latin typeface="Telegraf" panose="020B0604020202020204"/>
            </a:endParaRPr>
          </a:p>
        </p:txBody>
      </p:sp>
      <p:graphicFrame>
        <p:nvGraphicFramePr>
          <p:cNvPr id="7" name="Table 6">
            <a:extLst>
              <a:ext uri="{FF2B5EF4-FFF2-40B4-BE49-F238E27FC236}">
                <a16:creationId xmlns:a16="http://schemas.microsoft.com/office/drawing/2014/main" id="{A062BD0B-2F35-C0A3-14D9-42D3AD9EE293}"/>
              </a:ext>
            </a:extLst>
          </p:cNvPr>
          <p:cNvGraphicFramePr>
            <a:graphicFrameLocks noGrp="1"/>
          </p:cNvGraphicFramePr>
          <p:nvPr>
            <p:extLst>
              <p:ext uri="{D42A27DB-BD31-4B8C-83A1-F6EECF244321}">
                <p14:modId xmlns:p14="http://schemas.microsoft.com/office/powerpoint/2010/main" val="2842371847"/>
              </p:ext>
            </p:extLst>
          </p:nvPr>
        </p:nvGraphicFramePr>
        <p:xfrm>
          <a:off x="1588213" y="3476918"/>
          <a:ext cx="3321515" cy="1849828"/>
        </p:xfrm>
        <a:graphic>
          <a:graphicData uri="http://schemas.openxmlformats.org/drawingml/2006/table">
            <a:tbl>
              <a:tblPr/>
              <a:tblGrid>
                <a:gridCol w="1436787">
                  <a:extLst>
                    <a:ext uri="{9D8B030D-6E8A-4147-A177-3AD203B41FA5}">
                      <a16:colId xmlns:a16="http://schemas.microsoft.com/office/drawing/2014/main" val="1661645723"/>
                    </a:ext>
                  </a:extLst>
                </a:gridCol>
                <a:gridCol w="591619">
                  <a:extLst>
                    <a:ext uri="{9D8B030D-6E8A-4147-A177-3AD203B41FA5}">
                      <a16:colId xmlns:a16="http://schemas.microsoft.com/office/drawing/2014/main" val="2233579324"/>
                    </a:ext>
                  </a:extLst>
                </a:gridCol>
                <a:gridCol w="616975">
                  <a:extLst>
                    <a:ext uri="{9D8B030D-6E8A-4147-A177-3AD203B41FA5}">
                      <a16:colId xmlns:a16="http://schemas.microsoft.com/office/drawing/2014/main" val="1931599931"/>
                    </a:ext>
                  </a:extLst>
                </a:gridCol>
                <a:gridCol w="676134">
                  <a:extLst>
                    <a:ext uri="{9D8B030D-6E8A-4147-A177-3AD203B41FA5}">
                      <a16:colId xmlns:a16="http://schemas.microsoft.com/office/drawing/2014/main" val="2106020038"/>
                    </a:ext>
                  </a:extLst>
                </a:gridCol>
              </a:tblGrid>
              <a:tr h="228427">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solidFill>
                            <a:srgbClr val="002060"/>
                          </a:solidFill>
                          <a:effectLst/>
                          <a:latin typeface="Calibri" panose="020F0502020204030204" pitchFamily="34" charset="0"/>
                        </a:rPr>
                        <a:t>Alpha-07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algn="ctr" rtl="0" fontAlgn="ctr"/>
                      <a:endParaRPr lang="en-US" sz="1050" b="1" i="0" u="none" strike="noStrike">
                        <a:solidFill>
                          <a:srgbClr val="FFFFFF"/>
                        </a:solidFill>
                        <a:effectLst/>
                        <a:highlight>
                          <a:srgbClr val="002060"/>
                        </a:highligh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a:endParaRPr lang="en-US" sz="240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201980">
                <a:tc>
                  <a:txBody>
                    <a:bodyPr/>
                    <a:lstStyle/>
                    <a:p>
                      <a:pPr algn="ctr" rtl="0" fontAlgn="ctr"/>
                      <a:r>
                        <a:rPr lang="en-US" sz="1050" b="0" i="0" u="none" strike="noStrike" dirty="0">
                          <a:solidFill>
                            <a:schemeClr val="bg1"/>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P10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P50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rPr>
                        <a:t>P90</a:t>
                      </a:r>
                      <a:endParaRPr lang="en-US" sz="2400" dirty="0">
                        <a:solidFill>
                          <a:schemeClr val="bg1"/>
                        </a:solidFil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531783075"/>
                  </a:ext>
                </a:extLst>
              </a:tr>
              <a:tr h="201980">
                <a:tc>
                  <a:txBody>
                    <a:bodyPr/>
                    <a:lstStyle/>
                    <a:p>
                      <a:pPr marL="0" algn="ctr"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43060">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FLUID, BFPD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4706062"/>
                  </a:ext>
                </a:extLst>
              </a:tr>
              <a:tr h="229067">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WC,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660403"/>
                  </a:ext>
                </a:extLst>
              </a:tr>
              <a:tr h="250974">
                <a:tc>
                  <a:txBody>
                    <a:bodyPr/>
                    <a:lstStyle/>
                    <a:p>
                      <a:pPr algn="ctr" rtl="0" fontAlgn="ctr">
                        <a:buNone/>
                      </a:pPr>
                      <a:r>
                        <a:rPr lang="en-ID" sz="900" b="1" i="0" u="none" strike="noStrike" dirty="0">
                          <a:solidFill>
                            <a:srgbClr val="000000"/>
                          </a:solidFill>
                          <a:effectLst/>
                          <a:latin typeface="Aptos Display" panose="020B0004020202020204" pitchFamily="34" charset="0"/>
                        </a:rPr>
                        <a:t>1</a:t>
                      </a:r>
                      <a:r>
                        <a:rPr lang="en-ID" sz="900" b="1" i="0" u="none" strike="noStrike" baseline="30000" dirty="0">
                          <a:solidFill>
                            <a:srgbClr val="000000"/>
                          </a:solidFill>
                          <a:effectLst/>
                          <a:latin typeface="Aptos Display" panose="020B0004020202020204" pitchFamily="34" charset="0"/>
                        </a:rPr>
                        <a:t>st</a:t>
                      </a:r>
                      <a:r>
                        <a:rPr lang="en-ID" sz="900" b="1" i="0" u="none" strike="noStrike" dirty="0">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281090"/>
                  </a:ext>
                </a:extLst>
              </a:tr>
              <a:tr h="228157">
                <a:tc>
                  <a:txBody>
                    <a:bodyPr/>
                    <a:lstStyle/>
                    <a:p>
                      <a:pPr algn="ctr" rtl="0" fontAlgn="ctr">
                        <a:buNone/>
                      </a:pPr>
                      <a:r>
                        <a:rPr lang="en-ID" sz="900" b="1" i="0" u="none" strike="noStrike">
                          <a:solidFill>
                            <a:srgbClr val="000000"/>
                          </a:solidFill>
                          <a:effectLst/>
                          <a:latin typeface="Aptos Display" panose="020B0004020202020204" pitchFamily="34" charset="0"/>
                        </a:rPr>
                        <a:t>2</a:t>
                      </a:r>
                      <a:r>
                        <a:rPr lang="en-ID" sz="900" b="1" i="0" u="none" strike="noStrike" baseline="30000">
                          <a:solidFill>
                            <a:srgbClr val="000000"/>
                          </a:solidFill>
                          <a:effectLst/>
                          <a:latin typeface="Aptos Display" panose="020B0004020202020204" pitchFamily="34" charset="0"/>
                        </a:rPr>
                        <a:t>nd</a:t>
                      </a:r>
                      <a:r>
                        <a:rPr lang="en-ID" sz="900" b="1" i="0" u="none" strike="noStrike">
                          <a:solidFill>
                            <a:srgbClr val="000000"/>
                          </a:solidFill>
                          <a:effectLst/>
                          <a:latin typeface="Aptos Display" panose="020B0004020202020204" pitchFamily="34" charset="0"/>
                        </a:rPr>
                        <a:t> Decline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14587"/>
                  </a:ext>
                </a:extLst>
              </a:tr>
              <a:tr h="266183">
                <a:tc>
                  <a:txBody>
                    <a:bodyPr/>
                    <a:lstStyle/>
                    <a:p>
                      <a:pPr marL="0" algn="ctr" defTabSz="914400" rtl="0" eaLnBrk="1" fontAlgn="ctr" latinLnBrk="0" hangingPunct="1"/>
                      <a:r>
                        <a:rPr lang="en-US" sz="900" b="1" i="0" u="none" strike="noStrike" kern="1200">
                          <a:solidFill>
                            <a:schemeClr val="tx1"/>
                          </a:solidFill>
                          <a:effectLst/>
                          <a:latin typeface="Aptos Display" panose="020B0004020202020204" pitchFamily="34" charset="0"/>
                          <a:ea typeface="+mn-ea"/>
                          <a:cs typeface="+mn-cs"/>
                        </a:rPr>
                        <a:t>Add Reserve,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a:solidFill>
                            <a:srgbClr val="000000"/>
                          </a:solidFill>
                          <a:effectLst/>
                          <a:latin typeface="+mj-lt"/>
                        </a:rPr>
                        <a:t>122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00" b="0" i="0" u="none" strike="noStrike" dirty="0">
                          <a:solidFill>
                            <a:srgbClr val="000000"/>
                          </a:solidFill>
                          <a:effectLst/>
                          <a:latin typeface="+mj-lt"/>
                        </a:rPr>
                        <a:t>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66360487"/>
                  </a:ext>
                </a:extLst>
              </a:tr>
            </a:tbl>
          </a:graphicData>
        </a:graphic>
      </p:graphicFrame>
      <p:sp>
        <p:nvSpPr>
          <p:cNvPr id="11" name="TextBox 10">
            <a:extLst>
              <a:ext uri="{FF2B5EF4-FFF2-40B4-BE49-F238E27FC236}">
                <a16:creationId xmlns:a16="http://schemas.microsoft.com/office/drawing/2014/main" id="{164E67F5-1E94-10E3-C735-42FAF30F04DF}"/>
              </a:ext>
            </a:extLst>
          </p:cNvPr>
          <p:cNvSpPr txBox="1"/>
          <p:nvPr/>
        </p:nvSpPr>
        <p:spPr>
          <a:xfrm>
            <a:off x="5009406" y="1178652"/>
            <a:ext cx="2081083"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Telegraf" panose="020B0604020202020204"/>
                <a:cs typeface="Poppins" panose="00000500000000000000" pitchFamily="2" charset="0"/>
              </a:rPr>
              <a:t>Economic Variables</a:t>
            </a:r>
            <a:endParaRPr lang="en-ID" sz="1600" dirty="0">
              <a:latin typeface="Telegraf" panose="020B0604020202020204"/>
              <a:cs typeface="Poppins" panose="00000500000000000000" pitchFamily="2" charset="0"/>
            </a:endParaRPr>
          </a:p>
        </p:txBody>
      </p:sp>
      <p:sp>
        <p:nvSpPr>
          <p:cNvPr id="13" name="TextBox 12">
            <a:extLst>
              <a:ext uri="{FF2B5EF4-FFF2-40B4-BE49-F238E27FC236}">
                <a16:creationId xmlns:a16="http://schemas.microsoft.com/office/drawing/2014/main" id="{13E83A43-EAB1-0491-B3F7-B8FE05477EC3}"/>
              </a:ext>
            </a:extLst>
          </p:cNvPr>
          <p:cNvSpPr txBox="1"/>
          <p:nvPr/>
        </p:nvSpPr>
        <p:spPr>
          <a:xfrm>
            <a:off x="5068716" y="3255571"/>
            <a:ext cx="2246064"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Telegraf" panose="020B0604020202020204"/>
                <a:cs typeface="Poppins" panose="00000500000000000000" pitchFamily="2" charset="0"/>
              </a:rPr>
              <a:t>Economic Calculation</a:t>
            </a:r>
            <a:endParaRPr lang="en-ID" sz="1600" dirty="0">
              <a:latin typeface="Telegraf" panose="020B0604020202020204"/>
              <a:cs typeface="Poppins" panose="00000500000000000000" pitchFamily="2" charset="0"/>
            </a:endParaRPr>
          </a:p>
        </p:txBody>
      </p:sp>
      <p:graphicFrame>
        <p:nvGraphicFramePr>
          <p:cNvPr id="15" name="Table 14">
            <a:extLst>
              <a:ext uri="{FF2B5EF4-FFF2-40B4-BE49-F238E27FC236}">
                <a16:creationId xmlns:a16="http://schemas.microsoft.com/office/drawing/2014/main" id="{A989FF26-621D-A02A-04AF-1B7AAF33A366}"/>
              </a:ext>
            </a:extLst>
          </p:cNvPr>
          <p:cNvGraphicFramePr>
            <a:graphicFrameLocks noGrp="1"/>
          </p:cNvGraphicFramePr>
          <p:nvPr>
            <p:extLst>
              <p:ext uri="{D42A27DB-BD31-4B8C-83A1-F6EECF244321}">
                <p14:modId xmlns:p14="http://schemas.microsoft.com/office/powerpoint/2010/main" val="1473246499"/>
              </p:ext>
            </p:extLst>
          </p:nvPr>
        </p:nvGraphicFramePr>
        <p:xfrm>
          <a:off x="5394266" y="1628579"/>
          <a:ext cx="2618740" cy="1378341"/>
        </p:xfrm>
        <a:graphic>
          <a:graphicData uri="http://schemas.openxmlformats.org/drawingml/2006/table">
            <a:tbl>
              <a:tblPr/>
              <a:tblGrid>
                <a:gridCol w="1744980">
                  <a:extLst>
                    <a:ext uri="{9D8B030D-6E8A-4147-A177-3AD203B41FA5}">
                      <a16:colId xmlns:a16="http://schemas.microsoft.com/office/drawing/2014/main" val="338135237"/>
                    </a:ext>
                  </a:extLst>
                </a:gridCol>
                <a:gridCol w="873760">
                  <a:extLst>
                    <a:ext uri="{9D8B030D-6E8A-4147-A177-3AD203B41FA5}">
                      <a16:colId xmlns:a16="http://schemas.microsoft.com/office/drawing/2014/main" val="2815853602"/>
                    </a:ext>
                  </a:extLst>
                </a:gridCol>
              </a:tblGrid>
              <a:tr h="403960">
                <a:tc>
                  <a:txBody>
                    <a:bodyPr/>
                    <a:lstStyle/>
                    <a:p>
                      <a:pPr algn="ctr" rtl="0" fontAlgn="ctr"/>
                      <a:r>
                        <a:rPr lang="en-US" sz="1050" b="1" i="0" u="none" strike="noStrike" kern="1200" dirty="0">
                          <a:solidFill>
                            <a:schemeClr val="bg1"/>
                          </a:solidFill>
                          <a:effectLst/>
                          <a:latin typeface="Calibri" panose="020F0502020204030204" pitchFamily="34" charset="0"/>
                          <a:ea typeface="+mn-ea"/>
                          <a:cs typeface="+mn-cs"/>
                        </a:rPr>
                        <a:t>Economic Variables Input</a:t>
                      </a:r>
                      <a:br>
                        <a:rPr lang="en-US" sz="1050" b="1" i="0" u="none" strike="noStrike" kern="1200" dirty="0">
                          <a:solidFill>
                            <a:schemeClr val="bg1"/>
                          </a:solidFill>
                          <a:effectLst/>
                          <a:latin typeface="Calibri" panose="020F0502020204030204" pitchFamily="34" charset="0"/>
                          <a:ea typeface="+mn-ea"/>
                          <a:cs typeface="+mn-cs"/>
                        </a:rPr>
                      </a:br>
                      <a:r>
                        <a:rPr lang="en-US" sz="1050" b="1" i="0" u="none" strike="noStrike" kern="1200" dirty="0">
                          <a:solidFill>
                            <a:schemeClr val="bg1"/>
                          </a:solidFill>
                          <a:effectLst/>
                          <a:latin typeface="Calibri" panose="020F0502020204030204" pitchFamily="34" charset="0"/>
                          <a:ea typeface="+mn-ea"/>
                          <a:cs typeface="+mn-cs"/>
                        </a:rPr>
                        <a:t>(Assumption before tax)</a:t>
                      </a:r>
                      <a:endParaRPr lang="en-US" sz="900" b="1" i="0" u="none" strike="noStrike" kern="1200" dirty="0">
                        <a:solidFill>
                          <a:schemeClr val="bg1"/>
                        </a:solidFill>
                        <a:effectLst/>
                        <a:latin typeface="Aptos Display" panose="020B0004020202020204" pitchFamily="34" charset="0"/>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ctr"/>
                      <a:r>
                        <a:rPr lang="en-US" sz="1050" b="1" i="0" u="none" strike="noStrike" dirty="0">
                          <a:solidFill>
                            <a:schemeClr val="bg1"/>
                          </a:solidFill>
                          <a:effectLst/>
                          <a:latin typeface="Calibri" panose="020F0502020204030204" pitchFamily="34" charset="0"/>
                        </a:rPr>
                        <a:t>USD</a:t>
                      </a:r>
                      <a:br>
                        <a:rPr lang="en-US" sz="1050" b="1" i="0" u="none" strike="noStrike" dirty="0">
                          <a:solidFill>
                            <a:schemeClr val="bg1"/>
                          </a:solidFill>
                          <a:effectLst/>
                          <a:latin typeface="Calibri" panose="020F0502020204030204" pitchFamily="34" charset="0"/>
                        </a:rPr>
                      </a:br>
                      <a:r>
                        <a:rPr lang="en-US" sz="1050" b="1" i="0" u="none" strike="noStrike" dirty="0">
                          <a:solidFill>
                            <a:schemeClr val="bg1"/>
                          </a:solidFill>
                          <a:effectLst/>
                          <a:latin typeface="Calibri" panose="020F0502020204030204" pitchFamily="34" charset="0"/>
                        </a:rPr>
                        <a:t>By Well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463104770"/>
                  </a:ext>
                </a:extLst>
              </a:tr>
              <a:tr h="229067">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Tangible Drilling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422,090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0894927"/>
                  </a:ext>
                </a:extLst>
              </a:tr>
              <a:tr h="250974">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Drilling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kern="1200" dirty="0">
                          <a:solidFill>
                            <a:schemeClr val="tx1"/>
                          </a:solidFill>
                          <a:effectLst/>
                          <a:latin typeface="+mj-lt"/>
                          <a:ea typeface="+mn-ea"/>
                          <a:cs typeface="+mn-cs"/>
                        </a:rPr>
                        <a:t>1,357,520</a:t>
                      </a:r>
                      <a:endParaRPr lang="en-ID" sz="1000" b="0"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823081"/>
                  </a:ext>
                </a:extLst>
              </a:tr>
              <a:tr h="228157">
                <a:tc>
                  <a:txBody>
                    <a:bodyPr/>
                    <a:lstStyle/>
                    <a:p>
                      <a:pPr algn="l" rtl="0" fontAlgn="ctr">
                        <a:buNone/>
                      </a:pPr>
                      <a:r>
                        <a:rPr lang="en-ID" sz="900" b="1" i="0" u="none" strike="noStrike" dirty="0">
                          <a:solidFill>
                            <a:srgbClr val="000000"/>
                          </a:solidFill>
                          <a:effectLst/>
                          <a:latin typeface="Aptos Display" panose="020B0004020202020204" pitchFamily="34" charset="0"/>
                        </a:rPr>
                        <a:t>  Intangible Road and Location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601,388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6687763"/>
                  </a:ext>
                </a:extLst>
              </a:tr>
              <a:tr h="266183">
                <a:tc>
                  <a:txBody>
                    <a:bodyPr/>
                    <a:lstStyle/>
                    <a:p>
                      <a:pPr marL="0" algn="l" defTabSz="914400" rtl="0" eaLnBrk="1" fontAlgn="ctr" latinLnBrk="0" hangingPunct="1"/>
                      <a:r>
                        <a:rPr lang="en-US" sz="900" b="1" i="0" u="none" strike="noStrike" kern="1200" dirty="0">
                          <a:solidFill>
                            <a:schemeClr val="tx1"/>
                          </a:solidFill>
                          <a:effectLst/>
                          <a:latin typeface="Aptos Display" panose="020B0004020202020204" pitchFamily="34" charset="0"/>
                          <a:ea typeface="+mn-ea"/>
                          <a:cs typeface="+mn-cs"/>
                        </a:rPr>
                        <a:t>  Production Facilities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ID" sz="1000" b="0" i="0" u="none" strike="noStrike" dirty="0">
                          <a:solidFill>
                            <a:srgbClr val="000000"/>
                          </a:solidFill>
                          <a:effectLst/>
                          <a:latin typeface="+mj-lt"/>
                        </a:rPr>
                        <a:t>1,011,278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869316"/>
                  </a:ext>
                </a:extLst>
              </a:tr>
            </a:tbl>
          </a:graphicData>
        </a:graphic>
      </p:graphicFrame>
      <p:sp>
        <p:nvSpPr>
          <p:cNvPr id="19" name="TextBox 18">
            <a:extLst>
              <a:ext uri="{FF2B5EF4-FFF2-40B4-BE49-F238E27FC236}">
                <a16:creationId xmlns:a16="http://schemas.microsoft.com/office/drawing/2014/main" id="{1C2E8BCE-0B5E-A7DA-CE62-CE91C23B7D3A}"/>
              </a:ext>
            </a:extLst>
          </p:cNvPr>
          <p:cNvSpPr txBox="1"/>
          <p:nvPr/>
        </p:nvSpPr>
        <p:spPr>
          <a:xfrm>
            <a:off x="406874" y="1075764"/>
            <a:ext cx="1184717" cy="253916"/>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marR="0" lvl="0" indent="0" algn="ctr" defTabSz="913526" fontAlgn="base">
              <a:lnSpc>
                <a:spcPct val="100000"/>
              </a:lnSpc>
              <a:spcBef>
                <a:spcPct val="0"/>
              </a:spcBef>
              <a:spcAft>
                <a:spcPct val="0"/>
              </a:spcAft>
              <a:buClrTx/>
              <a:buSzTx/>
              <a:buFontTx/>
              <a:buNone/>
              <a:tabLst/>
              <a:defRPr sz="1000" b="1">
                <a:solidFill>
                  <a:schemeClr val="bg1"/>
                </a:solidFill>
                <a:latin typeface="Daytona"/>
              </a:defRPr>
            </a:lvl1pPr>
          </a:lstStyle>
          <a:p>
            <a:pPr marL="0" marR="0" lvl="0" indent="0" algn="ctr" defTabSz="913526"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a:ln>
                  <a:noFill/>
                </a:ln>
                <a:solidFill>
                  <a:prstClr val="white"/>
                </a:solidFill>
                <a:effectLst/>
                <a:uLnTx/>
                <a:uFillTx/>
                <a:latin typeface="Telegraf" panose="020B0604020202020204"/>
              </a:rPr>
              <a:t>Initial Completion</a:t>
            </a:r>
          </a:p>
        </p:txBody>
      </p:sp>
      <p:pic>
        <p:nvPicPr>
          <p:cNvPr id="21" name="Picture 3">
            <a:extLst>
              <a:ext uri="{FF2B5EF4-FFF2-40B4-BE49-F238E27FC236}">
                <a16:creationId xmlns:a16="http://schemas.microsoft.com/office/drawing/2014/main" id="{6D02D823-BBEE-48D3-2C2D-7DEDFAAF8F1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l="46587" r="46463" b="47827"/>
          <a:stretch/>
        </p:blipFill>
        <p:spPr>
          <a:xfrm>
            <a:off x="964949" y="1404806"/>
            <a:ext cx="154188" cy="877228"/>
          </a:xfrm>
          <a:prstGeom prst="rect">
            <a:avLst/>
          </a:prstGeom>
        </p:spPr>
      </p:pic>
      <p:grpSp>
        <p:nvGrpSpPr>
          <p:cNvPr id="23" name="ProdCsg">
            <a:extLst>
              <a:ext uri="{FF2B5EF4-FFF2-40B4-BE49-F238E27FC236}">
                <a16:creationId xmlns:a16="http://schemas.microsoft.com/office/drawing/2014/main" id="{A4794765-FB64-698B-D0BF-2057C1321372}"/>
              </a:ext>
            </a:extLst>
          </p:cNvPr>
          <p:cNvGrpSpPr/>
          <p:nvPr/>
        </p:nvGrpSpPr>
        <p:grpSpPr>
          <a:xfrm>
            <a:off x="758665" y="1454901"/>
            <a:ext cx="549832" cy="5008874"/>
            <a:chOff x="818668" y="0"/>
            <a:chExt cx="1097904" cy="3667241"/>
          </a:xfrm>
        </p:grpSpPr>
        <p:sp>
          <p:nvSpPr>
            <p:cNvPr id="25" name="Rectangle 24" descr="Blue tissue paper">
              <a:extLst>
                <a:ext uri="{FF2B5EF4-FFF2-40B4-BE49-F238E27FC236}">
                  <a16:creationId xmlns:a16="http://schemas.microsoft.com/office/drawing/2014/main" id="{51289A32-A7DA-EE60-7C90-FB35DEACE9CD}"/>
                </a:ext>
              </a:extLst>
            </p:cNvPr>
            <p:cNvSpPr>
              <a:spLocks noChangeArrowheads="1"/>
            </p:cNvSpPr>
            <p:nvPr/>
          </p:nvSpPr>
          <p:spPr bwMode="auto">
            <a:xfrm>
              <a:off x="818668" y="1818"/>
              <a:ext cx="194524"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27" name="Rectangle 26" descr="Blue tissue paper">
              <a:extLst>
                <a:ext uri="{FF2B5EF4-FFF2-40B4-BE49-F238E27FC236}">
                  <a16:creationId xmlns:a16="http://schemas.microsoft.com/office/drawing/2014/main" id="{3131F828-8111-9EC4-BE84-465B1DF01D16}"/>
                </a:ext>
              </a:extLst>
            </p:cNvPr>
            <p:cNvSpPr>
              <a:spLocks noChangeArrowheads="1"/>
            </p:cNvSpPr>
            <p:nvPr/>
          </p:nvSpPr>
          <p:spPr bwMode="auto">
            <a:xfrm>
              <a:off x="1721259" y="9641"/>
              <a:ext cx="195313" cy="3657600"/>
            </a:xfrm>
            <a:prstGeom prst="rect">
              <a:avLst/>
            </a:prstGeom>
            <a:blipFill dpi="0" rotWithShape="0">
              <a:blip r:embed="rId7" cstate="print">
                <a:extLst>
                  <a:ext uri="{28A0092B-C50C-407E-A947-70E740481C1C}">
                    <a14:useLocalDpi xmlns:a14="http://schemas.microsoft.com/office/drawing/2010/main" val="0"/>
                  </a:ext>
                </a:extLst>
              </a:blip>
              <a:srcRect/>
              <a:tile tx="0" ty="0" sx="100000" sy="100000" flip="none" algn="tl"/>
            </a:blip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29" name="Line 51" descr="Stationery">
              <a:extLst>
                <a:ext uri="{FF2B5EF4-FFF2-40B4-BE49-F238E27FC236}">
                  <a16:creationId xmlns:a16="http://schemas.microsoft.com/office/drawing/2014/main" id="{6CC292CB-F6BF-6A8E-3372-729C7B4F4D21}"/>
                </a:ext>
              </a:extLst>
            </p:cNvPr>
            <p:cNvSpPr>
              <a:spLocks noChangeShapeType="1"/>
            </p:cNvSpPr>
            <p:nvPr/>
          </p:nvSpPr>
          <p:spPr bwMode="auto">
            <a:xfrm>
              <a:off x="1705857" y="7823"/>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1" name="Line 52" descr="Stationery">
              <a:extLst>
                <a:ext uri="{FF2B5EF4-FFF2-40B4-BE49-F238E27FC236}">
                  <a16:creationId xmlns:a16="http://schemas.microsoft.com/office/drawing/2014/main" id="{4EFEB7BA-8A1F-A3FC-C80B-9D85059C7705}"/>
                </a:ext>
              </a:extLst>
            </p:cNvPr>
            <p:cNvSpPr>
              <a:spLocks noChangeShapeType="1"/>
            </p:cNvSpPr>
            <p:nvPr/>
          </p:nvSpPr>
          <p:spPr bwMode="auto">
            <a:xfrm>
              <a:off x="1013191" y="0"/>
              <a:ext cx="0" cy="3657600"/>
            </a:xfrm>
            <a:prstGeom prst="line">
              <a:avLst/>
            </a:prstGeom>
            <a:noFill/>
            <a:ln w="25400">
              <a:solidFill>
                <a:srgbClr val="333333"/>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3" name="AutoShape 46">
              <a:extLst>
                <a:ext uri="{FF2B5EF4-FFF2-40B4-BE49-F238E27FC236}">
                  <a16:creationId xmlns:a16="http://schemas.microsoft.com/office/drawing/2014/main" id="{81A1F449-3E8A-FE13-EDA8-5CF8E5D98E64}"/>
                </a:ext>
              </a:extLst>
            </p:cNvPr>
            <p:cNvSpPr>
              <a:spLocks noChangeArrowheads="1"/>
            </p:cNvSpPr>
            <p:nvPr/>
          </p:nvSpPr>
          <p:spPr bwMode="auto">
            <a:xfrm>
              <a:off x="1713251" y="3529573"/>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sp>
          <p:nvSpPr>
            <p:cNvPr id="36" name="AutoShape 47">
              <a:extLst>
                <a:ext uri="{FF2B5EF4-FFF2-40B4-BE49-F238E27FC236}">
                  <a16:creationId xmlns:a16="http://schemas.microsoft.com/office/drawing/2014/main" id="{72EF123B-2B1E-9CCD-81E7-23517F527916}"/>
                </a:ext>
              </a:extLst>
            </p:cNvPr>
            <p:cNvSpPr>
              <a:spLocks noChangeArrowheads="1"/>
            </p:cNvSpPr>
            <p:nvPr/>
          </p:nvSpPr>
          <p:spPr bwMode="auto">
            <a:xfrm flipH="1">
              <a:off x="824299" y="3521637"/>
              <a:ext cx="187919" cy="135466"/>
            </a:xfrm>
            <a:prstGeom prst="rtTriangle">
              <a:avLst/>
            </a:prstGeom>
            <a:solidFill>
              <a:srgbClr val="000000"/>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elegraf" panose="020B0604020202020204"/>
              </a:endParaRPr>
            </a:p>
          </p:txBody>
        </p:sp>
      </p:grpSp>
      <p:cxnSp>
        <p:nvCxnSpPr>
          <p:cNvPr id="39" name="TopSand">
            <a:extLst>
              <a:ext uri="{FF2B5EF4-FFF2-40B4-BE49-F238E27FC236}">
                <a16:creationId xmlns:a16="http://schemas.microsoft.com/office/drawing/2014/main" id="{F518E667-C935-63A1-7A28-2EA78836AAB2}"/>
              </a:ext>
            </a:extLst>
          </p:cNvPr>
          <p:cNvCxnSpPr/>
          <p:nvPr/>
        </p:nvCxnSpPr>
        <p:spPr>
          <a:xfrm>
            <a:off x="435598" y="3025749"/>
            <a:ext cx="1095293" cy="0"/>
          </a:xfrm>
          <a:prstGeom prst="line">
            <a:avLst/>
          </a:prstGeom>
          <a:noFill/>
          <a:ln w="19050" cap="flat" cmpd="sng" algn="ctr">
            <a:solidFill>
              <a:sysClr val="windowText" lastClr="000000"/>
            </a:solidFill>
            <a:prstDash val="lgDashDotDot"/>
          </a:ln>
          <a:effectLst/>
        </p:spPr>
      </p:cxnSp>
      <p:pic>
        <p:nvPicPr>
          <p:cNvPr id="40" name="SBPump">
            <a:extLst>
              <a:ext uri="{FF2B5EF4-FFF2-40B4-BE49-F238E27FC236}">
                <a16:creationId xmlns:a16="http://schemas.microsoft.com/office/drawing/2014/main" id="{3E52794A-34CF-05C2-67C7-59D744D96E6E}"/>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58418" y="2277949"/>
            <a:ext cx="154188" cy="360196"/>
          </a:xfrm>
          <a:prstGeom prst="rect">
            <a:avLst/>
          </a:prstGeom>
        </p:spPr>
      </p:pic>
      <p:cxnSp>
        <p:nvCxnSpPr>
          <p:cNvPr id="42" name="TopSand">
            <a:extLst>
              <a:ext uri="{FF2B5EF4-FFF2-40B4-BE49-F238E27FC236}">
                <a16:creationId xmlns:a16="http://schemas.microsoft.com/office/drawing/2014/main" id="{E55B5662-445D-80B6-DA24-8300EC3A5C11}"/>
              </a:ext>
            </a:extLst>
          </p:cNvPr>
          <p:cNvCxnSpPr/>
          <p:nvPr/>
        </p:nvCxnSpPr>
        <p:spPr>
          <a:xfrm>
            <a:off x="435598" y="3669285"/>
            <a:ext cx="1065353" cy="0"/>
          </a:xfrm>
          <a:prstGeom prst="line">
            <a:avLst/>
          </a:prstGeom>
          <a:noFill/>
          <a:ln w="19050" cap="flat" cmpd="sng" algn="ctr">
            <a:solidFill>
              <a:sysClr val="windowText" lastClr="000000"/>
            </a:solidFill>
            <a:prstDash val="lgDashDotDot"/>
          </a:ln>
          <a:effectLst/>
        </p:spPr>
      </p:cxnSp>
      <p:sp>
        <p:nvSpPr>
          <p:cNvPr id="44" name="TextBox 38">
            <a:extLst>
              <a:ext uri="{FF2B5EF4-FFF2-40B4-BE49-F238E27FC236}">
                <a16:creationId xmlns:a16="http://schemas.microsoft.com/office/drawing/2014/main" id="{E96A1354-FAD8-4B13-541B-C5619D80F56F}"/>
              </a:ext>
            </a:extLst>
          </p:cNvPr>
          <p:cNvSpPr txBox="1"/>
          <p:nvPr/>
        </p:nvSpPr>
        <p:spPr>
          <a:xfrm>
            <a:off x="132964" y="2773035"/>
            <a:ext cx="847613" cy="31496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dirty="0">
                <a:solidFill>
                  <a:srgbClr val="C00000"/>
                </a:solidFill>
                <a:latin typeface="Telegraf" panose="020B0604020202020204"/>
              </a:rPr>
              <a:t>BARA</a:t>
            </a:r>
            <a:endParaRPr kumimoji="0" lang="en-US" sz="1600" b="1" i="0" u="none" strike="noStrike" kern="0" cap="none" spc="0" normalizeH="0" baseline="0" noProof="0" dirty="0">
              <a:ln>
                <a:noFill/>
              </a:ln>
              <a:solidFill>
                <a:srgbClr val="C00000"/>
              </a:solidFill>
              <a:effectLst/>
              <a:uLnTx/>
              <a:uFillTx/>
              <a:latin typeface="Telegraf" panose="020B0604020202020204"/>
            </a:endParaRPr>
          </a:p>
        </p:txBody>
      </p:sp>
      <p:sp>
        <p:nvSpPr>
          <p:cNvPr id="46" name="TextBox 38">
            <a:extLst>
              <a:ext uri="{FF2B5EF4-FFF2-40B4-BE49-F238E27FC236}">
                <a16:creationId xmlns:a16="http://schemas.microsoft.com/office/drawing/2014/main" id="{1300E8AA-AC8F-DDEF-0904-DCEC81CC1967}"/>
              </a:ext>
            </a:extLst>
          </p:cNvPr>
          <p:cNvSpPr txBox="1"/>
          <p:nvPr/>
        </p:nvSpPr>
        <p:spPr>
          <a:xfrm>
            <a:off x="124022" y="3402428"/>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BAMA</a:t>
            </a:r>
          </a:p>
        </p:txBody>
      </p:sp>
      <p:pic>
        <p:nvPicPr>
          <p:cNvPr id="48" name="Picture 47">
            <a:extLst>
              <a:ext uri="{FF2B5EF4-FFF2-40B4-BE49-F238E27FC236}">
                <a16:creationId xmlns:a16="http://schemas.microsoft.com/office/drawing/2014/main" id="{7AE03A4C-8C46-8884-2A1C-29632D2B5F4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08407" y="3167754"/>
            <a:ext cx="626107" cy="259119"/>
          </a:xfrm>
          <a:prstGeom prst="rect">
            <a:avLst/>
          </a:prstGeom>
        </p:spPr>
      </p:pic>
      <p:pic>
        <p:nvPicPr>
          <p:cNvPr id="50" name="Picture 49">
            <a:extLst>
              <a:ext uri="{FF2B5EF4-FFF2-40B4-BE49-F238E27FC236}">
                <a16:creationId xmlns:a16="http://schemas.microsoft.com/office/drawing/2014/main" id="{9808BC0C-4787-1041-50A6-946E7D5C9C6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04921" y="3827235"/>
            <a:ext cx="626107" cy="259119"/>
          </a:xfrm>
          <a:prstGeom prst="rect">
            <a:avLst/>
          </a:prstGeom>
        </p:spPr>
      </p:pic>
      <p:cxnSp>
        <p:nvCxnSpPr>
          <p:cNvPr id="52" name="TopSand">
            <a:extLst>
              <a:ext uri="{FF2B5EF4-FFF2-40B4-BE49-F238E27FC236}">
                <a16:creationId xmlns:a16="http://schemas.microsoft.com/office/drawing/2014/main" id="{1B942CC6-90FE-6377-15FA-2D98F223E8E8}"/>
              </a:ext>
            </a:extLst>
          </p:cNvPr>
          <p:cNvCxnSpPr/>
          <p:nvPr/>
        </p:nvCxnSpPr>
        <p:spPr>
          <a:xfrm>
            <a:off x="450491" y="4250571"/>
            <a:ext cx="1065353" cy="0"/>
          </a:xfrm>
          <a:prstGeom prst="line">
            <a:avLst/>
          </a:prstGeom>
          <a:noFill/>
          <a:ln w="19050" cap="flat" cmpd="sng" algn="ctr">
            <a:solidFill>
              <a:sysClr val="windowText" lastClr="000000"/>
            </a:solidFill>
            <a:prstDash val="lgDashDotDot"/>
          </a:ln>
          <a:effectLst/>
        </p:spPr>
      </p:cxnSp>
      <p:sp>
        <p:nvSpPr>
          <p:cNvPr id="54" name="TextBox 38">
            <a:extLst>
              <a:ext uri="{FF2B5EF4-FFF2-40B4-BE49-F238E27FC236}">
                <a16:creationId xmlns:a16="http://schemas.microsoft.com/office/drawing/2014/main" id="{37F71479-CC76-49CC-0805-36E7A999692F}"/>
              </a:ext>
            </a:extLst>
          </p:cNvPr>
          <p:cNvSpPr txBox="1"/>
          <p:nvPr/>
        </p:nvSpPr>
        <p:spPr>
          <a:xfrm>
            <a:off x="122899" y="4015091"/>
            <a:ext cx="772296" cy="125255"/>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RAJA</a:t>
            </a:r>
          </a:p>
        </p:txBody>
      </p:sp>
      <p:pic>
        <p:nvPicPr>
          <p:cNvPr id="56" name="Picture 55">
            <a:extLst>
              <a:ext uri="{FF2B5EF4-FFF2-40B4-BE49-F238E27FC236}">
                <a16:creationId xmlns:a16="http://schemas.microsoft.com/office/drawing/2014/main" id="{9C6A50D6-0E6A-DFDB-DB1D-52E2C05E996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11642" y="4423424"/>
            <a:ext cx="626107" cy="259119"/>
          </a:xfrm>
          <a:prstGeom prst="rect">
            <a:avLst/>
          </a:prstGeom>
        </p:spPr>
      </p:pic>
      <p:pic>
        <p:nvPicPr>
          <p:cNvPr id="58" name="Picture 57">
            <a:extLst>
              <a:ext uri="{FF2B5EF4-FFF2-40B4-BE49-F238E27FC236}">
                <a16:creationId xmlns:a16="http://schemas.microsoft.com/office/drawing/2014/main" id="{F9A8D472-A7B2-B5F9-A64B-09761E0AFEFA}"/>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19559"/>
          <a:stretch/>
        </p:blipFill>
        <p:spPr>
          <a:xfrm flipH="1">
            <a:off x="704920" y="5007839"/>
            <a:ext cx="626107" cy="259119"/>
          </a:xfrm>
          <a:prstGeom prst="rect">
            <a:avLst/>
          </a:prstGeom>
        </p:spPr>
      </p:pic>
      <p:cxnSp>
        <p:nvCxnSpPr>
          <p:cNvPr id="60" name="TopSand">
            <a:extLst>
              <a:ext uri="{FF2B5EF4-FFF2-40B4-BE49-F238E27FC236}">
                <a16:creationId xmlns:a16="http://schemas.microsoft.com/office/drawing/2014/main" id="{276C75D5-2FE2-DE04-64C9-6960010F7119}"/>
              </a:ext>
            </a:extLst>
          </p:cNvPr>
          <p:cNvCxnSpPr/>
          <p:nvPr/>
        </p:nvCxnSpPr>
        <p:spPr>
          <a:xfrm>
            <a:off x="449208" y="4831451"/>
            <a:ext cx="1065353" cy="0"/>
          </a:xfrm>
          <a:prstGeom prst="line">
            <a:avLst/>
          </a:prstGeom>
          <a:noFill/>
          <a:ln w="19050" cap="flat" cmpd="sng" algn="ctr">
            <a:solidFill>
              <a:sysClr val="windowText" lastClr="000000"/>
            </a:solidFill>
            <a:prstDash val="lgDashDotDot"/>
          </a:ln>
          <a:effectLst/>
        </p:spPr>
      </p:cxnSp>
      <p:sp>
        <p:nvSpPr>
          <p:cNvPr id="62" name="TextBox 38">
            <a:extLst>
              <a:ext uri="{FF2B5EF4-FFF2-40B4-BE49-F238E27FC236}">
                <a16:creationId xmlns:a16="http://schemas.microsoft.com/office/drawing/2014/main" id="{73385F5E-21A1-E267-1536-4A982B11246D}"/>
              </a:ext>
            </a:extLst>
          </p:cNvPr>
          <p:cNvSpPr txBox="1"/>
          <p:nvPr/>
        </p:nvSpPr>
        <p:spPr>
          <a:xfrm>
            <a:off x="122899" y="4567080"/>
            <a:ext cx="850233" cy="144476"/>
          </a:xfrm>
          <a:prstGeom prst="rect">
            <a:avLst/>
          </a:prstGeom>
          <a:noFill/>
          <a:ln w="9525" cmpd="sng">
            <a:noFill/>
          </a:ln>
          <a:effectLst/>
          <a:extLst>
            <a:ext uri="{909E8E84-426E-40DD-AFC4-6F175D3DCCD1}">
              <a14:hiddenFill xmlns:a14="http://schemas.microsoft.com/office/drawing/2010/main">
                <a:solidFill>
                  <a:schemeClr val="lt1"/>
                </a:solidFill>
              </a14:hiddenFill>
            </a:ext>
            <a:ext uri="{91240B29-F687-4F45-9708-019B960494DF}">
              <a14:hiddenLine xmlns:a14="http://schemas.microsoft.com/office/drawing/2010/main" w="9525" cmpd="sng">
                <a:solidFill>
                  <a:schemeClr val="lt1">
                    <a:shade val="50000"/>
                  </a:schemeClr>
                </a:solidFill>
              </a14:hiddenLine>
            </a:ext>
          </a:extLst>
        </p:spPr>
        <p:txBody>
          <a:bodyPr vert="horz"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C00000"/>
                </a:solidFill>
                <a:effectLst/>
                <a:uLnTx/>
                <a:uFillTx/>
                <a:latin typeface="Telegraf" panose="020B0604020202020204"/>
              </a:rPr>
              <a:t>PRIMA</a:t>
            </a:r>
          </a:p>
        </p:txBody>
      </p:sp>
      <p:graphicFrame>
        <p:nvGraphicFramePr>
          <p:cNvPr id="6" name="Table 5">
            <a:extLst>
              <a:ext uri="{FF2B5EF4-FFF2-40B4-BE49-F238E27FC236}">
                <a16:creationId xmlns:a16="http://schemas.microsoft.com/office/drawing/2014/main" id="{4DA9DD06-0412-A4C5-02F9-A818766B5FCE}"/>
              </a:ext>
            </a:extLst>
          </p:cNvPr>
          <p:cNvGraphicFramePr>
            <a:graphicFrameLocks noGrp="1"/>
          </p:cNvGraphicFramePr>
          <p:nvPr>
            <p:extLst>
              <p:ext uri="{D42A27DB-BD31-4B8C-83A1-F6EECF244321}">
                <p14:modId xmlns:p14="http://schemas.microsoft.com/office/powerpoint/2010/main" val="282234342"/>
              </p:ext>
            </p:extLst>
          </p:nvPr>
        </p:nvGraphicFramePr>
        <p:xfrm>
          <a:off x="5394266" y="3887399"/>
          <a:ext cx="5843827" cy="1359361"/>
        </p:xfrm>
        <a:graphic>
          <a:graphicData uri="http://schemas.openxmlformats.org/drawingml/2006/table">
            <a:tbl>
              <a:tblPr/>
              <a:tblGrid>
                <a:gridCol w="726141">
                  <a:extLst>
                    <a:ext uri="{9D8B030D-6E8A-4147-A177-3AD203B41FA5}">
                      <a16:colId xmlns:a16="http://schemas.microsoft.com/office/drawing/2014/main" val="1661645723"/>
                    </a:ext>
                  </a:extLst>
                </a:gridCol>
                <a:gridCol w="458194">
                  <a:extLst>
                    <a:ext uri="{9D8B030D-6E8A-4147-A177-3AD203B41FA5}">
                      <a16:colId xmlns:a16="http://schemas.microsoft.com/office/drawing/2014/main" val="906194833"/>
                    </a:ext>
                  </a:extLst>
                </a:gridCol>
                <a:gridCol w="749300">
                  <a:extLst>
                    <a:ext uri="{9D8B030D-6E8A-4147-A177-3AD203B41FA5}">
                      <a16:colId xmlns:a16="http://schemas.microsoft.com/office/drawing/2014/main" val="2233579324"/>
                    </a:ext>
                  </a:extLst>
                </a:gridCol>
                <a:gridCol w="711200">
                  <a:extLst>
                    <a:ext uri="{9D8B030D-6E8A-4147-A177-3AD203B41FA5}">
                      <a16:colId xmlns:a16="http://schemas.microsoft.com/office/drawing/2014/main" val="1673416844"/>
                    </a:ext>
                  </a:extLst>
                </a:gridCol>
                <a:gridCol w="884767">
                  <a:extLst>
                    <a:ext uri="{9D8B030D-6E8A-4147-A177-3AD203B41FA5}">
                      <a16:colId xmlns:a16="http://schemas.microsoft.com/office/drawing/2014/main" val="1620112841"/>
                    </a:ext>
                  </a:extLst>
                </a:gridCol>
                <a:gridCol w="879225">
                  <a:extLst>
                    <a:ext uri="{9D8B030D-6E8A-4147-A177-3AD203B41FA5}">
                      <a16:colId xmlns:a16="http://schemas.microsoft.com/office/drawing/2014/main" val="162707985"/>
                    </a:ext>
                  </a:extLst>
                </a:gridCol>
                <a:gridCol w="714472">
                  <a:extLst>
                    <a:ext uri="{9D8B030D-6E8A-4147-A177-3AD203B41FA5}">
                      <a16:colId xmlns:a16="http://schemas.microsoft.com/office/drawing/2014/main" val="2591438431"/>
                    </a:ext>
                  </a:extLst>
                </a:gridCol>
                <a:gridCol w="720528">
                  <a:extLst>
                    <a:ext uri="{9D8B030D-6E8A-4147-A177-3AD203B41FA5}">
                      <a16:colId xmlns:a16="http://schemas.microsoft.com/office/drawing/2014/main" val="3161346418"/>
                    </a:ext>
                  </a:extLst>
                </a:gridCol>
              </a:tblGrid>
              <a:tr h="278996">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Well</a:t>
                      </a: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i="0" u="none" strike="noStrike"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HPT</a:t>
                      </a: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IP (BOPD)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rowSpan="2">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EUR (MBO)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gridSpan="4">
                  <a:txBody>
                    <a:bodyPr/>
                    <a:lstStyle/>
                    <a:p>
                      <a:pPr algn="ctr" rtl="0" fontAlgn="ctr"/>
                      <a:r>
                        <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rPr>
                        <a:t>ECONOMIC ASSESMENT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pPr algn="ctr" rtl="0" fontAlgn="ctr"/>
                      <a:endParaRPr lang="en-US" sz="1050" b="1" i="0" u="none" strike="noStrike" dirty="0">
                        <a:solidFill>
                          <a:srgbClr val="FFFFFF"/>
                        </a:solidFill>
                        <a:effectLst/>
                        <a:highlight>
                          <a:srgbClr val="002060"/>
                        </a:highligh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563515892"/>
                  </a:ext>
                </a:extLst>
              </a:tr>
              <a:tr h="278996">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05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algn="ct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vMerge="1">
                  <a:txBody>
                    <a:bodyPr/>
                    <a:lstStyle/>
                    <a:p>
                      <a:pPr algn="ct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Capex (USD)</a:t>
                      </a:r>
                      <a:endParaRPr lang="en-ID" sz="1050"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NPV (USD)</a:t>
                      </a: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ROR</a:t>
                      </a:r>
                      <a:endParaRPr lang="en-ID"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POT</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858726709"/>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Low</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marL="0" algn="ctr" defTabSz="914400" rtl="0" eaLnBrk="1" fontAlgn="ctr" latinLnBrk="0" hangingPunct="1"/>
                      <a:r>
                        <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15.6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r>
                        <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3.765</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1.094</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29%</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3,9</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1023315"/>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Base</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marL="0" algn="ctr" defTabSz="914400" rtl="0" eaLnBrk="1" fontAlgn="ctr" latinLnBrk="0" hangingPunct="1"/>
                      <a:endPar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132</a:t>
                      </a:r>
                      <a:endPar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156</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algn="ct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2.118</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51%</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2,8</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60890657"/>
                  </a:ext>
                </a:extLst>
              </a:tr>
              <a:tr h="267123">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High</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marL="0" algn="ctr" defTabSz="914400" rtl="0" eaLnBrk="1" fontAlgn="ctr" latinLnBrk="0" hangingPunct="1"/>
                      <a:endParaRPr lang="en-US" sz="1050" b="1" i="0"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158</a:t>
                      </a:r>
                      <a:endParaRPr lang="en-ID"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190</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pPr algn="ct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3.140</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82%</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a:r>
                        <a:rPr lang="en-US" sz="1050" dirty="0">
                          <a:latin typeface="Calibri" panose="020F0502020204030204" pitchFamily="34" charset="0"/>
                          <a:ea typeface="Calibri" panose="020F0502020204030204" pitchFamily="34" charset="0"/>
                          <a:cs typeface="Calibri" panose="020F0502020204030204" pitchFamily="34" charset="0"/>
                        </a:rPr>
                        <a:t>2,1</a:t>
                      </a:r>
                      <a:endParaRPr lang="en-ID" sz="105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42861535"/>
                  </a:ext>
                </a:extLst>
              </a:tr>
            </a:tbl>
          </a:graphicData>
        </a:graphic>
      </p:graphicFrame>
    </p:spTree>
    <p:extLst>
      <p:ext uri="{BB962C8B-B14F-4D97-AF65-F5344CB8AC3E}">
        <p14:creationId xmlns:p14="http://schemas.microsoft.com/office/powerpoint/2010/main" val="3266877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19C36-059D-E71A-2004-B1DEB4D321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2EF5A2-60F8-8591-2B64-439A9544D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DA83C872-D414-655F-9E01-09EC4F92E77C}"/>
              </a:ext>
            </a:extLst>
          </p:cNvPr>
          <p:cNvSpPr/>
          <p:nvPr/>
        </p:nvSpPr>
        <p:spPr>
          <a:xfrm>
            <a:off x="259075" y="2007908"/>
            <a:ext cx="11716269" cy="278090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AF6F053D-EA32-4F3A-FF5C-06F6DBA9DFAA}"/>
              </a:ext>
            </a:extLst>
          </p:cNvPr>
          <p:cNvSpPr>
            <a:spLocks noGrp="1"/>
          </p:cNvSpPr>
          <p:nvPr>
            <p:ph type="ctrTitle"/>
          </p:nvPr>
        </p:nvSpPr>
        <p:spPr>
          <a:xfrm>
            <a:off x="494907" y="2459920"/>
            <a:ext cx="11202186" cy="1958823"/>
          </a:xfrm>
        </p:spPr>
        <p:txBody>
          <a:bodyPr anchor="ctr">
            <a:normAutofit/>
          </a:bodyPr>
          <a:lstStyle/>
          <a:p>
            <a:r>
              <a:rPr lang="en-US" dirty="0">
                <a:solidFill>
                  <a:schemeClr val="bg1"/>
                </a:solidFill>
                <a:latin typeface="Telegraf Bold" panose="020B0604020202020204" charset="0"/>
              </a:rPr>
              <a:t>PRE-EXECUTION MILESTONES &amp; ROADMAP TO SPUD</a:t>
            </a:r>
          </a:p>
        </p:txBody>
      </p:sp>
      <p:pic>
        <p:nvPicPr>
          <p:cNvPr id="9" name="Google Shape;40;p1" descr="Blue text and blue letters on a black background&#10;&#10;Description automatically generated">
            <a:extLst>
              <a:ext uri="{FF2B5EF4-FFF2-40B4-BE49-F238E27FC236}">
                <a16:creationId xmlns:a16="http://schemas.microsoft.com/office/drawing/2014/main" id="{DF1C56AD-E3C6-E3D6-1BBD-3C45642D9BD1}"/>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7672A725-C5A9-FA59-834B-AE32E60A50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10603782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ECC5-7C52-6B5F-983E-72D264F4D46E}"/>
            </a:ext>
          </a:extLst>
        </p:cNvPr>
        <p:cNvGrpSpPr/>
        <p:nvPr/>
      </p:nvGrpSpPr>
      <p:grpSpPr>
        <a:xfrm>
          <a:off x="0" y="0"/>
          <a:ext cx="0" cy="0"/>
          <a:chOff x="0" y="0"/>
          <a:chExt cx="0" cy="0"/>
        </a:xfrm>
      </p:grpSpPr>
      <p:sp>
        <p:nvSpPr>
          <p:cNvPr id="2" name="Arrow: Pentagon 1">
            <a:extLst>
              <a:ext uri="{FF2B5EF4-FFF2-40B4-BE49-F238E27FC236}">
                <a16:creationId xmlns:a16="http://schemas.microsoft.com/office/drawing/2014/main" id="{6F44AACA-770D-D395-AF4F-CEC83FD5635F}"/>
              </a:ext>
            </a:extLst>
          </p:cNvPr>
          <p:cNvSpPr/>
          <p:nvPr/>
        </p:nvSpPr>
        <p:spPr>
          <a:xfrm>
            <a:off x="-9427" y="-9428"/>
            <a:ext cx="9436231" cy="955039"/>
          </a:xfrm>
          <a:prstGeom prst="homePlate">
            <a:avLst>
              <a:gd name="adj" fmla="val 22181"/>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fontAlgn="base">
              <a:spcBef>
                <a:spcPct val="0"/>
              </a:spcBef>
              <a:spcAft>
                <a:spcPct val="0"/>
              </a:spcAft>
              <a:defRPr/>
            </a:pPr>
            <a:r>
              <a:rPr lang="en-US" altLang="en-US" sz="3200" b="1" dirty="0">
                <a:solidFill>
                  <a:prstClr val="white"/>
                </a:solidFill>
                <a:latin typeface="Telegraf Bold" panose="020B0604020202020204" charset="0"/>
              </a:rPr>
              <a:t>PRE-EXECUTION MILESTONES &amp; ROADMAP TO SPUD</a:t>
            </a:r>
            <a:endParaRPr lang="fi-FI" altLang="en-US" sz="3200" b="1" dirty="0">
              <a:solidFill>
                <a:prstClr val="white"/>
              </a:solidFill>
              <a:latin typeface="Telegraf Bold" panose="020B0604020202020204" charset="0"/>
            </a:endParaRPr>
          </a:p>
        </p:txBody>
      </p:sp>
      <p:pic>
        <p:nvPicPr>
          <p:cNvPr id="35" name="Picture 34">
            <a:extLst>
              <a:ext uri="{FF2B5EF4-FFF2-40B4-BE49-F238E27FC236}">
                <a16:creationId xmlns:a16="http://schemas.microsoft.com/office/drawing/2014/main" id="{BE186E26-F0FD-1A01-9C65-D76D1ECD2F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2006" y="0"/>
            <a:ext cx="1046375" cy="1046375"/>
          </a:xfrm>
          <a:prstGeom prst="rect">
            <a:avLst/>
          </a:prstGeom>
        </p:spPr>
      </p:pic>
      <p:pic>
        <p:nvPicPr>
          <p:cNvPr id="37" name="Google Shape;40;p1" descr="Blue text and blue letters on a black background&#10;&#10;Description automatically generated">
            <a:extLst>
              <a:ext uri="{FF2B5EF4-FFF2-40B4-BE49-F238E27FC236}">
                <a16:creationId xmlns:a16="http://schemas.microsoft.com/office/drawing/2014/main" id="{E4C64F11-915B-DE7E-A6CF-33971DCB2481}"/>
              </a:ext>
            </a:extLst>
          </p:cNvPr>
          <p:cNvPicPr preferRelativeResize="0"/>
          <p:nvPr/>
        </p:nvPicPr>
        <p:blipFill rotWithShape="1">
          <a:blip r:embed="rId4">
            <a:alphaModFix/>
          </a:blip>
          <a:srcRect t="18354" b="20955"/>
          <a:stretch>
            <a:fillRect/>
          </a:stretch>
        </p:blipFill>
        <p:spPr>
          <a:xfrm>
            <a:off x="10618381" y="0"/>
            <a:ext cx="1573619" cy="955039"/>
          </a:xfrm>
          <a:prstGeom prst="rect">
            <a:avLst/>
          </a:prstGeom>
          <a:noFill/>
          <a:ln>
            <a:noFill/>
          </a:ln>
        </p:spPr>
      </p:pic>
      <p:sp>
        <p:nvSpPr>
          <p:cNvPr id="9" name="Freeform 6">
            <a:extLst>
              <a:ext uri="{FF2B5EF4-FFF2-40B4-BE49-F238E27FC236}">
                <a16:creationId xmlns:a16="http://schemas.microsoft.com/office/drawing/2014/main" id="{53734196-83EA-42E4-701C-9A1FCF5883B8}"/>
              </a:ext>
            </a:extLst>
          </p:cNvPr>
          <p:cNvSpPr/>
          <p:nvPr/>
        </p:nvSpPr>
        <p:spPr>
          <a:xfrm rot="10800000" flipV="1">
            <a:off x="9891379" y="5574840"/>
            <a:ext cx="6732105" cy="4030848"/>
          </a:xfrm>
          <a:custGeom>
            <a:avLst/>
            <a:gdLst/>
            <a:ahLst/>
            <a:cxnLst/>
            <a:rect l="l" t="t" r="r" b="b"/>
            <a:pathLst>
              <a:path w="6732105" h="4030848">
                <a:moveTo>
                  <a:pt x="0" y="4030848"/>
                </a:moveTo>
                <a:lnTo>
                  <a:pt x="6732105" y="4030848"/>
                </a:lnTo>
                <a:lnTo>
                  <a:pt x="6732105" y="0"/>
                </a:lnTo>
                <a:lnTo>
                  <a:pt x="0" y="0"/>
                </a:lnTo>
                <a:lnTo>
                  <a:pt x="0" y="4030848"/>
                </a:lnTo>
                <a:close/>
              </a:path>
            </a:pathLst>
          </a:custGeom>
          <a:blipFill>
            <a:blip r:embed="rId5"/>
            <a:stretch>
              <a:fillRect/>
            </a:stretch>
          </a:blipFill>
        </p:spPr>
        <p:txBody>
          <a:bodyPr/>
          <a:lstStyle/>
          <a:p>
            <a:endParaRPr lang="en-ID"/>
          </a:p>
        </p:txBody>
      </p:sp>
      <p:sp>
        <p:nvSpPr>
          <p:cNvPr id="11" name="Title 1">
            <a:extLst>
              <a:ext uri="{FF2B5EF4-FFF2-40B4-BE49-F238E27FC236}">
                <a16:creationId xmlns:a16="http://schemas.microsoft.com/office/drawing/2014/main" id="{C273C256-7551-7524-3655-BCC65641A521}"/>
              </a:ext>
            </a:extLst>
          </p:cNvPr>
          <p:cNvSpPr txBox="1">
            <a:spLocks/>
          </p:cNvSpPr>
          <p:nvPr/>
        </p:nvSpPr>
        <p:spPr>
          <a:xfrm>
            <a:off x="11378152" y="6172829"/>
            <a:ext cx="813848" cy="68517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solidFill>
                  <a:schemeClr val="bg1"/>
                </a:solidFill>
                <a:latin typeface="Telegraf Bold" panose="020B0604020202020204"/>
              </a:rPr>
              <a:t>01</a:t>
            </a:r>
            <a:endParaRPr lang="en-ID" dirty="0">
              <a:solidFill>
                <a:schemeClr val="bg1"/>
              </a:solidFill>
              <a:latin typeface="Telegraf Bold" panose="020B0604020202020204"/>
            </a:endParaRPr>
          </a:p>
        </p:txBody>
      </p:sp>
      <p:cxnSp>
        <p:nvCxnSpPr>
          <p:cNvPr id="4" name="Straight Connector 3">
            <a:extLst>
              <a:ext uri="{FF2B5EF4-FFF2-40B4-BE49-F238E27FC236}">
                <a16:creationId xmlns:a16="http://schemas.microsoft.com/office/drawing/2014/main" id="{01BE010B-CB41-1358-D2BB-7E4C03E45D38}"/>
              </a:ext>
            </a:extLst>
          </p:cNvPr>
          <p:cNvCxnSpPr>
            <a:cxnSpLocks/>
          </p:cNvCxnSpPr>
          <p:nvPr/>
        </p:nvCxnSpPr>
        <p:spPr>
          <a:xfrm>
            <a:off x="5037667" y="1986534"/>
            <a:ext cx="18559" cy="4447324"/>
          </a:xfrm>
          <a:prstGeom prst="line">
            <a:avLst/>
          </a:prstGeom>
          <a:noFill/>
          <a:ln w="9525" cap="flat" cmpd="sng" algn="ctr">
            <a:solidFill>
              <a:srgbClr val="4D4D4D">
                <a:lumMod val="40000"/>
                <a:lumOff val="60000"/>
              </a:srgbClr>
            </a:solidFill>
            <a:prstDash val="dash"/>
          </a:ln>
          <a:effectLst/>
        </p:spPr>
      </p:cxnSp>
      <p:cxnSp>
        <p:nvCxnSpPr>
          <p:cNvPr id="5" name="Straight Connector 4">
            <a:extLst>
              <a:ext uri="{FF2B5EF4-FFF2-40B4-BE49-F238E27FC236}">
                <a16:creationId xmlns:a16="http://schemas.microsoft.com/office/drawing/2014/main" id="{F707B91A-2EEE-BD8F-BFF0-72E63F1B27B1}"/>
              </a:ext>
            </a:extLst>
          </p:cNvPr>
          <p:cNvCxnSpPr>
            <a:cxnSpLocks/>
          </p:cNvCxnSpPr>
          <p:nvPr/>
        </p:nvCxnSpPr>
        <p:spPr>
          <a:xfrm>
            <a:off x="7725988" y="1986534"/>
            <a:ext cx="18559" cy="4447324"/>
          </a:xfrm>
          <a:prstGeom prst="line">
            <a:avLst/>
          </a:prstGeom>
          <a:noFill/>
          <a:ln w="9525" cap="flat" cmpd="sng" algn="ctr">
            <a:solidFill>
              <a:srgbClr val="4D4D4D">
                <a:lumMod val="40000"/>
                <a:lumOff val="60000"/>
              </a:srgbClr>
            </a:solidFill>
            <a:prstDash val="dash"/>
          </a:ln>
          <a:effectLst/>
        </p:spPr>
      </p:cxnSp>
      <p:sp>
        <p:nvSpPr>
          <p:cNvPr id="6" name="Rectangle 5">
            <a:extLst>
              <a:ext uri="{FF2B5EF4-FFF2-40B4-BE49-F238E27FC236}">
                <a16:creationId xmlns:a16="http://schemas.microsoft.com/office/drawing/2014/main" id="{BE4EAEAB-35B7-0074-4669-2D7E61F5075A}"/>
              </a:ext>
            </a:extLst>
          </p:cNvPr>
          <p:cNvSpPr/>
          <p:nvPr/>
        </p:nvSpPr>
        <p:spPr>
          <a:xfrm>
            <a:off x="7953971" y="1925789"/>
            <a:ext cx="3322646" cy="3126943"/>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7" name="Rectangle 6">
            <a:extLst>
              <a:ext uri="{FF2B5EF4-FFF2-40B4-BE49-F238E27FC236}">
                <a16:creationId xmlns:a16="http://schemas.microsoft.com/office/drawing/2014/main" id="{D155EAA0-DD12-9D73-091A-8AF831025DB1}"/>
              </a:ext>
            </a:extLst>
          </p:cNvPr>
          <p:cNvSpPr/>
          <p:nvPr/>
        </p:nvSpPr>
        <p:spPr>
          <a:xfrm>
            <a:off x="5174325" y="1925789"/>
            <a:ext cx="2354255" cy="4508069"/>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8" name="Rectangle 7">
            <a:extLst>
              <a:ext uri="{FF2B5EF4-FFF2-40B4-BE49-F238E27FC236}">
                <a16:creationId xmlns:a16="http://schemas.microsoft.com/office/drawing/2014/main" id="{D00DED6D-A1B9-93E2-FC27-52677AC4F598}"/>
              </a:ext>
            </a:extLst>
          </p:cNvPr>
          <p:cNvSpPr/>
          <p:nvPr/>
        </p:nvSpPr>
        <p:spPr>
          <a:xfrm>
            <a:off x="2799118" y="4664758"/>
            <a:ext cx="2034855" cy="1797566"/>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0" name="Rectangle 9">
            <a:extLst>
              <a:ext uri="{FF2B5EF4-FFF2-40B4-BE49-F238E27FC236}">
                <a16:creationId xmlns:a16="http://schemas.microsoft.com/office/drawing/2014/main" id="{C8A1FFFF-E187-E94D-D4F7-958C595CE77B}"/>
              </a:ext>
            </a:extLst>
          </p:cNvPr>
          <p:cNvSpPr/>
          <p:nvPr/>
        </p:nvSpPr>
        <p:spPr>
          <a:xfrm>
            <a:off x="2799118" y="1940872"/>
            <a:ext cx="2034855" cy="2193410"/>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2" name="Rectangle 11">
            <a:extLst>
              <a:ext uri="{FF2B5EF4-FFF2-40B4-BE49-F238E27FC236}">
                <a16:creationId xmlns:a16="http://schemas.microsoft.com/office/drawing/2014/main" id="{92EABF7E-FECF-FC40-84F6-1823AC13D777}"/>
              </a:ext>
            </a:extLst>
          </p:cNvPr>
          <p:cNvSpPr/>
          <p:nvPr/>
        </p:nvSpPr>
        <p:spPr>
          <a:xfrm>
            <a:off x="398773" y="1954255"/>
            <a:ext cx="2034855" cy="4508069"/>
          </a:xfrm>
          <a:prstGeom prst="rect">
            <a:avLst/>
          </a:prstGeom>
          <a:solidFill>
            <a:srgbClr val="EFF5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sp>
        <p:nvSpPr>
          <p:cNvPr id="13" name="Arrow: Right 12">
            <a:extLst>
              <a:ext uri="{FF2B5EF4-FFF2-40B4-BE49-F238E27FC236}">
                <a16:creationId xmlns:a16="http://schemas.microsoft.com/office/drawing/2014/main" id="{27B442EB-342E-938E-B91D-2217B00CE201}"/>
              </a:ext>
            </a:extLst>
          </p:cNvPr>
          <p:cNvSpPr/>
          <p:nvPr/>
        </p:nvSpPr>
        <p:spPr>
          <a:xfrm>
            <a:off x="155962" y="1046375"/>
            <a:ext cx="2479952" cy="309962"/>
          </a:xfrm>
          <a:prstGeom prst="rightArrow">
            <a:avLst>
              <a:gd name="adj1" fmla="val 100000"/>
              <a:gd name="adj2" fmla="val 50000"/>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June 2026</a:t>
            </a:r>
          </a:p>
        </p:txBody>
      </p:sp>
      <p:sp>
        <p:nvSpPr>
          <p:cNvPr id="14" name="Arrow: Chevron 13">
            <a:extLst>
              <a:ext uri="{FF2B5EF4-FFF2-40B4-BE49-F238E27FC236}">
                <a16:creationId xmlns:a16="http://schemas.microsoft.com/office/drawing/2014/main" id="{B2753A8E-6731-B2F8-4B11-A5AD291F6FE9}"/>
              </a:ext>
            </a:extLst>
          </p:cNvPr>
          <p:cNvSpPr/>
          <p:nvPr/>
        </p:nvSpPr>
        <p:spPr>
          <a:xfrm>
            <a:off x="2497330" y="1046376"/>
            <a:ext cx="2620422"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July 2026</a:t>
            </a:r>
          </a:p>
        </p:txBody>
      </p:sp>
      <p:sp>
        <p:nvSpPr>
          <p:cNvPr id="15" name="Arrow: Chevron 14">
            <a:extLst>
              <a:ext uri="{FF2B5EF4-FFF2-40B4-BE49-F238E27FC236}">
                <a16:creationId xmlns:a16="http://schemas.microsoft.com/office/drawing/2014/main" id="{4067F2C6-F29E-6FC1-26F9-61970F1D53C7}"/>
              </a:ext>
            </a:extLst>
          </p:cNvPr>
          <p:cNvSpPr/>
          <p:nvPr/>
        </p:nvSpPr>
        <p:spPr>
          <a:xfrm>
            <a:off x="4977282" y="1046376"/>
            <a:ext cx="2712854"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August 2026</a:t>
            </a:r>
          </a:p>
        </p:txBody>
      </p:sp>
      <p:sp>
        <p:nvSpPr>
          <p:cNvPr id="16" name="Arrow: Chevron 15">
            <a:extLst>
              <a:ext uri="{FF2B5EF4-FFF2-40B4-BE49-F238E27FC236}">
                <a16:creationId xmlns:a16="http://schemas.microsoft.com/office/drawing/2014/main" id="{4BF7E698-E0B4-57D3-68B6-729135B51770}"/>
              </a:ext>
            </a:extLst>
          </p:cNvPr>
          <p:cNvSpPr/>
          <p:nvPr/>
        </p:nvSpPr>
        <p:spPr>
          <a:xfrm>
            <a:off x="7554428" y="1046376"/>
            <a:ext cx="2180409"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September 2026</a:t>
            </a:r>
          </a:p>
        </p:txBody>
      </p:sp>
      <p:sp>
        <p:nvSpPr>
          <p:cNvPr id="17" name="Arrow: Chevron 16">
            <a:extLst>
              <a:ext uri="{FF2B5EF4-FFF2-40B4-BE49-F238E27FC236}">
                <a16:creationId xmlns:a16="http://schemas.microsoft.com/office/drawing/2014/main" id="{4C587562-3402-E595-ECFB-AEEF16D9A42B}"/>
              </a:ext>
            </a:extLst>
          </p:cNvPr>
          <p:cNvSpPr/>
          <p:nvPr/>
        </p:nvSpPr>
        <p:spPr>
          <a:xfrm>
            <a:off x="9601503" y="1046376"/>
            <a:ext cx="1840408" cy="309961"/>
          </a:xfrm>
          <a:prstGeom prst="chevron">
            <a:avLst/>
          </a:prstGeom>
          <a:solidFill>
            <a:srgbClr val="002060"/>
          </a:solidFill>
          <a:ln w="10795" cap="flat" cmpd="sng" algn="ctr">
            <a:noFill/>
            <a:prstDash val="solid"/>
          </a:ln>
          <a:effectLst/>
        </p:spPr>
        <p:txBody>
          <a:bodyPr lIns="0" tIns="0" rIns="0" bIns="0" rtlCol="0" anchor="ctr"/>
          <a:lstStyle/>
          <a:p>
            <a:pPr algn="ctr"/>
            <a:r>
              <a:rPr lang="en-US" sz="1400" kern="0" dirty="0">
                <a:solidFill>
                  <a:srgbClr val="FFFFFF"/>
                </a:solidFill>
                <a:latin typeface="Telegraf"/>
                <a:cs typeface="Helvetica" panose="020B0604020202020204" pitchFamily="34" charset="0"/>
              </a:rPr>
              <a:t>October 2026</a:t>
            </a:r>
          </a:p>
        </p:txBody>
      </p:sp>
      <p:sp>
        <p:nvSpPr>
          <p:cNvPr id="18" name="Rectangle: Rounded Corners 17">
            <a:extLst>
              <a:ext uri="{FF2B5EF4-FFF2-40B4-BE49-F238E27FC236}">
                <a16:creationId xmlns:a16="http://schemas.microsoft.com/office/drawing/2014/main" id="{A32B562D-AC94-8463-B593-58E4AF441ED4}"/>
              </a:ext>
            </a:extLst>
          </p:cNvPr>
          <p:cNvSpPr/>
          <p:nvPr/>
        </p:nvSpPr>
        <p:spPr>
          <a:xfrm>
            <a:off x="533895" y="2033235"/>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VBWO submission</a:t>
            </a:r>
          </a:p>
        </p:txBody>
      </p:sp>
      <p:sp>
        <p:nvSpPr>
          <p:cNvPr id="19" name="Rectangle: Rounded Corners 18">
            <a:extLst>
              <a:ext uri="{FF2B5EF4-FFF2-40B4-BE49-F238E27FC236}">
                <a16:creationId xmlns:a16="http://schemas.microsoft.com/office/drawing/2014/main" id="{18A50239-4B21-E352-4527-432F1BF000DA}"/>
              </a:ext>
            </a:extLst>
          </p:cNvPr>
          <p:cNvSpPr/>
          <p:nvPr/>
        </p:nvSpPr>
        <p:spPr>
          <a:xfrm>
            <a:off x="533895" y="2770498"/>
            <a:ext cx="1762406" cy="421536"/>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Gate 1 sanction</a:t>
            </a:r>
          </a:p>
        </p:txBody>
      </p:sp>
      <p:sp>
        <p:nvSpPr>
          <p:cNvPr id="20" name="Rectangle: Rounded Corners 19">
            <a:extLst>
              <a:ext uri="{FF2B5EF4-FFF2-40B4-BE49-F238E27FC236}">
                <a16:creationId xmlns:a16="http://schemas.microsoft.com/office/drawing/2014/main" id="{4F4CFCA2-0547-D2FB-BFA9-5F5D4ED2D2F2}"/>
              </a:ext>
            </a:extLst>
          </p:cNvPr>
          <p:cNvSpPr/>
          <p:nvPr/>
        </p:nvSpPr>
        <p:spPr>
          <a:xfrm>
            <a:off x="731303" y="245477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Internal Review</a:t>
            </a:r>
          </a:p>
        </p:txBody>
      </p:sp>
      <p:sp>
        <p:nvSpPr>
          <p:cNvPr id="21" name="Rectangle: Rounded Corners 20">
            <a:extLst>
              <a:ext uri="{FF2B5EF4-FFF2-40B4-BE49-F238E27FC236}">
                <a16:creationId xmlns:a16="http://schemas.microsoft.com/office/drawing/2014/main" id="{7AB7C983-707A-2079-09B6-237FF5D68E29}"/>
              </a:ext>
            </a:extLst>
          </p:cNvPr>
          <p:cNvSpPr/>
          <p:nvPr/>
        </p:nvSpPr>
        <p:spPr>
          <a:xfrm>
            <a:off x="731303" y="3184129"/>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Mgmt approval</a:t>
            </a:r>
          </a:p>
        </p:txBody>
      </p:sp>
      <p:sp>
        <p:nvSpPr>
          <p:cNvPr id="22" name="Rectangle: Rounded Corners 21">
            <a:extLst>
              <a:ext uri="{FF2B5EF4-FFF2-40B4-BE49-F238E27FC236}">
                <a16:creationId xmlns:a16="http://schemas.microsoft.com/office/drawing/2014/main" id="{7ED388ED-E7F2-8321-90AD-18872F561A21}"/>
              </a:ext>
            </a:extLst>
          </p:cNvPr>
          <p:cNvSpPr/>
          <p:nvPr/>
        </p:nvSpPr>
        <p:spPr>
          <a:xfrm>
            <a:off x="533895" y="3507761"/>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AFE Authorization</a:t>
            </a:r>
          </a:p>
        </p:txBody>
      </p:sp>
      <p:sp>
        <p:nvSpPr>
          <p:cNvPr id="23" name="Rectangle: Rounded Corners 22">
            <a:extLst>
              <a:ext uri="{FF2B5EF4-FFF2-40B4-BE49-F238E27FC236}">
                <a16:creationId xmlns:a16="http://schemas.microsoft.com/office/drawing/2014/main" id="{68A61733-A512-F6C5-D0C3-A779DFC66C6B}"/>
              </a:ext>
            </a:extLst>
          </p:cNvPr>
          <p:cNvSpPr/>
          <p:nvPr/>
        </p:nvSpPr>
        <p:spPr>
          <a:xfrm>
            <a:off x="731303" y="3921392"/>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Cost code issuance</a:t>
            </a:r>
          </a:p>
        </p:txBody>
      </p:sp>
      <p:sp>
        <p:nvSpPr>
          <p:cNvPr id="24" name="Rectangle: Rounded Corners 23">
            <a:extLst>
              <a:ext uri="{FF2B5EF4-FFF2-40B4-BE49-F238E27FC236}">
                <a16:creationId xmlns:a16="http://schemas.microsoft.com/office/drawing/2014/main" id="{610825B9-F265-BFED-C936-77784509D513}"/>
              </a:ext>
            </a:extLst>
          </p:cNvPr>
          <p:cNvSpPr/>
          <p:nvPr/>
        </p:nvSpPr>
        <p:spPr>
          <a:xfrm>
            <a:off x="2890678" y="2033235"/>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BOD finalization</a:t>
            </a:r>
          </a:p>
        </p:txBody>
      </p:sp>
      <p:sp>
        <p:nvSpPr>
          <p:cNvPr id="25" name="Rectangle: Rounded Corners 24">
            <a:extLst>
              <a:ext uri="{FF2B5EF4-FFF2-40B4-BE49-F238E27FC236}">
                <a16:creationId xmlns:a16="http://schemas.microsoft.com/office/drawing/2014/main" id="{FE64A84E-8DEE-7599-B8F2-32BDAC3E2BED}"/>
              </a:ext>
            </a:extLst>
          </p:cNvPr>
          <p:cNvSpPr/>
          <p:nvPr/>
        </p:nvSpPr>
        <p:spPr>
          <a:xfrm>
            <a:off x="3088086" y="2290907"/>
            <a:ext cx="1661184" cy="1638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Trajectory, casing, mud</a:t>
            </a:r>
          </a:p>
        </p:txBody>
      </p:sp>
      <p:sp>
        <p:nvSpPr>
          <p:cNvPr id="26" name="Rectangle: Rounded Corners 25">
            <a:extLst>
              <a:ext uri="{FF2B5EF4-FFF2-40B4-BE49-F238E27FC236}">
                <a16:creationId xmlns:a16="http://schemas.microsoft.com/office/drawing/2014/main" id="{EA793EBE-1E4A-304D-9841-526DFEC0B534}"/>
              </a:ext>
            </a:extLst>
          </p:cNvPr>
          <p:cNvSpPr/>
          <p:nvPr/>
        </p:nvSpPr>
        <p:spPr>
          <a:xfrm>
            <a:off x="2881209" y="2534743"/>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Directional plan</a:t>
            </a:r>
          </a:p>
        </p:txBody>
      </p:sp>
      <p:sp>
        <p:nvSpPr>
          <p:cNvPr id="27" name="Rectangle: Rounded Corners 26">
            <a:extLst>
              <a:ext uri="{FF2B5EF4-FFF2-40B4-BE49-F238E27FC236}">
                <a16:creationId xmlns:a16="http://schemas.microsoft.com/office/drawing/2014/main" id="{709C9A5A-3154-F6CE-10BC-C3C64F8A6B25}"/>
              </a:ext>
            </a:extLst>
          </p:cNvPr>
          <p:cNvSpPr/>
          <p:nvPr/>
        </p:nvSpPr>
        <p:spPr>
          <a:xfrm>
            <a:off x="3078617" y="2791653"/>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Anti-collision check</a:t>
            </a:r>
          </a:p>
        </p:txBody>
      </p:sp>
      <p:sp>
        <p:nvSpPr>
          <p:cNvPr id="28" name="Rectangle: Rounded Corners 27">
            <a:extLst>
              <a:ext uri="{FF2B5EF4-FFF2-40B4-BE49-F238E27FC236}">
                <a16:creationId xmlns:a16="http://schemas.microsoft.com/office/drawing/2014/main" id="{0DE87D41-82B8-1368-B710-DB79527C3CC0}"/>
              </a:ext>
            </a:extLst>
          </p:cNvPr>
          <p:cNvSpPr/>
          <p:nvPr/>
        </p:nvSpPr>
        <p:spPr>
          <a:xfrm>
            <a:off x="2881209" y="3051212"/>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ESP spec &amp; order</a:t>
            </a:r>
          </a:p>
        </p:txBody>
      </p:sp>
      <p:sp>
        <p:nvSpPr>
          <p:cNvPr id="29" name="Rectangle: Rounded Corners 28">
            <a:extLst>
              <a:ext uri="{FF2B5EF4-FFF2-40B4-BE49-F238E27FC236}">
                <a16:creationId xmlns:a16="http://schemas.microsoft.com/office/drawing/2014/main" id="{D46DA3F3-2763-6741-FD51-7C4D32B31DEE}"/>
              </a:ext>
            </a:extLst>
          </p:cNvPr>
          <p:cNvSpPr/>
          <p:nvPr/>
        </p:nvSpPr>
        <p:spPr>
          <a:xfrm>
            <a:off x="3078617" y="3317045"/>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Manufacturing auth.</a:t>
            </a:r>
          </a:p>
        </p:txBody>
      </p:sp>
      <p:sp>
        <p:nvSpPr>
          <p:cNvPr id="30" name="Rectangle: Rounded Corners 29">
            <a:extLst>
              <a:ext uri="{FF2B5EF4-FFF2-40B4-BE49-F238E27FC236}">
                <a16:creationId xmlns:a16="http://schemas.microsoft.com/office/drawing/2014/main" id="{05BA4319-35CF-AC97-9DC8-3DE33350D992}"/>
              </a:ext>
            </a:extLst>
          </p:cNvPr>
          <p:cNvSpPr/>
          <p:nvPr/>
        </p:nvSpPr>
        <p:spPr>
          <a:xfrm>
            <a:off x="2881209" y="3598909"/>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LLI Procurement</a:t>
            </a:r>
          </a:p>
        </p:txBody>
      </p:sp>
      <p:sp>
        <p:nvSpPr>
          <p:cNvPr id="31" name="Rectangle: Rounded Corners 30">
            <a:extLst>
              <a:ext uri="{FF2B5EF4-FFF2-40B4-BE49-F238E27FC236}">
                <a16:creationId xmlns:a16="http://schemas.microsoft.com/office/drawing/2014/main" id="{F99DDCFE-8A82-94E3-3577-B168BFB23BDD}"/>
              </a:ext>
            </a:extLst>
          </p:cNvPr>
          <p:cNvSpPr/>
          <p:nvPr/>
        </p:nvSpPr>
        <p:spPr>
          <a:xfrm>
            <a:off x="3078617" y="3864742"/>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Casing, tubing, wellhead</a:t>
            </a:r>
          </a:p>
        </p:txBody>
      </p:sp>
      <p:sp>
        <p:nvSpPr>
          <p:cNvPr id="32" name="Rectangle: Rounded Corners 31">
            <a:extLst>
              <a:ext uri="{FF2B5EF4-FFF2-40B4-BE49-F238E27FC236}">
                <a16:creationId xmlns:a16="http://schemas.microsoft.com/office/drawing/2014/main" id="{38E60512-584E-0360-18CE-6EC5BB44B0CB}"/>
              </a:ext>
            </a:extLst>
          </p:cNvPr>
          <p:cNvSpPr/>
          <p:nvPr/>
        </p:nvSpPr>
        <p:spPr>
          <a:xfrm>
            <a:off x="2890678" y="4786899"/>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PTD submission</a:t>
            </a:r>
          </a:p>
        </p:txBody>
      </p:sp>
      <p:sp>
        <p:nvSpPr>
          <p:cNvPr id="33" name="Rectangle: Rounded Corners 32">
            <a:extLst>
              <a:ext uri="{FF2B5EF4-FFF2-40B4-BE49-F238E27FC236}">
                <a16:creationId xmlns:a16="http://schemas.microsoft.com/office/drawing/2014/main" id="{1F12F708-E5CB-E613-E632-6857EEF87776}"/>
              </a:ext>
            </a:extLst>
          </p:cNvPr>
          <p:cNvSpPr/>
          <p:nvPr/>
        </p:nvSpPr>
        <p:spPr>
          <a:xfrm>
            <a:off x="3088086" y="5044571"/>
            <a:ext cx="1661184" cy="163864"/>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SKK Migas application</a:t>
            </a:r>
          </a:p>
        </p:txBody>
      </p:sp>
      <p:sp>
        <p:nvSpPr>
          <p:cNvPr id="34" name="Rectangle: Rounded Corners 33">
            <a:extLst>
              <a:ext uri="{FF2B5EF4-FFF2-40B4-BE49-F238E27FC236}">
                <a16:creationId xmlns:a16="http://schemas.microsoft.com/office/drawing/2014/main" id="{1C4163A1-2891-453D-D5E9-FCA5C11D2E84}"/>
              </a:ext>
            </a:extLst>
          </p:cNvPr>
          <p:cNvSpPr/>
          <p:nvPr/>
        </p:nvSpPr>
        <p:spPr>
          <a:xfrm>
            <a:off x="2881209" y="5290977"/>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Env. permit confirm</a:t>
            </a:r>
          </a:p>
        </p:txBody>
      </p:sp>
      <p:sp>
        <p:nvSpPr>
          <p:cNvPr id="36" name="Rectangle: Rounded Corners 35">
            <a:extLst>
              <a:ext uri="{FF2B5EF4-FFF2-40B4-BE49-F238E27FC236}">
                <a16:creationId xmlns:a16="http://schemas.microsoft.com/office/drawing/2014/main" id="{E389CA3C-E8B1-4B13-DCAA-ECF0AA01720C}"/>
              </a:ext>
            </a:extLst>
          </p:cNvPr>
          <p:cNvSpPr/>
          <p:nvPr/>
        </p:nvSpPr>
        <p:spPr>
          <a:xfrm>
            <a:off x="3078617" y="5547887"/>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AMDAL / UKL-UPL</a:t>
            </a:r>
          </a:p>
        </p:txBody>
      </p:sp>
      <p:sp>
        <p:nvSpPr>
          <p:cNvPr id="38" name="Rectangle: Rounded Corners 37">
            <a:extLst>
              <a:ext uri="{FF2B5EF4-FFF2-40B4-BE49-F238E27FC236}">
                <a16:creationId xmlns:a16="http://schemas.microsoft.com/office/drawing/2014/main" id="{B64BC514-9357-74E7-66DC-B52762086819}"/>
              </a:ext>
            </a:extLst>
          </p:cNvPr>
          <p:cNvSpPr/>
          <p:nvPr/>
        </p:nvSpPr>
        <p:spPr>
          <a:xfrm>
            <a:off x="2881209" y="5795055"/>
            <a:ext cx="1870726" cy="265833"/>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Land clearance</a:t>
            </a:r>
          </a:p>
        </p:txBody>
      </p:sp>
      <p:sp>
        <p:nvSpPr>
          <p:cNvPr id="39" name="Rectangle: Rounded Corners 38">
            <a:extLst>
              <a:ext uri="{FF2B5EF4-FFF2-40B4-BE49-F238E27FC236}">
                <a16:creationId xmlns:a16="http://schemas.microsoft.com/office/drawing/2014/main" id="{DB22A981-360A-61F6-29A0-59C3347BEACD}"/>
              </a:ext>
            </a:extLst>
          </p:cNvPr>
          <p:cNvSpPr/>
          <p:nvPr/>
        </p:nvSpPr>
        <p:spPr>
          <a:xfrm>
            <a:off x="3078617" y="6060888"/>
            <a:ext cx="1661184" cy="167196"/>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LI / LER completion</a:t>
            </a:r>
          </a:p>
        </p:txBody>
      </p:sp>
      <p:sp>
        <p:nvSpPr>
          <p:cNvPr id="40" name="Rectangle: Rounded Corners 39">
            <a:extLst>
              <a:ext uri="{FF2B5EF4-FFF2-40B4-BE49-F238E27FC236}">
                <a16:creationId xmlns:a16="http://schemas.microsoft.com/office/drawing/2014/main" id="{59C82469-8EA9-C882-EF3C-C55630D25C8E}"/>
              </a:ext>
            </a:extLst>
          </p:cNvPr>
          <p:cNvSpPr/>
          <p:nvPr/>
        </p:nvSpPr>
        <p:spPr>
          <a:xfrm>
            <a:off x="5472690" y="2033235"/>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Rig confirmation</a:t>
            </a:r>
          </a:p>
        </p:txBody>
      </p:sp>
      <p:sp>
        <p:nvSpPr>
          <p:cNvPr id="41" name="Rectangle: Rounded Corners 40">
            <a:extLst>
              <a:ext uri="{FF2B5EF4-FFF2-40B4-BE49-F238E27FC236}">
                <a16:creationId xmlns:a16="http://schemas.microsoft.com/office/drawing/2014/main" id="{822430A7-B60F-86C0-FDD7-9B2FBFA6F139}"/>
              </a:ext>
            </a:extLst>
          </p:cNvPr>
          <p:cNvSpPr/>
          <p:nvPr/>
        </p:nvSpPr>
        <p:spPr>
          <a:xfrm>
            <a:off x="5472690" y="2770498"/>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Tender launch</a:t>
            </a:r>
          </a:p>
        </p:txBody>
      </p:sp>
      <p:sp>
        <p:nvSpPr>
          <p:cNvPr id="42" name="Rectangle: Rounded Corners 41">
            <a:extLst>
              <a:ext uri="{FF2B5EF4-FFF2-40B4-BE49-F238E27FC236}">
                <a16:creationId xmlns:a16="http://schemas.microsoft.com/office/drawing/2014/main" id="{59CB4D6C-6E1B-73DD-59E6-9FB4CB6D7AD4}"/>
              </a:ext>
            </a:extLst>
          </p:cNvPr>
          <p:cNvSpPr/>
          <p:nvPr/>
        </p:nvSpPr>
        <p:spPr>
          <a:xfrm>
            <a:off x="5670098" y="245477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bg1"/>
                </a:solidFill>
                <a:latin typeface="Telegraf"/>
                <a:cs typeface="Helvetica" panose="020B0604020202020204" pitchFamily="34" charset="0"/>
              </a:rPr>
              <a:t>Availability commitment</a:t>
            </a:r>
          </a:p>
        </p:txBody>
      </p:sp>
      <p:sp>
        <p:nvSpPr>
          <p:cNvPr id="43" name="Rectangle: Rounded Corners 42">
            <a:extLst>
              <a:ext uri="{FF2B5EF4-FFF2-40B4-BE49-F238E27FC236}">
                <a16:creationId xmlns:a16="http://schemas.microsoft.com/office/drawing/2014/main" id="{EDA596DD-549C-3CAC-4A72-822FB995C648}"/>
              </a:ext>
            </a:extLst>
          </p:cNvPr>
          <p:cNvSpPr/>
          <p:nvPr/>
        </p:nvSpPr>
        <p:spPr>
          <a:xfrm>
            <a:off x="5670098" y="3184129"/>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b="1" dirty="0">
                <a:solidFill>
                  <a:schemeClr val="bg1"/>
                </a:solidFill>
                <a:latin typeface="Telegraf"/>
                <a:cs typeface="Helvetica" panose="020B0604020202020204" pitchFamily="34" charset="0"/>
              </a:rPr>
              <a:t>Logging, cement, wireline</a:t>
            </a:r>
          </a:p>
        </p:txBody>
      </p:sp>
      <p:sp>
        <p:nvSpPr>
          <p:cNvPr id="44" name="Rectangle: Rounded Corners 43">
            <a:extLst>
              <a:ext uri="{FF2B5EF4-FFF2-40B4-BE49-F238E27FC236}">
                <a16:creationId xmlns:a16="http://schemas.microsoft.com/office/drawing/2014/main" id="{7E0F2FC4-437A-CCB2-0D55-B49D4C4E263B}"/>
              </a:ext>
            </a:extLst>
          </p:cNvPr>
          <p:cNvSpPr/>
          <p:nvPr/>
        </p:nvSpPr>
        <p:spPr>
          <a:xfrm>
            <a:off x="5472690" y="3507761"/>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PTD approval</a:t>
            </a:r>
          </a:p>
        </p:txBody>
      </p:sp>
      <p:sp>
        <p:nvSpPr>
          <p:cNvPr id="45" name="Rectangle: Rounded Corners 44">
            <a:extLst>
              <a:ext uri="{FF2B5EF4-FFF2-40B4-BE49-F238E27FC236}">
                <a16:creationId xmlns:a16="http://schemas.microsoft.com/office/drawing/2014/main" id="{FE7B6F77-6284-16B5-FA8C-D2B416D45048}"/>
              </a:ext>
            </a:extLst>
          </p:cNvPr>
          <p:cNvSpPr/>
          <p:nvPr/>
        </p:nvSpPr>
        <p:spPr>
          <a:xfrm>
            <a:off x="5670098" y="3921392"/>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Receipt from SKK Migas</a:t>
            </a:r>
          </a:p>
        </p:txBody>
      </p:sp>
      <p:sp>
        <p:nvSpPr>
          <p:cNvPr id="46" name="Rectangle: Rounded Corners 45">
            <a:extLst>
              <a:ext uri="{FF2B5EF4-FFF2-40B4-BE49-F238E27FC236}">
                <a16:creationId xmlns:a16="http://schemas.microsoft.com/office/drawing/2014/main" id="{2A5872E6-4BC3-3DBD-1C56-2456BFBB2076}"/>
              </a:ext>
            </a:extLst>
          </p:cNvPr>
          <p:cNvSpPr/>
          <p:nvPr/>
        </p:nvSpPr>
        <p:spPr>
          <a:xfrm>
            <a:off x="5472690" y="4286937"/>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Contract award</a:t>
            </a:r>
          </a:p>
        </p:txBody>
      </p:sp>
      <p:sp>
        <p:nvSpPr>
          <p:cNvPr id="47" name="Rectangle: Rounded Corners 46">
            <a:extLst>
              <a:ext uri="{FF2B5EF4-FFF2-40B4-BE49-F238E27FC236}">
                <a16:creationId xmlns:a16="http://schemas.microsoft.com/office/drawing/2014/main" id="{C6577661-D94B-A8FE-FDD3-F7000FF6AB1F}"/>
              </a:ext>
            </a:extLst>
          </p:cNvPr>
          <p:cNvSpPr/>
          <p:nvPr/>
        </p:nvSpPr>
        <p:spPr>
          <a:xfrm>
            <a:off x="5472690" y="5024200"/>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Site preparation</a:t>
            </a:r>
          </a:p>
        </p:txBody>
      </p:sp>
      <p:sp>
        <p:nvSpPr>
          <p:cNvPr id="48" name="Rectangle: Rounded Corners 47">
            <a:extLst>
              <a:ext uri="{FF2B5EF4-FFF2-40B4-BE49-F238E27FC236}">
                <a16:creationId xmlns:a16="http://schemas.microsoft.com/office/drawing/2014/main" id="{0B53413B-6501-A8B9-535C-2EDE794A52CC}"/>
              </a:ext>
            </a:extLst>
          </p:cNvPr>
          <p:cNvSpPr/>
          <p:nvPr/>
        </p:nvSpPr>
        <p:spPr>
          <a:xfrm>
            <a:off x="5670098" y="4708473"/>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latin typeface="Telegraf"/>
                <a:cs typeface="Helvetica" panose="020B0604020202020204" pitchFamily="34" charset="0"/>
              </a:rPr>
              <a:t>All key contractors</a:t>
            </a:r>
          </a:p>
        </p:txBody>
      </p:sp>
      <p:sp>
        <p:nvSpPr>
          <p:cNvPr id="49" name="Rectangle: Rounded Corners 48">
            <a:extLst>
              <a:ext uri="{FF2B5EF4-FFF2-40B4-BE49-F238E27FC236}">
                <a16:creationId xmlns:a16="http://schemas.microsoft.com/office/drawing/2014/main" id="{A6DE8332-4055-7939-5435-3A9D6EEB90C0}"/>
              </a:ext>
            </a:extLst>
          </p:cNvPr>
          <p:cNvSpPr/>
          <p:nvPr/>
        </p:nvSpPr>
        <p:spPr>
          <a:xfrm>
            <a:off x="5670098" y="5437831"/>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err="1">
                <a:solidFill>
                  <a:schemeClr val="bg1"/>
                </a:solidFill>
                <a:latin typeface="Telegraf"/>
                <a:cs typeface="Helvetica" panose="020B0604020202020204" pitchFamily="34" charset="0"/>
              </a:rPr>
              <a:t>Wellpad</a:t>
            </a:r>
            <a:r>
              <a:rPr lang="en-US" sz="1100" b="1" dirty="0">
                <a:solidFill>
                  <a:schemeClr val="bg1"/>
                </a:solidFill>
                <a:latin typeface="Telegraf"/>
                <a:cs typeface="Helvetica" panose="020B0604020202020204" pitchFamily="34" charset="0"/>
              </a:rPr>
              <a:t>, access road</a:t>
            </a:r>
          </a:p>
        </p:txBody>
      </p:sp>
      <p:sp>
        <p:nvSpPr>
          <p:cNvPr id="50" name="Rectangle: Rounded Corners 49">
            <a:extLst>
              <a:ext uri="{FF2B5EF4-FFF2-40B4-BE49-F238E27FC236}">
                <a16:creationId xmlns:a16="http://schemas.microsoft.com/office/drawing/2014/main" id="{87AC325F-037E-70C6-CE3A-F033E43E78E6}"/>
              </a:ext>
            </a:extLst>
          </p:cNvPr>
          <p:cNvSpPr/>
          <p:nvPr/>
        </p:nvSpPr>
        <p:spPr>
          <a:xfrm>
            <a:off x="5472690" y="5761463"/>
            <a:ext cx="1762406"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LLI delivery confirm</a:t>
            </a:r>
          </a:p>
        </p:txBody>
      </p:sp>
      <p:sp>
        <p:nvSpPr>
          <p:cNvPr id="51" name="Rectangle: Rounded Corners 50">
            <a:extLst>
              <a:ext uri="{FF2B5EF4-FFF2-40B4-BE49-F238E27FC236}">
                <a16:creationId xmlns:a16="http://schemas.microsoft.com/office/drawing/2014/main" id="{0B28CE23-3E1E-CDD5-1C88-7FCBC7AFFD7D}"/>
              </a:ext>
            </a:extLst>
          </p:cNvPr>
          <p:cNvSpPr/>
          <p:nvPr/>
        </p:nvSpPr>
        <p:spPr>
          <a:xfrm>
            <a:off x="5670098" y="6175094"/>
            <a:ext cx="1564997"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dirty="0">
                <a:solidFill>
                  <a:schemeClr val="bg1"/>
                </a:solidFill>
                <a:latin typeface="Telegraf"/>
                <a:cs typeface="Helvetica" panose="020B0604020202020204" pitchFamily="34" charset="0"/>
              </a:rPr>
              <a:t>Casing, tubing to yard</a:t>
            </a:r>
          </a:p>
        </p:txBody>
      </p:sp>
      <p:sp>
        <p:nvSpPr>
          <p:cNvPr id="52" name="Rectangle: Rounded Corners 51">
            <a:extLst>
              <a:ext uri="{FF2B5EF4-FFF2-40B4-BE49-F238E27FC236}">
                <a16:creationId xmlns:a16="http://schemas.microsoft.com/office/drawing/2014/main" id="{1CB1AAB1-3C9E-9694-9A68-ACEB77B6443C}"/>
              </a:ext>
            </a:extLst>
          </p:cNvPr>
          <p:cNvSpPr/>
          <p:nvPr/>
        </p:nvSpPr>
        <p:spPr>
          <a:xfrm>
            <a:off x="8580975" y="2033235"/>
            <a:ext cx="2066903" cy="421536"/>
          </a:xfrm>
          <a:prstGeom prst="round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Gate 2 sign-off</a:t>
            </a:r>
          </a:p>
        </p:txBody>
      </p:sp>
      <p:sp>
        <p:nvSpPr>
          <p:cNvPr id="53" name="Rectangle: Rounded Corners 52">
            <a:extLst>
              <a:ext uri="{FF2B5EF4-FFF2-40B4-BE49-F238E27FC236}">
                <a16:creationId xmlns:a16="http://schemas.microsoft.com/office/drawing/2014/main" id="{0E8FDACB-CCD6-16B7-8AAE-E7D8CE6B10EF}"/>
              </a:ext>
            </a:extLst>
          </p:cNvPr>
          <p:cNvSpPr/>
          <p:nvPr/>
        </p:nvSpPr>
        <p:spPr>
          <a:xfrm>
            <a:off x="8580975" y="2770498"/>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Pre-spud meeting</a:t>
            </a:r>
          </a:p>
        </p:txBody>
      </p:sp>
      <p:sp>
        <p:nvSpPr>
          <p:cNvPr id="54" name="Rectangle: Rounded Corners 53">
            <a:extLst>
              <a:ext uri="{FF2B5EF4-FFF2-40B4-BE49-F238E27FC236}">
                <a16:creationId xmlns:a16="http://schemas.microsoft.com/office/drawing/2014/main" id="{8DCE1905-C4A2-B60A-7E43-A39D816C5054}"/>
              </a:ext>
            </a:extLst>
          </p:cNvPr>
          <p:cNvSpPr/>
          <p:nvPr/>
        </p:nvSpPr>
        <p:spPr>
          <a:xfrm>
            <a:off x="8778384" y="2454771"/>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All BOD &amp; permits closed</a:t>
            </a:r>
          </a:p>
        </p:txBody>
      </p:sp>
      <p:sp>
        <p:nvSpPr>
          <p:cNvPr id="55" name="Rectangle: Rounded Corners 54">
            <a:extLst>
              <a:ext uri="{FF2B5EF4-FFF2-40B4-BE49-F238E27FC236}">
                <a16:creationId xmlns:a16="http://schemas.microsoft.com/office/drawing/2014/main" id="{09FFE94E-2E81-2039-6C38-133D0E381684}"/>
              </a:ext>
            </a:extLst>
          </p:cNvPr>
          <p:cNvSpPr/>
          <p:nvPr/>
        </p:nvSpPr>
        <p:spPr>
          <a:xfrm>
            <a:off x="8778384" y="3184129"/>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All contractors, HSE, PMT</a:t>
            </a:r>
          </a:p>
        </p:txBody>
      </p:sp>
      <p:sp>
        <p:nvSpPr>
          <p:cNvPr id="56" name="Rectangle: Rounded Corners 55">
            <a:extLst>
              <a:ext uri="{FF2B5EF4-FFF2-40B4-BE49-F238E27FC236}">
                <a16:creationId xmlns:a16="http://schemas.microsoft.com/office/drawing/2014/main" id="{546CD309-6CE6-4E90-9B5B-2C2922FE77BB}"/>
              </a:ext>
            </a:extLst>
          </p:cNvPr>
          <p:cNvSpPr/>
          <p:nvPr/>
        </p:nvSpPr>
        <p:spPr>
          <a:xfrm>
            <a:off x="8580975" y="3507761"/>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Rig mobilization</a:t>
            </a:r>
          </a:p>
        </p:txBody>
      </p:sp>
      <p:sp>
        <p:nvSpPr>
          <p:cNvPr id="57" name="Rectangle: Rounded Corners 56">
            <a:extLst>
              <a:ext uri="{FF2B5EF4-FFF2-40B4-BE49-F238E27FC236}">
                <a16:creationId xmlns:a16="http://schemas.microsoft.com/office/drawing/2014/main" id="{D08161AE-60E7-EA7B-B60C-4668E268A2B8}"/>
              </a:ext>
            </a:extLst>
          </p:cNvPr>
          <p:cNvSpPr/>
          <p:nvPr/>
        </p:nvSpPr>
        <p:spPr>
          <a:xfrm>
            <a:off x="8778384" y="3921392"/>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Move &amp; rig-up completion</a:t>
            </a:r>
          </a:p>
        </p:txBody>
      </p:sp>
      <p:sp>
        <p:nvSpPr>
          <p:cNvPr id="58" name="Rectangle: Rounded Corners 57">
            <a:extLst>
              <a:ext uri="{FF2B5EF4-FFF2-40B4-BE49-F238E27FC236}">
                <a16:creationId xmlns:a16="http://schemas.microsoft.com/office/drawing/2014/main" id="{4ED202F9-068E-A353-E7A5-130E6BC0E8DC}"/>
              </a:ext>
            </a:extLst>
          </p:cNvPr>
          <p:cNvSpPr/>
          <p:nvPr/>
        </p:nvSpPr>
        <p:spPr>
          <a:xfrm>
            <a:off x="8580975" y="4286937"/>
            <a:ext cx="2066903"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BOP test &amp; cert.</a:t>
            </a:r>
          </a:p>
        </p:txBody>
      </p:sp>
      <p:sp>
        <p:nvSpPr>
          <p:cNvPr id="59" name="Rectangle: Rounded Corners 58">
            <a:extLst>
              <a:ext uri="{FF2B5EF4-FFF2-40B4-BE49-F238E27FC236}">
                <a16:creationId xmlns:a16="http://schemas.microsoft.com/office/drawing/2014/main" id="{5066CE82-DFFE-7887-8E98-26D5B0F8C675}"/>
              </a:ext>
            </a:extLst>
          </p:cNvPr>
          <p:cNvSpPr/>
          <p:nvPr/>
        </p:nvSpPr>
        <p:spPr>
          <a:xfrm>
            <a:off x="8778384" y="4708473"/>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Function &amp; pressure test</a:t>
            </a:r>
          </a:p>
        </p:txBody>
      </p:sp>
      <p:sp>
        <p:nvSpPr>
          <p:cNvPr id="60" name="Arrow: Right 59">
            <a:extLst>
              <a:ext uri="{FF2B5EF4-FFF2-40B4-BE49-F238E27FC236}">
                <a16:creationId xmlns:a16="http://schemas.microsoft.com/office/drawing/2014/main" id="{20EAA2E0-AF95-0019-AD73-ADB8D53DFAF2}"/>
              </a:ext>
            </a:extLst>
          </p:cNvPr>
          <p:cNvSpPr/>
          <p:nvPr/>
        </p:nvSpPr>
        <p:spPr>
          <a:xfrm>
            <a:off x="155962" y="1522935"/>
            <a:ext cx="2479952" cy="431320"/>
          </a:xfrm>
          <a:prstGeom prst="rightArrow">
            <a:avLst>
              <a:gd name="adj1" fmla="val 100000"/>
              <a:gd name="adj2" fmla="val 5000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1 – Gate 1 </a:t>
            </a:r>
          </a:p>
        </p:txBody>
      </p:sp>
      <p:sp>
        <p:nvSpPr>
          <p:cNvPr id="61" name="Arrow: Chevron 60">
            <a:extLst>
              <a:ext uri="{FF2B5EF4-FFF2-40B4-BE49-F238E27FC236}">
                <a16:creationId xmlns:a16="http://schemas.microsoft.com/office/drawing/2014/main" id="{DAE4DE52-AAF9-6DC4-8DE4-CBFD349921B2}"/>
              </a:ext>
            </a:extLst>
          </p:cNvPr>
          <p:cNvSpPr/>
          <p:nvPr/>
        </p:nvSpPr>
        <p:spPr>
          <a:xfrm>
            <a:off x="2559847" y="1509552"/>
            <a:ext cx="2532387"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2 – Engineering</a:t>
            </a:r>
          </a:p>
        </p:txBody>
      </p:sp>
      <p:sp>
        <p:nvSpPr>
          <p:cNvPr id="62" name="Arrow: Chevron 61">
            <a:extLst>
              <a:ext uri="{FF2B5EF4-FFF2-40B4-BE49-F238E27FC236}">
                <a16:creationId xmlns:a16="http://schemas.microsoft.com/office/drawing/2014/main" id="{880F3485-9F9A-9705-2BB5-FF4C144A91B3}"/>
              </a:ext>
            </a:extLst>
          </p:cNvPr>
          <p:cNvSpPr/>
          <p:nvPr/>
        </p:nvSpPr>
        <p:spPr>
          <a:xfrm>
            <a:off x="2559847" y="4239202"/>
            <a:ext cx="2532387"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3 – Regulatory</a:t>
            </a:r>
          </a:p>
        </p:txBody>
      </p:sp>
      <p:sp>
        <p:nvSpPr>
          <p:cNvPr id="63" name="Arrow: Chevron 62">
            <a:extLst>
              <a:ext uri="{FF2B5EF4-FFF2-40B4-BE49-F238E27FC236}">
                <a16:creationId xmlns:a16="http://schemas.microsoft.com/office/drawing/2014/main" id="{506717FB-B723-1656-B01E-AA6E796D1852}"/>
              </a:ext>
            </a:extLst>
          </p:cNvPr>
          <p:cNvSpPr/>
          <p:nvPr/>
        </p:nvSpPr>
        <p:spPr>
          <a:xfrm>
            <a:off x="4996193" y="1509552"/>
            <a:ext cx="2775223"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4 – Contracting</a:t>
            </a:r>
          </a:p>
        </p:txBody>
      </p:sp>
      <p:sp>
        <p:nvSpPr>
          <p:cNvPr id="64" name="Arrow: Chevron 63">
            <a:extLst>
              <a:ext uri="{FF2B5EF4-FFF2-40B4-BE49-F238E27FC236}">
                <a16:creationId xmlns:a16="http://schemas.microsoft.com/office/drawing/2014/main" id="{DFF23EC5-D709-7065-18F2-A5AA62AF32B7}"/>
              </a:ext>
            </a:extLst>
          </p:cNvPr>
          <p:cNvSpPr/>
          <p:nvPr/>
        </p:nvSpPr>
        <p:spPr>
          <a:xfrm>
            <a:off x="7690136" y="1509552"/>
            <a:ext cx="3751775" cy="431320"/>
          </a:xfrm>
          <a:prstGeom prst="chevron">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tIns="0" rIns="45720" bIns="0" rtlCol="0" anchor="ctr"/>
          <a:lstStyle/>
          <a:p>
            <a:pPr algn="ctr"/>
            <a:r>
              <a:rPr lang="en-US" sz="1400" b="1" dirty="0">
                <a:solidFill>
                  <a:schemeClr val="tx2">
                    <a:lumMod val="90000"/>
                    <a:lumOff val="10000"/>
                  </a:schemeClr>
                </a:solidFill>
                <a:latin typeface="Telegraf"/>
                <a:cs typeface="Helvetica" panose="020B0604020202020204" pitchFamily="34" charset="0"/>
              </a:rPr>
              <a:t>Phase 5 – Pre-Spud</a:t>
            </a:r>
          </a:p>
        </p:txBody>
      </p:sp>
      <p:sp>
        <p:nvSpPr>
          <p:cNvPr id="65" name="Rectangle: Rounded Corners 64">
            <a:extLst>
              <a:ext uri="{FF2B5EF4-FFF2-40B4-BE49-F238E27FC236}">
                <a16:creationId xmlns:a16="http://schemas.microsoft.com/office/drawing/2014/main" id="{6F2BB47F-F1AF-749A-8C82-F441EFB6D092}"/>
              </a:ext>
            </a:extLst>
          </p:cNvPr>
          <p:cNvSpPr/>
          <p:nvPr/>
        </p:nvSpPr>
        <p:spPr>
          <a:xfrm>
            <a:off x="8313070" y="5437831"/>
            <a:ext cx="2340042" cy="421536"/>
          </a:xfrm>
          <a:prstGeom prst="round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CC"/>
                </a:solidFill>
                <a:latin typeface="Telegraf"/>
                <a:cs typeface="Helvetica" panose="020B0604020202020204" pitchFamily="34" charset="0"/>
              </a:rPr>
              <a:t>SPUD AUTHORIZATION</a:t>
            </a:r>
          </a:p>
        </p:txBody>
      </p:sp>
      <p:sp>
        <p:nvSpPr>
          <p:cNvPr id="66" name="Rectangle: Rounded Corners 65">
            <a:extLst>
              <a:ext uri="{FF2B5EF4-FFF2-40B4-BE49-F238E27FC236}">
                <a16:creationId xmlns:a16="http://schemas.microsoft.com/office/drawing/2014/main" id="{D397BC13-D791-CCCA-A634-E283A1E5E56B}"/>
              </a:ext>
            </a:extLst>
          </p:cNvPr>
          <p:cNvSpPr/>
          <p:nvPr/>
        </p:nvSpPr>
        <p:spPr>
          <a:xfrm>
            <a:off x="8783618" y="5859367"/>
            <a:ext cx="1869495" cy="212889"/>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solidFill>
                  <a:schemeClr val="bg1"/>
                </a:solidFill>
                <a:latin typeface="Telegraf"/>
                <a:cs typeface="Helvetica" panose="020B0604020202020204" pitchFamily="34" charset="0"/>
              </a:rPr>
              <a:t>Alpha-07 — Q4 2026</a:t>
            </a:r>
          </a:p>
        </p:txBody>
      </p:sp>
      <p:sp>
        <p:nvSpPr>
          <p:cNvPr id="67" name="Isosceles Triangle 66">
            <a:extLst>
              <a:ext uri="{FF2B5EF4-FFF2-40B4-BE49-F238E27FC236}">
                <a16:creationId xmlns:a16="http://schemas.microsoft.com/office/drawing/2014/main" id="{1F5E7372-E920-62E2-B7C5-19B4876EBA2C}"/>
              </a:ext>
            </a:extLst>
          </p:cNvPr>
          <p:cNvSpPr/>
          <p:nvPr/>
        </p:nvSpPr>
        <p:spPr>
          <a:xfrm rot="10800000">
            <a:off x="8875927" y="5141366"/>
            <a:ext cx="1674405" cy="232443"/>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elegraf"/>
            </a:endParaRPr>
          </a:p>
        </p:txBody>
      </p:sp>
      <p:cxnSp>
        <p:nvCxnSpPr>
          <p:cNvPr id="68" name="Straight Connector 67">
            <a:extLst>
              <a:ext uri="{FF2B5EF4-FFF2-40B4-BE49-F238E27FC236}">
                <a16:creationId xmlns:a16="http://schemas.microsoft.com/office/drawing/2014/main" id="{CCA8098C-61B5-74E9-DFDD-56EC9BFCE77B}"/>
              </a:ext>
            </a:extLst>
          </p:cNvPr>
          <p:cNvCxnSpPr>
            <a:cxnSpLocks/>
          </p:cNvCxnSpPr>
          <p:nvPr/>
        </p:nvCxnSpPr>
        <p:spPr>
          <a:xfrm>
            <a:off x="2559720" y="1986534"/>
            <a:ext cx="18559" cy="4447324"/>
          </a:xfrm>
          <a:prstGeom prst="line">
            <a:avLst/>
          </a:prstGeom>
          <a:noFill/>
          <a:ln w="9525" cap="flat" cmpd="sng" algn="ctr">
            <a:solidFill>
              <a:srgbClr val="4D4D4D">
                <a:lumMod val="40000"/>
                <a:lumOff val="60000"/>
              </a:srgbClr>
            </a:solidFill>
            <a:prstDash val="dash"/>
          </a:ln>
          <a:effectLst/>
        </p:spPr>
      </p:cxnSp>
      <p:sp>
        <p:nvSpPr>
          <p:cNvPr id="69" name="Rectangle: Rounded Corners 68">
            <a:extLst>
              <a:ext uri="{FF2B5EF4-FFF2-40B4-BE49-F238E27FC236}">
                <a16:creationId xmlns:a16="http://schemas.microsoft.com/office/drawing/2014/main" id="{72C9B058-A71E-6689-5CB0-30536CAF1C4D}"/>
              </a:ext>
            </a:extLst>
          </p:cNvPr>
          <p:cNvSpPr/>
          <p:nvPr/>
        </p:nvSpPr>
        <p:spPr>
          <a:xfrm>
            <a:off x="10794010" y="5189225"/>
            <a:ext cx="1295802" cy="102449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2">
                    <a:lumMod val="75000"/>
                    <a:lumOff val="25000"/>
                  </a:schemeClr>
                </a:solidFill>
                <a:latin typeface="Telegraf"/>
                <a:cs typeface="Helvetica" panose="020B0604020202020204" pitchFamily="34" charset="0"/>
              </a:rPr>
              <a:t>Spud-In Target Date:</a:t>
            </a:r>
          </a:p>
          <a:p>
            <a:pPr algn="ctr"/>
            <a:r>
              <a:rPr lang="en-US" sz="1400" b="1" dirty="0">
                <a:solidFill>
                  <a:schemeClr val="tx2">
                    <a:lumMod val="75000"/>
                    <a:lumOff val="25000"/>
                  </a:schemeClr>
                </a:solidFill>
                <a:latin typeface="Telegraf"/>
                <a:cs typeface="Helvetica" panose="020B0604020202020204" pitchFamily="34" charset="0"/>
              </a:rPr>
              <a:t>1 November 2026</a:t>
            </a:r>
          </a:p>
        </p:txBody>
      </p:sp>
    </p:spTree>
    <p:extLst>
      <p:ext uri="{BB962C8B-B14F-4D97-AF65-F5344CB8AC3E}">
        <p14:creationId xmlns:p14="http://schemas.microsoft.com/office/powerpoint/2010/main" val="1925395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99CEC-7EB7-D720-B56F-398FEE7BEF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FE6F409-3614-CD7D-970F-758D1C3B2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75" y="287290"/>
            <a:ext cx="11716269" cy="6304085"/>
          </a:xfrm>
          <a:prstGeom prst="rect">
            <a:avLst/>
          </a:prstGeom>
        </p:spPr>
      </p:pic>
      <p:sp>
        <p:nvSpPr>
          <p:cNvPr id="7" name="Google Shape;38;p1">
            <a:extLst>
              <a:ext uri="{FF2B5EF4-FFF2-40B4-BE49-F238E27FC236}">
                <a16:creationId xmlns:a16="http://schemas.microsoft.com/office/drawing/2014/main" id="{CE6B71DC-BC51-E3C0-8C97-10B0603D82A8}"/>
              </a:ext>
            </a:extLst>
          </p:cNvPr>
          <p:cNvSpPr/>
          <p:nvPr/>
        </p:nvSpPr>
        <p:spPr>
          <a:xfrm>
            <a:off x="259075" y="1840243"/>
            <a:ext cx="11716269" cy="4381447"/>
          </a:xfrm>
          <a:prstGeom prst="rect">
            <a:avLst/>
          </a:prstGeom>
          <a:solidFill>
            <a:srgbClr val="365DA8">
              <a:alpha val="7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 name="Title 1">
            <a:extLst>
              <a:ext uri="{FF2B5EF4-FFF2-40B4-BE49-F238E27FC236}">
                <a16:creationId xmlns:a16="http://schemas.microsoft.com/office/drawing/2014/main" id="{D9BF4744-1589-73B1-AF10-72B9F4004069}"/>
              </a:ext>
            </a:extLst>
          </p:cNvPr>
          <p:cNvSpPr>
            <a:spLocks noGrp="1"/>
          </p:cNvSpPr>
          <p:nvPr>
            <p:ph type="ctrTitle"/>
          </p:nvPr>
        </p:nvSpPr>
        <p:spPr>
          <a:xfrm>
            <a:off x="553039" y="2585930"/>
            <a:ext cx="11202186" cy="2387600"/>
          </a:xfrm>
        </p:spPr>
        <p:txBody>
          <a:bodyPr>
            <a:normAutofit fontScale="90000"/>
          </a:bodyPr>
          <a:lstStyle/>
          <a:p>
            <a:pPr algn="l"/>
            <a:r>
              <a:rPr lang="en-US" dirty="0">
                <a:solidFill>
                  <a:schemeClr val="bg1"/>
                </a:solidFill>
                <a:latin typeface="Telegraf Bold" panose="020B0604020202020204" charset="0"/>
              </a:rPr>
              <a:t>JDS 2026 DRILLING CAMPAIGN</a:t>
            </a:r>
            <a:br>
              <a:rPr lang="en-US" dirty="0">
                <a:solidFill>
                  <a:schemeClr val="bg1"/>
                </a:solidFill>
                <a:latin typeface="Telegraf Bold" panose="020B0604020202020204" charset="0"/>
              </a:rPr>
            </a:br>
            <a:r>
              <a:rPr lang="en-US" dirty="0">
                <a:solidFill>
                  <a:schemeClr val="bg1"/>
                </a:solidFill>
                <a:latin typeface="Telegraf Bold" panose="020B0604020202020204" charset="0"/>
              </a:rPr>
              <a:t>SW (Single Well) DPM (Drilling Project Management) Phase-1: ALPHA-07</a:t>
            </a:r>
            <a:endParaRPr lang="en-ID" dirty="0">
              <a:solidFill>
                <a:schemeClr val="bg1"/>
              </a:solidFill>
              <a:latin typeface="Telegraf Bold" panose="020B0604020202020204" charset="0"/>
            </a:endParaRPr>
          </a:p>
        </p:txBody>
      </p:sp>
      <p:sp>
        <p:nvSpPr>
          <p:cNvPr id="3" name="Subtitle 2">
            <a:extLst>
              <a:ext uri="{FF2B5EF4-FFF2-40B4-BE49-F238E27FC236}">
                <a16:creationId xmlns:a16="http://schemas.microsoft.com/office/drawing/2014/main" id="{6552E58F-6985-3DA0-2395-057B6B57A3AB}"/>
              </a:ext>
            </a:extLst>
          </p:cNvPr>
          <p:cNvSpPr>
            <a:spLocks noGrp="1"/>
          </p:cNvSpPr>
          <p:nvPr>
            <p:ph type="subTitle" idx="1"/>
          </p:nvPr>
        </p:nvSpPr>
        <p:spPr>
          <a:xfrm>
            <a:off x="553039" y="5092537"/>
            <a:ext cx="9144000" cy="1400175"/>
          </a:xfrm>
        </p:spPr>
        <p:txBody>
          <a:bodyPr/>
          <a:lstStyle/>
          <a:p>
            <a:pPr algn="l"/>
            <a:r>
              <a:rPr lang="en-US" b="1" dirty="0">
                <a:solidFill>
                  <a:schemeClr val="bg1"/>
                </a:solidFill>
                <a:latin typeface="Telegraf" panose="020B0604020202020204" charset="0"/>
              </a:rPr>
              <a:t>CORE ENERGY SOLUTION</a:t>
            </a:r>
          </a:p>
          <a:p>
            <a:pPr algn="l"/>
            <a:r>
              <a:rPr lang="en-US" b="1" dirty="0">
                <a:solidFill>
                  <a:schemeClr val="bg1"/>
                </a:solidFill>
                <a:latin typeface="Telegraf" panose="020B0604020202020204" charset="0"/>
              </a:rPr>
              <a:t>GROUP 6 ONLINE</a:t>
            </a:r>
            <a:endParaRPr lang="en-ID" b="1" dirty="0">
              <a:solidFill>
                <a:schemeClr val="bg1"/>
              </a:solidFill>
              <a:latin typeface="Telegraf" panose="020B0604020202020204" charset="0"/>
            </a:endParaRPr>
          </a:p>
        </p:txBody>
      </p:sp>
      <p:pic>
        <p:nvPicPr>
          <p:cNvPr id="9" name="Google Shape;40;p1" descr="Blue text and blue letters on a black background&#10;&#10;Description automatically generated">
            <a:extLst>
              <a:ext uri="{FF2B5EF4-FFF2-40B4-BE49-F238E27FC236}">
                <a16:creationId xmlns:a16="http://schemas.microsoft.com/office/drawing/2014/main" id="{A491D4E4-60ED-6DA1-6192-E02797B022AF}"/>
              </a:ext>
            </a:extLst>
          </p:cNvPr>
          <p:cNvPicPr preferRelativeResize="0"/>
          <p:nvPr/>
        </p:nvPicPr>
        <p:blipFill rotWithShape="1">
          <a:blip r:embed="rId3">
            <a:alphaModFix/>
          </a:blip>
          <a:srcRect/>
          <a:stretch/>
        </p:blipFill>
        <p:spPr>
          <a:xfrm>
            <a:off x="10359306" y="266625"/>
            <a:ext cx="1573619" cy="1573619"/>
          </a:xfrm>
          <a:prstGeom prst="rect">
            <a:avLst/>
          </a:prstGeom>
          <a:noFill/>
          <a:ln>
            <a:noFill/>
          </a:ln>
        </p:spPr>
      </p:pic>
      <p:pic>
        <p:nvPicPr>
          <p:cNvPr id="10" name="Picture 9">
            <a:extLst>
              <a:ext uri="{FF2B5EF4-FFF2-40B4-BE49-F238E27FC236}">
                <a16:creationId xmlns:a16="http://schemas.microsoft.com/office/drawing/2014/main" id="{DBE94054-DD36-D20B-C4E9-B9AAD5C011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075" y="287290"/>
            <a:ext cx="1400175" cy="1400175"/>
          </a:xfrm>
          <a:prstGeom prst="rect">
            <a:avLst/>
          </a:prstGeom>
        </p:spPr>
      </p:pic>
    </p:spTree>
    <p:extLst>
      <p:ext uri="{BB962C8B-B14F-4D97-AF65-F5344CB8AC3E}">
        <p14:creationId xmlns:p14="http://schemas.microsoft.com/office/powerpoint/2010/main" val="1720672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1030</TotalTime>
  <Words>4965</Words>
  <Application>Microsoft Office PowerPoint</Application>
  <PresentationFormat>Widescreen</PresentationFormat>
  <Paragraphs>1187</Paragraphs>
  <Slides>39</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Telegraf</vt:lpstr>
      <vt:lpstr>Telegraf Bold</vt:lpstr>
      <vt:lpstr>Aptos</vt:lpstr>
      <vt:lpstr>Aptos Display</vt:lpstr>
      <vt:lpstr>Arial</vt:lpstr>
      <vt:lpstr>Calibri</vt:lpstr>
      <vt:lpstr>Quattrocento Sans</vt:lpstr>
      <vt:lpstr>Office Theme</vt:lpstr>
      <vt:lpstr>JDS 2026 DRILLING CAMPAIGN SW (Single Well) DPM (Drilling Project Management) Phase-1: ALPHA-07</vt:lpstr>
      <vt:lpstr>PowerPoint Presentation</vt:lpstr>
      <vt:lpstr>PowerPoint Presentation</vt:lpstr>
      <vt:lpstr>EXECUTIVE SUMMARY</vt:lpstr>
      <vt:lpstr>PowerPoint Presentation</vt:lpstr>
      <vt:lpstr>PowerPoint Presentation</vt:lpstr>
      <vt:lpstr>PowerPoint Presentation</vt:lpstr>
      <vt:lpstr>PowerPoint Presentation</vt:lpstr>
      <vt:lpstr>LOCATION, GEOGRAPHY, &amp; SURFACE RECONNAISSANCE</vt:lpstr>
      <vt:lpstr>PowerPoint Presentation</vt:lpstr>
      <vt:lpstr>PowerPoint Presentation</vt:lpstr>
      <vt:lpstr>PowerPoint Presentation</vt:lpstr>
      <vt:lpstr>SUBSURFACE GEOLOGICAL PROGNOSIS (G&amp;G DATA)</vt:lpstr>
      <vt:lpstr>PowerPoint Presentation</vt:lpstr>
      <vt:lpstr>OFFSET WELL ANALYSIS &amp; LESSONS LEARNED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CONCEPTUAL WELL CONSTRUCTION DESIGN (PRE-BOD)</vt:lpstr>
      <vt:lpstr>PowerPoint Presentation</vt:lpstr>
      <vt:lpstr>PowerPoint Presentation</vt:lpstr>
      <vt:lpstr>PowerPoint Presentation</vt:lpstr>
      <vt:lpstr>PowerPoint Presentation</vt:lpstr>
      <vt:lpstr>MINIMUM RIG SPECIFICATIONS &amp; CRITICAL THIRD-PARTY SERVICES</vt:lpstr>
      <vt:lpstr>PowerPoint Presentation</vt:lpstr>
      <vt:lpstr>PowerPoint Presentation</vt:lpstr>
      <vt:lpstr>PROJECT RISK ASSESSMENT &amp; MITIGATION MATRIX (Corrected Position)</vt:lpstr>
      <vt:lpstr>PowerPoint Presentation</vt:lpstr>
      <vt:lpstr>PowerPoint Presentation</vt:lpstr>
      <vt:lpstr>PROJECT ECONOMICS &amp; PRELIMINARY AFE</vt:lpstr>
      <vt:lpstr>PowerPoint Presentation</vt:lpstr>
      <vt:lpstr>PowerPoint Presentation</vt:lpstr>
      <vt:lpstr>PRE-EXECUTION MILESTONES &amp; ROADMAP TO SPUD</vt:lpstr>
      <vt:lpstr>PowerPoint Presentation</vt:lpstr>
      <vt:lpstr>JDS 2026 DRILLING CAMPAIGN SW (Single Well) DPM (Drilling Project Management) Phase-1: ALPHA-07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JDS 2026 DRILLING CAMPAIGN SW (Single Well) DPM (Drilling Project Management) Phase-1: ALPHA-07</dc:title>
  <dc:creator>Asri Permatasari Sirait</dc:creator>
  <cp:lastModifiedBy>M Hammam Reza</cp:lastModifiedBy>
  <cp:revision>19</cp:revision>
  <dcterms:created xsi:type="dcterms:W3CDTF">2026-06-20T15:29:26Z</dcterms:created>
  <dcterms:modified xsi:type="dcterms:W3CDTF">2026-06-27T02:56:27Z</dcterms:modified>
</cp:coreProperties>
</file>