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256" r:id="rId2"/>
    <p:sldId id="284" r:id="rId3"/>
    <p:sldId id="275" r:id="rId4"/>
    <p:sldId id="281" r:id="rId5"/>
    <p:sldId id="283" r:id="rId6"/>
    <p:sldId id="276" r:id="rId7"/>
    <p:sldId id="277" r:id="rId8"/>
    <p:sldId id="2147376336" r:id="rId9"/>
    <p:sldId id="285" r:id="rId10"/>
    <p:sldId id="273" r:id="rId11"/>
    <p:sldId id="2147376309" r:id="rId12"/>
    <p:sldId id="270" r:id="rId13"/>
    <p:sldId id="2147376310" r:id="rId14"/>
    <p:sldId id="2147376314" r:id="rId15"/>
    <p:sldId id="2147376306" r:id="rId16"/>
    <p:sldId id="2147376313" r:id="rId17"/>
    <p:sldId id="2147376308" r:id="rId18"/>
    <p:sldId id="2147376315" r:id="rId19"/>
    <p:sldId id="2147376307" r:id="rId20"/>
    <p:sldId id="2147376316" r:id="rId21"/>
    <p:sldId id="1763" r:id="rId22"/>
    <p:sldId id="1779" r:id="rId23"/>
    <p:sldId id="2147376305" r:id="rId24"/>
    <p:sldId id="1796" r:id="rId25"/>
    <p:sldId id="770" r:id="rId26"/>
    <p:sldId id="2147376317" r:id="rId27"/>
    <p:sldId id="2147376318" r:id="rId28"/>
    <p:sldId id="278" r:id="rId29"/>
    <p:sldId id="2147376319" r:id="rId30"/>
    <p:sldId id="2147376326" r:id="rId31"/>
    <p:sldId id="262" r:id="rId32"/>
    <p:sldId id="263" r:id="rId33"/>
    <p:sldId id="264" r:id="rId34"/>
    <p:sldId id="265" r:id="rId35"/>
    <p:sldId id="267" r:id="rId36"/>
    <p:sldId id="266" r:id="rId37"/>
    <p:sldId id="271" r:id="rId38"/>
    <p:sldId id="268" r:id="rId39"/>
    <p:sldId id="2147376327" r:id="rId40"/>
    <p:sldId id="2147376320" r:id="rId41"/>
    <p:sldId id="2147376321" r:id="rId42"/>
    <p:sldId id="269" r:id="rId43"/>
    <p:sldId id="2147376322" r:id="rId44"/>
    <p:sldId id="2147376323" r:id="rId45"/>
    <p:sldId id="2147376328" r:id="rId46"/>
    <p:sldId id="259" r:id="rId47"/>
    <p:sldId id="2147376324" r:id="rId48"/>
    <p:sldId id="2147376325" r:id="rId49"/>
    <p:sldId id="2147376335" r:id="rId50"/>
    <p:sldId id="2147376330" r:id="rId51"/>
    <p:sldId id="2147376331" r:id="rId52"/>
    <p:sldId id="2147376333" r:id="rId53"/>
    <p:sldId id="2147376334" r:id="rId54"/>
    <p:sldId id="2147376332" r:id="rId55"/>
    <p:sldId id="2147376329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50" d="100"/>
          <a:sy n="50" d="100"/>
        </p:scale>
        <p:origin x="456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AB2DC3-67F3-47B9-BDEE-073AF39A465C}" type="datetimeFigureOut">
              <a:rPr lang="en-ID" smtClean="0"/>
              <a:t>17/10/2026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62A8AB-3498-4B56-9822-F8B974B012E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99216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82BF46-ED70-4E44-9B96-B830C4F8C72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7378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82BF46-ED70-4E44-9B96-B830C4F8C72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521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CAF74-FBC9-14EF-5B1B-FF86AB6549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55AB6C-F4C3-61AD-B2FA-FC81607695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ED9D8-1BAF-81B0-FEEE-00A883641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97FD9-8393-411F-AA1A-886B98D1D146}" type="datetimeFigureOut">
              <a:rPr lang="en-ID" smtClean="0"/>
              <a:t>17/10/2026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B21951-574C-BB10-095A-B89A08AB3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7446D-8391-6C66-CAA0-3AB61EF33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B1E1-4D29-4F7C-A3F7-C80CA82A0F5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95209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A5920-6444-48C5-B5F6-30237E367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DE0E1-7F41-32A2-B82A-6DC27B2DC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14CD9-0B33-3F94-DC1B-A7862E8A1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97FD9-8393-411F-AA1A-886B98D1D146}" type="datetimeFigureOut">
              <a:rPr lang="en-ID" smtClean="0"/>
              <a:t>17/10/2026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4BF07-4084-CB69-AF6A-7EC249914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1E859-2ACD-F026-8EE6-EDD05F0D1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B1E1-4D29-4F7C-A3F7-C80CA82A0F5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86489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45181-982E-7462-756E-749A66CE3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5C6161-9C58-3304-8AFA-8FD7E6194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8178A-C25C-396C-7161-2DC9253AF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97FD9-8393-411F-AA1A-886B98D1D146}" type="datetimeFigureOut">
              <a:rPr lang="en-ID" smtClean="0"/>
              <a:t>17/10/2026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12334-DAE1-842E-ACD7-7248857E7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7FA2B-DB2C-C9F8-14FF-91FA1FE51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B1E1-4D29-4F7C-A3F7-C80CA82A0F5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37129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32283-AD3F-A5B3-DFEF-5BE0B3F12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A1911-6D20-5CF5-DE22-50FD2E26B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E116B3-43E2-1E9F-701B-1D0138D9CD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10B9B7-E395-761E-6A75-4551F88EB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97FD9-8393-411F-AA1A-886B98D1D146}" type="datetimeFigureOut">
              <a:rPr lang="en-ID" smtClean="0"/>
              <a:t>17/10/2026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FF9DED-70FD-E3C4-C1E9-08422C74E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3B9323-E164-0985-EA38-A393A5626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B1E1-4D29-4F7C-A3F7-C80CA82A0F5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15499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16FF7-9C51-D243-C175-697E9F5C7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BDB639-09DF-846D-AD17-45649049E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B6C84B-551E-7975-E3E0-41B1FFE8F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A0C530-0B91-CF4E-5B49-E6FB573DA3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46D051-6506-7D14-BF5A-89D5575590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AE911B-E2B2-D739-8751-0E00B5EF8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97FD9-8393-411F-AA1A-886B98D1D146}" type="datetimeFigureOut">
              <a:rPr lang="en-ID" smtClean="0"/>
              <a:t>17/10/2026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325161-B466-0800-0152-A9277B283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1B2DA5-B47B-57A0-47A9-1D8204026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B1E1-4D29-4F7C-A3F7-C80CA82A0F5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88887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99C45-0BCA-8A64-366E-8B55346FF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AB3A45-48F3-EC80-F29C-4AA041C9C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97FD9-8393-411F-AA1A-886B98D1D146}" type="datetimeFigureOut">
              <a:rPr lang="en-ID" smtClean="0"/>
              <a:t>17/10/2026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A79F52-1EDA-54B3-BAA3-BA0A6B9ED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5FBB15-ED7E-A549-ED5F-8B8DB6F58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B1E1-4D29-4F7C-A3F7-C80CA82A0F5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90070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034A17-5F51-1C64-4CE8-BF53AF83E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97FD9-8393-411F-AA1A-886B98D1D146}" type="datetimeFigureOut">
              <a:rPr lang="en-ID" smtClean="0"/>
              <a:t>17/10/2026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495C49-C3F6-A302-2A20-823696434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586FC-F092-A89E-7948-DC8DE93DC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B1E1-4D29-4F7C-A3F7-C80CA82A0F5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52025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09C0D-68F5-A18E-8C9B-A4B1DDBCC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93068-B647-92AA-9C00-364FE4ACD8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299E71-1D41-8DED-CD86-CDF8E75DF1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E58D2E-28E2-ACEB-D7E7-A264DA821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97FD9-8393-411F-AA1A-886B98D1D146}" type="datetimeFigureOut">
              <a:rPr lang="en-ID" smtClean="0"/>
              <a:t>17/10/2026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A2932-3B49-D1D4-3E11-EC4780F52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1C8891-5575-617F-2975-D6163F833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B1E1-4D29-4F7C-A3F7-C80CA82A0F5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80873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1D1F6-BD09-15E7-FDCD-65587C93A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B59B2F-9133-1748-6B6B-CFFC581806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CC7AEB-7EB9-F0B8-7D6F-B8DD8B23C1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F52BB2-736F-ED88-002C-38A89BA89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97FD9-8393-411F-AA1A-886B98D1D146}" type="datetimeFigureOut">
              <a:rPr lang="en-ID" smtClean="0"/>
              <a:t>17/10/2026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E7F42-3DE1-77DB-010A-8EC5A9CA6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DC9DAD-1304-3AE0-4E03-779E8E52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B1E1-4D29-4F7C-A3F7-C80CA82A0F5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7150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6B42C-6DCC-08EA-E6CD-210BD8698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4EA8D1-A6DC-1A97-89CB-B3DC79E790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4744D-E8C0-1C8E-FA47-25088C40C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97FD9-8393-411F-AA1A-886B98D1D146}" type="datetimeFigureOut">
              <a:rPr lang="en-ID" smtClean="0"/>
              <a:t>17/10/2026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1B699-B5DF-023E-DB9F-0D718D584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D047D-0A07-71FA-E4EA-02B95C8B1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B1E1-4D29-4F7C-A3F7-C80CA82A0F5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61922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6A0848-FBEE-AF26-A068-481946D672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B1F7AC-4B25-CE3D-98F8-BFD37D28DD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7E8EE-0B87-3F03-AEC7-BB2DC5C9E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97FD9-8393-411F-AA1A-886B98D1D146}" type="datetimeFigureOut">
              <a:rPr lang="en-ID" smtClean="0"/>
              <a:t>17/10/2026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F4400-E042-BBFD-DC80-18C04FA24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0F836-CB38-FBDA-C89F-60618C7C0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B1E1-4D29-4F7C-A3F7-C80CA82A0F5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415147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10/17/2026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558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FD8240-9A23-F0EB-7270-7F556ECBF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5C3F60-613D-6167-0A1B-32E5B4368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ADEE8-71FA-D639-D792-AE71499179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297FD9-8393-411F-AA1A-886B98D1D146}" type="datetimeFigureOut">
              <a:rPr lang="en-ID" smtClean="0"/>
              <a:t>17/10/2026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97B7D-C5F3-17BF-3763-FB54083CAC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7273E-C483-39A4-C4CB-EA2D3F4E3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34B1E1-4D29-4F7C-A3F7-C80CA82A0F5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12875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sv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emf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F498B-F071-855A-AAC4-513BA6A479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0393" y="1122363"/>
            <a:ext cx="11367082" cy="2387600"/>
          </a:xfrm>
        </p:spPr>
        <p:txBody>
          <a:bodyPr>
            <a:normAutofit/>
          </a:bodyPr>
          <a:lstStyle/>
          <a:p>
            <a:r>
              <a:rPr lang="en-US" dirty="0"/>
              <a:t>TEE BOX VS FLOW TEE</a:t>
            </a:r>
            <a:br>
              <a:rPr lang="en-US" dirty="0"/>
            </a:br>
            <a:r>
              <a:rPr lang="en-US" dirty="0"/>
              <a:t>TECHNICAL EVALUATION</a:t>
            </a:r>
            <a:endParaRPr lang="en-ID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C5571AB-8B8E-2189-A83A-EC4B2164E7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Drilling, 24 October 2025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94147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489CD-E845-3EC0-3CAB-1983C7CD0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ECF54-72AD-4AEE-A0AC-43DBE2053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Understanding in </a:t>
            </a:r>
            <a:r>
              <a:rPr lang="en-US" dirty="0" err="1"/>
              <a:t>datail</a:t>
            </a:r>
            <a:r>
              <a:rPr lang="en-US" dirty="0"/>
              <a:t> comparison between Flange type versus Studded type wellhead joint connection.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535003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5EA47-4635-4D07-E7F3-3CFA4CD42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9420"/>
          </a:xfrm>
        </p:spPr>
        <p:txBody>
          <a:bodyPr>
            <a:normAutofit/>
          </a:bodyPr>
          <a:lstStyle/>
          <a:p>
            <a:r>
              <a:rPr lang="en-US" sz="3600" dirty="0"/>
              <a:t>Existing WJR1-2 Wellhead Stack Up Drawing</a:t>
            </a:r>
            <a:endParaRPr lang="en-ID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D2FF80-8C01-EB52-510B-E67F415B78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90"/>
          <a:stretch>
            <a:fillRect/>
          </a:stretch>
        </p:blipFill>
        <p:spPr>
          <a:xfrm>
            <a:off x="200382" y="2943918"/>
            <a:ext cx="3717663" cy="29252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F46AED9-E1E5-6BB6-8777-58FCB9663C49}"/>
              </a:ext>
            </a:extLst>
          </p:cNvPr>
          <p:cNvCxnSpPr>
            <a:cxnSpLocks/>
          </p:cNvCxnSpPr>
          <p:nvPr/>
        </p:nvCxnSpPr>
        <p:spPr>
          <a:xfrm>
            <a:off x="4196168" y="3339998"/>
            <a:ext cx="0" cy="164554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FBF10D3-227C-21AA-E748-5A2EC9F22A5F}"/>
              </a:ext>
            </a:extLst>
          </p:cNvPr>
          <p:cNvCxnSpPr>
            <a:cxnSpLocks/>
          </p:cNvCxnSpPr>
          <p:nvPr/>
        </p:nvCxnSpPr>
        <p:spPr>
          <a:xfrm>
            <a:off x="3893007" y="4970161"/>
            <a:ext cx="48394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450EE5B-0221-8CB7-55E1-4292AEFCE201}"/>
              </a:ext>
            </a:extLst>
          </p:cNvPr>
          <p:cNvCxnSpPr>
            <a:cxnSpLocks/>
          </p:cNvCxnSpPr>
          <p:nvPr/>
        </p:nvCxnSpPr>
        <p:spPr>
          <a:xfrm>
            <a:off x="2669043" y="3339998"/>
            <a:ext cx="163386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D3F67F9-09AB-0BDD-251D-E12268A5549B}"/>
              </a:ext>
            </a:extLst>
          </p:cNvPr>
          <p:cNvSpPr txBox="1"/>
          <p:nvPr/>
        </p:nvSpPr>
        <p:spPr>
          <a:xfrm>
            <a:off x="3649132" y="4466088"/>
            <a:ext cx="6174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57 Cm</a:t>
            </a:r>
            <a:endParaRPr lang="en-ID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69C945-4344-A4F2-037D-8694CF07DCE6}"/>
              </a:ext>
            </a:extLst>
          </p:cNvPr>
          <p:cNvSpPr txBox="1"/>
          <p:nvPr/>
        </p:nvSpPr>
        <p:spPr>
          <a:xfrm>
            <a:off x="3543392" y="3962015"/>
            <a:ext cx="699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224 Cm</a:t>
            </a:r>
            <a:endParaRPr lang="en-ID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5D47A9-EB66-1A28-0AF3-8CAC5344D27A}"/>
              </a:ext>
            </a:extLst>
          </p:cNvPr>
          <p:cNvSpPr txBox="1"/>
          <p:nvPr/>
        </p:nvSpPr>
        <p:spPr>
          <a:xfrm>
            <a:off x="200382" y="5869177"/>
            <a:ext cx="33141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WJR1-2 Wellhead Stack up – before tie in</a:t>
            </a:r>
            <a:endParaRPr lang="en-ID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0B3718-FF56-CCDD-C114-B76F36925976}"/>
              </a:ext>
            </a:extLst>
          </p:cNvPr>
          <p:cNvSpPr txBox="1"/>
          <p:nvPr/>
        </p:nvSpPr>
        <p:spPr>
          <a:xfrm>
            <a:off x="4376956" y="6230817"/>
            <a:ext cx="30303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WJR1-2 Wellhead Stack up with 1 MV</a:t>
            </a:r>
            <a:endParaRPr lang="en-ID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40BDC8-D88B-0558-B630-D7330EC0FF1D}"/>
              </a:ext>
            </a:extLst>
          </p:cNvPr>
          <p:cNvSpPr txBox="1"/>
          <p:nvPr/>
        </p:nvSpPr>
        <p:spPr>
          <a:xfrm>
            <a:off x="8415556" y="6216037"/>
            <a:ext cx="31104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WJR1-2 Wellhead Stack up with 2 MVs</a:t>
            </a:r>
            <a:endParaRPr lang="en-ID" sz="14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094A594-74DC-6569-302A-8EE1AB8F8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668" y="1645921"/>
            <a:ext cx="7686306" cy="4653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769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7D525-4F36-64AA-0B48-824EA9563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6475"/>
          </a:xfrm>
        </p:spPr>
        <p:txBody>
          <a:bodyPr/>
          <a:lstStyle/>
          <a:p>
            <a:r>
              <a:rPr lang="en-US" dirty="0"/>
              <a:t>TEE Box versus Flow TEE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B089AE-6D39-FAEF-35ED-254CC27CC1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58" t="6030" r="5067" b="28810"/>
          <a:stretch>
            <a:fillRect/>
          </a:stretch>
        </p:blipFill>
        <p:spPr>
          <a:xfrm>
            <a:off x="109196" y="1780953"/>
            <a:ext cx="5200421" cy="2730483"/>
          </a:xfrm>
          <a:prstGeom prst="rect">
            <a:avLst/>
          </a:prstGeom>
          <a:ln>
            <a:solidFill>
              <a:schemeClr val="accent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8BCB95-94C8-3187-EF54-6231F4866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961091" y="2310768"/>
            <a:ext cx="3651527" cy="2591898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34899C5-CE5B-1FB2-BB14-13EBDED9C3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23954"/>
              </p:ext>
            </p:extLst>
          </p:nvPr>
        </p:nvGraphicFramePr>
        <p:xfrm>
          <a:off x="5414842" y="1740932"/>
          <a:ext cx="3970838" cy="3592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8098">
                  <a:extLst>
                    <a:ext uri="{9D8B030D-6E8A-4147-A177-3AD203B41FA5}">
                      <a16:colId xmlns:a16="http://schemas.microsoft.com/office/drawing/2014/main" val="2280310625"/>
                    </a:ext>
                  </a:extLst>
                </a:gridCol>
                <a:gridCol w="1562512">
                  <a:extLst>
                    <a:ext uri="{9D8B030D-6E8A-4147-A177-3AD203B41FA5}">
                      <a16:colId xmlns:a16="http://schemas.microsoft.com/office/drawing/2014/main" val="2677530258"/>
                    </a:ext>
                  </a:extLst>
                </a:gridCol>
                <a:gridCol w="1050228">
                  <a:extLst>
                    <a:ext uri="{9D8B030D-6E8A-4147-A177-3AD203B41FA5}">
                      <a16:colId xmlns:a16="http://schemas.microsoft.com/office/drawing/2014/main" val="1499245085"/>
                    </a:ext>
                  </a:extLst>
                </a:gridCol>
              </a:tblGrid>
              <a:tr h="348217">
                <a:tc>
                  <a:txBody>
                    <a:bodyPr/>
                    <a:lstStyle/>
                    <a:p>
                      <a:r>
                        <a:rPr lang="en-US" sz="1600" dirty="0"/>
                        <a:t>Description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 Box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Flow T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781922"/>
                  </a:ext>
                </a:extLst>
              </a:tr>
              <a:tr h="348217">
                <a:tc>
                  <a:txBody>
                    <a:bodyPr/>
                    <a:lstStyle/>
                    <a:p>
                      <a:r>
                        <a:rPr lang="en-US" sz="1400" dirty="0"/>
                        <a:t>ID, in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12</a:t>
                      </a:r>
                    </a:p>
                    <a:p>
                      <a:r>
                        <a:rPr lang="en-US" sz="1400" dirty="0"/>
                        <a:t>12.25” bit not pass,</a:t>
                      </a:r>
                    </a:p>
                    <a:p>
                      <a:r>
                        <a:rPr lang="en-US" sz="1400" dirty="0"/>
                        <a:t>Chocking from MV ID (12.38”)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12.38</a:t>
                      </a:r>
                    </a:p>
                    <a:p>
                      <a:r>
                        <a:rPr lang="en-US" sz="1400" dirty="0"/>
                        <a:t>12.25” Bit pass and full-bore ID with MV</a:t>
                      </a:r>
                      <a:endParaRPr lang="en-ID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1090711"/>
                  </a:ext>
                </a:extLst>
              </a:tr>
              <a:tr h="348217">
                <a:tc>
                  <a:txBody>
                    <a:bodyPr/>
                    <a:lstStyle/>
                    <a:p>
                      <a:r>
                        <a:rPr lang="en-US" sz="1400" dirty="0"/>
                        <a:t>Height, in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26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38.50</a:t>
                      </a:r>
                      <a:endParaRPr lang="en-ID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5271796"/>
                  </a:ext>
                </a:extLst>
              </a:tr>
              <a:tr h="348217">
                <a:tc>
                  <a:txBody>
                    <a:bodyPr/>
                    <a:lstStyle/>
                    <a:p>
                      <a:r>
                        <a:rPr lang="en-US" sz="1400" dirty="0"/>
                        <a:t>Installation</a:t>
                      </a:r>
                    </a:p>
                    <a:p>
                      <a:r>
                        <a:rPr lang="en-US" sz="1400" dirty="0"/>
                        <a:t>Replacement</a:t>
                      </a:r>
                    </a:p>
                    <a:p>
                      <a:r>
                        <a:rPr lang="en-US" sz="1400" dirty="0"/>
                        <a:t>Maintenance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Difficult to replace bolt and nuts</a:t>
                      </a:r>
                    </a:p>
                    <a:p>
                      <a:r>
                        <a:rPr lang="en-US" sz="1400" dirty="0"/>
                        <a:t>Risk of bolt parted and left in the T Box body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Easier</a:t>
                      </a:r>
                      <a:endParaRPr lang="en-ID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4281963"/>
                  </a:ext>
                </a:extLst>
              </a:tr>
              <a:tr h="348217">
                <a:tc>
                  <a:txBody>
                    <a:bodyPr/>
                    <a:lstStyle/>
                    <a:p>
                      <a:r>
                        <a:rPr lang="en-US" sz="1400" dirty="0"/>
                        <a:t>Prices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999243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9B172BF-194E-DE50-495C-3099538BBB9A}"/>
              </a:ext>
            </a:extLst>
          </p:cNvPr>
          <p:cNvSpPr txBox="1"/>
          <p:nvPr/>
        </p:nvSpPr>
        <p:spPr>
          <a:xfrm>
            <a:off x="2190307" y="4606705"/>
            <a:ext cx="1655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 Box (</a:t>
            </a:r>
            <a:r>
              <a:rPr lang="en-US" dirty="0">
                <a:solidFill>
                  <a:srgbClr val="FF0000"/>
                </a:solidFill>
              </a:rPr>
              <a:t>Existing</a:t>
            </a:r>
            <a:r>
              <a:rPr lang="en-US" dirty="0"/>
              <a:t>)</a:t>
            </a:r>
            <a:endParaRPr lang="en-ID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F8EF15-8CB2-F012-30B6-B64CB677E7BF}"/>
              </a:ext>
            </a:extLst>
          </p:cNvPr>
          <p:cNvSpPr txBox="1"/>
          <p:nvPr/>
        </p:nvSpPr>
        <p:spPr>
          <a:xfrm>
            <a:off x="10455349" y="5472502"/>
            <a:ext cx="1070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Flow TEE</a:t>
            </a:r>
            <a:endParaRPr lang="en-ID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C18944-5C26-BBA9-29F7-B92438B02348}"/>
              </a:ext>
            </a:extLst>
          </p:cNvPr>
          <p:cNvSpPr txBox="1"/>
          <p:nvPr/>
        </p:nvSpPr>
        <p:spPr>
          <a:xfrm>
            <a:off x="5345058" y="5432481"/>
            <a:ext cx="40406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</a:t>
            </a:r>
          </a:p>
          <a:p>
            <a:r>
              <a:rPr lang="en-US" dirty="0"/>
              <a:t>It is recommended to use </a:t>
            </a:r>
            <a:r>
              <a:rPr lang="en-US" b="1" dirty="0">
                <a:solidFill>
                  <a:srgbClr val="C00000"/>
                </a:solidFill>
              </a:rPr>
              <a:t>Flow T</a:t>
            </a:r>
            <a:endParaRPr lang="en-ID" dirty="0">
              <a:solidFill>
                <a:srgbClr val="C0000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D7FCDB1-AB49-0727-F7D8-DDC281761D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41" t="67354" r="71539" b="2705"/>
          <a:stretch>
            <a:fillRect/>
          </a:stretch>
        </p:blipFill>
        <p:spPr>
          <a:xfrm>
            <a:off x="109196" y="4699352"/>
            <a:ext cx="1598716" cy="1546299"/>
          </a:xfrm>
          <a:prstGeom prst="rect">
            <a:avLst/>
          </a:prstGeom>
          <a:ln>
            <a:solidFill>
              <a:schemeClr val="accent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845772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1F543-C0A1-DAFA-32B6-00176E951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Wellhead – MV and TEE Box</a:t>
            </a:r>
            <a:endParaRPr lang="en-ID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5AE7E9F-D9AE-CBBC-B23B-5A11C4E8E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9325" y="1774840"/>
            <a:ext cx="5324475" cy="302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3BFAD4-405F-9BA2-7C55-7BE2D57CBF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258" t="6030" r="5067" b="28810"/>
          <a:stretch>
            <a:fillRect/>
          </a:stretch>
        </p:blipFill>
        <p:spPr>
          <a:xfrm>
            <a:off x="472990" y="1924073"/>
            <a:ext cx="5200421" cy="2730483"/>
          </a:xfrm>
          <a:prstGeom prst="rect">
            <a:avLst/>
          </a:prstGeom>
          <a:ln>
            <a:solidFill>
              <a:schemeClr val="accent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724497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3261D-5151-512E-6149-A43F8EC49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550276" cy="1325563"/>
          </a:xfrm>
        </p:spPr>
        <p:txBody>
          <a:bodyPr/>
          <a:lstStyle/>
          <a:p>
            <a:r>
              <a:rPr lang="en-US" dirty="0" err="1"/>
              <a:t>WellPad</a:t>
            </a:r>
            <a:r>
              <a:rPr lang="en-US" dirty="0"/>
              <a:t> WJR1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94E8BF-5B09-EF30-79FA-C8C8814F7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8476" y="182562"/>
            <a:ext cx="6118521" cy="65020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76906A-9625-EBF1-0777-CF62E8D632BA}"/>
              </a:ext>
            </a:extLst>
          </p:cNvPr>
          <p:cNvSpPr txBox="1"/>
          <p:nvPr/>
        </p:nvSpPr>
        <p:spPr>
          <a:xfrm>
            <a:off x="838200" y="1459579"/>
            <a:ext cx="411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 Production Line tied in to WJR1-2</a:t>
            </a:r>
          </a:p>
          <a:p>
            <a:r>
              <a:rPr lang="en-US" dirty="0"/>
              <a:t>Prior to drill WJR1-3 and WJR1-4 well </a:t>
            </a:r>
            <a:endParaRPr lang="en-ID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9EF562-371C-D372-FEF2-F59B49942DA1}"/>
              </a:ext>
            </a:extLst>
          </p:cNvPr>
          <p:cNvSpPr txBox="1"/>
          <p:nvPr/>
        </p:nvSpPr>
        <p:spPr>
          <a:xfrm>
            <a:off x="5821218" y="3626093"/>
            <a:ext cx="7887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Cellar-1</a:t>
            </a:r>
            <a:endParaRPr lang="en-ID" sz="1400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3D4E61-8976-C4D5-DF9A-E12F3E49C750}"/>
              </a:ext>
            </a:extLst>
          </p:cNvPr>
          <p:cNvSpPr txBox="1"/>
          <p:nvPr/>
        </p:nvSpPr>
        <p:spPr>
          <a:xfrm>
            <a:off x="5821218" y="4406566"/>
            <a:ext cx="802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Cellar-3</a:t>
            </a:r>
            <a:endParaRPr lang="en-ID" sz="1400" dirty="0">
              <a:solidFill>
                <a:srgbClr val="FF0000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853CFC5-09FB-2E8B-4B71-E6FD06344855}"/>
              </a:ext>
            </a:extLst>
          </p:cNvPr>
          <p:cNvGrpSpPr/>
          <p:nvPr/>
        </p:nvGrpSpPr>
        <p:grpSpPr>
          <a:xfrm flipH="1">
            <a:off x="3058369" y="2053142"/>
            <a:ext cx="3592828" cy="4550550"/>
            <a:chOff x="6609960" y="2054731"/>
            <a:chExt cx="3592828" cy="4550550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94F82226-3660-5F07-ADAA-369B8FC9D5D5}"/>
                </a:ext>
              </a:extLst>
            </p:cNvPr>
            <p:cNvCxnSpPr/>
            <p:nvPr/>
          </p:nvCxnSpPr>
          <p:spPr>
            <a:xfrm flipV="1">
              <a:off x="6623489" y="2355272"/>
              <a:ext cx="1255129" cy="1433945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964439F-819E-F79F-53DD-ECD1ABC20782}"/>
                </a:ext>
              </a:extLst>
            </p:cNvPr>
            <p:cNvCxnSpPr>
              <a:cxnSpLocks/>
            </p:cNvCxnSpPr>
            <p:nvPr/>
          </p:nvCxnSpPr>
          <p:spPr>
            <a:xfrm>
              <a:off x="6637018" y="4161072"/>
              <a:ext cx="1810718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E47EF1F-5675-E3E2-7431-D9CC76BB7DFE}"/>
                </a:ext>
              </a:extLst>
            </p:cNvPr>
            <p:cNvCxnSpPr>
              <a:cxnSpLocks/>
            </p:cNvCxnSpPr>
            <p:nvPr/>
          </p:nvCxnSpPr>
          <p:spPr>
            <a:xfrm>
              <a:off x="6609960" y="4532928"/>
              <a:ext cx="1586987" cy="1733799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8F7B429-DA8B-4B3D-254F-7017FD01FDB2}"/>
                </a:ext>
              </a:extLst>
            </p:cNvPr>
            <p:cNvSpPr txBox="1"/>
            <p:nvPr/>
          </p:nvSpPr>
          <p:spPr>
            <a:xfrm>
              <a:off x="7332768" y="2054731"/>
              <a:ext cx="141596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7030A0"/>
                  </a:solidFill>
                  <a:highlight>
                    <a:srgbClr val="FFFF00"/>
                  </a:highlight>
                </a:rPr>
                <a:t>WJR1-3 (new)</a:t>
              </a:r>
              <a:endParaRPr lang="en-ID" sz="1600" b="1" dirty="0">
                <a:solidFill>
                  <a:srgbClr val="7030A0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8BC7739-3120-C58B-8AF3-9E98B1E0270D}"/>
                </a:ext>
              </a:extLst>
            </p:cNvPr>
            <p:cNvSpPr txBox="1"/>
            <p:nvPr/>
          </p:nvSpPr>
          <p:spPr>
            <a:xfrm>
              <a:off x="7704840" y="6266727"/>
              <a:ext cx="141596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7030A0"/>
                  </a:solidFill>
                  <a:highlight>
                    <a:srgbClr val="FFFF00"/>
                  </a:highlight>
                </a:rPr>
                <a:t>WJR1-4 (new)</a:t>
              </a:r>
              <a:endParaRPr lang="en-ID" sz="1600" b="1" dirty="0">
                <a:solidFill>
                  <a:srgbClr val="7030A0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04E49D2-AC4D-2B62-7109-426D88CB7496}"/>
                </a:ext>
              </a:extLst>
            </p:cNvPr>
            <p:cNvSpPr txBox="1"/>
            <p:nvPr/>
          </p:nvSpPr>
          <p:spPr>
            <a:xfrm>
              <a:off x="8450705" y="4017836"/>
              <a:ext cx="175208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7030A0"/>
                  </a:solidFill>
                  <a:highlight>
                    <a:srgbClr val="FFFF00"/>
                  </a:highlight>
                </a:rPr>
                <a:t>WJR1-2 (existing)</a:t>
              </a:r>
              <a:endParaRPr lang="en-ID" sz="1600" b="1" dirty="0">
                <a:solidFill>
                  <a:srgbClr val="7030A0"/>
                </a:solidFill>
                <a:highlight>
                  <a:srgbClr val="FFFF00"/>
                </a:highlight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CC4374D8-027B-2DC9-DFD0-EFAB56E5EA17}"/>
              </a:ext>
            </a:extLst>
          </p:cNvPr>
          <p:cNvSpPr/>
          <p:nvPr/>
        </p:nvSpPr>
        <p:spPr>
          <a:xfrm>
            <a:off x="9080938" y="4287435"/>
            <a:ext cx="273269" cy="24549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53D517-4309-BB8A-E4E4-C0297BE743EF}"/>
              </a:ext>
            </a:extLst>
          </p:cNvPr>
          <p:cNvSpPr txBox="1"/>
          <p:nvPr/>
        </p:nvSpPr>
        <p:spPr>
          <a:xfrm>
            <a:off x="8760174" y="3948881"/>
            <a:ext cx="14064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7030A0"/>
                </a:solidFill>
                <a:highlight>
                  <a:srgbClr val="FFFF00"/>
                </a:highlight>
              </a:rPr>
              <a:t>WJR1-1 (P&amp;A)</a:t>
            </a:r>
            <a:endParaRPr lang="en-ID" sz="1600" b="1" dirty="0">
              <a:solidFill>
                <a:srgbClr val="7030A0"/>
              </a:solidFill>
              <a:highlight>
                <a:srgbClr val="FFFF00"/>
              </a:highlight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F134EE8-52CF-E2AF-D8DF-C8FA28EF503B}"/>
              </a:ext>
            </a:extLst>
          </p:cNvPr>
          <p:cNvCxnSpPr>
            <a:cxnSpLocks/>
          </p:cNvCxnSpPr>
          <p:nvPr/>
        </p:nvCxnSpPr>
        <p:spPr>
          <a:xfrm>
            <a:off x="7777284" y="5657693"/>
            <a:ext cx="0" cy="200055"/>
          </a:xfrm>
          <a:prstGeom prst="straightConnector1">
            <a:avLst/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C54AA16-6FF0-0092-7264-01467346BF97}"/>
              </a:ext>
            </a:extLst>
          </p:cNvPr>
          <p:cNvSpPr txBox="1"/>
          <p:nvPr/>
        </p:nvSpPr>
        <p:spPr>
          <a:xfrm>
            <a:off x="7777285" y="5603831"/>
            <a:ext cx="2477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?</a:t>
            </a:r>
            <a:endParaRPr lang="en-ID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2212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BF524-E9DD-E712-DC4A-1E907053D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8A071-B607-227B-4959-81E689853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5744"/>
            <a:ext cx="8370455" cy="789420"/>
          </a:xfrm>
        </p:spPr>
        <p:txBody>
          <a:bodyPr>
            <a:normAutofit/>
          </a:bodyPr>
          <a:lstStyle/>
          <a:p>
            <a:r>
              <a:rPr lang="en-US" sz="3600" dirty="0"/>
              <a:t>WJR1-2 Wellhead + Production Line</a:t>
            </a:r>
            <a:endParaRPr lang="en-ID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EB7CF6-FEC8-9ACB-A690-6CBF5D293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45" y="764423"/>
            <a:ext cx="5560292" cy="60935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1E9AD2-FBDB-726C-D7CE-BAA77A8A7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237" y="2320444"/>
            <a:ext cx="5919055" cy="2585461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3DE965F-10BF-D524-3487-1817ED270B9F}"/>
              </a:ext>
            </a:extLst>
          </p:cNvPr>
          <p:cNvCxnSpPr>
            <a:cxnSpLocks/>
          </p:cNvCxnSpPr>
          <p:nvPr/>
        </p:nvCxnSpPr>
        <p:spPr>
          <a:xfrm>
            <a:off x="10972800" y="3221665"/>
            <a:ext cx="0" cy="878714"/>
          </a:xfrm>
          <a:prstGeom prst="straightConnector1">
            <a:avLst/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E7386C3-A0F8-10BA-5BD9-D6CE9CFE9CF4}"/>
              </a:ext>
            </a:extLst>
          </p:cNvPr>
          <p:cNvCxnSpPr>
            <a:cxnSpLocks/>
          </p:cNvCxnSpPr>
          <p:nvPr/>
        </p:nvCxnSpPr>
        <p:spPr>
          <a:xfrm>
            <a:off x="10636836" y="3221665"/>
            <a:ext cx="52735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E8498AB-5017-B1C5-1D28-45F6B7712E4F}"/>
              </a:ext>
            </a:extLst>
          </p:cNvPr>
          <p:cNvSpPr txBox="1"/>
          <p:nvPr/>
        </p:nvSpPr>
        <p:spPr>
          <a:xfrm>
            <a:off x="10972800" y="3429000"/>
            <a:ext cx="1019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4.19 m</a:t>
            </a:r>
            <a:endParaRPr lang="en-ID" sz="2000" dirty="0">
              <a:solidFill>
                <a:srgbClr val="FF0000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C9EC2B-8E08-76B3-EF0C-E144BD9427B8}"/>
              </a:ext>
            </a:extLst>
          </p:cNvPr>
          <p:cNvCxnSpPr>
            <a:cxnSpLocks/>
          </p:cNvCxnSpPr>
          <p:nvPr/>
        </p:nvCxnSpPr>
        <p:spPr>
          <a:xfrm flipH="1">
            <a:off x="1999043" y="4281133"/>
            <a:ext cx="2296511" cy="0"/>
          </a:xfrm>
          <a:prstGeom prst="straightConnector1">
            <a:avLst/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B45C518-8ECE-9A4E-2485-41A2A8BCF9DE}"/>
              </a:ext>
            </a:extLst>
          </p:cNvPr>
          <p:cNvSpPr txBox="1"/>
          <p:nvPr/>
        </p:nvSpPr>
        <p:spPr>
          <a:xfrm>
            <a:off x="2460174" y="3952220"/>
            <a:ext cx="1374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18,37 m</a:t>
            </a:r>
            <a:endParaRPr lang="en-ID" sz="20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37CEFB-594B-E9B5-BF85-220E2A23729C}"/>
              </a:ext>
            </a:extLst>
          </p:cNvPr>
          <p:cNvSpPr txBox="1"/>
          <p:nvPr/>
        </p:nvSpPr>
        <p:spPr>
          <a:xfrm>
            <a:off x="9749232" y="4779930"/>
            <a:ext cx="20750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WJR1-2 Wellhead Stack up with 2 MVs</a:t>
            </a:r>
            <a:endParaRPr lang="en-ID" sz="1400" dirty="0"/>
          </a:p>
        </p:txBody>
      </p:sp>
    </p:spTree>
    <p:extLst>
      <p:ext uri="{BB962C8B-B14F-4D97-AF65-F5344CB8AC3E}">
        <p14:creationId xmlns:p14="http://schemas.microsoft.com/office/powerpoint/2010/main" val="2547141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D0136-900F-0D7A-0DC6-42FAC146B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5DA66-3821-CCDD-2056-08762EB99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5744"/>
            <a:ext cx="8370455" cy="789420"/>
          </a:xfrm>
        </p:spPr>
        <p:txBody>
          <a:bodyPr>
            <a:normAutofit/>
          </a:bodyPr>
          <a:lstStyle/>
          <a:p>
            <a:r>
              <a:rPr lang="en-US" sz="3600" dirty="0"/>
              <a:t>WJR1-2 Wellhead + Production Line</a:t>
            </a:r>
            <a:endParaRPr lang="en-ID" sz="3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E97AD7-ED03-4FCB-9A67-D4935368BB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144"/>
          <a:stretch>
            <a:fillRect/>
          </a:stretch>
        </p:blipFill>
        <p:spPr>
          <a:xfrm>
            <a:off x="227745" y="905164"/>
            <a:ext cx="10371804" cy="37083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4F1B95-F2CF-BEAF-8C81-4C77F9F02EE8}"/>
              </a:ext>
            </a:extLst>
          </p:cNvPr>
          <p:cNvSpPr txBox="1"/>
          <p:nvPr/>
        </p:nvSpPr>
        <p:spPr>
          <a:xfrm>
            <a:off x="527049" y="4737100"/>
            <a:ext cx="111379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Design-1:</a:t>
            </a:r>
            <a:r>
              <a:rPr lang="en-US" dirty="0"/>
              <a:t> 20” Pipe </a:t>
            </a:r>
            <a:r>
              <a:rPr lang="en-US" dirty="0">
                <a:sym typeface="Wingdings" panose="05000000000000000000" pitchFamily="2" charset="2"/>
              </a:rPr>
              <a:t> 20” x 12” Reducer  12” Pipe  12” ANSI 900 Master Valve  12”x12”x12” Flow TEE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Design-2:</a:t>
            </a:r>
            <a:r>
              <a:rPr lang="en-US" dirty="0"/>
              <a:t> 20” Pipe </a:t>
            </a:r>
            <a:r>
              <a:rPr lang="en-US" dirty="0">
                <a:sym typeface="Wingdings" panose="05000000000000000000" pitchFamily="2" charset="2"/>
              </a:rPr>
              <a:t> 20” x 14” Reducer  14” Pipe  12” ANSI 900 Master Valve  12”x12”x12” Flow TEE</a:t>
            </a: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D" dirty="0"/>
          </a:p>
        </p:txBody>
      </p:sp>
      <p:pic>
        <p:nvPicPr>
          <p:cNvPr id="6" name="Picture 5" descr="Abstract Question Mark 59245748 PNG">
            <a:extLst>
              <a:ext uri="{FF2B5EF4-FFF2-40B4-BE49-F238E27FC236}">
                <a16:creationId xmlns:a16="http://schemas.microsoft.com/office/drawing/2014/main" id="{2C9F3832-EB9D-F811-6856-7006BD8C6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547" y="5402983"/>
            <a:ext cx="771253" cy="998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660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21428-E5FD-FA90-BA3A-CDB71461D2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1655763"/>
            <a:ext cx="11496040" cy="2387600"/>
          </a:xfrm>
        </p:spPr>
        <p:txBody>
          <a:bodyPr>
            <a:normAutofit/>
          </a:bodyPr>
          <a:lstStyle/>
          <a:p>
            <a:r>
              <a:rPr lang="en-US" sz="96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Wellhead Integrity</a:t>
            </a:r>
            <a:endParaRPr lang="en-US" dirty="0"/>
          </a:p>
        </p:txBody>
      </p:sp>
      <p:pic>
        <p:nvPicPr>
          <p:cNvPr id="5" name="Google Shape;185;p1">
            <a:extLst>
              <a:ext uri="{FF2B5EF4-FFF2-40B4-BE49-F238E27FC236}">
                <a16:creationId xmlns:a16="http://schemas.microsoft.com/office/drawing/2014/main" id="{807E690D-55C2-64F5-56A3-274DC39EDE9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04969" y="4958101"/>
            <a:ext cx="2438400" cy="1150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0" descr="SOL Logo.JPG">
            <a:extLst>
              <a:ext uri="{FF2B5EF4-FFF2-40B4-BE49-F238E27FC236}">
                <a16:creationId xmlns:a16="http://schemas.microsoft.com/office/drawing/2014/main" id="{607916EE-EC37-FB7E-C21C-F9D9C5C0CC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96814" y="5202236"/>
            <a:ext cx="2798372" cy="662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A8CFB4-0910-CE54-46AB-A34AC281B5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8631" y="4771302"/>
            <a:ext cx="1520955" cy="152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511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0EEE7-B4F7-48B2-6024-D6E68BE79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222F0-4C7D-909C-335F-214A692E3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2175"/>
          </a:xfrm>
        </p:spPr>
        <p:txBody>
          <a:bodyPr>
            <a:normAutofit/>
          </a:bodyPr>
          <a:lstStyle/>
          <a:p>
            <a:r>
              <a:rPr lang="en-US" sz="3600" dirty="0"/>
              <a:t>Geothermal Wellhead in Vulcanic Area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690E15-2D81-786E-223B-B851EE2B93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02" t="857" r="2581"/>
          <a:stretch/>
        </p:blipFill>
        <p:spPr>
          <a:xfrm>
            <a:off x="8337605" y="1145437"/>
            <a:ext cx="2471759" cy="48958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2E9B90B-5F95-E453-CA16-7853A26C9422}"/>
              </a:ext>
            </a:extLst>
          </p:cNvPr>
          <p:cNvSpPr txBox="1"/>
          <p:nvPr/>
        </p:nvSpPr>
        <p:spPr>
          <a:xfrm>
            <a:off x="9639770" y="1656069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API 6D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BA7462-386A-7270-0DE5-9DB898E5D333}"/>
              </a:ext>
            </a:extLst>
          </p:cNvPr>
          <p:cNvSpPr txBox="1"/>
          <p:nvPr/>
        </p:nvSpPr>
        <p:spPr>
          <a:xfrm>
            <a:off x="10890069" y="3243302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API 6D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5444DE-95A9-057C-D3A1-5B5DE3FCFB47}"/>
              </a:ext>
            </a:extLst>
          </p:cNvPr>
          <p:cNvSpPr txBox="1"/>
          <p:nvPr/>
        </p:nvSpPr>
        <p:spPr>
          <a:xfrm>
            <a:off x="10890069" y="4289782"/>
            <a:ext cx="806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API 6D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57BA1A-CAB0-3F55-27A4-DC14F1FB7397}"/>
              </a:ext>
            </a:extLst>
          </p:cNvPr>
          <p:cNvSpPr txBox="1"/>
          <p:nvPr/>
        </p:nvSpPr>
        <p:spPr>
          <a:xfrm>
            <a:off x="10410857" y="5979909"/>
            <a:ext cx="797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API 6A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896A2D-A92D-C004-C67F-8909D92DDB76}"/>
              </a:ext>
            </a:extLst>
          </p:cNvPr>
          <p:cNvSpPr txBox="1"/>
          <p:nvPr/>
        </p:nvSpPr>
        <p:spPr>
          <a:xfrm>
            <a:off x="9853748" y="2425202"/>
            <a:ext cx="797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API 6A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BD89E8-9DFD-E727-86DF-BB9BAC4AEAA1}"/>
              </a:ext>
            </a:extLst>
          </p:cNvPr>
          <p:cNvSpPr txBox="1"/>
          <p:nvPr/>
        </p:nvSpPr>
        <p:spPr>
          <a:xfrm>
            <a:off x="10322994" y="5580609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API 6D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1564D283-9A02-BAD1-6938-5F9B51E635A5}"/>
              </a:ext>
            </a:extLst>
          </p:cNvPr>
          <p:cNvCxnSpPr>
            <a:endCxn id="13" idx="1"/>
          </p:cNvCxnSpPr>
          <p:nvPr/>
        </p:nvCxnSpPr>
        <p:spPr>
          <a:xfrm>
            <a:off x="9853748" y="5367424"/>
            <a:ext cx="469246" cy="397851"/>
          </a:xfrm>
          <a:prstGeom prst="bentConnector3">
            <a:avLst>
              <a:gd name="adj1" fmla="val -4129"/>
            </a:avLst>
          </a:prstGeom>
          <a:ln w="254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68452F55-A3B2-8B96-233E-F1E1CB10C562}"/>
              </a:ext>
            </a:extLst>
          </p:cNvPr>
          <p:cNvCxnSpPr>
            <a:cxnSpLocks/>
          </p:cNvCxnSpPr>
          <p:nvPr/>
        </p:nvCxnSpPr>
        <p:spPr>
          <a:xfrm>
            <a:off x="9298864" y="5272667"/>
            <a:ext cx="1111993" cy="875663"/>
          </a:xfrm>
          <a:prstGeom prst="bentConnector3">
            <a:avLst>
              <a:gd name="adj1" fmla="val 662"/>
            </a:avLst>
          </a:prstGeom>
          <a:ln w="254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AEB825F-5AF5-87DC-095E-FD872C73EDF6}"/>
              </a:ext>
            </a:extLst>
          </p:cNvPr>
          <p:cNvGraphicFramePr>
            <a:graphicFrameLocks noGrp="1"/>
          </p:cNvGraphicFramePr>
          <p:nvPr/>
        </p:nvGraphicFramePr>
        <p:xfrm>
          <a:off x="969764" y="2795566"/>
          <a:ext cx="4485587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2115">
                  <a:extLst>
                    <a:ext uri="{9D8B030D-6E8A-4147-A177-3AD203B41FA5}">
                      <a16:colId xmlns:a16="http://schemas.microsoft.com/office/drawing/2014/main" val="4145752353"/>
                    </a:ext>
                  </a:extLst>
                </a:gridCol>
                <a:gridCol w="2423472">
                  <a:extLst>
                    <a:ext uri="{9D8B030D-6E8A-4147-A177-3AD203B41FA5}">
                      <a16:colId xmlns:a16="http://schemas.microsoft.com/office/drawing/2014/main" val="15831637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ASME B16.5 flanges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API type 6B flanges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881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  <a:latin typeface="Arial" panose="020B0604020202020204" pitchFamily="34" charset="0"/>
                        </a:rPr>
                        <a:t>3" CLASS 600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none" dirty="0"/>
                        <a:t>3-1/8” 2M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8785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  <a:latin typeface="Arial" panose="020B0604020202020204" pitchFamily="34" charset="0"/>
                        </a:rPr>
                        <a:t>3" CLASS 900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none" dirty="0"/>
                        <a:t>3-1/8” 3M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1321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  <a:latin typeface="Arial" panose="020B0604020202020204" pitchFamily="34" charset="0"/>
                        </a:rPr>
                        <a:t>3" CLASS 1500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none" dirty="0"/>
                        <a:t>3-1/8” 5M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0302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  <a:latin typeface="Arial" panose="020B0604020202020204" pitchFamily="34" charset="0"/>
                        </a:rPr>
                        <a:t>12" CLASS 600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none" dirty="0"/>
                        <a:t>13-5/8” 2M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0894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  <a:latin typeface="Arial" panose="020B0604020202020204" pitchFamily="34" charset="0"/>
                        </a:rPr>
                        <a:t>12" CLASS 900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none" dirty="0"/>
                        <a:t>13-5/8” 3M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824390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3181B135-22F5-1C2A-8123-754E902F06C0}"/>
              </a:ext>
            </a:extLst>
          </p:cNvPr>
          <p:cNvSpPr txBox="1"/>
          <p:nvPr/>
        </p:nvSpPr>
        <p:spPr>
          <a:xfrm>
            <a:off x="602632" y="1080012"/>
            <a:ext cx="10858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API SPEC 6D valves &amp; ASME B 16.5 flanges Pressure rating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DEB9C4-CBAC-E940-8C7B-54D2417D4138}"/>
              </a:ext>
            </a:extLst>
          </p:cNvPr>
          <p:cNvSpPr txBox="1"/>
          <p:nvPr/>
        </p:nvSpPr>
        <p:spPr>
          <a:xfrm>
            <a:off x="602632" y="1828800"/>
            <a:ext cx="85817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7 pressure rating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ASME B 16.5, 2013 gives pressure derating tables for different materials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FF0000"/>
                </a:solidFill>
              </a:rPr>
              <a:t>Some  API Type 6B flanges are compatible with ASME B16.5 flanges. Examples:</a:t>
            </a:r>
          </a:p>
        </p:txBody>
      </p:sp>
    </p:spTree>
    <p:extLst>
      <p:ext uri="{BB962C8B-B14F-4D97-AF65-F5344CB8AC3E}">
        <p14:creationId xmlns:p14="http://schemas.microsoft.com/office/powerpoint/2010/main" val="2246063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CF159-D426-7F2C-FD02-5CA956B8D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10D5B-741A-0985-09A4-D10D64D09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2601"/>
            <a:ext cx="10515600" cy="892175"/>
          </a:xfrm>
        </p:spPr>
        <p:txBody>
          <a:bodyPr/>
          <a:lstStyle/>
          <a:p>
            <a:r>
              <a:rPr lang="en-US" dirty="0"/>
              <a:t>API-6A versus ASME/ANSI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CD05EBB-AB5C-9F8C-9648-305D04D65358}"/>
              </a:ext>
            </a:extLst>
          </p:cNvPr>
          <p:cNvGraphicFramePr>
            <a:graphicFrameLocks noGrp="1"/>
          </p:cNvGraphicFramePr>
          <p:nvPr/>
        </p:nvGraphicFramePr>
        <p:xfrm>
          <a:off x="799198" y="1697648"/>
          <a:ext cx="10378441" cy="2767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0722">
                  <a:extLst>
                    <a:ext uri="{9D8B030D-6E8A-4147-A177-3AD203B41FA5}">
                      <a16:colId xmlns:a16="http://schemas.microsoft.com/office/drawing/2014/main" val="265595785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83597154"/>
                    </a:ext>
                  </a:extLst>
                </a:gridCol>
                <a:gridCol w="3943719">
                  <a:extLst>
                    <a:ext uri="{9D8B030D-6E8A-4147-A177-3AD203B41FA5}">
                      <a16:colId xmlns:a16="http://schemas.microsoft.com/office/drawing/2014/main" val="34335703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The Differences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ASME/ANSI B16.5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API 6A</a:t>
                      </a:r>
                    </a:p>
                    <a:p>
                      <a:r>
                        <a:rPr lang="en-US" sz="2000" dirty="0"/>
                        <a:t>Pressure Class Rating (Psi)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9107405"/>
                  </a:ext>
                </a:extLst>
              </a:tr>
              <a:tr h="481672">
                <a:tc>
                  <a:txBody>
                    <a:bodyPr/>
                    <a:lstStyle/>
                    <a:p>
                      <a:r>
                        <a:rPr lang="en-US" sz="2000" dirty="0"/>
                        <a:t>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12” - 900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13-/8” – 3M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1338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Pressure 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2250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3000 psi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09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Pressure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3375 psi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(150% Pressure Rating)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6000 psi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(200% Pressure Rating)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617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Sample 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WCC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AISI 4130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077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Prices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Higher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13761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686CDCA-BBBC-85CE-03B9-DD7522B91506}"/>
              </a:ext>
            </a:extLst>
          </p:cNvPr>
          <p:cNvSpPr txBox="1"/>
          <p:nvPr/>
        </p:nvSpPr>
        <p:spPr>
          <a:xfrm>
            <a:off x="711200" y="4788192"/>
            <a:ext cx="106426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Grade WCC is covered by ASTM A216 standard, which specification covers carbon steel castings for valves, fittings, flanges and other pressure-containing parts for high temperature service and the quality required for assembly with other castings or wrought steel parts by fusion welding.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Flange 12"-900 is interchangeable with 13-5/8"-3M</a:t>
            </a:r>
          </a:p>
        </p:txBody>
      </p:sp>
    </p:spTree>
    <p:extLst>
      <p:ext uri="{BB962C8B-B14F-4D97-AF65-F5344CB8AC3E}">
        <p14:creationId xmlns:p14="http://schemas.microsoft.com/office/powerpoint/2010/main" val="2324936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642A3-4178-C3E5-ABE1-C1D868DD8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7D09FCC-7FBA-AC5F-8F79-0B41617C7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756" y="1366812"/>
            <a:ext cx="2539059" cy="49509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4430AE-1151-E3FE-4E62-970B9D7F1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4555"/>
          </a:xfrm>
        </p:spPr>
        <p:txBody>
          <a:bodyPr/>
          <a:lstStyle/>
          <a:p>
            <a:r>
              <a:rPr lang="en-US" dirty="0"/>
              <a:t>Wellhead Configuration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4AF432-6B23-136E-0447-12F8FB70FF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02" t="857" r="2581"/>
          <a:stretch/>
        </p:blipFill>
        <p:spPr>
          <a:xfrm>
            <a:off x="5533429" y="1555177"/>
            <a:ext cx="2471759" cy="48958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B99316-8E07-BBD0-32AA-25538D8431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837" y="1740405"/>
            <a:ext cx="2600325" cy="4600575"/>
          </a:xfrm>
          <a:prstGeom prst="rect">
            <a:avLst/>
          </a:prstGeom>
        </p:spPr>
      </p:pic>
      <p:sp>
        <p:nvSpPr>
          <p:cNvPr id="3" name="Arrow: Left 2">
            <a:extLst>
              <a:ext uri="{FF2B5EF4-FFF2-40B4-BE49-F238E27FC236}">
                <a16:creationId xmlns:a16="http://schemas.microsoft.com/office/drawing/2014/main" id="{4AC36EFD-A9F9-A3F5-8A24-E722744AF5BE}"/>
              </a:ext>
            </a:extLst>
          </p:cNvPr>
          <p:cNvSpPr/>
          <p:nvPr/>
        </p:nvSpPr>
        <p:spPr>
          <a:xfrm flipH="1">
            <a:off x="5099313" y="2978214"/>
            <a:ext cx="606022" cy="1803400"/>
          </a:xfrm>
          <a:prstGeom prst="left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Left 3">
            <a:extLst>
              <a:ext uri="{FF2B5EF4-FFF2-40B4-BE49-F238E27FC236}">
                <a16:creationId xmlns:a16="http://schemas.microsoft.com/office/drawing/2014/main" id="{780E2FF0-FBB9-7A64-D56D-9E3EB7FD6A23}"/>
              </a:ext>
            </a:extLst>
          </p:cNvPr>
          <p:cNvSpPr/>
          <p:nvPr/>
        </p:nvSpPr>
        <p:spPr>
          <a:xfrm flipH="1">
            <a:off x="8111591" y="2978214"/>
            <a:ext cx="606022" cy="1803400"/>
          </a:xfrm>
          <a:prstGeom prst="left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186DC009-D5BA-6E65-8DF7-C9A9322F6C7C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74598" y="2204721"/>
            <a:ext cx="3193565" cy="3129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0310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3D3EE-7C90-01FB-E281-E0C6911BE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4100A-A622-C360-7A42-DF65A8C52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Wellhead Specification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74CE4-03C8-D5FE-F758-79E1BDB3BE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4960"/>
            <a:ext cx="10769600" cy="4592003"/>
          </a:xfrm>
        </p:spPr>
        <p:txBody>
          <a:bodyPr>
            <a:normAutofit/>
          </a:bodyPr>
          <a:lstStyle/>
          <a:p>
            <a:r>
              <a:rPr lang="en-US" sz="2000" dirty="0"/>
              <a:t>13-3/8” SOW x 13-5/8” 3K x Master Valve.</a:t>
            </a:r>
          </a:p>
          <a:p>
            <a:r>
              <a:rPr lang="en-US" sz="2000" dirty="0"/>
              <a:t>13-3/8” SOW x 13-5/8” 3K: should have port for pressure test using N2.</a:t>
            </a:r>
          </a:p>
          <a:p>
            <a:r>
              <a:rPr lang="en-US" sz="2000" dirty="0"/>
              <a:t>Running Tool to run pre-welded wellhead.</a:t>
            </a:r>
          </a:p>
          <a:p>
            <a:r>
              <a:rPr lang="en-US" sz="2000" dirty="0"/>
              <a:t>Easy to operate Master Valve (close and open with steam pressure under the valve)</a:t>
            </a:r>
          </a:p>
          <a:p>
            <a:r>
              <a:rPr lang="en-US" sz="2000" dirty="0">
                <a:solidFill>
                  <a:srgbClr val="C00000"/>
                </a:solidFill>
              </a:rPr>
              <a:t>Flushing port to clean up any debris on valve’s gate</a:t>
            </a:r>
          </a:p>
          <a:p>
            <a:r>
              <a:rPr lang="en-US" sz="2000" dirty="0">
                <a:solidFill>
                  <a:srgbClr val="C00000"/>
                </a:solidFill>
              </a:rPr>
              <a:t>Provide manual guide for installation, close and open, maintenance, etc.</a:t>
            </a:r>
          </a:p>
          <a:p>
            <a:r>
              <a:rPr lang="en-US" sz="2000" dirty="0">
                <a:solidFill>
                  <a:srgbClr val="C00000"/>
                </a:solidFill>
              </a:rPr>
              <a:t>No threaded connection</a:t>
            </a:r>
          </a:p>
          <a:p>
            <a:r>
              <a:rPr lang="en-US" sz="2000" dirty="0">
                <a:solidFill>
                  <a:srgbClr val="C00000"/>
                </a:solidFill>
              </a:rPr>
              <a:t>Flange type instead of studded</a:t>
            </a:r>
          </a:p>
          <a:p>
            <a:r>
              <a:rPr lang="en-US" sz="2000" dirty="0"/>
              <a:t>Expandable Gate type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56916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5992F-33AA-61DA-045B-6B59E1FBD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2B2A3-25C7-4527-65D2-A59A5D408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4555"/>
          </a:xfrm>
        </p:spPr>
        <p:txBody>
          <a:bodyPr/>
          <a:lstStyle/>
          <a:p>
            <a:r>
              <a:rPr lang="en-US" dirty="0"/>
              <a:t>SOL Wellhead Configuration 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A47209-02F4-E60E-DA61-533F47A2F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453844"/>
            <a:ext cx="3519717" cy="46929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E9CD6B5-E047-39CE-ABDD-014FE0AAEE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261" y="1453844"/>
            <a:ext cx="3519717" cy="46929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053A6D-58A3-816D-8C5F-C829C5D899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02" t="857" r="2581"/>
          <a:stretch/>
        </p:blipFill>
        <p:spPr>
          <a:xfrm>
            <a:off x="8976810" y="1250938"/>
            <a:ext cx="2471759" cy="4895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1332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7968C-228A-A315-E979-DC2F2474D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89D4A-FF4F-3316-4769-01DCC92D6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Flange vs Studded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4C2FD4-7510-3ED8-6B78-4B037AE49A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436" y="1690688"/>
            <a:ext cx="4577080" cy="427573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5A9760-879C-184C-ABE0-2ED417909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2782" y="1576916"/>
            <a:ext cx="4155017" cy="415501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A65E70A-6907-BB89-F66B-2E6978AA6752}"/>
              </a:ext>
            </a:extLst>
          </p:cNvPr>
          <p:cNvSpPr txBox="1"/>
          <p:nvPr/>
        </p:nvSpPr>
        <p:spPr>
          <a:xfrm>
            <a:off x="8272535" y="4064386"/>
            <a:ext cx="1056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Studded</a:t>
            </a:r>
            <a:endParaRPr lang="en-ID" sz="2000" dirty="0">
              <a:solidFill>
                <a:srgbClr val="FF0000"/>
              </a:solidFill>
            </a:endParaRPr>
          </a:p>
        </p:txBody>
      </p:sp>
      <p:sp>
        <p:nvSpPr>
          <p:cNvPr id="6" name="Arrow: Up 5">
            <a:extLst>
              <a:ext uri="{FF2B5EF4-FFF2-40B4-BE49-F238E27FC236}">
                <a16:creationId xmlns:a16="http://schemas.microsoft.com/office/drawing/2014/main" id="{6C012E57-C1BB-0FCF-85C5-2149866FD7AE}"/>
              </a:ext>
            </a:extLst>
          </p:cNvPr>
          <p:cNvSpPr/>
          <p:nvPr/>
        </p:nvSpPr>
        <p:spPr>
          <a:xfrm rot="16876942">
            <a:off x="8346805" y="3760242"/>
            <a:ext cx="487681" cy="331470"/>
          </a:xfrm>
          <a:prstGeom prst="up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4AEB39-C2C3-085F-A6CC-351256B76B6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02" t="857" r="2581"/>
          <a:stretch/>
        </p:blipFill>
        <p:spPr>
          <a:xfrm>
            <a:off x="9437107" y="981069"/>
            <a:ext cx="2471759" cy="48958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25CA297-F166-AFE8-2CFA-8F2B421FC2FD}"/>
              </a:ext>
            </a:extLst>
          </p:cNvPr>
          <p:cNvSpPr txBox="1"/>
          <p:nvPr/>
        </p:nvSpPr>
        <p:spPr>
          <a:xfrm>
            <a:off x="9437107" y="5966422"/>
            <a:ext cx="26097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All Flange Connection</a:t>
            </a:r>
            <a:endParaRPr lang="en-ID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25168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F24BB-307A-F7EA-A89B-07D4DBA92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9843B-7B05-2B2C-860D-4700AE70D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Flange vs Studded 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711B347D-1481-1573-83F3-433538EEC08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597" cy="411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5640">
                  <a:extLst>
                    <a:ext uri="{9D8B030D-6E8A-4147-A177-3AD203B41FA5}">
                      <a16:colId xmlns:a16="http://schemas.microsoft.com/office/drawing/2014/main" val="1152099649"/>
                    </a:ext>
                  </a:extLst>
                </a:gridCol>
                <a:gridCol w="4236720">
                  <a:extLst>
                    <a:ext uri="{9D8B030D-6E8A-4147-A177-3AD203B41FA5}">
                      <a16:colId xmlns:a16="http://schemas.microsoft.com/office/drawing/2014/main" val="2194523303"/>
                    </a:ext>
                  </a:extLst>
                </a:gridCol>
                <a:gridCol w="4333237">
                  <a:extLst>
                    <a:ext uri="{9D8B030D-6E8A-4147-A177-3AD203B41FA5}">
                      <a16:colId xmlns:a16="http://schemas.microsoft.com/office/drawing/2014/main" val="10967414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Flange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Studded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4730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Advantage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lphaLcPeriod"/>
                      </a:pP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Cheaper</a:t>
                      </a:r>
                      <a:r>
                        <a:rPr lang="en-US" dirty="0"/>
                        <a:t> due to simple raw material shape and easier to fabricate</a:t>
                      </a:r>
                    </a:p>
                    <a:p>
                      <a:pPr marL="342900" indent="-342900">
                        <a:buFont typeface="+mj-lt"/>
                        <a:buAutoNum type="alphaLcPeriod"/>
                      </a:pP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Easier to replace </a:t>
                      </a:r>
                      <a:r>
                        <a:rPr lang="en-US" dirty="0"/>
                        <a:t>bolt and nuts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dirty="0"/>
                        <a:t>More bending moment resistance of wing valve flange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dirty="0"/>
                        <a:t>No welded, no risk of crack on welding section.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785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Disadvantage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dirty="0"/>
                        <a:t>Less bending moment resistance of wing valve flange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dirty="0"/>
                        <a:t>If wings valve flange is welded, risk of crack on welding section.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Expensive </a:t>
                      </a:r>
                      <a:r>
                        <a:rPr lang="en-US" dirty="0"/>
                        <a:t>due to more complicated raw material shape and more difficult to fabricate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Risk of stud stuck </a:t>
                      </a:r>
                      <a:r>
                        <a:rPr lang="en-US" dirty="0"/>
                        <a:t>due to corrosion (acid environment or two different metal contact). It will difficult to be replaced. 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6734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2387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13EED-CD82-71FF-27F9-E3B5E6270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A1AE9-758B-75C3-C2FE-3DE507E1A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2200" y="365125"/>
            <a:ext cx="6451599" cy="981075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Flow TEE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20715-E906-C1E5-6662-FE3DFB7B0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1960" y="1479127"/>
            <a:ext cx="6884159" cy="4951097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Welded Flange Type Flow Tee</a:t>
            </a:r>
          </a:p>
          <a:p>
            <a:r>
              <a:rPr lang="en-US" dirty="0"/>
              <a:t>12”X12”X12”-ANSI 900, R-57 / RX-57</a:t>
            </a:r>
          </a:p>
          <a:p>
            <a:r>
              <a:rPr lang="en-US" dirty="0"/>
              <a:t>Full Bore 12-⅜ inch.</a:t>
            </a:r>
          </a:p>
          <a:p>
            <a:r>
              <a:rPr lang="en-US" dirty="0"/>
              <a:t>Flange type connection</a:t>
            </a:r>
          </a:p>
          <a:p>
            <a:r>
              <a:rPr lang="en-US" dirty="0"/>
              <a:t>Advantage:</a:t>
            </a:r>
          </a:p>
          <a:p>
            <a:pPr marL="690563" indent="-457200">
              <a:buFont typeface="+mj-lt"/>
              <a:buAutoNum type="alphaLcPeriod"/>
            </a:pPr>
            <a:r>
              <a:rPr lang="en-US" sz="2400" dirty="0"/>
              <a:t>Competitive price</a:t>
            </a:r>
          </a:p>
          <a:p>
            <a:pPr marL="690563" indent="-457200">
              <a:buFont typeface="+mj-lt"/>
              <a:buAutoNum type="alphaLcPeriod"/>
            </a:pPr>
            <a:r>
              <a:rPr lang="en-US" sz="2400" dirty="0"/>
              <a:t>Local product</a:t>
            </a:r>
          </a:p>
          <a:p>
            <a:pPr marL="690563" indent="-457200">
              <a:buFont typeface="+mj-lt"/>
              <a:buAutoNum type="alphaLcPeriod"/>
            </a:pPr>
            <a:r>
              <a:rPr lang="en-US" sz="2400" dirty="0"/>
              <a:t>Lighter weight</a:t>
            </a:r>
          </a:p>
          <a:p>
            <a:pPr marL="690563" indent="-457200">
              <a:buFont typeface="+mj-lt"/>
              <a:buAutoNum type="alphaLcPeriod"/>
            </a:pPr>
            <a:r>
              <a:rPr lang="en-US" sz="2400" dirty="0">
                <a:solidFill>
                  <a:srgbClr val="C00000"/>
                </a:solidFill>
              </a:rPr>
              <a:t>Easy for installation and maintenance</a:t>
            </a:r>
          </a:p>
          <a:p>
            <a:pPr marL="690563" indent="-457200">
              <a:buFont typeface="+mj-lt"/>
              <a:buAutoNum type="alphaLcPeriod"/>
            </a:pPr>
            <a:r>
              <a:rPr lang="en-US" sz="2400" dirty="0">
                <a:solidFill>
                  <a:srgbClr val="C00000"/>
                </a:solidFill>
              </a:rPr>
              <a:t>Easy to replace bolts and nuts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463FED-FA2D-AA40-F288-1A33C5ED4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865374" y="2461603"/>
            <a:ext cx="5806647" cy="2986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8034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9A28E-E08C-ADA0-0B37-2A6879553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75AC4-B1DF-E2E8-8105-7E4AD6304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2200" y="365125"/>
            <a:ext cx="6451599" cy="98107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TEE Box vs Flow TEE Design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4D5509-6230-343C-DB7D-4CCCA458F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1" y="129829"/>
            <a:ext cx="3878580" cy="3878580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7017FEC-198E-63E8-EE28-27B401E14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3520" y="1427606"/>
            <a:ext cx="6884159" cy="460743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Solid Block Flow Tee Design</a:t>
            </a:r>
          </a:p>
          <a:p>
            <a:r>
              <a:rPr lang="en-US" dirty="0"/>
              <a:t>12”X12”X12”-ANSI 900, R-57 / RX-57</a:t>
            </a:r>
          </a:p>
          <a:p>
            <a:r>
              <a:rPr lang="en-US" dirty="0"/>
              <a:t>Full Bore 12-⅜ inch.</a:t>
            </a:r>
          </a:p>
          <a:p>
            <a:r>
              <a:rPr lang="en-US" dirty="0"/>
              <a:t>Studded Bolt type connection</a:t>
            </a:r>
          </a:p>
          <a:p>
            <a:r>
              <a:rPr lang="en-US" dirty="0"/>
              <a:t>Advantage:</a:t>
            </a:r>
          </a:p>
          <a:p>
            <a:pPr marL="690563" indent="-457200">
              <a:buFont typeface="+mj-lt"/>
              <a:buAutoNum type="alphaLcPeriod"/>
            </a:pPr>
            <a:r>
              <a:rPr lang="en-US" sz="2400" dirty="0"/>
              <a:t>Thicker wall.</a:t>
            </a:r>
          </a:p>
          <a:p>
            <a:r>
              <a:rPr lang="en-US" dirty="0"/>
              <a:t>Disadvantage:</a:t>
            </a:r>
          </a:p>
          <a:p>
            <a:pPr marL="690563" indent="-457200">
              <a:buFont typeface="+mj-lt"/>
              <a:buAutoNum type="alphaLcPeriod"/>
            </a:pPr>
            <a:r>
              <a:rPr lang="en-US" sz="2400" dirty="0"/>
              <a:t>Higher prices.</a:t>
            </a:r>
          </a:p>
          <a:p>
            <a:pPr marL="690563" indent="-457200">
              <a:buFont typeface="+mj-lt"/>
              <a:buAutoNum type="alphaLcPeriod"/>
            </a:pPr>
            <a:r>
              <a:rPr lang="en-US" sz="2400" dirty="0"/>
              <a:t>Heavier, more difficult for installation and maintenance.</a:t>
            </a:r>
          </a:p>
          <a:p>
            <a:pPr marL="690563" indent="-457200">
              <a:buFont typeface="+mj-lt"/>
              <a:buAutoNum type="alphaLcPeriod"/>
            </a:pPr>
            <a:r>
              <a:rPr lang="en-US" sz="2400" dirty="0">
                <a:solidFill>
                  <a:srgbClr val="C00000"/>
                </a:solidFill>
              </a:rPr>
              <a:t>Risk of stuck on stud due to corrosion (acid environment or two different metal contact), un-able to be replaced.</a:t>
            </a:r>
          </a:p>
          <a:p>
            <a:pPr marL="690563" indent="-457200">
              <a:buFont typeface="+mj-lt"/>
              <a:buAutoNum type="alphaLcPeriod"/>
            </a:pP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970EBA-F7CE-DB14-1A71-D3C3C6973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7823" y="3429000"/>
            <a:ext cx="2474378" cy="32991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1C9818-29A1-80FF-516A-B33F97282B32}"/>
              </a:ext>
            </a:extLst>
          </p:cNvPr>
          <p:cNvSpPr txBox="1"/>
          <p:nvPr/>
        </p:nvSpPr>
        <p:spPr>
          <a:xfrm>
            <a:off x="606126" y="3608299"/>
            <a:ext cx="1056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Studded</a:t>
            </a:r>
            <a:endParaRPr lang="en-ID" sz="2000" dirty="0">
              <a:solidFill>
                <a:srgbClr val="FF0000"/>
              </a:solidFill>
            </a:endParaRPr>
          </a:p>
        </p:txBody>
      </p:sp>
      <p:sp>
        <p:nvSpPr>
          <p:cNvPr id="6" name="Arrow: Up 5">
            <a:extLst>
              <a:ext uri="{FF2B5EF4-FFF2-40B4-BE49-F238E27FC236}">
                <a16:creationId xmlns:a16="http://schemas.microsoft.com/office/drawing/2014/main" id="{8B7DEAC2-11C1-4E7E-657F-BF633207A80E}"/>
              </a:ext>
            </a:extLst>
          </p:cNvPr>
          <p:cNvSpPr/>
          <p:nvPr/>
        </p:nvSpPr>
        <p:spPr>
          <a:xfrm>
            <a:off x="913709" y="3319162"/>
            <a:ext cx="487681" cy="331470"/>
          </a:xfrm>
          <a:prstGeom prst="up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1EF7B7-4CDA-5647-BBA8-9BB0691C4072}"/>
              </a:ext>
            </a:extLst>
          </p:cNvPr>
          <p:cNvSpPr txBox="1"/>
          <p:nvPr/>
        </p:nvSpPr>
        <p:spPr>
          <a:xfrm>
            <a:off x="1574785" y="4926559"/>
            <a:ext cx="8670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Flange</a:t>
            </a:r>
            <a:endParaRPr lang="en-ID" sz="2000" dirty="0">
              <a:solidFill>
                <a:srgbClr val="FF0000"/>
              </a:solidFill>
            </a:endParaRPr>
          </a:p>
        </p:txBody>
      </p:sp>
      <p:sp>
        <p:nvSpPr>
          <p:cNvPr id="8" name="Arrow: Up 7">
            <a:extLst>
              <a:ext uri="{FF2B5EF4-FFF2-40B4-BE49-F238E27FC236}">
                <a16:creationId xmlns:a16="http://schemas.microsoft.com/office/drawing/2014/main" id="{D65E4D1D-5907-2BB0-9795-94DDA60E324F}"/>
              </a:ext>
            </a:extLst>
          </p:cNvPr>
          <p:cNvSpPr/>
          <p:nvPr/>
        </p:nvSpPr>
        <p:spPr>
          <a:xfrm rot="5400000">
            <a:off x="2502511" y="5008705"/>
            <a:ext cx="487681" cy="331470"/>
          </a:xfrm>
          <a:prstGeom prst="up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817130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FDAD9-2C46-620D-B055-99F9956B6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C3B1C-8E5F-FE80-DC80-DF5167DD3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880" y="365125"/>
            <a:ext cx="10662919" cy="981075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Section A Welded Design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4276713-9884-807C-664A-BFC8AD50D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566" y="1429385"/>
            <a:ext cx="10515600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Pre-welded Section A wellhead is preferable: </a:t>
            </a:r>
          </a:p>
          <a:p>
            <a:pPr lvl="1"/>
            <a:r>
              <a:rPr lang="en-US" dirty="0"/>
              <a:t>welded in workshop, safe area (not expose to well hazardous)</a:t>
            </a:r>
          </a:p>
          <a:p>
            <a:pPr lvl="1"/>
            <a:r>
              <a:rPr lang="en-US" dirty="0"/>
              <a:t>no time constraint, fabricated off line without disturbing rig time</a:t>
            </a:r>
          </a:p>
          <a:p>
            <a:pPr lvl="1"/>
            <a:r>
              <a:rPr lang="en-US" dirty="0"/>
              <a:t>30-40 hours rig time saving and </a:t>
            </a:r>
          </a:p>
          <a:p>
            <a:pPr lvl="1"/>
            <a:r>
              <a:rPr lang="en-US" dirty="0"/>
              <a:t>proper welded result where if any defect, welder could re-do it without any hurry.</a:t>
            </a:r>
          </a:p>
          <a:p>
            <a:pPr lvl="1"/>
            <a:r>
              <a:rPr lang="en-US" dirty="0"/>
              <a:t>Cheaper welding cost, one call welder could do more than one welding job.</a:t>
            </a:r>
          </a:p>
          <a:p>
            <a:pPr lvl="1"/>
            <a:r>
              <a:rPr lang="en-US" dirty="0"/>
              <a:t>Only for dual string production string design instead of long string design.</a:t>
            </a:r>
          </a:p>
          <a:p>
            <a:r>
              <a:rPr lang="en-US" dirty="0"/>
              <a:t>Proper welding procedure refer to Boiler and Pressure Vessel (ASME Sec. VIII &amp; Sec. IX). 13-5/8" Casing Head is API 6A Product, and stated in API 6A 7.3.4 Welding Procedure Qualifications, 7.3.4.1 Written Procedure.</a:t>
            </a:r>
          </a:p>
        </p:txBody>
      </p:sp>
    </p:spTree>
    <p:extLst>
      <p:ext uri="{BB962C8B-B14F-4D97-AF65-F5344CB8AC3E}">
        <p14:creationId xmlns:p14="http://schemas.microsoft.com/office/powerpoint/2010/main" val="6762076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51530-FBDD-D8D1-3A88-F87FBB361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26350-AC18-7E34-75A8-C77AD8A8F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880" y="365125"/>
            <a:ext cx="10662919" cy="98107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Section A Welded Design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sz="2000" b="1" dirty="0">
                <a:solidFill>
                  <a:schemeClr val="tx2"/>
                </a:solidFill>
              </a:rPr>
              <a:t>WELDING PROCEDURE: 13-5/8" CASING HEAD (AISI 4130 Low Alloy Steel) TO 13-3/8" CASING L-80 (Carbon Steel)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BACCBAA-C67D-380B-446C-31CD1F081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80" y="1592897"/>
            <a:ext cx="5124450" cy="48101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56CAFCC-706B-926F-3C71-4FE239C1C233}"/>
              </a:ext>
            </a:extLst>
          </p:cNvPr>
          <p:cNvSpPr txBox="1"/>
          <p:nvPr/>
        </p:nvSpPr>
        <p:spPr>
          <a:xfrm>
            <a:off x="5483859" y="2393297"/>
            <a:ext cx="5124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13-5/8" CASING HEAD (AISI 4130 Low Alloy Steel)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24F225-CE10-5C86-758F-01454117BB39}"/>
              </a:ext>
            </a:extLst>
          </p:cNvPr>
          <p:cNvSpPr txBox="1"/>
          <p:nvPr/>
        </p:nvSpPr>
        <p:spPr>
          <a:xfrm>
            <a:off x="4592320" y="59062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C00000"/>
                </a:solidFill>
              </a:rPr>
              <a:t>13-3/8" CASING L-80 (Carbon Steel)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49305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>
          <a:xfrm>
            <a:off x="627195" y="220336"/>
            <a:ext cx="10841363" cy="734861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4000" b="1" dirty="0">
                <a:solidFill>
                  <a:srgbClr val="D24726"/>
                </a:solidFill>
              </a:rPr>
              <a:t>Permanent 13-5/8” Wellhead Housing Installation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F0BC5C-8661-F97F-FCA4-6A677E8F09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195" y="1408096"/>
            <a:ext cx="5132299" cy="4794399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69509F7-2E51-4742-6A17-4136F811E2F4}"/>
              </a:ext>
            </a:extLst>
          </p:cNvPr>
          <p:cNvSpPr txBox="1"/>
          <p:nvPr/>
        </p:nvSpPr>
        <p:spPr>
          <a:xfrm>
            <a:off x="6096000" y="1408096"/>
            <a:ext cx="5372559" cy="462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13-5/8” Wellhead Housing Installation, 2 method: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ID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romanLcPeriod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Online Wellhead Installation (Pemasangan langsung) 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Vertical Welding at Cellar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romanLcPeriod"/>
            </a:pPr>
            <a:endParaRPr lang="en-ID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LcPeriod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 Pre-Welded Wellhead Installation: Pre-Welded Wellhead Housing with Casing 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Horizontal Welding at Workshop</a:t>
            </a:r>
            <a:endParaRPr lang="en-ID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5807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AF027-315D-4F1B-8615-C969D8589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1142473" cy="640080"/>
          </a:xfrm>
        </p:spPr>
        <p:txBody>
          <a:bodyPr>
            <a:normAutofit fontScale="90000"/>
          </a:bodyPr>
          <a:lstStyle/>
          <a:p>
            <a:r>
              <a:rPr lang="en-ID" b="1" dirty="0">
                <a:solidFill>
                  <a:srgbClr val="C00000"/>
                </a:solidFill>
              </a:rPr>
              <a:t>Non Pre-Welded                                                  vs    Pre-Welded 13-5/8” Wellhead Housing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FD019E-BA6F-4347-959E-D0EF4BE0582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88295" y="1328254"/>
            <a:ext cx="4367385" cy="345987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E67B07B-881B-4863-8F0F-A855BBD67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631" y="1257134"/>
            <a:ext cx="5623969" cy="3492604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7CDB404-6AE8-4DF5-A326-B130BED5A420}"/>
              </a:ext>
            </a:extLst>
          </p:cNvPr>
          <p:cNvGraphicFramePr>
            <a:graphicFrameLocks noGrp="1"/>
          </p:cNvGraphicFramePr>
          <p:nvPr/>
        </p:nvGraphicFramePr>
        <p:xfrm>
          <a:off x="319631" y="4811627"/>
          <a:ext cx="5623968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968">
                  <a:extLst>
                    <a:ext uri="{9D8B030D-6E8A-4147-A177-3AD203B41FA5}">
                      <a16:colId xmlns:a16="http://schemas.microsoft.com/office/drawing/2014/main" val="372831946"/>
                    </a:ext>
                  </a:extLst>
                </a:gridCol>
              </a:tblGrid>
              <a:tr h="304738">
                <a:tc>
                  <a:txBody>
                    <a:bodyPr/>
                    <a:lstStyle/>
                    <a:p>
                      <a:r>
                        <a:rPr lang="en-US" dirty="0"/>
                        <a:t>Without Pre-Welded Operation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356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ND BOP</a:t>
                      </a:r>
                    </a:p>
                    <a:p>
                      <a:r>
                        <a:rPr lang="en-US" sz="1400" dirty="0"/>
                        <a:t>Run Casing Tie back</a:t>
                      </a:r>
                    </a:p>
                    <a:p>
                      <a:r>
                        <a:rPr lang="en-US" sz="1400" dirty="0"/>
                        <a:t>Run Inner string with casing stick up </a:t>
                      </a:r>
                      <a:r>
                        <a:rPr lang="en-US" sz="1400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3 </a:t>
                      </a:r>
                      <a:r>
                        <a:rPr lang="en-US" sz="1400" dirty="0" err="1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hrs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en-US" sz="1400" dirty="0"/>
                        <a:t>Cementing</a:t>
                      </a:r>
                    </a:p>
                    <a:p>
                      <a:r>
                        <a:rPr lang="en-US" sz="1400" dirty="0"/>
                        <a:t>WOC </a:t>
                      </a:r>
                      <a:r>
                        <a:rPr lang="en-US" sz="1400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8 </a:t>
                      </a:r>
                      <a:r>
                        <a:rPr lang="en-US" sz="1400" dirty="0" err="1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hrs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en-US" sz="1400" dirty="0"/>
                        <a:t>Cut casing </a:t>
                      </a:r>
                      <a:r>
                        <a:rPr lang="en-US" sz="1400" dirty="0">
                          <a:sym typeface="Wingdings" panose="05000000000000000000" pitchFamily="2" charset="2"/>
                        </a:rPr>
                        <a:t> </a:t>
                      </a:r>
                      <a:endParaRPr lang="en-US" sz="1400" dirty="0"/>
                    </a:p>
                    <a:p>
                      <a:r>
                        <a:rPr lang="en-US" sz="1400" dirty="0"/>
                        <a:t>Install Wellhead </a:t>
                      </a:r>
                      <a:r>
                        <a:rPr lang="en-US" sz="1400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35 </a:t>
                      </a:r>
                      <a:r>
                        <a:rPr lang="en-US" sz="1400" dirty="0" err="1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hrs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1058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BA92632-0031-4453-871F-77B14CCF19A1}"/>
              </a:ext>
            </a:extLst>
          </p:cNvPr>
          <p:cNvGraphicFramePr>
            <a:graphicFrameLocks noGrp="1"/>
          </p:cNvGraphicFramePr>
          <p:nvPr/>
        </p:nvGraphicFramePr>
        <p:xfrm>
          <a:off x="6788294" y="4817574"/>
          <a:ext cx="4367385" cy="174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7385">
                  <a:extLst>
                    <a:ext uri="{9D8B030D-6E8A-4147-A177-3AD203B41FA5}">
                      <a16:colId xmlns:a16="http://schemas.microsoft.com/office/drawing/2014/main" val="18942639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Pre-Welded Operation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356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ND BOP</a:t>
                      </a:r>
                    </a:p>
                    <a:p>
                      <a:r>
                        <a:rPr lang="en-US" sz="1400" dirty="0"/>
                        <a:t>Run casing Tie back</a:t>
                      </a:r>
                    </a:p>
                    <a:p>
                      <a:r>
                        <a:rPr lang="en-ID" sz="1400" dirty="0"/>
                        <a:t>Run Pre-welded wellhead </a:t>
                      </a:r>
                      <a:r>
                        <a:rPr lang="en-ID" sz="1400" dirty="0">
                          <a:sym typeface="Wingdings" panose="05000000000000000000" pitchFamily="2" charset="2"/>
                        </a:rPr>
                        <a:t> 1 hrs</a:t>
                      </a:r>
                    </a:p>
                    <a:p>
                      <a:r>
                        <a:rPr lang="en-US" sz="1400" dirty="0"/>
                        <a:t>Run Inner string on Rotary Table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en-US" sz="1400" dirty="0"/>
                        <a:t>Cementing</a:t>
                      </a:r>
                    </a:p>
                    <a:p>
                      <a:r>
                        <a:rPr lang="en-ID" sz="1400" dirty="0"/>
                        <a:t>No WOC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105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54496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C83EE-A863-B93D-4C0D-2CCEF502E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1101588" cy="640080"/>
          </a:xfrm>
        </p:spPr>
        <p:txBody>
          <a:bodyPr>
            <a:normAutofit fontScale="90000"/>
          </a:bodyPr>
          <a:lstStyle/>
          <a:p>
            <a:r>
              <a:rPr lang="en-ID" b="1" dirty="0">
                <a:solidFill>
                  <a:srgbClr val="C00000"/>
                </a:solidFill>
              </a:rPr>
              <a:t>Non Pre-Welded                 vs                            Pre-Welded 13-5/8” Wellhead Housing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22CA29-BF95-9E33-D356-0C07048FD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6" y="1693789"/>
            <a:ext cx="4799941" cy="22644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15E9CF-F734-84AF-8875-25529D0295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987" t="6889" r="13661" b="12648"/>
          <a:stretch/>
        </p:blipFill>
        <p:spPr bwMode="auto">
          <a:xfrm>
            <a:off x="1918771" y="4210945"/>
            <a:ext cx="2190520" cy="250266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Graphic 1">
            <a:extLst>
              <a:ext uri="{FF2B5EF4-FFF2-40B4-BE49-F238E27FC236}">
                <a16:creationId xmlns:a16="http://schemas.microsoft.com/office/drawing/2014/main" id="{96B64B2F-A805-3012-F811-E5A53DDDB4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50816" y="1693788"/>
            <a:ext cx="5825208" cy="2602789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22792C0-E1F8-4A66-861D-FC5CE708DD66}"/>
              </a:ext>
            </a:extLst>
          </p:cNvPr>
          <p:cNvCxnSpPr>
            <a:cxnSpLocks/>
          </p:cNvCxnSpPr>
          <p:nvPr/>
        </p:nvCxnSpPr>
        <p:spPr>
          <a:xfrm>
            <a:off x="5623560" y="1211580"/>
            <a:ext cx="0" cy="5646420"/>
          </a:xfrm>
          <a:prstGeom prst="line">
            <a:avLst/>
          </a:prstGeom>
          <a:ln w="38100">
            <a:solidFill>
              <a:srgbClr val="C00000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33412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AF027-315D-4F1B-8615-C969D8589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Pre-Welded 13-5/8” Wellhead Housing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FD019E-BA6F-4347-959E-D0EF4BE0582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351280"/>
            <a:ext cx="6385527" cy="5058664"/>
          </a:xfrm>
          <a:prstGeom prst="rect">
            <a:avLst/>
          </a:prstGeom>
        </p:spPr>
      </p:pic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D685A4B-F942-4CD9-9A39-16A8959E8712}"/>
              </a:ext>
            </a:extLst>
          </p:cNvPr>
          <p:cNvGraphicFramePr>
            <a:graphicFrameLocks noGrp="1"/>
          </p:cNvGraphicFramePr>
          <p:nvPr/>
        </p:nvGraphicFramePr>
        <p:xfrm>
          <a:off x="6385526" y="1351280"/>
          <a:ext cx="5715033" cy="394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9274">
                  <a:extLst>
                    <a:ext uri="{9D8B030D-6E8A-4147-A177-3AD203B41FA5}">
                      <a16:colId xmlns:a16="http://schemas.microsoft.com/office/drawing/2014/main" val="372831946"/>
                    </a:ext>
                  </a:extLst>
                </a:gridCol>
                <a:gridCol w="2905759">
                  <a:extLst>
                    <a:ext uri="{9D8B030D-6E8A-4147-A177-3AD203B41FA5}">
                      <a16:colId xmlns:a16="http://schemas.microsoft.com/office/drawing/2014/main" val="18942639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Without Pre-Welded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Pre-Welded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356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ND BOP</a:t>
                      </a:r>
                    </a:p>
                    <a:p>
                      <a:r>
                        <a:rPr lang="en-US" dirty="0"/>
                        <a:t>Run Casing Tie back</a:t>
                      </a:r>
                    </a:p>
                    <a:p>
                      <a:r>
                        <a:rPr lang="en-US" dirty="0"/>
                        <a:t>Run Inner string with casing stick up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3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hrs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en-US" dirty="0"/>
                        <a:t>Cementing</a:t>
                      </a:r>
                    </a:p>
                    <a:p>
                      <a:r>
                        <a:rPr lang="en-US" dirty="0"/>
                        <a:t>WOC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8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hrs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en-US" dirty="0"/>
                        <a:t>ND BOP</a:t>
                      </a:r>
                    </a:p>
                    <a:p>
                      <a:r>
                        <a:rPr lang="en-US" dirty="0"/>
                        <a:t>Cut casing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 </a:t>
                      </a:r>
                      <a:endParaRPr lang="en-US" dirty="0"/>
                    </a:p>
                    <a:p>
                      <a:r>
                        <a:rPr lang="en-US" dirty="0"/>
                        <a:t>Install Wellhead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35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hrs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en-US" dirty="0"/>
                        <a:t>NU BOP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ND BOP</a:t>
                      </a:r>
                    </a:p>
                    <a:p>
                      <a:r>
                        <a:rPr lang="en-US" dirty="0"/>
                        <a:t>Run casing Tie back</a:t>
                      </a:r>
                    </a:p>
                    <a:p>
                      <a:r>
                        <a:rPr lang="en-ID" dirty="0"/>
                        <a:t>Run Pre-welded wellhead</a:t>
                      </a:r>
                    </a:p>
                    <a:p>
                      <a:r>
                        <a:rPr lang="en-ID" dirty="0"/>
                        <a:t>No WOC</a:t>
                      </a:r>
                    </a:p>
                    <a:p>
                      <a:r>
                        <a:rPr lang="en-ID" dirty="0"/>
                        <a:t>NU BOP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10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 + 8 + 35 </a:t>
                      </a:r>
                      <a:r>
                        <a:rPr lang="en-US" dirty="0" err="1"/>
                        <a:t>hrs</a:t>
                      </a:r>
                      <a:r>
                        <a:rPr lang="en-US" dirty="0"/>
                        <a:t> longer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Rig time saving: 46 hours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9286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Cost saving: 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USD 134 K</a:t>
                      </a:r>
                      <a:endParaRPr lang="en-ID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506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20078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itle 1"/>
          <p:cNvSpPr>
            <a:spLocks noGrp="1"/>
          </p:cNvSpPr>
          <p:nvPr>
            <p:ph type="title"/>
          </p:nvPr>
        </p:nvSpPr>
        <p:spPr>
          <a:xfrm>
            <a:off x="1978026" y="0"/>
            <a:ext cx="7239000" cy="1143000"/>
          </a:xfrm>
        </p:spPr>
        <p:txBody>
          <a:bodyPr/>
          <a:lstStyle/>
          <a:p>
            <a:r>
              <a:rPr lang="en-US" altLang="en-US" sz="4000" b="1" dirty="0">
                <a:solidFill>
                  <a:srgbClr val="FF9933"/>
                </a:solidFill>
              </a:rPr>
              <a:t>PRE-WELDED WELLHEAD</a:t>
            </a:r>
            <a:br>
              <a:rPr lang="en-US" altLang="en-US" sz="4000" b="1" dirty="0">
                <a:solidFill>
                  <a:srgbClr val="FF9933"/>
                </a:solidFill>
              </a:rPr>
            </a:br>
            <a:r>
              <a:rPr lang="en-US" altLang="en-US" sz="2400" b="1" dirty="0">
                <a:solidFill>
                  <a:srgbClr val="C00000"/>
                </a:solidFill>
              </a:rPr>
              <a:t>13-3/8” Casing + 13-5/8” 3M Section A Wellhead</a:t>
            </a:r>
          </a:p>
        </p:txBody>
      </p:sp>
      <p:pic>
        <p:nvPicPr>
          <p:cNvPr id="90116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8170" y="1323181"/>
            <a:ext cx="5848350" cy="4748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117" name="TextBox 1"/>
          <p:cNvSpPr txBox="1">
            <a:spLocks noChangeArrowheads="1"/>
          </p:cNvSpPr>
          <p:nvPr/>
        </p:nvSpPr>
        <p:spPr bwMode="auto">
          <a:xfrm>
            <a:off x="6743700" y="1323181"/>
            <a:ext cx="5041899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RT opening 37.5”</a:t>
            </a:r>
          </a:p>
          <a:p>
            <a:pPr>
              <a:spcBef>
                <a:spcPct val="0"/>
              </a:spcBef>
            </a:pPr>
            <a:r>
              <a:rPr lang="en-US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Split type RT bushing is preferable.</a:t>
            </a:r>
          </a:p>
          <a:p>
            <a:pPr>
              <a:spcBef>
                <a:spcPct val="0"/>
              </a:spcBef>
            </a:pPr>
            <a:r>
              <a:rPr lang="en-US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Pre-welded wellhead in horizontal position. </a:t>
            </a:r>
          </a:p>
          <a:p>
            <a:pPr>
              <a:spcBef>
                <a:spcPct val="0"/>
              </a:spcBef>
            </a:pPr>
            <a:r>
              <a:rPr lang="en-US" altLang="en-US" sz="2000" dirty="0">
                <a:solidFill>
                  <a:srgbClr val="FFC000"/>
                </a:solidFill>
                <a:latin typeface="Times New Roman" panose="02020603050405020304" pitchFamily="18" charset="0"/>
              </a:rPr>
              <a:t>Pre-welded 13-5/8” Flange housing and 13-3/8” casing Landing Joint.</a:t>
            </a:r>
          </a:p>
        </p:txBody>
      </p:sp>
      <p:pic>
        <p:nvPicPr>
          <p:cNvPr id="90118" name="Picture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21804" y="3659187"/>
            <a:ext cx="3952083" cy="2909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119" name="TextBox 1"/>
          <p:cNvSpPr txBox="1">
            <a:spLocks noChangeArrowheads="1"/>
          </p:cNvSpPr>
          <p:nvPr/>
        </p:nvSpPr>
        <p:spPr bwMode="auto">
          <a:xfrm>
            <a:off x="883920" y="6007100"/>
            <a:ext cx="505968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Save One-Two days Rig time</a:t>
            </a:r>
          </a:p>
        </p:txBody>
      </p:sp>
      <p:pic>
        <p:nvPicPr>
          <p:cNvPr id="90120" name="Picture 6" descr="Related image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97526" y="5772151"/>
            <a:ext cx="1146175" cy="114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1722121" y="1566068"/>
            <a:ext cx="1076325" cy="2895600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7681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40D5A-0DF5-ED0D-1CC7-C4CBB2074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4E460-B14A-31BA-9B01-4402B4878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880" y="365125"/>
            <a:ext cx="10662919" cy="98107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Section A Welded Design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sz="2000" b="1" dirty="0">
                <a:solidFill>
                  <a:schemeClr val="tx2"/>
                </a:solidFill>
              </a:rPr>
              <a:t>WELDING PROCEDURE: 13-5/8" CASING HEAD (AISI 4130 Low Alloy Steel) TO 13-3/8" CASING L-80 (Carbon Steel)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57ABA6-6562-C14A-9175-1AD267C2EF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01" y="1346200"/>
            <a:ext cx="11725275" cy="5238750"/>
          </a:xfrm>
          <a:prstGeom prst="rect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616747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DEE5D-3450-0C9E-98E8-203F38ECC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84339-ACBB-B20A-217D-EF41A88C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880" y="365125"/>
            <a:ext cx="10662919" cy="98107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Section A Welded Design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sz="2000" b="1" dirty="0">
                <a:solidFill>
                  <a:schemeClr val="tx2"/>
                </a:solidFill>
              </a:rPr>
              <a:t>WELDING PROCEDURE: 13-5/8" CASING HEAD (AISI 4130 Low Alloy Steel) TO 13-3/8" CASING L-80 (Carbon Steel)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A527B5-DF98-726F-1651-F00755F5A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" y="2176655"/>
            <a:ext cx="12029440" cy="2504689"/>
          </a:xfrm>
          <a:prstGeom prst="rect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46ECCBC-BED6-DE5C-E80F-B3439C75D6D4}"/>
              </a:ext>
            </a:extLst>
          </p:cNvPr>
          <p:cNvSpPr txBox="1"/>
          <p:nvPr/>
        </p:nvSpPr>
        <p:spPr>
          <a:xfrm>
            <a:off x="528320" y="5212080"/>
            <a:ext cx="10388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Case-1: Leaking on wellhead welding during well testing due to improper welding procedure. (North Sumatra)</a:t>
            </a:r>
          </a:p>
        </p:txBody>
      </p:sp>
    </p:spTree>
    <p:extLst>
      <p:ext uri="{BB962C8B-B14F-4D97-AF65-F5344CB8AC3E}">
        <p14:creationId xmlns:p14="http://schemas.microsoft.com/office/powerpoint/2010/main" val="18073562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84496-12F7-F0A6-C1AA-49E61CA03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33D28-CCDC-C28A-0D91-BFC8209F5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Wellhead Design for Acid Well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084F7-C9C8-4CA9-7E3A-B47318F54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On progress</a:t>
            </a:r>
          </a:p>
        </p:txBody>
      </p:sp>
    </p:spTree>
    <p:extLst>
      <p:ext uri="{BB962C8B-B14F-4D97-AF65-F5344CB8AC3E}">
        <p14:creationId xmlns:p14="http://schemas.microsoft.com/office/powerpoint/2010/main" val="30552717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78782-7778-FBE0-CA0B-8DD4AE36C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23AA8-3EB0-B26A-2E72-694506777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Wellhead Function and Loads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B9AFA-4F43-A102-8839-02DC418BD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On progress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3563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DD495-E25C-EE99-2F2B-EBC77B181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1D3B7-F10B-7106-26FB-60446C90B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8057"/>
          </a:xfrm>
        </p:spPr>
        <p:txBody>
          <a:bodyPr>
            <a:normAutofit/>
          </a:bodyPr>
          <a:lstStyle/>
          <a:p>
            <a:r>
              <a:rPr lang="en-US" sz="3600" dirty="0"/>
              <a:t>Wellhead Material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334AB6D-BC4D-FCD9-ED28-670210C32FF3}"/>
              </a:ext>
            </a:extLst>
          </p:cNvPr>
          <p:cNvCxnSpPr>
            <a:cxnSpLocks/>
          </p:cNvCxnSpPr>
          <p:nvPr/>
        </p:nvCxnSpPr>
        <p:spPr>
          <a:xfrm>
            <a:off x="987338" y="4050377"/>
            <a:ext cx="2133600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8F58966-E8B7-39D0-94A0-DEAEAF35F741}"/>
              </a:ext>
            </a:extLst>
          </p:cNvPr>
          <p:cNvSpPr txBox="1"/>
          <p:nvPr/>
        </p:nvSpPr>
        <p:spPr>
          <a:xfrm>
            <a:off x="1374199" y="4450792"/>
            <a:ext cx="1758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Sour service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C06ABA0-4CD8-62D6-AC39-63505A08F267}"/>
              </a:ext>
            </a:extLst>
          </p:cNvPr>
          <p:cNvCxnSpPr/>
          <p:nvPr/>
        </p:nvCxnSpPr>
        <p:spPr>
          <a:xfrm>
            <a:off x="1059340" y="4050377"/>
            <a:ext cx="0" cy="1359877"/>
          </a:xfrm>
          <a:prstGeom prst="straightConnector1">
            <a:avLst/>
          </a:prstGeom>
          <a:ln w="635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86B4DA1-6CE9-656D-7792-AFE201ACFE93}"/>
              </a:ext>
            </a:extLst>
          </p:cNvPr>
          <p:cNvSpPr txBox="1"/>
          <p:nvPr/>
        </p:nvSpPr>
        <p:spPr>
          <a:xfrm>
            <a:off x="1362476" y="3464508"/>
            <a:ext cx="1758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General service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159A830-D3F0-30E7-D9DE-EA4E3EFC4566}"/>
              </a:ext>
            </a:extLst>
          </p:cNvPr>
          <p:cNvCxnSpPr/>
          <p:nvPr/>
        </p:nvCxnSpPr>
        <p:spPr>
          <a:xfrm>
            <a:off x="1059340" y="2690500"/>
            <a:ext cx="0" cy="1359877"/>
          </a:xfrm>
          <a:prstGeom prst="straightConnector1">
            <a:avLst/>
          </a:prstGeom>
          <a:ln w="635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16793D3-CE8F-7C7E-F250-4E939A380F4B}"/>
              </a:ext>
            </a:extLst>
          </p:cNvPr>
          <p:cNvSpPr txBox="1"/>
          <p:nvPr/>
        </p:nvSpPr>
        <p:spPr>
          <a:xfrm>
            <a:off x="3120938" y="6299003"/>
            <a:ext cx="4394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CRA: Corrosion Resistant Alloy 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150897F-E0A6-DB7B-1385-FEC296A2540C}"/>
              </a:ext>
            </a:extLst>
          </p:cNvPr>
          <p:cNvGraphicFramePr>
            <a:graphicFrameLocks noGrp="1"/>
          </p:cNvGraphicFramePr>
          <p:nvPr/>
        </p:nvGraphicFramePr>
        <p:xfrm>
          <a:off x="3120938" y="1250962"/>
          <a:ext cx="7838007" cy="567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22">
                  <a:extLst>
                    <a:ext uri="{9D8B030D-6E8A-4147-A177-3AD203B41FA5}">
                      <a16:colId xmlns:a16="http://schemas.microsoft.com/office/drawing/2014/main" val="2931446878"/>
                    </a:ext>
                  </a:extLst>
                </a:gridCol>
                <a:gridCol w="1893840">
                  <a:extLst>
                    <a:ext uri="{9D8B030D-6E8A-4147-A177-3AD203B41FA5}">
                      <a16:colId xmlns:a16="http://schemas.microsoft.com/office/drawing/2014/main" val="1985853117"/>
                    </a:ext>
                  </a:extLst>
                </a:gridCol>
                <a:gridCol w="2692380">
                  <a:extLst>
                    <a:ext uri="{9D8B030D-6E8A-4147-A177-3AD203B41FA5}">
                      <a16:colId xmlns:a16="http://schemas.microsoft.com/office/drawing/2014/main" val="2553417062"/>
                    </a:ext>
                  </a:extLst>
                </a:gridCol>
                <a:gridCol w="2780165">
                  <a:extLst>
                    <a:ext uri="{9D8B030D-6E8A-4147-A177-3AD203B41FA5}">
                      <a16:colId xmlns:a16="http://schemas.microsoft.com/office/drawing/2014/main" val="372427693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GB" dirty="0"/>
                        <a:t>Material Class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Body, </a:t>
                      </a:r>
                      <a:r>
                        <a:rPr lang="en-GB" dirty="0" err="1"/>
                        <a:t>Bonnect</a:t>
                      </a:r>
                      <a:r>
                        <a:rPr lang="en-GB" dirty="0"/>
                        <a:t>, End and outlet connectors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Mandrel hanger, Valve sealing mechanism, Choke, Trim and Stems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876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General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Carbon or low-alloy steel, or Stainless steel, or CRA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Carbon or low-alloy steel, or Stainless steel, or CRA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74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BB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General Service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Carbon or low-alloy steel, or Stainless steel, or CRA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Stainless steel, or CRA</a:t>
                      </a:r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212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General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Stainless steel, or CRA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Stainless steel, or CRA</a:t>
                      </a:r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8613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Sour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Carbon or low-alloy steel, or CRA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Carbon or low-alloy steel, or CRA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3262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Sour Service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Carbon or low-alloy steel, or CRA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Stainless steel, or CRA</a:t>
                      </a:r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3670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Sour Service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Stainless steel, or CRA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Stainless steel, or CRA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0268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HH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Sour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47198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37596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5F32B-DE5D-D967-0137-5A0EC6B1E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DC97E-B3D7-C8AC-34B1-6B9B0ED47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5035"/>
          </a:xfrm>
        </p:spPr>
        <p:txBody>
          <a:bodyPr/>
          <a:lstStyle/>
          <a:p>
            <a:r>
              <a:rPr lang="en-US" dirty="0"/>
              <a:t>Wellhead Material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475F2CB-DE67-8560-5464-B37BEE9C4A78}"/>
              </a:ext>
            </a:extLst>
          </p:cNvPr>
          <p:cNvGraphicFramePr>
            <a:graphicFrameLocks noGrp="1"/>
          </p:cNvGraphicFramePr>
          <p:nvPr/>
        </p:nvGraphicFramePr>
        <p:xfrm>
          <a:off x="1020351" y="1610523"/>
          <a:ext cx="9848933" cy="45824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3736">
                  <a:extLst>
                    <a:ext uri="{9D8B030D-6E8A-4147-A177-3AD203B41FA5}">
                      <a16:colId xmlns:a16="http://schemas.microsoft.com/office/drawing/2014/main" val="2237245505"/>
                    </a:ext>
                  </a:extLst>
                </a:gridCol>
                <a:gridCol w="2529638">
                  <a:extLst>
                    <a:ext uri="{9D8B030D-6E8A-4147-A177-3AD203B41FA5}">
                      <a16:colId xmlns:a16="http://schemas.microsoft.com/office/drawing/2014/main" val="1654303495"/>
                    </a:ext>
                  </a:extLst>
                </a:gridCol>
                <a:gridCol w="1833988">
                  <a:extLst>
                    <a:ext uri="{9D8B030D-6E8A-4147-A177-3AD203B41FA5}">
                      <a16:colId xmlns:a16="http://schemas.microsoft.com/office/drawing/2014/main" val="1569785083"/>
                    </a:ext>
                  </a:extLst>
                </a:gridCol>
                <a:gridCol w="1568376">
                  <a:extLst>
                    <a:ext uri="{9D8B030D-6E8A-4147-A177-3AD203B41FA5}">
                      <a16:colId xmlns:a16="http://schemas.microsoft.com/office/drawing/2014/main" val="343411600"/>
                    </a:ext>
                  </a:extLst>
                </a:gridCol>
                <a:gridCol w="1429246">
                  <a:extLst>
                    <a:ext uri="{9D8B030D-6E8A-4147-A177-3AD203B41FA5}">
                      <a16:colId xmlns:a16="http://schemas.microsoft.com/office/drawing/2014/main" val="202817339"/>
                    </a:ext>
                  </a:extLst>
                </a:gridCol>
                <a:gridCol w="1403949">
                  <a:extLst>
                    <a:ext uri="{9D8B030D-6E8A-4147-A177-3AD203B41FA5}">
                      <a16:colId xmlns:a16="http://schemas.microsoft.com/office/drawing/2014/main" val="198673899"/>
                    </a:ext>
                  </a:extLst>
                </a:gridCol>
              </a:tblGrid>
              <a:tr h="120228">
                <a:tc rowSpan="2">
                  <a:txBody>
                    <a:bodyPr/>
                    <a:lstStyle/>
                    <a:p>
                      <a:r>
                        <a:rPr lang="en-GB" dirty="0"/>
                        <a:t>pCO</a:t>
                      </a:r>
                      <a:r>
                        <a:rPr lang="en-GB" baseline="-25000" dirty="0"/>
                        <a:t>2</a:t>
                      </a:r>
                      <a:r>
                        <a:rPr lang="en-GB" dirty="0"/>
                        <a:t> (psi)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GB" dirty="0"/>
                        <a:t>CL</a:t>
                      </a:r>
                      <a:r>
                        <a:rPr lang="en-GB" baseline="30000" dirty="0"/>
                        <a:t>-</a:t>
                      </a:r>
                      <a:r>
                        <a:rPr lang="en-GB" dirty="0"/>
                        <a:t> (ppm)</a:t>
                      </a: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GB" dirty="0"/>
                        <a:t>pH</a:t>
                      </a:r>
                      <a:r>
                        <a:rPr lang="en-GB" baseline="-25000" dirty="0"/>
                        <a:t>2</a:t>
                      </a:r>
                      <a:r>
                        <a:rPr lang="en-GB" dirty="0"/>
                        <a:t>S (psi)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565733"/>
                  </a:ext>
                </a:extLst>
              </a:tr>
              <a:tr h="349545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&lt;0,05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0,05 – 1,5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1,5 - 10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&gt;10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590676"/>
                  </a:ext>
                </a:extLst>
              </a:tr>
              <a:tr h="349545">
                <a:tc>
                  <a:txBody>
                    <a:bodyPr/>
                    <a:lstStyle/>
                    <a:p>
                      <a:r>
                        <a:rPr lang="en-GB" dirty="0"/>
                        <a:t>&lt;7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&lt;50.000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7717287"/>
                  </a:ext>
                </a:extLst>
              </a:tr>
              <a:tr h="555577">
                <a:tc>
                  <a:txBody>
                    <a:bodyPr/>
                    <a:lstStyle/>
                    <a:p>
                      <a:r>
                        <a:rPr lang="en-GB" dirty="0"/>
                        <a:t>&lt;7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50.000 - 100000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BB-MOD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EE-MOD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EE-MOD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EE-MOD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0754585"/>
                  </a:ext>
                </a:extLst>
              </a:tr>
              <a:tr h="349545">
                <a:tc>
                  <a:txBody>
                    <a:bodyPr/>
                    <a:lstStyle/>
                    <a:p>
                      <a:r>
                        <a:rPr lang="en-GB" dirty="0"/>
                        <a:t>&lt;7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&gt;100000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119840"/>
                  </a:ext>
                </a:extLst>
              </a:tr>
              <a:tr h="349545">
                <a:tc>
                  <a:txBody>
                    <a:bodyPr/>
                    <a:lstStyle/>
                    <a:p>
                      <a:r>
                        <a:rPr lang="en-GB" dirty="0"/>
                        <a:t>7-30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&lt;50.000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EE-MOD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EE-MOD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9635335"/>
                  </a:ext>
                </a:extLst>
              </a:tr>
              <a:tr h="550386">
                <a:tc>
                  <a:txBody>
                    <a:bodyPr/>
                    <a:lstStyle/>
                    <a:p>
                      <a:r>
                        <a:rPr lang="en-GB" dirty="0"/>
                        <a:t>7-30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50.000 - 100000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BB-MOD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EE-MOD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EE-MOD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EE-MOD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6411177"/>
                  </a:ext>
                </a:extLst>
              </a:tr>
              <a:tr h="349545">
                <a:tc>
                  <a:txBody>
                    <a:bodyPr/>
                    <a:lstStyle/>
                    <a:p>
                      <a:r>
                        <a:rPr lang="en-GB" dirty="0"/>
                        <a:t>7-30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&gt;100000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754555"/>
                  </a:ext>
                </a:extLst>
              </a:tr>
              <a:tr h="349545">
                <a:tc>
                  <a:txBody>
                    <a:bodyPr/>
                    <a:lstStyle/>
                    <a:p>
                      <a:r>
                        <a:rPr lang="en-GB" dirty="0"/>
                        <a:t>&gt;30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&lt;50.000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8999"/>
                  </a:ext>
                </a:extLst>
              </a:tr>
              <a:tr h="550386">
                <a:tc>
                  <a:txBody>
                    <a:bodyPr/>
                    <a:lstStyle/>
                    <a:p>
                      <a:r>
                        <a:rPr lang="en-GB" dirty="0"/>
                        <a:t>&gt;30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50.000 - 100000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FF-MOD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994367"/>
                  </a:ext>
                </a:extLst>
              </a:tr>
              <a:tr h="349545">
                <a:tc>
                  <a:txBody>
                    <a:bodyPr/>
                    <a:lstStyle/>
                    <a:p>
                      <a:r>
                        <a:rPr lang="en-GB" dirty="0"/>
                        <a:t>&gt;30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&gt;100000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490321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27B0203-9886-5336-B39A-823FF76B25B7}"/>
              </a:ext>
            </a:extLst>
          </p:cNvPr>
          <p:cNvSpPr txBox="1"/>
          <p:nvPr/>
        </p:nvSpPr>
        <p:spPr>
          <a:xfrm>
            <a:off x="1127928" y="6326601"/>
            <a:ext cx="7756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MOD = 625 weld clad inlay on all seal surface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684963-FC8A-296B-50D0-672436258431}"/>
              </a:ext>
            </a:extLst>
          </p:cNvPr>
          <p:cNvSpPr txBox="1"/>
          <p:nvPr/>
        </p:nvSpPr>
        <p:spPr>
          <a:xfrm>
            <a:off x="861141" y="1015209"/>
            <a:ext cx="5234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Example of Material selection chart</a:t>
            </a:r>
          </a:p>
        </p:txBody>
      </p:sp>
    </p:spTree>
    <p:extLst>
      <p:ext uri="{BB962C8B-B14F-4D97-AF65-F5344CB8AC3E}">
        <p14:creationId xmlns:p14="http://schemas.microsoft.com/office/powerpoint/2010/main" val="24463044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0ACB1-71E5-129F-36E3-7FB5CD70F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BB929-BD0F-73C4-8185-6D144A5CE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Wellhead Structure Design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A9D51D-D92A-D64A-FDDB-0C5F47B44D4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90750" y="1717673"/>
            <a:ext cx="7251700" cy="267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DA0A99-9B07-DDDD-86DF-AA8F6A81490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9900" y="4543424"/>
            <a:ext cx="4275138" cy="223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ight Arrow 6">
            <a:extLst>
              <a:ext uri="{FF2B5EF4-FFF2-40B4-BE49-F238E27FC236}">
                <a16:creationId xmlns:a16="http://schemas.microsoft.com/office/drawing/2014/main" id="{ACBCBA1C-F112-2673-66E5-8E4AB0B729D2}"/>
              </a:ext>
            </a:extLst>
          </p:cNvPr>
          <p:cNvSpPr/>
          <p:nvPr/>
        </p:nvSpPr>
        <p:spPr>
          <a:xfrm flipH="1">
            <a:off x="4933950" y="4891085"/>
            <a:ext cx="1981200" cy="1295400"/>
          </a:xfrm>
          <a:prstGeom prst="rightArrow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id-ID" sz="2400" dirty="0">
                <a:solidFill>
                  <a:srgbClr val="FF0000"/>
                </a:solidFill>
              </a:rPr>
              <a:t>SLAB GATE</a:t>
            </a:r>
          </a:p>
        </p:txBody>
      </p:sp>
      <p:sp>
        <p:nvSpPr>
          <p:cNvPr id="9" name="Right Arrow 7">
            <a:extLst>
              <a:ext uri="{FF2B5EF4-FFF2-40B4-BE49-F238E27FC236}">
                <a16:creationId xmlns:a16="http://schemas.microsoft.com/office/drawing/2014/main" id="{E9C65B3E-F683-2985-987E-7C35EF730739}"/>
              </a:ext>
            </a:extLst>
          </p:cNvPr>
          <p:cNvSpPr/>
          <p:nvPr/>
        </p:nvSpPr>
        <p:spPr>
          <a:xfrm>
            <a:off x="285750" y="2257423"/>
            <a:ext cx="1981200" cy="1295400"/>
          </a:xfrm>
          <a:prstGeom prst="rightArrow">
            <a:avLst/>
          </a:prstGeom>
          <a:solidFill>
            <a:srgbClr val="FFC0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id-ID" sz="1600" dirty="0"/>
              <a:t>EXPANDABLE GATE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7ACE66-6E71-90F2-B66B-F4E666771865}"/>
              </a:ext>
            </a:extLst>
          </p:cNvPr>
          <p:cNvSpPr txBox="1"/>
          <p:nvPr/>
        </p:nvSpPr>
        <p:spPr>
          <a:xfrm>
            <a:off x="9442450" y="1674674"/>
            <a:ext cx="26751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id-ID" altLang="en-US" dirty="0">
                <a:solidFill>
                  <a:schemeClr val="tx2"/>
                </a:solidFill>
              </a:rPr>
              <a:t>MASTER VALVE: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2"/>
                </a:solidFill>
              </a:rPr>
              <a:t>Expanding Gate, 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2"/>
                </a:solidFill>
              </a:rPr>
              <a:t>Metal to metal seal on seat to body and seat to gate upstream &amp; downstream</a:t>
            </a:r>
            <a:endParaRPr lang="id-ID" alt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00412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7F602-1C32-0DE7-7F9D-025B10297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563B9-B684-B7EE-0A31-807AE36FF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Wellhead Sealing Element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82C9B-5F39-F3EA-AF17-8519A1FE5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On progress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4341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3A47C-7936-D988-B9AD-CBA65BD5C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B4E15-7499-C1C3-2D16-CC36C61D6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Wellhead Height and Maintenance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4DC0EB-C316-402C-4C1C-BBA49696C25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1344" y="1480538"/>
            <a:ext cx="5700712" cy="476052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4AC8A-EF64-54CC-6E3F-FD69512F0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2270" y="1825625"/>
            <a:ext cx="5189220" cy="435133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To be above Cellar GL or below GL?</a:t>
            </a:r>
          </a:p>
          <a:p>
            <a:r>
              <a:rPr lang="en-US" dirty="0">
                <a:solidFill>
                  <a:srgbClr val="FF0000"/>
                </a:solidFill>
              </a:rPr>
              <a:t>Wellhead monitoring ?</a:t>
            </a:r>
          </a:p>
          <a:p>
            <a:r>
              <a:rPr lang="en-US" dirty="0">
                <a:solidFill>
                  <a:srgbClr val="FF0000"/>
                </a:solidFill>
              </a:rPr>
              <a:t>Rain water in cellar ?</a:t>
            </a:r>
          </a:p>
          <a:p>
            <a:r>
              <a:rPr lang="en-US" dirty="0">
                <a:solidFill>
                  <a:srgbClr val="FF0000"/>
                </a:solidFill>
              </a:rPr>
              <a:t>Wellhead and gate valve replacement?.</a:t>
            </a:r>
          </a:p>
          <a:p>
            <a:r>
              <a:rPr lang="en-US" dirty="0">
                <a:solidFill>
                  <a:srgbClr val="FF0000"/>
                </a:solidFill>
              </a:rPr>
              <a:t>Rig workover lay out?</a:t>
            </a:r>
          </a:p>
          <a:p>
            <a:r>
              <a:rPr lang="en-US" dirty="0" err="1">
                <a:solidFill>
                  <a:srgbClr val="FF0000"/>
                </a:solidFill>
              </a:rPr>
              <a:t>etc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73642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89DC9-1972-6111-015B-5BEFF15E3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E85D1-B02C-D489-E629-B9B1CFC48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Wellhead Maintenance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4B017-A659-A99D-A75D-C845030F4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To be discussed</a:t>
            </a:r>
          </a:p>
        </p:txBody>
      </p:sp>
    </p:spTree>
    <p:extLst>
      <p:ext uri="{BB962C8B-B14F-4D97-AF65-F5344CB8AC3E}">
        <p14:creationId xmlns:p14="http://schemas.microsoft.com/office/powerpoint/2010/main" val="23711568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CAE4A-9BA6-A873-8236-F24D56A17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08E71-05D4-2D4F-B006-EF82088E5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Wellhead Integrity 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9C736-4190-8A30-3691-2A82F97ED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To be discussed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3447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CABE9-15F2-4B22-B647-791548BFA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DC265-45B6-8CF1-CC78-1268C8537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Wellhead Allowable Minimum Thickness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C9CB1-DD73-170E-BA69-553D64E79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To be discussed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5483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53F2C-DFD6-7CFE-EEFE-9F9256D94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34223-10A5-9E42-F588-DF06906F6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Wellhead Replacement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580DE-4E61-DACB-BBAF-250E33EED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040" y="1602105"/>
            <a:ext cx="7371080" cy="4351338"/>
          </a:xfrm>
        </p:spPr>
        <p:txBody>
          <a:bodyPr/>
          <a:lstStyle/>
          <a:p>
            <a:r>
              <a:rPr lang="en-US" dirty="0"/>
              <a:t>Using Geothermal Hot Packer</a:t>
            </a:r>
          </a:p>
          <a:p>
            <a:pPr lvl="1"/>
            <a:r>
              <a:rPr lang="en-US" dirty="0"/>
              <a:t>Master valve replacement</a:t>
            </a:r>
          </a:p>
          <a:p>
            <a:pPr lvl="1"/>
            <a:r>
              <a:rPr lang="en-US" dirty="0"/>
              <a:t>Casing Head cutoff and replacement</a:t>
            </a:r>
          </a:p>
          <a:p>
            <a:r>
              <a:rPr lang="en-US" dirty="0"/>
              <a:t>OBJECTIVE : To </a:t>
            </a:r>
            <a:r>
              <a:rPr lang="en-US" dirty="0" err="1"/>
              <a:t>Packoff</a:t>
            </a:r>
            <a:r>
              <a:rPr lang="en-US" dirty="0"/>
              <a:t> Geothermal Well in order to provide a safe condition for all geothermal wellhead repairs</a:t>
            </a:r>
          </a:p>
          <a:p>
            <a:r>
              <a:rPr lang="en-US" dirty="0"/>
              <a:t>Once the Packer is Set, safe to proceed to repair the wellhead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7AFDED-0003-AA2C-D100-3801A61EE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9921" y="1690688"/>
            <a:ext cx="3647439" cy="4423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5990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06678-3758-05D6-742C-CD10CB573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2003E-144C-148E-CB92-C175A1D10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Wellhead Replacement Method</a:t>
            </a:r>
          </a:p>
        </p:txBody>
      </p:sp>
      <p:sp>
        <p:nvSpPr>
          <p:cNvPr id="19" name="Freeform 5">
            <a:extLst>
              <a:ext uri="{FF2B5EF4-FFF2-40B4-BE49-F238E27FC236}">
                <a16:creationId xmlns:a16="http://schemas.microsoft.com/office/drawing/2014/main" id="{FFB1917F-97D4-0DF3-D278-21160CFFEB5D}"/>
              </a:ext>
            </a:extLst>
          </p:cNvPr>
          <p:cNvSpPr/>
          <p:nvPr/>
        </p:nvSpPr>
        <p:spPr>
          <a:xfrm>
            <a:off x="170609" y="1497248"/>
            <a:ext cx="2268055" cy="2437209"/>
          </a:xfrm>
          <a:custGeom>
            <a:avLst/>
            <a:gdLst/>
            <a:ahLst/>
            <a:cxnLst/>
            <a:rect l="l" t="t" r="r" b="b"/>
            <a:pathLst>
              <a:path w="3376606" h="4502141">
                <a:moveTo>
                  <a:pt x="0" y="0"/>
                </a:moveTo>
                <a:lnTo>
                  <a:pt x="3376605" y="0"/>
                </a:lnTo>
                <a:lnTo>
                  <a:pt x="3376605" y="4502141"/>
                </a:lnTo>
                <a:lnTo>
                  <a:pt x="0" y="45021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" b="-11585"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650ED7F5-2758-633B-4561-7A1AC2331C0B}"/>
              </a:ext>
            </a:extLst>
          </p:cNvPr>
          <p:cNvSpPr txBox="1"/>
          <p:nvPr/>
        </p:nvSpPr>
        <p:spPr>
          <a:xfrm>
            <a:off x="644856" y="4065578"/>
            <a:ext cx="4286227" cy="22606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lphaLcPeriod"/>
            </a:pPr>
            <a:r>
              <a:rPr lang="en-US" sz="2000" dirty="0">
                <a:solidFill>
                  <a:srgbClr val="7030A0"/>
                </a:solidFill>
              </a:rPr>
              <a:t>Cut Existing Casing Head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lphaLcPeriod"/>
            </a:pPr>
            <a:r>
              <a:rPr lang="en-US" sz="2000" dirty="0">
                <a:solidFill>
                  <a:srgbClr val="7030A0"/>
                </a:solidFill>
              </a:rPr>
              <a:t>NDT of casing before welding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lphaLcPeriod"/>
            </a:pPr>
            <a:r>
              <a:rPr lang="en-US" sz="2000" dirty="0">
                <a:solidFill>
                  <a:srgbClr val="7030A0"/>
                </a:solidFill>
              </a:rPr>
              <a:t>Grinding and leveling casing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lphaLcPeriod"/>
            </a:pPr>
            <a:r>
              <a:rPr lang="en-US" sz="2000" dirty="0">
                <a:solidFill>
                  <a:srgbClr val="7030A0"/>
                </a:solidFill>
              </a:rPr>
              <a:t>Welding New Casing Head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lphaLcPeriod"/>
            </a:pPr>
            <a:r>
              <a:rPr lang="en-US" sz="2000" dirty="0">
                <a:solidFill>
                  <a:srgbClr val="7030A0"/>
                </a:solidFill>
              </a:rPr>
              <a:t>PWHT Process after finish welding</a:t>
            </a:r>
          </a:p>
        </p:txBody>
      </p:sp>
      <p:sp>
        <p:nvSpPr>
          <p:cNvPr id="21" name="Freeform 7">
            <a:extLst>
              <a:ext uri="{FF2B5EF4-FFF2-40B4-BE49-F238E27FC236}">
                <a16:creationId xmlns:a16="http://schemas.microsoft.com/office/drawing/2014/main" id="{DB3B6A3B-A5A1-249C-044C-7BC7711C6CA5}"/>
              </a:ext>
            </a:extLst>
          </p:cNvPr>
          <p:cNvSpPr/>
          <p:nvPr/>
        </p:nvSpPr>
        <p:spPr>
          <a:xfrm>
            <a:off x="2504672" y="1497248"/>
            <a:ext cx="2426413" cy="2437209"/>
          </a:xfrm>
          <a:custGeom>
            <a:avLst/>
            <a:gdLst/>
            <a:ahLst/>
            <a:cxnLst/>
            <a:rect l="l" t="t" r="r" b="b"/>
            <a:pathLst>
              <a:path w="3376606" h="4502141">
                <a:moveTo>
                  <a:pt x="0" y="0"/>
                </a:moveTo>
                <a:lnTo>
                  <a:pt x="3376606" y="0"/>
                </a:lnTo>
                <a:lnTo>
                  <a:pt x="3376606" y="4502141"/>
                </a:lnTo>
                <a:lnTo>
                  <a:pt x="0" y="45021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" b="-11585"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24" name="Freeform 8">
            <a:extLst>
              <a:ext uri="{FF2B5EF4-FFF2-40B4-BE49-F238E27FC236}">
                <a16:creationId xmlns:a16="http://schemas.microsoft.com/office/drawing/2014/main" id="{483C3528-2E6F-8A70-53EF-F2680A8EB1A4}"/>
              </a:ext>
            </a:extLst>
          </p:cNvPr>
          <p:cNvSpPr/>
          <p:nvPr/>
        </p:nvSpPr>
        <p:spPr>
          <a:xfrm>
            <a:off x="4997093" y="4065578"/>
            <a:ext cx="3039465" cy="2314749"/>
          </a:xfrm>
          <a:custGeom>
            <a:avLst/>
            <a:gdLst/>
            <a:ahLst/>
            <a:cxnLst/>
            <a:rect l="l" t="t" r="r" b="b"/>
            <a:pathLst>
              <a:path w="3597960" h="4893075">
                <a:moveTo>
                  <a:pt x="0" y="0"/>
                </a:moveTo>
                <a:lnTo>
                  <a:pt x="3597960" y="0"/>
                </a:lnTo>
                <a:lnTo>
                  <a:pt x="3597960" y="4893075"/>
                </a:lnTo>
                <a:lnTo>
                  <a:pt x="0" y="4893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98" t="-81656" r="-998"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25" name="Freeform 9">
            <a:extLst>
              <a:ext uri="{FF2B5EF4-FFF2-40B4-BE49-F238E27FC236}">
                <a16:creationId xmlns:a16="http://schemas.microsoft.com/office/drawing/2014/main" id="{E36DD880-F163-647C-8466-E1C067E94813}"/>
              </a:ext>
            </a:extLst>
          </p:cNvPr>
          <p:cNvSpPr/>
          <p:nvPr/>
        </p:nvSpPr>
        <p:spPr>
          <a:xfrm>
            <a:off x="8102568" y="1497248"/>
            <a:ext cx="3918824" cy="4883079"/>
          </a:xfrm>
          <a:custGeom>
            <a:avLst/>
            <a:gdLst/>
            <a:ahLst/>
            <a:cxnLst/>
            <a:rect l="l" t="t" r="r" b="b"/>
            <a:pathLst>
              <a:path w="5488913" h="7318551">
                <a:moveTo>
                  <a:pt x="0" y="0"/>
                </a:moveTo>
                <a:lnTo>
                  <a:pt x="5488913" y="0"/>
                </a:lnTo>
                <a:lnTo>
                  <a:pt x="5488913" y="7318550"/>
                </a:lnTo>
                <a:lnTo>
                  <a:pt x="0" y="73185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1" r="-8795" b="-5194"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28" name="Freeform 6">
            <a:extLst>
              <a:ext uri="{FF2B5EF4-FFF2-40B4-BE49-F238E27FC236}">
                <a16:creationId xmlns:a16="http://schemas.microsoft.com/office/drawing/2014/main" id="{04687BB4-6D87-DCDC-DF7F-7AE4BF4AE825}"/>
              </a:ext>
            </a:extLst>
          </p:cNvPr>
          <p:cNvSpPr/>
          <p:nvPr/>
        </p:nvSpPr>
        <p:spPr>
          <a:xfrm>
            <a:off x="4997093" y="1518888"/>
            <a:ext cx="3039466" cy="2415569"/>
          </a:xfrm>
          <a:custGeom>
            <a:avLst/>
            <a:gdLst/>
            <a:ahLst/>
            <a:cxnLst/>
            <a:rect l="l" t="t" r="r" b="b"/>
            <a:pathLst>
              <a:path w="3669807" h="4893075">
                <a:moveTo>
                  <a:pt x="0" y="0"/>
                </a:moveTo>
                <a:lnTo>
                  <a:pt x="3669807" y="0"/>
                </a:lnTo>
                <a:lnTo>
                  <a:pt x="3669807" y="4893075"/>
                </a:lnTo>
                <a:lnTo>
                  <a:pt x="0" y="4893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1" t="-57561" r="-15752" b="-36634"/>
            </a:stretch>
          </a:blip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976345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D8ECB-0F34-C6D8-6BEF-804CD84C9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84996-62CD-4C75-5142-E1A0766D6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Wellhead Replacement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72F28-6BCB-89AA-3E32-1747BC399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3840" y="1602104"/>
            <a:ext cx="5445760" cy="501205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dirty="0"/>
              <a:t>Geothermal Hot Packer Equipment</a:t>
            </a:r>
          </a:p>
          <a:p>
            <a:r>
              <a:rPr lang="en-US" sz="2200" dirty="0"/>
              <a:t>Lubricator, 1500 PSI, 650°F</a:t>
            </a:r>
          </a:p>
          <a:p>
            <a:r>
              <a:rPr lang="en-US" sz="2200" dirty="0">
                <a:solidFill>
                  <a:srgbClr val="1A401F"/>
                </a:solidFill>
              </a:rPr>
              <a:t>Casing Scrapper: 7“ ; 9-5/8” ; 10-3/4” ; 13-3/8” ; 16" casing size</a:t>
            </a:r>
          </a:p>
          <a:p>
            <a:r>
              <a:rPr lang="en-US" sz="2200" dirty="0">
                <a:solidFill>
                  <a:srgbClr val="1A401F"/>
                </a:solidFill>
              </a:rPr>
              <a:t>Hot Packer: 1000Psi, 550°F = 287°C</a:t>
            </a:r>
          </a:p>
          <a:p>
            <a:r>
              <a:rPr lang="en-US" sz="2200" dirty="0">
                <a:solidFill>
                  <a:srgbClr val="1A401F"/>
                </a:solidFill>
              </a:rPr>
              <a:t>Power Unit &amp; Hydraulic Motor</a:t>
            </a:r>
          </a:p>
          <a:p>
            <a:r>
              <a:rPr lang="en-US" sz="2200" dirty="0">
                <a:solidFill>
                  <a:srgbClr val="1A401F"/>
                </a:solidFill>
              </a:rPr>
              <a:t>Rod Rack</a:t>
            </a:r>
          </a:p>
          <a:p>
            <a:r>
              <a:rPr lang="en-US" sz="2200" dirty="0">
                <a:solidFill>
                  <a:srgbClr val="1A401F"/>
                </a:solidFill>
              </a:rPr>
              <a:t>Running Tool using 6 EA rods with AISI 4140 material and surface chrome. Able to reach depth of 20m from surface</a:t>
            </a:r>
          </a:p>
          <a:p>
            <a:r>
              <a:rPr lang="en-US" sz="2200" dirty="0">
                <a:solidFill>
                  <a:srgbClr val="1A401F"/>
                </a:solidFill>
              </a:rPr>
              <a:t>Crane 50 Tons and Manlift 200kgs</a:t>
            </a:r>
          </a:p>
          <a:p>
            <a:r>
              <a:rPr lang="en-US" sz="2200" dirty="0">
                <a:solidFill>
                  <a:srgbClr val="1A401F"/>
                </a:solidFill>
              </a:rPr>
              <a:t>Working Master Valve</a:t>
            </a:r>
          </a:p>
          <a:p>
            <a:r>
              <a:rPr lang="en-US" sz="2200" dirty="0">
                <a:solidFill>
                  <a:srgbClr val="1A401F"/>
                </a:solidFill>
              </a:rPr>
              <a:t>Scaffolding and MTC team</a:t>
            </a:r>
          </a:p>
          <a:p>
            <a:r>
              <a:rPr lang="en-US" sz="2200" dirty="0">
                <a:solidFill>
                  <a:srgbClr val="1A401F"/>
                </a:solidFill>
              </a:rPr>
              <a:t>SCBA and H2S Detector</a:t>
            </a:r>
          </a:p>
          <a:p>
            <a:r>
              <a:rPr lang="en-US" sz="2200" dirty="0">
                <a:solidFill>
                  <a:srgbClr val="1A401F"/>
                </a:solidFill>
              </a:rPr>
              <a:t>Gate Cutter Mill, Hot Tapping Equipment</a:t>
            </a:r>
          </a:p>
          <a:p>
            <a:endParaRPr lang="en-US" sz="2000" dirty="0">
              <a:solidFill>
                <a:srgbClr val="1A401F"/>
              </a:solidFill>
            </a:endParaRPr>
          </a:p>
          <a:p>
            <a:endParaRPr lang="en-US" sz="2000" dirty="0">
              <a:solidFill>
                <a:srgbClr val="1A401F"/>
              </a:solidFill>
            </a:endParaRPr>
          </a:p>
          <a:p>
            <a:endParaRPr lang="en-US" sz="2000" dirty="0">
              <a:solidFill>
                <a:srgbClr val="1A401F"/>
              </a:solidFill>
            </a:endParaRPr>
          </a:p>
          <a:p>
            <a:endParaRPr lang="en-US" sz="2000" dirty="0">
              <a:solidFill>
                <a:srgbClr val="1A401F"/>
              </a:solidFill>
              <a:latin typeface="Poppins"/>
            </a:endParaRPr>
          </a:p>
          <a:p>
            <a:endParaRPr lang="en-US" sz="2000" dirty="0">
              <a:solidFill>
                <a:srgbClr val="1A401F"/>
              </a:solidFill>
              <a:latin typeface="Poppins"/>
            </a:endParaRP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D31E178E-EB1E-E70F-AC0D-528189D57DE0}"/>
              </a:ext>
            </a:extLst>
          </p:cNvPr>
          <p:cNvSpPr/>
          <p:nvPr/>
        </p:nvSpPr>
        <p:spPr>
          <a:xfrm>
            <a:off x="137272" y="1602105"/>
            <a:ext cx="2129770" cy="4178935"/>
          </a:xfrm>
          <a:custGeom>
            <a:avLst/>
            <a:gdLst/>
            <a:ahLst/>
            <a:cxnLst/>
            <a:rect l="l" t="t" r="r" b="b"/>
            <a:pathLst>
              <a:path w="4338763" h="10287000">
                <a:moveTo>
                  <a:pt x="0" y="0"/>
                </a:moveTo>
                <a:lnTo>
                  <a:pt x="4338763" y="0"/>
                </a:lnTo>
                <a:lnTo>
                  <a:pt x="433876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7822" t="-2415" b="-11193"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6" name="Freeform 8">
            <a:extLst>
              <a:ext uri="{FF2B5EF4-FFF2-40B4-BE49-F238E27FC236}">
                <a16:creationId xmlns:a16="http://schemas.microsoft.com/office/drawing/2014/main" id="{FCD85BA8-86AD-8480-46F9-CDB9EBFFE531}"/>
              </a:ext>
            </a:extLst>
          </p:cNvPr>
          <p:cNvSpPr/>
          <p:nvPr/>
        </p:nvSpPr>
        <p:spPr>
          <a:xfrm>
            <a:off x="2378121" y="1602105"/>
            <a:ext cx="4104640" cy="4170680"/>
          </a:xfrm>
          <a:custGeom>
            <a:avLst/>
            <a:gdLst/>
            <a:ahLst/>
            <a:cxnLst/>
            <a:rect l="l" t="t" r="r" b="b"/>
            <a:pathLst>
              <a:path w="13716000" h="10287000">
                <a:moveTo>
                  <a:pt x="0" y="0"/>
                </a:moveTo>
                <a:lnTo>
                  <a:pt x="13716000" y="0"/>
                </a:lnTo>
                <a:lnTo>
                  <a:pt x="13716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1930" r="-2970" b="-2192"/>
            </a:stretch>
          </a:blip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082944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22CC3-B4FE-2B6E-2B76-E1951371D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C042F-8296-B9F8-5E94-29FA82A45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Wellhead Repair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9C85C-2FC2-A445-D980-5B6D5FA96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Geothermal Hot Packer Running procedure</a:t>
            </a:r>
          </a:p>
        </p:txBody>
      </p:sp>
    </p:spTree>
    <p:extLst>
      <p:ext uri="{BB962C8B-B14F-4D97-AF65-F5344CB8AC3E}">
        <p14:creationId xmlns:p14="http://schemas.microsoft.com/office/powerpoint/2010/main" val="32819831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95809-D521-4BC6-48CF-F48F97EAA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B8714-47CE-16B8-6429-5D512076A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" y="279559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Wellhead Wing Valve Repair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4F2E39-7CB3-781B-523E-4AD56F357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3842" y="365125"/>
            <a:ext cx="5120849" cy="63589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265A82-FCF4-AB77-1C12-0455ABD077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665" b="20900"/>
          <a:stretch>
            <a:fillRect/>
          </a:stretch>
        </p:blipFill>
        <p:spPr>
          <a:xfrm>
            <a:off x="667119" y="1402080"/>
            <a:ext cx="2665361" cy="27832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706D8E-C16C-483C-A69C-27DAFD9568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37" t="34170" r="30555" b="27606"/>
          <a:stretch/>
        </p:blipFill>
        <p:spPr bwMode="auto">
          <a:xfrm>
            <a:off x="74396" y="4259580"/>
            <a:ext cx="6620618" cy="2560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60293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11E2F-3E76-1EA2-6DB5-D92E3C94D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9295E-69D9-3FE8-42C6-F8606FF19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18" y="365125"/>
            <a:ext cx="10760682" cy="925877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Wellhead Wing Valve Repair – Position and Run Scrapper Tool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F32A4-8A2C-050C-3C6D-D77ED400D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4382" y="1383596"/>
            <a:ext cx="5038898" cy="1047514"/>
          </a:xfrm>
        </p:spPr>
        <p:txBody>
          <a:bodyPr/>
          <a:lstStyle/>
          <a:p>
            <a:r>
              <a:rPr lang="en-US" dirty="0"/>
              <a:t>Position before gate valve tool </a:t>
            </a:r>
            <a:r>
              <a:rPr lang="en-US" dirty="0">
                <a:solidFill>
                  <a:srgbClr val="C00000"/>
                </a:solidFill>
              </a:rPr>
              <a:t>Option 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E590DE-4AC6-45F4-B7C7-6AABDEFD94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75" t="27804" r="10561" b="44703"/>
          <a:stretch>
            <a:fillRect/>
          </a:stretch>
        </p:blipFill>
        <p:spPr bwMode="auto">
          <a:xfrm>
            <a:off x="593118" y="1383596"/>
            <a:ext cx="6566521" cy="1901332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66AC00-F873-4F48-A138-6F7E182458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15" t="45585" r="17669" b="39896"/>
          <a:stretch>
            <a:fillRect/>
          </a:stretch>
        </p:blipFill>
        <p:spPr bwMode="auto">
          <a:xfrm>
            <a:off x="271159" y="3352491"/>
            <a:ext cx="6888480" cy="154901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3859C8E-D524-4379-924D-FBC0B6534C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28" t="37286" r="26006" b="46607"/>
          <a:stretch>
            <a:fillRect/>
          </a:stretch>
        </p:blipFill>
        <p:spPr bwMode="auto">
          <a:xfrm>
            <a:off x="607224" y="4994100"/>
            <a:ext cx="6552415" cy="1821368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E6C1428-A365-AEB5-65D3-E66D025E3CD7}"/>
              </a:ext>
            </a:extLst>
          </p:cNvPr>
          <p:cNvSpPr txBox="1">
            <a:spLocks/>
          </p:cNvSpPr>
          <p:nvPr/>
        </p:nvSpPr>
        <p:spPr>
          <a:xfrm>
            <a:off x="7234382" y="3284928"/>
            <a:ext cx="5252258" cy="10475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position before gate valve tool </a:t>
            </a:r>
            <a:r>
              <a:rPr lang="en-US" dirty="0">
                <a:solidFill>
                  <a:srgbClr val="C00000"/>
                </a:solidFill>
              </a:rPr>
              <a:t>Option B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08186C9-EBC2-A586-E317-F7628BF6D92F}"/>
              </a:ext>
            </a:extLst>
          </p:cNvPr>
          <p:cNvSpPr txBox="1">
            <a:spLocks/>
          </p:cNvSpPr>
          <p:nvPr/>
        </p:nvSpPr>
        <p:spPr>
          <a:xfrm>
            <a:off x="7159639" y="4822660"/>
            <a:ext cx="5113641" cy="10475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Running </a:t>
            </a:r>
            <a:r>
              <a:rPr lang="en-US" dirty="0">
                <a:solidFill>
                  <a:srgbClr val="C00000"/>
                </a:solidFill>
              </a:rPr>
              <a:t>Scrapper Tool </a:t>
            </a:r>
            <a:r>
              <a:rPr lang="en-US" dirty="0"/>
              <a:t>to inside the outlet</a:t>
            </a:r>
          </a:p>
        </p:txBody>
      </p:sp>
    </p:spTree>
    <p:extLst>
      <p:ext uri="{BB962C8B-B14F-4D97-AF65-F5344CB8AC3E}">
        <p14:creationId xmlns:p14="http://schemas.microsoft.com/office/powerpoint/2010/main" val="10652007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17071-46C0-ABB7-73E9-91D72320B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85B93-221C-4782-A52F-321784F2C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9178"/>
          </a:xfrm>
        </p:spPr>
        <p:txBody>
          <a:bodyPr>
            <a:normAutofit/>
          </a:bodyPr>
          <a:lstStyle/>
          <a:p>
            <a:r>
              <a:rPr lang="en-US" sz="3600" dirty="0"/>
              <a:t>Wellhead Wing Valve Repair – Set Plug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3342D2-750A-4872-8ECF-B0DCEDAB59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26" t="38742" r="31915" b="46920"/>
          <a:stretch>
            <a:fillRect/>
          </a:stretch>
        </p:blipFill>
        <p:spPr bwMode="auto">
          <a:xfrm>
            <a:off x="175996" y="3429000"/>
            <a:ext cx="7886523" cy="1669678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7FD271D-756B-4E8E-B50B-1ED10852BF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768" b="17374"/>
          <a:stretch/>
        </p:blipFill>
        <p:spPr>
          <a:xfrm>
            <a:off x="2635730" y="959388"/>
            <a:ext cx="4737728" cy="2419448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EF40A3F-857F-4200-A585-A92DF6F73C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05" t="40618" r="20722" b="44393"/>
          <a:stretch>
            <a:fillRect/>
          </a:stretch>
        </p:blipFill>
        <p:spPr bwMode="auto">
          <a:xfrm>
            <a:off x="1782446" y="5148842"/>
            <a:ext cx="6272113" cy="1630199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6C3DD19-C1FE-01F8-CEF4-37D1C3D7C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75058" y="1789620"/>
            <a:ext cx="3878742" cy="722252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Top View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AA674C3-8950-37DC-4DF4-ADDA7105AB6C}"/>
              </a:ext>
            </a:extLst>
          </p:cNvPr>
          <p:cNvSpPr txBox="1">
            <a:spLocks/>
          </p:cNvSpPr>
          <p:nvPr/>
        </p:nvSpPr>
        <p:spPr>
          <a:xfrm>
            <a:off x="8137261" y="3500756"/>
            <a:ext cx="3878742" cy="10475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Pusher Outlet Plug before Gate Valve 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115AB23-E2D0-EA0D-BE71-AD1723E29313}"/>
              </a:ext>
            </a:extLst>
          </p:cNvPr>
          <p:cNvSpPr txBox="1">
            <a:spLocks/>
          </p:cNvSpPr>
          <p:nvPr/>
        </p:nvSpPr>
        <p:spPr>
          <a:xfrm>
            <a:off x="8049090" y="5293314"/>
            <a:ext cx="4055085" cy="10475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Running Pusher Outlet Plug to inside the outlet</a:t>
            </a:r>
          </a:p>
        </p:txBody>
      </p:sp>
    </p:spTree>
    <p:extLst>
      <p:ext uri="{BB962C8B-B14F-4D97-AF65-F5344CB8AC3E}">
        <p14:creationId xmlns:p14="http://schemas.microsoft.com/office/powerpoint/2010/main" val="11291716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C952C-400B-6026-2FC5-A4B1F4FEF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E862B-2F9E-6D2E-1D44-7B910D144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65125"/>
            <a:ext cx="10515600" cy="915035"/>
          </a:xfrm>
        </p:spPr>
        <p:txBody>
          <a:bodyPr>
            <a:normAutofit/>
          </a:bodyPr>
          <a:lstStyle/>
          <a:p>
            <a:r>
              <a:rPr lang="en-US" sz="3600" dirty="0"/>
              <a:t>Wellhead design concerns related with Wellhead Repair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2CE92-8FCB-3389-93AA-BA04D9F88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280160"/>
            <a:ext cx="9141889" cy="456978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Wellhead stack up: </a:t>
            </a:r>
            <a:r>
              <a:rPr lang="en-US" dirty="0">
                <a:solidFill>
                  <a:srgbClr val="C00000"/>
                </a:solidFill>
              </a:rPr>
              <a:t>set bottom of 13-5/8” wellhead housing above top of cellar or GL (preferable 40-50 cm above GL</a:t>
            </a:r>
            <a:r>
              <a:rPr lang="en-US" dirty="0"/>
              <a:t>):</a:t>
            </a:r>
          </a:p>
          <a:p>
            <a:pPr lvl="1"/>
            <a:r>
              <a:rPr lang="en-US" dirty="0"/>
              <a:t>Provide casing stick up to be spared for wellhead replacement.</a:t>
            </a:r>
          </a:p>
          <a:p>
            <a:pPr lvl="1"/>
            <a:r>
              <a:rPr lang="en-US" dirty="0"/>
              <a:t>The stick-up production casing above GL will not expose with water in case cellar full with water. As addition, it will easier to do UG during wall thickness monitoring.</a:t>
            </a:r>
          </a:p>
          <a:p>
            <a:pPr lvl="1"/>
            <a:r>
              <a:rPr lang="en-US" dirty="0"/>
              <a:t>Placed wing valves above GL (ground level) for easy wing valve replacement using Pusher Outlet Plug otherwise using more expensive Geothermal hot packer.</a:t>
            </a:r>
          </a:p>
          <a:p>
            <a:r>
              <a:rPr lang="en-US" dirty="0">
                <a:solidFill>
                  <a:srgbClr val="C00000"/>
                </a:solidFill>
              </a:rPr>
              <a:t>Keep DRY cellar: </a:t>
            </a:r>
            <a:r>
              <a:rPr lang="en-US" dirty="0"/>
              <a:t>to prevent any corrosion to surface equipment below GL.</a:t>
            </a:r>
          </a:p>
          <a:p>
            <a:r>
              <a:rPr lang="en-US" dirty="0"/>
              <a:t>Prefer to have thicker 13-3/8” casing (72 </a:t>
            </a:r>
            <a:r>
              <a:rPr lang="en-US" dirty="0" err="1"/>
              <a:t>ppf</a:t>
            </a:r>
            <a:r>
              <a:rPr lang="en-US" dirty="0"/>
              <a:t>) for upper section joints.</a:t>
            </a:r>
          </a:p>
          <a:p>
            <a:endParaRPr lang="en-US" dirty="0"/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4BDD737B-5074-2051-616C-99D497B116C6}"/>
              </a:ext>
            </a:extLst>
          </p:cNvPr>
          <p:cNvSpPr/>
          <p:nvPr/>
        </p:nvSpPr>
        <p:spPr>
          <a:xfrm>
            <a:off x="9548289" y="2844800"/>
            <a:ext cx="2369655" cy="2590483"/>
          </a:xfrm>
          <a:custGeom>
            <a:avLst/>
            <a:gdLst/>
            <a:ahLst/>
            <a:cxnLst/>
            <a:rect l="l" t="t" r="r" b="b"/>
            <a:pathLst>
              <a:path w="3376606" h="4502141">
                <a:moveTo>
                  <a:pt x="0" y="0"/>
                </a:moveTo>
                <a:lnTo>
                  <a:pt x="3376605" y="0"/>
                </a:lnTo>
                <a:lnTo>
                  <a:pt x="3376605" y="4502141"/>
                </a:lnTo>
                <a:lnTo>
                  <a:pt x="0" y="45021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" b="-11585"/>
            </a:stretch>
          </a:blip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580113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05B46-2C1A-234E-1431-BCEDF7971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440A4-4512-C1AE-B206-EA39212A1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5835"/>
          </a:xfrm>
        </p:spPr>
        <p:txBody>
          <a:bodyPr/>
          <a:lstStyle/>
          <a:p>
            <a:r>
              <a:rPr lang="en-US" dirty="0"/>
              <a:t>Ideal Elevated </a:t>
            </a:r>
            <a:r>
              <a:rPr lang="en-US" dirty="0" err="1"/>
              <a:t>Wellpad</a:t>
            </a:r>
            <a:r>
              <a:rPr lang="en-US" dirty="0"/>
              <a:t> Design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4EAC59E-F70D-A520-B1E9-D519F98B5B55}"/>
              </a:ext>
            </a:extLst>
          </p:cNvPr>
          <p:cNvSpPr/>
          <p:nvPr/>
        </p:nvSpPr>
        <p:spPr>
          <a:xfrm>
            <a:off x="7591647" y="5135527"/>
            <a:ext cx="4199860" cy="1306315"/>
          </a:xfrm>
          <a:custGeom>
            <a:avLst/>
            <a:gdLst>
              <a:gd name="connsiteX0" fmla="*/ 10632 w 4199860"/>
              <a:gd name="connsiteY0" fmla="*/ 0 h 1499191"/>
              <a:gd name="connsiteX1" fmla="*/ 63795 w 4199860"/>
              <a:gd name="connsiteY1" fmla="*/ 0 h 1499191"/>
              <a:gd name="connsiteX2" fmla="*/ 255181 w 4199860"/>
              <a:gd name="connsiteY2" fmla="*/ 329609 h 1499191"/>
              <a:gd name="connsiteX3" fmla="*/ 584790 w 4199860"/>
              <a:gd name="connsiteY3" fmla="*/ 329609 h 1499191"/>
              <a:gd name="connsiteX4" fmla="*/ 744279 w 4199860"/>
              <a:gd name="connsiteY4" fmla="*/ 616688 h 1499191"/>
              <a:gd name="connsiteX5" fmla="*/ 1137683 w 4199860"/>
              <a:gd name="connsiteY5" fmla="*/ 606056 h 1499191"/>
              <a:gd name="connsiteX6" fmla="*/ 1307804 w 4199860"/>
              <a:gd name="connsiteY6" fmla="*/ 297712 h 1499191"/>
              <a:gd name="connsiteX7" fmla="*/ 1584251 w 4199860"/>
              <a:gd name="connsiteY7" fmla="*/ 297712 h 1499191"/>
              <a:gd name="connsiteX8" fmla="*/ 1988288 w 4199860"/>
              <a:gd name="connsiteY8" fmla="*/ 999460 h 1499191"/>
              <a:gd name="connsiteX9" fmla="*/ 3189767 w 4199860"/>
              <a:gd name="connsiteY9" fmla="*/ 978195 h 1499191"/>
              <a:gd name="connsiteX10" fmla="*/ 3572539 w 4199860"/>
              <a:gd name="connsiteY10" fmla="*/ 308344 h 1499191"/>
              <a:gd name="connsiteX11" fmla="*/ 3668232 w 4199860"/>
              <a:gd name="connsiteY11" fmla="*/ 287079 h 1499191"/>
              <a:gd name="connsiteX12" fmla="*/ 4199860 w 4199860"/>
              <a:gd name="connsiteY12" fmla="*/ 287079 h 1499191"/>
              <a:gd name="connsiteX13" fmla="*/ 4189227 w 4199860"/>
              <a:gd name="connsiteY13" fmla="*/ 1499191 h 1499191"/>
              <a:gd name="connsiteX14" fmla="*/ 0 w 4199860"/>
              <a:gd name="connsiteY14" fmla="*/ 1477925 h 1499191"/>
              <a:gd name="connsiteX15" fmla="*/ 10632 w 4199860"/>
              <a:gd name="connsiteY15" fmla="*/ 0 h 1499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199860" h="1499191">
                <a:moveTo>
                  <a:pt x="10632" y="0"/>
                </a:moveTo>
                <a:lnTo>
                  <a:pt x="63795" y="0"/>
                </a:lnTo>
                <a:lnTo>
                  <a:pt x="255181" y="329609"/>
                </a:lnTo>
                <a:lnTo>
                  <a:pt x="584790" y="329609"/>
                </a:lnTo>
                <a:lnTo>
                  <a:pt x="744279" y="616688"/>
                </a:lnTo>
                <a:lnTo>
                  <a:pt x="1137683" y="606056"/>
                </a:lnTo>
                <a:lnTo>
                  <a:pt x="1307804" y="297712"/>
                </a:lnTo>
                <a:lnTo>
                  <a:pt x="1584251" y="297712"/>
                </a:lnTo>
                <a:lnTo>
                  <a:pt x="1988288" y="999460"/>
                </a:lnTo>
                <a:lnTo>
                  <a:pt x="3189767" y="978195"/>
                </a:lnTo>
                <a:lnTo>
                  <a:pt x="3572539" y="308344"/>
                </a:lnTo>
                <a:lnTo>
                  <a:pt x="3668232" y="287079"/>
                </a:lnTo>
                <a:lnTo>
                  <a:pt x="4199860" y="287079"/>
                </a:lnTo>
                <a:cubicBezTo>
                  <a:pt x="4196316" y="691116"/>
                  <a:pt x="4192771" y="1095154"/>
                  <a:pt x="4189227" y="1499191"/>
                </a:cubicBezTo>
                <a:lnTo>
                  <a:pt x="0" y="1477925"/>
                </a:lnTo>
                <a:lnTo>
                  <a:pt x="10632" y="0"/>
                </a:lnTo>
                <a:close/>
              </a:path>
            </a:pathLst>
          </a:custGeom>
          <a:pattFill prst="pct60">
            <a:fgClr>
              <a:schemeClr val="accent4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E258AF-64C0-E559-D674-E333D5102FBC}"/>
              </a:ext>
            </a:extLst>
          </p:cNvPr>
          <p:cNvSpPr/>
          <p:nvPr/>
        </p:nvSpPr>
        <p:spPr>
          <a:xfrm>
            <a:off x="265814" y="4784651"/>
            <a:ext cx="3931382" cy="1657191"/>
          </a:xfrm>
          <a:custGeom>
            <a:avLst/>
            <a:gdLst>
              <a:gd name="connsiteX0" fmla="*/ 0 w 3923414"/>
              <a:gd name="connsiteY0" fmla="*/ 21265 h 1616149"/>
              <a:gd name="connsiteX1" fmla="*/ 1850065 w 3923414"/>
              <a:gd name="connsiteY1" fmla="*/ 0 h 1616149"/>
              <a:gd name="connsiteX2" fmla="*/ 2030819 w 3923414"/>
              <a:gd name="connsiteY2" fmla="*/ 287079 h 1616149"/>
              <a:gd name="connsiteX3" fmla="*/ 3923414 w 3923414"/>
              <a:gd name="connsiteY3" fmla="*/ 329609 h 1616149"/>
              <a:gd name="connsiteX4" fmla="*/ 3923414 w 3923414"/>
              <a:gd name="connsiteY4" fmla="*/ 1616149 h 1616149"/>
              <a:gd name="connsiteX5" fmla="*/ 0 w 3923414"/>
              <a:gd name="connsiteY5" fmla="*/ 1573619 h 1616149"/>
              <a:gd name="connsiteX6" fmla="*/ 0 w 3923414"/>
              <a:gd name="connsiteY6" fmla="*/ 21265 h 1616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23414" h="1616149">
                <a:moveTo>
                  <a:pt x="0" y="21265"/>
                </a:moveTo>
                <a:lnTo>
                  <a:pt x="1850065" y="0"/>
                </a:lnTo>
                <a:lnTo>
                  <a:pt x="2030819" y="287079"/>
                </a:lnTo>
                <a:lnTo>
                  <a:pt x="3923414" y="329609"/>
                </a:lnTo>
                <a:lnTo>
                  <a:pt x="3923414" y="1616149"/>
                </a:lnTo>
                <a:lnTo>
                  <a:pt x="0" y="1573619"/>
                </a:lnTo>
                <a:cubicBezTo>
                  <a:pt x="3544" y="1059712"/>
                  <a:pt x="7089" y="545805"/>
                  <a:pt x="0" y="21265"/>
                </a:cubicBezTo>
                <a:close/>
              </a:path>
            </a:pathLst>
          </a:custGeom>
          <a:pattFill prst="pct60">
            <a:fgClr>
              <a:schemeClr val="accent4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0638748-D39E-93A1-E3A6-746F2EF9D497}"/>
              </a:ext>
            </a:extLst>
          </p:cNvPr>
          <p:cNvGrpSpPr/>
          <p:nvPr/>
        </p:nvGrpSpPr>
        <p:grpSpPr>
          <a:xfrm>
            <a:off x="235527" y="4771900"/>
            <a:ext cx="7938302" cy="641270"/>
            <a:chOff x="235527" y="4771900"/>
            <a:chExt cx="7938302" cy="64127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97171AB-B048-A0B1-FF52-37DAFF4E4760}"/>
                </a:ext>
              </a:extLst>
            </p:cNvPr>
            <p:cNvCxnSpPr>
              <a:cxnSpLocks/>
            </p:cNvCxnSpPr>
            <p:nvPr/>
          </p:nvCxnSpPr>
          <p:spPr>
            <a:xfrm>
              <a:off x="7841321" y="5413170"/>
              <a:ext cx="332508" cy="0"/>
            </a:xfrm>
            <a:prstGeom prst="line">
              <a:avLst/>
            </a:prstGeom>
            <a:ln w="38100">
              <a:solidFill>
                <a:srgbClr val="CC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999649F-2C5A-FDC1-0EBF-AD876041D39E}"/>
                </a:ext>
              </a:extLst>
            </p:cNvPr>
            <p:cNvCxnSpPr>
              <a:cxnSpLocks/>
            </p:cNvCxnSpPr>
            <p:nvPr/>
          </p:nvCxnSpPr>
          <p:spPr>
            <a:xfrm>
              <a:off x="2303637" y="5092535"/>
              <a:ext cx="5357751" cy="0"/>
            </a:xfrm>
            <a:prstGeom prst="line">
              <a:avLst/>
            </a:prstGeom>
            <a:ln w="38100">
              <a:solidFill>
                <a:srgbClr val="CC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EA82864-761E-9DDA-65E4-B838AB305E61}"/>
                </a:ext>
              </a:extLst>
            </p:cNvPr>
            <p:cNvCxnSpPr/>
            <p:nvPr/>
          </p:nvCxnSpPr>
          <p:spPr>
            <a:xfrm>
              <a:off x="235527" y="4771900"/>
              <a:ext cx="1888177" cy="0"/>
            </a:xfrm>
            <a:prstGeom prst="line">
              <a:avLst/>
            </a:prstGeom>
            <a:ln w="38100">
              <a:solidFill>
                <a:srgbClr val="CC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FA87309-2DAD-5501-DCF7-B4B4E22524FB}"/>
                </a:ext>
              </a:extLst>
            </p:cNvPr>
            <p:cNvCxnSpPr>
              <a:cxnSpLocks/>
            </p:cNvCxnSpPr>
            <p:nvPr/>
          </p:nvCxnSpPr>
          <p:spPr>
            <a:xfrm>
              <a:off x="2123704" y="4771900"/>
              <a:ext cx="179933" cy="320635"/>
            </a:xfrm>
            <a:prstGeom prst="line">
              <a:avLst/>
            </a:prstGeom>
            <a:ln w="38100">
              <a:solidFill>
                <a:srgbClr val="CC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2AEA910-170D-026C-CC65-0F359C2C03AC}"/>
                </a:ext>
              </a:extLst>
            </p:cNvPr>
            <p:cNvCxnSpPr>
              <a:cxnSpLocks/>
            </p:cNvCxnSpPr>
            <p:nvPr/>
          </p:nvCxnSpPr>
          <p:spPr>
            <a:xfrm>
              <a:off x="7661388" y="5092535"/>
              <a:ext cx="179933" cy="320635"/>
            </a:xfrm>
            <a:prstGeom prst="line">
              <a:avLst/>
            </a:prstGeom>
            <a:ln w="38100">
              <a:solidFill>
                <a:srgbClr val="CC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5346B2C-ABE3-8F39-0918-B51574DC1AC0}"/>
              </a:ext>
            </a:extLst>
          </p:cNvPr>
          <p:cNvCxnSpPr>
            <a:cxnSpLocks/>
          </p:cNvCxnSpPr>
          <p:nvPr/>
        </p:nvCxnSpPr>
        <p:spPr>
          <a:xfrm>
            <a:off x="8173829" y="5413171"/>
            <a:ext cx="179933" cy="3206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0906E62-A80B-8003-1BE4-ACFE4599BE70}"/>
              </a:ext>
            </a:extLst>
          </p:cNvPr>
          <p:cNvCxnSpPr>
            <a:cxnSpLocks/>
          </p:cNvCxnSpPr>
          <p:nvPr/>
        </p:nvCxnSpPr>
        <p:spPr>
          <a:xfrm>
            <a:off x="8353762" y="5733806"/>
            <a:ext cx="3325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28EEBBF-3C2B-9320-A61C-B52AF1FF30A2}"/>
              </a:ext>
            </a:extLst>
          </p:cNvPr>
          <p:cNvCxnSpPr>
            <a:cxnSpLocks/>
          </p:cNvCxnSpPr>
          <p:nvPr/>
        </p:nvCxnSpPr>
        <p:spPr>
          <a:xfrm>
            <a:off x="9198711" y="5413171"/>
            <a:ext cx="394740" cy="7034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89114F0-226A-97CA-E48E-07BFD6CF6BF9}"/>
              </a:ext>
            </a:extLst>
          </p:cNvPr>
          <p:cNvCxnSpPr>
            <a:cxnSpLocks/>
          </p:cNvCxnSpPr>
          <p:nvPr/>
        </p:nvCxnSpPr>
        <p:spPr>
          <a:xfrm flipH="1">
            <a:off x="8686270" y="5413171"/>
            <a:ext cx="179933" cy="3206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5902B0B-05F4-9C1B-5C7C-20376A606D29}"/>
              </a:ext>
            </a:extLst>
          </p:cNvPr>
          <p:cNvCxnSpPr>
            <a:cxnSpLocks/>
          </p:cNvCxnSpPr>
          <p:nvPr/>
        </p:nvCxnSpPr>
        <p:spPr>
          <a:xfrm>
            <a:off x="8866203" y="5413170"/>
            <a:ext cx="332508" cy="0"/>
          </a:xfrm>
          <a:prstGeom prst="line">
            <a:avLst/>
          </a:prstGeom>
          <a:ln w="38100">
            <a:solidFill>
              <a:srgbClr val="CC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D96C289-7B5C-9E3D-DBF3-3BED2F64AB3E}"/>
              </a:ext>
            </a:extLst>
          </p:cNvPr>
          <p:cNvCxnSpPr>
            <a:cxnSpLocks/>
          </p:cNvCxnSpPr>
          <p:nvPr/>
        </p:nvCxnSpPr>
        <p:spPr>
          <a:xfrm>
            <a:off x="9593451" y="6116585"/>
            <a:ext cx="11623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05A09E6-4D4B-3FAA-2933-CECBA0C85D4A}"/>
              </a:ext>
            </a:extLst>
          </p:cNvPr>
          <p:cNvCxnSpPr>
            <a:cxnSpLocks/>
          </p:cNvCxnSpPr>
          <p:nvPr/>
        </p:nvCxnSpPr>
        <p:spPr>
          <a:xfrm flipH="1">
            <a:off x="10755824" y="5413171"/>
            <a:ext cx="394740" cy="7034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AEF9B36-2F04-B4EB-6499-659634CEE819}"/>
              </a:ext>
            </a:extLst>
          </p:cNvPr>
          <p:cNvCxnSpPr>
            <a:cxnSpLocks/>
          </p:cNvCxnSpPr>
          <p:nvPr/>
        </p:nvCxnSpPr>
        <p:spPr>
          <a:xfrm>
            <a:off x="11150564" y="5413170"/>
            <a:ext cx="659144" cy="0"/>
          </a:xfrm>
          <a:prstGeom prst="line">
            <a:avLst/>
          </a:prstGeom>
          <a:ln w="38100">
            <a:solidFill>
              <a:srgbClr val="CC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AE2A8D10-32CB-8F44-F3AF-B20E5AD349B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97196" y="1512830"/>
            <a:ext cx="3408620" cy="492901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306A7A7-2647-1AC9-4759-251D82B6197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22254" y="3869182"/>
            <a:ext cx="1023217" cy="1194182"/>
          </a:xfrm>
          <a:prstGeom prst="rect">
            <a:avLst/>
          </a:prstGeom>
        </p:spPr>
      </p:pic>
      <p:sp>
        <p:nvSpPr>
          <p:cNvPr id="24" name="Trapezoid 23">
            <a:extLst>
              <a:ext uri="{FF2B5EF4-FFF2-40B4-BE49-F238E27FC236}">
                <a16:creationId xmlns:a16="http://schemas.microsoft.com/office/drawing/2014/main" id="{8D62A778-0553-23B4-E188-E75E89807228}"/>
              </a:ext>
            </a:extLst>
          </p:cNvPr>
          <p:cNvSpPr/>
          <p:nvPr/>
        </p:nvSpPr>
        <p:spPr>
          <a:xfrm flipV="1">
            <a:off x="9229724" y="5464172"/>
            <a:ext cx="1889125" cy="652409"/>
          </a:xfrm>
          <a:prstGeom prst="trapezoid">
            <a:avLst>
              <a:gd name="adj" fmla="val 53713"/>
            </a:avLst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5" name="Trapezoid 24">
            <a:extLst>
              <a:ext uri="{FF2B5EF4-FFF2-40B4-BE49-F238E27FC236}">
                <a16:creationId xmlns:a16="http://schemas.microsoft.com/office/drawing/2014/main" id="{8C0ECDE3-80D5-6492-0573-2FC84A2F0679}"/>
              </a:ext>
            </a:extLst>
          </p:cNvPr>
          <p:cNvSpPr/>
          <p:nvPr/>
        </p:nvSpPr>
        <p:spPr>
          <a:xfrm flipV="1">
            <a:off x="8207555" y="5464169"/>
            <a:ext cx="625295" cy="269635"/>
          </a:xfrm>
          <a:prstGeom prst="trapezoid">
            <a:avLst>
              <a:gd name="adj" fmla="val 53713"/>
            </a:avLst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Trapezoid 25">
            <a:extLst>
              <a:ext uri="{FF2B5EF4-FFF2-40B4-BE49-F238E27FC236}">
                <a16:creationId xmlns:a16="http://schemas.microsoft.com/office/drawing/2014/main" id="{E0DCD4AD-F146-4BEF-B1F2-B70BC55DC4B6}"/>
              </a:ext>
            </a:extLst>
          </p:cNvPr>
          <p:cNvSpPr/>
          <p:nvPr/>
        </p:nvSpPr>
        <p:spPr>
          <a:xfrm flipV="1">
            <a:off x="8277226" y="5595463"/>
            <a:ext cx="490964" cy="138339"/>
          </a:xfrm>
          <a:prstGeom prst="trapezoid">
            <a:avLst>
              <a:gd name="adj" fmla="val 53713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7" name="Trapezoid 26">
            <a:extLst>
              <a:ext uri="{FF2B5EF4-FFF2-40B4-BE49-F238E27FC236}">
                <a16:creationId xmlns:a16="http://schemas.microsoft.com/office/drawing/2014/main" id="{C6ABF118-476A-3F37-18E2-296E7B22D7F5}"/>
              </a:ext>
            </a:extLst>
          </p:cNvPr>
          <p:cNvSpPr/>
          <p:nvPr/>
        </p:nvSpPr>
        <p:spPr>
          <a:xfrm flipV="1">
            <a:off x="9545338" y="6061073"/>
            <a:ext cx="1256011" cy="55507"/>
          </a:xfrm>
          <a:prstGeom prst="trapezoid">
            <a:avLst>
              <a:gd name="adj" fmla="val 53713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FDB0993-B154-4DF2-2869-5D926732938B}"/>
              </a:ext>
            </a:extLst>
          </p:cNvPr>
          <p:cNvSpPr/>
          <p:nvPr/>
        </p:nvSpPr>
        <p:spPr>
          <a:xfrm>
            <a:off x="6026749" y="5165323"/>
            <a:ext cx="1745321" cy="45719"/>
          </a:xfrm>
          <a:prstGeom prst="rect">
            <a:avLst/>
          </a:prstGeom>
          <a:solidFill>
            <a:srgbClr val="FFFF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021E914-F65C-B83A-DB46-D465771A0596}"/>
              </a:ext>
            </a:extLst>
          </p:cNvPr>
          <p:cNvCxnSpPr>
            <a:cxnSpLocks/>
          </p:cNvCxnSpPr>
          <p:nvPr/>
        </p:nvCxnSpPr>
        <p:spPr>
          <a:xfrm>
            <a:off x="8801854" y="5509846"/>
            <a:ext cx="452896" cy="0"/>
          </a:xfrm>
          <a:prstGeom prst="line">
            <a:avLst/>
          </a:prstGeom>
          <a:ln w="3810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C4699C4D-1AF4-9739-D53A-4E7DC76F423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2993" y="3685033"/>
            <a:ext cx="1328389" cy="996292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716ED19-0E04-50ED-A63D-63A20448D285}"/>
              </a:ext>
            </a:extLst>
          </p:cNvPr>
          <p:cNvSpPr txBox="1"/>
          <p:nvPr/>
        </p:nvSpPr>
        <p:spPr>
          <a:xfrm>
            <a:off x="7661388" y="4262407"/>
            <a:ext cx="32856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Drainage Line from Cellar to Mud Pond</a:t>
            </a:r>
            <a:endParaRPr lang="en-ID" sz="14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F0F5948-413A-8495-8D61-84B9FF28FE60}"/>
              </a:ext>
            </a:extLst>
          </p:cNvPr>
          <p:cNvCxnSpPr>
            <a:stCxn id="28" idx="3"/>
          </p:cNvCxnSpPr>
          <p:nvPr/>
        </p:nvCxnSpPr>
        <p:spPr>
          <a:xfrm flipV="1">
            <a:off x="7772070" y="4528789"/>
            <a:ext cx="283770" cy="659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3D39162-0235-04BA-DB97-288953549E98}"/>
              </a:ext>
            </a:extLst>
          </p:cNvPr>
          <p:cNvSpPr txBox="1"/>
          <p:nvPr/>
        </p:nvSpPr>
        <p:spPr>
          <a:xfrm>
            <a:off x="8143506" y="4959928"/>
            <a:ext cx="8752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Settling Pond</a:t>
            </a:r>
            <a:endParaRPr lang="en-ID" sz="1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94B42D-BF9E-711C-335C-120DF7D1AEFE}"/>
              </a:ext>
            </a:extLst>
          </p:cNvPr>
          <p:cNvSpPr txBox="1"/>
          <p:nvPr/>
        </p:nvSpPr>
        <p:spPr>
          <a:xfrm>
            <a:off x="9194950" y="5049170"/>
            <a:ext cx="18771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Water and Mud Pond</a:t>
            </a:r>
            <a:endParaRPr lang="en-ID" sz="1400" dirty="0"/>
          </a:p>
        </p:txBody>
      </p:sp>
    </p:spTree>
    <p:extLst>
      <p:ext uri="{BB962C8B-B14F-4D97-AF65-F5344CB8AC3E}">
        <p14:creationId xmlns:p14="http://schemas.microsoft.com/office/powerpoint/2010/main" val="33151700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9AC42-6237-C30B-F346-934CEE8D7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2F58B-EC0C-78D3-54BD-DF30A68B2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5835"/>
          </a:xfrm>
        </p:spPr>
        <p:txBody>
          <a:bodyPr/>
          <a:lstStyle/>
          <a:p>
            <a:r>
              <a:rPr lang="en-US" dirty="0"/>
              <a:t>Ideal Cellar Design – 80 cm depth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DAD070-81F7-83F2-920A-06D8D128C5C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5225" y="1371838"/>
            <a:ext cx="5450775" cy="50381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A6BBB7F-BD46-6510-993B-FAF6B02043D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24676" y="1371837"/>
            <a:ext cx="5322100" cy="50381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FF0A606-EE47-BBBA-CD0F-E091774BC008}"/>
              </a:ext>
            </a:extLst>
          </p:cNvPr>
          <p:cNvSpPr txBox="1"/>
          <p:nvPr/>
        </p:nvSpPr>
        <p:spPr>
          <a:xfrm>
            <a:off x="4713091" y="4594060"/>
            <a:ext cx="7215052" cy="1815882"/>
          </a:xfrm>
          <a:prstGeom prst="rect">
            <a:avLst/>
          </a:prstGeom>
          <a:solidFill>
            <a:schemeClr val="tx1">
              <a:lumMod val="65000"/>
              <a:lumOff val="35000"/>
              <a:alpha val="33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C000"/>
                </a:solidFill>
              </a:rPr>
              <a:t>Advantage: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C000"/>
                </a:solidFill>
              </a:rPr>
              <a:t>More simple  </a:t>
            </a:r>
            <a:r>
              <a:rPr lang="en-US" sz="2800" b="1" dirty="0">
                <a:solidFill>
                  <a:srgbClr val="FFC000"/>
                </a:solidFill>
                <a:sym typeface="Wingdings" panose="05000000000000000000" pitchFamily="2" charset="2"/>
              </a:rPr>
              <a:t> Less Construction Cost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C000"/>
                </a:solidFill>
                <a:sym typeface="Wingdings" panose="05000000000000000000" pitchFamily="2" charset="2"/>
              </a:rPr>
              <a:t>Always dry cellar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C000"/>
                </a:solidFill>
                <a:sym typeface="Wingdings" panose="05000000000000000000" pitchFamily="2" charset="2"/>
              </a:rPr>
              <a:t>No risk accumulated H2S</a:t>
            </a:r>
            <a:endParaRPr lang="en-ID" sz="2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18496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4CC3B-2F8A-7130-8F12-481071F81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3CB7E-BFEC-E206-836D-0B7335357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5835"/>
          </a:xfrm>
        </p:spPr>
        <p:txBody>
          <a:bodyPr>
            <a:normAutofit/>
          </a:bodyPr>
          <a:lstStyle/>
          <a:p>
            <a:r>
              <a:rPr lang="en-US" sz="3600" dirty="0"/>
              <a:t>Ideal Distance Between Well – 13.5 meters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65189E-B0B5-3921-33B2-3952F9BC9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2701"/>
            <a:ext cx="12192000" cy="36325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3A7039C-6739-DE63-3717-C2544DD0E24A}"/>
              </a:ext>
            </a:extLst>
          </p:cNvPr>
          <p:cNvSpPr txBox="1"/>
          <p:nvPr/>
        </p:nvSpPr>
        <p:spPr>
          <a:xfrm>
            <a:off x="1839432" y="5245299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SF &gt;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103324-7E99-9432-FD71-C0FE2125BC09}"/>
              </a:ext>
            </a:extLst>
          </p:cNvPr>
          <p:cNvSpPr txBox="1"/>
          <p:nvPr/>
        </p:nvSpPr>
        <p:spPr>
          <a:xfrm>
            <a:off x="5000846" y="5241684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SF =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87C998-E825-FF5C-AD0C-8D174E3B6FE2}"/>
              </a:ext>
            </a:extLst>
          </p:cNvPr>
          <p:cNvSpPr txBox="1"/>
          <p:nvPr/>
        </p:nvSpPr>
        <p:spPr>
          <a:xfrm>
            <a:off x="7983116" y="5241684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SF &lt;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F9BD30-743A-EC70-6B9C-52491EE11837}"/>
              </a:ext>
            </a:extLst>
          </p:cNvPr>
          <p:cNvSpPr txBox="1"/>
          <p:nvPr/>
        </p:nvSpPr>
        <p:spPr>
          <a:xfrm>
            <a:off x="10655432" y="5251163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SF &lt;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38365-9CB0-B9EE-C08B-E2ED1E73767E}"/>
              </a:ext>
            </a:extLst>
          </p:cNvPr>
          <p:cNvSpPr txBox="1"/>
          <p:nvPr/>
        </p:nvSpPr>
        <p:spPr>
          <a:xfrm>
            <a:off x="534579" y="5620495"/>
            <a:ext cx="5803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SF = Separation Factor</a:t>
            </a:r>
          </a:p>
          <a:p>
            <a:r>
              <a:rPr lang="en-US" dirty="0">
                <a:highlight>
                  <a:srgbClr val="FFFF00"/>
                </a:highlight>
              </a:rPr>
              <a:t>SF = (Ellipse Radius-1 + Ellipse Radius-2)/ Jarak </a:t>
            </a:r>
            <a:r>
              <a:rPr lang="en-US" dirty="0" err="1">
                <a:highlight>
                  <a:srgbClr val="FFFF00"/>
                </a:highlight>
              </a:rPr>
              <a:t>lubang</a:t>
            </a:r>
            <a:r>
              <a:rPr lang="en-US" dirty="0">
                <a:highlight>
                  <a:srgbClr val="FFFF00"/>
                </a:highligh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873986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9B54D-1FB7-12A7-F07C-55F81A665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 Sub-Structure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820E40-23F6-4400-0D2B-B0269C0E2F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764"/>
          <a:stretch>
            <a:fillRect/>
          </a:stretch>
        </p:blipFill>
        <p:spPr>
          <a:xfrm>
            <a:off x="118110" y="1417320"/>
            <a:ext cx="2876550" cy="19186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3BC19D-BAE7-854C-9A64-47DD5D741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1830" y="1417320"/>
            <a:ext cx="5333030" cy="4000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50B652-BFF7-C341-F4D2-90AEF90F9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2030" y="1417320"/>
            <a:ext cx="3451860" cy="25888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228C85A-C5D3-4BAF-7BD5-038ADBECA5F1}"/>
              </a:ext>
            </a:extLst>
          </p:cNvPr>
          <p:cNvSpPr txBox="1"/>
          <p:nvPr/>
        </p:nvSpPr>
        <p:spPr>
          <a:xfrm>
            <a:off x="2994660" y="5540485"/>
            <a:ext cx="57169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Clear distance between Sub Base: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1000-2000 HP Drilling Rig: 4-6 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550-750 HP Work Over Rig: 2.5 – 3.0 m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F9EF90E-AE03-B01C-6F4A-65A905EB6C45}"/>
              </a:ext>
            </a:extLst>
          </p:cNvPr>
          <p:cNvGrpSpPr/>
          <p:nvPr/>
        </p:nvGrpSpPr>
        <p:grpSpPr>
          <a:xfrm>
            <a:off x="400050" y="5675657"/>
            <a:ext cx="438150" cy="372636"/>
            <a:chOff x="400050" y="4261740"/>
            <a:chExt cx="438150" cy="37263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D453B9E-B6F3-EC92-D3B6-619185F7F82B}"/>
                </a:ext>
              </a:extLst>
            </p:cNvPr>
            <p:cNvSpPr/>
            <p:nvPr/>
          </p:nvSpPr>
          <p:spPr>
            <a:xfrm>
              <a:off x="400050" y="4261740"/>
              <a:ext cx="438150" cy="4571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9B20166-69F0-0AAA-8DE4-F3AE78ADE402}"/>
                </a:ext>
              </a:extLst>
            </p:cNvPr>
            <p:cNvSpPr/>
            <p:nvPr/>
          </p:nvSpPr>
          <p:spPr>
            <a:xfrm>
              <a:off x="400050" y="4588657"/>
              <a:ext cx="438150" cy="4571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FD2AC47-C99E-786A-2E22-F9EFD188D79D}"/>
                </a:ext>
              </a:extLst>
            </p:cNvPr>
            <p:cNvSpPr/>
            <p:nvPr/>
          </p:nvSpPr>
          <p:spPr>
            <a:xfrm rot="16200000">
              <a:off x="476825" y="4403572"/>
              <a:ext cx="271132" cy="9903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1B49ADE-489D-6475-504F-1B4D6364492A}"/>
              </a:ext>
            </a:extLst>
          </p:cNvPr>
          <p:cNvGrpSpPr/>
          <p:nvPr/>
        </p:nvGrpSpPr>
        <p:grpSpPr>
          <a:xfrm>
            <a:off x="1859085" y="5680690"/>
            <a:ext cx="438150" cy="372636"/>
            <a:chOff x="400050" y="4261740"/>
            <a:chExt cx="438150" cy="372636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1693BB8-9707-5B03-A8E2-372298055799}"/>
                </a:ext>
              </a:extLst>
            </p:cNvPr>
            <p:cNvSpPr/>
            <p:nvPr/>
          </p:nvSpPr>
          <p:spPr>
            <a:xfrm>
              <a:off x="400050" y="4261740"/>
              <a:ext cx="438150" cy="4571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6974E2E-9064-F7E5-1122-99057C0E59DE}"/>
                </a:ext>
              </a:extLst>
            </p:cNvPr>
            <p:cNvSpPr/>
            <p:nvPr/>
          </p:nvSpPr>
          <p:spPr>
            <a:xfrm>
              <a:off x="400050" y="4588657"/>
              <a:ext cx="438150" cy="4571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8F61F25-6811-824E-6C92-D76C9D9C1933}"/>
                </a:ext>
              </a:extLst>
            </p:cNvPr>
            <p:cNvSpPr/>
            <p:nvPr/>
          </p:nvSpPr>
          <p:spPr>
            <a:xfrm rot="16200000">
              <a:off x="476825" y="4403572"/>
              <a:ext cx="271132" cy="9903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1ECDEEFD-8FB9-FBE8-5B6A-EEB0DFE191A1}"/>
              </a:ext>
            </a:extLst>
          </p:cNvPr>
          <p:cNvSpPr/>
          <p:nvPr/>
        </p:nvSpPr>
        <p:spPr>
          <a:xfrm>
            <a:off x="661910" y="5820355"/>
            <a:ext cx="1359997" cy="1365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4D4D323-FB5E-92C2-1130-F659DE7A8AFF}"/>
              </a:ext>
            </a:extLst>
          </p:cNvPr>
          <p:cNvCxnSpPr/>
          <p:nvPr/>
        </p:nvCxnSpPr>
        <p:spPr>
          <a:xfrm>
            <a:off x="838200" y="6122504"/>
            <a:ext cx="102088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76015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71C81-2AA5-F165-6717-B75C97B3B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C0F6E-5273-BAE3-ECEB-FA8A403A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813" y="309503"/>
            <a:ext cx="10515600" cy="609719"/>
          </a:xfrm>
        </p:spPr>
        <p:txBody>
          <a:bodyPr>
            <a:normAutofit/>
          </a:bodyPr>
          <a:lstStyle/>
          <a:p>
            <a:r>
              <a:rPr lang="en-US" sz="3600" dirty="0"/>
              <a:t>3 x 3 meter Cellar Sizes 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B37BFC-20AA-6325-7519-8D4F87922F58}"/>
              </a:ext>
            </a:extLst>
          </p:cNvPr>
          <p:cNvSpPr/>
          <p:nvPr/>
        </p:nvSpPr>
        <p:spPr>
          <a:xfrm>
            <a:off x="4354830" y="1857510"/>
            <a:ext cx="720000" cy="720000"/>
          </a:xfrm>
          <a:prstGeom prst="rect">
            <a:avLst/>
          </a:prstGeom>
          <a:pattFill prst="pct25">
            <a:fgClr>
              <a:schemeClr val="accent1"/>
            </a:fgClr>
            <a:bgClr>
              <a:schemeClr val="bg1"/>
            </a:bgClr>
          </a:pattFill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AE2308-2BB9-B8CD-5B6B-480EE3E3A5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9556" y="1192790"/>
            <a:ext cx="3408620" cy="49290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CFDCEF-71C6-3264-12C0-1A416EE09A1C}"/>
              </a:ext>
            </a:extLst>
          </p:cNvPr>
          <p:cNvSpPr txBox="1"/>
          <p:nvPr/>
        </p:nvSpPr>
        <p:spPr>
          <a:xfrm>
            <a:off x="445303" y="5078653"/>
            <a:ext cx="785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Cellar</a:t>
            </a:r>
            <a:endParaRPr lang="en-ID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B62FA22-9577-B8C9-FD2F-406B7274D8DA}"/>
              </a:ext>
            </a:extLst>
          </p:cNvPr>
          <p:cNvCxnSpPr/>
          <p:nvPr/>
        </p:nvCxnSpPr>
        <p:spPr>
          <a:xfrm flipV="1">
            <a:off x="937260" y="4851765"/>
            <a:ext cx="674370" cy="2917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BC589C8D-8F20-6535-606D-FD211CA3264A}"/>
              </a:ext>
            </a:extLst>
          </p:cNvPr>
          <p:cNvSpPr/>
          <p:nvPr/>
        </p:nvSpPr>
        <p:spPr>
          <a:xfrm>
            <a:off x="6468048" y="1857510"/>
            <a:ext cx="720000" cy="720000"/>
          </a:xfrm>
          <a:prstGeom prst="rect">
            <a:avLst/>
          </a:prstGeom>
          <a:pattFill prst="pct25">
            <a:fgClr>
              <a:schemeClr val="accent1"/>
            </a:fgClr>
            <a:bgClr>
              <a:schemeClr val="bg1"/>
            </a:bgClr>
          </a:pattFill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4CA19BC-823C-490B-5DD3-CC762BC0B9AE}"/>
              </a:ext>
            </a:extLst>
          </p:cNvPr>
          <p:cNvSpPr/>
          <p:nvPr/>
        </p:nvSpPr>
        <p:spPr>
          <a:xfrm>
            <a:off x="8581266" y="1857510"/>
            <a:ext cx="720000" cy="720000"/>
          </a:xfrm>
          <a:prstGeom prst="rect">
            <a:avLst/>
          </a:prstGeom>
          <a:pattFill prst="pct25">
            <a:fgClr>
              <a:schemeClr val="accent1"/>
            </a:fgClr>
            <a:bgClr>
              <a:schemeClr val="bg1"/>
            </a:bgClr>
          </a:pattFill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87E59EB-2FF6-186B-039F-C687B727EB8A}"/>
              </a:ext>
            </a:extLst>
          </p:cNvPr>
          <p:cNvSpPr/>
          <p:nvPr/>
        </p:nvSpPr>
        <p:spPr>
          <a:xfrm>
            <a:off x="10694484" y="1857510"/>
            <a:ext cx="720000" cy="720000"/>
          </a:xfrm>
          <a:prstGeom prst="rect">
            <a:avLst/>
          </a:prstGeom>
          <a:pattFill prst="pct25">
            <a:fgClr>
              <a:schemeClr val="accent1"/>
            </a:fgClr>
            <a:bgClr>
              <a:schemeClr val="bg1"/>
            </a:bgClr>
          </a:pattFill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99E389-8680-825A-A704-F4DFDDAD961D}"/>
              </a:ext>
            </a:extLst>
          </p:cNvPr>
          <p:cNvSpPr/>
          <p:nvPr/>
        </p:nvSpPr>
        <p:spPr>
          <a:xfrm>
            <a:off x="3760425" y="1508510"/>
            <a:ext cx="1908810" cy="1778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6E69E8F-174F-DEE6-CD66-A74FB9E918C4}"/>
              </a:ext>
            </a:extLst>
          </p:cNvPr>
          <p:cNvSpPr/>
          <p:nvPr/>
        </p:nvSpPr>
        <p:spPr>
          <a:xfrm>
            <a:off x="3760425" y="2748710"/>
            <a:ext cx="1908810" cy="1778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617E10-5876-80BA-3689-8706F1438C1B}"/>
              </a:ext>
            </a:extLst>
          </p:cNvPr>
          <p:cNvSpPr txBox="1"/>
          <p:nvPr/>
        </p:nvSpPr>
        <p:spPr>
          <a:xfrm>
            <a:off x="3628176" y="1139178"/>
            <a:ext cx="2518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Rig Sub Base – Skid Rail</a:t>
            </a:r>
            <a:endParaRPr lang="en-ID" dirty="0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07336C8D-FC59-9057-ABC4-9DC403E42BF2}"/>
              </a:ext>
            </a:extLst>
          </p:cNvPr>
          <p:cNvSpPr/>
          <p:nvPr/>
        </p:nvSpPr>
        <p:spPr>
          <a:xfrm>
            <a:off x="5846669" y="1412744"/>
            <a:ext cx="299889" cy="369332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9E346745-0A78-7E31-7AB6-F57ACA004442}"/>
              </a:ext>
            </a:extLst>
          </p:cNvPr>
          <p:cNvSpPr/>
          <p:nvPr/>
        </p:nvSpPr>
        <p:spPr>
          <a:xfrm>
            <a:off x="7873516" y="1412744"/>
            <a:ext cx="299889" cy="369332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82841918-3FF2-6152-01EB-4107244CEEDA}"/>
              </a:ext>
            </a:extLst>
          </p:cNvPr>
          <p:cNvSpPr/>
          <p:nvPr/>
        </p:nvSpPr>
        <p:spPr>
          <a:xfrm>
            <a:off x="9750418" y="1316978"/>
            <a:ext cx="299889" cy="369332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2585A93-0C93-E6DC-9EFE-BA33B2CF4E2E}"/>
              </a:ext>
            </a:extLst>
          </p:cNvPr>
          <p:cNvSpPr txBox="1"/>
          <p:nvPr/>
        </p:nvSpPr>
        <p:spPr>
          <a:xfrm>
            <a:off x="10048456" y="1323844"/>
            <a:ext cx="1923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Rig Skid Direction</a:t>
            </a:r>
            <a:endParaRPr lang="en-ID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E9D8FF-F8D4-532E-1B44-61D6B83F8E30}"/>
              </a:ext>
            </a:extLst>
          </p:cNvPr>
          <p:cNvSpPr txBox="1"/>
          <p:nvPr/>
        </p:nvSpPr>
        <p:spPr>
          <a:xfrm>
            <a:off x="5935580" y="2695677"/>
            <a:ext cx="447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highlight>
                  <a:srgbClr val="FFFF00"/>
                </a:highlight>
              </a:rPr>
              <a:t>1000-1500 Hp Drilling Rig Layout</a:t>
            </a:r>
            <a:endParaRPr lang="en-ID" sz="2400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83D89BB-52E2-D99A-040A-C4DD12BDD0D3}"/>
              </a:ext>
            </a:extLst>
          </p:cNvPr>
          <p:cNvSpPr/>
          <p:nvPr/>
        </p:nvSpPr>
        <p:spPr>
          <a:xfrm>
            <a:off x="4448328" y="4727676"/>
            <a:ext cx="720000" cy="720000"/>
          </a:xfrm>
          <a:prstGeom prst="rect">
            <a:avLst/>
          </a:prstGeom>
          <a:pattFill prst="pct25">
            <a:fgClr>
              <a:schemeClr val="accent1"/>
            </a:fgClr>
            <a:bgClr>
              <a:schemeClr val="bg1"/>
            </a:bgClr>
          </a:pattFill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D7A0510-5B42-171B-2570-727BD864DF7B}"/>
              </a:ext>
            </a:extLst>
          </p:cNvPr>
          <p:cNvSpPr/>
          <p:nvPr/>
        </p:nvSpPr>
        <p:spPr>
          <a:xfrm>
            <a:off x="6561546" y="4727676"/>
            <a:ext cx="720000" cy="720000"/>
          </a:xfrm>
          <a:prstGeom prst="rect">
            <a:avLst/>
          </a:prstGeom>
          <a:pattFill prst="pct25">
            <a:fgClr>
              <a:schemeClr val="accent1"/>
            </a:fgClr>
            <a:bgClr>
              <a:schemeClr val="bg1"/>
            </a:bgClr>
          </a:pattFill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D3D6E72-C53A-E16D-6FDE-253525D210AE}"/>
              </a:ext>
            </a:extLst>
          </p:cNvPr>
          <p:cNvSpPr/>
          <p:nvPr/>
        </p:nvSpPr>
        <p:spPr>
          <a:xfrm>
            <a:off x="8674764" y="4727676"/>
            <a:ext cx="720000" cy="720000"/>
          </a:xfrm>
          <a:prstGeom prst="rect">
            <a:avLst/>
          </a:prstGeom>
          <a:pattFill prst="pct25">
            <a:fgClr>
              <a:schemeClr val="accent1"/>
            </a:fgClr>
            <a:bgClr>
              <a:schemeClr val="bg1"/>
            </a:bgClr>
          </a:pattFill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BFE1801-5EFC-0CC3-0D2F-1C631154F8CF}"/>
              </a:ext>
            </a:extLst>
          </p:cNvPr>
          <p:cNvSpPr/>
          <p:nvPr/>
        </p:nvSpPr>
        <p:spPr>
          <a:xfrm>
            <a:off x="10787982" y="4727676"/>
            <a:ext cx="720000" cy="720000"/>
          </a:xfrm>
          <a:prstGeom prst="rect">
            <a:avLst/>
          </a:prstGeom>
          <a:pattFill prst="pct25">
            <a:fgClr>
              <a:schemeClr val="accent1"/>
            </a:fgClr>
            <a:bgClr>
              <a:schemeClr val="bg1"/>
            </a:bgClr>
          </a:pattFill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0E48443-5FCC-64A9-6652-4D572A11DE75}"/>
              </a:ext>
            </a:extLst>
          </p:cNvPr>
          <p:cNvSpPr/>
          <p:nvPr/>
        </p:nvSpPr>
        <p:spPr>
          <a:xfrm rot="16200000" flipH="1">
            <a:off x="3463640" y="5018755"/>
            <a:ext cx="1908810" cy="177800"/>
          </a:xfrm>
          <a:prstGeom prst="rect">
            <a:avLst/>
          </a:prstGeom>
          <a:solidFill>
            <a:schemeClr val="accent2">
              <a:lumMod val="75000"/>
              <a:alpha val="6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87780EA-1220-6B38-C0D5-2754E7B2CF56}"/>
              </a:ext>
            </a:extLst>
          </p:cNvPr>
          <p:cNvSpPr/>
          <p:nvPr/>
        </p:nvSpPr>
        <p:spPr>
          <a:xfrm rot="16200000" flipH="1">
            <a:off x="4209325" y="5018755"/>
            <a:ext cx="1908810" cy="177800"/>
          </a:xfrm>
          <a:prstGeom prst="rect">
            <a:avLst/>
          </a:prstGeom>
          <a:solidFill>
            <a:schemeClr val="accent2">
              <a:lumMod val="75000"/>
              <a:alpha val="68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CA182E1-681F-C058-17FB-54B01B995078}"/>
              </a:ext>
            </a:extLst>
          </p:cNvPr>
          <p:cNvSpPr txBox="1"/>
          <p:nvPr/>
        </p:nvSpPr>
        <p:spPr>
          <a:xfrm>
            <a:off x="6383706" y="5890970"/>
            <a:ext cx="4593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highlight>
                  <a:srgbClr val="FFFF00"/>
                </a:highlight>
              </a:rPr>
              <a:t>550-750 Hp Work Over Rig Layout</a:t>
            </a:r>
            <a:endParaRPr lang="en-ID" sz="2400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6082190-EEC3-17C9-0564-3640C9D957B5}"/>
              </a:ext>
            </a:extLst>
          </p:cNvPr>
          <p:cNvCxnSpPr/>
          <p:nvPr/>
        </p:nvCxnSpPr>
        <p:spPr>
          <a:xfrm>
            <a:off x="5360670" y="1693176"/>
            <a:ext cx="0" cy="105553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C08A7723-98C2-61FA-E098-B0C3B42D043C}"/>
              </a:ext>
            </a:extLst>
          </p:cNvPr>
          <p:cNvSpPr txBox="1"/>
          <p:nvPr/>
        </p:nvSpPr>
        <p:spPr>
          <a:xfrm>
            <a:off x="5322818" y="2006328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4-6 m</a:t>
            </a:r>
            <a:endParaRPr lang="en-ID" b="1" dirty="0">
              <a:highlight>
                <a:srgbClr val="FFFF00"/>
              </a:highlight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02DBAD3-6558-0632-187C-02550F256F90}"/>
              </a:ext>
            </a:extLst>
          </p:cNvPr>
          <p:cNvCxnSpPr>
            <a:cxnSpLocks/>
          </p:cNvCxnSpPr>
          <p:nvPr/>
        </p:nvCxnSpPr>
        <p:spPr>
          <a:xfrm>
            <a:off x="4506945" y="4206302"/>
            <a:ext cx="56788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A151B8D0-F69A-0E0B-9969-EB25CC416683}"/>
              </a:ext>
            </a:extLst>
          </p:cNvPr>
          <p:cNvSpPr txBox="1"/>
          <p:nvPr/>
        </p:nvSpPr>
        <p:spPr>
          <a:xfrm>
            <a:off x="4379931" y="3760950"/>
            <a:ext cx="94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2.5-3 m</a:t>
            </a:r>
            <a:endParaRPr lang="en-ID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480219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E3A18-46D0-71FA-01D9-BF7C8BE65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045B0-439F-EB92-5255-1EE8E101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5835"/>
          </a:xfrm>
        </p:spPr>
        <p:txBody>
          <a:bodyPr>
            <a:normAutofit/>
          </a:bodyPr>
          <a:lstStyle/>
          <a:p>
            <a:r>
              <a:rPr lang="en-US" sz="3600" dirty="0"/>
              <a:t>Ideal Cellar Sizes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0C0EC8-B0FC-EB75-5279-2B95AD3355C7}"/>
              </a:ext>
            </a:extLst>
          </p:cNvPr>
          <p:cNvSpPr/>
          <p:nvPr/>
        </p:nvSpPr>
        <p:spPr>
          <a:xfrm>
            <a:off x="4046220" y="2577296"/>
            <a:ext cx="1800000" cy="2160000"/>
          </a:xfrm>
          <a:prstGeom prst="rect">
            <a:avLst/>
          </a:prstGeom>
          <a:pattFill prst="pct25">
            <a:fgClr>
              <a:schemeClr val="accent1"/>
            </a:fgClr>
            <a:bgClr>
              <a:schemeClr val="bg1"/>
            </a:bgClr>
          </a:pattFill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D00FB6-60BE-9F6F-DBE4-CD52543045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715" y="1192788"/>
            <a:ext cx="3408620" cy="49290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BBB3F2-90B8-F3DB-C1DE-0757E45E46CE}"/>
              </a:ext>
            </a:extLst>
          </p:cNvPr>
          <p:cNvSpPr txBox="1"/>
          <p:nvPr/>
        </p:nvSpPr>
        <p:spPr>
          <a:xfrm>
            <a:off x="445303" y="5078653"/>
            <a:ext cx="785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Cellar</a:t>
            </a:r>
            <a:endParaRPr lang="en-ID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E2462FA-A9AC-772F-71A2-9E8BA624152D}"/>
              </a:ext>
            </a:extLst>
          </p:cNvPr>
          <p:cNvCxnSpPr/>
          <p:nvPr/>
        </p:nvCxnSpPr>
        <p:spPr>
          <a:xfrm flipV="1">
            <a:off x="937260" y="4851765"/>
            <a:ext cx="674370" cy="2917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EF88847-16F3-D68A-3700-22BECF2CFBD7}"/>
              </a:ext>
            </a:extLst>
          </p:cNvPr>
          <p:cNvCxnSpPr>
            <a:cxnSpLocks/>
          </p:cNvCxnSpPr>
          <p:nvPr/>
        </p:nvCxnSpPr>
        <p:spPr>
          <a:xfrm>
            <a:off x="4046220" y="3394710"/>
            <a:ext cx="180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849DD3A-B115-28D7-0955-99C9AB44F346}"/>
              </a:ext>
            </a:extLst>
          </p:cNvPr>
          <p:cNvCxnSpPr>
            <a:cxnSpLocks/>
          </p:cNvCxnSpPr>
          <p:nvPr/>
        </p:nvCxnSpPr>
        <p:spPr>
          <a:xfrm rot="16200000">
            <a:off x="4979670" y="3657294"/>
            <a:ext cx="222885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8F935C1-0F18-2C8E-1B27-F0A2BF5D4A15}"/>
              </a:ext>
            </a:extLst>
          </p:cNvPr>
          <p:cNvSpPr txBox="1"/>
          <p:nvPr/>
        </p:nvSpPr>
        <p:spPr>
          <a:xfrm>
            <a:off x="4481990" y="2915944"/>
            <a:ext cx="928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highlight>
                  <a:srgbClr val="FFFF00"/>
                </a:highlight>
              </a:rPr>
              <a:t>2.5 m</a:t>
            </a:r>
            <a:endParaRPr lang="en-ID" sz="2400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E7F06E-5D42-BC80-0F58-7DF63D62648D}"/>
              </a:ext>
            </a:extLst>
          </p:cNvPr>
          <p:cNvSpPr txBox="1"/>
          <p:nvPr/>
        </p:nvSpPr>
        <p:spPr>
          <a:xfrm>
            <a:off x="6114130" y="3394710"/>
            <a:ext cx="928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highlight>
                  <a:srgbClr val="FFFF00"/>
                </a:highlight>
              </a:rPr>
              <a:t>3.0 m</a:t>
            </a:r>
            <a:endParaRPr lang="en-ID" sz="2400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4BB40B-C0ED-1600-6C39-905D66436269}"/>
              </a:ext>
            </a:extLst>
          </p:cNvPr>
          <p:cNvSpPr/>
          <p:nvPr/>
        </p:nvSpPr>
        <p:spPr>
          <a:xfrm>
            <a:off x="3628176" y="1973965"/>
            <a:ext cx="3211871" cy="3488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CF6EC1-8303-978F-7012-47CD87BF991E}"/>
              </a:ext>
            </a:extLst>
          </p:cNvPr>
          <p:cNvSpPr/>
          <p:nvPr/>
        </p:nvSpPr>
        <p:spPr>
          <a:xfrm rot="16200000" flipH="1">
            <a:off x="7637932" y="3597230"/>
            <a:ext cx="2754719" cy="177800"/>
          </a:xfrm>
          <a:prstGeom prst="rect">
            <a:avLst/>
          </a:prstGeom>
          <a:solidFill>
            <a:schemeClr val="accent2">
              <a:lumMod val="75000"/>
              <a:alpha val="6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0979950-502F-9840-D75C-D1B5E81636F1}"/>
              </a:ext>
            </a:extLst>
          </p:cNvPr>
          <p:cNvSpPr/>
          <p:nvPr/>
        </p:nvSpPr>
        <p:spPr>
          <a:xfrm>
            <a:off x="3627214" y="4962593"/>
            <a:ext cx="3211871" cy="3488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0416005-C709-6998-CDC4-E9DFFCFA3050}"/>
              </a:ext>
            </a:extLst>
          </p:cNvPr>
          <p:cNvSpPr/>
          <p:nvPr/>
        </p:nvSpPr>
        <p:spPr>
          <a:xfrm>
            <a:off x="9195631" y="2542873"/>
            <a:ext cx="1800000" cy="2160000"/>
          </a:xfrm>
          <a:prstGeom prst="rect">
            <a:avLst/>
          </a:prstGeom>
          <a:pattFill prst="pct25">
            <a:fgClr>
              <a:schemeClr val="accent1"/>
            </a:fgClr>
            <a:bgClr>
              <a:schemeClr val="bg1"/>
            </a:bgClr>
          </a:pattFill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736092E-26FB-E7B5-CCAE-998DA151E8D3}"/>
              </a:ext>
            </a:extLst>
          </p:cNvPr>
          <p:cNvCxnSpPr>
            <a:cxnSpLocks/>
          </p:cNvCxnSpPr>
          <p:nvPr/>
        </p:nvCxnSpPr>
        <p:spPr>
          <a:xfrm>
            <a:off x="9104192" y="2388780"/>
            <a:ext cx="180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2124ECD-9642-A588-C809-6A30BF9E5CFB}"/>
              </a:ext>
            </a:extLst>
          </p:cNvPr>
          <p:cNvCxnSpPr>
            <a:cxnSpLocks/>
          </p:cNvCxnSpPr>
          <p:nvPr/>
        </p:nvCxnSpPr>
        <p:spPr>
          <a:xfrm rot="16200000">
            <a:off x="8930066" y="3605681"/>
            <a:ext cx="222885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1C2AEBC-EBE1-C888-87BD-0ACA778C910F}"/>
              </a:ext>
            </a:extLst>
          </p:cNvPr>
          <p:cNvSpPr txBox="1"/>
          <p:nvPr/>
        </p:nvSpPr>
        <p:spPr>
          <a:xfrm>
            <a:off x="9539962" y="1861117"/>
            <a:ext cx="928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highlight>
                  <a:srgbClr val="FFFF00"/>
                </a:highlight>
              </a:rPr>
              <a:t>2.5 m</a:t>
            </a:r>
            <a:endParaRPr lang="en-ID" sz="2400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66D3D1-0BBE-276D-862A-D277E088DB85}"/>
              </a:ext>
            </a:extLst>
          </p:cNvPr>
          <p:cNvSpPr txBox="1"/>
          <p:nvPr/>
        </p:nvSpPr>
        <p:spPr>
          <a:xfrm>
            <a:off x="10059535" y="3429000"/>
            <a:ext cx="928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highlight>
                  <a:srgbClr val="FFFF00"/>
                </a:highlight>
              </a:rPr>
              <a:t>3.0 m</a:t>
            </a:r>
            <a:endParaRPr lang="en-ID" sz="2400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B5328E3-2FA8-0C5A-F8C2-6672FD5DA0DC}"/>
              </a:ext>
            </a:extLst>
          </p:cNvPr>
          <p:cNvSpPr/>
          <p:nvPr/>
        </p:nvSpPr>
        <p:spPr>
          <a:xfrm rot="16200000" flipH="1">
            <a:off x="9824602" y="3612393"/>
            <a:ext cx="2754719" cy="177800"/>
          </a:xfrm>
          <a:prstGeom prst="rect">
            <a:avLst/>
          </a:prstGeom>
          <a:solidFill>
            <a:schemeClr val="accent2">
              <a:lumMod val="75000"/>
              <a:alpha val="6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96F821D-2F9F-01CF-9ED9-A3CFBF9C5DED}"/>
              </a:ext>
            </a:extLst>
          </p:cNvPr>
          <p:cNvSpPr txBox="1"/>
          <p:nvPr/>
        </p:nvSpPr>
        <p:spPr>
          <a:xfrm>
            <a:off x="3536535" y="1105919"/>
            <a:ext cx="25575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highlight>
                  <a:srgbClr val="FFFF00"/>
                </a:highlight>
              </a:rPr>
              <a:t>1000-1500 Hp </a:t>
            </a:r>
          </a:p>
          <a:p>
            <a:r>
              <a:rPr lang="en-US" sz="2400" dirty="0">
                <a:solidFill>
                  <a:srgbClr val="C00000"/>
                </a:solidFill>
                <a:highlight>
                  <a:srgbClr val="FFFF00"/>
                </a:highlight>
              </a:rPr>
              <a:t>Drilling Rig Layout</a:t>
            </a:r>
            <a:endParaRPr lang="en-ID" sz="2400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A3CFA97-6C23-AA9D-A439-4CAF377949FD}"/>
              </a:ext>
            </a:extLst>
          </p:cNvPr>
          <p:cNvSpPr txBox="1"/>
          <p:nvPr/>
        </p:nvSpPr>
        <p:spPr>
          <a:xfrm>
            <a:off x="8752608" y="5311410"/>
            <a:ext cx="29940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highlight>
                  <a:srgbClr val="FFFF00"/>
                </a:highlight>
              </a:rPr>
              <a:t>550-750 Hp </a:t>
            </a:r>
          </a:p>
          <a:p>
            <a:r>
              <a:rPr lang="en-US" sz="2400" dirty="0">
                <a:solidFill>
                  <a:srgbClr val="C00000"/>
                </a:solidFill>
                <a:highlight>
                  <a:srgbClr val="FFFF00"/>
                </a:highlight>
              </a:rPr>
              <a:t>Work Over Rig Layout</a:t>
            </a:r>
            <a:endParaRPr lang="en-ID" sz="2400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756086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0D723-DE42-A196-8012-FD0EAFA95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9335"/>
          </a:xfrm>
        </p:spPr>
        <p:txBody>
          <a:bodyPr/>
          <a:lstStyle/>
          <a:p>
            <a:r>
              <a:rPr lang="en-US" dirty="0"/>
              <a:t>Master Valve Dimension</a:t>
            </a:r>
            <a:endParaRPr lang="en-ID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F8A85E-9000-16A2-535A-62E7FF410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8706"/>
            <a:ext cx="5739313" cy="53932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F24116-A058-5716-4520-6B277F8E23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03" b="1987"/>
          <a:stretch>
            <a:fillRect/>
          </a:stretch>
        </p:blipFill>
        <p:spPr>
          <a:xfrm>
            <a:off x="5739313" y="2657474"/>
            <a:ext cx="6264215" cy="1651635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94E6E3-56E8-11A9-A9C3-DE80BF6F8547}"/>
              </a:ext>
            </a:extLst>
          </p:cNvPr>
          <p:cNvCxnSpPr/>
          <p:nvPr/>
        </p:nvCxnSpPr>
        <p:spPr>
          <a:xfrm>
            <a:off x="8092440" y="3429000"/>
            <a:ext cx="0" cy="1600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A13C74C-F7A4-B574-BD06-76D983EBD441}"/>
              </a:ext>
            </a:extLst>
          </p:cNvPr>
          <p:cNvCxnSpPr/>
          <p:nvPr/>
        </p:nvCxnSpPr>
        <p:spPr>
          <a:xfrm>
            <a:off x="8930640" y="3429000"/>
            <a:ext cx="0" cy="1600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4D60521-5874-48F6-A4B7-E94B982A1B6A}"/>
              </a:ext>
            </a:extLst>
          </p:cNvPr>
          <p:cNvCxnSpPr/>
          <p:nvPr/>
        </p:nvCxnSpPr>
        <p:spPr>
          <a:xfrm>
            <a:off x="11883390" y="3409949"/>
            <a:ext cx="0" cy="1600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470F7D9-20C1-A9D5-9F44-5B1D63931F2E}"/>
              </a:ext>
            </a:extLst>
          </p:cNvPr>
          <p:cNvCxnSpPr/>
          <p:nvPr/>
        </p:nvCxnSpPr>
        <p:spPr>
          <a:xfrm>
            <a:off x="8092440" y="4869180"/>
            <a:ext cx="8382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B15AA6B-9B00-C958-21F4-D274E913FCCC}"/>
              </a:ext>
            </a:extLst>
          </p:cNvPr>
          <p:cNvCxnSpPr>
            <a:cxnSpLocks/>
          </p:cNvCxnSpPr>
          <p:nvPr/>
        </p:nvCxnSpPr>
        <p:spPr>
          <a:xfrm>
            <a:off x="8930640" y="4884420"/>
            <a:ext cx="295275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A0A82EC-E8D6-9204-6524-5C418538602D}"/>
              </a:ext>
            </a:extLst>
          </p:cNvPr>
          <p:cNvSpPr txBox="1"/>
          <p:nvPr/>
        </p:nvSpPr>
        <p:spPr>
          <a:xfrm>
            <a:off x="9768839" y="4365932"/>
            <a:ext cx="928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highlight>
                  <a:srgbClr val="FFFF00"/>
                </a:highlight>
              </a:rPr>
              <a:t>1.9 m</a:t>
            </a:r>
            <a:endParaRPr lang="en-ID" sz="2400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6511C4-A651-2BDC-3788-17B8D3B33842}"/>
              </a:ext>
            </a:extLst>
          </p:cNvPr>
          <p:cNvSpPr txBox="1"/>
          <p:nvPr/>
        </p:nvSpPr>
        <p:spPr>
          <a:xfrm>
            <a:off x="8082327" y="4365932"/>
            <a:ext cx="928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highlight>
                  <a:srgbClr val="FFFF00"/>
                </a:highlight>
              </a:rPr>
              <a:t>0.6 m</a:t>
            </a:r>
            <a:endParaRPr lang="en-ID" sz="2400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4668165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BF483-EE4B-B783-C269-3187C8EAF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40DB7-C8F0-03E5-C37E-2B6C63C15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5835"/>
          </a:xfrm>
        </p:spPr>
        <p:txBody>
          <a:bodyPr>
            <a:normAutofit/>
          </a:bodyPr>
          <a:lstStyle/>
          <a:p>
            <a:r>
              <a:rPr lang="en-US" sz="3600" dirty="0"/>
              <a:t>Ideal Cellar Sizes vs Master Valve Orientation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088D6A-86C1-CB54-4B9B-82495AE901B8}"/>
              </a:ext>
            </a:extLst>
          </p:cNvPr>
          <p:cNvSpPr/>
          <p:nvPr/>
        </p:nvSpPr>
        <p:spPr>
          <a:xfrm>
            <a:off x="2983230" y="2577296"/>
            <a:ext cx="1800000" cy="2160000"/>
          </a:xfrm>
          <a:prstGeom prst="rect">
            <a:avLst/>
          </a:prstGeom>
          <a:pattFill prst="pct25">
            <a:fgClr>
              <a:schemeClr val="accent1"/>
            </a:fgClr>
            <a:bgClr>
              <a:schemeClr val="bg1"/>
            </a:bgClr>
          </a:pattFill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165A3E5-47A6-15E2-95C6-0F38EF721C5D}"/>
              </a:ext>
            </a:extLst>
          </p:cNvPr>
          <p:cNvCxnSpPr>
            <a:cxnSpLocks/>
          </p:cNvCxnSpPr>
          <p:nvPr/>
        </p:nvCxnSpPr>
        <p:spPr>
          <a:xfrm>
            <a:off x="2983230" y="3178938"/>
            <a:ext cx="180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23C1DA5-65D6-CD6D-DB74-FB7AAEB310E2}"/>
              </a:ext>
            </a:extLst>
          </p:cNvPr>
          <p:cNvCxnSpPr>
            <a:cxnSpLocks/>
          </p:cNvCxnSpPr>
          <p:nvPr/>
        </p:nvCxnSpPr>
        <p:spPr>
          <a:xfrm rot="16200000">
            <a:off x="1664970" y="3657292"/>
            <a:ext cx="222885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714249C-EAA0-43B8-2E9D-F959BD157496}"/>
              </a:ext>
            </a:extLst>
          </p:cNvPr>
          <p:cNvSpPr txBox="1"/>
          <p:nvPr/>
        </p:nvSpPr>
        <p:spPr>
          <a:xfrm>
            <a:off x="3419000" y="2628687"/>
            <a:ext cx="928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highlight>
                  <a:srgbClr val="FFFF00"/>
                </a:highlight>
              </a:rPr>
              <a:t>2.5 m</a:t>
            </a:r>
            <a:endParaRPr lang="en-ID" sz="2400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17DA5F-F9E6-C1B5-9C76-A8163D325EF0}"/>
              </a:ext>
            </a:extLst>
          </p:cNvPr>
          <p:cNvSpPr txBox="1"/>
          <p:nvPr/>
        </p:nvSpPr>
        <p:spPr>
          <a:xfrm>
            <a:off x="1851616" y="3402527"/>
            <a:ext cx="928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highlight>
                  <a:srgbClr val="FFFF00"/>
                </a:highlight>
              </a:rPr>
              <a:t>3.0 m</a:t>
            </a:r>
            <a:endParaRPr lang="en-ID" sz="2400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93A8E7E-DA97-BC0E-AF9B-999C01F2DF53}"/>
              </a:ext>
            </a:extLst>
          </p:cNvPr>
          <p:cNvSpPr/>
          <p:nvPr/>
        </p:nvSpPr>
        <p:spPr>
          <a:xfrm>
            <a:off x="2565186" y="1973965"/>
            <a:ext cx="3211871" cy="3488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387B58-F5D7-E5E5-49F0-88AA21D17147}"/>
              </a:ext>
            </a:extLst>
          </p:cNvPr>
          <p:cNvSpPr/>
          <p:nvPr/>
        </p:nvSpPr>
        <p:spPr>
          <a:xfrm rot="16200000" flipH="1">
            <a:off x="6574942" y="3597230"/>
            <a:ext cx="2754719" cy="177800"/>
          </a:xfrm>
          <a:prstGeom prst="rect">
            <a:avLst/>
          </a:prstGeom>
          <a:solidFill>
            <a:schemeClr val="accent2">
              <a:lumMod val="75000"/>
              <a:alpha val="6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4C04ED4-13E0-8341-E857-123F25C334E5}"/>
              </a:ext>
            </a:extLst>
          </p:cNvPr>
          <p:cNvSpPr/>
          <p:nvPr/>
        </p:nvSpPr>
        <p:spPr>
          <a:xfrm>
            <a:off x="2564224" y="4962593"/>
            <a:ext cx="3211871" cy="3488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3190EB2-8E1E-CC15-FEB2-ADCA50001821}"/>
              </a:ext>
            </a:extLst>
          </p:cNvPr>
          <p:cNvSpPr/>
          <p:nvPr/>
        </p:nvSpPr>
        <p:spPr>
          <a:xfrm>
            <a:off x="8132641" y="2542873"/>
            <a:ext cx="1800000" cy="2160000"/>
          </a:xfrm>
          <a:prstGeom prst="rect">
            <a:avLst/>
          </a:prstGeom>
          <a:pattFill prst="pct25">
            <a:fgClr>
              <a:schemeClr val="accent1"/>
            </a:fgClr>
            <a:bgClr>
              <a:schemeClr val="bg1"/>
            </a:bgClr>
          </a:pattFill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E112827-388A-815E-517D-FFB2236C40D1}"/>
              </a:ext>
            </a:extLst>
          </p:cNvPr>
          <p:cNvCxnSpPr>
            <a:cxnSpLocks/>
          </p:cNvCxnSpPr>
          <p:nvPr/>
        </p:nvCxnSpPr>
        <p:spPr>
          <a:xfrm>
            <a:off x="8041202" y="2388780"/>
            <a:ext cx="180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5D395A3-E52C-452E-94C5-9F88595CE82D}"/>
              </a:ext>
            </a:extLst>
          </p:cNvPr>
          <p:cNvSpPr txBox="1"/>
          <p:nvPr/>
        </p:nvSpPr>
        <p:spPr>
          <a:xfrm>
            <a:off x="8476972" y="1861117"/>
            <a:ext cx="928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highlight>
                  <a:srgbClr val="FFFF00"/>
                </a:highlight>
              </a:rPr>
              <a:t>2.5 m</a:t>
            </a:r>
            <a:endParaRPr lang="en-ID" sz="2400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82F64C2-7952-EE06-1451-CF08D24595E6}"/>
              </a:ext>
            </a:extLst>
          </p:cNvPr>
          <p:cNvSpPr txBox="1"/>
          <p:nvPr/>
        </p:nvSpPr>
        <p:spPr>
          <a:xfrm>
            <a:off x="2473545" y="1105919"/>
            <a:ext cx="25575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highlight>
                  <a:srgbClr val="FFFF00"/>
                </a:highlight>
              </a:rPr>
              <a:t>1000-1500 Hp </a:t>
            </a:r>
          </a:p>
          <a:p>
            <a:r>
              <a:rPr lang="en-US" sz="2400" dirty="0">
                <a:solidFill>
                  <a:srgbClr val="C00000"/>
                </a:solidFill>
                <a:highlight>
                  <a:srgbClr val="FFFF00"/>
                </a:highlight>
              </a:rPr>
              <a:t>Drilling Rig Layout</a:t>
            </a:r>
            <a:endParaRPr lang="en-ID" sz="2400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3410C7F-CC61-D151-D01F-407474F8493A}"/>
              </a:ext>
            </a:extLst>
          </p:cNvPr>
          <p:cNvSpPr txBox="1"/>
          <p:nvPr/>
        </p:nvSpPr>
        <p:spPr>
          <a:xfrm>
            <a:off x="7689618" y="5311410"/>
            <a:ext cx="29940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highlight>
                  <a:srgbClr val="FFFF00"/>
                </a:highlight>
              </a:rPr>
              <a:t>550-750 Hp </a:t>
            </a:r>
          </a:p>
          <a:p>
            <a:r>
              <a:rPr lang="en-US" sz="2400" dirty="0">
                <a:solidFill>
                  <a:srgbClr val="C00000"/>
                </a:solidFill>
                <a:highlight>
                  <a:srgbClr val="FFFF00"/>
                </a:highlight>
              </a:rPr>
              <a:t>Work Over Rig Layout</a:t>
            </a:r>
            <a:endParaRPr lang="en-ID" sz="2400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A9151E5-51C2-0A20-3E17-E4FEC89C1F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601" t="5403" b="1987"/>
          <a:stretch>
            <a:fillRect/>
          </a:stretch>
        </p:blipFill>
        <p:spPr>
          <a:xfrm>
            <a:off x="3463199" y="3227135"/>
            <a:ext cx="2244316" cy="94831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00DD62B-0BE1-C37C-F69D-CD9576EB36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601" t="5403" b="1987"/>
          <a:stretch>
            <a:fillRect/>
          </a:stretch>
        </p:blipFill>
        <p:spPr>
          <a:xfrm>
            <a:off x="8547204" y="3185978"/>
            <a:ext cx="2244316" cy="948316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9EA88806-DC2A-D27B-5B57-5F65FA6E449F}"/>
              </a:ext>
            </a:extLst>
          </p:cNvPr>
          <p:cNvSpPr/>
          <p:nvPr/>
        </p:nvSpPr>
        <p:spPr>
          <a:xfrm rot="16200000" flipH="1">
            <a:off x="8761612" y="3612393"/>
            <a:ext cx="2754719" cy="177800"/>
          </a:xfrm>
          <a:prstGeom prst="rect">
            <a:avLst/>
          </a:prstGeom>
          <a:solidFill>
            <a:schemeClr val="accent2">
              <a:lumMod val="75000"/>
              <a:alpha val="6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7932007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3B30D-0CE9-5193-17B4-5AED47542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05383-4C36-267C-B949-DAC46D3C8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5835"/>
          </a:xfrm>
        </p:spPr>
        <p:txBody>
          <a:bodyPr>
            <a:normAutofit/>
          </a:bodyPr>
          <a:lstStyle/>
          <a:p>
            <a:r>
              <a:rPr lang="en-US" sz="3600" dirty="0"/>
              <a:t>Ideal Cellar Sizes vs Master Valve Orientation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9B15E4-B398-C074-0B5C-B9298F482FF8}"/>
              </a:ext>
            </a:extLst>
          </p:cNvPr>
          <p:cNvSpPr/>
          <p:nvPr/>
        </p:nvSpPr>
        <p:spPr>
          <a:xfrm>
            <a:off x="2983230" y="2577296"/>
            <a:ext cx="1800000" cy="2160000"/>
          </a:xfrm>
          <a:prstGeom prst="rect">
            <a:avLst/>
          </a:prstGeom>
          <a:pattFill prst="pct25">
            <a:fgClr>
              <a:schemeClr val="accent1"/>
            </a:fgClr>
            <a:bgClr>
              <a:schemeClr val="bg1"/>
            </a:bgClr>
          </a:pattFill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ED7579A-1CC2-6259-E2FB-8F24D9F03D5E}"/>
              </a:ext>
            </a:extLst>
          </p:cNvPr>
          <p:cNvCxnSpPr>
            <a:cxnSpLocks/>
          </p:cNvCxnSpPr>
          <p:nvPr/>
        </p:nvCxnSpPr>
        <p:spPr>
          <a:xfrm>
            <a:off x="2983230" y="3178938"/>
            <a:ext cx="180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D64C97B-6EFF-1630-DD68-15665815C3AE}"/>
              </a:ext>
            </a:extLst>
          </p:cNvPr>
          <p:cNvCxnSpPr>
            <a:cxnSpLocks/>
          </p:cNvCxnSpPr>
          <p:nvPr/>
        </p:nvCxnSpPr>
        <p:spPr>
          <a:xfrm rot="16200000">
            <a:off x="1664970" y="3657292"/>
            <a:ext cx="222885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ECE6CAF-348A-AF20-CFEE-275B46590074}"/>
              </a:ext>
            </a:extLst>
          </p:cNvPr>
          <p:cNvSpPr txBox="1"/>
          <p:nvPr/>
        </p:nvSpPr>
        <p:spPr>
          <a:xfrm>
            <a:off x="3419000" y="2628687"/>
            <a:ext cx="928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highlight>
                  <a:srgbClr val="FFFF00"/>
                </a:highlight>
              </a:rPr>
              <a:t>2.5 m</a:t>
            </a:r>
            <a:endParaRPr lang="en-ID" sz="2400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5AA7C9-A5C1-EF4A-9AF0-23FCABF24F14}"/>
              </a:ext>
            </a:extLst>
          </p:cNvPr>
          <p:cNvSpPr txBox="1"/>
          <p:nvPr/>
        </p:nvSpPr>
        <p:spPr>
          <a:xfrm>
            <a:off x="1851616" y="3402527"/>
            <a:ext cx="928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highlight>
                  <a:srgbClr val="FFFF00"/>
                </a:highlight>
              </a:rPr>
              <a:t>3.0 m</a:t>
            </a:r>
            <a:endParaRPr lang="en-ID" sz="2400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A39644-035C-8676-F4BD-923475973975}"/>
              </a:ext>
            </a:extLst>
          </p:cNvPr>
          <p:cNvSpPr/>
          <p:nvPr/>
        </p:nvSpPr>
        <p:spPr>
          <a:xfrm>
            <a:off x="2565185" y="1859768"/>
            <a:ext cx="3211871" cy="3488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959A62A-E04F-8EED-76E8-AE59093A8258}"/>
              </a:ext>
            </a:extLst>
          </p:cNvPr>
          <p:cNvSpPr/>
          <p:nvPr/>
        </p:nvSpPr>
        <p:spPr>
          <a:xfrm rot="16200000" flipH="1">
            <a:off x="6574942" y="3597230"/>
            <a:ext cx="2754719" cy="177800"/>
          </a:xfrm>
          <a:prstGeom prst="rect">
            <a:avLst/>
          </a:prstGeom>
          <a:solidFill>
            <a:schemeClr val="accent2">
              <a:lumMod val="75000"/>
              <a:alpha val="6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453F16A-C906-8DCF-B07D-7A7E12D6B16D}"/>
              </a:ext>
            </a:extLst>
          </p:cNvPr>
          <p:cNvSpPr/>
          <p:nvPr/>
        </p:nvSpPr>
        <p:spPr>
          <a:xfrm>
            <a:off x="2565185" y="5066722"/>
            <a:ext cx="3211871" cy="3488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E0812BA-346E-10C4-2559-4AF5EE6D13ED}"/>
              </a:ext>
            </a:extLst>
          </p:cNvPr>
          <p:cNvSpPr/>
          <p:nvPr/>
        </p:nvSpPr>
        <p:spPr>
          <a:xfrm>
            <a:off x="8132641" y="2542873"/>
            <a:ext cx="1800000" cy="2160000"/>
          </a:xfrm>
          <a:prstGeom prst="rect">
            <a:avLst/>
          </a:prstGeom>
          <a:pattFill prst="pct25">
            <a:fgClr>
              <a:schemeClr val="accent1"/>
            </a:fgClr>
            <a:bgClr>
              <a:schemeClr val="bg1"/>
            </a:bgClr>
          </a:pattFill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64DE75C-E842-9D89-68CE-C0EE23E7C1C6}"/>
              </a:ext>
            </a:extLst>
          </p:cNvPr>
          <p:cNvCxnSpPr>
            <a:cxnSpLocks/>
          </p:cNvCxnSpPr>
          <p:nvPr/>
        </p:nvCxnSpPr>
        <p:spPr>
          <a:xfrm>
            <a:off x="8041202" y="2388780"/>
            <a:ext cx="180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4310886-FAE7-7F56-72A2-6F5E6C3F6468}"/>
              </a:ext>
            </a:extLst>
          </p:cNvPr>
          <p:cNvSpPr txBox="1"/>
          <p:nvPr/>
        </p:nvSpPr>
        <p:spPr>
          <a:xfrm>
            <a:off x="8476972" y="1861117"/>
            <a:ext cx="928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highlight>
                  <a:srgbClr val="FFFF00"/>
                </a:highlight>
              </a:rPr>
              <a:t>2.5 m</a:t>
            </a:r>
            <a:endParaRPr lang="en-ID" sz="2400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ADAF14B-7FE5-6E0C-C014-FCC8DD46CC4D}"/>
              </a:ext>
            </a:extLst>
          </p:cNvPr>
          <p:cNvSpPr txBox="1"/>
          <p:nvPr/>
        </p:nvSpPr>
        <p:spPr>
          <a:xfrm>
            <a:off x="2473545" y="1011973"/>
            <a:ext cx="25575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highlight>
                  <a:srgbClr val="FFFF00"/>
                </a:highlight>
              </a:rPr>
              <a:t>1000-1500 Hp </a:t>
            </a:r>
          </a:p>
          <a:p>
            <a:r>
              <a:rPr lang="en-US" sz="2400" dirty="0">
                <a:solidFill>
                  <a:srgbClr val="C00000"/>
                </a:solidFill>
                <a:highlight>
                  <a:srgbClr val="FFFF00"/>
                </a:highlight>
              </a:rPr>
              <a:t>Drilling Rig Layout</a:t>
            </a:r>
            <a:endParaRPr lang="en-ID" sz="2400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1DD0E9-DAC2-AA19-4D7D-74BC23E763F8}"/>
              </a:ext>
            </a:extLst>
          </p:cNvPr>
          <p:cNvSpPr txBox="1"/>
          <p:nvPr/>
        </p:nvSpPr>
        <p:spPr>
          <a:xfrm>
            <a:off x="7689618" y="5311410"/>
            <a:ext cx="29940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highlight>
                  <a:srgbClr val="FFFF00"/>
                </a:highlight>
              </a:rPr>
              <a:t>550-750 Hp </a:t>
            </a:r>
          </a:p>
          <a:p>
            <a:r>
              <a:rPr lang="en-US" sz="2400" dirty="0">
                <a:solidFill>
                  <a:srgbClr val="C00000"/>
                </a:solidFill>
                <a:highlight>
                  <a:srgbClr val="FFFF00"/>
                </a:highlight>
              </a:rPr>
              <a:t>Work Over Rig Layout</a:t>
            </a:r>
            <a:endParaRPr lang="en-ID" sz="2400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4B76E97-8EB5-577E-D583-77FFBA4472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601" t="5403" b="1987"/>
          <a:stretch>
            <a:fillRect/>
          </a:stretch>
        </p:blipFill>
        <p:spPr>
          <a:xfrm rot="5400000">
            <a:off x="3013395" y="3600128"/>
            <a:ext cx="1776615" cy="948316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F7A065F7-462B-4B6E-87E8-A5C77203466E}"/>
              </a:ext>
            </a:extLst>
          </p:cNvPr>
          <p:cNvSpPr/>
          <p:nvPr/>
        </p:nvSpPr>
        <p:spPr>
          <a:xfrm rot="16200000" flipH="1">
            <a:off x="8761612" y="3612393"/>
            <a:ext cx="2754719" cy="177800"/>
          </a:xfrm>
          <a:prstGeom prst="rect">
            <a:avLst/>
          </a:prstGeom>
          <a:solidFill>
            <a:schemeClr val="accent2">
              <a:lumMod val="75000"/>
              <a:alpha val="6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6F02E2E-48B0-9ACC-1635-6AB673B449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601" t="5403" b="1987"/>
          <a:stretch>
            <a:fillRect/>
          </a:stretch>
        </p:blipFill>
        <p:spPr>
          <a:xfrm rot="5400000">
            <a:off x="8234728" y="3593088"/>
            <a:ext cx="1776615" cy="948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42207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FECAC-264C-79B2-FC65-9E2978579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3C52D-186F-7B34-8E64-A104448F7B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1655763"/>
            <a:ext cx="11506200" cy="2215197"/>
          </a:xfrm>
        </p:spPr>
        <p:txBody>
          <a:bodyPr>
            <a:normAutofit/>
          </a:bodyPr>
          <a:lstStyle/>
          <a:p>
            <a:r>
              <a:rPr lang="en-US" sz="96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Casing Integrity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951054-59B7-217F-FAF0-BE2E15F78EC5}"/>
              </a:ext>
            </a:extLst>
          </p:cNvPr>
          <p:cNvSpPr txBox="1"/>
          <p:nvPr/>
        </p:nvSpPr>
        <p:spPr>
          <a:xfrm>
            <a:off x="3119120" y="4196080"/>
            <a:ext cx="2436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highlight>
                  <a:srgbClr val="FFFF00"/>
                </a:highlight>
              </a:rPr>
              <a:t>On Progress</a:t>
            </a:r>
          </a:p>
        </p:txBody>
      </p:sp>
    </p:spTree>
    <p:extLst>
      <p:ext uri="{BB962C8B-B14F-4D97-AF65-F5344CB8AC3E}">
        <p14:creationId xmlns:p14="http://schemas.microsoft.com/office/powerpoint/2010/main" val="1634305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</TotalTime>
  <Words>2227</Words>
  <Application>Microsoft Office PowerPoint</Application>
  <PresentationFormat>Widescreen</PresentationFormat>
  <Paragraphs>449</Paragraphs>
  <Slides>55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3" baseType="lpstr">
      <vt:lpstr>Aptos</vt:lpstr>
      <vt:lpstr>Aptos Display</vt:lpstr>
      <vt:lpstr>Arial</vt:lpstr>
      <vt:lpstr>Calibri</vt:lpstr>
      <vt:lpstr>Poppins</vt:lpstr>
      <vt:lpstr>Times New Roman</vt:lpstr>
      <vt:lpstr>Wingdings</vt:lpstr>
      <vt:lpstr>Office Theme</vt:lpstr>
      <vt:lpstr>TEE BOX VS FLOW TEE TECHNICAL EVALUATION</vt:lpstr>
      <vt:lpstr>Objectives</vt:lpstr>
      <vt:lpstr>Existing WJR1-2 Wellhead Stack Up Drawing</vt:lpstr>
      <vt:lpstr>TEE Box versus Flow TEE</vt:lpstr>
      <vt:lpstr>Wellhead – MV and TEE Box</vt:lpstr>
      <vt:lpstr>WellPad WJR1</vt:lpstr>
      <vt:lpstr>WJR1-2 Wellhead + Production Line</vt:lpstr>
      <vt:lpstr>WJR1-2 Wellhead + Production Line</vt:lpstr>
      <vt:lpstr>Wellhead Integrity</vt:lpstr>
      <vt:lpstr>Geothermal Wellhead in Vulcanic Area</vt:lpstr>
      <vt:lpstr>API-6A versus ASME/ANSI </vt:lpstr>
      <vt:lpstr>Wellhead Configuration</vt:lpstr>
      <vt:lpstr>Wellhead Specification Design</vt:lpstr>
      <vt:lpstr>SOL Wellhead Configuration ?</vt:lpstr>
      <vt:lpstr>Flange vs Studded </vt:lpstr>
      <vt:lpstr>Flange vs Studded </vt:lpstr>
      <vt:lpstr>Flow TEE Design</vt:lpstr>
      <vt:lpstr>TEE Box vs Flow TEE Design</vt:lpstr>
      <vt:lpstr>Section A Welded Design</vt:lpstr>
      <vt:lpstr>Section A Welded Design WELDING PROCEDURE: 13-5/8" CASING HEAD (AISI 4130 Low Alloy Steel) TO 13-3/8" CASING L-80 (Carbon Steel)</vt:lpstr>
      <vt:lpstr>Permanent 13-5/8” Wellhead Housing Installation</vt:lpstr>
      <vt:lpstr>Non Pre-Welded                                                  vs    Pre-Welded 13-5/8” Wellhead Housing</vt:lpstr>
      <vt:lpstr>Non Pre-Welded                 vs                            Pre-Welded 13-5/8” Wellhead Housing</vt:lpstr>
      <vt:lpstr>Pre-Welded 13-5/8” Wellhead Housing</vt:lpstr>
      <vt:lpstr>PRE-WELDED WELLHEAD 13-3/8” Casing + 13-5/8” 3M Section A Wellhead</vt:lpstr>
      <vt:lpstr>Section A Welded Design WELDING PROCEDURE: 13-5/8" CASING HEAD (AISI 4130 Low Alloy Steel) TO 13-3/8" CASING L-80 (Carbon Steel)</vt:lpstr>
      <vt:lpstr>Section A Welded Design WELDING PROCEDURE: 13-5/8" CASING HEAD (AISI 4130 Low Alloy Steel) TO 13-3/8" CASING L-80 (Carbon Steel)</vt:lpstr>
      <vt:lpstr>Wellhead Design for Acid Well</vt:lpstr>
      <vt:lpstr>Wellhead Function and Loads</vt:lpstr>
      <vt:lpstr>Wellhead Material</vt:lpstr>
      <vt:lpstr>Wellhead Material</vt:lpstr>
      <vt:lpstr>Wellhead Structure Design</vt:lpstr>
      <vt:lpstr>Wellhead Sealing Element</vt:lpstr>
      <vt:lpstr>Wellhead Height and Maintenance</vt:lpstr>
      <vt:lpstr>Wellhead Maintenance</vt:lpstr>
      <vt:lpstr>Wellhead Integrity Monitoring</vt:lpstr>
      <vt:lpstr>Wellhead Allowable Minimum Thickness</vt:lpstr>
      <vt:lpstr>Wellhead Replacement Method</vt:lpstr>
      <vt:lpstr>Wellhead Replacement Method</vt:lpstr>
      <vt:lpstr>Wellhead Replacement Method</vt:lpstr>
      <vt:lpstr>Wellhead Repair</vt:lpstr>
      <vt:lpstr>Wellhead Wing Valve Repair</vt:lpstr>
      <vt:lpstr>Wellhead Wing Valve Repair – Position and Run Scrapper Tool</vt:lpstr>
      <vt:lpstr>Wellhead Wing Valve Repair – Set Plug</vt:lpstr>
      <vt:lpstr>Wellhead design concerns related with Wellhead Repair</vt:lpstr>
      <vt:lpstr>Ideal Elevated Wellpad Design</vt:lpstr>
      <vt:lpstr>Ideal Cellar Design – 80 cm depth</vt:lpstr>
      <vt:lpstr>Ideal Distance Between Well – 13.5 meters</vt:lpstr>
      <vt:lpstr>Rig Sub-Structure</vt:lpstr>
      <vt:lpstr>3 x 3 meter Cellar Sizes ?</vt:lpstr>
      <vt:lpstr>Ideal Cellar Sizes</vt:lpstr>
      <vt:lpstr>Master Valve Dimension</vt:lpstr>
      <vt:lpstr>Ideal Cellar Sizes vs Master Valve Orientation</vt:lpstr>
      <vt:lpstr>Ideal Cellar Sizes vs Master Valve Orientation</vt:lpstr>
      <vt:lpstr>Casing Integrity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yudi hartono</dc:creator>
  <cp:lastModifiedBy>yudi hartono</cp:lastModifiedBy>
  <cp:revision>18</cp:revision>
  <dcterms:created xsi:type="dcterms:W3CDTF">2025-10-14T04:19:59Z</dcterms:created>
  <dcterms:modified xsi:type="dcterms:W3CDTF">2026-10-17T01:49:28Z</dcterms:modified>
</cp:coreProperties>
</file>