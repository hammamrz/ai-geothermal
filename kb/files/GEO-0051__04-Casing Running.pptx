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418" r:id="rId2"/>
    <p:sldId id="691" r:id="rId3"/>
    <p:sldId id="704" r:id="rId4"/>
    <p:sldId id="705" r:id="rId5"/>
    <p:sldId id="703" r:id="rId6"/>
    <p:sldId id="731" r:id="rId7"/>
    <p:sldId id="727" r:id="rId8"/>
    <p:sldId id="707" r:id="rId9"/>
    <p:sldId id="710" r:id="rId10"/>
    <p:sldId id="728" r:id="rId11"/>
    <p:sldId id="729" r:id="rId12"/>
    <p:sldId id="730" r:id="rId13"/>
    <p:sldId id="713" r:id="rId14"/>
    <p:sldId id="718" r:id="rId15"/>
    <p:sldId id="719" r:id="rId16"/>
    <p:sldId id="370" r:id="rId17"/>
    <p:sldId id="716" r:id="rId18"/>
    <p:sldId id="732" r:id="rId19"/>
    <p:sldId id="722" r:id="rId20"/>
    <p:sldId id="733" r:id="rId21"/>
    <p:sldId id="394" r:id="rId22"/>
    <p:sldId id="383" r:id="rId23"/>
    <p:sldId id="734" r:id="rId24"/>
    <p:sldId id="736" r:id="rId25"/>
    <p:sldId id="667" r:id="rId26"/>
    <p:sldId id="656" r:id="rId27"/>
    <p:sldId id="661" r:id="rId28"/>
    <p:sldId id="657" r:id="rId29"/>
    <p:sldId id="654" r:id="rId30"/>
    <p:sldId id="662" r:id="rId31"/>
    <p:sldId id="663" r:id="rId32"/>
    <p:sldId id="664" r:id="rId33"/>
    <p:sldId id="658" r:id="rId34"/>
    <p:sldId id="659" r:id="rId35"/>
    <p:sldId id="655" r:id="rId36"/>
    <p:sldId id="665" r:id="rId37"/>
    <p:sldId id="660" r:id="rId38"/>
    <p:sldId id="666" r:id="rId39"/>
    <p:sldId id="723" r:id="rId40"/>
    <p:sldId id="724" r:id="rId41"/>
    <p:sldId id="652" r:id="rId42"/>
  </p:sldIdLst>
  <p:sldSz cx="12192000" cy="6858000"/>
  <p:notesSz cx="6858000" cy="92329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accent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accent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accent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accent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accent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accent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accent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accent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accent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8">
          <p15:clr>
            <a:srgbClr val="A4A3A4"/>
          </p15:clr>
        </p15:guide>
        <p15:guide id="2" pos="21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2F64E"/>
    <a:srgbClr val="FFFF00"/>
    <a:srgbClr val="000000"/>
    <a:srgbClr val="CCFFFF"/>
    <a:srgbClr val="FFFFFF"/>
    <a:srgbClr val="FF0000"/>
    <a:srgbClr val="DDDDD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976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826"/>
    </p:cViewPr>
  </p:sorterViewPr>
  <p:notesViewPr>
    <p:cSldViewPr>
      <p:cViewPr>
        <p:scale>
          <a:sx n="100" d="100"/>
          <a:sy n="100" d="100"/>
        </p:scale>
        <p:origin x="2400" y="-898"/>
      </p:cViewPr>
      <p:guideLst>
        <p:guide orient="horz" pos="2908"/>
        <p:guide pos="216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33B7598-FD25-41C2-8D60-2B78F7E94A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29733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147" tIns="0" rIns="18147" bIns="0" numCol="1" anchor="t" anchorCtr="0" compatLnSpc="1">
            <a:prstTxWarp prst="textNoShape">
              <a:avLst/>
            </a:prstTxWarp>
          </a:bodyPr>
          <a:lstStyle>
            <a:lvl1pPr algn="l" defTabSz="915988">
              <a:defRPr sz="1000" i="1">
                <a:solidFill>
                  <a:srgbClr val="91919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E41D6F5-FB12-42A3-B93D-4D4BF2514E0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649663" y="8953500"/>
            <a:ext cx="29749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147" tIns="0" rIns="18147" bIns="0" numCol="1" anchor="t" anchorCtr="0" compatLnSpc="1">
            <a:prstTxWarp prst="textNoShape">
              <a:avLst/>
            </a:prstTxWarp>
          </a:bodyPr>
          <a:lstStyle>
            <a:lvl1pPr algn="r" defTabSz="915988">
              <a:defRPr sz="1000" i="1">
                <a:solidFill>
                  <a:srgbClr val="91919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fld id="{FD3EF828-013B-4D0A-92F6-45AB0126964A}" type="datetime9">
              <a:rPr lang="en-US"/>
              <a:pPr>
                <a:defRPr/>
              </a:pPr>
              <a:t>6/13/2026 5:32:01 AM</a:t>
            </a:fld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9D48C22-5A5E-4012-9257-534069593FB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30213" y="8586788"/>
            <a:ext cx="29733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147" tIns="0" rIns="18147" bIns="0" numCol="1" anchor="b" anchorCtr="0" compatLnSpc="1">
            <a:prstTxWarp prst="textNoShape">
              <a:avLst/>
            </a:prstTxWarp>
          </a:bodyPr>
          <a:lstStyle>
            <a:lvl1pPr algn="l" defTabSz="915988">
              <a:defRPr sz="1000" i="1">
                <a:solidFill>
                  <a:srgbClr val="919191"/>
                </a:solidFill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62C04CF-04C2-473B-B751-8EC88AFA1A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29733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147" tIns="0" rIns="18147" bIns="0" numCol="1" anchor="t" anchorCtr="0" compatLnSpc="1">
            <a:prstTxWarp prst="textNoShape">
              <a:avLst/>
            </a:prstTxWarp>
          </a:bodyPr>
          <a:lstStyle>
            <a:lvl1pPr algn="l" defTabSz="915988">
              <a:defRPr sz="1000" i="1">
                <a:solidFill>
                  <a:schemeClr val="tx1"/>
                </a:solidFill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11925ED-5F69-4085-B125-CD3AF89C95F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988" y="4384675"/>
            <a:ext cx="5026025" cy="415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19461" tIns="60485" rIns="119461" bIns="604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EB06656-9DA3-4745-8E4D-F657B2425DE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54013" y="696913"/>
            <a:ext cx="6148387" cy="34591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56CC51F7-2EF2-4BAC-816D-7C89E24C55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205163" y="8651875"/>
            <a:ext cx="373062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147" tIns="0" rIns="18147" bIns="0" numCol="1" anchor="b" anchorCtr="0" compatLnSpc="1">
            <a:prstTxWarp prst="textNoShape">
              <a:avLst/>
            </a:prstTxWarp>
          </a:bodyPr>
          <a:lstStyle>
            <a:lvl1pPr algn="r" defTabSz="903288">
              <a:defRPr sz="1200" smtClean="0">
                <a:solidFill>
                  <a:srgbClr val="91919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FF72990-0EBE-483F-A96C-213EFDCD74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33363" indent="-233363" algn="l" defTabSz="1189038" rtl="0" eaLnBrk="0" fontAlgn="base" hangingPunct="0">
      <a:spcBef>
        <a:spcPct val="30000"/>
      </a:spcBef>
      <a:spcAft>
        <a:spcPct val="0"/>
      </a:spcAft>
      <a:buSzPct val="15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568325" indent="-220663" algn="l" defTabSz="1189038" rtl="0" eaLnBrk="0" fontAlgn="base" hangingPunct="0">
      <a:spcBef>
        <a:spcPct val="30000"/>
      </a:spcBef>
      <a:spcAft>
        <a:spcPct val="0"/>
      </a:spcAft>
      <a:buChar char="–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06463" indent="-223838" algn="l" defTabSz="1189038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782763" algn="l" defTabSz="1189038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2378075" algn="l" defTabSz="1189038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>
            <a:extLst>
              <a:ext uri="{FF2B5EF4-FFF2-40B4-BE49-F238E27FC236}">
                <a16:creationId xmlns:a16="http://schemas.microsoft.com/office/drawing/2014/main" id="{E5B0468E-0ACE-4389-9A4B-0A93FD5F0D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 defTabSz="903288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 defTabSz="903288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 defTabSz="903288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 defTabSz="903288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fld id="{2F845DAA-F27A-40B7-89B2-33FC5F389B3D}" type="slidenum">
              <a:rPr lang="en-US" altLang="en-US" sz="1200">
                <a:solidFill>
                  <a:srgbClr val="919191"/>
                </a:solidFill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solidFill>
                <a:srgbClr val="91919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A07FAAC6-A431-4217-A968-302BE8EA11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3475" y="696913"/>
            <a:ext cx="4610100" cy="3457575"/>
          </a:xfrm>
          <a:ln cap="flat"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36DB2164-13E7-4FE1-8173-8603C163C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3813" y="7075488"/>
            <a:ext cx="4233862" cy="129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	</a:t>
            </a:r>
          </a:p>
        </p:txBody>
      </p:sp>
      <p:sp>
        <p:nvSpPr>
          <p:cNvPr id="5125" name="Rectangle 4">
            <a:extLst>
              <a:ext uri="{FF2B5EF4-FFF2-40B4-BE49-F238E27FC236}">
                <a16:creationId xmlns:a16="http://schemas.microsoft.com/office/drawing/2014/main" id="{75D10351-B3AA-43AE-8FC0-08B5F51E3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310063"/>
            <a:ext cx="5029200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240" tIns="46875" rIns="92240" bIns="46875"/>
          <a:lstStyle>
            <a:lvl1pPr defTabSz="1192213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 defTabSz="1192213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 defTabSz="1192213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 defTabSz="1192213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 defTabSz="1192213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defTabSz="11922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defTabSz="11922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defTabSz="11922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defTabSz="119221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>
              <a:spcBef>
                <a:spcPct val="30000"/>
              </a:spcBef>
            </a:pPr>
            <a:endParaRPr lang="en-US" altLang="en-US" sz="1200" i="1">
              <a:solidFill>
                <a:schemeClr val="tx1"/>
              </a:solidFill>
            </a:endParaRPr>
          </a:p>
          <a:p>
            <a:pPr algn="ctr">
              <a:spcBef>
                <a:spcPct val="30000"/>
              </a:spcBef>
            </a:pPr>
            <a:r>
              <a:rPr lang="en-US" altLang="en-US" sz="1200" i="1">
                <a:solidFill>
                  <a:schemeClr val="tx1"/>
                </a:solidFill>
              </a:rPr>
              <a:t>Forward-looking statements and estimates in these presentation materials are subject to risks and uncertainties which could cause actual results to differ materially.  A discussion of significant risk factors can be found on page 40 of this booklet.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>
            <a:extLst>
              <a:ext uri="{FF2B5EF4-FFF2-40B4-BE49-F238E27FC236}">
                <a16:creationId xmlns:a16="http://schemas.microsoft.com/office/drawing/2014/main" id="{9F609F7F-03E1-483A-9248-0F09654C64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 defTabSz="903288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 defTabSz="903288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 defTabSz="903288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 defTabSz="903288"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fld id="{42972AC4-7533-4609-BC37-E28EB87535A0}" type="slidenum">
              <a:rPr lang="en-US" altLang="en-US" sz="1200">
                <a:solidFill>
                  <a:srgbClr val="919191"/>
                </a:solidFill>
                <a:latin typeface="Times New Roman" panose="02020603050405020304" pitchFamily="18" charset="0"/>
              </a:rPr>
              <a:pPr/>
              <a:t>2</a:t>
            </a:fld>
            <a:endParaRPr lang="en-US" altLang="en-US" sz="1200">
              <a:solidFill>
                <a:srgbClr val="91919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FB9C9D8A-2BD0-4D3F-86B8-790A329F71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704850"/>
            <a:ext cx="4551363" cy="3413125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4608571C-7930-457A-8742-5E67171D76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86263"/>
            <a:ext cx="5032375" cy="41544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42" tIns="45438" rIns="92442" bIns="45438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F72990-0EBE-483F-A96C-213EFDCD74CC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9431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2346167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3453091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9841757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538234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690060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3611048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15258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197169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1887928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7156287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0"/>
            <a:ext cx="2743200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0"/>
            <a:ext cx="8026400" cy="6477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4252408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Title,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200" y="0"/>
            <a:ext cx="9144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half" idx="1"/>
          </p:nvPr>
        </p:nvSpPr>
        <p:spPr>
          <a:xfrm>
            <a:off x="609600" y="1600200"/>
            <a:ext cx="5384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2333495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200" y="0"/>
            <a:ext cx="9144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8668517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200" y="0"/>
            <a:ext cx="9144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6387105"/>
      </p:ext>
    </p:extLst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6/13/2026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550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A309FB5-3D19-4497-8D3A-A8EE9C9072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2720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96E32CC-952D-4693-9470-22C2AA32A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First</a:t>
            </a:r>
          </a:p>
          <a:p>
            <a:pPr lvl="1"/>
            <a:r>
              <a:rPr lang="en-US" altLang="en-US"/>
              <a:t>Second</a:t>
            </a:r>
          </a:p>
          <a:p>
            <a:pPr lvl="2"/>
            <a:r>
              <a:rPr lang="en-US" altLang="en-US"/>
              <a:t>Third </a:t>
            </a:r>
          </a:p>
          <a:p>
            <a:pPr lvl="3"/>
            <a:r>
              <a:rPr lang="en-US" altLang="en-US"/>
              <a:t>Fourth </a:t>
            </a:r>
          </a:p>
        </p:txBody>
      </p:sp>
      <p:sp>
        <p:nvSpPr>
          <p:cNvPr id="1073" name="Line 49">
            <a:extLst>
              <a:ext uri="{FF2B5EF4-FFF2-40B4-BE49-F238E27FC236}">
                <a16:creationId xmlns:a16="http://schemas.microsoft.com/office/drawing/2014/main" id="{976CB631-B389-4524-8E60-3C21B8B89B6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19200"/>
            <a:ext cx="12192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>
    <p:zoom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rgbClr val="0033CC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rgbClr val="0033CC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rgbClr val="0033CC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rgbClr val="0033CC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rgbClr val="0033CC"/>
          </a:solidFill>
          <a:latin typeface="Arial Blac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rgbClr val="0033CC"/>
          </a:solidFill>
          <a:latin typeface="Arial Blac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rgbClr val="0033CC"/>
          </a:solidFill>
          <a:latin typeface="Arial Blac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rgbClr val="0033CC"/>
          </a:solidFill>
          <a:latin typeface="Arial Blac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rgbClr val="0033CC"/>
          </a:solidFill>
          <a:latin typeface="Arial Black" pitchFamily="34" charset="0"/>
        </a:defRPr>
      </a:lvl9pPr>
    </p:titleStyle>
    <p:bodyStyle>
      <a:lvl1pPr marL="457200" indent="-457200" algn="l" rtl="0" eaLnBrk="0" fontAlgn="base" hangingPunct="0">
        <a:spcBef>
          <a:spcPct val="30000"/>
        </a:spcBef>
        <a:spcAft>
          <a:spcPct val="0"/>
        </a:spcAft>
        <a:buClr>
          <a:srgbClr val="FC0128"/>
        </a:buClr>
        <a:buSzPct val="75000"/>
        <a:buFont typeface="Monotype Sorts" pitchFamily="2" charset="2"/>
        <a:buChar char="n"/>
        <a:defRPr sz="2800">
          <a:solidFill>
            <a:schemeClr val="accent2"/>
          </a:solidFill>
          <a:latin typeface="+mn-lt"/>
          <a:ea typeface="+mn-ea"/>
          <a:cs typeface="+mn-cs"/>
        </a:defRPr>
      </a:lvl1pPr>
      <a:lvl2pPr marL="1089025" indent="-517525" algn="l" rtl="0" eaLnBrk="0" fontAlgn="base" hangingPunct="0">
        <a:spcBef>
          <a:spcPct val="30000"/>
        </a:spcBef>
        <a:spcAft>
          <a:spcPct val="0"/>
        </a:spcAft>
        <a:buClr>
          <a:srgbClr val="FC0128"/>
        </a:buClr>
        <a:buSzPct val="80000"/>
        <a:buFont typeface="Monotype Sorts" pitchFamily="2" charset="2"/>
        <a:buChar char="u"/>
        <a:defRPr sz="2400" i="1">
          <a:solidFill>
            <a:schemeClr val="tx1"/>
          </a:solidFill>
          <a:latin typeface="+mn-lt"/>
        </a:defRPr>
      </a:lvl2pPr>
      <a:lvl3pPr marL="1431925" indent="-228600" algn="l" rtl="0" eaLnBrk="0" fontAlgn="base" hangingPunct="0">
        <a:spcBef>
          <a:spcPct val="30000"/>
        </a:spcBef>
        <a:spcAft>
          <a:spcPct val="0"/>
        </a:spcAft>
        <a:buClr>
          <a:srgbClr val="FC0128"/>
        </a:buClr>
        <a:buSzPct val="80000"/>
        <a:buFont typeface="Wingdings" panose="05000000000000000000" pitchFamily="2" charset="2"/>
        <a:buChar char="q"/>
        <a:defRPr sz="2000">
          <a:solidFill>
            <a:schemeClr val="accent2"/>
          </a:solidFill>
          <a:latin typeface="+mn-lt"/>
        </a:defRPr>
      </a:lvl3pPr>
      <a:lvl4pPr marL="1774825" indent="-228600" algn="l" rtl="0" eaLnBrk="0" fontAlgn="base" hangingPunct="0">
        <a:spcBef>
          <a:spcPct val="20000"/>
        </a:spcBef>
        <a:spcAft>
          <a:spcPct val="0"/>
        </a:spcAft>
        <a:buClr>
          <a:srgbClr val="F40000"/>
        </a:buClr>
        <a:buSzPct val="150000"/>
        <a:buChar char="•"/>
        <a:defRPr i="1">
          <a:solidFill>
            <a:schemeClr val="tx1"/>
          </a:solidFill>
          <a:latin typeface="+mn-lt"/>
        </a:defRPr>
      </a:lvl4pPr>
      <a:lvl5pPr marL="2117725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74925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3032125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89325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946525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10" Type="http://schemas.openxmlformats.org/officeDocument/2006/relationships/image" Target="../media/image21.jpeg"/><Relationship Id="rId4" Type="http://schemas.openxmlformats.org/officeDocument/2006/relationships/image" Target="../media/image15.png"/><Relationship Id="rId9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55">
            <a:extLst>
              <a:ext uri="{FF2B5EF4-FFF2-40B4-BE49-F238E27FC236}">
                <a16:creationId xmlns:a16="http://schemas.microsoft.com/office/drawing/2014/main" id="{F7D4CB68-59AD-47DF-81E8-960110E4A3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600200"/>
            <a:ext cx="8534400" cy="4267200"/>
          </a:xfrm>
        </p:spPr>
        <p:txBody>
          <a:bodyPr/>
          <a:lstStyle/>
          <a:p>
            <a:r>
              <a:rPr lang="en-US" altLang="en-US" sz="4000" u="sng"/>
              <a:t>Drilling Practices</a:t>
            </a:r>
            <a:br>
              <a:rPr lang="en-US" altLang="en-US" sz="4000"/>
            </a:br>
            <a:r>
              <a:rPr lang="en-US" altLang="en-US"/>
              <a:t>Casing Operations</a:t>
            </a:r>
            <a:br>
              <a:rPr lang="en-US" altLang="en-US"/>
            </a:br>
            <a:br>
              <a:rPr lang="en-US" altLang="en-US" sz="2400">
                <a:solidFill>
                  <a:srgbClr val="000000"/>
                </a:solidFill>
              </a:rPr>
            </a:br>
            <a:br>
              <a:rPr lang="en-US" altLang="en-US" sz="2400">
                <a:solidFill>
                  <a:srgbClr val="000000"/>
                </a:solidFill>
              </a:rPr>
            </a:br>
            <a:r>
              <a:rPr lang="en-US" altLang="en-US" sz="2400">
                <a:solidFill>
                  <a:srgbClr val="000000"/>
                </a:solidFill>
              </a:rPr>
              <a:t>Handling, Running - Procedure </a:t>
            </a:r>
            <a:br>
              <a:rPr lang="en-US" altLang="en-US" sz="2400">
                <a:solidFill>
                  <a:srgbClr val="000000"/>
                </a:solidFill>
              </a:rPr>
            </a:br>
            <a:r>
              <a:rPr lang="en-US" altLang="en-US" sz="2400">
                <a:solidFill>
                  <a:srgbClr val="000000"/>
                </a:solidFill>
              </a:rPr>
              <a:t>Landing Casing, Slips, Seals</a:t>
            </a:r>
            <a:br>
              <a:rPr lang="en-US" altLang="en-US" sz="2400">
                <a:solidFill>
                  <a:srgbClr val="000000"/>
                </a:solidFill>
              </a:rPr>
            </a:br>
            <a:endParaRPr lang="en-US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">
            <a:extLst>
              <a:ext uri="{FF2B5EF4-FFF2-40B4-BE49-F238E27FC236}">
                <a16:creationId xmlns:a16="http://schemas.microsoft.com/office/drawing/2014/main" id="{C14180CB-9FEC-4B9F-A182-214BFD897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Casing Joints</a:t>
            </a:r>
          </a:p>
        </p:txBody>
      </p:sp>
      <p:sp>
        <p:nvSpPr>
          <p:cNvPr id="6147" name="Rectangle 11">
            <a:extLst>
              <a:ext uri="{FF2B5EF4-FFF2-40B4-BE49-F238E27FC236}">
                <a16:creationId xmlns:a16="http://schemas.microsoft.com/office/drawing/2014/main" id="{66566119-4F17-446D-8D28-1F057AE02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casing string is composed of a number of segment lengths referred to as “joints”.</a:t>
            </a:r>
          </a:p>
          <a:p>
            <a:r>
              <a:rPr lang="en-US" altLang="en-US"/>
              <a:t>A “joint” of casing is identified by four parameters:</a:t>
            </a:r>
          </a:p>
          <a:p>
            <a:pPr lvl="1"/>
            <a:r>
              <a:rPr lang="en-US" altLang="en-US"/>
              <a:t>Outside diameter (OD)</a:t>
            </a:r>
          </a:p>
          <a:p>
            <a:pPr lvl="1"/>
            <a:r>
              <a:rPr lang="en-US" altLang="en-US"/>
              <a:t>Normal weight per foot</a:t>
            </a:r>
          </a:p>
          <a:p>
            <a:pPr lvl="1"/>
            <a:r>
              <a:rPr lang="en-US" altLang="en-US"/>
              <a:t>Grade of steel</a:t>
            </a:r>
          </a:p>
          <a:p>
            <a:pPr lvl="1"/>
            <a:r>
              <a:rPr lang="en-US" altLang="en-US"/>
              <a:t>Thread type of connection at either ends of the “joint”.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>
            <a:extLst>
              <a:ext uri="{FF2B5EF4-FFF2-40B4-BE49-F238E27FC236}">
                <a16:creationId xmlns:a16="http://schemas.microsoft.com/office/drawing/2014/main" id="{C9D90C70-3F06-4B60-BBE1-8385EB664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Pipe Marking </a:t>
            </a:r>
          </a:p>
        </p:txBody>
      </p:sp>
      <p:sp>
        <p:nvSpPr>
          <p:cNvPr id="8195" name="Rectangle 1027">
            <a:extLst>
              <a:ext uri="{FF2B5EF4-FFF2-40B4-BE49-F238E27FC236}">
                <a16:creationId xmlns:a16="http://schemas.microsoft.com/office/drawing/2014/main" id="{4179B8F9-549E-4436-8263-29F72C1BD9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5000"/>
              </a:lnSpc>
              <a:spcBef>
                <a:spcPct val="80000"/>
              </a:spcBef>
            </a:pPr>
            <a:r>
              <a:rPr lang="en-US" altLang="en-US" sz="3200"/>
              <a:t>Pipe should be marked by die stamp or with paint as follows:</a:t>
            </a:r>
          </a:p>
          <a:p>
            <a:pPr lvl="1">
              <a:lnSpc>
                <a:spcPct val="95000"/>
              </a:lnSpc>
              <a:spcBef>
                <a:spcPct val="80000"/>
              </a:spcBef>
              <a:buFontTx/>
              <a:buChar char="–"/>
            </a:pPr>
            <a:r>
              <a:rPr lang="en-US" altLang="en-US" sz="2200"/>
              <a:t>Manufacture’s / Processor’s name or mark</a:t>
            </a:r>
          </a:p>
          <a:p>
            <a:pPr lvl="1">
              <a:lnSpc>
                <a:spcPct val="95000"/>
              </a:lnSpc>
              <a:spcBef>
                <a:spcPct val="80000"/>
              </a:spcBef>
              <a:buFontTx/>
              <a:buChar char="–"/>
            </a:pPr>
            <a:r>
              <a:rPr lang="en-US" altLang="en-US" sz="2200"/>
              <a:t>API Spec 5CT: Size, Weight per foot, Grade</a:t>
            </a:r>
          </a:p>
          <a:p>
            <a:pPr lvl="1">
              <a:lnSpc>
                <a:spcPct val="95000"/>
              </a:lnSpc>
              <a:spcBef>
                <a:spcPct val="80000"/>
              </a:spcBef>
              <a:buFontTx/>
              <a:buChar char="–"/>
            </a:pPr>
            <a:r>
              <a:rPr lang="en-US" altLang="en-US" sz="2200"/>
              <a:t>Process of manufacture, length, test pressure, type of thread, heat treatment.</a:t>
            </a:r>
            <a:endParaRPr lang="en-US" altLang="en-US" sz="2700"/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>
            <a:extLst>
              <a:ext uri="{FF2B5EF4-FFF2-40B4-BE49-F238E27FC236}">
                <a16:creationId xmlns:a16="http://schemas.microsoft.com/office/drawing/2014/main" id="{B1E0F902-633E-40A7-9CD0-67F25C0F6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Pipe Marking</a:t>
            </a:r>
          </a:p>
        </p:txBody>
      </p:sp>
      <p:sp>
        <p:nvSpPr>
          <p:cNvPr id="9219" name="Rectangle 1027">
            <a:extLst>
              <a:ext uri="{FF2B5EF4-FFF2-40B4-BE49-F238E27FC236}">
                <a16:creationId xmlns:a16="http://schemas.microsoft.com/office/drawing/2014/main" id="{51E9D376-C8AB-4EC4-B47F-F892A59EB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5000"/>
              </a:lnSpc>
              <a:spcBef>
                <a:spcPct val="80000"/>
              </a:spcBef>
            </a:pPr>
            <a:r>
              <a:rPr lang="en-US" altLang="en-US" sz="3200"/>
              <a:t>Each joint should be color coded with a paint band encircling the pipe on or near the coupling or box. </a:t>
            </a:r>
          </a:p>
          <a:p>
            <a:pPr>
              <a:lnSpc>
                <a:spcPct val="95000"/>
              </a:lnSpc>
              <a:spcBef>
                <a:spcPct val="80000"/>
              </a:spcBef>
            </a:pPr>
            <a:r>
              <a:rPr lang="en-US" altLang="en-US" sz="3200"/>
              <a:t>Pipe and couplings may have an external coating for protection from rust while in transit.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>
            <a:extLst>
              <a:ext uri="{FF2B5EF4-FFF2-40B4-BE49-F238E27FC236}">
                <a16:creationId xmlns:a16="http://schemas.microsoft.com/office/drawing/2014/main" id="{D2253881-3EB2-449F-B392-90437F91B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altLang="en-US"/>
              <a:t>Pipe Grade Color Coding</a:t>
            </a:r>
          </a:p>
        </p:txBody>
      </p:sp>
      <p:pic>
        <p:nvPicPr>
          <p:cNvPr id="10243" name="Picture 1028">
            <a:extLst>
              <a:ext uri="{FF2B5EF4-FFF2-40B4-BE49-F238E27FC236}">
                <a16:creationId xmlns:a16="http://schemas.microsoft.com/office/drawing/2014/main" id="{149CFA94-56F7-44DD-A1FD-1C044F8FD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76400" y="1238250"/>
            <a:ext cx="8839200" cy="5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>
            <a:extLst>
              <a:ext uri="{FF2B5EF4-FFF2-40B4-BE49-F238E27FC236}">
                <a16:creationId xmlns:a16="http://schemas.microsoft.com/office/drawing/2014/main" id="{FA0369DF-FCE7-4156-B8ED-0AF67E6DC6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Receiving Pipe Tally</a:t>
            </a:r>
          </a:p>
        </p:txBody>
      </p:sp>
      <p:pic>
        <p:nvPicPr>
          <p:cNvPr id="11267" name="Picture 1027">
            <a:extLst>
              <a:ext uri="{FF2B5EF4-FFF2-40B4-BE49-F238E27FC236}">
                <a16:creationId xmlns:a16="http://schemas.microsoft.com/office/drawing/2014/main" id="{42062886-37B6-46D5-8C90-77AE387024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78188" y="1600200"/>
            <a:ext cx="5634037" cy="4876800"/>
          </a:xfrm>
          <a:noFill/>
        </p:spPr>
      </p:pic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>
            <a:extLst>
              <a:ext uri="{FF2B5EF4-FFF2-40B4-BE49-F238E27FC236}">
                <a16:creationId xmlns:a16="http://schemas.microsoft.com/office/drawing/2014/main" id="{01CE6688-1FED-4499-95F7-5447422164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Receiving Pipe Tally</a:t>
            </a:r>
          </a:p>
        </p:txBody>
      </p:sp>
      <p:pic>
        <p:nvPicPr>
          <p:cNvPr id="12291" name="Picture 1029">
            <a:extLst>
              <a:ext uri="{FF2B5EF4-FFF2-40B4-BE49-F238E27FC236}">
                <a16:creationId xmlns:a16="http://schemas.microsoft.com/office/drawing/2014/main" id="{17F517CF-A1C9-4251-8BCD-D1E53AEDBD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78188" y="1600200"/>
            <a:ext cx="5634037" cy="4876800"/>
          </a:xfrm>
          <a:noFill/>
        </p:spPr>
      </p:pic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F90FFFA-DA96-47F7-AEA2-39D06FB984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Casing Running and Landing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73F9BEB-0F7C-4972-9050-45A54B19A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Preparation to run casing:</a:t>
            </a:r>
          </a:p>
          <a:p>
            <a:pPr lvl="1"/>
            <a:r>
              <a:rPr lang="en-US" altLang="en-US"/>
              <a:t>Prior to running, perform landing calculations per weight and grades</a:t>
            </a:r>
          </a:p>
          <a:p>
            <a:pPr lvl="1"/>
            <a:r>
              <a:rPr lang="en-US" altLang="en-US"/>
              <a:t>Clearly label all joints to be left </a:t>
            </a:r>
            <a:r>
              <a:rPr lang="en-US" altLang="en-US">
                <a:solidFill>
                  <a:srgbClr val="FF0000"/>
                </a:solidFill>
              </a:rPr>
              <a:t>OUT</a:t>
            </a:r>
          </a:p>
          <a:p>
            <a:pPr lvl="1"/>
            <a:r>
              <a:rPr lang="en-US" altLang="en-US"/>
              <a:t>Review planned landing details with:</a:t>
            </a:r>
          </a:p>
          <a:p>
            <a:pPr lvl="2"/>
            <a:r>
              <a:rPr lang="en-US" altLang="en-US"/>
              <a:t>Rig Personnel - Toolpusher, Driller</a:t>
            </a:r>
          </a:p>
          <a:p>
            <a:pPr lvl="2"/>
            <a:r>
              <a:rPr lang="en-US" altLang="en-US"/>
              <a:t>Casing Crew - Supervisor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794DC08-7618-4847-A305-BD8E25E70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Casing Running and Landing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A01A4DC-1761-4D20-80A2-7A901D741A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Running casing:</a:t>
            </a:r>
          </a:p>
          <a:p>
            <a:pPr lvl="1"/>
            <a:r>
              <a:rPr lang="en-US" altLang="en-US"/>
              <a:t>Consider - Re-tally and re-number as run in hole </a:t>
            </a:r>
            <a:r>
              <a:rPr lang="en-US" altLang="en-US">
                <a:solidFill>
                  <a:srgbClr val="FF0000"/>
                </a:solidFill>
              </a:rPr>
              <a:t>(Running Order)</a:t>
            </a:r>
          </a:p>
          <a:p>
            <a:pPr lvl="1"/>
            <a:r>
              <a:rPr lang="en-US" altLang="en-US"/>
              <a:t>Run pipe at a moderate rate to minimize surge pressures created while lowering casing into wellbore ~1,000 fph or less per well conditions.</a:t>
            </a:r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D6423CA1-15A5-4625-BE01-FE2E83D94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Running Pipe Tally</a:t>
            </a:r>
          </a:p>
        </p:txBody>
      </p:sp>
      <p:pic>
        <p:nvPicPr>
          <p:cNvPr id="15363" name="Picture 1031">
            <a:extLst>
              <a:ext uri="{FF2B5EF4-FFF2-40B4-BE49-F238E27FC236}">
                <a16:creationId xmlns:a16="http://schemas.microsoft.com/office/drawing/2014/main" id="{A7085CB6-C851-4486-B962-4E4E3DABEB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75013" y="1600200"/>
            <a:ext cx="5641975" cy="4876800"/>
          </a:xfrm>
          <a:noFill/>
        </p:spPr>
      </p:pic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5BE1030-FE9F-43C0-9261-D85F3795B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Running Pipe Tally</a:t>
            </a:r>
          </a:p>
        </p:txBody>
      </p:sp>
      <p:pic>
        <p:nvPicPr>
          <p:cNvPr id="16387" name="Picture 9">
            <a:extLst>
              <a:ext uri="{FF2B5EF4-FFF2-40B4-BE49-F238E27FC236}">
                <a16:creationId xmlns:a16="http://schemas.microsoft.com/office/drawing/2014/main" id="{91EBD4B4-CE4E-4761-B940-978A3350A5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06763" y="1600200"/>
            <a:ext cx="5576887" cy="4876800"/>
          </a:xfrm>
          <a:noFill/>
        </p:spPr>
      </p:pic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7B930E78-ADE2-4DAF-8220-435E21134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Running Pipe Tally - Landing</a:t>
            </a:r>
          </a:p>
        </p:txBody>
      </p:sp>
      <p:pic>
        <p:nvPicPr>
          <p:cNvPr id="17411" name="Picture 1033">
            <a:extLst>
              <a:ext uri="{FF2B5EF4-FFF2-40B4-BE49-F238E27FC236}">
                <a16:creationId xmlns:a16="http://schemas.microsoft.com/office/drawing/2014/main" id="{B532FCC0-88EE-4EA3-A273-09B7C7E6A5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05163" y="1600200"/>
            <a:ext cx="5780087" cy="4876800"/>
          </a:xfrm>
          <a:noFill/>
        </p:spPr>
      </p:pic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EC1BF7D7-BBDA-49E4-BE50-9123D0F71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33600" y="1371600"/>
            <a:ext cx="3900488" cy="4657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5" name="Rectangle 3">
            <a:extLst>
              <a:ext uri="{FF2B5EF4-FFF2-40B4-BE49-F238E27FC236}">
                <a16:creationId xmlns:a16="http://schemas.microsoft.com/office/drawing/2014/main" id="{4B91B1A7-C6F5-426B-A227-69AC6D723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Casing Accessories</a:t>
            </a: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26636AD4-E7DB-4F86-A86F-418376FA6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8400" y="1371600"/>
            <a:ext cx="3810000" cy="464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B1F30A21-8EAA-42A9-B78B-E26995B05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19400" y="1371600"/>
            <a:ext cx="6534150" cy="531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3">
            <a:extLst>
              <a:ext uri="{FF2B5EF4-FFF2-40B4-BE49-F238E27FC236}">
                <a16:creationId xmlns:a16="http://schemas.microsoft.com/office/drawing/2014/main" id="{EAB39121-D029-41FA-BFA8-A4958D48A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Pipe Deck - Offshore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1026">
            <a:extLst>
              <a:ext uri="{FF2B5EF4-FFF2-40B4-BE49-F238E27FC236}">
                <a16:creationId xmlns:a16="http://schemas.microsoft.com/office/drawing/2014/main" id="{EE2A0BB9-E017-4043-AB63-D202AAC93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725" y="1337620"/>
            <a:ext cx="3648075" cy="517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1027">
            <a:extLst>
              <a:ext uri="{FF2B5EF4-FFF2-40B4-BE49-F238E27FC236}">
                <a16:creationId xmlns:a16="http://schemas.microsoft.com/office/drawing/2014/main" id="{AD4B14F4-704E-4B3F-BA76-B3E8BD419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92537" y="1345556"/>
            <a:ext cx="344646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1028">
            <a:extLst>
              <a:ext uri="{FF2B5EF4-FFF2-40B4-BE49-F238E27FC236}">
                <a16:creationId xmlns:a16="http://schemas.microsoft.com/office/drawing/2014/main" id="{52FBF34B-888A-443A-8948-67011B75F5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Running Casing</a:t>
            </a:r>
            <a:br>
              <a:rPr lang="en-US" altLang="en-US"/>
            </a:br>
            <a:r>
              <a:rPr lang="en-US" altLang="en-US"/>
              <a:t>Onshore / Offshore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664E51-770C-41E3-AED1-10F934F740C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61165" y="1345555"/>
            <a:ext cx="4845109" cy="52088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Casing Handling Equipment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52104" y="1202672"/>
            <a:ext cx="2762082" cy="20873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28127" y="3876011"/>
            <a:ext cx="2210035" cy="2178006"/>
          </a:xfrm>
          <a:prstGeom prst="rect">
            <a:avLst/>
          </a:prstGeom>
        </p:spPr>
      </p:pic>
      <p:pic>
        <p:nvPicPr>
          <p:cNvPr id="8" name="Picture 2" descr="Image result for casing handling equipment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66118" y="995337"/>
            <a:ext cx="3655931" cy="226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82" y="3474719"/>
            <a:ext cx="3044744" cy="22367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526" y="5711483"/>
            <a:ext cx="19711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Side Door Elevator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23720" y="3013054"/>
            <a:ext cx="2111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Single Joint Elevator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087402" y="6488668"/>
            <a:ext cx="12682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Casing Drift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047337" y="4740874"/>
            <a:ext cx="145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Safety Clamp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304187" y="3213700"/>
            <a:ext cx="1600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Spider Elevator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736100" y="5978451"/>
            <a:ext cx="1168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Spider Slip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6833" y="1254620"/>
            <a:ext cx="1759202" cy="145294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177170" y="2920721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Casing Slip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82632" y="5212644"/>
            <a:ext cx="1934366" cy="131004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149" y="3445848"/>
            <a:ext cx="1976850" cy="12103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317311" y="5867667"/>
            <a:ext cx="16133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Stabbing Guide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3219" y="3583032"/>
            <a:ext cx="2240281" cy="224028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3219" y="1229593"/>
            <a:ext cx="1741512" cy="174151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9253219" y="2971105"/>
            <a:ext cx="1104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Clamp 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806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2DC77DBB-A3F3-4D41-A03E-83908973F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81263" y="1314450"/>
            <a:ext cx="7229475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3">
            <a:extLst>
              <a:ext uri="{FF2B5EF4-FFF2-40B4-BE49-F238E27FC236}">
                <a16:creationId xmlns:a16="http://schemas.microsoft.com/office/drawing/2014/main" id="{C984264A-33E5-402A-9D5C-E769CC244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Casing Accessories - Protectors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DA06-D862-492A-8F77-7D7B7C39E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Casing Power Tong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7207F7-B117-42F3-B8FB-396A3F8A802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9200" y="1257299"/>
            <a:ext cx="3038475" cy="30384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D09A7B-F67C-443C-BD40-DEF9A5D696C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6" y="1295400"/>
            <a:ext cx="5551714" cy="31228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294799-8935-4FC2-AA9B-1F3D4488DF3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8875" y="4410074"/>
            <a:ext cx="4216400" cy="2371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C16F38-B9D8-48F3-9142-58A453CB11E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800" y="4450896"/>
            <a:ext cx="4313126" cy="221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29581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0F8522-87A4-40B5-99AF-2DF2D6E7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Elevator / Spider</a:t>
            </a:r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2A048C31-CA91-4E97-8EAB-D79D0ADE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67200" y="1371600"/>
            <a:ext cx="3886200" cy="516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06F86B-9A6B-47DB-A06B-BEC70417EB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9200" y="1360715"/>
            <a:ext cx="3276600" cy="24176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0F033D-61B5-4539-ACCE-A0B55FB4109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34400" y="3505200"/>
            <a:ext cx="3188711" cy="28813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95530-5008-4FE5-98CF-DD6D27F9E2C4}"/>
              </a:ext>
            </a:extLst>
          </p:cNvPr>
          <p:cNvSpPr txBox="1"/>
          <p:nvPr/>
        </p:nvSpPr>
        <p:spPr>
          <a:xfrm>
            <a:off x="8001000" y="2169448"/>
            <a:ext cx="1938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Spider Elevator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8B85E9-251D-4B14-964A-2F6A154E49FC}"/>
              </a:ext>
            </a:extLst>
          </p:cNvPr>
          <p:cNvSpPr txBox="1"/>
          <p:nvPr/>
        </p:nvSpPr>
        <p:spPr>
          <a:xfrm>
            <a:off x="1661886" y="5024446"/>
            <a:ext cx="1426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Spider Slip</a:t>
            </a:r>
            <a:endParaRPr lang="en-ID" dirty="0"/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E386-0B8D-4206-B1C5-AE6E60F76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0C8FA-655E-4364-877B-58BD3B7068C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854" y="1371600"/>
            <a:ext cx="5600700" cy="3733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618A16-9382-40BD-B1B8-54DE4D9142F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1796" y="3124200"/>
            <a:ext cx="2378676" cy="1524000"/>
          </a:xfrm>
          <a:prstGeom prst="rect">
            <a:avLst/>
          </a:prstGeom>
        </p:spPr>
      </p:pic>
      <p:sp>
        <p:nvSpPr>
          <p:cNvPr id="5" name="AutoShape 2" descr="See the source image">
            <a:extLst>
              <a:ext uri="{FF2B5EF4-FFF2-40B4-BE49-F238E27FC236}">
                <a16:creationId xmlns:a16="http://schemas.microsoft.com/office/drawing/2014/main" id="{7CC8F2E5-0774-4A88-9AA1-B15942AA67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D89317A9-0157-4362-B38E-0DEF7681A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9710" y="4876800"/>
            <a:ext cx="666750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214FDE-CFDB-447A-839B-E08757E894E1}"/>
              </a:ext>
            </a:extLst>
          </p:cNvPr>
          <p:cNvCxnSpPr>
            <a:cxnSpLocks/>
          </p:cNvCxnSpPr>
          <p:nvPr/>
        </p:nvCxnSpPr>
        <p:spPr bwMode="auto">
          <a:xfrm flipV="1">
            <a:off x="3810000" y="3886200"/>
            <a:ext cx="2971800" cy="146958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rgbClr val="F2F64E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812836-DD8D-457A-B610-55E3E85B8B26}"/>
              </a:ext>
            </a:extLst>
          </p:cNvPr>
          <p:cNvCxnSpPr>
            <a:cxnSpLocks/>
          </p:cNvCxnSpPr>
          <p:nvPr/>
        </p:nvCxnSpPr>
        <p:spPr bwMode="auto">
          <a:xfrm>
            <a:off x="1905000" y="4065815"/>
            <a:ext cx="1828800" cy="1420585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rgbClr val="F2F64E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4E6C5D-5D26-4676-9EBC-1368772E7A77}"/>
              </a:ext>
            </a:extLst>
          </p:cNvPr>
          <p:cNvCxnSpPr>
            <a:cxnSpLocks/>
          </p:cNvCxnSpPr>
          <p:nvPr/>
        </p:nvCxnSpPr>
        <p:spPr bwMode="auto">
          <a:xfrm flipV="1">
            <a:off x="3910900" y="2133600"/>
            <a:ext cx="3328100" cy="1153885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rgbClr val="F2F64E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5527D3F1-5BEA-40B5-9EE6-F4AE350D13E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3798" y="1447800"/>
            <a:ext cx="1549065" cy="1143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8E5845-0CD1-4633-83C5-46BEAA2AF99B}"/>
              </a:ext>
            </a:extLst>
          </p:cNvPr>
          <p:cNvSpPr txBox="1"/>
          <p:nvPr/>
        </p:nvSpPr>
        <p:spPr>
          <a:xfrm>
            <a:off x="9525000" y="1609635"/>
            <a:ext cx="1938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Spider Elevator</a:t>
            </a:r>
            <a:endParaRPr lang="en-ID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D0BC1B-D85E-4998-AA5D-36F227F5BE99}"/>
              </a:ext>
            </a:extLst>
          </p:cNvPr>
          <p:cNvSpPr txBox="1"/>
          <p:nvPr/>
        </p:nvSpPr>
        <p:spPr>
          <a:xfrm>
            <a:off x="9388464" y="3592286"/>
            <a:ext cx="1996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Casing Elevator</a:t>
            </a:r>
            <a:endParaRPr lang="en-ID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DBDDB6-20A6-4F89-8293-07D56B529816}"/>
              </a:ext>
            </a:extLst>
          </p:cNvPr>
          <p:cNvSpPr txBox="1"/>
          <p:nvPr/>
        </p:nvSpPr>
        <p:spPr>
          <a:xfrm>
            <a:off x="7528941" y="5660571"/>
            <a:ext cx="1911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Elevator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12749337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24548" cy="64008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Casing Connection Type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 Casing Handling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81" y="1483175"/>
            <a:ext cx="6248400" cy="45434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32092" y="3060346"/>
            <a:ext cx="45144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lphaLcParenBoth"/>
            </a:pPr>
            <a:r>
              <a:rPr lang="en-US" dirty="0">
                <a:solidFill>
                  <a:srgbClr val="111111"/>
                </a:solidFill>
                <a:latin typeface="Roboto"/>
              </a:rPr>
              <a:t>Threaded and coupled; </a:t>
            </a:r>
          </a:p>
          <a:p>
            <a:pPr marL="342900" indent="-342900">
              <a:buAutoNum type="alphaLcParenBoth"/>
            </a:pPr>
            <a:r>
              <a:rPr lang="en-US" dirty="0">
                <a:solidFill>
                  <a:srgbClr val="111111"/>
                </a:solidFill>
                <a:latin typeface="Roboto"/>
              </a:rPr>
              <a:t> Integral flush; </a:t>
            </a:r>
          </a:p>
          <a:p>
            <a:pPr marL="342900" indent="-342900">
              <a:buAutoNum type="alphaLcParenBoth"/>
            </a:pPr>
            <a:r>
              <a:rPr lang="en-US" dirty="0">
                <a:solidFill>
                  <a:srgbClr val="111111"/>
                </a:solidFill>
                <a:latin typeface="Roboto"/>
              </a:rPr>
              <a:t> Integral upset connection</a:t>
            </a:r>
            <a:endParaRPr lang="en-US" b="0" i="0" dirty="0">
              <a:solidFill>
                <a:srgbClr val="111111"/>
              </a:solidFill>
              <a:effectLst/>
              <a:latin typeface="Roboto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103" y="4365458"/>
            <a:ext cx="2857500" cy="190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31403" y="6270458"/>
            <a:ext cx="4073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b and c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sz="2000" b="1" dirty="0">
                <a:solidFill>
                  <a:srgbClr val="FF0000"/>
                </a:solidFill>
              </a:rPr>
              <a:t>use Slip Type Elevator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78103" y="1469918"/>
            <a:ext cx="2164934" cy="15904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89049" y="1716900"/>
            <a:ext cx="229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a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sz="2000" b="1" dirty="0">
                <a:solidFill>
                  <a:srgbClr val="FF0000"/>
                </a:solidFill>
              </a:rPr>
              <a:t>use Side Door Elevator</a:t>
            </a:r>
          </a:p>
        </p:txBody>
      </p:sp>
    </p:spTree>
    <p:extLst>
      <p:ext uri="{BB962C8B-B14F-4D97-AF65-F5344CB8AC3E}">
        <p14:creationId xmlns:p14="http://schemas.microsoft.com/office/powerpoint/2010/main" val="3558296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8772918" cy="64008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Casing Handling Equipment – CDS (Casing Drive System)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16" y="1305636"/>
            <a:ext cx="9083722" cy="519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206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B182D-0C4F-4D8E-9A8D-5B8DDA24A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Casing Dope</a:t>
            </a:r>
            <a:endParaRPr lang="en-ID" dirty="0"/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D3304239-8EE8-47E1-899C-4512455C3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23526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511773-CF24-4224-80C9-2F432B254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600200"/>
            <a:ext cx="752475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495096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CD159-63F4-4E3E-AD6E-A34DB1B19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Casing MU Torque Monitoring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A1CEC-5C91-4403-928D-7507A8780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305089"/>
            <a:ext cx="5696713" cy="3569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B45260-DAF1-465A-A9FE-A8581C59494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8120" y="1305089"/>
            <a:ext cx="5903880" cy="35423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EDD734-30B5-4A72-9985-C25F3DF6CED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 flipV="1">
            <a:off x="6781598" y="4311354"/>
            <a:ext cx="1863396" cy="2990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894E484-0B1A-47FC-9B3F-F4C5477395CB}"/>
              </a:ext>
            </a:extLst>
          </p:cNvPr>
          <p:cNvSpPr/>
          <p:nvPr/>
        </p:nvSpPr>
        <p:spPr>
          <a:xfrm>
            <a:off x="8302489" y="5736649"/>
            <a:ext cx="17511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Premium Thread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C75ED7-A4B8-412F-BB4E-FB767B717EDF}"/>
              </a:ext>
            </a:extLst>
          </p:cNvPr>
          <p:cNvSpPr/>
          <p:nvPr/>
        </p:nvSpPr>
        <p:spPr>
          <a:xfrm>
            <a:off x="8094978" y="1305089"/>
            <a:ext cx="1400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Torque Chart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37BEE4-F4DC-41DE-BB7F-632C66757A71}"/>
              </a:ext>
            </a:extLst>
          </p:cNvPr>
          <p:cNvSpPr/>
          <p:nvPr/>
        </p:nvSpPr>
        <p:spPr>
          <a:xfrm>
            <a:off x="2987521" y="5091983"/>
            <a:ext cx="2385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SimSun" panose="02010600030101010101" pitchFamily="2" charset="-122"/>
              </a:rPr>
              <a:t>Torque Turn Equipment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3C1018-E229-4E69-BCD4-4BD8C4A82C2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1207" y="4847417"/>
            <a:ext cx="2335232" cy="189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26211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1050">
            <a:extLst>
              <a:ext uri="{FF2B5EF4-FFF2-40B4-BE49-F238E27FC236}">
                <a16:creationId xmlns:a16="http://schemas.microsoft.com/office/drawing/2014/main" id="{79239B0B-C743-45E8-9A92-A8CCC0B4F261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819400"/>
            <a:ext cx="1828800" cy="542925"/>
            <a:chOff x="48" y="1776"/>
            <a:chExt cx="1152" cy="342"/>
          </a:xfrm>
        </p:grpSpPr>
        <p:grpSp>
          <p:nvGrpSpPr>
            <p:cNvPr id="23563" name="Group 1036">
              <a:extLst>
                <a:ext uri="{FF2B5EF4-FFF2-40B4-BE49-F238E27FC236}">
                  <a16:creationId xmlns:a16="http://schemas.microsoft.com/office/drawing/2014/main" id="{8AE56A70-3E23-4D80-887F-D3FF56DFAB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1776"/>
              <a:ext cx="1152" cy="342"/>
              <a:chOff x="417" y="445"/>
              <a:chExt cx="107" cy="66"/>
            </a:xfrm>
          </p:grpSpPr>
          <p:sp>
            <p:nvSpPr>
              <p:cNvPr id="548877" name="Rectangle 1037">
                <a:extLst>
                  <a:ext uri="{FF2B5EF4-FFF2-40B4-BE49-F238E27FC236}">
                    <a16:creationId xmlns:a16="http://schemas.microsoft.com/office/drawing/2014/main" id="{250E78EF-7173-45B3-AE34-17BCC7958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25" y="454"/>
                <a:ext cx="91" cy="57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8878" name="Rectangle 1038">
                <a:extLst>
                  <a:ext uri="{FF2B5EF4-FFF2-40B4-BE49-F238E27FC236}">
                    <a16:creationId xmlns:a16="http://schemas.microsoft.com/office/drawing/2014/main" id="{CCF62D2B-1D0E-488C-9B58-B50110B1E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17" y="445"/>
                <a:ext cx="107" cy="10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23564" name="Group 1049">
              <a:extLst>
                <a:ext uri="{FF2B5EF4-FFF2-40B4-BE49-F238E27FC236}">
                  <a16:creationId xmlns:a16="http://schemas.microsoft.com/office/drawing/2014/main" id="{3C839AFB-4A95-4100-A2BD-E4113069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776"/>
              <a:ext cx="854" cy="342"/>
              <a:chOff x="192" y="1776"/>
              <a:chExt cx="854" cy="342"/>
            </a:xfrm>
          </p:grpSpPr>
          <p:sp>
            <p:nvSpPr>
              <p:cNvPr id="548881" name="Rectangle 1041">
                <a:extLst>
                  <a:ext uri="{FF2B5EF4-FFF2-40B4-BE49-F238E27FC236}">
                    <a16:creationId xmlns:a16="http://schemas.microsoft.com/office/drawing/2014/main" id="{F4F84DD3-AA90-4616-8B2B-0B90AB8EB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968"/>
                <a:ext cx="854" cy="1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8885" name="Rectangle 1045">
                <a:extLst>
                  <a:ext uri="{FF2B5EF4-FFF2-40B4-BE49-F238E27FC236}">
                    <a16:creationId xmlns:a16="http://schemas.microsoft.com/office/drawing/2014/main" id="{47606229-7C57-4C41-9312-82ADE58D5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1776"/>
                <a:ext cx="672" cy="19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8886" name="Rectangle 1046">
                <a:extLst>
                  <a:ext uri="{FF2B5EF4-FFF2-40B4-BE49-F238E27FC236}">
                    <a16:creationId xmlns:a16="http://schemas.microsoft.com/office/drawing/2014/main" id="{69DDC7D2-526E-4C52-977E-A73DD61690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1968"/>
                <a:ext cx="672" cy="48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</p:grpSp>
      <p:sp>
        <p:nvSpPr>
          <p:cNvPr id="23555" name="Rectangle 1026">
            <a:extLst>
              <a:ext uri="{FF2B5EF4-FFF2-40B4-BE49-F238E27FC236}">
                <a16:creationId xmlns:a16="http://schemas.microsoft.com/office/drawing/2014/main" id="{1B0CA5A7-95E5-4AB7-860A-5B9D0958D0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Drive Pipe</a:t>
            </a:r>
          </a:p>
        </p:txBody>
      </p:sp>
      <p:sp>
        <p:nvSpPr>
          <p:cNvPr id="23556" name="Rectangle 1027">
            <a:extLst>
              <a:ext uri="{FF2B5EF4-FFF2-40B4-BE49-F238E27FC236}">
                <a16:creationId xmlns:a16="http://schemas.microsoft.com/office/drawing/2014/main" id="{090AD102-FB87-42DA-99DE-86423409ECC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Cut off excess Drive Pipe per program</a:t>
            </a:r>
          </a:p>
          <a:p>
            <a:r>
              <a:rPr lang="en-US" altLang="en-US" sz="2400"/>
              <a:t>Install temporary wellhead</a:t>
            </a:r>
          </a:p>
          <a:p>
            <a:r>
              <a:rPr lang="en-US" altLang="en-US" sz="2400"/>
              <a:t>Nipple up Diverter</a:t>
            </a:r>
          </a:p>
          <a:p>
            <a:r>
              <a:rPr lang="en-US" altLang="en-US" sz="2400"/>
              <a:t>Drill Conductor hole</a:t>
            </a:r>
          </a:p>
        </p:txBody>
      </p:sp>
      <p:grpSp>
        <p:nvGrpSpPr>
          <p:cNvPr id="23557" name="Group 1043">
            <a:extLst>
              <a:ext uri="{FF2B5EF4-FFF2-40B4-BE49-F238E27FC236}">
                <a16:creationId xmlns:a16="http://schemas.microsoft.com/office/drawing/2014/main" id="{B9AFCFC6-29DA-4B19-B81F-81DF0D27899B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124200"/>
            <a:ext cx="1219200" cy="533400"/>
            <a:chOff x="240" y="2064"/>
            <a:chExt cx="768" cy="240"/>
          </a:xfrm>
        </p:grpSpPr>
        <p:sp>
          <p:nvSpPr>
            <p:cNvPr id="548868" name="Line 1028">
              <a:extLst>
                <a:ext uri="{FF2B5EF4-FFF2-40B4-BE49-F238E27FC236}">
                  <a16:creationId xmlns:a16="http://schemas.microsoft.com/office/drawing/2014/main" id="{D4B9BDA9-EB64-4B91-89E3-4ED39274AE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064"/>
              <a:ext cx="0" cy="2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8869" name="Line 1029">
              <a:extLst>
                <a:ext uri="{FF2B5EF4-FFF2-40B4-BE49-F238E27FC236}">
                  <a16:creationId xmlns:a16="http://schemas.microsoft.com/office/drawing/2014/main" id="{7D643DE3-7ACA-4B6D-A035-C4047D26C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2064"/>
              <a:ext cx="0" cy="2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548870" name="AutoShape 1030">
            <a:extLst>
              <a:ext uri="{FF2B5EF4-FFF2-40B4-BE49-F238E27FC236}">
                <a16:creationId xmlns:a16="http://schemas.microsoft.com/office/drawing/2014/main" id="{E3808F0B-5F4A-4E09-BCAC-C89CE55C641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8871" name="AutoShape 1031">
            <a:extLst>
              <a:ext uri="{FF2B5EF4-FFF2-40B4-BE49-F238E27FC236}">
                <a16:creationId xmlns:a16="http://schemas.microsoft.com/office/drawing/2014/main" id="{6A1FFCC4-1E49-439B-82B7-679B9058B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8874" name="Freeform 1034">
            <a:extLst>
              <a:ext uri="{FF2B5EF4-FFF2-40B4-BE49-F238E27FC236}">
                <a16:creationId xmlns:a16="http://schemas.microsoft.com/office/drawing/2014/main" id="{874DB6A6-D6C4-4E42-9239-8FF19D90293C}"/>
              </a:ext>
            </a:extLst>
          </p:cNvPr>
          <p:cNvSpPr>
            <a:spLocks/>
          </p:cNvSpPr>
          <p:nvPr/>
        </p:nvSpPr>
        <p:spPr bwMode="auto">
          <a:xfrm>
            <a:off x="1828800" y="3657600"/>
            <a:ext cx="1397000" cy="1219200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0" y="192"/>
              </a:cxn>
              <a:cxn ang="0">
                <a:pos x="48" y="336"/>
              </a:cxn>
              <a:cxn ang="0">
                <a:pos x="48" y="432"/>
              </a:cxn>
              <a:cxn ang="0">
                <a:pos x="0" y="528"/>
              </a:cxn>
              <a:cxn ang="0">
                <a:pos x="48" y="576"/>
              </a:cxn>
              <a:cxn ang="0">
                <a:pos x="48" y="672"/>
              </a:cxn>
              <a:cxn ang="0">
                <a:pos x="144" y="672"/>
              </a:cxn>
              <a:cxn ang="0">
                <a:pos x="288" y="672"/>
              </a:cxn>
              <a:cxn ang="0">
                <a:pos x="336" y="720"/>
              </a:cxn>
              <a:cxn ang="0">
                <a:pos x="480" y="720"/>
              </a:cxn>
              <a:cxn ang="0">
                <a:pos x="576" y="672"/>
              </a:cxn>
              <a:cxn ang="0">
                <a:pos x="672" y="672"/>
              </a:cxn>
              <a:cxn ang="0">
                <a:pos x="768" y="768"/>
              </a:cxn>
              <a:cxn ang="0">
                <a:pos x="864" y="672"/>
              </a:cxn>
              <a:cxn ang="0">
                <a:pos x="864" y="528"/>
              </a:cxn>
              <a:cxn ang="0">
                <a:pos x="816" y="384"/>
              </a:cxn>
              <a:cxn ang="0">
                <a:pos x="816" y="288"/>
              </a:cxn>
              <a:cxn ang="0">
                <a:pos x="864" y="144"/>
              </a:cxn>
              <a:cxn ang="0">
                <a:pos x="816" y="0"/>
              </a:cxn>
            </a:cxnLst>
            <a:rect l="0" t="0" r="r" b="b"/>
            <a:pathLst>
              <a:path w="880" h="768">
                <a:moveTo>
                  <a:pt x="48" y="0"/>
                </a:moveTo>
                <a:cubicBezTo>
                  <a:pt x="24" y="68"/>
                  <a:pt x="0" y="136"/>
                  <a:pt x="0" y="192"/>
                </a:cubicBezTo>
                <a:cubicBezTo>
                  <a:pt x="0" y="248"/>
                  <a:pt x="40" y="296"/>
                  <a:pt x="48" y="336"/>
                </a:cubicBezTo>
                <a:cubicBezTo>
                  <a:pt x="56" y="376"/>
                  <a:pt x="56" y="400"/>
                  <a:pt x="48" y="432"/>
                </a:cubicBezTo>
                <a:cubicBezTo>
                  <a:pt x="40" y="464"/>
                  <a:pt x="0" y="504"/>
                  <a:pt x="0" y="528"/>
                </a:cubicBezTo>
                <a:cubicBezTo>
                  <a:pt x="0" y="552"/>
                  <a:pt x="40" y="552"/>
                  <a:pt x="48" y="576"/>
                </a:cubicBezTo>
                <a:cubicBezTo>
                  <a:pt x="56" y="600"/>
                  <a:pt x="32" y="656"/>
                  <a:pt x="48" y="672"/>
                </a:cubicBezTo>
                <a:cubicBezTo>
                  <a:pt x="64" y="688"/>
                  <a:pt x="104" y="672"/>
                  <a:pt x="144" y="672"/>
                </a:cubicBezTo>
                <a:cubicBezTo>
                  <a:pt x="184" y="672"/>
                  <a:pt x="256" y="664"/>
                  <a:pt x="288" y="672"/>
                </a:cubicBezTo>
                <a:cubicBezTo>
                  <a:pt x="320" y="680"/>
                  <a:pt x="304" y="712"/>
                  <a:pt x="336" y="720"/>
                </a:cubicBezTo>
                <a:cubicBezTo>
                  <a:pt x="368" y="728"/>
                  <a:pt x="440" y="728"/>
                  <a:pt x="480" y="720"/>
                </a:cubicBezTo>
                <a:cubicBezTo>
                  <a:pt x="520" y="712"/>
                  <a:pt x="544" y="680"/>
                  <a:pt x="576" y="672"/>
                </a:cubicBezTo>
                <a:cubicBezTo>
                  <a:pt x="608" y="664"/>
                  <a:pt x="640" y="656"/>
                  <a:pt x="672" y="672"/>
                </a:cubicBezTo>
                <a:cubicBezTo>
                  <a:pt x="704" y="688"/>
                  <a:pt x="736" y="768"/>
                  <a:pt x="768" y="768"/>
                </a:cubicBezTo>
                <a:cubicBezTo>
                  <a:pt x="800" y="768"/>
                  <a:pt x="848" y="712"/>
                  <a:pt x="864" y="672"/>
                </a:cubicBezTo>
                <a:cubicBezTo>
                  <a:pt x="880" y="632"/>
                  <a:pt x="872" y="576"/>
                  <a:pt x="864" y="528"/>
                </a:cubicBezTo>
                <a:cubicBezTo>
                  <a:pt x="856" y="480"/>
                  <a:pt x="824" y="424"/>
                  <a:pt x="816" y="384"/>
                </a:cubicBezTo>
                <a:cubicBezTo>
                  <a:pt x="808" y="344"/>
                  <a:pt x="808" y="328"/>
                  <a:pt x="816" y="288"/>
                </a:cubicBezTo>
                <a:cubicBezTo>
                  <a:pt x="824" y="248"/>
                  <a:pt x="864" y="192"/>
                  <a:pt x="864" y="144"/>
                </a:cubicBezTo>
                <a:cubicBezTo>
                  <a:pt x="864" y="96"/>
                  <a:pt x="816" y="24"/>
                  <a:pt x="816" y="0"/>
                </a:cubicBezTo>
              </a:path>
            </a:pathLst>
          </a:custGeom>
          <a:noFill/>
          <a:ln w="22225" cap="flat" cmpd="sng">
            <a:solidFill>
              <a:srgbClr val="9933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98" name="Rectangle 22" descr="Divot">
            <a:extLst>
              <a:ext uri="{FF2B5EF4-FFF2-40B4-BE49-F238E27FC236}">
                <a16:creationId xmlns:a16="http://schemas.microsoft.com/office/drawing/2014/main" id="{DCA740D2-11C1-49ED-A222-DF253A82C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rgbClr val="FFFFFF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6597" name="Rectangle 21" descr="Divot">
            <a:extLst>
              <a:ext uri="{FF2B5EF4-FFF2-40B4-BE49-F238E27FC236}">
                <a16:creationId xmlns:a16="http://schemas.microsoft.com/office/drawing/2014/main" id="{4FD06A64-5A88-44EB-9BD7-663FB4FFB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rgbClr val="FFFFFF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4580" name="Rectangle 7">
            <a:extLst>
              <a:ext uri="{FF2B5EF4-FFF2-40B4-BE49-F238E27FC236}">
                <a16:creationId xmlns:a16="http://schemas.microsoft.com/office/drawing/2014/main" id="{8AD2AE12-E76E-4BBB-AB85-B24972D6C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Structural (Conductor)</a:t>
            </a:r>
          </a:p>
        </p:txBody>
      </p:sp>
      <p:sp>
        <p:nvSpPr>
          <p:cNvPr id="24581" name="Rectangle 8">
            <a:extLst>
              <a:ext uri="{FF2B5EF4-FFF2-40B4-BE49-F238E27FC236}">
                <a16:creationId xmlns:a16="http://schemas.microsoft.com/office/drawing/2014/main" id="{57A3BEDB-4A21-4804-B261-DF2FAC06179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Run Conductor Pipe</a:t>
            </a:r>
          </a:p>
          <a:p>
            <a:r>
              <a:rPr lang="en-US" altLang="en-US" sz="2400"/>
              <a:t>Run conventional float equip (thread lock btm 2 jts)</a:t>
            </a:r>
          </a:p>
          <a:p>
            <a:r>
              <a:rPr lang="en-US" altLang="en-US" sz="2400"/>
              <a:t>Pump Cement to Surface - be prepared to washout excess cement</a:t>
            </a:r>
          </a:p>
          <a:p>
            <a:r>
              <a:rPr lang="en-US" altLang="en-US" sz="2400"/>
              <a:t>Center Conductor prior to cement set</a:t>
            </a:r>
          </a:p>
        </p:txBody>
      </p:sp>
      <p:sp>
        <p:nvSpPr>
          <p:cNvPr id="536585" name="Line 9">
            <a:extLst>
              <a:ext uri="{FF2B5EF4-FFF2-40B4-BE49-F238E27FC236}">
                <a16:creationId xmlns:a16="http://schemas.microsoft.com/office/drawing/2014/main" id="{34BF9331-DB9C-46B8-BE72-E19A11A7AB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1752600"/>
            <a:ext cx="0" cy="2514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6586" name="Line 10">
            <a:extLst>
              <a:ext uri="{FF2B5EF4-FFF2-40B4-BE49-F238E27FC236}">
                <a16:creationId xmlns:a16="http://schemas.microsoft.com/office/drawing/2014/main" id="{3E5B6CAC-2297-437B-B8EC-69F959F713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6587" name="Line 11">
            <a:extLst>
              <a:ext uri="{FF2B5EF4-FFF2-40B4-BE49-F238E27FC236}">
                <a16:creationId xmlns:a16="http://schemas.microsoft.com/office/drawing/2014/main" id="{DAD66FA4-57D0-47D5-AE63-86DBF9F27D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752600"/>
            <a:ext cx="0" cy="2514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6588" name="Line 12">
            <a:extLst>
              <a:ext uri="{FF2B5EF4-FFF2-40B4-BE49-F238E27FC236}">
                <a16:creationId xmlns:a16="http://schemas.microsoft.com/office/drawing/2014/main" id="{EAC50149-EB79-4BEF-A622-A8A36BE61A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6589" name="AutoShape 13">
            <a:extLst>
              <a:ext uri="{FF2B5EF4-FFF2-40B4-BE49-F238E27FC236}">
                <a16:creationId xmlns:a16="http://schemas.microsoft.com/office/drawing/2014/main" id="{F42EA4DB-4653-4855-A768-A5AA2656E1C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6590" name="AutoShape 14">
            <a:extLst>
              <a:ext uri="{FF2B5EF4-FFF2-40B4-BE49-F238E27FC236}">
                <a16:creationId xmlns:a16="http://schemas.microsoft.com/office/drawing/2014/main" id="{EECE52E3-3A74-4D2D-90B0-E04DCF7F46C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6595" name="AutoShape 19">
            <a:extLst>
              <a:ext uri="{FF2B5EF4-FFF2-40B4-BE49-F238E27FC236}">
                <a16:creationId xmlns:a16="http://schemas.microsoft.com/office/drawing/2014/main" id="{B6DC67B3-067F-4CC5-B294-9CB348322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6596" name="AutoShape 20">
            <a:extLst>
              <a:ext uri="{FF2B5EF4-FFF2-40B4-BE49-F238E27FC236}">
                <a16:creationId xmlns:a16="http://schemas.microsoft.com/office/drawing/2014/main" id="{8343E1D5-A88B-4B71-A14F-202E3618E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1096">
            <a:extLst>
              <a:ext uri="{FF2B5EF4-FFF2-40B4-BE49-F238E27FC236}">
                <a16:creationId xmlns:a16="http://schemas.microsoft.com/office/drawing/2014/main" id="{27E1BCE7-95F9-4D94-BE3E-31D6D3887887}"/>
              </a:ext>
            </a:extLst>
          </p:cNvPr>
          <p:cNvGrpSpPr>
            <a:grpSpLocks/>
          </p:cNvGrpSpPr>
          <p:nvPr/>
        </p:nvGrpSpPr>
        <p:grpSpPr bwMode="auto">
          <a:xfrm>
            <a:off x="3067050" y="2238375"/>
            <a:ext cx="304800" cy="200025"/>
            <a:chOff x="544" y="251"/>
            <a:chExt cx="32" cy="21"/>
          </a:xfrm>
        </p:grpSpPr>
        <p:sp>
          <p:nvSpPr>
            <p:cNvPr id="542793" name="Rectangle 1097">
              <a:extLst>
                <a:ext uri="{FF2B5EF4-FFF2-40B4-BE49-F238E27FC236}">
                  <a16:creationId xmlns:a16="http://schemas.microsoft.com/office/drawing/2014/main" id="{CF5B5584-CE58-427B-AE7B-7FDD4F734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" y="255"/>
              <a:ext cx="32" cy="13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2794" name="AutoShape 1098">
              <a:extLst>
                <a:ext uri="{FF2B5EF4-FFF2-40B4-BE49-F238E27FC236}">
                  <a16:creationId xmlns:a16="http://schemas.microsoft.com/office/drawing/2014/main" id="{D426D50F-AAA6-42DD-9025-F32561D2A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251"/>
              <a:ext cx="20" cy="21"/>
            </a:xfrm>
            <a:prstGeom prst="flowChartSummingJunction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25603" name="Group 1099">
            <a:extLst>
              <a:ext uri="{FF2B5EF4-FFF2-40B4-BE49-F238E27FC236}">
                <a16:creationId xmlns:a16="http://schemas.microsoft.com/office/drawing/2014/main" id="{167742AE-7716-4AA4-B33A-93B87150AED7}"/>
              </a:ext>
            </a:extLst>
          </p:cNvPr>
          <p:cNvGrpSpPr>
            <a:grpSpLocks/>
          </p:cNvGrpSpPr>
          <p:nvPr/>
        </p:nvGrpSpPr>
        <p:grpSpPr bwMode="auto">
          <a:xfrm>
            <a:off x="3371850" y="2238375"/>
            <a:ext cx="304800" cy="200025"/>
            <a:chOff x="544" y="251"/>
            <a:chExt cx="32" cy="21"/>
          </a:xfrm>
        </p:grpSpPr>
        <p:sp>
          <p:nvSpPr>
            <p:cNvPr id="542796" name="Rectangle 1100">
              <a:extLst>
                <a:ext uri="{FF2B5EF4-FFF2-40B4-BE49-F238E27FC236}">
                  <a16:creationId xmlns:a16="http://schemas.microsoft.com/office/drawing/2014/main" id="{76BA8AC8-0AA8-4D87-9F03-5FCF6ECF9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" y="255"/>
              <a:ext cx="32" cy="13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2797" name="AutoShape 1101">
              <a:extLst>
                <a:ext uri="{FF2B5EF4-FFF2-40B4-BE49-F238E27FC236}">
                  <a16:creationId xmlns:a16="http://schemas.microsoft.com/office/drawing/2014/main" id="{091E96F8-E840-43D1-8B5A-7FCEF8580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251"/>
              <a:ext cx="20" cy="21"/>
            </a:xfrm>
            <a:prstGeom prst="flowChartSummingJunction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25604" name="Group 1102">
            <a:extLst>
              <a:ext uri="{FF2B5EF4-FFF2-40B4-BE49-F238E27FC236}">
                <a16:creationId xmlns:a16="http://schemas.microsoft.com/office/drawing/2014/main" id="{69936384-EF18-43A6-A55C-2EB7BEF987F7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057400"/>
            <a:ext cx="1362075" cy="542925"/>
            <a:chOff x="405" y="966"/>
            <a:chExt cx="143" cy="57"/>
          </a:xfrm>
        </p:grpSpPr>
        <p:grpSp>
          <p:nvGrpSpPr>
            <p:cNvPr id="25617" name="Group 1103">
              <a:extLst>
                <a:ext uri="{FF2B5EF4-FFF2-40B4-BE49-F238E27FC236}">
                  <a16:creationId xmlns:a16="http://schemas.microsoft.com/office/drawing/2014/main" id="{51F4CCD2-BF28-462C-A13F-E62624D2B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" y="966"/>
              <a:ext cx="143" cy="57"/>
              <a:chOff x="417" y="445"/>
              <a:chExt cx="107" cy="66"/>
            </a:xfrm>
          </p:grpSpPr>
          <p:sp>
            <p:nvSpPr>
              <p:cNvPr id="542800" name="Rectangle 1104">
                <a:extLst>
                  <a:ext uri="{FF2B5EF4-FFF2-40B4-BE49-F238E27FC236}">
                    <a16:creationId xmlns:a16="http://schemas.microsoft.com/office/drawing/2014/main" id="{342F4938-10FB-4800-9129-27F406200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25" y="454"/>
                <a:ext cx="91" cy="57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2801" name="Rectangle 1105">
                <a:extLst>
                  <a:ext uri="{FF2B5EF4-FFF2-40B4-BE49-F238E27FC236}">
                    <a16:creationId xmlns:a16="http://schemas.microsoft.com/office/drawing/2014/main" id="{8BD3B790-FAE3-467B-8776-D86479E96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17" y="445"/>
                <a:ext cx="107" cy="10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25618" name="Group 1106">
              <a:extLst>
                <a:ext uri="{FF2B5EF4-FFF2-40B4-BE49-F238E27FC236}">
                  <a16:creationId xmlns:a16="http://schemas.microsoft.com/office/drawing/2014/main" id="{D2806CA5-E654-4666-8E76-BFF3A6CF5A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" y="966"/>
              <a:ext cx="106" cy="57"/>
              <a:chOff x="424" y="966"/>
              <a:chExt cx="106" cy="57"/>
            </a:xfrm>
          </p:grpSpPr>
          <p:sp>
            <p:nvSpPr>
              <p:cNvPr id="542803" name="AutoShape 1107">
                <a:extLst>
                  <a:ext uri="{FF2B5EF4-FFF2-40B4-BE49-F238E27FC236}">
                    <a16:creationId xmlns:a16="http://schemas.microsoft.com/office/drawing/2014/main" id="{C66D6910-3B8B-40E7-9516-8649A2121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" y="966"/>
                <a:ext cx="99" cy="43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2804" name="Rectangle 1108">
                <a:extLst>
                  <a:ext uri="{FF2B5EF4-FFF2-40B4-BE49-F238E27FC236}">
                    <a16:creationId xmlns:a16="http://schemas.microsoft.com/office/drawing/2014/main" id="{8E370A6F-380C-4A70-BF46-88D0A092F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" y="998"/>
                <a:ext cx="106" cy="2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2805" name="Rectangle 1109">
                <a:extLst>
                  <a:ext uri="{FF2B5EF4-FFF2-40B4-BE49-F238E27FC236}">
                    <a16:creationId xmlns:a16="http://schemas.microsoft.com/office/drawing/2014/main" id="{16B2C8F7-AFCB-41B5-A120-FC96549EB4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" y="989"/>
                <a:ext cx="60" cy="20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</p:grpSp>
      <p:sp>
        <p:nvSpPr>
          <p:cNvPr id="542751" name="Rectangle 1055" descr="Divot">
            <a:extLst>
              <a:ext uri="{FF2B5EF4-FFF2-40B4-BE49-F238E27FC236}">
                <a16:creationId xmlns:a16="http://schemas.microsoft.com/office/drawing/2014/main" id="{407A05D0-206A-4A6A-826D-A5F7B7C63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rgbClr val="FFFFFF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2752" name="Rectangle 1056" descr="Divot">
            <a:extLst>
              <a:ext uri="{FF2B5EF4-FFF2-40B4-BE49-F238E27FC236}">
                <a16:creationId xmlns:a16="http://schemas.microsoft.com/office/drawing/2014/main" id="{F02FC643-27CE-4160-B058-82059627A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rgbClr val="FFFFFF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5607" name="Rectangle 1031">
            <a:extLst>
              <a:ext uri="{FF2B5EF4-FFF2-40B4-BE49-F238E27FC236}">
                <a16:creationId xmlns:a16="http://schemas.microsoft.com/office/drawing/2014/main" id="{992A268E-3DF9-4346-A875-4C35F6CF4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Structural (Conductor)</a:t>
            </a:r>
          </a:p>
        </p:txBody>
      </p:sp>
      <p:sp>
        <p:nvSpPr>
          <p:cNvPr id="25608" name="Rectangle 1032">
            <a:extLst>
              <a:ext uri="{FF2B5EF4-FFF2-40B4-BE49-F238E27FC236}">
                <a16:creationId xmlns:a16="http://schemas.microsoft.com/office/drawing/2014/main" id="{16A11F21-A62C-462E-BB12-8AEA8BFC389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Wait on Cement</a:t>
            </a:r>
          </a:p>
          <a:p>
            <a:r>
              <a:rPr lang="en-US" altLang="en-US" sz="2400"/>
              <a:t>Cut Temporary Head off Drive pipe</a:t>
            </a:r>
          </a:p>
          <a:p>
            <a:r>
              <a:rPr lang="en-US" altLang="en-US" sz="2400"/>
              <a:t>Cut Conductor pipe in preparation for wellhead equipment</a:t>
            </a:r>
          </a:p>
        </p:txBody>
      </p:sp>
      <p:sp>
        <p:nvSpPr>
          <p:cNvPr id="542729" name="Line 1033">
            <a:extLst>
              <a:ext uri="{FF2B5EF4-FFF2-40B4-BE49-F238E27FC236}">
                <a16:creationId xmlns:a16="http://schemas.microsoft.com/office/drawing/2014/main" id="{43C0331C-63E2-49C4-8D5A-8396B98BE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2730" name="Line 1034">
            <a:extLst>
              <a:ext uri="{FF2B5EF4-FFF2-40B4-BE49-F238E27FC236}">
                <a16:creationId xmlns:a16="http://schemas.microsoft.com/office/drawing/2014/main" id="{E743440A-C1D2-4835-8D2E-227D57938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2731" name="Line 1035">
            <a:extLst>
              <a:ext uri="{FF2B5EF4-FFF2-40B4-BE49-F238E27FC236}">
                <a16:creationId xmlns:a16="http://schemas.microsoft.com/office/drawing/2014/main" id="{7CE23299-31BD-493A-B0B4-1A94F5F4C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2732" name="Line 1036">
            <a:extLst>
              <a:ext uri="{FF2B5EF4-FFF2-40B4-BE49-F238E27FC236}">
                <a16:creationId xmlns:a16="http://schemas.microsoft.com/office/drawing/2014/main" id="{8E90F8BE-D4F5-452D-A7C9-ABD1EB5E14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2733" name="AutoShape 1037">
            <a:extLst>
              <a:ext uri="{FF2B5EF4-FFF2-40B4-BE49-F238E27FC236}">
                <a16:creationId xmlns:a16="http://schemas.microsoft.com/office/drawing/2014/main" id="{F8AC2EBE-343E-4809-8B44-D436FB55E58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2734" name="AutoShape 1038">
            <a:extLst>
              <a:ext uri="{FF2B5EF4-FFF2-40B4-BE49-F238E27FC236}">
                <a16:creationId xmlns:a16="http://schemas.microsoft.com/office/drawing/2014/main" id="{E28CFE13-D811-48E5-BAF1-4682F3A99D4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2739" name="AutoShape 1043">
            <a:extLst>
              <a:ext uri="{FF2B5EF4-FFF2-40B4-BE49-F238E27FC236}">
                <a16:creationId xmlns:a16="http://schemas.microsoft.com/office/drawing/2014/main" id="{2699FBDA-6B37-4D1B-A3B3-52EC26D98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2740" name="AutoShape 1044">
            <a:extLst>
              <a:ext uri="{FF2B5EF4-FFF2-40B4-BE49-F238E27FC236}">
                <a16:creationId xmlns:a16="http://schemas.microsoft.com/office/drawing/2014/main" id="{35F84D15-BFED-49A0-AFCA-CA850116E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1055">
            <a:extLst>
              <a:ext uri="{FF2B5EF4-FFF2-40B4-BE49-F238E27FC236}">
                <a16:creationId xmlns:a16="http://schemas.microsoft.com/office/drawing/2014/main" id="{BCBC9319-8ECC-4CD7-92FD-2DA6C9C48E31}"/>
              </a:ext>
            </a:extLst>
          </p:cNvPr>
          <p:cNvGrpSpPr>
            <a:grpSpLocks/>
          </p:cNvGrpSpPr>
          <p:nvPr/>
        </p:nvGrpSpPr>
        <p:grpSpPr bwMode="auto">
          <a:xfrm>
            <a:off x="3067050" y="2838450"/>
            <a:ext cx="304800" cy="200025"/>
            <a:chOff x="544" y="251"/>
            <a:chExt cx="32" cy="21"/>
          </a:xfrm>
        </p:grpSpPr>
        <p:sp>
          <p:nvSpPr>
            <p:cNvPr id="538656" name="Rectangle 1056">
              <a:extLst>
                <a:ext uri="{FF2B5EF4-FFF2-40B4-BE49-F238E27FC236}">
                  <a16:creationId xmlns:a16="http://schemas.microsoft.com/office/drawing/2014/main" id="{71FF16C5-2D6F-446E-968C-2F24B1CF5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" y="255"/>
              <a:ext cx="32" cy="13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38657" name="AutoShape 1057">
              <a:extLst>
                <a:ext uri="{FF2B5EF4-FFF2-40B4-BE49-F238E27FC236}">
                  <a16:creationId xmlns:a16="http://schemas.microsoft.com/office/drawing/2014/main" id="{183532BD-E3FB-43BF-8A9E-29FA32E71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251"/>
              <a:ext cx="20" cy="21"/>
            </a:xfrm>
            <a:prstGeom prst="flowChartSummingJunction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26627" name="Group 1058">
            <a:extLst>
              <a:ext uri="{FF2B5EF4-FFF2-40B4-BE49-F238E27FC236}">
                <a16:creationId xmlns:a16="http://schemas.microsoft.com/office/drawing/2014/main" id="{E570460E-9A23-495C-B30B-2C35DAAF689B}"/>
              </a:ext>
            </a:extLst>
          </p:cNvPr>
          <p:cNvGrpSpPr>
            <a:grpSpLocks/>
          </p:cNvGrpSpPr>
          <p:nvPr/>
        </p:nvGrpSpPr>
        <p:grpSpPr bwMode="auto">
          <a:xfrm>
            <a:off x="3371850" y="2838450"/>
            <a:ext cx="304800" cy="200025"/>
            <a:chOff x="544" y="251"/>
            <a:chExt cx="32" cy="21"/>
          </a:xfrm>
        </p:grpSpPr>
        <p:sp>
          <p:nvSpPr>
            <p:cNvPr id="538659" name="Rectangle 1059">
              <a:extLst>
                <a:ext uri="{FF2B5EF4-FFF2-40B4-BE49-F238E27FC236}">
                  <a16:creationId xmlns:a16="http://schemas.microsoft.com/office/drawing/2014/main" id="{666FF48E-1A54-4901-B22A-D6E057C49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" y="255"/>
              <a:ext cx="32" cy="13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38660" name="AutoShape 1060">
              <a:extLst>
                <a:ext uri="{FF2B5EF4-FFF2-40B4-BE49-F238E27FC236}">
                  <a16:creationId xmlns:a16="http://schemas.microsoft.com/office/drawing/2014/main" id="{A777E75F-4656-40C8-8A46-6B3A13AB3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251"/>
              <a:ext cx="20" cy="21"/>
            </a:xfrm>
            <a:prstGeom prst="flowChartSummingJunction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26628" name="Group 1061">
            <a:extLst>
              <a:ext uri="{FF2B5EF4-FFF2-40B4-BE49-F238E27FC236}">
                <a16:creationId xmlns:a16="http://schemas.microsoft.com/office/drawing/2014/main" id="{E2938686-3EDB-49A7-A8C0-12C81973A796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657475"/>
            <a:ext cx="1362075" cy="542925"/>
            <a:chOff x="405" y="966"/>
            <a:chExt cx="143" cy="57"/>
          </a:xfrm>
        </p:grpSpPr>
        <p:grpSp>
          <p:nvGrpSpPr>
            <p:cNvPr id="26642" name="Group 1062">
              <a:extLst>
                <a:ext uri="{FF2B5EF4-FFF2-40B4-BE49-F238E27FC236}">
                  <a16:creationId xmlns:a16="http://schemas.microsoft.com/office/drawing/2014/main" id="{2C319121-C22E-4BE5-B4E3-907F8C0569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" y="966"/>
              <a:ext cx="143" cy="57"/>
              <a:chOff x="417" y="445"/>
              <a:chExt cx="107" cy="66"/>
            </a:xfrm>
          </p:grpSpPr>
          <p:sp>
            <p:nvSpPr>
              <p:cNvPr id="538663" name="Rectangle 1063">
                <a:extLst>
                  <a:ext uri="{FF2B5EF4-FFF2-40B4-BE49-F238E27FC236}">
                    <a16:creationId xmlns:a16="http://schemas.microsoft.com/office/drawing/2014/main" id="{2F831A7A-ADB4-4214-84FA-02F19E2F05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25" y="454"/>
                <a:ext cx="91" cy="57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8664" name="Rectangle 1064">
                <a:extLst>
                  <a:ext uri="{FF2B5EF4-FFF2-40B4-BE49-F238E27FC236}">
                    <a16:creationId xmlns:a16="http://schemas.microsoft.com/office/drawing/2014/main" id="{4C24EE98-1D4E-4992-9416-5858C5B4D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17" y="445"/>
                <a:ext cx="107" cy="10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26643" name="Group 1065">
              <a:extLst>
                <a:ext uri="{FF2B5EF4-FFF2-40B4-BE49-F238E27FC236}">
                  <a16:creationId xmlns:a16="http://schemas.microsoft.com/office/drawing/2014/main" id="{EAD39F59-C690-4C04-9DC8-BE48885B55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" y="966"/>
              <a:ext cx="106" cy="57"/>
              <a:chOff x="424" y="966"/>
              <a:chExt cx="106" cy="57"/>
            </a:xfrm>
          </p:grpSpPr>
          <p:sp>
            <p:nvSpPr>
              <p:cNvPr id="538666" name="AutoShape 1066">
                <a:extLst>
                  <a:ext uri="{FF2B5EF4-FFF2-40B4-BE49-F238E27FC236}">
                    <a16:creationId xmlns:a16="http://schemas.microsoft.com/office/drawing/2014/main" id="{B1270AB6-EFC2-477B-90F2-612B89898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" y="966"/>
                <a:ext cx="99" cy="43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8667" name="Rectangle 1067">
                <a:extLst>
                  <a:ext uri="{FF2B5EF4-FFF2-40B4-BE49-F238E27FC236}">
                    <a16:creationId xmlns:a16="http://schemas.microsoft.com/office/drawing/2014/main" id="{B4E79299-A6C5-4367-92B5-92A768A19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" y="998"/>
                <a:ext cx="106" cy="2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8668" name="Rectangle 1068">
                <a:extLst>
                  <a:ext uri="{FF2B5EF4-FFF2-40B4-BE49-F238E27FC236}">
                    <a16:creationId xmlns:a16="http://schemas.microsoft.com/office/drawing/2014/main" id="{1E05980F-281D-41F9-A617-B200F4938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" y="989"/>
                <a:ext cx="60" cy="20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</p:grpSp>
      <p:sp>
        <p:nvSpPr>
          <p:cNvPr id="538653" name="Rectangle 1053" descr="Divot">
            <a:extLst>
              <a:ext uri="{FF2B5EF4-FFF2-40B4-BE49-F238E27FC236}">
                <a16:creationId xmlns:a16="http://schemas.microsoft.com/office/drawing/2014/main" id="{E10D0557-2F67-47DF-ABC1-947A8F4D8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8654" name="Rectangle 1054" descr="Divot">
            <a:extLst>
              <a:ext uri="{FF2B5EF4-FFF2-40B4-BE49-F238E27FC236}">
                <a16:creationId xmlns:a16="http://schemas.microsoft.com/office/drawing/2014/main" id="{ABE5A149-035E-4444-B14B-112D848A0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6631" name="Rectangle 1031">
            <a:extLst>
              <a:ext uri="{FF2B5EF4-FFF2-40B4-BE49-F238E27FC236}">
                <a16:creationId xmlns:a16="http://schemas.microsoft.com/office/drawing/2014/main" id="{49E480E3-AC45-49D9-9A0C-7A369D8E6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Structural (Conductor)</a:t>
            </a:r>
          </a:p>
        </p:txBody>
      </p:sp>
      <p:sp>
        <p:nvSpPr>
          <p:cNvPr id="26632" name="Rectangle 1032">
            <a:extLst>
              <a:ext uri="{FF2B5EF4-FFF2-40B4-BE49-F238E27FC236}">
                <a16:creationId xmlns:a16="http://schemas.microsoft.com/office/drawing/2014/main" id="{F09D7016-828F-4775-8952-8411BF74D0A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Install “A” section of wellhead</a:t>
            </a:r>
          </a:p>
          <a:p>
            <a:r>
              <a:rPr lang="en-US" altLang="en-US" sz="2400"/>
              <a:t>Weld “A” section on Conductor</a:t>
            </a:r>
          </a:p>
          <a:p>
            <a:r>
              <a:rPr lang="en-US" altLang="en-US" sz="2400"/>
              <a:t>Nipple up Diverter</a:t>
            </a:r>
          </a:p>
          <a:p>
            <a:r>
              <a:rPr lang="en-US" altLang="en-US" sz="2400"/>
              <a:t>Drill Surface Hole</a:t>
            </a:r>
          </a:p>
          <a:p>
            <a:endParaRPr lang="en-US" altLang="en-US" sz="2400"/>
          </a:p>
        </p:txBody>
      </p:sp>
      <p:sp>
        <p:nvSpPr>
          <p:cNvPr id="538633" name="Line 1033">
            <a:extLst>
              <a:ext uri="{FF2B5EF4-FFF2-40B4-BE49-F238E27FC236}">
                <a16:creationId xmlns:a16="http://schemas.microsoft.com/office/drawing/2014/main" id="{549D6C71-CDBB-4EE1-A31F-723E9D485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8634" name="Line 1034">
            <a:extLst>
              <a:ext uri="{FF2B5EF4-FFF2-40B4-BE49-F238E27FC236}">
                <a16:creationId xmlns:a16="http://schemas.microsoft.com/office/drawing/2014/main" id="{032E9845-51DA-4B26-B2AD-74C116BA3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8635" name="Line 1035">
            <a:extLst>
              <a:ext uri="{FF2B5EF4-FFF2-40B4-BE49-F238E27FC236}">
                <a16:creationId xmlns:a16="http://schemas.microsoft.com/office/drawing/2014/main" id="{6CFF3832-F2FF-4834-8F83-C1378A1FD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8636" name="Line 1036">
            <a:extLst>
              <a:ext uri="{FF2B5EF4-FFF2-40B4-BE49-F238E27FC236}">
                <a16:creationId xmlns:a16="http://schemas.microsoft.com/office/drawing/2014/main" id="{F4B73D6B-B414-4443-827D-72E8534B3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8637" name="AutoShape 1037">
            <a:extLst>
              <a:ext uri="{FF2B5EF4-FFF2-40B4-BE49-F238E27FC236}">
                <a16:creationId xmlns:a16="http://schemas.microsoft.com/office/drawing/2014/main" id="{D2118780-21A4-4D50-A13D-025BD29CEF6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8638" name="AutoShape 1038">
            <a:extLst>
              <a:ext uri="{FF2B5EF4-FFF2-40B4-BE49-F238E27FC236}">
                <a16:creationId xmlns:a16="http://schemas.microsoft.com/office/drawing/2014/main" id="{FB0CBC31-0289-4AFD-AE0C-74DB14B6AC0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8643" name="AutoShape 1043">
            <a:extLst>
              <a:ext uri="{FF2B5EF4-FFF2-40B4-BE49-F238E27FC236}">
                <a16:creationId xmlns:a16="http://schemas.microsoft.com/office/drawing/2014/main" id="{F2F9034C-4725-4C84-8C1C-0ADB1059E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8644" name="AutoShape 1044">
            <a:extLst>
              <a:ext uri="{FF2B5EF4-FFF2-40B4-BE49-F238E27FC236}">
                <a16:creationId xmlns:a16="http://schemas.microsoft.com/office/drawing/2014/main" id="{1ED2A78B-9A31-4461-B810-164CF8AA6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8669" name="Freeform 1069">
            <a:extLst>
              <a:ext uri="{FF2B5EF4-FFF2-40B4-BE49-F238E27FC236}">
                <a16:creationId xmlns:a16="http://schemas.microsoft.com/office/drawing/2014/main" id="{EA2387E3-0DB3-4E19-8D4D-161D8372738B}"/>
              </a:ext>
            </a:extLst>
          </p:cNvPr>
          <p:cNvSpPr>
            <a:spLocks/>
          </p:cNvSpPr>
          <p:nvPr/>
        </p:nvSpPr>
        <p:spPr bwMode="auto">
          <a:xfrm>
            <a:off x="1981200" y="4267200"/>
            <a:ext cx="1066800" cy="1219200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0" y="192"/>
              </a:cxn>
              <a:cxn ang="0">
                <a:pos x="48" y="336"/>
              </a:cxn>
              <a:cxn ang="0">
                <a:pos x="48" y="432"/>
              </a:cxn>
              <a:cxn ang="0">
                <a:pos x="0" y="528"/>
              </a:cxn>
              <a:cxn ang="0">
                <a:pos x="48" y="576"/>
              </a:cxn>
              <a:cxn ang="0">
                <a:pos x="48" y="672"/>
              </a:cxn>
              <a:cxn ang="0">
                <a:pos x="144" y="672"/>
              </a:cxn>
              <a:cxn ang="0">
                <a:pos x="288" y="672"/>
              </a:cxn>
              <a:cxn ang="0">
                <a:pos x="336" y="720"/>
              </a:cxn>
              <a:cxn ang="0">
                <a:pos x="480" y="720"/>
              </a:cxn>
              <a:cxn ang="0">
                <a:pos x="576" y="672"/>
              </a:cxn>
              <a:cxn ang="0">
                <a:pos x="672" y="672"/>
              </a:cxn>
              <a:cxn ang="0">
                <a:pos x="768" y="768"/>
              </a:cxn>
              <a:cxn ang="0">
                <a:pos x="864" y="672"/>
              </a:cxn>
              <a:cxn ang="0">
                <a:pos x="864" y="528"/>
              </a:cxn>
              <a:cxn ang="0">
                <a:pos x="816" y="384"/>
              </a:cxn>
              <a:cxn ang="0">
                <a:pos x="816" y="288"/>
              </a:cxn>
              <a:cxn ang="0">
                <a:pos x="864" y="144"/>
              </a:cxn>
              <a:cxn ang="0">
                <a:pos x="816" y="0"/>
              </a:cxn>
            </a:cxnLst>
            <a:rect l="0" t="0" r="r" b="b"/>
            <a:pathLst>
              <a:path w="880" h="768">
                <a:moveTo>
                  <a:pt x="48" y="0"/>
                </a:moveTo>
                <a:cubicBezTo>
                  <a:pt x="24" y="68"/>
                  <a:pt x="0" y="136"/>
                  <a:pt x="0" y="192"/>
                </a:cubicBezTo>
                <a:cubicBezTo>
                  <a:pt x="0" y="248"/>
                  <a:pt x="40" y="296"/>
                  <a:pt x="48" y="336"/>
                </a:cubicBezTo>
                <a:cubicBezTo>
                  <a:pt x="56" y="376"/>
                  <a:pt x="56" y="400"/>
                  <a:pt x="48" y="432"/>
                </a:cubicBezTo>
                <a:cubicBezTo>
                  <a:pt x="40" y="464"/>
                  <a:pt x="0" y="504"/>
                  <a:pt x="0" y="528"/>
                </a:cubicBezTo>
                <a:cubicBezTo>
                  <a:pt x="0" y="552"/>
                  <a:pt x="40" y="552"/>
                  <a:pt x="48" y="576"/>
                </a:cubicBezTo>
                <a:cubicBezTo>
                  <a:pt x="56" y="600"/>
                  <a:pt x="32" y="656"/>
                  <a:pt x="48" y="672"/>
                </a:cubicBezTo>
                <a:cubicBezTo>
                  <a:pt x="64" y="688"/>
                  <a:pt x="104" y="672"/>
                  <a:pt x="144" y="672"/>
                </a:cubicBezTo>
                <a:cubicBezTo>
                  <a:pt x="184" y="672"/>
                  <a:pt x="256" y="664"/>
                  <a:pt x="288" y="672"/>
                </a:cubicBezTo>
                <a:cubicBezTo>
                  <a:pt x="320" y="680"/>
                  <a:pt x="304" y="712"/>
                  <a:pt x="336" y="720"/>
                </a:cubicBezTo>
                <a:cubicBezTo>
                  <a:pt x="368" y="728"/>
                  <a:pt x="440" y="728"/>
                  <a:pt x="480" y="720"/>
                </a:cubicBezTo>
                <a:cubicBezTo>
                  <a:pt x="520" y="712"/>
                  <a:pt x="544" y="680"/>
                  <a:pt x="576" y="672"/>
                </a:cubicBezTo>
                <a:cubicBezTo>
                  <a:pt x="608" y="664"/>
                  <a:pt x="640" y="656"/>
                  <a:pt x="672" y="672"/>
                </a:cubicBezTo>
                <a:cubicBezTo>
                  <a:pt x="704" y="688"/>
                  <a:pt x="736" y="768"/>
                  <a:pt x="768" y="768"/>
                </a:cubicBezTo>
                <a:cubicBezTo>
                  <a:pt x="800" y="768"/>
                  <a:pt x="848" y="712"/>
                  <a:pt x="864" y="672"/>
                </a:cubicBezTo>
                <a:cubicBezTo>
                  <a:pt x="880" y="632"/>
                  <a:pt x="872" y="576"/>
                  <a:pt x="864" y="528"/>
                </a:cubicBezTo>
                <a:cubicBezTo>
                  <a:pt x="856" y="480"/>
                  <a:pt x="824" y="424"/>
                  <a:pt x="816" y="384"/>
                </a:cubicBezTo>
                <a:cubicBezTo>
                  <a:pt x="808" y="344"/>
                  <a:pt x="808" y="328"/>
                  <a:pt x="816" y="288"/>
                </a:cubicBezTo>
                <a:cubicBezTo>
                  <a:pt x="824" y="248"/>
                  <a:pt x="864" y="192"/>
                  <a:pt x="864" y="144"/>
                </a:cubicBezTo>
                <a:cubicBezTo>
                  <a:pt x="864" y="96"/>
                  <a:pt x="816" y="24"/>
                  <a:pt x="816" y="0"/>
                </a:cubicBezTo>
              </a:path>
            </a:pathLst>
          </a:custGeom>
          <a:noFill/>
          <a:ln w="22225" cap="flat" cmpd="sng">
            <a:solidFill>
              <a:srgbClr val="9933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48">
            <a:extLst>
              <a:ext uri="{FF2B5EF4-FFF2-40B4-BE49-F238E27FC236}">
                <a16:creationId xmlns:a16="http://schemas.microsoft.com/office/drawing/2014/main" id="{462374FC-27BA-402B-B13D-B5DC263C4AC4}"/>
              </a:ext>
            </a:extLst>
          </p:cNvPr>
          <p:cNvGrpSpPr>
            <a:grpSpLocks/>
          </p:cNvGrpSpPr>
          <p:nvPr/>
        </p:nvGrpSpPr>
        <p:grpSpPr bwMode="auto">
          <a:xfrm>
            <a:off x="3067050" y="2847975"/>
            <a:ext cx="304800" cy="200025"/>
            <a:chOff x="544" y="251"/>
            <a:chExt cx="32" cy="21"/>
          </a:xfrm>
        </p:grpSpPr>
        <p:sp>
          <p:nvSpPr>
            <p:cNvPr id="534577" name="Rectangle 49">
              <a:extLst>
                <a:ext uri="{FF2B5EF4-FFF2-40B4-BE49-F238E27FC236}">
                  <a16:creationId xmlns:a16="http://schemas.microsoft.com/office/drawing/2014/main" id="{191B3D14-B13E-4A0A-9C5C-380B2FF70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" y="255"/>
              <a:ext cx="32" cy="13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34578" name="AutoShape 50">
              <a:extLst>
                <a:ext uri="{FF2B5EF4-FFF2-40B4-BE49-F238E27FC236}">
                  <a16:creationId xmlns:a16="http://schemas.microsoft.com/office/drawing/2014/main" id="{C61CF6CA-680A-4B08-868B-43F618B2B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251"/>
              <a:ext cx="20" cy="21"/>
            </a:xfrm>
            <a:prstGeom prst="flowChartSummingJunction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27651" name="Group 51">
            <a:extLst>
              <a:ext uri="{FF2B5EF4-FFF2-40B4-BE49-F238E27FC236}">
                <a16:creationId xmlns:a16="http://schemas.microsoft.com/office/drawing/2014/main" id="{4DF7A51B-C04C-4539-A4AC-7E02F4FE6C86}"/>
              </a:ext>
            </a:extLst>
          </p:cNvPr>
          <p:cNvGrpSpPr>
            <a:grpSpLocks/>
          </p:cNvGrpSpPr>
          <p:nvPr/>
        </p:nvGrpSpPr>
        <p:grpSpPr bwMode="auto">
          <a:xfrm>
            <a:off x="3371850" y="2847975"/>
            <a:ext cx="304800" cy="200025"/>
            <a:chOff x="544" y="251"/>
            <a:chExt cx="32" cy="21"/>
          </a:xfrm>
        </p:grpSpPr>
        <p:sp>
          <p:nvSpPr>
            <p:cNvPr id="534580" name="Rectangle 52">
              <a:extLst>
                <a:ext uri="{FF2B5EF4-FFF2-40B4-BE49-F238E27FC236}">
                  <a16:creationId xmlns:a16="http://schemas.microsoft.com/office/drawing/2014/main" id="{3B1AA396-F3DB-47EC-9071-63DCAA0AC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" y="255"/>
              <a:ext cx="32" cy="13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34581" name="AutoShape 53">
              <a:extLst>
                <a:ext uri="{FF2B5EF4-FFF2-40B4-BE49-F238E27FC236}">
                  <a16:creationId xmlns:a16="http://schemas.microsoft.com/office/drawing/2014/main" id="{B1D94887-402D-4CE8-82C6-1987F47C0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251"/>
              <a:ext cx="20" cy="21"/>
            </a:xfrm>
            <a:prstGeom prst="flowChartSummingJunction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27652" name="Group 54">
            <a:extLst>
              <a:ext uri="{FF2B5EF4-FFF2-40B4-BE49-F238E27FC236}">
                <a16:creationId xmlns:a16="http://schemas.microsoft.com/office/drawing/2014/main" id="{E246D2EF-A9EA-4F00-AC5C-0684378E849D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667000"/>
            <a:ext cx="1362075" cy="542925"/>
            <a:chOff x="405" y="966"/>
            <a:chExt cx="143" cy="57"/>
          </a:xfrm>
        </p:grpSpPr>
        <p:grpSp>
          <p:nvGrpSpPr>
            <p:cNvPr id="27671" name="Group 55">
              <a:extLst>
                <a:ext uri="{FF2B5EF4-FFF2-40B4-BE49-F238E27FC236}">
                  <a16:creationId xmlns:a16="http://schemas.microsoft.com/office/drawing/2014/main" id="{E12B9772-C8B1-4699-920E-1ABD71BF66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" y="966"/>
              <a:ext cx="143" cy="57"/>
              <a:chOff x="417" y="445"/>
              <a:chExt cx="107" cy="66"/>
            </a:xfrm>
          </p:grpSpPr>
          <p:sp>
            <p:nvSpPr>
              <p:cNvPr id="534584" name="Rectangle 56">
                <a:extLst>
                  <a:ext uri="{FF2B5EF4-FFF2-40B4-BE49-F238E27FC236}">
                    <a16:creationId xmlns:a16="http://schemas.microsoft.com/office/drawing/2014/main" id="{CD6F6B02-A1E3-4294-9003-B54E81258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25" y="454"/>
                <a:ext cx="91" cy="57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4585" name="Rectangle 57">
                <a:extLst>
                  <a:ext uri="{FF2B5EF4-FFF2-40B4-BE49-F238E27FC236}">
                    <a16:creationId xmlns:a16="http://schemas.microsoft.com/office/drawing/2014/main" id="{21FC85A6-208F-46CE-A89E-C6FA9D44F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17" y="445"/>
                <a:ext cx="107" cy="10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27672" name="Group 58">
              <a:extLst>
                <a:ext uri="{FF2B5EF4-FFF2-40B4-BE49-F238E27FC236}">
                  <a16:creationId xmlns:a16="http://schemas.microsoft.com/office/drawing/2014/main" id="{A0D08FD9-E8FD-487A-9E43-E45A4542C4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" y="966"/>
              <a:ext cx="106" cy="57"/>
              <a:chOff x="424" y="966"/>
              <a:chExt cx="106" cy="57"/>
            </a:xfrm>
          </p:grpSpPr>
          <p:sp>
            <p:nvSpPr>
              <p:cNvPr id="534587" name="AutoShape 59">
                <a:extLst>
                  <a:ext uri="{FF2B5EF4-FFF2-40B4-BE49-F238E27FC236}">
                    <a16:creationId xmlns:a16="http://schemas.microsoft.com/office/drawing/2014/main" id="{AF4B5858-B2DF-492C-A03E-BD1A4363C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" y="966"/>
                <a:ext cx="99" cy="43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4588" name="Rectangle 60">
                <a:extLst>
                  <a:ext uri="{FF2B5EF4-FFF2-40B4-BE49-F238E27FC236}">
                    <a16:creationId xmlns:a16="http://schemas.microsoft.com/office/drawing/2014/main" id="{9BAECAD5-49FE-4A6A-8AD4-0AB7D6903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" y="998"/>
                <a:ext cx="106" cy="2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4589" name="Rectangle 61">
                <a:extLst>
                  <a:ext uri="{FF2B5EF4-FFF2-40B4-BE49-F238E27FC236}">
                    <a16:creationId xmlns:a16="http://schemas.microsoft.com/office/drawing/2014/main" id="{F0D8945F-CE85-4691-AE46-FB96C0CCF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" y="989"/>
                <a:ext cx="60" cy="20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</p:grpSp>
      <p:sp>
        <p:nvSpPr>
          <p:cNvPr id="534574" name="Rectangle 46" descr="Divot">
            <a:extLst>
              <a:ext uri="{FF2B5EF4-FFF2-40B4-BE49-F238E27FC236}">
                <a16:creationId xmlns:a16="http://schemas.microsoft.com/office/drawing/2014/main" id="{33C0D01A-DF8C-4181-9857-DAA5ACA95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75" name="Rectangle 47" descr="Divot">
            <a:extLst>
              <a:ext uri="{FF2B5EF4-FFF2-40B4-BE49-F238E27FC236}">
                <a16:creationId xmlns:a16="http://schemas.microsoft.com/office/drawing/2014/main" id="{F7FE5D21-875D-4DB7-90B6-483ACD185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72" name="Rectangle 44" descr="Divot">
            <a:extLst>
              <a:ext uri="{FF2B5EF4-FFF2-40B4-BE49-F238E27FC236}">
                <a16:creationId xmlns:a16="http://schemas.microsoft.com/office/drawing/2014/main" id="{B4A49D4E-1E2D-4AA9-90B0-156A67674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73" name="Rectangle 45" descr="Divot">
            <a:extLst>
              <a:ext uri="{FF2B5EF4-FFF2-40B4-BE49-F238E27FC236}">
                <a16:creationId xmlns:a16="http://schemas.microsoft.com/office/drawing/2014/main" id="{289D8C20-A45D-4BC0-BED5-31C6C605E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7657" name="Rectangle 7">
            <a:extLst>
              <a:ext uri="{FF2B5EF4-FFF2-40B4-BE49-F238E27FC236}">
                <a16:creationId xmlns:a16="http://schemas.microsoft.com/office/drawing/2014/main" id="{C3C8AF27-1865-4BF2-AFBD-10820D853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Surface </a:t>
            </a:r>
          </a:p>
        </p:txBody>
      </p:sp>
      <p:sp>
        <p:nvSpPr>
          <p:cNvPr id="27658" name="Rectangle 8">
            <a:extLst>
              <a:ext uri="{FF2B5EF4-FFF2-40B4-BE49-F238E27FC236}">
                <a16:creationId xmlns:a16="http://schemas.microsoft.com/office/drawing/2014/main" id="{70D455AE-143C-46AA-9A9E-B305372CB45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Run Surface Pipe</a:t>
            </a:r>
          </a:p>
          <a:p>
            <a:r>
              <a:rPr lang="en-US" altLang="en-US" sz="2400"/>
              <a:t>Run conventional float equip (thread lock btm 2 jts)</a:t>
            </a:r>
          </a:p>
          <a:p>
            <a:r>
              <a:rPr lang="en-US" altLang="en-US" sz="2400"/>
              <a:t>Pump Cement to Surface - be prepared to washout excess cement</a:t>
            </a:r>
          </a:p>
          <a:p>
            <a:endParaRPr lang="en-US" altLang="en-US" sz="2400"/>
          </a:p>
        </p:txBody>
      </p:sp>
      <p:sp>
        <p:nvSpPr>
          <p:cNvPr id="534537" name="Line 9">
            <a:extLst>
              <a:ext uri="{FF2B5EF4-FFF2-40B4-BE49-F238E27FC236}">
                <a16:creationId xmlns:a16="http://schemas.microsoft.com/office/drawing/2014/main" id="{B0AFDBBD-7E2A-4179-B80E-803891D9B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38" name="Line 10">
            <a:extLst>
              <a:ext uri="{FF2B5EF4-FFF2-40B4-BE49-F238E27FC236}">
                <a16:creationId xmlns:a16="http://schemas.microsoft.com/office/drawing/2014/main" id="{F46F3D70-CEE5-4C8E-BF1C-0410B22B2C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39" name="Line 11">
            <a:extLst>
              <a:ext uri="{FF2B5EF4-FFF2-40B4-BE49-F238E27FC236}">
                <a16:creationId xmlns:a16="http://schemas.microsoft.com/office/drawing/2014/main" id="{A5768DDC-0F6B-437B-AC3E-E188656A0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40" name="Line 12">
            <a:extLst>
              <a:ext uri="{FF2B5EF4-FFF2-40B4-BE49-F238E27FC236}">
                <a16:creationId xmlns:a16="http://schemas.microsoft.com/office/drawing/2014/main" id="{FDD182B8-8891-4B79-AC27-069921A87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41" name="AutoShape 13">
            <a:extLst>
              <a:ext uri="{FF2B5EF4-FFF2-40B4-BE49-F238E27FC236}">
                <a16:creationId xmlns:a16="http://schemas.microsoft.com/office/drawing/2014/main" id="{1D4832B2-3DE1-4C36-A1DF-A772A4B5B6A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42" name="AutoShape 14">
            <a:extLst>
              <a:ext uri="{FF2B5EF4-FFF2-40B4-BE49-F238E27FC236}">
                <a16:creationId xmlns:a16="http://schemas.microsoft.com/office/drawing/2014/main" id="{92ECA636-0FEC-42D2-B7CB-ECD950C1BB3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43" name="AutoShape 15">
            <a:extLst>
              <a:ext uri="{FF2B5EF4-FFF2-40B4-BE49-F238E27FC236}">
                <a16:creationId xmlns:a16="http://schemas.microsoft.com/office/drawing/2014/main" id="{8B829206-94CD-4342-8F82-873B963417A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46" name="AutoShape 18">
            <a:extLst>
              <a:ext uri="{FF2B5EF4-FFF2-40B4-BE49-F238E27FC236}">
                <a16:creationId xmlns:a16="http://schemas.microsoft.com/office/drawing/2014/main" id="{AA42F9FD-D24B-474F-9FB2-246859F60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47" name="AutoShape 19">
            <a:extLst>
              <a:ext uri="{FF2B5EF4-FFF2-40B4-BE49-F238E27FC236}">
                <a16:creationId xmlns:a16="http://schemas.microsoft.com/office/drawing/2014/main" id="{1018612F-61EE-4ED2-B2ED-74D06906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48" name="AutoShape 20">
            <a:extLst>
              <a:ext uri="{FF2B5EF4-FFF2-40B4-BE49-F238E27FC236}">
                <a16:creationId xmlns:a16="http://schemas.microsoft.com/office/drawing/2014/main" id="{EC5FDA6B-DA11-47A6-91A1-D640CFAB6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52" name="Line 24">
            <a:extLst>
              <a:ext uri="{FF2B5EF4-FFF2-40B4-BE49-F238E27FC236}">
                <a16:creationId xmlns:a16="http://schemas.microsoft.com/office/drawing/2014/main" id="{DF83F73A-F00D-44F1-9A42-8E6D14D3D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1828800"/>
            <a:ext cx="0" cy="3505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4553" name="Line 25">
            <a:extLst>
              <a:ext uri="{FF2B5EF4-FFF2-40B4-BE49-F238E27FC236}">
                <a16:creationId xmlns:a16="http://schemas.microsoft.com/office/drawing/2014/main" id="{C403DBA7-634B-450B-BD4B-6ABD90516D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828800"/>
            <a:ext cx="0" cy="3505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32">
            <a:extLst>
              <a:ext uri="{FF2B5EF4-FFF2-40B4-BE49-F238E27FC236}">
                <a16:creationId xmlns:a16="http://schemas.microsoft.com/office/drawing/2014/main" id="{3B971CA7-E69D-425A-9C89-12DC72CA5059}"/>
              </a:ext>
            </a:extLst>
          </p:cNvPr>
          <p:cNvGrpSpPr>
            <a:grpSpLocks/>
          </p:cNvGrpSpPr>
          <p:nvPr/>
        </p:nvGrpSpPr>
        <p:grpSpPr bwMode="auto">
          <a:xfrm>
            <a:off x="3067050" y="2847975"/>
            <a:ext cx="304800" cy="200025"/>
            <a:chOff x="544" y="251"/>
            <a:chExt cx="32" cy="21"/>
          </a:xfrm>
        </p:grpSpPr>
        <p:sp>
          <p:nvSpPr>
            <p:cNvPr id="543777" name="Rectangle 33">
              <a:extLst>
                <a:ext uri="{FF2B5EF4-FFF2-40B4-BE49-F238E27FC236}">
                  <a16:creationId xmlns:a16="http://schemas.microsoft.com/office/drawing/2014/main" id="{49F2BDF5-8A2E-4C51-84DC-12F8A94D7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" y="255"/>
              <a:ext cx="32" cy="13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3778" name="AutoShape 34">
              <a:extLst>
                <a:ext uri="{FF2B5EF4-FFF2-40B4-BE49-F238E27FC236}">
                  <a16:creationId xmlns:a16="http://schemas.microsoft.com/office/drawing/2014/main" id="{E5626330-9C9E-449D-930C-81C4CB603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251"/>
              <a:ext cx="20" cy="21"/>
            </a:xfrm>
            <a:prstGeom prst="flowChartSummingJunction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28675" name="Group 35">
            <a:extLst>
              <a:ext uri="{FF2B5EF4-FFF2-40B4-BE49-F238E27FC236}">
                <a16:creationId xmlns:a16="http://schemas.microsoft.com/office/drawing/2014/main" id="{5AE83120-30A6-48DE-9750-870CF7AE44C3}"/>
              </a:ext>
            </a:extLst>
          </p:cNvPr>
          <p:cNvGrpSpPr>
            <a:grpSpLocks/>
          </p:cNvGrpSpPr>
          <p:nvPr/>
        </p:nvGrpSpPr>
        <p:grpSpPr bwMode="auto">
          <a:xfrm>
            <a:off x="3371850" y="2847975"/>
            <a:ext cx="304800" cy="200025"/>
            <a:chOff x="544" y="251"/>
            <a:chExt cx="32" cy="21"/>
          </a:xfrm>
        </p:grpSpPr>
        <p:sp>
          <p:nvSpPr>
            <p:cNvPr id="543780" name="Rectangle 36">
              <a:extLst>
                <a:ext uri="{FF2B5EF4-FFF2-40B4-BE49-F238E27FC236}">
                  <a16:creationId xmlns:a16="http://schemas.microsoft.com/office/drawing/2014/main" id="{55753A50-C45E-472E-A63F-7724D29FA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" y="255"/>
              <a:ext cx="32" cy="13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3781" name="AutoShape 37">
              <a:extLst>
                <a:ext uri="{FF2B5EF4-FFF2-40B4-BE49-F238E27FC236}">
                  <a16:creationId xmlns:a16="http://schemas.microsoft.com/office/drawing/2014/main" id="{32E46307-A024-4D50-8CAB-2DFD76B41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251"/>
              <a:ext cx="20" cy="21"/>
            </a:xfrm>
            <a:prstGeom prst="flowChartSummingJunction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28676" name="Group 38">
            <a:extLst>
              <a:ext uri="{FF2B5EF4-FFF2-40B4-BE49-F238E27FC236}">
                <a16:creationId xmlns:a16="http://schemas.microsoft.com/office/drawing/2014/main" id="{427CFF30-DA46-4AB7-8F4E-4DBFD3545D5B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667000"/>
            <a:ext cx="1362075" cy="542925"/>
            <a:chOff x="405" y="966"/>
            <a:chExt cx="143" cy="57"/>
          </a:xfrm>
        </p:grpSpPr>
        <p:grpSp>
          <p:nvGrpSpPr>
            <p:cNvPr id="28697" name="Group 39">
              <a:extLst>
                <a:ext uri="{FF2B5EF4-FFF2-40B4-BE49-F238E27FC236}">
                  <a16:creationId xmlns:a16="http://schemas.microsoft.com/office/drawing/2014/main" id="{98EB25FB-F6A0-44B3-B657-796A32EAA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" y="966"/>
              <a:ext cx="143" cy="57"/>
              <a:chOff x="417" y="445"/>
              <a:chExt cx="107" cy="66"/>
            </a:xfrm>
          </p:grpSpPr>
          <p:sp>
            <p:nvSpPr>
              <p:cNvPr id="543784" name="Rectangle 40">
                <a:extLst>
                  <a:ext uri="{FF2B5EF4-FFF2-40B4-BE49-F238E27FC236}">
                    <a16:creationId xmlns:a16="http://schemas.microsoft.com/office/drawing/2014/main" id="{8DB88F5C-00F9-4DE0-9ACB-C655F6FC0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25" y="454"/>
                <a:ext cx="91" cy="57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3785" name="Rectangle 41">
                <a:extLst>
                  <a:ext uri="{FF2B5EF4-FFF2-40B4-BE49-F238E27FC236}">
                    <a16:creationId xmlns:a16="http://schemas.microsoft.com/office/drawing/2014/main" id="{6F1AE974-60FC-4A6B-BDE4-1ADEE85AD5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17" y="445"/>
                <a:ext cx="107" cy="10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28698" name="Group 42">
              <a:extLst>
                <a:ext uri="{FF2B5EF4-FFF2-40B4-BE49-F238E27FC236}">
                  <a16:creationId xmlns:a16="http://schemas.microsoft.com/office/drawing/2014/main" id="{11720EA4-9517-4D12-8264-475A3810F8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" y="966"/>
              <a:ext cx="106" cy="57"/>
              <a:chOff x="424" y="966"/>
              <a:chExt cx="106" cy="57"/>
            </a:xfrm>
          </p:grpSpPr>
          <p:sp>
            <p:nvSpPr>
              <p:cNvPr id="543787" name="AutoShape 43">
                <a:extLst>
                  <a:ext uri="{FF2B5EF4-FFF2-40B4-BE49-F238E27FC236}">
                    <a16:creationId xmlns:a16="http://schemas.microsoft.com/office/drawing/2014/main" id="{CE10F034-8598-41EE-B259-6A38C9AF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" y="966"/>
                <a:ext cx="99" cy="43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3788" name="Rectangle 44">
                <a:extLst>
                  <a:ext uri="{FF2B5EF4-FFF2-40B4-BE49-F238E27FC236}">
                    <a16:creationId xmlns:a16="http://schemas.microsoft.com/office/drawing/2014/main" id="{7F897A59-0997-486A-A1E1-F8BD946465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" y="998"/>
                <a:ext cx="106" cy="2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3789" name="Rectangle 45">
                <a:extLst>
                  <a:ext uri="{FF2B5EF4-FFF2-40B4-BE49-F238E27FC236}">
                    <a16:creationId xmlns:a16="http://schemas.microsoft.com/office/drawing/2014/main" id="{B8BCCF8F-1AF0-4084-8653-A8821F7CC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" y="989"/>
                <a:ext cx="60" cy="20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</p:grpSp>
      <p:sp>
        <p:nvSpPr>
          <p:cNvPr id="543774" name="Rectangle 30" descr="Divot">
            <a:extLst>
              <a:ext uri="{FF2B5EF4-FFF2-40B4-BE49-F238E27FC236}">
                <a16:creationId xmlns:a16="http://schemas.microsoft.com/office/drawing/2014/main" id="{DE05B75B-D984-4C50-82E9-7A9355061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75" name="Rectangle 31" descr="Divot">
            <a:extLst>
              <a:ext uri="{FF2B5EF4-FFF2-40B4-BE49-F238E27FC236}">
                <a16:creationId xmlns:a16="http://schemas.microsoft.com/office/drawing/2014/main" id="{9CE5FC1A-99E9-4E44-82B4-C7CAAF0BB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72" name="Rectangle 28" descr="Divot">
            <a:extLst>
              <a:ext uri="{FF2B5EF4-FFF2-40B4-BE49-F238E27FC236}">
                <a16:creationId xmlns:a16="http://schemas.microsoft.com/office/drawing/2014/main" id="{241C7B2C-6C6E-4226-9737-EF7BAD75C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73" name="Rectangle 29" descr="Divot">
            <a:extLst>
              <a:ext uri="{FF2B5EF4-FFF2-40B4-BE49-F238E27FC236}">
                <a16:creationId xmlns:a16="http://schemas.microsoft.com/office/drawing/2014/main" id="{DB3CB14C-2F7F-4FEC-B18A-EB55D836B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8681" name="Rectangle 7">
            <a:extLst>
              <a:ext uri="{FF2B5EF4-FFF2-40B4-BE49-F238E27FC236}">
                <a16:creationId xmlns:a16="http://schemas.microsoft.com/office/drawing/2014/main" id="{733AA291-C277-4C74-BECB-6A50808B9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Surface </a:t>
            </a:r>
          </a:p>
        </p:txBody>
      </p:sp>
      <p:sp>
        <p:nvSpPr>
          <p:cNvPr id="28682" name="Rectangle 8">
            <a:extLst>
              <a:ext uri="{FF2B5EF4-FFF2-40B4-BE49-F238E27FC236}">
                <a16:creationId xmlns:a16="http://schemas.microsoft.com/office/drawing/2014/main" id="{C8EFA747-26C1-4FF0-8C29-AFC8DE0207A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Install Slips:</a:t>
            </a:r>
          </a:p>
          <a:p>
            <a:pPr lvl="1"/>
            <a:r>
              <a:rPr lang="en-US" altLang="en-US" sz="2000"/>
              <a:t>If hand set, wait on cement before remove Diverter (pump time + [1-2] hrs, discuss with Supervisor)</a:t>
            </a:r>
          </a:p>
          <a:p>
            <a:pPr lvl="1"/>
            <a:r>
              <a:rPr lang="en-US" altLang="en-US" sz="2000"/>
              <a:t>If drop slips, then make sure no collars are in the way, may have to remove riser above Diverter</a:t>
            </a:r>
          </a:p>
        </p:txBody>
      </p:sp>
      <p:sp>
        <p:nvSpPr>
          <p:cNvPr id="543753" name="Line 9">
            <a:extLst>
              <a:ext uri="{FF2B5EF4-FFF2-40B4-BE49-F238E27FC236}">
                <a16:creationId xmlns:a16="http://schemas.microsoft.com/office/drawing/2014/main" id="{CD45E6B8-540A-4A7C-9C7F-BC3A16BC37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54" name="Line 10">
            <a:extLst>
              <a:ext uri="{FF2B5EF4-FFF2-40B4-BE49-F238E27FC236}">
                <a16:creationId xmlns:a16="http://schemas.microsoft.com/office/drawing/2014/main" id="{30DEEA5C-1942-4514-BB48-0B3467B32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55" name="Line 11">
            <a:extLst>
              <a:ext uri="{FF2B5EF4-FFF2-40B4-BE49-F238E27FC236}">
                <a16:creationId xmlns:a16="http://schemas.microsoft.com/office/drawing/2014/main" id="{3CB45F73-E67D-4891-93C6-E7F2BD1E3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56" name="Line 12">
            <a:extLst>
              <a:ext uri="{FF2B5EF4-FFF2-40B4-BE49-F238E27FC236}">
                <a16:creationId xmlns:a16="http://schemas.microsoft.com/office/drawing/2014/main" id="{5EA40CBD-7B6B-4A10-A528-750F33B3C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57" name="AutoShape 13">
            <a:extLst>
              <a:ext uri="{FF2B5EF4-FFF2-40B4-BE49-F238E27FC236}">
                <a16:creationId xmlns:a16="http://schemas.microsoft.com/office/drawing/2014/main" id="{4CAB6F30-1913-4A60-AD45-F13445540E6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58" name="AutoShape 14">
            <a:extLst>
              <a:ext uri="{FF2B5EF4-FFF2-40B4-BE49-F238E27FC236}">
                <a16:creationId xmlns:a16="http://schemas.microsoft.com/office/drawing/2014/main" id="{E3219B95-6421-4B23-8056-3ED7FEA1563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59" name="AutoShape 15">
            <a:extLst>
              <a:ext uri="{FF2B5EF4-FFF2-40B4-BE49-F238E27FC236}">
                <a16:creationId xmlns:a16="http://schemas.microsoft.com/office/drawing/2014/main" id="{98ADF56E-DA85-46F0-A52C-760179BC8D4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60" name="AutoShape 16">
            <a:extLst>
              <a:ext uri="{FF2B5EF4-FFF2-40B4-BE49-F238E27FC236}">
                <a16:creationId xmlns:a16="http://schemas.microsoft.com/office/drawing/2014/main" id="{C89522D3-E109-495E-9088-9C79B40BB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61" name="AutoShape 17">
            <a:extLst>
              <a:ext uri="{FF2B5EF4-FFF2-40B4-BE49-F238E27FC236}">
                <a16:creationId xmlns:a16="http://schemas.microsoft.com/office/drawing/2014/main" id="{99BB2269-F9E7-4655-89D5-F06756E2D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62" name="AutoShape 18">
            <a:extLst>
              <a:ext uri="{FF2B5EF4-FFF2-40B4-BE49-F238E27FC236}">
                <a16:creationId xmlns:a16="http://schemas.microsoft.com/office/drawing/2014/main" id="{E40E92E3-B5B7-41BC-934D-E205C5C34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66" name="AutoShape 22">
            <a:extLst>
              <a:ext uri="{FF2B5EF4-FFF2-40B4-BE49-F238E27FC236}">
                <a16:creationId xmlns:a16="http://schemas.microsoft.com/office/drawing/2014/main" id="{FA96604F-E318-494F-ABDC-173868A7914B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2057400" y="1371600"/>
            <a:ext cx="152400" cy="381000"/>
          </a:xfrm>
          <a:prstGeom prst="rtTriangle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67" name="AutoShape 23">
            <a:extLst>
              <a:ext uri="{FF2B5EF4-FFF2-40B4-BE49-F238E27FC236}">
                <a16:creationId xmlns:a16="http://schemas.microsoft.com/office/drawing/2014/main" id="{3494E059-9FEE-4430-93C6-F128700B262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819400" y="1371600"/>
            <a:ext cx="152400" cy="381000"/>
          </a:xfrm>
          <a:prstGeom prst="rtTriangle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63" name="Line 19">
            <a:extLst>
              <a:ext uri="{FF2B5EF4-FFF2-40B4-BE49-F238E27FC236}">
                <a16:creationId xmlns:a16="http://schemas.microsoft.com/office/drawing/2014/main" id="{F76382C6-FFEE-458F-9562-9301797E6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1828800"/>
            <a:ext cx="0" cy="3505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3764" name="Line 20">
            <a:extLst>
              <a:ext uri="{FF2B5EF4-FFF2-40B4-BE49-F238E27FC236}">
                <a16:creationId xmlns:a16="http://schemas.microsoft.com/office/drawing/2014/main" id="{20A6970D-3DED-4C39-9FC5-0E57477B74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828800"/>
            <a:ext cx="0" cy="3505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36">
            <a:extLst>
              <a:ext uri="{FF2B5EF4-FFF2-40B4-BE49-F238E27FC236}">
                <a16:creationId xmlns:a16="http://schemas.microsoft.com/office/drawing/2014/main" id="{35E70ABD-90D3-4B50-83F6-E94EEFCA9AFF}"/>
              </a:ext>
            </a:extLst>
          </p:cNvPr>
          <p:cNvGrpSpPr>
            <a:grpSpLocks/>
          </p:cNvGrpSpPr>
          <p:nvPr/>
        </p:nvGrpSpPr>
        <p:grpSpPr bwMode="auto">
          <a:xfrm>
            <a:off x="3067050" y="2847975"/>
            <a:ext cx="304800" cy="200025"/>
            <a:chOff x="544" y="251"/>
            <a:chExt cx="32" cy="21"/>
          </a:xfrm>
        </p:grpSpPr>
        <p:sp>
          <p:nvSpPr>
            <p:cNvPr id="544805" name="Rectangle 37">
              <a:extLst>
                <a:ext uri="{FF2B5EF4-FFF2-40B4-BE49-F238E27FC236}">
                  <a16:creationId xmlns:a16="http://schemas.microsoft.com/office/drawing/2014/main" id="{CCC241AA-57C4-4ABA-A716-7A01BA611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" y="255"/>
              <a:ext cx="32" cy="13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4806" name="AutoShape 38">
              <a:extLst>
                <a:ext uri="{FF2B5EF4-FFF2-40B4-BE49-F238E27FC236}">
                  <a16:creationId xmlns:a16="http://schemas.microsoft.com/office/drawing/2014/main" id="{8F9AAED8-9EB4-4821-BB66-6A86A3A72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251"/>
              <a:ext cx="20" cy="21"/>
            </a:xfrm>
            <a:prstGeom prst="flowChartSummingJunction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29699" name="Group 39">
            <a:extLst>
              <a:ext uri="{FF2B5EF4-FFF2-40B4-BE49-F238E27FC236}">
                <a16:creationId xmlns:a16="http://schemas.microsoft.com/office/drawing/2014/main" id="{CDEBD854-B4B4-49DE-96D0-2CB052677278}"/>
              </a:ext>
            </a:extLst>
          </p:cNvPr>
          <p:cNvGrpSpPr>
            <a:grpSpLocks/>
          </p:cNvGrpSpPr>
          <p:nvPr/>
        </p:nvGrpSpPr>
        <p:grpSpPr bwMode="auto">
          <a:xfrm>
            <a:off x="3371850" y="2847975"/>
            <a:ext cx="304800" cy="200025"/>
            <a:chOff x="544" y="251"/>
            <a:chExt cx="32" cy="21"/>
          </a:xfrm>
        </p:grpSpPr>
        <p:sp>
          <p:nvSpPr>
            <p:cNvPr id="544808" name="Rectangle 40">
              <a:extLst>
                <a:ext uri="{FF2B5EF4-FFF2-40B4-BE49-F238E27FC236}">
                  <a16:creationId xmlns:a16="http://schemas.microsoft.com/office/drawing/2014/main" id="{0FFCB26B-2A23-4756-AB6D-A117D92A7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" y="255"/>
              <a:ext cx="32" cy="13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4809" name="AutoShape 41">
              <a:extLst>
                <a:ext uri="{FF2B5EF4-FFF2-40B4-BE49-F238E27FC236}">
                  <a16:creationId xmlns:a16="http://schemas.microsoft.com/office/drawing/2014/main" id="{DF057F8E-83D4-48F4-A291-152E8FC80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251"/>
              <a:ext cx="20" cy="21"/>
            </a:xfrm>
            <a:prstGeom prst="flowChartSummingJunction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29700" name="Group 42">
            <a:extLst>
              <a:ext uri="{FF2B5EF4-FFF2-40B4-BE49-F238E27FC236}">
                <a16:creationId xmlns:a16="http://schemas.microsoft.com/office/drawing/2014/main" id="{2283F1DD-14A1-4995-A37C-BE2ACED9CFE3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667000"/>
            <a:ext cx="1362075" cy="542925"/>
            <a:chOff x="405" y="966"/>
            <a:chExt cx="143" cy="57"/>
          </a:xfrm>
        </p:grpSpPr>
        <p:grpSp>
          <p:nvGrpSpPr>
            <p:cNvPr id="29724" name="Group 43">
              <a:extLst>
                <a:ext uri="{FF2B5EF4-FFF2-40B4-BE49-F238E27FC236}">
                  <a16:creationId xmlns:a16="http://schemas.microsoft.com/office/drawing/2014/main" id="{D66F4303-6311-415F-BEFF-E5A58F6E3D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" y="966"/>
              <a:ext cx="143" cy="57"/>
              <a:chOff x="417" y="445"/>
              <a:chExt cx="107" cy="66"/>
            </a:xfrm>
          </p:grpSpPr>
          <p:sp>
            <p:nvSpPr>
              <p:cNvPr id="544812" name="Rectangle 44">
                <a:extLst>
                  <a:ext uri="{FF2B5EF4-FFF2-40B4-BE49-F238E27FC236}">
                    <a16:creationId xmlns:a16="http://schemas.microsoft.com/office/drawing/2014/main" id="{CA062534-AB86-4796-B5DD-BE1B94360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25" y="454"/>
                <a:ext cx="91" cy="57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4813" name="Rectangle 45">
                <a:extLst>
                  <a:ext uri="{FF2B5EF4-FFF2-40B4-BE49-F238E27FC236}">
                    <a16:creationId xmlns:a16="http://schemas.microsoft.com/office/drawing/2014/main" id="{2C0A9E83-5C40-4AB6-A7CB-22900A02D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17" y="445"/>
                <a:ext cx="107" cy="10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29725" name="Group 46">
              <a:extLst>
                <a:ext uri="{FF2B5EF4-FFF2-40B4-BE49-F238E27FC236}">
                  <a16:creationId xmlns:a16="http://schemas.microsoft.com/office/drawing/2014/main" id="{381AE96F-8D8C-400E-9DEA-A3593207DE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" y="966"/>
              <a:ext cx="106" cy="57"/>
              <a:chOff x="424" y="966"/>
              <a:chExt cx="106" cy="57"/>
            </a:xfrm>
          </p:grpSpPr>
          <p:sp>
            <p:nvSpPr>
              <p:cNvPr id="544815" name="AutoShape 47">
                <a:extLst>
                  <a:ext uri="{FF2B5EF4-FFF2-40B4-BE49-F238E27FC236}">
                    <a16:creationId xmlns:a16="http://schemas.microsoft.com/office/drawing/2014/main" id="{20122FCA-6F9B-4224-85D1-2E1D41C037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" y="966"/>
                <a:ext cx="99" cy="43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4816" name="Rectangle 48">
                <a:extLst>
                  <a:ext uri="{FF2B5EF4-FFF2-40B4-BE49-F238E27FC236}">
                    <a16:creationId xmlns:a16="http://schemas.microsoft.com/office/drawing/2014/main" id="{D0E0679B-0832-4CB9-99D1-A7D3DB648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" y="998"/>
                <a:ext cx="106" cy="2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4817" name="Rectangle 49">
                <a:extLst>
                  <a:ext uri="{FF2B5EF4-FFF2-40B4-BE49-F238E27FC236}">
                    <a16:creationId xmlns:a16="http://schemas.microsoft.com/office/drawing/2014/main" id="{5A4F387F-12C8-41CD-A29D-E63F6D14C6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" y="989"/>
                <a:ext cx="60" cy="20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</p:grpSp>
      <p:sp>
        <p:nvSpPr>
          <p:cNvPr id="544802" name="Rectangle 34" descr="Divot">
            <a:extLst>
              <a:ext uri="{FF2B5EF4-FFF2-40B4-BE49-F238E27FC236}">
                <a16:creationId xmlns:a16="http://schemas.microsoft.com/office/drawing/2014/main" id="{1DE49559-881A-48F6-8ABC-0C988C54F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803" name="Rectangle 35" descr="Divot">
            <a:extLst>
              <a:ext uri="{FF2B5EF4-FFF2-40B4-BE49-F238E27FC236}">
                <a16:creationId xmlns:a16="http://schemas.microsoft.com/office/drawing/2014/main" id="{D8F5ADD8-5A32-44D7-883C-EB5DC9495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800" name="Rectangle 32" descr="Divot">
            <a:extLst>
              <a:ext uri="{FF2B5EF4-FFF2-40B4-BE49-F238E27FC236}">
                <a16:creationId xmlns:a16="http://schemas.microsoft.com/office/drawing/2014/main" id="{B6900BA6-6848-470B-A739-A9E4DB544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801" name="Rectangle 33" descr="Divot">
            <a:extLst>
              <a:ext uri="{FF2B5EF4-FFF2-40B4-BE49-F238E27FC236}">
                <a16:creationId xmlns:a16="http://schemas.microsoft.com/office/drawing/2014/main" id="{47CD49B9-41A9-46C6-9C8E-47CACD164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9705" name="Rectangle 7">
            <a:extLst>
              <a:ext uri="{FF2B5EF4-FFF2-40B4-BE49-F238E27FC236}">
                <a16:creationId xmlns:a16="http://schemas.microsoft.com/office/drawing/2014/main" id="{E4616FF9-AFCE-471D-9498-86CF344E1C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Surface </a:t>
            </a:r>
          </a:p>
        </p:txBody>
      </p:sp>
      <p:sp>
        <p:nvSpPr>
          <p:cNvPr id="29706" name="Rectangle 8">
            <a:extLst>
              <a:ext uri="{FF2B5EF4-FFF2-40B4-BE49-F238E27FC236}">
                <a16:creationId xmlns:a16="http://schemas.microsoft.com/office/drawing/2014/main" id="{B50FE64C-EB5C-4879-9E23-8CA287C58EA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Remove Diverter if not done so already</a:t>
            </a:r>
          </a:p>
          <a:p>
            <a:r>
              <a:rPr lang="en-US" altLang="en-US" sz="2400"/>
              <a:t>Install “B” section packoff in preparation for next Wellhead section</a:t>
            </a:r>
          </a:p>
        </p:txBody>
      </p:sp>
      <p:sp>
        <p:nvSpPr>
          <p:cNvPr id="544777" name="Line 9">
            <a:extLst>
              <a:ext uri="{FF2B5EF4-FFF2-40B4-BE49-F238E27FC236}">
                <a16:creationId xmlns:a16="http://schemas.microsoft.com/office/drawing/2014/main" id="{094ED91D-8C7C-4D22-BBF7-AF96903056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778" name="Line 10">
            <a:extLst>
              <a:ext uri="{FF2B5EF4-FFF2-40B4-BE49-F238E27FC236}">
                <a16:creationId xmlns:a16="http://schemas.microsoft.com/office/drawing/2014/main" id="{611FE9AA-DDA5-436B-BE12-6854085BDD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779" name="Line 11">
            <a:extLst>
              <a:ext uri="{FF2B5EF4-FFF2-40B4-BE49-F238E27FC236}">
                <a16:creationId xmlns:a16="http://schemas.microsoft.com/office/drawing/2014/main" id="{6B2ADE7F-7ECB-4CD2-B8EF-2F69F584A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780" name="Line 12">
            <a:extLst>
              <a:ext uri="{FF2B5EF4-FFF2-40B4-BE49-F238E27FC236}">
                <a16:creationId xmlns:a16="http://schemas.microsoft.com/office/drawing/2014/main" id="{2AA8C378-110A-449A-A4C9-1135019854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781" name="AutoShape 13">
            <a:extLst>
              <a:ext uri="{FF2B5EF4-FFF2-40B4-BE49-F238E27FC236}">
                <a16:creationId xmlns:a16="http://schemas.microsoft.com/office/drawing/2014/main" id="{540F21CF-A8CA-4F31-A71A-43B9A395DFC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782" name="AutoShape 14">
            <a:extLst>
              <a:ext uri="{FF2B5EF4-FFF2-40B4-BE49-F238E27FC236}">
                <a16:creationId xmlns:a16="http://schemas.microsoft.com/office/drawing/2014/main" id="{3BD51CE6-1213-4363-847B-79347389AB6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783" name="AutoShape 15">
            <a:extLst>
              <a:ext uri="{FF2B5EF4-FFF2-40B4-BE49-F238E27FC236}">
                <a16:creationId xmlns:a16="http://schemas.microsoft.com/office/drawing/2014/main" id="{1CBF2064-00B5-46B1-B986-26FD5F7140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784" name="AutoShape 16">
            <a:extLst>
              <a:ext uri="{FF2B5EF4-FFF2-40B4-BE49-F238E27FC236}">
                <a16:creationId xmlns:a16="http://schemas.microsoft.com/office/drawing/2014/main" id="{725C07F8-61BC-4A2F-B8AE-5D4A8A424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785" name="AutoShape 17">
            <a:extLst>
              <a:ext uri="{FF2B5EF4-FFF2-40B4-BE49-F238E27FC236}">
                <a16:creationId xmlns:a16="http://schemas.microsoft.com/office/drawing/2014/main" id="{C0ED23AF-BC3A-497C-BCC8-B5D5D66F1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786" name="AutoShape 18">
            <a:extLst>
              <a:ext uri="{FF2B5EF4-FFF2-40B4-BE49-F238E27FC236}">
                <a16:creationId xmlns:a16="http://schemas.microsoft.com/office/drawing/2014/main" id="{5552903E-341E-4CCD-9CCE-08F5258A5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29717" name="Group 50">
            <a:extLst>
              <a:ext uri="{FF2B5EF4-FFF2-40B4-BE49-F238E27FC236}">
                <a16:creationId xmlns:a16="http://schemas.microsoft.com/office/drawing/2014/main" id="{9DF94BC2-C957-481E-BAF7-90F44109794F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514600"/>
            <a:ext cx="609600" cy="2819400"/>
            <a:chOff x="432" y="1632"/>
            <a:chExt cx="384" cy="1728"/>
          </a:xfrm>
        </p:grpSpPr>
        <p:sp>
          <p:nvSpPr>
            <p:cNvPr id="544787" name="Line 19">
              <a:extLst>
                <a:ext uri="{FF2B5EF4-FFF2-40B4-BE49-F238E27FC236}">
                  <a16:creationId xmlns:a16="http://schemas.microsoft.com/office/drawing/2014/main" id="{47FD6046-36C8-467F-BE9A-C5794E5DC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4788" name="Line 20">
              <a:extLst>
                <a:ext uri="{FF2B5EF4-FFF2-40B4-BE49-F238E27FC236}">
                  <a16:creationId xmlns:a16="http://schemas.microsoft.com/office/drawing/2014/main" id="{512DCD10-9A44-49A0-BD93-367B310CB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544789" name="AutoShape 21">
            <a:extLst>
              <a:ext uri="{FF2B5EF4-FFF2-40B4-BE49-F238E27FC236}">
                <a16:creationId xmlns:a16="http://schemas.microsoft.com/office/drawing/2014/main" id="{73C8B137-6E26-46E3-8318-ABBDFDECD178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2057400" y="2667000"/>
            <a:ext cx="152400" cy="381000"/>
          </a:xfrm>
          <a:prstGeom prst="rtTriangle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790" name="AutoShape 22">
            <a:extLst>
              <a:ext uri="{FF2B5EF4-FFF2-40B4-BE49-F238E27FC236}">
                <a16:creationId xmlns:a16="http://schemas.microsoft.com/office/drawing/2014/main" id="{3F574651-CE37-4BF2-AD08-2354AC1D3D8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819400" y="2667000"/>
            <a:ext cx="152400" cy="381000"/>
          </a:xfrm>
          <a:prstGeom prst="rtTriangle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791" name="Rectangle 23">
            <a:extLst>
              <a:ext uri="{FF2B5EF4-FFF2-40B4-BE49-F238E27FC236}">
                <a16:creationId xmlns:a16="http://schemas.microsoft.com/office/drawing/2014/main" id="{5CDE692A-2E6E-4614-8BCD-018A10734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133600"/>
            <a:ext cx="76200" cy="1524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4792" name="Rectangle 24">
            <a:extLst>
              <a:ext uri="{FF2B5EF4-FFF2-40B4-BE49-F238E27FC236}">
                <a16:creationId xmlns:a16="http://schemas.microsoft.com/office/drawing/2014/main" id="{85198EA4-4142-4AE5-B8E2-4D6F0BFEE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133600"/>
            <a:ext cx="76200" cy="1524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1061">
            <a:extLst>
              <a:ext uri="{FF2B5EF4-FFF2-40B4-BE49-F238E27FC236}">
                <a16:creationId xmlns:a16="http://schemas.microsoft.com/office/drawing/2014/main" id="{183EB4F6-652A-4367-8717-8E0C079DC2DD}"/>
              </a:ext>
            </a:extLst>
          </p:cNvPr>
          <p:cNvGrpSpPr>
            <a:grpSpLocks/>
          </p:cNvGrpSpPr>
          <p:nvPr/>
        </p:nvGrpSpPr>
        <p:grpSpPr bwMode="auto">
          <a:xfrm>
            <a:off x="3067050" y="2838450"/>
            <a:ext cx="304800" cy="200025"/>
            <a:chOff x="544" y="251"/>
            <a:chExt cx="32" cy="21"/>
          </a:xfrm>
        </p:grpSpPr>
        <p:sp>
          <p:nvSpPr>
            <p:cNvPr id="545830" name="Rectangle 1062">
              <a:extLst>
                <a:ext uri="{FF2B5EF4-FFF2-40B4-BE49-F238E27FC236}">
                  <a16:creationId xmlns:a16="http://schemas.microsoft.com/office/drawing/2014/main" id="{E6EBDC0A-EF88-400C-8280-2F705ED90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" y="255"/>
              <a:ext cx="32" cy="13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5831" name="AutoShape 1063">
              <a:extLst>
                <a:ext uri="{FF2B5EF4-FFF2-40B4-BE49-F238E27FC236}">
                  <a16:creationId xmlns:a16="http://schemas.microsoft.com/office/drawing/2014/main" id="{33943D90-D74E-4F70-8CC6-E1132D44D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251"/>
              <a:ext cx="20" cy="21"/>
            </a:xfrm>
            <a:prstGeom prst="flowChartSummingJunction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30723" name="Group 1064">
            <a:extLst>
              <a:ext uri="{FF2B5EF4-FFF2-40B4-BE49-F238E27FC236}">
                <a16:creationId xmlns:a16="http://schemas.microsoft.com/office/drawing/2014/main" id="{D0C63298-5A28-451E-825C-BD5F50B4B0B5}"/>
              </a:ext>
            </a:extLst>
          </p:cNvPr>
          <p:cNvGrpSpPr>
            <a:grpSpLocks/>
          </p:cNvGrpSpPr>
          <p:nvPr/>
        </p:nvGrpSpPr>
        <p:grpSpPr bwMode="auto">
          <a:xfrm>
            <a:off x="3371850" y="2838450"/>
            <a:ext cx="304800" cy="200025"/>
            <a:chOff x="544" y="251"/>
            <a:chExt cx="32" cy="21"/>
          </a:xfrm>
        </p:grpSpPr>
        <p:sp>
          <p:nvSpPr>
            <p:cNvPr id="545833" name="Rectangle 1065">
              <a:extLst>
                <a:ext uri="{FF2B5EF4-FFF2-40B4-BE49-F238E27FC236}">
                  <a16:creationId xmlns:a16="http://schemas.microsoft.com/office/drawing/2014/main" id="{A7E732A8-5731-47E8-B233-A623510C7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" y="255"/>
              <a:ext cx="32" cy="13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5834" name="AutoShape 1066">
              <a:extLst>
                <a:ext uri="{FF2B5EF4-FFF2-40B4-BE49-F238E27FC236}">
                  <a16:creationId xmlns:a16="http://schemas.microsoft.com/office/drawing/2014/main" id="{37B91C9D-4F74-42DB-B524-67A5CD709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251"/>
              <a:ext cx="20" cy="21"/>
            </a:xfrm>
            <a:prstGeom prst="flowChartSummingJunction">
              <a:avLst/>
            </a:prstGeom>
            <a:solidFill>
              <a:srgbClr val="969696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30724" name="Group 1067">
            <a:extLst>
              <a:ext uri="{FF2B5EF4-FFF2-40B4-BE49-F238E27FC236}">
                <a16:creationId xmlns:a16="http://schemas.microsoft.com/office/drawing/2014/main" id="{FA8C398C-256D-4F62-8307-CA754C07CE3A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657475"/>
            <a:ext cx="1362075" cy="542925"/>
            <a:chOff x="405" y="966"/>
            <a:chExt cx="143" cy="57"/>
          </a:xfrm>
        </p:grpSpPr>
        <p:grpSp>
          <p:nvGrpSpPr>
            <p:cNvPr id="30748" name="Group 1068">
              <a:extLst>
                <a:ext uri="{FF2B5EF4-FFF2-40B4-BE49-F238E27FC236}">
                  <a16:creationId xmlns:a16="http://schemas.microsoft.com/office/drawing/2014/main" id="{A63D5ECE-8D77-4A1A-8F6C-C1A6A97106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" y="966"/>
              <a:ext cx="143" cy="57"/>
              <a:chOff x="417" y="445"/>
              <a:chExt cx="107" cy="66"/>
            </a:xfrm>
          </p:grpSpPr>
          <p:sp>
            <p:nvSpPr>
              <p:cNvPr id="545837" name="Rectangle 1069">
                <a:extLst>
                  <a:ext uri="{FF2B5EF4-FFF2-40B4-BE49-F238E27FC236}">
                    <a16:creationId xmlns:a16="http://schemas.microsoft.com/office/drawing/2014/main" id="{13C08BF2-DEB9-45B1-BAFA-05A11A1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25" y="454"/>
                <a:ext cx="91" cy="57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5838" name="Rectangle 1070">
                <a:extLst>
                  <a:ext uri="{FF2B5EF4-FFF2-40B4-BE49-F238E27FC236}">
                    <a16:creationId xmlns:a16="http://schemas.microsoft.com/office/drawing/2014/main" id="{AABC2B4A-381F-4E35-B0F3-607C3509A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17" y="445"/>
                <a:ext cx="107" cy="10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30749" name="Group 1071">
              <a:extLst>
                <a:ext uri="{FF2B5EF4-FFF2-40B4-BE49-F238E27FC236}">
                  <a16:creationId xmlns:a16="http://schemas.microsoft.com/office/drawing/2014/main" id="{38A1E5B2-AF15-4151-9AEF-D0966EBF09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" y="966"/>
              <a:ext cx="106" cy="57"/>
              <a:chOff x="424" y="966"/>
              <a:chExt cx="106" cy="57"/>
            </a:xfrm>
          </p:grpSpPr>
          <p:sp>
            <p:nvSpPr>
              <p:cNvPr id="545840" name="AutoShape 1072">
                <a:extLst>
                  <a:ext uri="{FF2B5EF4-FFF2-40B4-BE49-F238E27FC236}">
                    <a16:creationId xmlns:a16="http://schemas.microsoft.com/office/drawing/2014/main" id="{AE4D7441-2AD1-493C-BB34-1B5B9FBAF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" y="966"/>
                <a:ext cx="99" cy="43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5841" name="Rectangle 1073">
                <a:extLst>
                  <a:ext uri="{FF2B5EF4-FFF2-40B4-BE49-F238E27FC236}">
                    <a16:creationId xmlns:a16="http://schemas.microsoft.com/office/drawing/2014/main" id="{1D4E4BEA-166B-40BD-BBA4-5A99D48C93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" y="998"/>
                <a:ext cx="106" cy="2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5842" name="Rectangle 1074">
                <a:extLst>
                  <a:ext uri="{FF2B5EF4-FFF2-40B4-BE49-F238E27FC236}">
                    <a16:creationId xmlns:a16="http://schemas.microsoft.com/office/drawing/2014/main" id="{21462E10-47A3-45EF-AB9F-2DCB73CDF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" y="989"/>
                <a:ext cx="60" cy="20"/>
              </a:xfrm>
              <a:prstGeom prst="rect">
                <a:avLst/>
              </a:prstGeom>
              <a:solidFill>
                <a:srgbClr val="FFFFFF"/>
              </a:solidFill>
              <a:ln w="1905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</p:grpSp>
      <p:sp>
        <p:nvSpPr>
          <p:cNvPr id="545827" name="Rectangle 1059" descr="Divot">
            <a:extLst>
              <a:ext uri="{FF2B5EF4-FFF2-40B4-BE49-F238E27FC236}">
                <a16:creationId xmlns:a16="http://schemas.microsoft.com/office/drawing/2014/main" id="{A9EE0D4E-FD27-4B43-B68E-4A3DC72BB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28" name="Rectangle 1060" descr="Divot">
            <a:extLst>
              <a:ext uri="{FF2B5EF4-FFF2-40B4-BE49-F238E27FC236}">
                <a16:creationId xmlns:a16="http://schemas.microsoft.com/office/drawing/2014/main" id="{37C7E7B5-6511-48F4-B032-FFFA06CAC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25" name="Rectangle 1057" descr="Divot">
            <a:extLst>
              <a:ext uri="{FF2B5EF4-FFF2-40B4-BE49-F238E27FC236}">
                <a16:creationId xmlns:a16="http://schemas.microsoft.com/office/drawing/2014/main" id="{9F85F374-46DB-4566-8D9D-84F539C6D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26" name="Rectangle 1058" descr="Divot">
            <a:extLst>
              <a:ext uri="{FF2B5EF4-FFF2-40B4-BE49-F238E27FC236}">
                <a16:creationId xmlns:a16="http://schemas.microsoft.com/office/drawing/2014/main" id="{B92F3F9F-331C-403F-A97A-DF3E08FA1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0729" name="Rectangle 1031">
            <a:extLst>
              <a:ext uri="{FF2B5EF4-FFF2-40B4-BE49-F238E27FC236}">
                <a16:creationId xmlns:a16="http://schemas.microsoft.com/office/drawing/2014/main" id="{FB5FA21C-2061-4BAD-8762-71C1CC66C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Surface</a:t>
            </a:r>
          </a:p>
        </p:txBody>
      </p:sp>
      <p:sp>
        <p:nvSpPr>
          <p:cNvPr id="30730" name="Rectangle 1032">
            <a:extLst>
              <a:ext uri="{FF2B5EF4-FFF2-40B4-BE49-F238E27FC236}">
                <a16:creationId xmlns:a16="http://schemas.microsoft.com/office/drawing/2014/main" id="{B344FB1B-6600-4D10-B210-089E8ABDEE2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Ready for next Wellhead section</a:t>
            </a:r>
          </a:p>
          <a:p>
            <a:endParaRPr lang="en-US" altLang="en-US" sz="2400"/>
          </a:p>
        </p:txBody>
      </p:sp>
      <p:sp>
        <p:nvSpPr>
          <p:cNvPr id="545801" name="Line 1033">
            <a:extLst>
              <a:ext uri="{FF2B5EF4-FFF2-40B4-BE49-F238E27FC236}">
                <a16:creationId xmlns:a16="http://schemas.microsoft.com/office/drawing/2014/main" id="{1A946837-D2EB-4B42-9529-358986EA57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02" name="Line 1034">
            <a:extLst>
              <a:ext uri="{FF2B5EF4-FFF2-40B4-BE49-F238E27FC236}">
                <a16:creationId xmlns:a16="http://schemas.microsoft.com/office/drawing/2014/main" id="{E9320CDA-5FAB-4743-B7FD-087590AFA7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03" name="Line 1035">
            <a:extLst>
              <a:ext uri="{FF2B5EF4-FFF2-40B4-BE49-F238E27FC236}">
                <a16:creationId xmlns:a16="http://schemas.microsoft.com/office/drawing/2014/main" id="{5F380324-7E84-43BB-88C2-4D928E416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04" name="Line 1036">
            <a:extLst>
              <a:ext uri="{FF2B5EF4-FFF2-40B4-BE49-F238E27FC236}">
                <a16:creationId xmlns:a16="http://schemas.microsoft.com/office/drawing/2014/main" id="{4A226AE0-2319-4893-9B39-4D0AD5D66B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05" name="AutoShape 1037">
            <a:extLst>
              <a:ext uri="{FF2B5EF4-FFF2-40B4-BE49-F238E27FC236}">
                <a16:creationId xmlns:a16="http://schemas.microsoft.com/office/drawing/2014/main" id="{562691C0-CD40-4839-BC0B-1257D1218DA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06" name="AutoShape 1038">
            <a:extLst>
              <a:ext uri="{FF2B5EF4-FFF2-40B4-BE49-F238E27FC236}">
                <a16:creationId xmlns:a16="http://schemas.microsoft.com/office/drawing/2014/main" id="{B01CC0D5-18DD-41F3-ABAF-6EEC8EF7BA8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07" name="AutoShape 1039">
            <a:extLst>
              <a:ext uri="{FF2B5EF4-FFF2-40B4-BE49-F238E27FC236}">
                <a16:creationId xmlns:a16="http://schemas.microsoft.com/office/drawing/2014/main" id="{7EC3DECC-97B6-445C-9B77-CE35F0A4778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08" name="AutoShape 1040">
            <a:extLst>
              <a:ext uri="{FF2B5EF4-FFF2-40B4-BE49-F238E27FC236}">
                <a16:creationId xmlns:a16="http://schemas.microsoft.com/office/drawing/2014/main" id="{5DF31DF1-03BB-4B1B-9350-3FE3180BA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09" name="AutoShape 1041">
            <a:extLst>
              <a:ext uri="{FF2B5EF4-FFF2-40B4-BE49-F238E27FC236}">
                <a16:creationId xmlns:a16="http://schemas.microsoft.com/office/drawing/2014/main" id="{9CB5DEF8-8FC0-4B34-A082-6C99937A9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10" name="AutoShape 1042">
            <a:extLst>
              <a:ext uri="{FF2B5EF4-FFF2-40B4-BE49-F238E27FC236}">
                <a16:creationId xmlns:a16="http://schemas.microsoft.com/office/drawing/2014/main" id="{885DEC90-8D35-4022-9A27-D4AC7ECED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13" name="AutoShape 1045">
            <a:extLst>
              <a:ext uri="{FF2B5EF4-FFF2-40B4-BE49-F238E27FC236}">
                <a16:creationId xmlns:a16="http://schemas.microsoft.com/office/drawing/2014/main" id="{FA0590EE-3305-49F5-9A99-DE656C4222EF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2057400" y="2667000"/>
            <a:ext cx="152400" cy="381000"/>
          </a:xfrm>
          <a:prstGeom prst="rtTriangle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14" name="AutoShape 1046">
            <a:extLst>
              <a:ext uri="{FF2B5EF4-FFF2-40B4-BE49-F238E27FC236}">
                <a16:creationId xmlns:a16="http://schemas.microsoft.com/office/drawing/2014/main" id="{3464712B-EFB8-4465-A428-804C012AB2E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819400" y="2667000"/>
            <a:ext cx="152400" cy="381000"/>
          </a:xfrm>
          <a:prstGeom prst="rtTriangle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15" name="Rectangle 1047">
            <a:extLst>
              <a:ext uri="{FF2B5EF4-FFF2-40B4-BE49-F238E27FC236}">
                <a16:creationId xmlns:a16="http://schemas.microsoft.com/office/drawing/2014/main" id="{FCC75997-4C9C-4DDC-A5C0-36A9BDA34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514600"/>
            <a:ext cx="76200" cy="1524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5816" name="Rectangle 1048">
            <a:extLst>
              <a:ext uri="{FF2B5EF4-FFF2-40B4-BE49-F238E27FC236}">
                <a16:creationId xmlns:a16="http://schemas.microsoft.com/office/drawing/2014/main" id="{459CDAF6-62D5-4C4D-ACBA-E00468747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514600"/>
            <a:ext cx="76200" cy="1524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0745" name="Group 1075">
            <a:extLst>
              <a:ext uri="{FF2B5EF4-FFF2-40B4-BE49-F238E27FC236}">
                <a16:creationId xmlns:a16="http://schemas.microsoft.com/office/drawing/2014/main" id="{331DC8A4-18ED-4B3D-B82A-0DA0BF034608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514600"/>
            <a:ext cx="609600" cy="2819400"/>
            <a:chOff x="432" y="1632"/>
            <a:chExt cx="384" cy="1728"/>
          </a:xfrm>
        </p:grpSpPr>
        <p:sp>
          <p:nvSpPr>
            <p:cNvPr id="545811" name="Line 1043">
              <a:extLst>
                <a:ext uri="{FF2B5EF4-FFF2-40B4-BE49-F238E27FC236}">
                  <a16:creationId xmlns:a16="http://schemas.microsoft.com/office/drawing/2014/main" id="{E583F35F-5471-4F92-8FAE-0C27BF83A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5812" name="Line 1044">
              <a:extLst>
                <a:ext uri="{FF2B5EF4-FFF2-40B4-BE49-F238E27FC236}">
                  <a16:creationId xmlns:a16="http://schemas.microsoft.com/office/drawing/2014/main" id="{9C2AAC3A-C8E2-494A-B02E-F3B14BC8E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121">
            <a:extLst>
              <a:ext uri="{FF2B5EF4-FFF2-40B4-BE49-F238E27FC236}">
                <a16:creationId xmlns:a16="http://schemas.microsoft.com/office/drawing/2014/main" id="{256A1B96-662E-46F4-90EA-E2CE219A9259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105025"/>
            <a:ext cx="1800225" cy="1095375"/>
            <a:chOff x="192" y="1326"/>
            <a:chExt cx="1134" cy="690"/>
          </a:xfrm>
        </p:grpSpPr>
        <p:grpSp>
          <p:nvGrpSpPr>
            <p:cNvPr id="31767" name="Group 122">
              <a:extLst>
                <a:ext uri="{FF2B5EF4-FFF2-40B4-BE49-F238E27FC236}">
                  <a16:creationId xmlns:a16="http://schemas.microsoft.com/office/drawing/2014/main" id="{D670A758-7835-4246-9B2E-A305ADCCF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" y="1428"/>
              <a:ext cx="192" cy="126"/>
              <a:chOff x="544" y="251"/>
              <a:chExt cx="32" cy="21"/>
            </a:xfrm>
          </p:grpSpPr>
          <p:sp>
            <p:nvSpPr>
              <p:cNvPr id="539771" name="Rectangle 123">
                <a:extLst>
                  <a:ext uri="{FF2B5EF4-FFF2-40B4-BE49-F238E27FC236}">
                    <a16:creationId xmlns:a16="http://schemas.microsoft.com/office/drawing/2014/main" id="{521E179D-22B9-49D1-BDB8-37C2A48B46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255"/>
                <a:ext cx="32" cy="13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9772" name="AutoShape 124">
                <a:extLst>
                  <a:ext uri="{FF2B5EF4-FFF2-40B4-BE49-F238E27FC236}">
                    <a16:creationId xmlns:a16="http://schemas.microsoft.com/office/drawing/2014/main" id="{6ADC67EA-842B-4709-B3DA-813E03F0C0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251"/>
                <a:ext cx="20" cy="21"/>
              </a:xfrm>
              <a:prstGeom prst="flowChartSummingJunction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31768" name="Group 125">
              <a:extLst>
                <a:ext uri="{FF2B5EF4-FFF2-40B4-BE49-F238E27FC236}">
                  <a16:creationId xmlns:a16="http://schemas.microsoft.com/office/drawing/2014/main" id="{5EEBB93E-ABE9-42F4-80C8-44F4BA7154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4" y="1428"/>
              <a:ext cx="192" cy="126"/>
              <a:chOff x="544" y="251"/>
              <a:chExt cx="32" cy="21"/>
            </a:xfrm>
          </p:grpSpPr>
          <p:sp>
            <p:nvSpPr>
              <p:cNvPr id="539774" name="Rectangle 126">
                <a:extLst>
                  <a:ext uri="{FF2B5EF4-FFF2-40B4-BE49-F238E27FC236}">
                    <a16:creationId xmlns:a16="http://schemas.microsoft.com/office/drawing/2014/main" id="{24C4241F-EFF6-4E29-BAC9-0D36DA788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255"/>
                <a:ext cx="32" cy="13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9775" name="AutoShape 127">
                <a:extLst>
                  <a:ext uri="{FF2B5EF4-FFF2-40B4-BE49-F238E27FC236}">
                    <a16:creationId xmlns:a16="http://schemas.microsoft.com/office/drawing/2014/main" id="{6EE5E0E5-E39A-4734-8A9A-6FB90EA17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251"/>
                <a:ext cx="20" cy="21"/>
              </a:xfrm>
              <a:prstGeom prst="flowChartSummingJunction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31769" name="Group 128">
              <a:extLst>
                <a:ext uri="{FF2B5EF4-FFF2-40B4-BE49-F238E27FC236}">
                  <a16:creationId xmlns:a16="http://schemas.microsoft.com/office/drawing/2014/main" id="{AC6ECE41-7389-411A-AEE6-CA45B065F0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326"/>
              <a:ext cx="858" cy="354"/>
              <a:chOff x="405" y="908"/>
              <a:chExt cx="143" cy="59"/>
            </a:xfrm>
          </p:grpSpPr>
          <p:grpSp>
            <p:nvGrpSpPr>
              <p:cNvPr id="31786" name="Group 129">
                <a:extLst>
                  <a:ext uri="{FF2B5EF4-FFF2-40B4-BE49-F238E27FC236}">
                    <a16:creationId xmlns:a16="http://schemas.microsoft.com/office/drawing/2014/main" id="{692E65E1-CC5A-4D33-BD42-8F87B19E18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" y="908"/>
                <a:ext cx="143" cy="59"/>
                <a:chOff x="417" y="359"/>
                <a:chExt cx="107" cy="70"/>
              </a:xfrm>
            </p:grpSpPr>
            <p:sp>
              <p:nvSpPr>
                <p:cNvPr id="539778" name="Rectangle 130">
                  <a:extLst>
                    <a:ext uri="{FF2B5EF4-FFF2-40B4-BE49-F238E27FC236}">
                      <a16:creationId xmlns:a16="http://schemas.microsoft.com/office/drawing/2014/main" id="{1B1076F3-2208-4159-B8BC-82E25B8D3B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7" y="419"/>
                  <a:ext cx="107" cy="10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9779" name="Rectangle 131">
                  <a:extLst>
                    <a:ext uri="{FF2B5EF4-FFF2-40B4-BE49-F238E27FC236}">
                      <a16:creationId xmlns:a16="http://schemas.microsoft.com/office/drawing/2014/main" id="{207345A2-70B4-457F-918F-5BBAB706A4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9" y="368"/>
                  <a:ext cx="83" cy="51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9780" name="Rectangle 132">
                  <a:extLst>
                    <a:ext uri="{FF2B5EF4-FFF2-40B4-BE49-F238E27FC236}">
                      <a16:creationId xmlns:a16="http://schemas.microsoft.com/office/drawing/2014/main" id="{66E02AEB-F881-4A61-99E1-421E96FE44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3" y="359"/>
                  <a:ext cx="96" cy="10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1787" name="Group 133">
                <a:extLst>
                  <a:ext uri="{FF2B5EF4-FFF2-40B4-BE49-F238E27FC236}">
                    <a16:creationId xmlns:a16="http://schemas.microsoft.com/office/drawing/2014/main" id="{B3ED3C7F-FBA8-442C-AB3D-D6F867AEE3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4" y="908"/>
                <a:ext cx="86" cy="59"/>
                <a:chOff x="432" y="908"/>
                <a:chExt cx="89" cy="59"/>
              </a:xfrm>
            </p:grpSpPr>
            <p:sp>
              <p:nvSpPr>
                <p:cNvPr id="539782" name="AutoShape 134">
                  <a:extLst>
                    <a:ext uri="{FF2B5EF4-FFF2-40B4-BE49-F238E27FC236}">
                      <a16:creationId xmlns:a16="http://schemas.microsoft.com/office/drawing/2014/main" id="{903EA544-ADAD-4B15-B3AF-DF36FFFB1D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" y="908"/>
                  <a:ext cx="89" cy="42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9783" name="Rectangle 135">
                  <a:extLst>
                    <a:ext uri="{FF2B5EF4-FFF2-40B4-BE49-F238E27FC236}">
                      <a16:creationId xmlns:a16="http://schemas.microsoft.com/office/drawing/2014/main" id="{F89F840F-0E33-4E6B-A4B4-657B405B5B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5" y="947"/>
                  <a:ext cx="84" cy="2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9784" name="Rectangle 136">
                  <a:extLst>
                    <a:ext uri="{FF2B5EF4-FFF2-40B4-BE49-F238E27FC236}">
                      <a16:creationId xmlns:a16="http://schemas.microsoft.com/office/drawing/2014/main" id="{210F05B5-569E-495B-88E9-B8835A352B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3" y="931"/>
                  <a:ext cx="47" cy="19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</p:grpSp>
        <p:grpSp>
          <p:nvGrpSpPr>
            <p:cNvPr id="31770" name="Group 137">
              <a:extLst>
                <a:ext uri="{FF2B5EF4-FFF2-40B4-BE49-F238E27FC236}">
                  <a16:creationId xmlns:a16="http://schemas.microsoft.com/office/drawing/2014/main" id="{B93E476C-28AB-4278-A1F9-F6FF3B3787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2" y="1746"/>
              <a:ext cx="192" cy="126"/>
              <a:chOff x="544" y="251"/>
              <a:chExt cx="32" cy="21"/>
            </a:xfrm>
          </p:grpSpPr>
          <p:sp>
            <p:nvSpPr>
              <p:cNvPr id="539786" name="Rectangle 138">
                <a:extLst>
                  <a:ext uri="{FF2B5EF4-FFF2-40B4-BE49-F238E27FC236}">
                    <a16:creationId xmlns:a16="http://schemas.microsoft.com/office/drawing/2014/main" id="{795E4C8F-5944-4EDD-909D-ED2E7401A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255"/>
                <a:ext cx="32" cy="13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9787" name="AutoShape 139">
                <a:extLst>
                  <a:ext uri="{FF2B5EF4-FFF2-40B4-BE49-F238E27FC236}">
                    <a16:creationId xmlns:a16="http://schemas.microsoft.com/office/drawing/2014/main" id="{03E01120-5F45-41D4-93DF-72A94CD0D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251"/>
                <a:ext cx="20" cy="21"/>
              </a:xfrm>
              <a:prstGeom prst="flowChartSummingJunction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31771" name="Group 140">
              <a:extLst>
                <a:ext uri="{FF2B5EF4-FFF2-40B4-BE49-F238E27FC236}">
                  <a16:creationId xmlns:a16="http://schemas.microsoft.com/office/drawing/2014/main" id="{6401AB9B-C8A7-49D8-8F8D-145BDB8B17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674"/>
              <a:ext cx="858" cy="342"/>
              <a:chOff x="405" y="966"/>
              <a:chExt cx="143" cy="57"/>
            </a:xfrm>
          </p:grpSpPr>
          <p:grpSp>
            <p:nvGrpSpPr>
              <p:cNvPr id="31777" name="Group 141">
                <a:extLst>
                  <a:ext uri="{FF2B5EF4-FFF2-40B4-BE49-F238E27FC236}">
                    <a16:creationId xmlns:a16="http://schemas.microsoft.com/office/drawing/2014/main" id="{94C71C80-5786-4062-9F46-B0C2006714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" y="966"/>
                <a:ext cx="143" cy="57"/>
                <a:chOff x="417" y="445"/>
                <a:chExt cx="107" cy="66"/>
              </a:xfrm>
            </p:grpSpPr>
            <p:sp>
              <p:nvSpPr>
                <p:cNvPr id="539790" name="Rectangle 142">
                  <a:extLst>
                    <a:ext uri="{FF2B5EF4-FFF2-40B4-BE49-F238E27FC236}">
                      <a16:creationId xmlns:a16="http://schemas.microsoft.com/office/drawing/2014/main" id="{66FDDA61-8393-4188-8D56-135EF9AC85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5" y="454"/>
                  <a:ext cx="91" cy="57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9791" name="Rectangle 143">
                  <a:extLst>
                    <a:ext uri="{FF2B5EF4-FFF2-40B4-BE49-F238E27FC236}">
                      <a16:creationId xmlns:a16="http://schemas.microsoft.com/office/drawing/2014/main" id="{82527EF9-D3C3-4798-BDCB-4B983A4FA8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7" y="445"/>
                  <a:ext cx="107" cy="10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1778" name="Group 144">
                <a:extLst>
                  <a:ext uri="{FF2B5EF4-FFF2-40B4-BE49-F238E27FC236}">
                    <a16:creationId xmlns:a16="http://schemas.microsoft.com/office/drawing/2014/main" id="{67C8127F-9EE7-4302-B1DC-F11B7273F0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4" y="966"/>
                <a:ext cx="106" cy="57"/>
                <a:chOff x="424" y="966"/>
                <a:chExt cx="106" cy="57"/>
              </a:xfrm>
            </p:grpSpPr>
            <p:sp>
              <p:nvSpPr>
                <p:cNvPr id="539793" name="AutoShape 145">
                  <a:extLst>
                    <a:ext uri="{FF2B5EF4-FFF2-40B4-BE49-F238E27FC236}">
                      <a16:creationId xmlns:a16="http://schemas.microsoft.com/office/drawing/2014/main" id="{9745E285-5491-4535-B337-59BCDD5D5F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7" y="966"/>
                  <a:ext cx="99" cy="43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9794" name="Rectangle 146">
                  <a:extLst>
                    <a:ext uri="{FF2B5EF4-FFF2-40B4-BE49-F238E27FC236}">
                      <a16:creationId xmlns:a16="http://schemas.microsoft.com/office/drawing/2014/main" id="{93740F34-1410-47A0-A96D-E90C06D411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4" y="998"/>
                  <a:ext cx="106" cy="2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9795" name="Rectangle 147">
                  <a:extLst>
                    <a:ext uri="{FF2B5EF4-FFF2-40B4-BE49-F238E27FC236}">
                      <a16:creationId xmlns:a16="http://schemas.microsoft.com/office/drawing/2014/main" id="{9C0C88CA-367E-4261-91CE-6879B3F6C8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7" y="989"/>
                  <a:ext cx="60" cy="2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</p:grpSp>
        <p:grpSp>
          <p:nvGrpSpPr>
            <p:cNvPr id="31772" name="Group 148">
              <a:extLst>
                <a:ext uri="{FF2B5EF4-FFF2-40B4-BE49-F238E27FC236}">
                  <a16:creationId xmlns:a16="http://schemas.microsoft.com/office/drawing/2014/main" id="{4260D771-8D72-42C5-B2E8-A75FD8C6EC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584"/>
              <a:ext cx="576" cy="336"/>
              <a:chOff x="336" y="1632"/>
              <a:chExt cx="576" cy="336"/>
            </a:xfrm>
          </p:grpSpPr>
          <p:sp>
            <p:nvSpPr>
              <p:cNvPr id="539797" name="AutoShape 149">
                <a:extLst>
                  <a:ext uri="{FF2B5EF4-FFF2-40B4-BE49-F238E27FC236}">
                    <a16:creationId xmlns:a16="http://schemas.microsoft.com/office/drawing/2014/main" id="{6AB967FF-CE9E-469C-BC8E-8ED579028C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336" y="1728"/>
                <a:ext cx="96" cy="240"/>
              </a:xfrm>
              <a:prstGeom prst="rtTriangle">
                <a:avLst/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9798" name="AutoShape 150">
                <a:extLst>
                  <a:ext uri="{FF2B5EF4-FFF2-40B4-BE49-F238E27FC236}">
                    <a16:creationId xmlns:a16="http://schemas.microsoft.com/office/drawing/2014/main" id="{BAA0CCDB-4663-4F31-AC65-F8930EA3C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816" y="1728"/>
                <a:ext cx="96" cy="240"/>
              </a:xfrm>
              <a:prstGeom prst="rtTriangle">
                <a:avLst/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9799" name="Rectangle 151">
                <a:extLst>
                  <a:ext uri="{FF2B5EF4-FFF2-40B4-BE49-F238E27FC236}">
                    <a16:creationId xmlns:a16="http://schemas.microsoft.com/office/drawing/2014/main" id="{573A7DBE-60BA-46C5-8DC0-2DE1F664F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632"/>
                <a:ext cx="48" cy="96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9800" name="Rectangle 152">
                <a:extLst>
                  <a:ext uri="{FF2B5EF4-FFF2-40B4-BE49-F238E27FC236}">
                    <a16:creationId xmlns:a16="http://schemas.microsoft.com/office/drawing/2014/main" id="{5DA190FF-D028-4911-9C5D-90B10D090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632"/>
                <a:ext cx="48" cy="96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</p:grpSp>
      <p:sp>
        <p:nvSpPr>
          <p:cNvPr id="539690" name="Rectangle 42" descr="Divot">
            <a:extLst>
              <a:ext uri="{FF2B5EF4-FFF2-40B4-BE49-F238E27FC236}">
                <a16:creationId xmlns:a16="http://schemas.microsoft.com/office/drawing/2014/main" id="{1F8A57E6-E0E1-434B-9E47-80DD18938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9691" name="Rectangle 43" descr="Divot">
            <a:extLst>
              <a:ext uri="{FF2B5EF4-FFF2-40B4-BE49-F238E27FC236}">
                <a16:creationId xmlns:a16="http://schemas.microsoft.com/office/drawing/2014/main" id="{1A823BFD-8EB9-460B-9A7F-A149E57C7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9686" name="Rectangle 38" descr="Divot">
            <a:extLst>
              <a:ext uri="{FF2B5EF4-FFF2-40B4-BE49-F238E27FC236}">
                <a16:creationId xmlns:a16="http://schemas.microsoft.com/office/drawing/2014/main" id="{7DE991DB-8001-4FEA-B29E-5FB54E97C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9687" name="Rectangle 39" descr="Divot">
            <a:extLst>
              <a:ext uri="{FF2B5EF4-FFF2-40B4-BE49-F238E27FC236}">
                <a16:creationId xmlns:a16="http://schemas.microsoft.com/office/drawing/2014/main" id="{26538B64-A07F-43A8-B690-F9A9E58A8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2E9A772E-47A5-4445-9CC7-0A504330DE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Surface </a:t>
            </a:r>
          </a:p>
        </p:txBody>
      </p:sp>
      <p:sp>
        <p:nvSpPr>
          <p:cNvPr id="31752" name="Rectangle 8">
            <a:extLst>
              <a:ext uri="{FF2B5EF4-FFF2-40B4-BE49-F238E27FC236}">
                <a16:creationId xmlns:a16="http://schemas.microsoft.com/office/drawing/2014/main" id="{D98C8F66-A308-44F6-9DEA-5B84A8A0567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Install “B” section</a:t>
            </a:r>
          </a:p>
          <a:p>
            <a:r>
              <a:rPr lang="en-US" altLang="en-US" sz="2400"/>
              <a:t>Test void section between “A” and “B” sections:</a:t>
            </a:r>
          </a:p>
          <a:p>
            <a:pPr lvl="1"/>
            <a:r>
              <a:rPr lang="en-US" altLang="en-US" sz="2000"/>
              <a:t>Do not exceed 80% of burst for Conductor</a:t>
            </a:r>
          </a:p>
          <a:p>
            <a:pPr lvl="1"/>
            <a:r>
              <a:rPr lang="en-US" altLang="en-US" sz="2000"/>
              <a:t>Do not exceed 80% of collapse for Surface</a:t>
            </a:r>
          </a:p>
          <a:p>
            <a:r>
              <a:rPr lang="en-US" altLang="en-US" sz="2400"/>
              <a:t>Install BOP’s</a:t>
            </a:r>
          </a:p>
          <a:p>
            <a:r>
              <a:rPr lang="en-US" altLang="en-US" sz="2400"/>
              <a:t>Drill Next Hole</a:t>
            </a:r>
          </a:p>
        </p:txBody>
      </p:sp>
      <p:sp>
        <p:nvSpPr>
          <p:cNvPr id="539657" name="Line 9">
            <a:extLst>
              <a:ext uri="{FF2B5EF4-FFF2-40B4-BE49-F238E27FC236}">
                <a16:creationId xmlns:a16="http://schemas.microsoft.com/office/drawing/2014/main" id="{E5069CA0-F554-4E24-8C2D-B248647EF8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9658" name="Line 10">
            <a:extLst>
              <a:ext uri="{FF2B5EF4-FFF2-40B4-BE49-F238E27FC236}">
                <a16:creationId xmlns:a16="http://schemas.microsoft.com/office/drawing/2014/main" id="{BB9C4555-710C-47DB-9C8D-4243C94AF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9659" name="Line 11">
            <a:extLst>
              <a:ext uri="{FF2B5EF4-FFF2-40B4-BE49-F238E27FC236}">
                <a16:creationId xmlns:a16="http://schemas.microsoft.com/office/drawing/2014/main" id="{817109EC-D8BF-43C2-BF8C-D7B566F991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9660" name="Line 12">
            <a:extLst>
              <a:ext uri="{FF2B5EF4-FFF2-40B4-BE49-F238E27FC236}">
                <a16:creationId xmlns:a16="http://schemas.microsoft.com/office/drawing/2014/main" id="{563873C5-794B-4208-A34E-5025EBDC25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9661" name="AutoShape 13">
            <a:extLst>
              <a:ext uri="{FF2B5EF4-FFF2-40B4-BE49-F238E27FC236}">
                <a16:creationId xmlns:a16="http://schemas.microsoft.com/office/drawing/2014/main" id="{91E66C38-8DF5-4ABE-8EA8-92298692085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9662" name="AutoShape 14">
            <a:extLst>
              <a:ext uri="{FF2B5EF4-FFF2-40B4-BE49-F238E27FC236}">
                <a16:creationId xmlns:a16="http://schemas.microsoft.com/office/drawing/2014/main" id="{8B582CC4-546E-49ED-9936-D6FEE6FAA15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9663" name="AutoShape 15">
            <a:extLst>
              <a:ext uri="{FF2B5EF4-FFF2-40B4-BE49-F238E27FC236}">
                <a16:creationId xmlns:a16="http://schemas.microsoft.com/office/drawing/2014/main" id="{F243B538-DE6F-45AA-A2A3-DF6BA363C40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9666" name="AutoShape 18">
            <a:extLst>
              <a:ext uri="{FF2B5EF4-FFF2-40B4-BE49-F238E27FC236}">
                <a16:creationId xmlns:a16="http://schemas.microsoft.com/office/drawing/2014/main" id="{ABA970A9-9C32-4B23-AFFA-3726AB0A0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9667" name="AutoShape 19">
            <a:extLst>
              <a:ext uri="{FF2B5EF4-FFF2-40B4-BE49-F238E27FC236}">
                <a16:creationId xmlns:a16="http://schemas.microsoft.com/office/drawing/2014/main" id="{8B010F4E-2D16-40CA-B199-F30A04EEC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9668" name="AutoShape 20">
            <a:extLst>
              <a:ext uri="{FF2B5EF4-FFF2-40B4-BE49-F238E27FC236}">
                <a16:creationId xmlns:a16="http://schemas.microsoft.com/office/drawing/2014/main" id="{8DD0E7D8-5575-4799-8BAC-DFEA3E416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1763" name="Group 58">
            <a:extLst>
              <a:ext uri="{FF2B5EF4-FFF2-40B4-BE49-F238E27FC236}">
                <a16:creationId xmlns:a16="http://schemas.microsoft.com/office/drawing/2014/main" id="{FA119EE0-2863-4CBE-BD65-946D9FDB3813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514600"/>
            <a:ext cx="609600" cy="2819400"/>
            <a:chOff x="432" y="1632"/>
            <a:chExt cx="384" cy="1728"/>
          </a:xfrm>
        </p:grpSpPr>
        <p:sp>
          <p:nvSpPr>
            <p:cNvPr id="539673" name="Line 25">
              <a:extLst>
                <a:ext uri="{FF2B5EF4-FFF2-40B4-BE49-F238E27FC236}">
                  <a16:creationId xmlns:a16="http://schemas.microsoft.com/office/drawing/2014/main" id="{6B602C7D-0B84-417C-8BBF-28F0ADBABC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39674" name="Line 26">
              <a:extLst>
                <a:ext uri="{FF2B5EF4-FFF2-40B4-BE49-F238E27FC236}">
                  <a16:creationId xmlns:a16="http://schemas.microsoft.com/office/drawing/2014/main" id="{0E5B2C37-3D14-4A17-A525-0A3C4EB44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539801" name="Freeform 153">
            <a:extLst>
              <a:ext uri="{FF2B5EF4-FFF2-40B4-BE49-F238E27FC236}">
                <a16:creationId xmlns:a16="http://schemas.microsoft.com/office/drawing/2014/main" id="{50D94713-9BBC-4E57-8A7E-0350B957DD20}"/>
              </a:ext>
            </a:extLst>
          </p:cNvPr>
          <p:cNvSpPr>
            <a:spLocks/>
          </p:cNvSpPr>
          <p:nvPr/>
        </p:nvSpPr>
        <p:spPr bwMode="auto">
          <a:xfrm>
            <a:off x="2133600" y="5334000"/>
            <a:ext cx="762000" cy="1219200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0" y="192"/>
              </a:cxn>
              <a:cxn ang="0">
                <a:pos x="48" y="336"/>
              </a:cxn>
              <a:cxn ang="0">
                <a:pos x="48" y="432"/>
              </a:cxn>
              <a:cxn ang="0">
                <a:pos x="0" y="528"/>
              </a:cxn>
              <a:cxn ang="0">
                <a:pos x="48" y="576"/>
              </a:cxn>
              <a:cxn ang="0">
                <a:pos x="48" y="672"/>
              </a:cxn>
              <a:cxn ang="0">
                <a:pos x="144" y="672"/>
              </a:cxn>
              <a:cxn ang="0">
                <a:pos x="288" y="672"/>
              </a:cxn>
              <a:cxn ang="0">
                <a:pos x="336" y="720"/>
              </a:cxn>
              <a:cxn ang="0">
                <a:pos x="480" y="720"/>
              </a:cxn>
              <a:cxn ang="0">
                <a:pos x="576" y="672"/>
              </a:cxn>
              <a:cxn ang="0">
                <a:pos x="672" y="672"/>
              </a:cxn>
              <a:cxn ang="0">
                <a:pos x="768" y="768"/>
              </a:cxn>
              <a:cxn ang="0">
                <a:pos x="864" y="672"/>
              </a:cxn>
              <a:cxn ang="0">
                <a:pos x="864" y="528"/>
              </a:cxn>
              <a:cxn ang="0">
                <a:pos x="816" y="384"/>
              </a:cxn>
              <a:cxn ang="0">
                <a:pos x="816" y="288"/>
              </a:cxn>
              <a:cxn ang="0">
                <a:pos x="864" y="144"/>
              </a:cxn>
              <a:cxn ang="0">
                <a:pos x="816" y="0"/>
              </a:cxn>
            </a:cxnLst>
            <a:rect l="0" t="0" r="r" b="b"/>
            <a:pathLst>
              <a:path w="880" h="768">
                <a:moveTo>
                  <a:pt x="48" y="0"/>
                </a:moveTo>
                <a:cubicBezTo>
                  <a:pt x="24" y="68"/>
                  <a:pt x="0" y="136"/>
                  <a:pt x="0" y="192"/>
                </a:cubicBezTo>
                <a:cubicBezTo>
                  <a:pt x="0" y="248"/>
                  <a:pt x="40" y="296"/>
                  <a:pt x="48" y="336"/>
                </a:cubicBezTo>
                <a:cubicBezTo>
                  <a:pt x="56" y="376"/>
                  <a:pt x="56" y="400"/>
                  <a:pt x="48" y="432"/>
                </a:cubicBezTo>
                <a:cubicBezTo>
                  <a:pt x="40" y="464"/>
                  <a:pt x="0" y="504"/>
                  <a:pt x="0" y="528"/>
                </a:cubicBezTo>
                <a:cubicBezTo>
                  <a:pt x="0" y="552"/>
                  <a:pt x="40" y="552"/>
                  <a:pt x="48" y="576"/>
                </a:cubicBezTo>
                <a:cubicBezTo>
                  <a:pt x="56" y="600"/>
                  <a:pt x="32" y="656"/>
                  <a:pt x="48" y="672"/>
                </a:cubicBezTo>
                <a:cubicBezTo>
                  <a:pt x="64" y="688"/>
                  <a:pt x="104" y="672"/>
                  <a:pt x="144" y="672"/>
                </a:cubicBezTo>
                <a:cubicBezTo>
                  <a:pt x="184" y="672"/>
                  <a:pt x="256" y="664"/>
                  <a:pt x="288" y="672"/>
                </a:cubicBezTo>
                <a:cubicBezTo>
                  <a:pt x="320" y="680"/>
                  <a:pt x="304" y="712"/>
                  <a:pt x="336" y="720"/>
                </a:cubicBezTo>
                <a:cubicBezTo>
                  <a:pt x="368" y="728"/>
                  <a:pt x="440" y="728"/>
                  <a:pt x="480" y="720"/>
                </a:cubicBezTo>
                <a:cubicBezTo>
                  <a:pt x="520" y="712"/>
                  <a:pt x="544" y="680"/>
                  <a:pt x="576" y="672"/>
                </a:cubicBezTo>
                <a:cubicBezTo>
                  <a:pt x="608" y="664"/>
                  <a:pt x="640" y="656"/>
                  <a:pt x="672" y="672"/>
                </a:cubicBezTo>
                <a:cubicBezTo>
                  <a:pt x="704" y="688"/>
                  <a:pt x="736" y="768"/>
                  <a:pt x="768" y="768"/>
                </a:cubicBezTo>
                <a:cubicBezTo>
                  <a:pt x="800" y="768"/>
                  <a:pt x="848" y="712"/>
                  <a:pt x="864" y="672"/>
                </a:cubicBezTo>
                <a:cubicBezTo>
                  <a:pt x="880" y="632"/>
                  <a:pt x="872" y="576"/>
                  <a:pt x="864" y="528"/>
                </a:cubicBezTo>
                <a:cubicBezTo>
                  <a:pt x="856" y="480"/>
                  <a:pt x="824" y="424"/>
                  <a:pt x="816" y="384"/>
                </a:cubicBezTo>
                <a:cubicBezTo>
                  <a:pt x="808" y="344"/>
                  <a:pt x="808" y="328"/>
                  <a:pt x="816" y="288"/>
                </a:cubicBezTo>
                <a:cubicBezTo>
                  <a:pt x="824" y="248"/>
                  <a:pt x="864" y="192"/>
                  <a:pt x="864" y="144"/>
                </a:cubicBezTo>
                <a:cubicBezTo>
                  <a:pt x="864" y="96"/>
                  <a:pt x="816" y="24"/>
                  <a:pt x="816" y="0"/>
                </a:cubicBezTo>
              </a:path>
            </a:pathLst>
          </a:custGeom>
          <a:noFill/>
          <a:ln w="22225" cap="flat" cmpd="sng">
            <a:solidFill>
              <a:srgbClr val="9933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1109">
            <a:extLst>
              <a:ext uri="{FF2B5EF4-FFF2-40B4-BE49-F238E27FC236}">
                <a16:creationId xmlns:a16="http://schemas.microsoft.com/office/drawing/2014/main" id="{6108819E-DD37-4FBF-ACE4-2AAF3CFB1E4A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105025"/>
            <a:ext cx="1800225" cy="1095375"/>
            <a:chOff x="192" y="1326"/>
            <a:chExt cx="1134" cy="690"/>
          </a:xfrm>
        </p:grpSpPr>
        <p:grpSp>
          <p:nvGrpSpPr>
            <p:cNvPr id="32795" name="Group 1078">
              <a:extLst>
                <a:ext uri="{FF2B5EF4-FFF2-40B4-BE49-F238E27FC236}">
                  <a16:creationId xmlns:a16="http://schemas.microsoft.com/office/drawing/2014/main" id="{76C63813-F909-43BA-82EE-1457A94E07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" y="1428"/>
              <a:ext cx="192" cy="126"/>
              <a:chOff x="544" y="251"/>
              <a:chExt cx="32" cy="21"/>
            </a:xfrm>
          </p:grpSpPr>
          <p:sp>
            <p:nvSpPr>
              <p:cNvPr id="540727" name="Rectangle 1079">
                <a:extLst>
                  <a:ext uri="{FF2B5EF4-FFF2-40B4-BE49-F238E27FC236}">
                    <a16:creationId xmlns:a16="http://schemas.microsoft.com/office/drawing/2014/main" id="{C3864F0F-FE31-4F15-BD91-FFBF67377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255"/>
                <a:ext cx="32" cy="13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0728" name="AutoShape 1080">
                <a:extLst>
                  <a:ext uri="{FF2B5EF4-FFF2-40B4-BE49-F238E27FC236}">
                    <a16:creationId xmlns:a16="http://schemas.microsoft.com/office/drawing/2014/main" id="{ECEDA5A6-4084-42DD-9746-AD85DCEEE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251"/>
                <a:ext cx="20" cy="21"/>
              </a:xfrm>
              <a:prstGeom prst="flowChartSummingJunction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32796" name="Group 1081">
              <a:extLst>
                <a:ext uri="{FF2B5EF4-FFF2-40B4-BE49-F238E27FC236}">
                  <a16:creationId xmlns:a16="http://schemas.microsoft.com/office/drawing/2014/main" id="{7A3B6CB7-AD4B-438E-9317-A80970B4DB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4" y="1428"/>
              <a:ext cx="192" cy="126"/>
              <a:chOff x="544" y="251"/>
              <a:chExt cx="32" cy="21"/>
            </a:xfrm>
          </p:grpSpPr>
          <p:sp>
            <p:nvSpPr>
              <p:cNvPr id="540730" name="Rectangle 1082">
                <a:extLst>
                  <a:ext uri="{FF2B5EF4-FFF2-40B4-BE49-F238E27FC236}">
                    <a16:creationId xmlns:a16="http://schemas.microsoft.com/office/drawing/2014/main" id="{C389A96C-9492-4FA2-8123-313D97A7B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255"/>
                <a:ext cx="32" cy="13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0731" name="AutoShape 1083">
                <a:extLst>
                  <a:ext uri="{FF2B5EF4-FFF2-40B4-BE49-F238E27FC236}">
                    <a16:creationId xmlns:a16="http://schemas.microsoft.com/office/drawing/2014/main" id="{0069A1D7-739E-4FE5-9CA3-38397014C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251"/>
                <a:ext cx="20" cy="21"/>
              </a:xfrm>
              <a:prstGeom prst="flowChartSummingJunction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32797" name="Group 1084">
              <a:extLst>
                <a:ext uri="{FF2B5EF4-FFF2-40B4-BE49-F238E27FC236}">
                  <a16:creationId xmlns:a16="http://schemas.microsoft.com/office/drawing/2014/main" id="{105A8C28-D81B-427B-AE6A-058B5C7D0D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326"/>
              <a:ext cx="858" cy="354"/>
              <a:chOff x="405" y="908"/>
              <a:chExt cx="143" cy="59"/>
            </a:xfrm>
          </p:grpSpPr>
          <p:grpSp>
            <p:nvGrpSpPr>
              <p:cNvPr id="32814" name="Group 1085">
                <a:extLst>
                  <a:ext uri="{FF2B5EF4-FFF2-40B4-BE49-F238E27FC236}">
                    <a16:creationId xmlns:a16="http://schemas.microsoft.com/office/drawing/2014/main" id="{3FC7C210-F9CC-4D4D-ABD1-5783564B08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" y="908"/>
                <a:ext cx="143" cy="59"/>
                <a:chOff x="417" y="359"/>
                <a:chExt cx="107" cy="70"/>
              </a:xfrm>
            </p:grpSpPr>
            <p:sp>
              <p:nvSpPr>
                <p:cNvPr id="540734" name="Rectangle 1086">
                  <a:extLst>
                    <a:ext uri="{FF2B5EF4-FFF2-40B4-BE49-F238E27FC236}">
                      <a16:creationId xmlns:a16="http://schemas.microsoft.com/office/drawing/2014/main" id="{2717698D-2632-48FC-9AA7-6A990D0154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7" y="419"/>
                  <a:ext cx="107" cy="10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0735" name="Rectangle 1087">
                  <a:extLst>
                    <a:ext uri="{FF2B5EF4-FFF2-40B4-BE49-F238E27FC236}">
                      <a16:creationId xmlns:a16="http://schemas.microsoft.com/office/drawing/2014/main" id="{BAC7E969-170E-4F1F-A2C1-9B4E0CD607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9" y="368"/>
                  <a:ext cx="83" cy="51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0736" name="Rectangle 1088">
                  <a:extLst>
                    <a:ext uri="{FF2B5EF4-FFF2-40B4-BE49-F238E27FC236}">
                      <a16:creationId xmlns:a16="http://schemas.microsoft.com/office/drawing/2014/main" id="{0D144F59-D5E8-4257-8A27-0F4F38CAD6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3" y="359"/>
                  <a:ext cx="96" cy="10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2815" name="Group 1089">
                <a:extLst>
                  <a:ext uri="{FF2B5EF4-FFF2-40B4-BE49-F238E27FC236}">
                    <a16:creationId xmlns:a16="http://schemas.microsoft.com/office/drawing/2014/main" id="{223F9A1C-6583-46DE-B1B5-5A0524861C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4" y="908"/>
                <a:ext cx="86" cy="59"/>
                <a:chOff x="432" y="908"/>
                <a:chExt cx="89" cy="59"/>
              </a:xfrm>
            </p:grpSpPr>
            <p:sp>
              <p:nvSpPr>
                <p:cNvPr id="540738" name="AutoShape 1090">
                  <a:extLst>
                    <a:ext uri="{FF2B5EF4-FFF2-40B4-BE49-F238E27FC236}">
                      <a16:creationId xmlns:a16="http://schemas.microsoft.com/office/drawing/2014/main" id="{80FD9598-7F15-4364-B8AC-008264C7CB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" y="908"/>
                  <a:ext cx="89" cy="42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0739" name="Rectangle 1091">
                  <a:extLst>
                    <a:ext uri="{FF2B5EF4-FFF2-40B4-BE49-F238E27FC236}">
                      <a16:creationId xmlns:a16="http://schemas.microsoft.com/office/drawing/2014/main" id="{C7122FF2-DC4E-42E0-8A28-1CA4B8A56A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5" y="947"/>
                  <a:ext cx="84" cy="2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0740" name="Rectangle 1092">
                  <a:extLst>
                    <a:ext uri="{FF2B5EF4-FFF2-40B4-BE49-F238E27FC236}">
                      <a16:creationId xmlns:a16="http://schemas.microsoft.com/office/drawing/2014/main" id="{B66CE429-9711-417B-9A48-65848D861E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3" y="931"/>
                  <a:ext cx="47" cy="19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</p:grpSp>
        <p:grpSp>
          <p:nvGrpSpPr>
            <p:cNvPr id="32798" name="Group 1093">
              <a:extLst>
                <a:ext uri="{FF2B5EF4-FFF2-40B4-BE49-F238E27FC236}">
                  <a16:creationId xmlns:a16="http://schemas.microsoft.com/office/drawing/2014/main" id="{D834838B-2DC5-4C73-BEDC-94EB55E6F3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2" y="1746"/>
              <a:ext cx="192" cy="126"/>
              <a:chOff x="544" y="251"/>
              <a:chExt cx="32" cy="21"/>
            </a:xfrm>
          </p:grpSpPr>
          <p:sp>
            <p:nvSpPr>
              <p:cNvPr id="540742" name="Rectangle 1094">
                <a:extLst>
                  <a:ext uri="{FF2B5EF4-FFF2-40B4-BE49-F238E27FC236}">
                    <a16:creationId xmlns:a16="http://schemas.microsoft.com/office/drawing/2014/main" id="{EE85509B-B305-4219-979F-538DD7644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255"/>
                <a:ext cx="32" cy="13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0743" name="AutoShape 1095">
                <a:extLst>
                  <a:ext uri="{FF2B5EF4-FFF2-40B4-BE49-F238E27FC236}">
                    <a16:creationId xmlns:a16="http://schemas.microsoft.com/office/drawing/2014/main" id="{F4BEB209-0FFC-4096-8938-A9868B630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251"/>
                <a:ext cx="20" cy="21"/>
              </a:xfrm>
              <a:prstGeom prst="flowChartSummingJunction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32799" name="Group 1096">
              <a:extLst>
                <a:ext uri="{FF2B5EF4-FFF2-40B4-BE49-F238E27FC236}">
                  <a16:creationId xmlns:a16="http://schemas.microsoft.com/office/drawing/2014/main" id="{BBF86E3C-D026-4FFC-A5BA-E51CB52509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674"/>
              <a:ext cx="858" cy="342"/>
              <a:chOff x="405" y="966"/>
              <a:chExt cx="143" cy="57"/>
            </a:xfrm>
          </p:grpSpPr>
          <p:grpSp>
            <p:nvGrpSpPr>
              <p:cNvPr id="32805" name="Group 1097">
                <a:extLst>
                  <a:ext uri="{FF2B5EF4-FFF2-40B4-BE49-F238E27FC236}">
                    <a16:creationId xmlns:a16="http://schemas.microsoft.com/office/drawing/2014/main" id="{C80CF91E-CA4B-4ACB-9310-1E62F86C71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" y="966"/>
                <a:ext cx="143" cy="57"/>
                <a:chOff x="417" y="445"/>
                <a:chExt cx="107" cy="66"/>
              </a:xfrm>
            </p:grpSpPr>
            <p:sp>
              <p:nvSpPr>
                <p:cNvPr id="540746" name="Rectangle 1098">
                  <a:extLst>
                    <a:ext uri="{FF2B5EF4-FFF2-40B4-BE49-F238E27FC236}">
                      <a16:creationId xmlns:a16="http://schemas.microsoft.com/office/drawing/2014/main" id="{DBEA7F5B-2158-4379-AD4D-3C78DD60DB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5" y="454"/>
                  <a:ext cx="91" cy="57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0747" name="Rectangle 1099">
                  <a:extLst>
                    <a:ext uri="{FF2B5EF4-FFF2-40B4-BE49-F238E27FC236}">
                      <a16:creationId xmlns:a16="http://schemas.microsoft.com/office/drawing/2014/main" id="{41666E85-CC06-4C0F-9C81-75700D8E89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7" y="445"/>
                  <a:ext cx="107" cy="10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2806" name="Group 1100">
                <a:extLst>
                  <a:ext uri="{FF2B5EF4-FFF2-40B4-BE49-F238E27FC236}">
                    <a16:creationId xmlns:a16="http://schemas.microsoft.com/office/drawing/2014/main" id="{3F3FE497-ACBC-4D02-91EB-1C25F06181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4" y="966"/>
                <a:ext cx="106" cy="57"/>
                <a:chOff x="424" y="966"/>
                <a:chExt cx="106" cy="57"/>
              </a:xfrm>
            </p:grpSpPr>
            <p:sp>
              <p:nvSpPr>
                <p:cNvPr id="540749" name="AutoShape 1101">
                  <a:extLst>
                    <a:ext uri="{FF2B5EF4-FFF2-40B4-BE49-F238E27FC236}">
                      <a16:creationId xmlns:a16="http://schemas.microsoft.com/office/drawing/2014/main" id="{8BCC27AA-9F75-4100-B445-86B7AFB674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7" y="966"/>
                  <a:ext cx="99" cy="43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0750" name="Rectangle 1102">
                  <a:extLst>
                    <a:ext uri="{FF2B5EF4-FFF2-40B4-BE49-F238E27FC236}">
                      <a16:creationId xmlns:a16="http://schemas.microsoft.com/office/drawing/2014/main" id="{CE6607B3-5913-4C11-92AF-D7CB43F701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4" y="998"/>
                  <a:ext cx="106" cy="2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0751" name="Rectangle 1103">
                  <a:extLst>
                    <a:ext uri="{FF2B5EF4-FFF2-40B4-BE49-F238E27FC236}">
                      <a16:creationId xmlns:a16="http://schemas.microsoft.com/office/drawing/2014/main" id="{0740B148-0D08-478F-AFD7-AB9E23D9BF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7" y="989"/>
                  <a:ext cx="60" cy="2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</p:grpSp>
        <p:grpSp>
          <p:nvGrpSpPr>
            <p:cNvPr id="32800" name="Group 1104">
              <a:extLst>
                <a:ext uri="{FF2B5EF4-FFF2-40B4-BE49-F238E27FC236}">
                  <a16:creationId xmlns:a16="http://schemas.microsoft.com/office/drawing/2014/main" id="{F82DF6B4-01C9-47BB-8DD9-4F336B616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584"/>
              <a:ext cx="576" cy="336"/>
              <a:chOff x="336" y="1632"/>
              <a:chExt cx="576" cy="336"/>
            </a:xfrm>
          </p:grpSpPr>
          <p:sp>
            <p:nvSpPr>
              <p:cNvPr id="540753" name="AutoShape 1105">
                <a:extLst>
                  <a:ext uri="{FF2B5EF4-FFF2-40B4-BE49-F238E27FC236}">
                    <a16:creationId xmlns:a16="http://schemas.microsoft.com/office/drawing/2014/main" id="{365BE022-4EAD-4DE0-994A-F89E5224D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336" y="1728"/>
                <a:ext cx="96" cy="240"/>
              </a:xfrm>
              <a:prstGeom prst="rtTriangle">
                <a:avLst/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0754" name="AutoShape 1106">
                <a:extLst>
                  <a:ext uri="{FF2B5EF4-FFF2-40B4-BE49-F238E27FC236}">
                    <a16:creationId xmlns:a16="http://schemas.microsoft.com/office/drawing/2014/main" id="{51CC4FA5-8BBA-4CCC-AABF-91CDC0C2E6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816" y="1728"/>
                <a:ext cx="96" cy="240"/>
              </a:xfrm>
              <a:prstGeom prst="rtTriangle">
                <a:avLst/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0755" name="Rectangle 1107">
                <a:extLst>
                  <a:ext uri="{FF2B5EF4-FFF2-40B4-BE49-F238E27FC236}">
                    <a16:creationId xmlns:a16="http://schemas.microsoft.com/office/drawing/2014/main" id="{F074554F-B5A0-47C3-A812-CD1D0439F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632"/>
                <a:ext cx="48" cy="96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0756" name="Rectangle 1108">
                <a:extLst>
                  <a:ext uri="{FF2B5EF4-FFF2-40B4-BE49-F238E27FC236}">
                    <a16:creationId xmlns:a16="http://schemas.microsoft.com/office/drawing/2014/main" id="{D4B73364-10B3-4C0C-B491-C71A60C58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632"/>
                <a:ext cx="48" cy="96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</p:grpSp>
      <p:sp>
        <p:nvSpPr>
          <p:cNvPr id="540725" name="Rectangle 1077" descr="Divot">
            <a:extLst>
              <a:ext uri="{FF2B5EF4-FFF2-40B4-BE49-F238E27FC236}">
                <a16:creationId xmlns:a16="http://schemas.microsoft.com/office/drawing/2014/main" id="{614D9F3A-93B2-4BCF-A029-7809D9ADD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715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724" name="Rectangle 1076" descr="Divot">
            <a:extLst>
              <a:ext uri="{FF2B5EF4-FFF2-40B4-BE49-F238E27FC236}">
                <a16:creationId xmlns:a16="http://schemas.microsoft.com/office/drawing/2014/main" id="{DCA12DBC-8E11-4B0B-A425-049A0A55B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15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722" name="Rectangle 1074" descr="Divot">
            <a:extLst>
              <a:ext uri="{FF2B5EF4-FFF2-40B4-BE49-F238E27FC236}">
                <a16:creationId xmlns:a16="http://schemas.microsoft.com/office/drawing/2014/main" id="{9C6D63AA-7B42-4056-B04F-D1EEAB3AB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723" name="Rectangle 1075" descr="Divot">
            <a:extLst>
              <a:ext uri="{FF2B5EF4-FFF2-40B4-BE49-F238E27FC236}">
                <a16:creationId xmlns:a16="http://schemas.microsoft.com/office/drawing/2014/main" id="{9EEEA5EF-C5F5-4B0F-80DE-0C6A5192D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720" name="Rectangle 1072" descr="Divot">
            <a:extLst>
              <a:ext uri="{FF2B5EF4-FFF2-40B4-BE49-F238E27FC236}">
                <a16:creationId xmlns:a16="http://schemas.microsoft.com/office/drawing/2014/main" id="{ADB8D192-13BC-4B63-960A-914516925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721" name="Rectangle 1073" descr="Divot">
            <a:extLst>
              <a:ext uri="{FF2B5EF4-FFF2-40B4-BE49-F238E27FC236}">
                <a16:creationId xmlns:a16="http://schemas.microsoft.com/office/drawing/2014/main" id="{127C1A06-D982-4531-A3FC-AFCC26945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2777" name="Rectangle 1031">
            <a:extLst>
              <a:ext uri="{FF2B5EF4-FFF2-40B4-BE49-F238E27FC236}">
                <a16:creationId xmlns:a16="http://schemas.microsoft.com/office/drawing/2014/main" id="{5F913861-14D7-4F60-AD6E-AAB3107802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Next Hole (Int or Prod)</a:t>
            </a:r>
          </a:p>
        </p:txBody>
      </p:sp>
      <p:sp>
        <p:nvSpPr>
          <p:cNvPr id="32778" name="Rectangle 1032">
            <a:extLst>
              <a:ext uri="{FF2B5EF4-FFF2-40B4-BE49-F238E27FC236}">
                <a16:creationId xmlns:a16="http://schemas.microsoft.com/office/drawing/2014/main" id="{0C01CBA3-29A9-401F-8504-1E974EEFF56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Install Casing Rams in BOP’s</a:t>
            </a:r>
          </a:p>
          <a:p>
            <a:r>
              <a:rPr lang="en-US" altLang="en-US" sz="2400"/>
              <a:t>Run Next Pipe</a:t>
            </a:r>
          </a:p>
          <a:p>
            <a:r>
              <a:rPr lang="en-US" altLang="en-US" sz="2400"/>
              <a:t>Run conventional float equip (thread lock btm 2 jts)</a:t>
            </a:r>
          </a:p>
          <a:p>
            <a:r>
              <a:rPr lang="en-US" altLang="en-US" sz="2400"/>
              <a:t>Pump Cement per program</a:t>
            </a:r>
          </a:p>
        </p:txBody>
      </p:sp>
      <p:sp>
        <p:nvSpPr>
          <p:cNvPr id="540681" name="Line 1033">
            <a:extLst>
              <a:ext uri="{FF2B5EF4-FFF2-40B4-BE49-F238E27FC236}">
                <a16:creationId xmlns:a16="http://schemas.microsoft.com/office/drawing/2014/main" id="{A6C79A53-97B8-469A-98B7-47EBC61186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682" name="Line 1034">
            <a:extLst>
              <a:ext uri="{FF2B5EF4-FFF2-40B4-BE49-F238E27FC236}">
                <a16:creationId xmlns:a16="http://schemas.microsoft.com/office/drawing/2014/main" id="{0CD67270-FDC2-4170-B912-EC38D7E16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683" name="Line 1035">
            <a:extLst>
              <a:ext uri="{FF2B5EF4-FFF2-40B4-BE49-F238E27FC236}">
                <a16:creationId xmlns:a16="http://schemas.microsoft.com/office/drawing/2014/main" id="{26F613BD-4813-40DF-9A81-A78A14312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684" name="Line 1036">
            <a:extLst>
              <a:ext uri="{FF2B5EF4-FFF2-40B4-BE49-F238E27FC236}">
                <a16:creationId xmlns:a16="http://schemas.microsoft.com/office/drawing/2014/main" id="{52462652-56F7-4ACC-A0E0-23629C0E6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685" name="AutoShape 1037">
            <a:extLst>
              <a:ext uri="{FF2B5EF4-FFF2-40B4-BE49-F238E27FC236}">
                <a16:creationId xmlns:a16="http://schemas.microsoft.com/office/drawing/2014/main" id="{8F2212CF-375C-4ABD-9C40-CC9EB42B77B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686" name="AutoShape 1038">
            <a:extLst>
              <a:ext uri="{FF2B5EF4-FFF2-40B4-BE49-F238E27FC236}">
                <a16:creationId xmlns:a16="http://schemas.microsoft.com/office/drawing/2014/main" id="{E0BBE106-F14D-48B7-A599-D45D0162FE9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687" name="AutoShape 1039">
            <a:extLst>
              <a:ext uri="{FF2B5EF4-FFF2-40B4-BE49-F238E27FC236}">
                <a16:creationId xmlns:a16="http://schemas.microsoft.com/office/drawing/2014/main" id="{4216056E-D156-428B-93AB-AE6BD5C180C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688" name="AutoShape 1040">
            <a:extLst>
              <a:ext uri="{FF2B5EF4-FFF2-40B4-BE49-F238E27FC236}">
                <a16:creationId xmlns:a16="http://schemas.microsoft.com/office/drawing/2014/main" id="{5DC39276-4780-458D-8DAE-036088346CF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09800" y="6553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689" name="AutoShape 1041">
            <a:extLst>
              <a:ext uri="{FF2B5EF4-FFF2-40B4-BE49-F238E27FC236}">
                <a16:creationId xmlns:a16="http://schemas.microsoft.com/office/drawing/2014/main" id="{A10D0DC1-9AA2-4EDF-8CDD-8EB3367E4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6553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690" name="AutoShape 1042">
            <a:extLst>
              <a:ext uri="{FF2B5EF4-FFF2-40B4-BE49-F238E27FC236}">
                <a16:creationId xmlns:a16="http://schemas.microsoft.com/office/drawing/2014/main" id="{7A1EB6C1-FA85-4472-8A12-C35509E67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691" name="AutoShape 1043">
            <a:extLst>
              <a:ext uri="{FF2B5EF4-FFF2-40B4-BE49-F238E27FC236}">
                <a16:creationId xmlns:a16="http://schemas.microsoft.com/office/drawing/2014/main" id="{8483DAA6-944A-4036-8F2A-E0C6302E7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692" name="AutoShape 1044">
            <a:extLst>
              <a:ext uri="{FF2B5EF4-FFF2-40B4-BE49-F238E27FC236}">
                <a16:creationId xmlns:a16="http://schemas.microsoft.com/office/drawing/2014/main" id="{177ED6B5-79C0-4C6C-BA78-D8EC7AB1A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697" name="Line 1049">
            <a:extLst>
              <a:ext uri="{FF2B5EF4-FFF2-40B4-BE49-F238E27FC236}">
                <a16:creationId xmlns:a16="http://schemas.microsoft.com/office/drawing/2014/main" id="{23264006-CB16-4DB7-B9AD-1F69966872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514600"/>
            <a:ext cx="0" cy="2819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698" name="Line 1050">
            <a:extLst>
              <a:ext uri="{FF2B5EF4-FFF2-40B4-BE49-F238E27FC236}">
                <a16:creationId xmlns:a16="http://schemas.microsoft.com/office/drawing/2014/main" id="{DD3BD1BF-712F-45DD-B5C6-9C6E73421B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14600"/>
            <a:ext cx="0" cy="2819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703" name="Line 1055">
            <a:extLst>
              <a:ext uri="{FF2B5EF4-FFF2-40B4-BE49-F238E27FC236}">
                <a16:creationId xmlns:a16="http://schemas.microsoft.com/office/drawing/2014/main" id="{6CFD0268-5669-4055-87F1-A1A8D6778B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752600"/>
            <a:ext cx="0" cy="4953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0704" name="Line 1056">
            <a:extLst>
              <a:ext uri="{FF2B5EF4-FFF2-40B4-BE49-F238E27FC236}">
                <a16:creationId xmlns:a16="http://schemas.microsoft.com/office/drawing/2014/main" id="{ADE9BBAA-D34C-44F1-9AF6-2CB7707C46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752600"/>
            <a:ext cx="0" cy="4953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56">
            <a:extLst>
              <a:ext uri="{FF2B5EF4-FFF2-40B4-BE49-F238E27FC236}">
                <a16:creationId xmlns:a16="http://schemas.microsoft.com/office/drawing/2014/main" id="{D1E0074E-CF94-44D4-AEA8-EA8D3B9E0725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105025"/>
            <a:ext cx="1800225" cy="1095375"/>
            <a:chOff x="192" y="1326"/>
            <a:chExt cx="1134" cy="690"/>
          </a:xfrm>
        </p:grpSpPr>
        <p:grpSp>
          <p:nvGrpSpPr>
            <p:cNvPr id="33822" name="Group 57">
              <a:extLst>
                <a:ext uri="{FF2B5EF4-FFF2-40B4-BE49-F238E27FC236}">
                  <a16:creationId xmlns:a16="http://schemas.microsoft.com/office/drawing/2014/main" id="{7FB8A268-4458-4E69-BBCC-61FD91C630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" y="1428"/>
              <a:ext cx="192" cy="126"/>
              <a:chOff x="544" y="251"/>
              <a:chExt cx="32" cy="21"/>
            </a:xfrm>
          </p:grpSpPr>
          <p:sp>
            <p:nvSpPr>
              <p:cNvPr id="535610" name="Rectangle 58">
                <a:extLst>
                  <a:ext uri="{FF2B5EF4-FFF2-40B4-BE49-F238E27FC236}">
                    <a16:creationId xmlns:a16="http://schemas.microsoft.com/office/drawing/2014/main" id="{8F4FB509-206D-4BC5-9C2B-0F16559EC3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255"/>
                <a:ext cx="32" cy="13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5611" name="AutoShape 59">
                <a:extLst>
                  <a:ext uri="{FF2B5EF4-FFF2-40B4-BE49-F238E27FC236}">
                    <a16:creationId xmlns:a16="http://schemas.microsoft.com/office/drawing/2014/main" id="{05D049B6-62E2-4B13-B34F-66D52396C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251"/>
                <a:ext cx="20" cy="21"/>
              </a:xfrm>
              <a:prstGeom prst="flowChartSummingJunction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33823" name="Group 60">
              <a:extLst>
                <a:ext uri="{FF2B5EF4-FFF2-40B4-BE49-F238E27FC236}">
                  <a16:creationId xmlns:a16="http://schemas.microsoft.com/office/drawing/2014/main" id="{135AED5F-6DAD-417C-9FED-AA046D16E1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4" y="1428"/>
              <a:ext cx="192" cy="126"/>
              <a:chOff x="544" y="251"/>
              <a:chExt cx="32" cy="21"/>
            </a:xfrm>
          </p:grpSpPr>
          <p:sp>
            <p:nvSpPr>
              <p:cNvPr id="535613" name="Rectangle 61">
                <a:extLst>
                  <a:ext uri="{FF2B5EF4-FFF2-40B4-BE49-F238E27FC236}">
                    <a16:creationId xmlns:a16="http://schemas.microsoft.com/office/drawing/2014/main" id="{65A5690F-A2ED-4189-A1A1-C41514455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255"/>
                <a:ext cx="32" cy="13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5614" name="AutoShape 62">
                <a:extLst>
                  <a:ext uri="{FF2B5EF4-FFF2-40B4-BE49-F238E27FC236}">
                    <a16:creationId xmlns:a16="http://schemas.microsoft.com/office/drawing/2014/main" id="{8F48487F-F4E7-48F8-BB47-2643703A93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251"/>
                <a:ext cx="20" cy="21"/>
              </a:xfrm>
              <a:prstGeom prst="flowChartSummingJunction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33824" name="Group 63">
              <a:extLst>
                <a:ext uri="{FF2B5EF4-FFF2-40B4-BE49-F238E27FC236}">
                  <a16:creationId xmlns:a16="http://schemas.microsoft.com/office/drawing/2014/main" id="{E829CF28-6D3C-4E05-9042-1E247DBDCA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326"/>
              <a:ext cx="858" cy="354"/>
              <a:chOff x="405" y="908"/>
              <a:chExt cx="143" cy="59"/>
            </a:xfrm>
          </p:grpSpPr>
          <p:grpSp>
            <p:nvGrpSpPr>
              <p:cNvPr id="33841" name="Group 64">
                <a:extLst>
                  <a:ext uri="{FF2B5EF4-FFF2-40B4-BE49-F238E27FC236}">
                    <a16:creationId xmlns:a16="http://schemas.microsoft.com/office/drawing/2014/main" id="{11D66AF4-8742-4DD6-A862-963BE4F76E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" y="908"/>
                <a:ext cx="143" cy="59"/>
                <a:chOff x="417" y="359"/>
                <a:chExt cx="107" cy="70"/>
              </a:xfrm>
            </p:grpSpPr>
            <p:sp>
              <p:nvSpPr>
                <p:cNvPr id="535617" name="Rectangle 65">
                  <a:extLst>
                    <a:ext uri="{FF2B5EF4-FFF2-40B4-BE49-F238E27FC236}">
                      <a16:creationId xmlns:a16="http://schemas.microsoft.com/office/drawing/2014/main" id="{C661B076-4815-48E9-B5FD-09B5CC701A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7" y="419"/>
                  <a:ext cx="107" cy="10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5618" name="Rectangle 66">
                  <a:extLst>
                    <a:ext uri="{FF2B5EF4-FFF2-40B4-BE49-F238E27FC236}">
                      <a16:creationId xmlns:a16="http://schemas.microsoft.com/office/drawing/2014/main" id="{E5EAF9DD-A08D-4609-8B00-B51DA8F102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9" y="368"/>
                  <a:ext cx="83" cy="51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5619" name="Rectangle 67">
                  <a:extLst>
                    <a:ext uri="{FF2B5EF4-FFF2-40B4-BE49-F238E27FC236}">
                      <a16:creationId xmlns:a16="http://schemas.microsoft.com/office/drawing/2014/main" id="{2CB4E9B4-BF43-48AA-B6F9-E02F67EF62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3" y="359"/>
                  <a:ext cx="96" cy="10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3842" name="Group 68">
                <a:extLst>
                  <a:ext uri="{FF2B5EF4-FFF2-40B4-BE49-F238E27FC236}">
                    <a16:creationId xmlns:a16="http://schemas.microsoft.com/office/drawing/2014/main" id="{B25AA995-F9E4-4A77-803D-98F836E0AF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4" y="908"/>
                <a:ext cx="86" cy="59"/>
                <a:chOff x="432" y="908"/>
                <a:chExt cx="89" cy="59"/>
              </a:xfrm>
            </p:grpSpPr>
            <p:sp>
              <p:nvSpPr>
                <p:cNvPr id="535621" name="AutoShape 69">
                  <a:extLst>
                    <a:ext uri="{FF2B5EF4-FFF2-40B4-BE49-F238E27FC236}">
                      <a16:creationId xmlns:a16="http://schemas.microsoft.com/office/drawing/2014/main" id="{DF1A0BAA-57F1-4B96-A933-DE7ABD249C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" y="908"/>
                  <a:ext cx="89" cy="42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5622" name="Rectangle 70">
                  <a:extLst>
                    <a:ext uri="{FF2B5EF4-FFF2-40B4-BE49-F238E27FC236}">
                      <a16:creationId xmlns:a16="http://schemas.microsoft.com/office/drawing/2014/main" id="{2B9FCE72-1D82-4F94-B203-441A2F2554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5" y="947"/>
                  <a:ext cx="84" cy="2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5623" name="Rectangle 71">
                  <a:extLst>
                    <a:ext uri="{FF2B5EF4-FFF2-40B4-BE49-F238E27FC236}">
                      <a16:creationId xmlns:a16="http://schemas.microsoft.com/office/drawing/2014/main" id="{0D3058F7-96EA-484E-B3BD-5AB8554B08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3" y="931"/>
                  <a:ext cx="47" cy="19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</p:grpSp>
        <p:grpSp>
          <p:nvGrpSpPr>
            <p:cNvPr id="33825" name="Group 72">
              <a:extLst>
                <a:ext uri="{FF2B5EF4-FFF2-40B4-BE49-F238E27FC236}">
                  <a16:creationId xmlns:a16="http://schemas.microsoft.com/office/drawing/2014/main" id="{3AA9D00D-A3E7-438A-82E0-8604AD9B0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2" y="1746"/>
              <a:ext cx="192" cy="126"/>
              <a:chOff x="544" y="251"/>
              <a:chExt cx="32" cy="21"/>
            </a:xfrm>
          </p:grpSpPr>
          <p:sp>
            <p:nvSpPr>
              <p:cNvPr id="535625" name="Rectangle 73">
                <a:extLst>
                  <a:ext uri="{FF2B5EF4-FFF2-40B4-BE49-F238E27FC236}">
                    <a16:creationId xmlns:a16="http://schemas.microsoft.com/office/drawing/2014/main" id="{1ED5D63A-E2BC-40F1-9E87-AEE62A66F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255"/>
                <a:ext cx="32" cy="13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5626" name="AutoShape 74">
                <a:extLst>
                  <a:ext uri="{FF2B5EF4-FFF2-40B4-BE49-F238E27FC236}">
                    <a16:creationId xmlns:a16="http://schemas.microsoft.com/office/drawing/2014/main" id="{B55CB30C-62FB-469E-8E98-3D5DD0218D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251"/>
                <a:ext cx="20" cy="21"/>
              </a:xfrm>
              <a:prstGeom prst="flowChartSummingJunction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33826" name="Group 75">
              <a:extLst>
                <a:ext uri="{FF2B5EF4-FFF2-40B4-BE49-F238E27FC236}">
                  <a16:creationId xmlns:a16="http://schemas.microsoft.com/office/drawing/2014/main" id="{F8052080-80CE-417E-81EB-94BD3F8563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674"/>
              <a:ext cx="858" cy="342"/>
              <a:chOff x="405" y="966"/>
              <a:chExt cx="143" cy="57"/>
            </a:xfrm>
          </p:grpSpPr>
          <p:grpSp>
            <p:nvGrpSpPr>
              <p:cNvPr id="33832" name="Group 76">
                <a:extLst>
                  <a:ext uri="{FF2B5EF4-FFF2-40B4-BE49-F238E27FC236}">
                    <a16:creationId xmlns:a16="http://schemas.microsoft.com/office/drawing/2014/main" id="{8A148403-376A-4E02-87A9-01E0053ED7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" y="966"/>
                <a:ext cx="143" cy="57"/>
                <a:chOff x="417" y="445"/>
                <a:chExt cx="107" cy="66"/>
              </a:xfrm>
            </p:grpSpPr>
            <p:sp>
              <p:nvSpPr>
                <p:cNvPr id="535629" name="Rectangle 77">
                  <a:extLst>
                    <a:ext uri="{FF2B5EF4-FFF2-40B4-BE49-F238E27FC236}">
                      <a16:creationId xmlns:a16="http://schemas.microsoft.com/office/drawing/2014/main" id="{1518BFA4-6FFD-4BB5-AABC-2949473834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5" y="454"/>
                  <a:ext cx="91" cy="57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5630" name="Rectangle 78">
                  <a:extLst>
                    <a:ext uri="{FF2B5EF4-FFF2-40B4-BE49-F238E27FC236}">
                      <a16:creationId xmlns:a16="http://schemas.microsoft.com/office/drawing/2014/main" id="{1AD64F6D-827C-4B32-B365-0794327A36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7" y="445"/>
                  <a:ext cx="107" cy="10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3833" name="Group 79">
                <a:extLst>
                  <a:ext uri="{FF2B5EF4-FFF2-40B4-BE49-F238E27FC236}">
                    <a16:creationId xmlns:a16="http://schemas.microsoft.com/office/drawing/2014/main" id="{BA61BAD5-6E7C-4832-A0E4-C2586EE800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4" y="966"/>
                <a:ext cx="106" cy="57"/>
                <a:chOff x="424" y="966"/>
                <a:chExt cx="106" cy="57"/>
              </a:xfrm>
            </p:grpSpPr>
            <p:sp>
              <p:nvSpPr>
                <p:cNvPr id="535632" name="AutoShape 80">
                  <a:extLst>
                    <a:ext uri="{FF2B5EF4-FFF2-40B4-BE49-F238E27FC236}">
                      <a16:creationId xmlns:a16="http://schemas.microsoft.com/office/drawing/2014/main" id="{EE55067B-D80F-41A8-B89B-A648293C94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7" y="966"/>
                  <a:ext cx="99" cy="43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5633" name="Rectangle 81">
                  <a:extLst>
                    <a:ext uri="{FF2B5EF4-FFF2-40B4-BE49-F238E27FC236}">
                      <a16:creationId xmlns:a16="http://schemas.microsoft.com/office/drawing/2014/main" id="{B2329798-35BC-465C-A2C7-A858B0E6F4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4" y="998"/>
                  <a:ext cx="106" cy="2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35634" name="Rectangle 82">
                  <a:extLst>
                    <a:ext uri="{FF2B5EF4-FFF2-40B4-BE49-F238E27FC236}">
                      <a16:creationId xmlns:a16="http://schemas.microsoft.com/office/drawing/2014/main" id="{7D98D1F1-6AB8-4D39-BBCB-823A3E0FC1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7" y="989"/>
                  <a:ext cx="60" cy="2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</p:grpSp>
        <p:grpSp>
          <p:nvGrpSpPr>
            <p:cNvPr id="33827" name="Group 83">
              <a:extLst>
                <a:ext uri="{FF2B5EF4-FFF2-40B4-BE49-F238E27FC236}">
                  <a16:creationId xmlns:a16="http://schemas.microsoft.com/office/drawing/2014/main" id="{D61839B1-D262-4F83-B1AC-B192583EFE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584"/>
              <a:ext cx="576" cy="336"/>
              <a:chOff x="336" y="1632"/>
              <a:chExt cx="576" cy="336"/>
            </a:xfrm>
          </p:grpSpPr>
          <p:sp>
            <p:nvSpPr>
              <p:cNvPr id="535636" name="AutoShape 84">
                <a:extLst>
                  <a:ext uri="{FF2B5EF4-FFF2-40B4-BE49-F238E27FC236}">
                    <a16:creationId xmlns:a16="http://schemas.microsoft.com/office/drawing/2014/main" id="{2392E5F3-60D3-4175-8ABE-9994959BD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336" y="1728"/>
                <a:ext cx="96" cy="240"/>
              </a:xfrm>
              <a:prstGeom prst="rtTriangle">
                <a:avLst/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5637" name="AutoShape 85">
                <a:extLst>
                  <a:ext uri="{FF2B5EF4-FFF2-40B4-BE49-F238E27FC236}">
                    <a16:creationId xmlns:a16="http://schemas.microsoft.com/office/drawing/2014/main" id="{737A9332-F76E-4CEB-B3F4-9B5846209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816" y="1728"/>
                <a:ext cx="96" cy="240"/>
              </a:xfrm>
              <a:prstGeom prst="rtTriangle">
                <a:avLst/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5638" name="Rectangle 86">
                <a:extLst>
                  <a:ext uri="{FF2B5EF4-FFF2-40B4-BE49-F238E27FC236}">
                    <a16:creationId xmlns:a16="http://schemas.microsoft.com/office/drawing/2014/main" id="{30BFD755-A2B5-402E-A2AC-DA4E7A163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632"/>
                <a:ext cx="48" cy="96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35639" name="Rectangle 87">
                <a:extLst>
                  <a:ext uri="{FF2B5EF4-FFF2-40B4-BE49-F238E27FC236}">
                    <a16:creationId xmlns:a16="http://schemas.microsoft.com/office/drawing/2014/main" id="{B228B7C6-0966-4902-A8FE-20A527B22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632"/>
                <a:ext cx="48" cy="96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</p:grpSp>
      <p:sp>
        <p:nvSpPr>
          <p:cNvPr id="535606" name="Rectangle 54" descr="Divot">
            <a:extLst>
              <a:ext uri="{FF2B5EF4-FFF2-40B4-BE49-F238E27FC236}">
                <a16:creationId xmlns:a16="http://schemas.microsoft.com/office/drawing/2014/main" id="{3B88A9AD-561F-403D-AE15-C7E6D1BF1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607" name="Rectangle 55" descr="Divot">
            <a:extLst>
              <a:ext uri="{FF2B5EF4-FFF2-40B4-BE49-F238E27FC236}">
                <a16:creationId xmlns:a16="http://schemas.microsoft.com/office/drawing/2014/main" id="{27E148C5-F19C-4298-BC57-7FA283AB1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604" name="Rectangle 52" descr="Divot">
            <a:extLst>
              <a:ext uri="{FF2B5EF4-FFF2-40B4-BE49-F238E27FC236}">
                <a16:creationId xmlns:a16="http://schemas.microsoft.com/office/drawing/2014/main" id="{4452868D-A79C-4613-962B-26101349C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715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605" name="Rectangle 53" descr="Divot">
            <a:extLst>
              <a:ext uri="{FF2B5EF4-FFF2-40B4-BE49-F238E27FC236}">
                <a16:creationId xmlns:a16="http://schemas.microsoft.com/office/drawing/2014/main" id="{2C3BA487-7A4C-4E7C-A01B-EE1930646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15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602" name="Rectangle 50" descr="Divot">
            <a:extLst>
              <a:ext uri="{FF2B5EF4-FFF2-40B4-BE49-F238E27FC236}">
                <a16:creationId xmlns:a16="http://schemas.microsoft.com/office/drawing/2014/main" id="{34E9B9DB-674D-4100-A807-18F563FB8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603" name="Rectangle 51" descr="Divot">
            <a:extLst>
              <a:ext uri="{FF2B5EF4-FFF2-40B4-BE49-F238E27FC236}">
                <a16:creationId xmlns:a16="http://schemas.microsoft.com/office/drawing/2014/main" id="{2758F57B-AC4F-400A-8DC5-F3E099665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3801" name="Rectangle 7">
            <a:extLst>
              <a:ext uri="{FF2B5EF4-FFF2-40B4-BE49-F238E27FC236}">
                <a16:creationId xmlns:a16="http://schemas.microsoft.com/office/drawing/2014/main" id="{2E1F1108-0874-4570-B47C-CC9723E9F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Next Hole (Int or Prod)</a:t>
            </a:r>
          </a:p>
        </p:txBody>
      </p:sp>
      <p:sp>
        <p:nvSpPr>
          <p:cNvPr id="33802" name="Rectangle 8">
            <a:extLst>
              <a:ext uri="{FF2B5EF4-FFF2-40B4-BE49-F238E27FC236}">
                <a16:creationId xmlns:a16="http://schemas.microsoft.com/office/drawing/2014/main" id="{34F30FE1-0BDE-4763-88D2-CFC3078064A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Install Slips:</a:t>
            </a:r>
          </a:p>
          <a:p>
            <a:pPr lvl="1"/>
            <a:r>
              <a:rPr lang="en-US" altLang="en-US" sz="2000"/>
              <a:t>If hand set, wait on cement before remove BOP (pump time + [1-2] hrs, discuss with Supervisor)</a:t>
            </a:r>
          </a:p>
          <a:p>
            <a:pPr lvl="1"/>
            <a:r>
              <a:rPr lang="en-US" altLang="en-US" sz="2000"/>
              <a:t>If drop slips, then make sure no collars are in the way, may have to remove riser above BOP’s</a:t>
            </a:r>
          </a:p>
          <a:p>
            <a:endParaRPr lang="en-US" altLang="en-US" sz="2400"/>
          </a:p>
        </p:txBody>
      </p:sp>
      <p:sp>
        <p:nvSpPr>
          <p:cNvPr id="535561" name="Line 9">
            <a:extLst>
              <a:ext uri="{FF2B5EF4-FFF2-40B4-BE49-F238E27FC236}">
                <a16:creationId xmlns:a16="http://schemas.microsoft.com/office/drawing/2014/main" id="{BFC0DD1B-E852-4BB5-A85E-05A997D85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562" name="Line 10">
            <a:extLst>
              <a:ext uri="{FF2B5EF4-FFF2-40B4-BE49-F238E27FC236}">
                <a16:creationId xmlns:a16="http://schemas.microsoft.com/office/drawing/2014/main" id="{20181689-6312-4AC3-8573-D4C264DBD3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563" name="Line 11">
            <a:extLst>
              <a:ext uri="{FF2B5EF4-FFF2-40B4-BE49-F238E27FC236}">
                <a16:creationId xmlns:a16="http://schemas.microsoft.com/office/drawing/2014/main" id="{B3D70094-24BD-40AC-9C9E-B54A612754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564" name="Line 12">
            <a:extLst>
              <a:ext uri="{FF2B5EF4-FFF2-40B4-BE49-F238E27FC236}">
                <a16:creationId xmlns:a16="http://schemas.microsoft.com/office/drawing/2014/main" id="{48A111BD-03F1-42FC-80F5-D7A7ECEB4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565" name="AutoShape 13">
            <a:extLst>
              <a:ext uri="{FF2B5EF4-FFF2-40B4-BE49-F238E27FC236}">
                <a16:creationId xmlns:a16="http://schemas.microsoft.com/office/drawing/2014/main" id="{83ED04ED-3EE9-4F9F-92AA-6FFE9921D16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566" name="AutoShape 14">
            <a:extLst>
              <a:ext uri="{FF2B5EF4-FFF2-40B4-BE49-F238E27FC236}">
                <a16:creationId xmlns:a16="http://schemas.microsoft.com/office/drawing/2014/main" id="{5EE56FD1-E3F8-4D2C-AE0D-302614F53BB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567" name="AutoShape 15">
            <a:extLst>
              <a:ext uri="{FF2B5EF4-FFF2-40B4-BE49-F238E27FC236}">
                <a16:creationId xmlns:a16="http://schemas.microsoft.com/office/drawing/2014/main" id="{6C1D82B0-73B9-4C44-8C4F-F8C0B9D0F5D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570" name="AutoShape 18">
            <a:extLst>
              <a:ext uri="{FF2B5EF4-FFF2-40B4-BE49-F238E27FC236}">
                <a16:creationId xmlns:a16="http://schemas.microsoft.com/office/drawing/2014/main" id="{42983E7C-3919-4679-95BC-4E103DB9C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571" name="AutoShape 19">
            <a:extLst>
              <a:ext uri="{FF2B5EF4-FFF2-40B4-BE49-F238E27FC236}">
                <a16:creationId xmlns:a16="http://schemas.microsoft.com/office/drawing/2014/main" id="{D66E6DD6-F8ED-42F2-A514-0CCD3E981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572" name="AutoShape 20">
            <a:extLst>
              <a:ext uri="{FF2B5EF4-FFF2-40B4-BE49-F238E27FC236}">
                <a16:creationId xmlns:a16="http://schemas.microsoft.com/office/drawing/2014/main" id="{DD91BED8-CDA2-404E-A993-D6B10291B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3813" name="Group 88">
            <a:extLst>
              <a:ext uri="{FF2B5EF4-FFF2-40B4-BE49-F238E27FC236}">
                <a16:creationId xmlns:a16="http://schemas.microsoft.com/office/drawing/2014/main" id="{518B5840-342B-4F2A-BEE5-FC35AA3F50D1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514600"/>
            <a:ext cx="609600" cy="2819400"/>
            <a:chOff x="432" y="1632"/>
            <a:chExt cx="384" cy="1728"/>
          </a:xfrm>
        </p:grpSpPr>
        <p:sp>
          <p:nvSpPr>
            <p:cNvPr id="535577" name="Line 25">
              <a:extLst>
                <a:ext uri="{FF2B5EF4-FFF2-40B4-BE49-F238E27FC236}">
                  <a16:creationId xmlns:a16="http://schemas.microsoft.com/office/drawing/2014/main" id="{DEBE5962-8896-4267-B3C3-09793D895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35578" name="Line 26">
              <a:extLst>
                <a:ext uri="{FF2B5EF4-FFF2-40B4-BE49-F238E27FC236}">
                  <a16:creationId xmlns:a16="http://schemas.microsoft.com/office/drawing/2014/main" id="{B873927D-46AA-4549-A3EA-401347E38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535591" name="AutoShape 39">
            <a:extLst>
              <a:ext uri="{FF2B5EF4-FFF2-40B4-BE49-F238E27FC236}">
                <a16:creationId xmlns:a16="http://schemas.microsoft.com/office/drawing/2014/main" id="{C3C7FFA4-AE96-4217-A3C3-B985832D908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09800" y="6553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592" name="AutoShape 40">
            <a:extLst>
              <a:ext uri="{FF2B5EF4-FFF2-40B4-BE49-F238E27FC236}">
                <a16:creationId xmlns:a16="http://schemas.microsoft.com/office/drawing/2014/main" id="{E4B08ADB-8D84-41E8-8208-9D4659E4C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6553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593" name="Line 41">
            <a:extLst>
              <a:ext uri="{FF2B5EF4-FFF2-40B4-BE49-F238E27FC236}">
                <a16:creationId xmlns:a16="http://schemas.microsoft.com/office/drawing/2014/main" id="{05E0D903-7073-4F4D-B484-C3EDA64220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676400"/>
            <a:ext cx="0" cy="5029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594" name="Line 42">
            <a:extLst>
              <a:ext uri="{FF2B5EF4-FFF2-40B4-BE49-F238E27FC236}">
                <a16:creationId xmlns:a16="http://schemas.microsoft.com/office/drawing/2014/main" id="{F48FB173-793D-4361-A2DA-C3C7DA7CF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676400"/>
            <a:ext cx="0" cy="5029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641" name="AutoShape 89">
            <a:extLst>
              <a:ext uri="{FF2B5EF4-FFF2-40B4-BE49-F238E27FC236}">
                <a16:creationId xmlns:a16="http://schemas.microsoft.com/office/drawing/2014/main" id="{F73C9581-1295-4510-8A5F-CF8987BB0317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2133600" y="1143000"/>
            <a:ext cx="203200" cy="457200"/>
          </a:xfrm>
          <a:prstGeom prst="rtTriangle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5642" name="AutoShape 90">
            <a:extLst>
              <a:ext uri="{FF2B5EF4-FFF2-40B4-BE49-F238E27FC236}">
                <a16:creationId xmlns:a16="http://schemas.microsoft.com/office/drawing/2014/main" id="{F5F95375-0B96-4672-AB6E-56158B95134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692400" y="1143000"/>
            <a:ext cx="203200" cy="457200"/>
          </a:xfrm>
          <a:prstGeom prst="rtTriangle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51">
            <a:extLst>
              <a:ext uri="{FF2B5EF4-FFF2-40B4-BE49-F238E27FC236}">
                <a16:creationId xmlns:a16="http://schemas.microsoft.com/office/drawing/2014/main" id="{085A64E4-4D96-47B9-92AB-51A3F6B0858B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105025"/>
            <a:ext cx="1800225" cy="1095375"/>
            <a:chOff x="192" y="1326"/>
            <a:chExt cx="1134" cy="690"/>
          </a:xfrm>
        </p:grpSpPr>
        <p:grpSp>
          <p:nvGrpSpPr>
            <p:cNvPr id="34849" name="Group 52">
              <a:extLst>
                <a:ext uri="{FF2B5EF4-FFF2-40B4-BE49-F238E27FC236}">
                  <a16:creationId xmlns:a16="http://schemas.microsoft.com/office/drawing/2014/main" id="{E339200A-5B06-48C5-88FC-028455B3A0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" y="1428"/>
              <a:ext cx="192" cy="126"/>
              <a:chOff x="544" y="251"/>
              <a:chExt cx="32" cy="21"/>
            </a:xfrm>
          </p:grpSpPr>
          <p:sp>
            <p:nvSpPr>
              <p:cNvPr id="546869" name="Rectangle 53">
                <a:extLst>
                  <a:ext uri="{FF2B5EF4-FFF2-40B4-BE49-F238E27FC236}">
                    <a16:creationId xmlns:a16="http://schemas.microsoft.com/office/drawing/2014/main" id="{D6D7B87B-4EFD-4065-8F05-147DB753AB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255"/>
                <a:ext cx="32" cy="13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6870" name="AutoShape 54">
                <a:extLst>
                  <a:ext uri="{FF2B5EF4-FFF2-40B4-BE49-F238E27FC236}">
                    <a16:creationId xmlns:a16="http://schemas.microsoft.com/office/drawing/2014/main" id="{0EC5C4EE-6B3E-4030-A35F-919B2E39B7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251"/>
                <a:ext cx="20" cy="21"/>
              </a:xfrm>
              <a:prstGeom prst="flowChartSummingJunction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34850" name="Group 55">
              <a:extLst>
                <a:ext uri="{FF2B5EF4-FFF2-40B4-BE49-F238E27FC236}">
                  <a16:creationId xmlns:a16="http://schemas.microsoft.com/office/drawing/2014/main" id="{E1AE7875-2A57-430E-BB48-AC93D2D5CE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4" y="1428"/>
              <a:ext cx="192" cy="126"/>
              <a:chOff x="544" y="251"/>
              <a:chExt cx="32" cy="21"/>
            </a:xfrm>
          </p:grpSpPr>
          <p:sp>
            <p:nvSpPr>
              <p:cNvPr id="546872" name="Rectangle 56">
                <a:extLst>
                  <a:ext uri="{FF2B5EF4-FFF2-40B4-BE49-F238E27FC236}">
                    <a16:creationId xmlns:a16="http://schemas.microsoft.com/office/drawing/2014/main" id="{2777A0F6-347E-4387-A3F9-F91ED8172A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255"/>
                <a:ext cx="32" cy="13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6873" name="AutoShape 57">
                <a:extLst>
                  <a:ext uri="{FF2B5EF4-FFF2-40B4-BE49-F238E27FC236}">
                    <a16:creationId xmlns:a16="http://schemas.microsoft.com/office/drawing/2014/main" id="{969F9B86-A85F-47B2-9F0D-56FB55478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251"/>
                <a:ext cx="20" cy="21"/>
              </a:xfrm>
              <a:prstGeom prst="flowChartSummingJunction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34851" name="Group 58">
              <a:extLst>
                <a:ext uri="{FF2B5EF4-FFF2-40B4-BE49-F238E27FC236}">
                  <a16:creationId xmlns:a16="http://schemas.microsoft.com/office/drawing/2014/main" id="{76AD74F3-742B-4149-8D29-DF9CB21A18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326"/>
              <a:ext cx="858" cy="354"/>
              <a:chOff x="405" y="908"/>
              <a:chExt cx="143" cy="59"/>
            </a:xfrm>
          </p:grpSpPr>
          <p:grpSp>
            <p:nvGrpSpPr>
              <p:cNvPr id="34868" name="Group 59">
                <a:extLst>
                  <a:ext uri="{FF2B5EF4-FFF2-40B4-BE49-F238E27FC236}">
                    <a16:creationId xmlns:a16="http://schemas.microsoft.com/office/drawing/2014/main" id="{8ABC5F02-587F-4AFE-A2DC-A64C9423E6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" y="908"/>
                <a:ext cx="143" cy="59"/>
                <a:chOff x="417" y="359"/>
                <a:chExt cx="107" cy="70"/>
              </a:xfrm>
            </p:grpSpPr>
            <p:sp>
              <p:nvSpPr>
                <p:cNvPr id="546876" name="Rectangle 60">
                  <a:extLst>
                    <a:ext uri="{FF2B5EF4-FFF2-40B4-BE49-F238E27FC236}">
                      <a16:creationId xmlns:a16="http://schemas.microsoft.com/office/drawing/2014/main" id="{9DCB41F6-BAA0-4FA9-91E7-3573C7D421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7" y="419"/>
                  <a:ext cx="107" cy="10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6877" name="Rectangle 61">
                  <a:extLst>
                    <a:ext uri="{FF2B5EF4-FFF2-40B4-BE49-F238E27FC236}">
                      <a16:creationId xmlns:a16="http://schemas.microsoft.com/office/drawing/2014/main" id="{8D0FD5C9-6276-4269-BBE4-1EFA457820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9" y="368"/>
                  <a:ext cx="83" cy="51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6878" name="Rectangle 62">
                  <a:extLst>
                    <a:ext uri="{FF2B5EF4-FFF2-40B4-BE49-F238E27FC236}">
                      <a16:creationId xmlns:a16="http://schemas.microsoft.com/office/drawing/2014/main" id="{6AAAEFA2-7A97-4264-994F-D4E7080A5B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3" y="359"/>
                  <a:ext cx="96" cy="10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4869" name="Group 63">
                <a:extLst>
                  <a:ext uri="{FF2B5EF4-FFF2-40B4-BE49-F238E27FC236}">
                    <a16:creationId xmlns:a16="http://schemas.microsoft.com/office/drawing/2014/main" id="{6DF1795A-DCDB-4267-8D65-B49E384427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4" y="908"/>
                <a:ext cx="86" cy="59"/>
                <a:chOff x="432" y="908"/>
                <a:chExt cx="89" cy="59"/>
              </a:xfrm>
            </p:grpSpPr>
            <p:sp>
              <p:nvSpPr>
                <p:cNvPr id="546880" name="AutoShape 64">
                  <a:extLst>
                    <a:ext uri="{FF2B5EF4-FFF2-40B4-BE49-F238E27FC236}">
                      <a16:creationId xmlns:a16="http://schemas.microsoft.com/office/drawing/2014/main" id="{0AA58DEF-DF98-4BC2-A036-888383975F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" y="908"/>
                  <a:ext cx="89" cy="42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6881" name="Rectangle 65">
                  <a:extLst>
                    <a:ext uri="{FF2B5EF4-FFF2-40B4-BE49-F238E27FC236}">
                      <a16:creationId xmlns:a16="http://schemas.microsoft.com/office/drawing/2014/main" id="{3CFA590D-7DA3-4E59-904E-DE9EC2997A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5" y="947"/>
                  <a:ext cx="84" cy="2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6882" name="Rectangle 66">
                  <a:extLst>
                    <a:ext uri="{FF2B5EF4-FFF2-40B4-BE49-F238E27FC236}">
                      <a16:creationId xmlns:a16="http://schemas.microsoft.com/office/drawing/2014/main" id="{54413E08-401F-4417-B3FD-A65606EAC4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3" y="931"/>
                  <a:ext cx="47" cy="19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</p:grpSp>
        <p:grpSp>
          <p:nvGrpSpPr>
            <p:cNvPr id="34852" name="Group 67">
              <a:extLst>
                <a:ext uri="{FF2B5EF4-FFF2-40B4-BE49-F238E27FC236}">
                  <a16:creationId xmlns:a16="http://schemas.microsoft.com/office/drawing/2014/main" id="{6C3B1EFF-2D2E-4F99-9FEA-DB4BF9DA4C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2" y="1746"/>
              <a:ext cx="192" cy="126"/>
              <a:chOff x="544" y="251"/>
              <a:chExt cx="32" cy="21"/>
            </a:xfrm>
          </p:grpSpPr>
          <p:sp>
            <p:nvSpPr>
              <p:cNvPr id="546884" name="Rectangle 68">
                <a:extLst>
                  <a:ext uri="{FF2B5EF4-FFF2-40B4-BE49-F238E27FC236}">
                    <a16:creationId xmlns:a16="http://schemas.microsoft.com/office/drawing/2014/main" id="{EADA1400-A38C-4847-9F5E-81BD95BE6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" y="255"/>
                <a:ext cx="32" cy="13"/>
              </a:xfrm>
              <a:prstGeom prst="rect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6885" name="AutoShape 69">
                <a:extLst>
                  <a:ext uri="{FF2B5EF4-FFF2-40B4-BE49-F238E27FC236}">
                    <a16:creationId xmlns:a16="http://schemas.microsoft.com/office/drawing/2014/main" id="{5FE73951-D576-4224-95A0-51B24389C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251"/>
                <a:ext cx="20" cy="21"/>
              </a:xfrm>
              <a:prstGeom prst="flowChartSummingJunction">
                <a:avLst/>
              </a:prstGeom>
              <a:solidFill>
                <a:srgbClr val="969696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  <p:grpSp>
          <p:nvGrpSpPr>
            <p:cNvPr id="34853" name="Group 70">
              <a:extLst>
                <a:ext uri="{FF2B5EF4-FFF2-40B4-BE49-F238E27FC236}">
                  <a16:creationId xmlns:a16="http://schemas.microsoft.com/office/drawing/2014/main" id="{42F0DE2C-3783-42C5-96E5-126931AAE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674"/>
              <a:ext cx="858" cy="342"/>
              <a:chOff x="405" y="966"/>
              <a:chExt cx="143" cy="57"/>
            </a:xfrm>
          </p:grpSpPr>
          <p:grpSp>
            <p:nvGrpSpPr>
              <p:cNvPr id="34859" name="Group 71">
                <a:extLst>
                  <a:ext uri="{FF2B5EF4-FFF2-40B4-BE49-F238E27FC236}">
                    <a16:creationId xmlns:a16="http://schemas.microsoft.com/office/drawing/2014/main" id="{04D6CD9F-E920-4F4E-A9C2-99408978D0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" y="966"/>
                <a:ext cx="143" cy="57"/>
                <a:chOff x="417" y="445"/>
                <a:chExt cx="107" cy="66"/>
              </a:xfrm>
            </p:grpSpPr>
            <p:sp>
              <p:nvSpPr>
                <p:cNvPr id="546888" name="Rectangle 72">
                  <a:extLst>
                    <a:ext uri="{FF2B5EF4-FFF2-40B4-BE49-F238E27FC236}">
                      <a16:creationId xmlns:a16="http://schemas.microsoft.com/office/drawing/2014/main" id="{0C52A6F5-7E56-4E0E-B51C-76CC561596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25" y="454"/>
                  <a:ext cx="91" cy="57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6889" name="Rectangle 73">
                  <a:extLst>
                    <a:ext uri="{FF2B5EF4-FFF2-40B4-BE49-F238E27FC236}">
                      <a16:creationId xmlns:a16="http://schemas.microsoft.com/office/drawing/2014/main" id="{A79EE718-64F4-4BDB-B8DA-F6B7F6ADCA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7" y="445"/>
                  <a:ext cx="107" cy="10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4860" name="Group 74">
                <a:extLst>
                  <a:ext uri="{FF2B5EF4-FFF2-40B4-BE49-F238E27FC236}">
                    <a16:creationId xmlns:a16="http://schemas.microsoft.com/office/drawing/2014/main" id="{06406591-CBCA-46A9-B07A-30D9DE4499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4" y="966"/>
                <a:ext cx="106" cy="57"/>
                <a:chOff x="424" y="966"/>
                <a:chExt cx="106" cy="57"/>
              </a:xfrm>
            </p:grpSpPr>
            <p:sp>
              <p:nvSpPr>
                <p:cNvPr id="546891" name="AutoShape 75">
                  <a:extLst>
                    <a:ext uri="{FF2B5EF4-FFF2-40B4-BE49-F238E27FC236}">
                      <a16:creationId xmlns:a16="http://schemas.microsoft.com/office/drawing/2014/main" id="{70AB4632-EB7A-439F-B578-0CEEF33D7C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7" y="966"/>
                  <a:ext cx="99" cy="43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6892" name="Rectangle 76">
                  <a:extLst>
                    <a:ext uri="{FF2B5EF4-FFF2-40B4-BE49-F238E27FC236}">
                      <a16:creationId xmlns:a16="http://schemas.microsoft.com/office/drawing/2014/main" id="{1C7B1C60-0295-4917-BFBA-FB6269606E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4" y="998"/>
                  <a:ext cx="106" cy="2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6893" name="Rectangle 77">
                  <a:extLst>
                    <a:ext uri="{FF2B5EF4-FFF2-40B4-BE49-F238E27FC236}">
                      <a16:creationId xmlns:a16="http://schemas.microsoft.com/office/drawing/2014/main" id="{3A41CC86-B40A-4586-8A51-8C7DFDC68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7" y="989"/>
                  <a:ext cx="60" cy="2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</p:grpSp>
        <p:grpSp>
          <p:nvGrpSpPr>
            <p:cNvPr id="34854" name="Group 78">
              <a:extLst>
                <a:ext uri="{FF2B5EF4-FFF2-40B4-BE49-F238E27FC236}">
                  <a16:creationId xmlns:a16="http://schemas.microsoft.com/office/drawing/2014/main" id="{376558EA-D28C-4081-9CBD-EB90578E33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584"/>
              <a:ext cx="576" cy="336"/>
              <a:chOff x="336" y="1632"/>
              <a:chExt cx="576" cy="336"/>
            </a:xfrm>
          </p:grpSpPr>
          <p:sp>
            <p:nvSpPr>
              <p:cNvPr id="546895" name="AutoShape 79">
                <a:extLst>
                  <a:ext uri="{FF2B5EF4-FFF2-40B4-BE49-F238E27FC236}">
                    <a16:creationId xmlns:a16="http://schemas.microsoft.com/office/drawing/2014/main" id="{BE87F02E-B789-4504-B88E-2AD6DA97F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336" y="1728"/>
                <a:ext cx="96" cy="240"/>
              </a:xfrm>
              <a:prstGeom prst="rtTriangle">
                <a:avLst/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6896" name="AutoShape 80">
                <a:extLst>
                  <a:ext uri="{FF2B5EF4-FFF2-40B4-BE49-F238E27FC236}">
                    <a16:creationId xmlns:a16="http://schemas.microsoft.com/office/drawing/2014/main" id="{F6A06C14-794A-43E6-8F22-AC66AE2DF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816" y="1728"/>
                <a:ext cx="96" cy="240"/>
              </a:xfrm>
              <a:prstGeom prst="rtTriangle">
                <a:avLst/>
              </a:prstGeom>
              <a:solidFill>
                <a:srgbClr val="FF00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6897" name="Rectangle 81">
                <a:extLst>
                  <a:ext uri="{FF2B5EF4-FFF2-40B4-BE49-F238E27FC236}">
                    <a16:creationId xmlns:a16="http://schemas.microsoft.com/office/drawing/2014/main" id="{D90E046A-651C-4843-9354-2A7145C3C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632"/>
                <a:ext cx="48" cy="96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546898" name="Rectangle 82">
                <a:extLst>
                  <a:ext uri="{FF2B5EF4-FFF2-40B4-BE49-F238E27FC236}">
                    <a16:creationId xmlns:a16="http://schemas.microsoft.com/office/drawing/2014/main" id="{E4B629BD-8B93-4DDE-8471-D2212825C0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632"/>
                <a:ext cx="48" cy="96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</p:grpSp>
      </p:grpSp>
      <p:sp>
        <p:nvSpPr>
          <p:cNvPr id="546864" name="Rectangle 48" descr="Divot">
            <a:extLst>
              <a:ext uri="{FF2B5EF4-FFF2-40B4-BE49-F238E27FC236}">
                <a16:creationId xmlns:a16="http://schemas.microsoft.com/office/drawing/2014/main" id="{3AA1DF6B-4C56-4F37-BD3F-565C9F46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65" name="Rectangle 49" descr="Divot">
            <a:extLst>
              <a:ext uri="{FF2B5EF4-FFF2-40B4-BE49-F238E27FC236}">
                <a16:creationId xmlns:a16="http://schemas.microsoft.com/office/drawing/2014/main" id="{2F8CA0D4-0823-4E50-B496-39CE026AA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62" name="Rectangle 46" descr="Divot">
            <a:extLst>
              <a:ext uri="{FF2B5EF4-FFF2-40B4-BE49-F238E27FC236}">
                <a16:creationId xmlns:a16="http://schemas.microsoft.com/office/drawing/2014/main" id="{F797FBE8-BE66-409A-BC6D-25FDE3326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715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63" name="Rectangle 47" descr="Divot">
            <a:extLst>
              <a:ext uri="{FF2B5EF4-FFF2-40B4-BE49-F238E27FC236}">
                <a16:creationId xmlns:a16="http://schemas.microsoft.com/office/drawing/2014/main" id="{290A242F-77A2-4324-A2F2-97C022433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15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60" name="Rectangle 44" descr="Divot">
            <a:extLst>
              <a:ext uri="{FF2B5EF4-FFF2-40B4-BE49-F238E27FC236}">
                <a16:creationId xmlns:a16="http://schemas.microsoft.com/office/drawing/2014/main" id="{49339F45-EA3E-43DD-8BCE-B35D53A99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61" name="Rectangle 45" descr="Divot">
            <a:extLst>
              <a:ext uri="{FF2B5EF4-FFF2-40B4-BE49-F238E27FC236}">
                <a16:creationId xmlns:a16="http://schemas.microsoft.com/office/drawing/2014/main" id="{681BE874-FE45-4224-8F6A-96288BD65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4825" name="Rectangle 7">
            <a:extLst>
              <a:ext uri="{FF2B5EF4-FFF2-40B4-BE49-F238E27FC236}">
                <a16:creationId xmlns:a16="http://schemas.microsoft.com/office/drawing/2014/main" id="{13E62AEB-D369-4A00-8499-0B4E1CA5C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Next Hole (Int or Prod)</a:t>
            </a:r>
          </a:p>
        </p:txBody>
      </p:sp>
      <p:sp>
        <p:nvSpPr>
          <p:cNvPr id="34826" name="Rectangle 8">
            <a:extLst>
              <a:ext uri="{FF2B5EF4-FFF2-40B4-BE49-F238E27FC236}">
                <a16:creationId xmlns:a16="http://schemas.microsoft.com/office/drawing/2014/main" id="{EAD0CB92-335D-4898-80DF-1DAEA9F4D32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Remove BOP’s if not done so already</a:t>
            </a:r>
          </a:p>
          <a:p>
            <a:r>
              <a:rPr lang="en-US" altLang="en-US" sz="2400"/>
              <a:t>Install “C” section packoff in preparation for next Wellhead section</a:t>
            </a:r>
          </a:p>
        </p:txBody>
      </p:sp>
      <p:sp>
        <p:nvSpPr>
          <p:cNvPr id="546825" name="Line 9">
            <a:extLst>
              <a:ext uri="{FF2B5EF4-FFF2-40B4-BE49-F238E27FC236}">
                <a16:creationId xmlns:a16="http://schemas.microsoft.com/office/drawing/2014/main" id="{C9DC8173-75D7-45B1-A625-8E6035B06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26" name="Line 10">
            <a:extLst>
              <a:ext uri="{FF2B5EF4-FFF2-40B4-BE49-F238E27FC236}">
                <a16:creationId xmlns:a16="http://schemas.microsoft.com/office/drawing/2014/main" id="{320D750D-CF81-4726-8B2A-782635547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27" name="Line 11">
            <a:extLst>
              <a:ext uri="{FF2B5EF4-FFF2-40B4-BE49-F238E27FC236}">
                <a16:creationId xmlns:a16="http://schemas.microsoft.com/office/drawing/2014/main" id="{0822A336-D1CF-4F78-BF34-8F9FB1E2BA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28" name="Line 12">
            <a:extLst>
              <a:ext uri="{FF2B5EF4-FFF2-40B4-BE49-F238E27FC236}">
                <a16:creationId xmlns:a16="http://schemas.microsoft.com/office/drawing/2014/main" id="{CA8C3FC0-86C5-46DD-9528-B3939136F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29" name="AutoShape 13">
            <a:extLst>
              <a:ext uri="{FF2B5EF4-FFF2-40B4-BE49-F238E27FC236}">
                <a16:creationId xmlns:a16="http://schemas.microsoft.com/office/drawing/2014/main" id="{2EA33696-D968-4FAE-BD58-046C2644534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30" name="AutoShape 14">
            <a:extLst>
              <a:ext uri="{FF2B5EF4-FFF2-40B4-BE49-F238E27FC236}">
                <a16:creationId xmlns:a16="http://schemas.microsoft.com/office/drawing/2014/main" id="{EE606021-24FF-4D48-AC64-0B300318813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31" name="AutoShape 15">
            <a:extLst>
              <a:ext uri="{FF2B5EF4-FFF2-40B4-BE49-F238E27FC236}">
                <a16:creationId xmlns:a16="http://schemas.microsoft.com/office/drawing/2014/main" id="{9DAF3A22-6A54-4B75-8383-33A47B6D61F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32" name="AutoShape 16">
            <a:extLst>
              <a:ext uri="{FF2B5EF4-FFF2-40B4-BE49-F238E27FC236}">
                <a16:creationId xmlns:a16="http://schemas.microsoft.com/office/drawing/2014/main" id="{9067D31B-78B7-42BA-B4B6-B7F9FA4E6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33" name="AutoShape 17">
            <a:extLst>
              <a:ext uri="{FF2B5EF4-FFF2-40B4-BE49-F238E27FC236}">
                <a16:creationId xmlns:a16="http://schemas.microsoft.com/office/drawing/2014/main" id="{E6F086CC-D83F-4619-B2C5-C6798F5C5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34" name="AutoShape 18">
            <a:extLst>
              <a:ext uri="{FF2B5EF4-FFF2-40B4-BE49-F238E27FC236}">
                <a16:creationId xmlns:a16="http://schemas.microsoft.com/office/drawing/2014/main" id="{6141A7B9-0F1A-4CC6-905E-22EBC37B7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4837" name="Group 50">
            <a:extLst>
              <a:ext uri="{FF2B5EF4-FFF2-40B4-BE49-F238E27FC236}">
                <a16:creationId xmlns:a16="http://schemas.microsoft.com/office/drawing/2014/main" id="{F57DC132-9142-419B-9BC6-EB4FF7C239A9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514600"/>
            <a:ext cx="609600" cy="2819400"/>
            <a:chOff x="432" y="1632"/>
            <a:chExt cx="384" cy="1728"/>
          </a:xfrm>
        </p:grpSpPr>
        <p:sp>
          <p:nvSpPr>
            <p:cNvPr id="546839" name="Line 23">
              <a:extLst>
                <a:ext uri="{FF2B5EF4-FFF2-40B4-BE49-F238E27FC236}">
                  <a16:creationId xmlns:a16="http://schemas.microsoft.com/office/drawing/2014/main" id="{DD0856C5-F5AB-4419-BEAB-1ED9391BB5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6840" name="Line 24">
              <a:extLst>
                <a:ext uri="{FF2B5EF4-FFF2-40B4-BE49-F238E27FC236}">
                  <a16:creationId xmlns:a16="http://schemas.microsoft.com/office/drawing/2014/main" id="{BE20F360-84AC-4D87-B13C-A810E04B6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546845" name="AutoShape 29">
            <a:extLst>
              <a:ext uri="{FF2B5EF4-FFF2-40B4-BE49-F238E27FC236}">
                <a16:creationId xmlns:a16="http://schemas.microsoft.com/office/drawing/2014/main" id="{4565999E-3CC7-4A89-9853-7B0227ADEE2F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2133600" y="2133600"/>
            <a:ext cx="203200" cy="457200"/>
          </a:xfrm>
          <a:prstGeom prst="rtTriangle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47" name="AutoShape 31">
            <a:extLst>
              <a:ext uri="{FF2B5EF4-FFF2-40B4-BE49-F238E27FC236}">
                <a16:creationId xmlns:a16="http://schemas.microsoft.com/office/drawing/2014/main" id="{3EBE7F94-8E2B-4A0F-8EAC-2CCE13644AE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09800" y="6553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848" name="AutoShape 32">
            <a:extLst>
              <a:ext uri="{FF2B5EF4-FFF2-40B4-BE49-F238E27FC236}">
                <a16:creationId xmlns:a16="http://schemas.microsoft.com/office/drawing/2014/main" id="{A9A57AD8-4B76-4708-B6F7-9E1922EBE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6553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4841" name="Group 85">
            <a:extLst>
              <a:ext uri="{FF2B5EF4-FFF2-40B4-BE49-F238E27FC236}">
                <a16:creationId xmlns:a16="http://schemas.microsoft.com/office/drawing/2014/main" id="{B0DEC768-1EE6-4C2F-BF70-D5E684613E66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981200"/>
            <a:ext cx="304800" cy="4724400"/>
            <a:chOff x="528" y="1296"/>
            <a:chExt cx="192" cy="2928"/>
          </a:xfrm>
        </p:grpSpPr>
        <p:sp>
          <p:nvSpPr>
            <p:cNvPr id="546849" name="Line 33">
              <a:extLst>
                <a:ext uri="{FF2B5EF4-FFF2-40B4-BE49-F238E27FC236}">
                  <a16:creationId xmlns:a16="http://schemas.microsoft.com/office/drawing/2014/main" id="{624F8EF5-6A55-41DF-B5C6-BC7A513087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96"/>
              <a:ext cx="0" cy="29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6850" name="Line 34">
              <a:extLst>
                <a:ext uri="{FF2B5EF4-FFF2-40B4-BE49-F238E27FC236}">
                  <a16:creationId xmlns:a16="http://schemas.microsoft.com/office/drawing/2014/main" id="{DD1FDF23-379B-4E81-A465-4E988E36CD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96"/>
              <a:ext cx="0" cy="29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546900" name="AutoShape 84">
            <a:extLst>
              <a:ext uri="{FF2B5EF4-FFF2-40B4-BE49-F238E27FC236}">
                <a16:creationId xmlns:a16="http://schemas.microsoft.com/office/drawing/2014/main" id="{4FB32D21-5A2F-481B-87DD-EEC40873260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692400" y="2133600"/>
            <a:ext cx="203200" cy="457200"/>
          </a:xfrm>
          <a:prstGeom prst="rtTriangle">
            <a:avLst/>
          </a:prstGeom>
          <a:solidFill>
            <a:srgbClr val="FF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904" name="Rectangle 88">
            <a:extLst>
              <a:ext uri="{FF2B5EF4-FFF2-40B4-BE49-F238E27FC236}">
                <a16:creationId xmlns:a16="http://schemas.microsoft.com/office/drawing/2014/main" id="{AFBA748E-15AD-4B90-BE68-E4468D68E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152400" cy="1524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6905" name="Rectangle 89">
            <a:extLst>
              <a:ext uri="{FF2B5EF4-FFF2-40B4-BE49-F238E27FC236}">
                <a16:creationId xmlns:a16="http://schemas.microsoft.com/office/drawing/2014/main" id="{CEC729D5-0D96-4156-9D4B-E2A39F0ED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371600"/>
            <a:ext cx="152400" cy="1524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788" name="Rectangle 92">
            <a:extLst>
              <a:ext uri="{FF2B5EF4-FFF2-40B4-BE49-F238E27FC236}">
                <a16:creationId xmlns:a16="http://schemas.microsoft.com/office/drawing/2014/main" id="{10D3B98E-F17A-4A8C-955C-B37CA379E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905000"/>
            <a:ext cx="152400" cy="1524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89" name="Rectangle 93">
            <a:extLst>
              <a:ext uri="{FF2B5EF4-FFF2-40B4-BE49-F238E27FC236}">
                <a16:creationId xmlns:a16="http://schemas.microsoft.com/office/drawing/2014/main" id="{53298F6E-0EF1-432C-B38A-6B395674B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905000"/>
            <a:ext cx="152400" cy="1524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5844" name="Group 90">
            <a:extLst>
              <a:ext uri="{FF2B5EF4-FFF2-40B4-BE49-F238E27FC236}">
                <a16:creationId xmlns:a16="http://schemas.microsoft.com/office/drawing/2014/main" id="{72A5B7C2-C7A0-4EAE-8386-F30450D84622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105025"/>
            <a:ext cx="1800225" cy="1095375"/>
            <a:chOff x="1920" y="1488"/>
            <a:chExt cx="1134" cy="690"/>
          </a:xfrm>
        </p:grpSpPr>
        <p:grpSp>
          <p:nvGrpSpPr>
            <p:cNvPr id="35871" name="Group 54">
              <a:extLst>
                <a:ext uri="{FF2B5EF4-FFF2-40B4-BE49-F238E27FC236}">
                  <a16:creationId xmlns:a16="http://schemas.microsoft.com/office/drawing/2014/main" id="{84B5808B-2C03-4786-8FB2-F802AE4351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1488"/>
              <a:ext cx="1134" cy="690"/>
              <a:chOff x="192" y="1326"/>
              <a:chExt cx="1134" cy="690"/>
            </a:xfrm>
          </p:grpSpPr>
          <p:grpSp>
            <p:nvGrpSpPr>
              <p:cNvPr id="35874" name="Group 55">
                <a:extLst>
                  <a:ext uri="{FF2B5EF4-FFF2-40B4-BE49-F238E27FC236}">
                    <a16:creationId xmlns:a16="http://schemas.microsoft.com/office/drawing/2014/main" id="{9E5CF348-EF1B-4FBF-81C0-EDBDA326B2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2" y="1428"/>
                <a:ext cx="192" cy="126"/>
                <a:chOff x="544" y="251"/>
                <a:chExt cx="32" cy="21"/>
              </a:xfrm>
            </p:grpSpPr>
            <p:sp>
              <p:nvSpPr>
                <p:cNvPr id="541752" name="Rectangle 56">
                  <a:extLst>
                    <a:ext uri="{FF2B5EF4-FFF2-40B4-BE49-F238E27FC236}">
                      <a16:creationId xmlns:a16="http://schemas.microsoft.com/office/drawing/2014/main" id="{2C4A8269-AEB3-4CFD-9BE7-D2E6AE3410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4" y="255"/>
                  <a:ext cx="32" cy="13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1753" name="AutoShape 57">
                  <a:extLst>
                    <a:ext uri="{FF2B5EF4-FFF2-40B4-BE49-F238E27FC236}">
                      <a16:creationId xmlns:a16="http://schemas.microsoft.com/office/drawing/2014/main" id="{EEE2E790-0511-4E24-B077-CC8F00776D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" y="251"/>
                  <a:ext cx="20" cy="21"/>
                </a:xfrm>
                <a:prstGeom prst="flowChartSummingJunction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5875" name="Group 58">
                <a:extLst>
                  <a:ext uri="{FF2B5EF4-FFF2-40B4-BE49-F238E27FC236}">
                    <a16:creationId xmlns:a16="http://schemas.microsoft.com/office/drawing/2014/main" id="{7778C452-D02F-42AF-8A57-7D0ECBE13B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34" y="1428"/>
                <a:ext cx="192" cy="126"/>
                <a:chOff x="544" y="251"/>
                <a:chExt cx="32" cy="21"/>
              </a:xfrm>
            </p:grpSpPr>
            <p:sp>
              <p:nvSpPr>
                <p:cNvPr id="541755" name="Rectangle 59">
                  <a:extLst>
                    <a:ext uri="{FF2B5EF4-FFF2-40B4-BE49-F238E27FC236}">
                      <a16:creationId xmlns:a16="http://schemas.microsoft.com/office/drawing/2014/main" id="{A00A19C4-94FC-4365-A009-3B66BDDBFE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4" y="255"/>
                  <a:ext cx="32" cy="13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1756" name="AutoShape 60">
                  <a:extLst>
                    <a:ext uri="{FF2B5EF4-FFF2-40B4-BE49-F238E27FC236}">
                      <a16:creationId xmlns:a16="http://schemas.microsoft.com/office/drawing/2014/main" id="{43074317-95DA-4A68-82BF-0C782CB3C2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" y="251"/>
                  <a:ext cx="20" cy="21"/>
                </a:xfrm>
                <a:prstGeom prst="flowChartSummingJunction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5876" name="Group 61">
                <a:extLst>
                  <a:ext uri="{FF2B5EF4-FFF2-40B4-BE49-F238E27FC236}">
                    <a16:creationId xmlns:a16="http://schemas.microsoft.com/office/drawing/2014/main" id="{6606DD70-1833-4991-A487-C6137736C3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1326"/>
                <a:ext cx="858" cy="354"/>
                <a:chOff x="405" y="908"/>
                <a:chExt cx="143" cy="59"/>
              </a:xfrm>
            </p:grpSpPr>
            <p:grpSp>
              <p:nvGrpSpPr>
                <p:cNvPr id="35893" name="Group 62">
                  <a:extLst>
                    <a:ext uri="{FF2B5EF4-FFF2-40B4-BE49-F238E27FC236}">
                      <a16:creationId xmlns:a16="http://schemas.microsoft.com/office/drawing/2014/main" id="{7DE80400-C854-4B3D-97EE-51DF1037FE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" y="908"/>
                  <a:ext cx="143" cy="59"/>
                  <a:chOff x="417" y="359"/>
                  <a:chExt cx="107" cy="70"/>
                </a:xfrm>
              </p:grpSpPr>
              <p:sp>
                <p:nvSpPr>
                  <p:cNvPr id="541759" name="Rectangle 63">
                    <a:extLst>
                      <a:ext uri="{FF2B5EF4-FFF2-40B4-BE49-F238E27FC236}">
                        <a16:creationId xmlns:a16="http://schemas.microsoft.com/office/drawing/2014/main" id="{9F9D004C-DEE7-4EE3-9173-A2F9BC34A8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17" y="419"/>
                    <a:ext cx="107" cy="10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541760" name="Rectangle 64">
                    <a:extLst>
                      <a:ext uri="{FF2B5EF4-FFF2-40B4-BE49-F238E27FC236}">
                        <a16:creationId xmlns:a16="http://schemas.microsoft.com/office/drawing/2014/main" id="{8ACACF01-8EB7-4713-9326-8DAA5DD8F2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29" y="368"/>
                    <a:ext cx="83" cy="51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541761" name="Rectangle 65">
                    <a:extLst>
                      <a:ext uri="{FF2B5EF4-FFF2-40B4-BE49-F238E27FC236}">
                        <a16:creationId xmlns:a16="http://schemas.microsoft.com/office/drawing/2014/main" id="{35032044-6FEB-4B6F-8810-EFB0A623D1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23" y="359"/>
                    <a:ext cx="96" cy="10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</p:grpSp>
            <p:grpSp>
              <p:nvGrpSpPr>
                <p:cNvPr id="35894" name="Group 66">
                  <a:extLst>
                    <a:ext uri="{FF2B5EF4-FFF2-40B4-BE49-F238E27FC236}">
                      <a16:creationId xmlns:a16="http://schemas.microsoft.com/office/drawing/2014/main" id="{7BA8E6CA-8068-432F-A28F-CD955C24F59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4" y="908"/>
                  <a:ext cx="86" cy="59"/>
                  <a:chOff x="432" y="908"/>
                  <a:chExt cx="89" cy="59"/>
                </a:xfrm>
              </p:grpSpPr>
              <p:sp>
                <p:nvSpPr>
                  <p:cNvPr id="541763" name="AutoShape 67">
                    <a:extLst>
                      <a:ext uri="{FF2B5EF4-FFF2-40B4-BE49-F238E27FC236}">
                        <a16:creationId xmlns:a16="http://schemas.microsoft.com/office/drawing/2014/main" id="{5445133D-143C-4A43-95BF-C623F7636E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2" y="908"/>
                    <a:ext cx="89" cy="42"/>
                  </a:xfrm>
                  <a:custGeom>
                    <a:avLst/>
                    <a:gdLst>
                      <a:gd name="G0" fmla="+- 5400 0 0"/>
                      <a:gd name="G1" fmla="+- 21600 0 5400"/>
                      <a:gd name="G2" fmla="*/ 5400 1 2"/>
                      <a:gd name="G3" fmla="+- 21600 0 G2"/>
                      <a:gd name="G4" fmla="+/ 5400 21600 2"/>
                      <a:gd name="G5" fmla="+/ G1 0 2"/>
                      <a:gd name="G6" fmla="*/ 21600 21600 5400"/>
                      <a:gd name="G7" fmla="*/ G6 1 2"/>
                      <a:gd name="G8" fmla="+- 21600 0 G7"/>
                      <a:gd name="G9" fmla="*/ 21600 1 2"/>
                      <a:gd name="G10" fmla="+- 5400 0 G9"/>
                      <a:gd name="G11" fmla="?: G10 G8 0"/>
                      <a:gd name="G12" fmla="?: G10 G7 21600"/>
                      <a:gd name="T0" fmla="*/ 18900 w 21600"/>
                      <a:gd name="T1" fmla="*/ 10800 h 21600"/>
                      <a:gd name="T2" fmla="*/ 10800 w 21600"/>
                      <a:gd name="T3" fmla="*/ 21600 h 21600"/>
                      <a:gd name="T4" fmla="*/ 2700 w 21600"/>
                      <a:gd name="T5" fmla="*/ 10800 h 21600"/>
                      <a:gd name="T6" fmla="*/ 10800 w 21600"/>
                      <a:gd name="T7" fmla="*/ 0 h 21600"/>
                      <a:gd name="T8" fmla="*/ 4500 w 21600"/>
                      <a:gd name="T9" fmla="*/ 4500 h 21600"/>
                      <a:gd name="T10" fmla="*/ 17100 w 21600"/>
                      <a:gd name="T11" fmla="*/ 171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541764" name="Rectangle 68">
                    <a:extLst>
                      <a:ext uri="{FF2B5EF4-FFF2-40B4-BE49-F238E27FC236}">
                        <a16:creationId xmlns:a16="http://schemas.microsoft.com/office/drawing/2014/main" id="{66710ABD-9CCF-4E8C-BD6D-F5B70B29CE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5" y="947"/>
                    <a:ext cx="84" cy="20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541765" name="Rectangle 69">
                    <a:extLst>
                      <a:ext uri="{FF2B5EF4-FFF2-40B4-BE49-F238E27FC236}">
                        <a16:creationId xmlns:a16="http://schemas.microsoft.com/office/drawing/2014/main" id="{A5453146-847F-4F48-94D0-C6D49CCE5D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3" y="931"/>
                    <a:ext cx="47" cy="19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5877" name="Group 70">
                <a:extLst>
                  <a:ext uri="{FF2B5EF4-FFF2-40B4-BE49-F238E27FC236}">
                    <a16:creationId xmlns:a16="http://schemas.microsoft.com/office/drawing/2014/main" id="{F1E98240-A890-4C87-AD29-3D9F2F34BD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2" y="1746"/>
                <a:ext cx="192" cy="126"/>
                <a:chOff x="544" y="251"/>
                <a:chExt cx="32" cy="21"/>
              </a:xfrm>
            </p:grpSpPr>
            <p:sp>
              <p:nvSpPr>
                <p:cNvPr id="541767" name="Rectangle 71">
                  <a:extLst>
                    <a:ext uri="{FF2B5EF4-FFF2-40B4-BE49-F238E27FC236}">
                      <a16:creationId xmlns:a16="http://schemas.microsoft.com/office/drawing/2014/main" id="{18F6B57E-9C3E-4880-A08D-A1FD9377F0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4" y="255"/>
                  <a:ext cx="32" cy="13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1768" name="AutoShape 72">
                  <a:extLst>
                    <a:ext uri="{FF2B5EF4-FFF2-40B4-BE49-F238E27FC236}">
                      <a16:creationId xmlns:a16="http://schemas.microsoft.com/office/drawing/2014/main" id="{F6F1D241-6CE9-4156-B8E2-9D21FE51C2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" y="251"/>
                  <a:ext cx="20" cy="21"/>
                </a:xfrm>
                <a:prstGeom prst="flowChartSummingJunction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5878" name="Group 73">
                <a:extLst>
                  <a:ext uri="{FF2B5EF4-FFF2-40B4-BE49-F238E27FC236}">
                    <a16:creationId xmlns:a16="http://schemas.microsoft.com/office/drawing/2014/main" id="{614EC302-DC1F-445B-AFD1-A0590B6703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1674"/>
                <a:ext cx="858" cy="342"/>
                <a:chOff x="405" y="966"/>
                <a:chExt cx="143" cy="57"/>
              </a:xfrm>
            </p:grpSpPr>
            <p:grpSp>
              <p:nvGrpSpPr>
                <p:cNvPr id="35884" name="Group 74">
                  <a:extLst>
                    <a:ext uri="{FF2B5EF4-FFF2-40B4-BE49-F238E27FC236}">
                      <a16:creationId xmlns:a16="http://schemas.microsoft.com/office/drawing/2014/main" id="{E3D537F4-917F-44C3-A992-C4A3ED3AC4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" y="966"/>
                  <a:ext cx="143" cy="57"/>
                  <a:chOff x="417" y="445"/>
                  <a:chExt cx="107" cy="66"/>
                </a:xfrm>
              </p:grpSpPr>
              <p:sp>
                <p:nvSpPr>
                  <p:cNvPr id="541771" name="Rectangle 75">
                    <a:extLst>
                      <a:ext uri="{FF2B5EF4-FFF2-40B4-BE49-F238E27FC236}">
                        <a16:creationId xmlns:a16="http://schemas.microsoft.com/office/drawing/2014/main" id="{92AC8638-4D5E-419B-B523-510C9F458B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25" y="454"/>
                    <a:ext cx="91" cy="57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541772" name="Rectangle 76">
                    <a:extLst>
                      <a:ext uri="{FF2B5EF4-FFF2-40B4-BE49-F238E27FC236}">
                        <a16:creationId xmlns:a16="http://schemas.microsoft.com/office/drawing/2014/main" id="{B5F85375-F7BD-41B3-84FD-51B8B4052C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17" y="445"/>
                    <a:ext cx="107" cy="10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</p:grpSp>
            <p:grpSp>
              <p:nvGrpSpPr>
                <p:cNvPr id="35885" name="Group 77">
                  <a:extLst>
                    <a:ext uri="{FF2B5EF4-FFF2-40B4-BE49-F238E27FC236}">
                      <a16:creationId xmlns:a16="http://schemas.microsoft.com/office/drawing/2014/main" id="{4F71F550-D30D-405E-B617-0D8F173266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4" y="966"/>
                  <a:ext cx="106" cy="57"/>
                  <a:chOff x="424" y="966"/>
                  <a:chExt cx="106" cy="57"/>
                </a:xfrm>
              </p:grpSpPr>
              <p:sp>
                <p:nvSpPr>
                  <p:cNvPr id="541774" name="AutoShape 78">
                    <a:extLst>
                      <a:ext uri="{FF2B5EF4-FFF2-40B4-BE49-F238E27FC236}">
                        <a16:creationId xmlns:a16="http://schemas.microsoft.com/office/drawing/2014/main" id="{1B9F792A-8A7A-4A61-9C4E-A5E9E560D3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7" y="966"/>
                    <a:ext cx="99" cy="43"/>
                  </a:xfrm>
                  <a:custGeom>
                    <a:avLst/>
                    <a:gdLst>
                      <a:gd name="G0" fmla="+- 5400 0 0"/>
                      <a:gd name="G1" fmla="+- 21600 0 5400"/>
                      <a:gd name="G2" fmla="*/ 5400 1 2"/>
                      <a:gd name="G3" fmla="+- 21600 0 G2"/>
                      <a:gd name="G4" fmla="+/ 5400 21600 2"/>
                      <a:gd name="G5" fmla="+/ G1 0 2"/>
                      <a:gd name="G6" fmla="*/ 21600 21600 5400"/>
                      <a:gd name="G7" fmla="*/ G6 1 2"/>
                      <a:gd name="G8" fmla="+- 21600 0 G7"/>
                      <a:gd name="G9" fmla="*/ 21600 1 2"/>
                      <a:gd name="G10" fmla="+- 5400 0 G9"/>
                      <a:gd name="G11" fmla="?: G10 G8 0"/>
                      <a:gd name="G12" fmla="?: G10 G7 21600"/>
                      <a:gd name="T0" fmla="*/ 18900 w 21600"/>
                      <a:gd name="T1" fmla="*/ 10800 h 21600"/>
                      <a:gd name="T2" fmla="*/ 10800 w 21600"/>
                      <a:gd name="T3" fmla="*/ 21600 h 21600"/>
                      <a:gd name="T4" fmla="*/ 2700 w 21600"/>
                      <a:gd name="T5" fmla="*/ 10800 h 21600"/>
                      <a:gd name="T6" fmla="*/ 10800 w 21600"/>
                      <a:gd name="T7" fmla="*/ 0 h 21600"/>
                      <a:gd name="T8" fmla="*/ 4500 w 21600"/>
                      <a:gd name="T9" fmla="*/ 4500 h 21600"/>
                      <a:gd name="T10" fmla="*/ 17100 w 21600"/>
                      <a:gd name="T11" fmla="*/ 171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541775" name="Rectangle 79">
                    <a:extLst>
                      <a:ext uri="{FF2B5EF4-FFF2-40B4-BE49-F238E27FC236}">
                        <a16:creationId xmlns:a16="http://schemas.microsoft.com/office/drawing/2014/main" id="{87F83E08-A88F-45F6-ADD7-71E0FC6C1C1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4" y="998"/>
                    <a:ext cx="106" cy="25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541776" name="Rectangle 80">
                    <a:extLst>
                      <a:ext uri="{FF2B5EF4-FFF2-40B4-BE49-F238E27FC236}">
                        <a16:creationId xmlns:a16="http://schemas.microsoft.com/office/drawing/2014/main" id="{C7379F5E-C078-4340-BB0B-FC754B38FE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7" y="989"/>
                    <a:ext cx="60" cy="20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5879" name="Group 81">
                <a:extLst>
                  <a:ext uri="{FF2B5EF4-FFF2-40B4-BE49-F238E27FC236}">
                    <a16:creationId xmlns:a16="http://schemas.microsoft.com/office/drawing/2014/main" id="{985EA8C4-C918-42D8-B7C5-BA01A84966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1584"/>
                <a:ext cx="576" cy="336"/>
                <a:chOff x="336" y="1632"/>
                <a:chExt cx="576" cy="336"/>
              </a:xfrm>
            </p:grpSpPr>
            <p:sp>
              <p:nvSpPr>
                <p:cNvPr id="541778" name="AutoShape 82">
                  <a:extLst>
                    <a:ext uri="{FF2B5EF4-FFF2-40B4-BE49-F238E27FC236}">
                      <a16:creationId xmlns:a16="http://schemas.microsoft.com/office/drawing/2014/main" id="{97BBFB2F-FA03-472D-AAB1-1BF6AA4E4F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 flipV="1">
                  <a:off x="336" y="1728"/>
                  <a:ext cx="96" cy="240"/>
                </a:xfrm>
                <a:prstGeom prst="rtTriangle">
                  <a:avLst/>
                </a:prstGeom>
                <a:solidFill>
                  <a:srgbClr val="FF0000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1779" name="AutoShape 83">
                  <a:extLst>
                    <a:ext uri="{FF2B5EF4-FFF2-40B4-BE49-F238E27FC236}">
                      <a16:creationId xmlns:a16="http://schemas.microsoft.com/office/drawing/2014/main" id="{EA399C3D-3AC4-4284-999F-F2974E1DD7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816" y="1728"/>
                  <a:ext cx="96" cy="240"/>
                </a:xfrm>
                <a:prstGeom prst="rtTriangle">
                  <a:avLst/>
                </a:prstGeom>
                <a:solidFill>
                  <a:srgbClr val="FF0000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1780" name="Rectangle 84">
                  <a:extLst>
                    <a:ext uri="{FF2B5EF4-FFF2-40B4-BE49-F238E27FC236}">
                      <a16:creationId xmlns:a16="http://schemas.microsoft.com/office/drawing/2014/main" id="{1D5EE916-AA06-4F7E-A176-7FDFE8325C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" y="1632"/>
                  <a:ext cx="48" cy="96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1781" name="Rectangle 85">
                  <a:extLst>
                    <a:ext uri="{FF2B5EF4-FFF2-40B4-BE49-F238E27FC236}">
                      <a16:creationId xmlns:a16="http://schemas.microsoft.com/office/drawing/2014/main" id="{29C39BEE-1FC2-4F1E-AF40-A5C593B750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632"/>
                  <a:ext cx="48" cy="96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</p:grpSp>
        <p:sp>
          <p:nvSpPr>
            <p:cNvPr id="541782" name="AutoShape 86">
              <a:extLst>
                <a:ext uri="{FF2B5EF4-FFF2-40B4-BE49-F238E27FC236}">
                  <a16:creationId xmlns:a16="http://schemas.microsoft.com/office/drawing/2014/main" id="{9F32C497-49D8-440B-B0BE-2F499400D43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2112" y="1506"/>
              <a:ext cx="128" cy="288"/>
            </a:xfrm>
            <a:prstGeom prst="rtTriangle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1783" name="AutoShape 87">
              <a:extLst>
                <a:ext uri="{FF2B5EF4-FFF2-40B4-BE49-F238E27FC236}">
                  <a16:creationId xmlns:a16="http://schemas.microsoft.com/office/drawing/2014/main" id="{64445ABC-82E6-4B50-9361-F98A1E70782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464" y="1506"/>
              <a:ext cx="128" cy="288"/>
            </a:xfrm>
            <a:prstGeom prst="rtTriangle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541748" name="Rectangle 52" descr="Divot">
            <a:extLst>
              <a:ext uri="{FF2B5EF4-FFF2-40B4-BE49-F238E27FC236}">
                <a16:creationId xmlns:a16="http://schemas.microsoft.com/office/drawing/2014/main" id="{CF12BFD6-D4BF-4AA5-AB12-E321620A4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49" name="Rectangle 53" descr="Divot">
            <a:extLst>
              <a:ext uri="{FF2B5EF4-FFF2-40B4-BE49-F238E27FC236}">
                <a16:creationId xmlns:a16="http://schemas.microsoft.com/office/drawing/2014/main" id="{14A68ACB-6542-4926-85EC-99FE641B6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46" name="Rectangle 50" descr="Divot">
            <a:extLst>
              <a:ext uri="{FF2B5EF4-FFF2-40B4-BE49-F238E27FC236}">
                <a16:creationId xmlns:a16="http://schemas.microsoft.com/office/drawing/2014/main" id="{DBB5EE74-E7C4-418B-89D5-3C9F0B20A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715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47" name="Rectangle 51" descr="Divot">
            <a:extLst>
              <a:ext uri="{FF2B5EF4-FFF2-40B4-BE49-F238E27FC236}">
                <a16:creationId xmlns:a16="http://schemas.microsoft.com/office/drawing/2014/main" id="{327F17ED-98E3-40A2-B186-54DEB9020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15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44" name="Rectangle 48" descr="Divot">
            <a:extLst>
              <a:ext uri="{FF2B5EF4-FFF2-40B4-BE49-F238E27FC236}">
                <a16:creationId xmlns:a16="http://schemas.microsoft.com/office/drawing/2014/main" id="{55D93EFE-1D1E-4213-BAEE-B55D42332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45" name="Rectangle 49" descr="Divot">
            <a:extLst>
              <a:ext uri="{FF2B5EF4-FFF2-40B4-BE49-F238E27FC236}">
                <a16:creationId xmlns:a16="http://schemas.microsoft.com/office/drawing/2014/main" id="{3B078AF8-B0B0-411A-A672-3F0C0F84E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5851" name="Rectangle 7">
            <a:extLst>
              <a:ext uri="{FF2B5EF4-FFF2-40B4-BE49-F238E27FC236}">
                <a16:creationId xmlns:a16="http://schemas.microsoft.com/office/drawing/2014/main" id="{B5D6D00D-D1D0-4DD1-B60E-E9842979D3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Next Hole (Int or Prod)</a:t>
            </a:r>
          </a:p>
        </p:txBody>
      </p:sp>
      <p:sp>
        <p:nvSpPr>
          <p:cNvPr id="35852" name="Rectangle 8">
            <a:extLst>
              <a:ext uri="{FF2B5EF4-FFF2-40B4-BE49-F238E27FC236}">
                <a16:creationId xmlns:a16="http://schemas.microsoft.com/office/drawing/2014/main" id="{D2FA8D24-E344-436B-9D63-080AEFD601A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Ready for next Wellhead section</a:t>
            </a:r>
          </a:p>
        </p:txBody>
      </p:sp>
      <p:sp>
        <p:nvSpPr>
          <p:cNvPr id="541705" name="Line 9">
            <a:extLst>
              <a:ext uri="{FF2B5EF4-FFF2-40B4-BE49-F238E27FC236}">
                <a16:creationId xmlns:a16="http://schemas.microsoft.com/office/drawing/2014/main" id="{6933D175-3A82-4807-A48A-3F247764CC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06" name="Line 10">
            <a:extLst>
              <a:ext uri="{FF2B5EF4-FFF2-40B4-BE49-F238E27FC236}">
                <a16:creationId xmlns:a16="http://schemas.microsoft.com/office/drawing/2014/main" id="{B358640E-2206-4A06-9D0F-56ED45AA9A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07" name="Line 11">
            <a:extLst>
              <a:ext uri="{FF2B5EF4-FFF2-40B4-BE49-F238E27FC236}">
                <a16:creationId xmlns:a16="http://schemas.microsoft.com/office/drawing/2014/main" id="{262C39BA-FAF9-449F-91B4-725C323C29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08" name="Line 12">
            <a:extLst>
              <a:ext uri="{FF2B5EF4-FFF2-40B4-BE49-F238E27FC236}">
                <a16:creationId xmlns:a16="http://schemas.microsoft.com/office/drawing/2014/main" id="{953179E3-F0B0-4708-AAF7-25465EEA8F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09" name="AutoShape 13">
            <a:extLst>
              <a:ext uri="{FF2B5EF4-FFF2-40B4-BE49-F238E27FC236}">
                <a16:creationId xmlns:a16="http://schemas.microsoft.com/office/drawing/2014/main" id="{80F28343-A72F-4B72-B8A6-EC61937388C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10" name="AutoShape 14">
            <a:extLst>
              <a:ext uri="{FF2B5EF4-FFF2-40B4-BE49-F238E27FC236}">
                <a16:creationId xmlns:a16="http://schemas.microsoft.com/office/drawing/2014/main" id="{D6EDEF30-61EF-42D5-BA49-0F241E17FD7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11" name="AutoShape 15">
            <a:extLst>
              <a:ext uri="{FF2B5EF4-FFF2-40B4-BE49-F238E27FC236}">
                <a16:creationId xmlns:a16="http://schemas.microsoft.com/office/drawing/2014/main" id="{9FAC6A9C-0D24-4B20-BF91-227804C7094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12" name="AutoShape 16">
            <a:extLst>
              <a:ext uri="{FF2B5EF4-FFF2-40B4-BE49-F238E27FC236}">
                <a16:creationId xmlns:a16="http://schemas.microsoft.com/office/drawing/2014/main" id="{2BF56331-13EA-431C-8EA6-B8457A372B1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09800" y="6553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13" name="AutoShape 17">
            <a:extLst>
              <a:ext uri="{FF2B5EF4-FFF2-40B4-BE49-F238E27FC236}">
                <a16:creationId xmlns:a16="http://schemas.microsoft.com/office/drawing/2014/main" id="{CAF77E39-67CB-49FE-8F5A-05778E920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6553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14" name="AutoShape 18">
            <a:extLst>
              <a:ext uri="{FF2B5EF4-FFF2-40B4-BE49-F238E27FC236}">
                <a16:creationId xmlns:a16="http://schemas.microsoft.com/office/drawing/2014/main" id="{07E75FAF-ACDA-4CFC-BB74-1D07BB4BB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15" name="AutoShape 19">
            <a:extLst>
              <a:ext uri="{FF2B5EF4-FFF2-40B4-BE49-F238E27FC236}">
                <a16:creationId xmlns:a16="http://schemas.microsoft.com/office/drawing/2014/main" id="{88A1340A-BBCA-4C2A-811C-9E33D68E8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1716" name="AutoShape 20">
            <a:extLst>
              <a:ext uri="{FF2B5EF4-FFF2-40B4-BE49-F238E27FC236}">
                <a16:creationId xmlns:a16="http://schemas.microsoft.com/office/drawing/2014/main" id="{CDD2EFBE-70D6-41F9-9E6D-5C2C39987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5865" name="Group 88">
            <a:extLst>
              <a:ext uri="{FF2B5EF4-FFF2-40B4-BE49-F238E27FC236}">
                <a16:creationId xmlns:a16="http://schemas.microsoft.com/office/drawing/2014/main" id="{5AF07B5B-522A-4D9E-8333-006D74D6DE72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514600"/>
            <a:ext cx="609600" cy="2819400"/>
            <a:chOff x="432" y="1632"/>
            <a:chExt cx="384" cy="1728"/>
          </a:xfrm>
        </p:grpSpPr>
        <p:sp>
          <p:nvSpPr>
            <p:cNvPr id="541721" name="Line 25">
              <a:extLst>
                <a:ext uri="{FF2B5EF4-FFF2-40B4-BE49-F238E27FC236}">
                  <a16:creationId xmlns:a16="http://schemas.microsoft.com/office/drawing/2014/main" id="{1580E3C5-CDEF-46D6-B437-DB5B9AFBF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1722" name="Line 26">
              <a:extLst>
                <a:ext uri="{FF2B5EF4-FFF2-40B4-BE49-F238E27FC236}">
                  <a16:creationId xmlns:a16="http://schemas.microsoft.com/office/drawing/2014/main" id="{E223E810-7E04-4240-8304-D89712CE9B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35866" name="Group 89">
            <a:extLst>
              <a:ext uri="{FF2B5EF4-FFF2-40B4-BE49-F238E27FC236}">
                <a16:creationId xmlns:a16="http://schemas.microsoft.com/office/drawing/2014/main" id="{4806C5E7-0083-4225-A669-C7D589F8CA63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905000"/>
            <a:ext cx="304800" cy="4800600"/>
            <a:chOff x="528" y="1296"/>
            <a:chExt cx="192" cy="2928"/>
          </a:xfrm>
        </p:grpSpPr>
        <p:sp>
          <p:nvSpPr>
            <p:cNvPr id="541727" name="Line 31">
              <a:extLst>
                <a:ext uri="{FF2B5EF4-FFF2-40B4-BE49-F238E27FC236}">
                  <a16:creationId xmlns:a16="http://schemas.microsoft.com/office/drawing/2014/main" id="{52BA91A2-A509-4634-BD79-7378E39ED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96"/>
              <a:ext cx="0" cy="29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1728" name="Line 32">
              <a:extLst>
                <a:ext uri="{FF2B5EF4-FFF2-40B4-BE49-F238E27FC236}">
                  <a16:creationId xmlns:a16="http://schemas.microsoft.com/office/drawing/2014/main" id="{AF60229D-7F81-4BF9-A583-30F0BFB79D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96"/>
              <a:ext cx="0" cy="29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130">
            <a:extLst>
              <a:ext uri="{FF2B5EF4-FFF2-40B4-BE49-F238E27FC236}">
                <a16:creationId xmlns:a16="http://schemas.microsoft.com/office/drawing/2014/main" id="{43BA6FB6-1F79-4942-AFBC-B9913B89E990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571625"/>
            <a:ext cx="1762125" cy="1657350"/>
            <a:chOff x="192" y="990"/>
            <a:chExt cx="1110" cy="1044"/>
          </a:xfrm>
        </p:grpSpPr>
        <p:grpSp>
          <p:nvGrpSpPr>
            <p:cNvPr id="36893" name="Group 129">
              <a:extLst>
                <a:ext uri="{FF2B5EF4-FFF2-40B4-BE49-F238E27FC236}">
                  <a16:creationId xmlns:a16="http://schemas.microsoft.com/office/drawing/2014/main" id="{30469E5C-C52C-42E5-ACEA-7B3D8A4F12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990"/>
              <a:ext cx="1110" cy="1044"/>
              <a:chOff x="192" y="990"/>
              <a:chExt cx="1110" cy="1044"/>
            </a:xfrm>
          </p:grpSpPr>
          <p:grpSp>
            <p:nvGrpSpPr>
              <p:cNvPr id="36895" name="Group 112">
                <a:extLst>
                  <a:ext uri="{FF2B5EF4-FFF2-40B4-BE49-F238E27FC236}">
                    <a16:creationId xmlns:a16="http://schemas.microsoft.com/office/drawing/2014/main" id="{410AB5C9-8B1C-4720-BE7D-74D7D5592D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8" y="1086"/>
                <a:ext cx="192" cy="126"/>
                <a:chOff x="544" y="251"/>
                <a:chExt cx="32" cy="21"/>
              </a:xfrm>
            </p:grpSpPr>
            <p:sp>
              <p:nvSpPr>
                <p:cNvPr id="547953" name="Rectangle 113">
                  <a:extLst>
                    <a:ext uri="{FF2B5EF4-FFF2-40B4-BE49-F238E27FC236}">
                      <a16:creationId xmlns:a16="http://schemas.microsoft.com/office/drawing/2014/main" id="{7228D73D-6130-48F0-B342-75655A3EB7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4" y="255"/>
                  <a:ext cx="32" cy="13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7954" name="AutoShape 114">
                  <a:extLst>
                    <a:ext uri="{FF2B5EF4-FFF2-40B4-BE49-F238E27FC236}">
                      <a16:creationId xmlns:a16="http://schemas.microsoft.com/office/drawing/2014/main" id="{6A75543F-E9FF-4EFF-B7AB-9A46D3B6A5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" y="251"/>
                  <a:ext cx="20" cy="21"/>
                </a:xfrm>
                <a:prstGeom prst="flowChartSummingJunction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6896" name="Group 115">
                <a:extLst>
                  <a:ext uri="{FF2B5EF4-FFF2-40B4-BE49-F238E27FC236}">
                    <a16:creationId xmlns:a16="http://schemas.microsoft.com/office/drawing/2014/main" id="{30516EEF-A2DF-457F-9213-1948A61A0E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10" y="1086"/>
                <a:ext cx="192" cy="126"/>
                <a:chOff x="544" y="251"/>
                <a:chExt cx="32" cy="21"/>
              </a:xfrm>
            </p:grpSpPr>
            <p:sp>
              <p:nvSpPr>
                <p:cNvPr id="547956" name="Rectangle 116">
                  <a:extLst>
                    <a:ext uri="{FF2B5EF4-FFF2-40B4-BE49-F238E27FC236}">
                      <a16:creationId xmlns:a16="http://schemas.microsoft.com/office/drawing/2014/main" id="{7B21A908-A642-4F74-85C9-42D9A37B87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4" y="255"/>
                  <a:ext cx="32" cy="13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547957" name="AutoShape 117">
                  <a:extLst>
                    <a:ext uri="{FF2B5EF4-FFF2-40B4-BE49-F238E27FC236}">
                      <a16:creationId xmlns:a16="http://schemas.microsoft.com/office/drawing/2014/main" id="{3544F3EB-1587-4467-97C5-DB60299774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" y="251"/>
                  <a:ext cx="20" cy="21"/>
                </a:xfrm>
                <a:prstGeom prst="flowChartSummingJunction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6897" name="Group 118">
                <a:extLst>
                  <a:ext uri="{FF2B5EF4-FFF2-40B4-BE49-F238E27FC236}">
                    <a16:creationId xmlns:a16="http://schemas.microsoft.com/office/drawing/2014/main" id="{CD7F27B5-D523-45A1-B598-C00CB5A678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990"/>
                <a:ext cx="768" cy="354"/>
                <a:chOff x="413" y="849"/>
                <a:chExt cx="128" cy="59"/>
              </a:xfrm>
            </p:grpSpPr>
            <p:grpSp>
              <p:nvGrpSpPr>
                <p:cNvPr id="36932" name="Group 119">
                  <a:extLst>
                    <a:ext uri="{FF2B5EF4-FFF2-40B4-BE49-F238E27FC236}">
                      <a16:creationId xmlns:a16="http://schemas.microsoft.com/office/drawing/2014/main" id="{C8ED7D10-7F0F-4DE0-A74A-CD5710D3FD3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3" y="849"/>
                  <a:ext cx="128" cy="59"/>
                  <a:chOff x="423" y="292"/>
                  <a:chExt cx="96" cy="70"/>
                </a:xfrm>
              </p:grpSpPr>
              <p:sp>
                <p:nvSpPr>
                  <p:cNvPr id="547960" name="Rectangle 120">
                    <a:extLst>
                      <a:ext uri="{FF2B5EF4-FFF2-40B4-BE49-F238E27FC236}">
                        <a16:creationId xmlns:a16="http://schemas.microsoft.com/office/drawing/2014/main" id="{8B2E62F8-7BC7-4093-98F1-D9A18939C2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23" y="352"/>
                    <a:ext cx="96" cy="10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547961" name="Rectangle 121">
                    <a:extLst>
                      <a:ext uri="{FF2B5EF4-FFF2-40B4-BE49-F238E27FC236}">
                        <a16:creationId xmlns:a16="http://schemas.microsoft.com/office/drawing/2014/main" id="{2E141EDB-24C0-4053-A12F-088FFD656D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32" y="301"/>
                    <a:ext cx="77" cy="51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547962" name="Rectangle 122">
                    <a:extLst>
                      <a:ext uri="{FF2B5EF4-FFF2-40B4-BE49-F238E27FC236}">
                        <a16:creationId xmlns:a16="http://schemas.microsoft.com/office/drawing/2014/main" id="{58D21D76-B398-4E80-BB0E-A86676E49A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25" y="292"/>
                    <a:ext cx="91" cy="9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</p:grpSp>
            <p:grpSp>
              <p:nvGrpSpPr>
                <p:cNvPr id="36933" name="Group 123">
                  <a:extLst>
                    <a:ext uri="{FF2B5EF4-FFF2-40B4-BE49-F238E27FC236}">
                      <a16:creationId xmlns:a16="http://schemas.microsoft.com/office/drawing/2014/main" id="{99E7C97D-3513-4418-B2C4-067EE2CACB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7" y="849"/>
                  <a:ext cx="60" cy="59"/>
                  <a:chOff x="432" y="908"/>
                  <a:chExt cx="89" cy="59"/>
                </a:xfrm>
              </p:grpSpPr>
              <p:sp>
                <p:nvSpPr>
                  <p:cNvPr id="547964" name="AutoShape 124">
                    <a:extLst>
                      <a:ext uri="{FF2B5EF4-FFF2-40B4-BE49-F238E27FC236}">
                        <a16:creationId xmlns:a16="http://schemas.microsoft.com/office/drawing/2014/main" id="{FFFAAC2C-382A-4F76-9BB3-9813403E7E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2" y="908"/>
                    <a:ext cx="89" cy="42"/>
                  </a:xfrm>
                  <a:custGeom>
                    <a:avLst/>
                    <a:gdLst>
                      <a:gd name="G0" fmla="+- 5400 0 0"/>
                      <a:gd name="G1" fmla="+- 21600 0 5400"/>
                      <a:gd name="G2" fmla="*/ 5400 1 2"/>
                      <a:gd name="G3" fmla="+- 21600 0 G2"/>
                      <a:gd name="G4" fmla="+/ 5400 21600 2"/>
                      <a:gd name="G5" fmla="+/ G1 0 2"/>
                      <a:gd name="G6" fmla="*/ 21600 21600 5400"/>
                      <a:gd name="G7" fmla="*/ G6 1 2"/>
                      <a:gd name="G8" fmla="+- 21600 0 G7"/>
                      <a:gd name="G9" fmla="*/ 21600 1 2"/>
                      <a:gd name="G10" fmla="+- 5400 0 G9"/>
                      <a:gd name="G11" fmla="?: G10 G8 0"/>
                      <a:gd name="G12" fmla="?: G10 G7 21600"/>
                      <a:gd name="T0" fmla="*/ 18900 w 21600"/>
                      <a:gd name="T1" fmla="*/ 10800 h 21600"/>
                      <a:gd name="T2" fmla="*/ 10800 w 21600"/>
                      <a:gd name="T3" fmla="*/ 21600 h 21600"/>
                      <a:gd name="T4" fmla="*/ 2700 w 21600"/>
                      <a:gd name="T5" fmla="*/ 10800 h 21600"/>
                      <a:gd name="T6" fmla="*/ 10800 w 21600"/>
                      <a:gd name="T7" fmla="*/ 0 h 21600"/>
                      <a:gd name="T8" fmla="*/ 4500 w 21600"/>
                      <a:gd name="T9" fmla="*/ 4500 h 21600"/>
                      <a:gd name="T10" fmla="*/ 17100 w 21600"/>
                      <a:gd name="T11" fmla="*/ 171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547965" name="Rectangle 125">
                    <a:extLst>
                      <a:ext uri="{FF2B5EF4-FFF2-40B4-BE49-F238E27FC236}">
                        <a16:creationId xmlns:a16="http://schemas.microsoft.com/office/drawing/2014/main" id="{81E50FFB-12AE-4E5A-86DF-36C5A8E5F9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5" y="947"/>
                    <a:ext cx="84" cy="20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547966" name="Rectangle 126">
                    <a:extLst>
                      <a:ext uri="{FF2B5EF4-FFF2-40B4-BE49-F238E27FC236}">
                        <a16:creationId xmlns:a16="http://schemas.microsoft.com/office/drawing/2014/main" id="{A072A773-A0C1-41C9-92F6-5052F8936C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3" y="931"/>
                    <a:ext cx="47" cy="19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898" name="Group 128">
                <a:extLst>
                  <a:ext uri="{FF2B5EF4-FFF2-40B4-BE49-F238E27FC236}">
                    <a16:creationId xmlns:a16="http://schemas.microsoft.com/office/drawing/2014/main" id="{AB65E32B-ED58-45CF-9B80-0B0752D48C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1248"/>
                <a:ext cx="972" cy="786"/>
                <a:chOff x="192" y="1248"/>
                <a:chExt cx="972" cy="786"/>
              </a:xfrm>
            </p:grpSpPr>
            <p:grpSp>
              <p:nvGrpSpPr>
                <p:cNvPr id="36899" name="Group 95">
                  <a:extLst>
                    <a:ext uri="{FF2B5EF4-FFF2-40B4-BE49-F238E27FC236}">
                      <a16:creationId xmlns:a16="http://schemas.microsoft.com/office/drawing/2014/main" id="{7640EFB9-3B0E-49D1-9DDE-092024D4E81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" y="1344"/>
                  <a:ext cx="972" cy="690"/>
                  <a:chOff x="192" y="1326"/>
                  <a:chExt cx="972" cy="690"/>
                </a:xfrm>
              </p:grpSpPr>
              <p:grpSp>
                <p:nvGrpSpPr>
                  <p:cNvPr id="36901" name="Group 94">
                    <a:extLst>
                      <a:ext uri="{FF2B5EF4-FFF2-40B4-BE49-F238E27FC236}">
                        <a16:creationId xmlns:a16="http://schemas.microsoft.com/office/drawing/2014/main" id="{C459B36A-4D08-44B1-A534-DDD710EA8DD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2" y="1326"/>
                    <a:ext cx="972" cy="690"/>
                    <a:chOff x="192" y="1326"/>
                    <a:chExt cx="972" cy="690"/>
                  </a:xfrm>
                </p:grpSpPr>
                <p:grpSp>
                  <p:nvGrpSpPr>
                    <p:cNvPr id="36904" name="Group 59">
                      <a:extLst>
                        <a:ext uri="{FF2B5EF4-FFF2-40B4-BE49-F238E27FC236}">
                          <a16:creationId xmlns:a16="http://schemas.microsoft.com/office/drawing/2014/main" id="{2982E14A-D625-487D-BB19-1CB63A4C7A7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42" y="1428"/>
                      <a:ext cx="192" cy="126"/>
                      <a:chOff x="544" y="251"/>
                      <a:chExt cx="32" cy="21"/>
                    </a:xfrm>
                  </p:grpSpPr>
                  <p:sp>
                    <p:nvSpPr>
                      <p:cNvPr id="547900" name="Rectangle 60">
                        <a:extLst>
                          <a:ext uri="{FF2B5EF4-FFF2-40B4-BE49-F238E27FC236}">
                            <a16:creationId xmlns:a16="http://schemas.microsoft.com/office/drawing/2014/main" id="{04755643-6FC4-4089-A72F-658658024BE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44" y="255"/>
                        <a:ext cx="32" cy="13"/>
                      </a:xfrm>
                      <a:prstGeom prst="rect">
                        <a:avLst/>
                      </a:prstGeom>
                      <a:solidFill>
                        <a:srgbClr val="969696"/>
                      </a:solidFill>
                      <a:ln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547901" name="AutoShape 61">
                        <a:extLst>
                          <a:ext uri="{FF2B5EF4-FFF2-40B4-BE49-F238E27FC236}">
                            <a16:creationId xmlns:a16="http://schemas.microsoft.com/office/drawing/2014/main" id="{BB021FEE-18B1-44DC-81B8-8ED1FEB9A5B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50" y="251"/>
                        <a:ext cx="20" cy="21"/>
                      </a:xfrm>
                      <a:prstGeom prst="flowChartSummingJunction">
                        <a:avLst/>
                      </a:prstGeom>
                      <a:solidFill>
                        <a:srgbClr val="969696"/>
                      </a:solidFill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</p:grpSp>
                <p:grpSp>
                  <p:nvGrpSpPr>
                    <p:cNvPr id="36905" name="Group 65">
                      <a:extLst>
                        <a:ext uri="{FF2B5EF4-FFF2-40B4-BE49-F238E27FC236}">
                          <a16:creationId xmlns:a16="http://schemas.microsoft.com/office/drawing/2014/main" id="{CD9F2C91-7AA8-4443-89E8-7B571163724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" y="1326"/>
                      <a:ext cx="858" cy="354"/>
                      <a:chOff x="405" y="908"/>
                      <a:chExt cx="143" cy="59"/>
                    </a:xfrm>
                  </p:grpSpPr>
                  <p:grpSp>
                    <p:nvGrpSpPr>
                      <p:cNvPr id="36922" name="Group 66">
                        <a:extLst>
                          <a:ext uri="{FF2B5EF4-FFF2-40B4-BE49-F238E27FC236}">
                            <a16:creationId xmlns:a16="http://schemas.microsoft.com/office/drawing/2014/main" id="{DE9CD46B-60AE-4EE3-B49D-B4DCAC1BA84D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05" y="908"/>
                        <a:ext cx="143" cy="59"/>
                        <a:chOff x="417" y="359"/>
                        <a:chExt cx="107" cy="70"/>
                      </a:xfrm>
                    </p:grpSpPr>
                    <p:sp>
                      <p:nvSpPr>
                        <p:cNvPr id="547907" name="Rectangle 67">
                          <a:extLst>
                            <a:ext uri="{FF2B5EF4-FFF2-40B4-BE49-F238E27FC236}">
                              <a16:creationId xmlns:a16="http://schemas.microsoft.com/office/drawing/2014/main" id="{CF074377-55A7-4596-967A-D1388508AE24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17" y="419"/>
                          <a:ext cx="107" cy="10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547908" name="Rectangle 68">
                          <a:extLst>
                            <a:ext uri="{FF2B5EF4-FFF2-40B4-BE49-F238E27FC236}">
                              <a16:creationId xmlns:a16="http://schemas.microsoft.com/office/drawing/2014/main" id="{0EC050CF-3503-4C8F-AA20-6B550BDB14B5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29" y="368"/>
                          <a:ext cx="83" cy="51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547909" name="Rectangle 69">
                          <a:extLst>
                            <a:ext uri="{FF2B5EF4-FFF2-40B4-BE49-F238E27FC236}">
                              <a16:creationId xmlns:a16="http://schemas.microsoft.com/office/drawing/2014/main" id="{714391D0-5192-4B7A-9AE2-394D4710E572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23" y="359"/>
                          <a:ext cx="96" cy="10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</p:grpSp>
                  <p:grpSp>
                    <p:nvGrpSpPr>
                      <p:cNvPr id="36923" name="Group 70">
                        <a:extLst>
                          <a:ext uri="{FF2B5EF4-FFF2-40B4-BE49-F238E27FC236}">
                            <a16:creationId xmlns:a16="http://schemas.microsoft.com/office/drawing/2014/main" id="{65F71E9E-015E-4D2B-AAB6-211FD465409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34" y="908"/>
                        <a:ext cx="86" cy="59"/>
                        <a:chOff x="432" y="908"/>
                        <a:chExt cx="89" cy="59"/>
                      </a:xfrm>
                    </p:grpSpPr>
                    <p:sp>
                      <p:nvSpPr>
                        <p:cNvPr id="547911" name="AutoShape 71">
                          <a:extLst>
                            <a:ext uri="{FF2B5EF4-FFF2-40B4-BE49-F238E27FC236}">
                              <a16:creationId xmlns:a16="http://schemas.microsoft.com/office/drawing/2014/main" id="{3FB53D9A-A9D0-48D1-BDBB-912C4339919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" y="908"/>
                          <a:ext cx="89" cy="42"/>
                        </a:xfrm>
                        <a:custGeom>
                          <a:avLst/>
                          <a:gdLst>
                            <a:gd name="G0" fmla="+- 5400 0 0"/>
                            <a:gd name="G1" fmla="+- 21600 0 5400"/>
                            <a:gd name="G2" fmla="*/ 5400 1 2"/>
                            <a:gd name="G3" fmla="+- 21600 0 G2"/>
                            <a:gd name="G4" fmla="+/ 5400 21600 2"/>
                            <a:gd name="G5" fmla="+/ G1 0 2"/>
                            <a:gd name="G6" fmla="*/ 21600 21600 5400"/>
                            <a:gd name="G7" fmla="*/ G6 1 2"/>
                            <a:gd name="G8" fmla="+- 21600 0 G7"/>
                            <a:gd name="G9" fmla="*/ 21600 1 2"/>
                            <a:gd name="G10" fmla="+- 5400 0 G9"/>
                            <a:gd name="G11" fmla="?: G10 G8 0"/>
                            <a:gd name="G12" fmla="?: G10 G7 21600"/>
                            <a:gd name="T0" fmla="*/ 18900 w 21600"/>
                            <a:gd name="T1" fmla="*/ 10800 h 21600"/>
                            <a:gd name="T2" fmla="*/ 10800 w 21600"/>
                            <a:gd name="T3" fmla="*/ 21600 h 21600"/>
                            <a:gd name="T4" fmla="*/ 2700 w 21600"/>
                            <a:gd name="T5" fmla="*/ 10800 h 21600"/>
                            <a:gd name="T6" fmla="*/ 10800 w 21600"/>
                            <a:gd name="T7" fmla="*/ 0 h 21600"/>
                            <a:gd name="T8" fmla="*/ 4500 w 21600"/>
                            <a:gd name="T9" fmla="*/ 4500 h 21600"/>
                            <a:gd name="T10" fmla="*/ 17100 w 21600"/>
                            <a:gd name="T11" fmla="*/ 17100 h 2160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</a:cxnLst>
                          <a:rect l="T8" t="T9" r="T10" b="T11"/>
                          <a:pathLst>
                            <a:path w="21600" h="21600">
                              <a:moveTo>
                                <a:pt x="0" y="0"/>
                              </a:moveTo>
                              <a:lnTo>
                                <a:pt x="5400" y="21600"/>
                              </a:lnTo>
                              <a:lnTo>
                                <a:pt x="16200" y="21600"/>
                              </a:lnTo>
                              <a:lnTo>
                                <a:pt x="2160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547912" name="Rectangle 72">
                          <a:extLst>
                            <a:ext uri="{FF2B5EF4-FFF2-40B4-BE49-F238E27FC236}">
                              <a16:creationId xmlns:a16="http://schemas.microsoft.com/office/drawing/2014/main" id="{A3B829E2-60A1-4E44-8717-C0D88ED6019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5" y="947"/>
                          <a:ext cx="84" cy="2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547913" name="Rectangle 73">
                          <a:extLst>
                            <a:ext uri="{FF2B5EF4-FFF2-40B4-BE49-F238E27FC236}">
                              <a16:creationId xmlns:a16="http://schemas.microsoft.com/office/drawing/2014/main" id="{6180A617-CBF2-4002-84BD-949F0EDAED2A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53" y="931"/>
                          <a:ext cx="47" cy="19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9050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6906" name="Group 74">
                      <a:extLst>
                        <a:ext uri="{FF2B5EF4-FFF2-40B4-BE49-F238E27FC236}">
                          <a16:creationId xmlns:a16="http://schemas.microsoft.com/office/drawing/2014/main" id="{38067D2A-9FFA-47B3-9D38-8D2A3309298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72" y="1746"/>
                      <a:ext cx="192" cy="126"/>
                      <a:chOff x="544" y="251"/>
                      <a:chExt cx="32" cy="21"/>
                    </a:xfrm>
                  </p:grpSpPr>
                  <p:sp>
                    <p:nvSpPr>
                      <p:cNvPr id="547915" name="Rectangle 75">
                        <a:extLst>
                          <a:ext uri="{FF2B5EF4-FFF2-40B4-BE49-F238E27FC236}">
                            <a16:creationId xmlns:a16="http://schemas.microsoft.com/office/drawing/2014/main" id="{EC4C4A83-3064-4B21-8C9F-1FB47168C9A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44" y="255"/>
                        <a:ext cx="32" cy="13"/>
                      </a:xfrm>
                      <a:prstGeom prst="rect">
                        <a:avLst/>
                      </a:prstGeom>
                      <a:solidFill>
                        <a:srgbClr val="969696"/>
                      </a:solidFill>
                      <a:ln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547916" name="AutoShape 76">
                        <a:extLst>
                          <a:ext uri="{FF2B5EF4-FFF2-40B4-BE49-F238E27FC236}">
                            <a16:creationId xmlns:a16="http://schemas.microsoft.com/office/drawing/2014/main" id="{65B634FE-984D-4DBD-A589-0E253B95238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50" y="251"/>
                        <a:ext cx="20" cy="21"/>
                      </a:xfrm>
                      <a:prstGeom prst="flowChartSummingJunction">
                        <a:avLst/>
                      </a:prstGeom>
                      <a:solidFill>
                        <a:srgbClr val="969696"/>
                      </a:solidFill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</p:grpSp>
                <p:grpSp>
                  <p:nvGrpSpPr>
                    <p:cNvPr id="36907" name="Group 77">
                      <a:extLst>
                        <a:ext uri="{FF2B5EF4-FFF2-40B4-BE49-F238E27FC236}">
                          <a16:creationId xmlns:a16="http://schemas.microsoft.com/office/drawing/2014/main" id="{7840908A-2FDE-4CB0-A39D-CDD60D5B5AC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" y="1674"/>
                      <a:ext cx="858" cy="342"/>
                      <a:chOff x="405" y="966"/>
                      <a:chExt cx="143" cy="57"/>
                    </a:xfrm>
                  </p:grpSpPr>
                  <p:grpSp>
                    <p:nvGrpSpPr>
                      <p:cNvPr id="36913" name="Group 78">
                        <a:extLst>
                          <a:ext uri="{FF2B5EF4-FFF2-40B4-BE49-F238E27FC236}">
                            <a16:creationId xmlns:a16="http://schemas.microsoft.com/office/drawing/2014/main" id="{83FCA8AE-3A8E-4C50-9414-8C45902FE5C4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05" y="966"/>
                        <a:ext cx="143" cy="57"/>
                        <a:chOff x="417" y="445"/>
                        <a:chExt cx="107" cy="66"/>
                      </a:xfrm>
                    </p:grpSpPr>
                    <p:sp>
                      <p:nvSpPr>
                        <p:cNvPr id="547919" name="Rectangle 79">
                          <a:extLst>
                            <a:ext uri="{FF2B5EF4-FFF2-40B4-BE49-F238E27FC236}">
                              <a16:creationId xmlns:a16="http://schemas.microsoft.com/office/drawing/2014/main" id="{20895363-75B8-486B-AFC3-6AE04FAE028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25" y="454"/>
                          <a:ext cx="91" cy="57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547920" name="Rectangle 80">
                          <a:extLst>
                            <a:ext uri="{FF2B5EF4-FFF2-40B4-BE49-F238E27FC236}">
                              <a16:creationId xmlns:a16="http://schemas.microsoft.com/office/drawing/2014/main" id="{99F31EFB-E132-4D82-A30B-ACFCEB3E36B4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17" y="445"/>
                          <a:ext cx="107" cy="10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</p:grpSp>
                  <p:grpSp>
                    <p:nvGrpSpPr>
                      <p:cNvPr id="36914" name="Group 81">
                        <a:extLst>
                          <a:ext uri="{FF2B5EF4-FFF2-40B4-BE49-F238E27FC236}">
                            <a16:creationId xmlns:a16="http://schemas.microsoft.com/office/drawing/2014/main" id="{A8EF7926-7144-434C-AEE5-56F4E865311D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4" y="966"/>
                        <a:ext cx="106" cy="57"/>
                        <a:chOff x="424" y="966"/>
                        <a:chExt cx="106" cy="57"/>
                      </a:xfrm>
                    </p:grpSpPr>
                    <p:sp>
                      <p:nvSpPr>
                        <p:cNvPr id="547922" name="AutoShape 82">
                          <a:extLst>
                            <a:ext uri="{FF2B5EF4-FFF2-40B4-BE49-F238E27FC236}">
                              <a16:creationId xmlns:a16="http://schemas.microsoft.com/office/drawing/2014/main" id="{08944EDD-740B-4716-ABE2-EA06F75AA6C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7" y="966"/>
                          <a:ext cx="99" cy="43"/>
                        </a:xfrm>
                        <a:custGeom>
                          <a:avLst/>
                          <a:gdLst>
                            <a:gd name="G0" fmla="+- 5400 0 0"/>
                            <a:gd name="G1" fmla="+- 21600 0 5400"/>
                            <a:gd name="G2" fmla="*/ 5400 1 2"/>
                            <a:gd name="G3" fmla="+- 21600 0 G2"/>
                            <a:gd name="G4" fmla="+/ 5400 21600 2"/>
                            <a:gd name="G5" fmla="+/ G1 0 2"/>
                            <a:gd name="G6" fmla="*/ 21600 21600 5400"/>
                            <a:gd name="G7" fmla="*/ G6 1 2"/>
                            <a:gd name="G8" fmla="+- 21600 0 G7"/>
                            <a:gd name="G9" fmla="*/ 21600 1 2"/>
                            <a:gd name="G10" fmla="+- 5400 0 G9"/>
                            <a:gd name="G11" fmla="?: G10 G8 0"/>
                            <a:gd name="G12" fmla="?: G10 G7 21600"/>
                            <a:gd name="T0" fmla="*/ 18900 w 21600"/>
                            <a:gd name="T1" fmla="*/ 10800 h 21600"/>
                            <a:gd name="T2" fmla="*/ 10800 w 21600"/>
                            <a:gd name="T3" fmla="*/ 21600 h 21600"/>
                            <a:gd name="T4" fmla="*/ 2700 w 21600"/>
                            <a:gd name="T5" fmla="*/ 10800 h 21600"/>
                            <a:gd name="T6" fmla="*/ 10800 w 21600"/>
                            <a:gd name="T7" fmla="*/ 0 h 21600"/>
                            <a:gd name="T8" fmla="*/ 4500 w 21600"/>
                            <a:gd name="T9" fmla="*/ 4500 h 21600"/>
                            <a:gd name="T10" fmla="*/ 17100 w 21600"/>
                            <a:gd name="T11" fmla="*/ 17100 h 2160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</a:cxnLst>
                          <a:rect l="T8" t="T9" r="T10" b="T11"/>
                          <a:pathLst>
                            <a:path w="21600" h="21600">
                              <a:moveTo>
                                <a:pt x="0" y="0"/>
                              </a:moveTo>
                              <a:lnTo>
                                <a:pt x="5400" y="21600"/>
                              </a:lnTo>
                              <a:lnTo>
                                <a:pt x="16200" y="21600"/>
                              </a:lnTo>
                              <a:lnTo>
                                <a:pt x="2160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547923" name="Rectangle 83">
                          <a:extLst>
                            <a:ext uri="{FF2B5EF4-FFF2-40B4-BE49-F238E27FC236}">
                              <a16:creationId xmlns:a16="http://schemas.microsoft.com/office/drawing/2014/main" id="{262530E6-4838-409F-8D49-88BD35264931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4" y="998"/>
                          <a:ext cx="106" cy="25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547924" name="Rectangle 84">
                          <a:extLst>
                            <a:ext uri="{FF2B5EF4-FFF2-40B4-BE49-F238E27FC236}">
                              <a16:creationId xmlns:a16="http://schemas.microsoft.com/office/drawing/2014/main" id="{DA30EBF8-A52C-4D59-A6D1-C1A76E2CEB2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47" y="989"/>
                          <a:ext cx="60" cy="2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9050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6908" name="Group 85">
                      <a:extLst>
                        <a:ext uri="{FF2B5EF4-FFF2-40B4-BE49-F238E27FC236}">
                          <a16:creationId xmlns:a16="http://schemas.microsoft.com/office/drawing/2014/main" id="{D433FBBB-07F6-4AAE-B5A4-912637D0A80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6" y="1584"/>
                      <a:ext cx="576" cy="336"/>
                      <a:chOff x="336" y="1632"/>
                      <a:chExt cx="576" cy="336"/>
                    </a:xfrm>
                  </p:grpSpPr>
                  <p:sp>
                    <p:nvSpPr>
                      <p:cNvPr id="547926" name="AutoShape 86">
                        <a:extLst>
                          <a:ext uri="{FF2B5EF4-FFF2-40B4-BE49-F238E27FC236}">
                            <a16:creationId xmlns:a16="http://schemas.microsoft.com/office/drawing/2014/main" id="{5F1FB052-C8EF-4EE0-B0F2-046BB1E403B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flipH="1" flipV="1">
                        <a:off x="336" y="1728"/>
                        <a:ext cx="96" cy="240"/>
                      </a:xfrm>
                      <a:prstGeom prst="rtTriangle">
                        <a:avLst/>
                      </a:prstGeom>
                      <a:solidFill>
                        <a:srgbClr val="FF000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547927" name="AutoShape 87">
                        <a:extLst>
                          <a:ext uri="{FF2B5EF4-FFF2-40B4-BE49-F238E27FC236}">
                            <a16:creationId xmlns:a16="http://schemas.microsoft.com/office/drawing/2014/main" id="{AAF3724D-78A1-4C72-926F-615284FBE3D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flipV="1">
                        <a:off x="816" y="1728"/>
                        <a:ext cx="96" cy="240"/>
                      </a:xfrm>
                      <a:prstGeom prst="rtTriangle">
                        <a:avLst/>
                      </a:prstGeom>
                      <a:solidFill>
                        <a:srgbClr val="FF000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547928" name="Rectangle 88">
                        <a:extLst>
                          <a:ext uri="{FF2B5EF4-FFF2-40B4-BE49-F238E27FC236}">
                            <a16:creationId xmlns:a16="http://schemas.microsoft.com/office/drawing/2014/main" id="{76FAFC82-0B91-4F71-B462-EB1694D8DC7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4" y="1632"/>
                        <a:ext cx="48" cy="9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547929" name="Rectangle 89">
                        <a:extLst>
                          <a:ext uri="{FF2B5EF4-FFF2-40B4-BE49-F238E27FC236}">
                            <a16:creationId xmlns:a16="http://schemas.microsoft.com/office/drawing/2014/main" id="{F4045EAD-0273-415D-B347-53D0447D0AA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16" y="1632"/>
                        <a:ext cx="48" cy="9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</p:grpSp>
              </p:grpSp>
              <p:sp>
                <p:nvSpPr>
                  <p:cNvPr id="547930" name="AutoShape 90">
                    <a:extLst>
                      <a:ext uri="{FF2B5EF4-FFF2-40B4-BE49-F238E27FC236}">
                        <a16:creationId xmlns:a16="http://schemas.microsoft.com/office/drawing/2014/main" id="{53B555B9-5E4C-4504-B4A4-14CB1E0004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H="1" flipV="1">
                    <a:off x="384" y="1344"/>
                    <a:ext cx="128" cy="288"/>
                  </a:xfrm>
                  <a:prstGeom prst="rtTriangl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547931" name="AutoShape 91">
                    <a:extLst>
                      <a:ext uri="{FF2B5EF4-FFF2-40B4-BE49-F238E27FC236}">
                        <a16:creationId xmlns:a16="http://schemas.microsoft.com/office/drawing/2014/main" id="{BE6EE299-0C2B-4381-9CCA-0AF6C899BD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736" y="1344"/>
                    <a:ext cx="128" cy="288"/>
                  </a:xfrm>
                  <a:prstGeom prst="rtTriangl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</p:grpSp>
            <p:sp>
              <p:nvSpPr>
                <p:cNvPr id="547932" name="Rectangle 92">
                  <a:extLst>
                    <a:ext uri="{FF2B5EF4-FFF2-40B4-BE49-F238E27FC236}">
                      <a16:creationId xmlns:a16="http://schemas.microsoft.com/office/drawing/2014/main" id="{26CB0B93-DFDE-4704-B461-07AC703B49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" y="1248"/>
                  <a:ext cx="96" cy="96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</p:grpSp>
        <p:sp>
          <p:nvSpPr>
            <p:cNvPr id="547967" name="Rectangle 127">
              <a:extLst>
                <a:ext uri="{FF2B5EF4-FFF2-40B4-BE49-F238E27FC236}">
                  <a16:creationId xmlns:a16="http://schemas.microsoft.com/office/drawing/2014/main" id="{704C62A7-3470-4E0C-8FEB-751AF33D1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48"/>
              <a:ext cx="96" cy="96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547892" name="Rectangle 52" descr="Divot">
            <a:extLst>
              <a:ext uri="{FF2B5EF4-FFF2-40B4-BE49-F238E27FC236}">
                <a16:creationId xmlns:a16="http://schemas.microsoft.com/office/drawing/2014/main" id="{E87C1D38-8045-4C61-B137-9571C82B2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93" name="Rectangle 53" descr="Divot">
            <a:extLst>
              <a:ext uri="{FF2B5EF4-FFF2-40B4-BE49-F238E27FC236}">
                <a16:creationId xmlns:a16="http://schemas.microsoft.com/office/drawing/2014/main" id="{79D3A74C-5C45-4C22-9381-8C68F5594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90" name="Rectangle 50" descr="Divot">
            <a:extLst>
              <a:ext uri="{FF2B5EF4-FFF2-40B4-BE49-F238E27FC236}">
                <a16:creationId xmlns:a16="http://schemas.microsoft.com/office/drawing/2014/main" id="{43D07660-CE81-47B6-9A1E-29D1507DD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715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91" name="Rectangle 51" descr="Divot">
            <a:extLst>
              <a:ext uri="{FF2B5EF4-FFF2-40B4-BE49-F238E27FC236}">
                <a16:creationId xmlns:a16="http://schemas.microsoft.com/office/drawing/2014/main" id="{37C8201B-07E5-42FF-88E3-F134012AE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15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88" name="Rectangle 48" descr="Divot">
            <a:extLst>
              <a:ext uri="{FF2B5EF4-FFF2-40B4-BE49-F238E27FC236}">
                <a16:creationId xmlns:a16="http://schemas.microsoft.com/office/drawing/2014/main" id="{1937A615-44FA-4C13-A2ED-E5B7C54D4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89" name="Rectangle 49" descr="Divot">
            <a:extLst>
              <a:ext uri="{FF2B5EF4-FFF2-40B4-BE49-F238E27FC236}">
                <a16:creationId xmlns:a16="http://schemas.microsoft.com/office/drawing/2014/main" id="{8C9F1933-1E1A-4E22-91C9-F00C6A8DD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6873" name="Rectangle 7">
            <a:extLst>
              <a:ext uri="{FF2B5EF4-FFF2-40B4-BE49-F238E27FC236}">
                <a16:creationId xmlns:a16="http://schemas.microsoft.com/office/drawing/2014/main" id="{5B812104-3EC5-4A25-80A9-ECFC16E16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Drilling Sequence</a:t>
            </a:r>
            <a:br>
              <a:rPr lang="en-US" altLang="en-US"/>
            </a:br>
            <a:r>
              <a:rPr lang="en-US" altLang="en-US"/>
              <a:t>Next Hole (Int or Prod)</a:t>
            </a:r>
          </a:p>
        </p:txBody>
      </p:sp>
      <p:sp>
        <p:nvSpPr>
          <p:cNvPr id="36874" name="Rectangle 8">
            <a:extLst>
              <a:ext uri="{FF2B5EF4-FFF2-40B4-BE49-F238E27FC236}">
                <a16:creationId xmlns:a16="http://schemas.microsoft.com/office/drawing/2014/main" id="{C0E6894C-2181-4627-99F6-0280B08DE1D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en-US" sz="2400"/>
              <a:t>Install “C” section</a:t>
            </a:r>
          </a:p>
          <a:p>
            <a:r>
              <a:rPr lang="en-US" altLang="en-US" sz="2400"/>
              <a:t>Test void section between “B” and “C” sections:</a:t>
            </a:r>
          </a:p>
          <a:p>
            <a:pPr lvl="1"/>
            <a:r>
              <a:rPr lang="en-US" altLang="en-US" sz="2000"/>
              <a:t>Do not exceed 80% of burst for Surface Pipe </a:t>
            </a:r>
          </a:p>
          <a:p>
            <a:pPr lvl="1"/>
            <a:r>
              <a:rPr lang="en-US" altLang="en-US" sz="2000"/>
              <a:t>Do not exceed 80% of collapse for Next Pipe, check loads</a:t>
            </a:r>
          </a:p>
          <a:p>
            <a:r>
              <a:rPr lang="en-US" altLang="en-US" sz="2400"/>
              <a:t>If more hole, install BOP’s</a:t>
            </a:r>
          </a:p>
          <a:p>
            <a:r>
              <a:rPr lang="en-US" altLang="en-US" sz="2400"/>
              <a:t>If not, install Tree</a:t>
            </a:r>
          </a:p>
        </p:txBody>
      </p:sp>
      <p:sp>
        <p:nvSpPr>
          <p:cNvPr id="547849" name="Line 9">
            <a:extLst>
              <a:ext uri="{FF2B5EF4-FFF2-40B4-BE49-F238E27FC236}">
                <a16:creationId xmlns:a16="http://schemas.microsoft.com/office/drawing/2014/main" id="{FE7D923E-B593-47BD-A7DF-827943A05C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50" name="Line 10">
            <a:extLst>
              <a:ext uri="{FF2B5EF4-FFF2-40B4-BE49-F238E27FC236}">
                <a16:creationId xmlns:a16="http://schemas.microsoft.com/office/drawing/2014/main" id="{9C8BE959-5F7C-467B-A256-DDF86346F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51" name="Line 11">
            <a:extLst>
              <a:ext uri="{FF2B5EF4-FFF2-40B4-BE49-F238E27FC236}">
                <a16:creationId xmlns:a16="http://schemas.microsoft.com/office/drawing/2014/main" id="{766B0255-5CA4-4D46-B588-946BC1711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52" name="Line 12">
            <a:extLst>
              <a:ext uri="{FF2B5EF4-FFF2-40B4-BE49-F238E27FC236}">
                <a16:creationId xmlns:a16="http://schemas.microsoft.com/office/drawing/2014/main" id="{3E595BE1-E289-427E-8A05-87CC0C5189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53" name="AutoShape 13">
            <a:extLst>
              <a:ext uri="{FF2B5EF4-FFF2-40B4-BE49-F238E27FC236}">
                <a16:creationId xmlns:a16="http://schemas.microsoft.com/office/drawing/2014/main" id="{9AD0E0CC-F101-4EEF-ADB4-98932743C0C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54" name="AutoShape 14">
            <a:extLst>
              <a:ext uri="{FF2B5EF4-FFF2-40B4-BE49-F238E27FC236}">
                <a16:creationId xmlns:a16="http://schemas.microsoft.com/office/drawing/2014/main" id="{D7EB6783-2AFC-4049-A30C-2791D38321B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55" name="AutoShape 15">
            <a:extLst>
              <a:ext uri="{FF2B5EF4-FFF2-40B4-BE49-F238E27FC236}">
                <a16:creationId xmlns:a16="http://schemas.microsoft.com/office/drawing/2014/main" id="{F3EC32EE-AE20-4206-9D83-C11D51B0563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56" name="AutoShape 16">
            <a:extLst>
              <a:ext uri="{FF2B5EF4-FFF2-40B4-BE49-F238E27FC236}">
                <a16:creationId xmlns:a16="http://schemas.microsoft.com/office/drawing/2014/main" id="{7EFC6C0B-C907-4D14-B165-3E2B23B64D9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09800" y="6553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57" name="AutoShape 17">
            <a:extLst>
              <a:ext uri="{FF2B5EF4-FFF2-40B4-BE49-F238E27FC236}">
                <a16:creationId xmlns:a16="http://schemas.microsoft.com/office/drawing/2014/main" id="{D74A52BD-7437-4B11-A91E-C6557830B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6553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58" name="AutoShape 18">
            <a:extLst>
              <a:ext uri="{FF2B5EF4-FFF2-40B4-BE49-F238E27FC236}">
                <a16:creationId xmlns:a16="http://schemas.microsoft.com/office/drawing/2014/main" id="{C2923D05-9D25-4CA5-A0D9-081E56E07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59" name="AutoShape 19">
            <a:extLst>
              <a:ext uri="{FF2B5EF4-FFF2-40B4-BE49-F238E27FC236}">
                <a16:creationId xmlns:a16="http://schemas.microsoft.com/office/drawing/2014/main" id="{81A53009-CBE7-463D-8B9D-15F095D01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47860" name="AutoShape 20">
            <a:extLst>
              <a:ext uri="{FF2B5EF4-FFF2-40B4-BE49-F238E27FC236}">
                <a16:creationId xmlns:a16="http://schemas.microsoft.com/office/drawing/2014/main" id="{1694E7F0-67F5-4EC9-AE2E-759F8C2C7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6887" name="Group 54">
            <a:extLst>
              <a:ext uri="{FF2B5EF4-FFF2-40B4-BE49-F238E27FC236}">
                <a16:creationId xmlns:a16="http://schemas.microsoft.com/office/drawing/2014/main" id="{2CA0EF30-3510-4C60-94BF-57BF22AAB6DE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514600"/>
            <a:ext cx="609600" cy="2819400"/>
            <a:chOff x="432" y="1632"/>
            <a:chExt cx="384" cy="1728"/>
          </a:xfrm>
        </p:grpSpPr>
        <p:sp>
          <p:nvSpPr>
            <p:cNvPr id="547865" name="Line 25">
              <a:extLst>
                <a:ext uri="{FF2B5EF4-FFF2-40B4-BE49-F238E27FC236}">
                  <a16:creationId xmlns:a16="http://schemas.microsoft.com/office/drawing/2014/main" id="{DD72F785-3B4F-4DF6-9AEA-976A2C3BB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7866" name="Line 26">
              <a:extLst>
                <a:ext uri="{FF2B5EF4-FFF2-40B4-BE49-F238E27FC236}">
                  <a16:creationId xmlns:a16="http://schemas.microsoft.com/office/drawing/2014/main" id="{0A7DBBCC-EFEF-4E6D-A301-9CB55278A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36888" name="Group 55">
            <a:extLst>
              <a:ext uri="{FF2B5EF4-FFF2-40B4-BE49-F238E27FC236}">
                <a16:creationId xmlns:a16="http://schemas.microsoft.com/office/drawing/2014/main" id="{28FB45EA-35ED-46F5-A0EB-EA30CFBC9FCE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981200"/>
            <a:ext cx="304800" cy="4648200"/>
            <a:chOff x="528" y="1296"/>
            <a:chExt cx="192" cy="2928"/>
          </a:xfrm>
        </p:grpSpPr>
        <p:sp>
          <p:nvSpPr>
            <p:cNvPr id="547871" name="Line 31">
              <a:extLst>
                <a:ext uri="{FF2B5EF4-FFF2-40B4-BE49-F238E27FC236}">
                  <a16:creationId xmlns:a16="http://schemas.microsoft.com/office/drawing/2014/main" id="{CE988375-5E11-4A48-9CF2-AEFD7C4E7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96"/>
              <a:ext cx="0" cy="29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47872" name="Line 32">
              <a:extLst>
                <a:ext uri="{FF2B5EF4-FFF2-40B4-BE49-F238E27FC236}">
                  <a16:creationId xmlns:a16="http://schemas.microsoft.com/office/drawing/2014/main" id="{F745CC0E-2C63-4CFE-917E-1613ECC1A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96"/>
              <a:ext cx="0" cy="29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168">
            <a:extLst>
              <a:ext uri="{FF2B5EF4-FFF2-40B4-BE49-F238E27FC236}">
                <a16:creationId xmlns:a16="http://schemas.microsoft.com/office/drawing/2014/main" id="{D4B0221D-969D-4CB9-A44D-58C06BB4D713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543050"/>
            <a:ext cx="1762125" cy="1657350"/>
            <a:chOff x="192" y="990"/>
            <a:chExt cx="1110" cy="1044"/>
          </a:xfrm>
        </p:grpSpPr>
        <p:grpSp>
          <p:nvGrpSpPr>
            <p:cNvPr id="37930" name="Group 169">
              <a:extLst>
                <a:ext uri="{FF2B5EF4-FFF2-40B4-BE49-F238E27FC236}">
                  <a16:creationId xmlns:a16="http://schemas.microsoft.com/office/drawing/2014/main" id="{B4E9E46F-2E02-40AB-B7FB-90EC52FEE3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990"/>
              <a:ext cx="1110" cy="1044"/>
              <a:chOff x="192" y="990"/>
              <a:chExt cx="1110" cy="1044"/>
            </a:xfrm>
          </p:grpSpPr>
          <p:grpSp>
            <p:nvGrpSpPr>
              <p:cNvPr id="37932" name="Group 170">
                <a:extLst>
                  <a:ext uri="{FF2B5EF4-FFF2-40B4-BE49-F238E27FC236}">
                    <a16:creationId xmlns:a16="http://schemas.microsoft.com/office/drawing/2014/main" id="{128A3DC1-2AE2-44B2-A224-233BD35DB0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8" y="1086"/>
                <a:ext cx="192" cy="126"/>
                <a:chOff x="544" y="251"/>
                <a:chExt cx="32" cy="21"/>
              </a:xfrm>
            </p:grpSpPr>
            <p:sp>
              <p:nvSpPr>
                <p:cNvPr id="649387" name="Rectangle 171">
                  <a:extLst>
                    <a:ext uri="{FF2B5EF4-FFF2-40B4-BE49-F238E27FC236}">
                      <a16:creationId xmlns:a16="http://schemas.microsoft.com/office/drawing/2014/main" id="{E71E594F-62E6-4958-9BC6-B1368EBB0C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4" y="255"/>
                  <a:ext cx="32" cy="13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649388" name="AutoShape 172">
                  <a:extLst>
                    <a:ext uri="{FF2B5EF4-FFF2-40B4-BE49-F238E27FC236}">
                      <a16:creationId xmlns:a16="http://schemas.microsoft.com/office/drawing/2014/main" id="{D58C70A0-E07B-4DBF-B83D-C5288968EB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" y="251"/>
                  <a:ext cx="20" cy="21"/>
                </a:xfrm>
                <a:prstGeom prst="flowChartSummingJunction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7933" name="Group 173">
                <a:extLst>
                  <a:ext uri="{FF2B5EF4-FFF2-40B4-BE49-F238E27FC236}">
                    <a16:creationId xmlns:a16="http://schemas.microsoft.com/office/drawing/2014/main" id="{08CA50C7-D9BA-48B5-AE06-B5BEC481FD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10" y="1086"/>
                <a:ext cx="192" cy="126"/>
                <a:chOff x="544" y="251"/>
                <a:chExt cx="32" cy="21"/>
              </a:xfrm>
            </p:grpSpPr>
            <p:sp>
              <p:nvSpPr>
                <p:cNvPr id="649390" name="Rectangle 174">
                  <a:extLst>
                    <a:ext uri="{FF2B5EF4-FFF2-40B4-BE49-F238E27FC236}">
                      <a16:creationId xmlns:a16="http://schemas.microsoft.com/office/drawing/2014/main" id="{F49FBF5F-0E17-4EFB-A155-FFEAD0E539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4" y="255"/>
                  <a:ext cx="32" cy="13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649391" name="AutoShape 175">
                  <a:extLst>
                    <a:ext uri="{FF2B5EF4-FFF2-40B4-BE49-F238E27FC236}">
                      <a16:creationId xmlns:a16="http://schemas.microsoft.com/office/drawing/2014/main" id="{ABD347D6-3B45-4596-BC65-8A34E4EE77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" y="251"/>
                  <a:ext cx="20" cy="21"/>
                </a:xfrm>
                <a:prstGeom prst="flowChartSummingJunction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7934" name="Group 176">
                <a:extLst>
                  <a:ext uri="{FF2B5EF4-FFF2-40B4-BE49-F238E27FC236}">
                    <a16:creationId xmlns:a16="http://schemas.microsoft.com/office/drawing/2014/main" id="{0AED7881-6337-4198-B677-4206FF2C68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990"/>
                <a:ext cx="768" cy="354"/>
                <a:chOff x="413" y="849"/>
                <a:chExt cx="128" cy="59"/>
              </a:xfrm>
            </p:grpSpPr>
            <p:grpSp>
              <p:nvGrpSpPr>
                <p:cNvPr id="37969" name="Group 177">
                  <a:extLst>
                    <a:ext uri="{FF2B5EF4-FFF2-40B4-BE49-F238E27FC236}">
                      <a16:creationId xmlns:a16="http://schemas.microsoft.com/office/drawing/2014/main" id="{A7E1A700-BBD4-4F75-AAC4-5405EBBA64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3" y="849"/>
                  <a:ext cx="128" cy="59"/>
                  <a:chOff x="423" y="292"/>
                  <a:chExt cx="96" cy="70"/>
                </a:xfrm>
              </p:grpSpPr>
              <p:sp>
                <p:nvSpPr>
                  <p:cNvPr id="649394" name="Rectangle 178">
                    <a:extLst>
                      <a:ext uri="{FF2B5EF4-FFF2-40B4-BE49-F238E27FC236}">
                        <a16:creationId xmlns:a16="http://schemas.microsoft.com/office/drawing/2014/main" id="{6D099DEB-0E08-4723-A876-D7E6AAB5D2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23" y="352"/>
                    <a:ext cx="96" cy="10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649395" name="Rectangle 179">
                    <a:extLst>
                      <a:ext uri="{FF2B5EF4-FFF2-40B4-BE49-F238E27FC236}">
                        <a16:creationId xmlns:a16="http://schemas.microsoft.com/office/drawing/2014/main" id="{E53A5341-158F-4E4E-91C7-18E407676E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32" y="301"/>
                    <a:ext cx="77" cy="51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649396" name="Rectangle 180">
                    <a:extLst>
                      <a:ext uri="{FF2B5EF4-FFF2-40B4-BE49-F238E27FC236}">
                        <a16:creationId xmlns:a16="http://schemas.microsoft.com/office/drawing/2014/main" id="{2307D68B-2E2E-4A38-B4C1-8A7D8276DC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25" y="292"/>
                    <a:ext cx="91" cy="9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</p:grpSp>
            <p:grpSp>
              <p:nvGrpSpPr>
                <p:cNvPr id="37970" name="Group 181">
                  <a:extLst>
                    <a:ext uri="{FF2B5EF4-FFF2-40B4-BE49-F238E27FC236}">
                      <a16:creationId xmlns:a16="http://schemas.microsoft.com/office/drawing/2014/main" id="{DFF4A43D-8F49-4381-8B16-DFAFC3C3AC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7" y="849"/>
                  <a:ext cx="60" cy="59"/>
                  <a:chOff x="432" y="908"/>
                  <a:chExt cx="89" cy="59"/>
                </a:xfrm>
              </p:grpSpPr>
              <p:sp>
                <p:nvSpPr>
                  <p:cNvPr id="649398" name="AutoShape 182">
                    <a:extLst>
                      <a:ext uri="{FF2B5EF4-FFF2-40B4-BE49-F238E27FC236}">
                        <a16:creationId xmlns:a16="http://schemas.microsoft.com/office/drawing/2014/main" id="{59866333-15B9-4746-9CB9-4195E6BB1F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2" y="908"/>
                    <a:ext cx="89" cy="42"/>
                  </a:xfrm>
                  <a:custGeom>
                    <a:avLst/>
                    <a:gdLst>
                      <a:gd name="G0" fmla="+- 5400 0 0"/>
                      <a:gd name="G1" fmla="+- 21600 0 5400"/>
                      <a:gd name="G2" fmla="*/ 5400 1 2"/>
                      <a:gd name="G3" fmla="+- 21600 0 G2"/>
                      <a:gd name="G4" fmla="+/ 5400 21600 2"/>
                      <a:gd name="G5" fmla="+/ G1 0 2"/>
                      <a:gd name="G6" fmla="*/ 21600 21600 5400"/>
                      <a:gd name="G7" fmla="*/ G6 1 2"/>
                      <a:gd name="G8" fmla="+- 21600 0 G7"/>
                      <a:gd name="G9" fmla="*/ 21600 1 2"/>
                      <a:gd name="G10" fmla="+- 5400 0 G9"/>
                      <a:gd name="G11" fmla="?: G10 G8 0"/>
                      <a:gd name="G12" fmla="?: G10 G7 21600"/>
                      <a:gd name="T0" fmla="*/ 18900 w 21600"/>
                      <a:gd name="T1" fmla="*/ 10800 h 21600"/>
                      <a:gd name="T2" fmla="*/ 10800 w 21600"/>
                      <a:gd name="T3" fmla="*/ 21600 h 21600"/>
                      <a:gd name="T4" fmla="*/ 2700 w 21600"/>
                      <a:gd name="T5" fmla="*/ 10800 h 21600"/>
                      <a:gd name="T6" fmla="*/ 10800 w 21600"/>
                      <a:gd name="T7" fmla="*/ 0 h 21600"/>
                      <a:gd name="T8" fmla="*/ 4500 w 21600"/>
                      <a:gd name="T9" fmla="*/ 4500 h 21600"/>
                      <a:gd name="T10" fmla="*/ 17100 w 21600"/>
                      <a:gd name="T11" fmla="*/ 171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649399" name="Rectangle 183">
                    <a:extLst>
                      <a:ext uri="{FF2B5EF4-FFF2-40B4-BE49-F238E27FC236}">
                        <a16:creationId xmlns:a16="http://schemas.microsoft.com/office/drawing/2014/main" id="{DB068783-C485-447B-BCE9-5AB7AB9A00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5" y="947"/>
                    <a:ext cx="84" cy="20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649400" name="Rectangle 184">
                    <a:extLst>
                      <a:ext uri="{FF2B5EF4-FFF2-40B4-BE49-F238E27FC236}">
                        <a16:creationId xmlns:a16="http://schemas.microsoft.com/office/drawing/2014/main" id="{E34CE707-989D-46F3-8494-5B77E4A4D2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3" y="931"/>
                    <a:ext cx="47" cy="19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7935" name="Group 185">
                <a:extLst>
                  <a:ext uri="{FF2B5EF4-FFF2-40B4-BE49-F238E27FC236}">
                    <a16:creationId xmlns:a16="http://schemas.microsoft.com/office/drawing/2014/main" id="{38D9B5F4-0C66-470E-9F85-C6CD3249F3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1248"/>
                <a:ext cx="972" cy="786"/>
                <a:chOff x="192" y="1248"/>
                <a:chExt cx="972" cy="786"/>
              </a:xfrm>
            </p:grpSpPr>
            <p:grpSp>
              <p:nvGrpSpPr>
                <p:cNvPr id="37936" name="Group 186">
                  <a:extLst>
                    <a:ext uri="{FF2B5EF4-FFF2-40B4-BE49-F238E27FC236}">
                      <a16:creationId xmlns:a16="http://schemas.microsoft.com/office/drawing/2014/main" id="{F84E521D-C60E-4E4B-AB12-E164079C1D6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" y="1344"/>
                  <a:ext cx="972" cy="690"/>
                  <a:chOff x="192" y="1326"/>
                  <a:chExt cx="972" cy="690"/>
                </a:xfrm>
              </p:grpSpPr>
              <p:grpSp>
                <p:nvGrpSpPr>
                  <p:cNvPr id="37938" name="Group 187">
                    <a:extLst>
                      <a:ext uri="{FF2B5EF4-FFF2-40B4-BE49-F238E27FC236}">
                        <a16:creationId xmlns:a16="http://schemas.microsoft.com/office/drawing/2014/main" id="{7882C575-6540-4E6E-91AA-BA153610EFF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2" y="1326"/>
                    <a:ext cx="972" cy="690"/>
                    <a:chOff x="192" y="1326"/>
                    <a:chExt cx="972" cy="690"/>
                  </a:xfrm>
                </p:grpSpPr>
                <p:grpSp>
                  <p:nvGrpSpPr>
                    <p:cNvPr id="37941" name="Group 188">
                      <a:extLst>
                        <a:ext uri="{FF2B5EF4-FFF2-40B4-BE49-F238E27FC236}">
                          <a16:creationId xmlns:a16="http://schemas.microsoft.com/office/drawing/2014/main" id="{BB00E164-9972-4C4F-B945-15D968986D2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42" y="1428"/>
                      <a:ext cx="192" cy="126"/>
                      <a:chOff x="544" y="251"/>
                      <a:chExt cx="32" cy="21"/>
                    </a:xfrm>
                  </p:grpSpPr>
                  <p:sp>
                    <p:nvSpPr>
                      <p:cNvPr id="649405" name="Rectangle 189">
                        <a:extLst>
                          <a:ext uri="{FF2B5EF4-FFF2-40B4-BE49-F238E27FC236}">
                            <a16:creationId xmlns:a16="http://schemas.microsoft.com/office/drawing/2014/main" id="{F4C669E5-0B3E-420D-A5F4-5C6F56E46BE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44" y="255"/>
                        <a:ext cx="32" cy="13"/>
                      </a:xfrm>
                      <a:prstGeom prst="rect">
                        <a:avLst/>
                      </a:prstGeom>
                      <a:solidFill>
                        <a:srgbClr val="969696"/>
                      </a:solidFill>
                      <a:ln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649406" name="AutoShape 190">
                        <a:extLst>
                          <a:ext uri="{FF2B5EF4-FFF2-40B4-BE49-F238E27FC236}">
                            <a16:creationId xmlns:a16="http://schemas.microsoft.com/office/drawing/2014/main" id="{E2B407BC-1AB2-4740-8F4D-DA0B5B7F3E7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50" y="251"/>
                        <a:ext cx="20" cy="21"/>
                      </a:xfrm>
                      <a:prstGeom prst="flowChartSummingJunction">
                        <a:avLst/>
                      </a:prstGeom>
                      <a:solidFill>
                        <a:srgbClr val="969696"/>
                      </a:solidFill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</p:grpSp>
                <p:grpSp>
                  <p:nvGrpSpPr>
                    <p:cNvPr id="37942" name="Group 191">
                      <a:extLst>
                        <a:ext uri="{FF2B5EF4-FFF2-40B4-BE49-F238E27FC236}">
                          <a16:creationId xmlns:a16="http://schemas.microsoft.com/office/drawing/2014/main" id="{A2C3178B-A809-4950-A39F-421D8D4A6B6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" y="1326"/>
                      <a:ext cx="858" cy="354"/>
                      <a:chOff x="405" y="908"/>
                      <a:chExt cx="143" cy="59"/>
                    </a:xfrm>
                  </p:grpSpPr>
                  <p:grpSp>
                    <p:nvGrpSpPr>
                      <p:cNvPr id="37959" name="Group 192">
                        <a:extLst>
                          <a:ext uri="{FF2B5EF4-FFF2-40B4-BE49-F238E27FC236}">
                            <a16:creationId xmlns:a16="http://schemas.microsoft.com/office/drawing/2014/main" id="{2EE1D944-5E02-469B-AB39-B40BA15B4632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05" y="908"/>
                        <a:ext cx="143" cy="59"/>
                        <a:chOff x="417" y="359"/>
                        <a:chExt cx="107" cy="70"/>
                      </a:xfrm>
                    </p:grpSpPr>
                    <p:sp>
                      <p:nvSpPr>
                        <p:cNvPr id="649409" name="Rectangle 193">
                          <a:extLst>
                            <a:ext uri="{FF2B5EF4-FFF2-40B4-BE49-F238E27FC236}">
                              <a16:creationId xmlns:a16="http://schemas.microsoft.com/office/drawing/2014/main" id="{E57B61C7-276D-463C-A09C-2E048937ECA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17" y="419"/>
                          <a:ext cx="107" cy="10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49410" name="Rectangle 194">
                          <a:extLst>
                            <a:ext uri="{FF2B5EF4-FFF2-40B4-BE49-F238E27FC236}">
                              <a16:creationId xmlns:a16="http://schemas.microsoft.com/office/drawing/2014/main" id="{444D8029-749C-4008-9941-CF2E9B0E4780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29" y="368"/>
                          <a:ext cx="83" cy="51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49411" name="Rectangle 195">
                          <a:extLst>
                            <a:ext uri="{FF2B5EF4-FFF2-40B4-BE49-F238E27FC236}">
                              <a16:creationId xmlns:a16="http://schemas.microsoft.com/office/drawing/2014/main" id="{55D2AFEC-4E6A-437D-8B4F-31CC588BA9BD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23" y="359"/>
                          <a:ext cx="96" cy="10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</p:grpSp>
                  <p:grpSp>
                    <p:nvGrpSpPr>
                      <p:cNvPr id="37960" name="Group 196">
                        <a:extLst>
                          <a:ext uri="{FF2B5EF4-FFF2-40B4-BE49-F238E27FC236}">
                            <a16:creationId xmlns:a16="http://schemas.microsoft.com/office/drawing/2014/main" id="{3CB4F883-EEA6-47E6-83B9-9178E4F0A30D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34" y="908"/>
                        <a:ext cx="86" cy="59"/>
                        <a:chOff x="432" y="908"/>
                        <a:chExt cx="89" cy="59"/>
                      </a:xfrm>
                    </p:grpSpPr>
                    <p:sp>
                      <p:nvSpPr>
                        <p:cNvPr id="649413" name="AutoShape 197">
                          <a:extLst>
                            <a:ext uri="{FF2B5EF4-FFF2-40B4-BE49-F238E27FC236}">
                              <a16:creationId xmlns:a16="http://schemas.microsoft.com/office/drawing/2014/main" id="{2A872EF8-03A1-43F8-A0D6-D89033536E4F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" y="908"/>
                          <a:ext cx="89" cy="42"/>
                        </a:xfrm>
                        <a:custGeom>
                          <a:avLst/>
                          <a:gdLst>
                            <a:gd name="G0" fmla="+- 5400 0 0"/>
                            <a:gd name="G1" fmla="+- 21600 0 5400"/>
                            <a:gd name="G2" fmla="*/ 5400 1 2"/>
                            <a:gd name="G3" fmla="+- 21600 0 G2"/>
                            <a:gd name="G4" fmla="+/ 5400 21600 2"/>
                            <a:gd name="G5" fmla="+/ G1 0 2"/>
                            <a:gd name="G6" fmla="*/ 21600 21600 5400"/>
                            <a:gd name="G7" fmla="*/ G6 1 2"/>
                            <a:gd name="G8" fmla="+- 21600 0 G7"/>
                            <a:gd name="G9" fmla="*/ 21600 1 2"/>
                            <a:gd name="G10" fmla="+- 5400 0 G9"/>
                            <a:gd name="G11" fmla="?: G10 G8 0"/>
                            <a:gd name="G12" fmla="?: G10 G7 21600"/>
                            <a:gd name="T0" fmla="*/ 18900 w 21600"/>
                            <a:gd name="T1" fmla="*/ 10800 h 21600"/>
                            <a:gd name="T2" fmla="*/ 10800 w 21600"/>
                            <a:gd name="T3" fmla="*/ 21600 h 21600"/>
                            <a:gd name="T4" fmla="*/ 2700 w 21600"/>
                            <a:gd name="T5" fmla="*/ 10800 h 21600"/>
                            <a:gd name="T6" fmla="*/ 10800 w 21600"/>
                            <a:gd name="T7" fmla="*/ 0 h 21600"/>
                            <a:gd name="T8" fmla="*/ 4500 w 21600"/>
                            <a:gd name="T9" fmla="*/ 4500 h 21600"/>
                            <a:gd name="T10" fmla="*/ 17100 w 21600"/>
                            <a:gd name="T11" fmla="*/ 17100 h 2160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</a:cxnLst>
                          <a:rect l="T8" t="T9" r="T10" b="T11"/>
                          <a:pathLst>
                            <a:path w="21600" h="21600">
                              <a:moveTo>
                                <a:pt x="0" y="0"/>
                              </a:moveTo>
                              <a:lnTo>
                                <a:pt x="5400" y="21600"/>
                              </a:lnTo>
                              <a:lnTo>
                                <a:pt x="16200" y="21600"/>
                              </a:lnTo>
                              <a:lnTo>
                                <a:pt x="2160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49414" name="Rectangle 198">
                          <a:extLst>
                            <a:ext uri="{FF2B5EF4-FFF2-40B4-BE49-F238E27FC236}">
                              <a16:creationId xmlns:a16="http://schemas.microsoft.com/office/drawing/2014/main" id="{53D662E3-5608-42DD-8485-F500D6F98C9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5" y="947"/>
                          <a:ext cx="84" cy="2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49415" name="Rectangle 199">
                          <a:extLst>
                            <a:ext uri="{FF2B5EF4-FFF2-40B4-BE49-F238E27FC236}">
                              <a16:creationId xmlns:a16="http://schemas.microsoft.com/office/drawing/2014/main" id="{56BAF2E8-4B07-4D22-8F09-533A32752F40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53" y="931"/>
                          <a:ext cx="47" cy="19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9050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7943" name="Group 200">
                      <a:extLst>
                        <a:ext uri="{FF2B5EF4-FFF2-40B4-BE49-F238E27FC236}">
                          <a16:creationId xmlns:a16="http://schemas.microsoft.com/office/drawing/2014/main" id="{2808ABC7-CEE9-46DB-AC98-FAEBBC3D1A0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72" y="1746"/>
                      <a:ext cx="192" cy="126"/>
                      <a:chOff x="544" y="251"/>
                      <a:chExt cx="32" cy="21"/>
                    </a:xfrm>
                  </p:grpSpPr>
                  <p:sp>
                    <p:nvSpPr>
                      <p:cNvPr id="649417" name="Rectangle 201">
                        <a:extLst>
                          <a:ext uri="{FF2B5EF4-FFF2-40B4-BE49-F238E27FC236}">
                            <a16:creationId xmlns:a16="http://schemas.microsoft.com/office/drawing/2014/main" id="{A1FFB994-CD17-4B4E-B111-9AEC17369E7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44" y="255"/>
                        <a:ext cx="32" cy="13"/>
                      </a:xfrm>
                      <a:prstGeom prst="rect">
                        <a:avLst/>
                      </a:prstGeom>
                      <a:solidFill>
                        <a:srgbClr val="969696"/>
                      </a:solidFill>
                      <a:ln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649418" name="AutoShape 202">
                        <a:extLst>
                          <a:ext uri="{FF2B5EF4-FFF2-40B4-BE49-F238E27FC236}">
                            <a16:creationId xmlns:a16="http://schemas.microsoft.com/office/drawing/2014/main" id="{F79D64BD-C664-4F74-ABEB-9F600273158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50" y="251"/>
                        <a:ext cx="20" cy="21"/>
                      </a:xfrm>
                      <a:prstGeom prst="flowChartSummingJunction">
                        <a:avLst/>
                      </a:prstGeom>
                      <a:solidFill>
                        <a:srgbClr val="969696"/>
                      </a:solidFill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</p:grpSp>
                <p:grpSp>
                  <p:nvGrpSpPr>
                    <p:cNvPr id="37944" name="Group 203">
                      <a:extLst>
                        <a:ext uri="{FF2B5EF4-FFF2-40B4-BE49-F238E27FC236}">
                          <a16:creationId xmlns:a16="http://schemas.microsoft.com/office/drawing/2014/main" id="{1F44A4E5-3613-4498-B064-AF7155D96F8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" y="1674"/>
                      <a:ext cx="858" cy="342"/>
                      <a:chOff x="405" y="966"/>
                      <a:chExt cx="143" cy="57"/>
                    </a:xfrm>
                  </p:grpSpPr>
                  <p:grpSp>
                    <p:nvGrpSpPr>
                      <p:cNvPr id="37950" name="Group 204">
                        <a:extLst>
                          <a:ext uri="{FF2B5EF4-FFF2-40B4-BE49-F238E27FC236}">
                            <a16:creationId xmlns:a16="http://schemas.microsoft.com/office/drawing/2014/main" id="{7A833BC0-73E2-4230-8AC8-3EF42BCF068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05" y="966"/>
                        <a:ext cx="143" cy="57"/>
                        <a:chOff x="417" y="445"/>
                        <a:chExt cx="107" cy="66"/>
                      </a:xfrm>
                    </p:grpSpPr>
                    <p:sp>
                      <p:nvSpPr>
                        <p:cNvPr id="649421" name="Rectangle 205">
                          <a:extLst>
                            <a:ext uri="{FF2B5EF4-FFF2-40B4-BE49-F238E27FC236}">
                              <a16:creationId xmlns:a16="http://schemas.microsoft.com/office/drawing/2014/main" id="{CA6626B0-C140-45E0-9414-F89DE7902E7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25" y="454"/>
                          <a:ext cx="91" cy="57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49422" name="Rectangle 206">
                          <a:extLst>
                            <a:ext uri="{FF2B5EF4-FFF2-40B4-BE49-F238E27FC236}">
                              <a16:creationId xmlns:a16="http://schemas.microsoft.com/office/drawing/2014/main" id="{DC24B4CA-3212-4C6D-976E-EE4381C02BDB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17" y="445"/>
                          <a:ext cx="107" cy="10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</p:grpSp>
                  <p:grpSp>
                    <p:nvGrpSpPr>
                      <p:cNvPr id="37951" name="Group 207">
                        <a:extLst>
                          <a:ext uri="{FF2B5EF4-FFF2-40B4-BE49-F238E27FC236}">
                            <a16:creationId xmlns:a16="http://schemas.microsoft.com/office/drawing/2014/main" id="{C50D776A-59F4-4349-83CE-F9EAC4234B22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4" y="966"/>
                        <a:ext cx="106" cy="57"/>
                        <a:chOff x="424" y="966"/>
                        <a:chExt cx="106" cy="57"/>
                      </a:xfrm>
                    </p:grpSpPr>
                    <p:sp>
                      <p:nvSpPr>
                        <p:cNvPr id="649424" name="AutoShape 208">
                          <a:extLst>
                            <a:ext uri="{FF2B5EF4-FFF2-40B4-BE49-F238E27FC236}">
                              <a16:creationId xmlns:a16="http://schemas.microsoft.com/office/drawing/2014/main" id="{E1D269E7-02CF-41F2-A890-48A794C17942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7" y="966"/>
                          <a:ext cx="99" cy="43"/>
                        </a:xfrm>
                        <a:custGeom>
                          <a:avLst/>
                          <a:gdLst>
                            <a:gd name="G0" fmla="+- 5400 0 0"/>
                            <a:gd name="G1" fmla="+- 21600 0 5400"/>
                            <a:gd name="G2" fmla="*/ 5400 1 2"/>
                            <a:gd name="G3" fmla="+- 21600 0 G2"/>
                            <a:gd name="G4" fmla="+/ 5400 21600 2"/>
                            <a:gd name="G5" fmla="+/ G1 0 2"/>
                            <a:gd name="G6" fmla="*/ 21600 21600 5400"/>
                            <a:gd name="G7" fmla="*/ G6 1 2"/>
                            <a:gd name="G8" fmla="+- 21600 0 G7"/>
                            <a:gd name="G9" fmla="*/ 21600 1 2"/>
                            <a:gd name="G10" fmla="+- 5400 0 G9"/>
                            <a:gd name="G11" fmla="?: G10 G8 0"/>
                            <a:gd name="G12" fmla="?: G10 G7 21600"/>
                            <a:gd name="T0" fmla="*/ 18900 w 21600"/>
                            <a:gd name="T1" fmla="*/ 10800 h 21600"/>
                            <a:gd name="T2" fmla="*/ 10800 w 21600"/>
                            <a:gd name="T3" fmla="*/ 21600 h 21600"/>
                            <a:gd name="T4" fmla="*/ 2700 w 21600"/>
                            <a:gd name="T5" fmla="*/ 10800 h 21600"/>
                            <a:gd name="T6" fmla="*/ 10800 w 21600"/>
                            <a:gd name="T7" fmla="*/ 0 h 21600"/>
                            <a:gd name="T8" fmla="*/ 4500 w 21600"/>
                            <a:gd name="T9" fmla="*/ 4500 h 21600"/>
                            <a:gd name="T10" fmla="*/ 17100 w 21600"/>
                            <a:gd name="T11" fmla="*/ 17100 h 2160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</a:cxnLst>
                          <a:rect l="T8" t="T9" r="T10" b="T11"/>
                          <a:pathLst>
                            <a:path w="21600" h="21600">
                              <a:moveTo>
                                <a:pt x="0" y="0"/>
                              </a:moveTo>
                              <a:lnTo>
                                <a:pt x="5400" y="21600"/>
                              </a:lnTo>
                              <a:lnTo>
                                <a:pt x="16200" y="21600"/>
                              </a:lnTo>
                              <a:lnTo>
                                <a:pt x="2160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49425" name="Rectangle 209">
                          <a:extLst>
                            <a:ext uri="{FF2B5EF4-FFF2-40B4-BE49-F238E27FC236}">
                              <a16:creationId xmlns:a16="http://schemas.microsoft.com/office/drawing/2014/main" id="{44015CD6-120C-4756-A065-9C51E782170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4" y="998"/>
                          <a:ext cx="106" cy="25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49426" name="Rectangle 210">
                          <a:extLst>
                            <a:ext uri="{FF2B5EF4-FFF2-40B4-BE49-F238E27FC236}">
                              <a16:creationId xmlns:a16="http://schemas.microsoft.com/office/drawing/2014/main" id="{097A022C-98E7-423E-8E5C-D659B22D603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47" y="989"/>
                          <a:ext cx="60" cy="2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9050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7945" name="Group 211">
                      <a:extLst>
                        <a:ext uri="{FF2B5EF4-FFF2-40B4-BE49-F238E27FC236}">
                          <a16:creationId xmlns:a16="http://schemas.microsoft.com/office/drawing/2014/main" id="{79F92F25-CE78-48F2-A792-3E5E77A7FC4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6" y="1584"/>
                      <a:ext cx="576" cy="336"/>
                      <a:chOff x="336" y="1632"/>
                      <a:chExt cx="576" cy="336"/>
                    </a:xfrm>
                  </p:grpSpPr>
                  <p:sp>
                    <p:nvSpPr>
                      <p:cNvPr id="649428" name="AutoShape 212">
                        <a:extLst>
                          <a:ext uri="{FF2B5EF4-FFF2-40B4-BE49-F238E27FC236}">
                            <a16:creationId xmlns:a16="http://schemas.microsoft.com/office/drawing/2014/main" id="{0A68AA95-AD97-426A-BDBB-3F997B59137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flipH="1" flipV="1">
                        <a:off x="336" y="1728"/>
                        <a:ext cx="96" cy="240"/>
                      </a:xfrm>
                      <a:prstGeom prst="rtTriangle">
                        <a:avLst/>
                      </a:prstGeom>
                      <a:solidFill>
                        <a:srgbClr val="FF000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649429" name="AutoShape 213">
                        <a:extLst>
                          <a:ext uri="{FF2B5EF4-FFF2-40B4-BE49-F238E27FC236}">
                            <a16:creationId xmlns:a16="http://schemas.microsoft.com/office/drawing/2014/main" id="{549C35C3-E123-4225-8E71-C7505B0322B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flipV="1">
                        <a:off x="816" y="1728"/>
                        <a:ext cx="96" cy="240"/>
                      </a:xfrm>
                      <a:prstGeom prst="rtTriangle">
                        <a:avLst/>
                      </a:prstGeom>
                      <a:solidFill>
                        <a:srgbClr val="FF000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649430" name="Rectangle 214">
                        <a:extLst>
                          <a:ext uri="{FF2B5EF4-FFF2-40B4-BE49-F238E27FC236}">
                            <a16:creationId xmlns:a16="http://schemas.microsoft.com/office/drawing/2014/main" id="{23282F21-37BA-4ECC-8982-3690C43CA03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4" y="1632"/>
                        <a:ext cx="48" cy="9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649431" name="Rectangle 215">
                        <a:extLst>
                          <a:ext uri="{FF2B5EF4-FFF2-40B4-BE49-F238E27FC236}">
                            <a16:creationId xmlns:a16="http://schemas.microsoft.com/office/drawing/2014/main" id="{FB7537F7-2817-4E0C-9AC6-AB158FB6170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16" y="1632"/>
                        <a:ext cx="48" cy="9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</p:grpSp>
              </p:grpSp>
              <p:sp>
                <p:nvSpPr>
                  <p:cNvPr id="649432" name="AutoShape 216">
                    <a:extLst>
                      <a:ext uri="{FF2B5EF4-FFF2-40B4-BE49-F238E27FC236}">
                        <a16:creationId xmlns:a16="http://schemas.microsoft.com/office/drawing/2014/main" id="{40D36A67-5BED-4824-8089-7D0BCE7B4A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H="1" flipV="1">
                    <a:off x="384" y="1344"/>
                    <a:ext cx="128" cy="288"/>
                  </a:xfrm>
                  <a:prstGeom prst="rtTriangl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649433" name="AutoShape 217">
                    <a:extLst>
                      <a:ext uri="{FF2B5EF4-FFF2-40B4-BE49-F238E27FC236}">
                        <a16:creationId xmlns:a16="http://schemas.microsoft.com/office/drawing/2014/main" id="{03122441-B635-4100-B1B5-6866941CD4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736" y="1344"/>
                    <a:ext cx="128" cy="288"/>
                  </a:xfrm>
                  <a:prstGeom prst="rtTriangl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</p:grpSp>
            <p:sp>
              <p:nvSpPr>
                <p:cNvPr id="649434" name="Rectangle 218">
                  <a:extLst>
                    <a:ext uri="{FF2B5EF4-FFF2-40B4-BE49-F238E27FC236}">
                      <a16:creationId xmlns:a16="http://schemas.microsoft.com/office/drawing/2014/main" id="{3DFE52E9-0F36-46C0-B397-FD86FAE179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" y="1248"/>
                  <a:ext cx="96" cy="96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</p:grpSp>
        <p:sp>
          <p:nvSpPr>
            <p:cNvPr id="649435" name="Rectangle 219">
              <a:extLst>
                <a:ext uri="{FF2B5EF4-FFF2-40B4-BE49-F238E27FC236}">
                  <a16:creationId xmlns:a16="http://schemas.microsoft.com/office/drawing/2014/main" id="{2284A534-5D9C-489E-967C-3265A731F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48"/>
              <a:ext cx="96" cy="96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649283" name="Rectangle 67" descr="Divot">
            <a:extLst>
              <a:ext uri="{FF2B5EF4-FFF2-40B4-BE49-F238E27FC236}">
                <a16:creationId xmlns:a16="http://schemas.microsoft.com/office/drawing/2014/main" id="{30574215-20FC-47B1-A2E6-5B729F422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495800"/>
            <a:ext cx="304800" cy="7620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82" name="Rectangle 66" descr="Divot">
            <a:extLst>
              <a:ext uri="{FF2B5EF4-FFF2-40B4-BE49-F238E27FC236}">
                <a16:creationId xmlns:a16="http://schemas.microsoft.com/office/drawing/2014/main" id="{680C9D12-8134-4FCD-BECB-1854F4994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257800"/>
            <a:ext cx="152400" cy="12954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81" name="Rectangle 65" descr="Divot">
            <a:extLst>
              <a:ext uri="{FF2B5EF4-FFF2-40B4-BE49-F238E27FC236}">
                <a16:creationId xmlns:a16="http://schemas.microsoft.com/office/drawing/2014/main" id="{5EDC1902-25F9-4A4B-95EE-975834F15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334000"/>
            <a:ext cx="152400" cy="12192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18" name="Rectangle 2" descr="Divot">
            <a:extLst>
              <a:ext uri="{FF2B5EF4-FFF2-40B4-BE49-F238E27FC236}">
                <a16:creationId xmlns:a16="http://schemas.microsoft.com/office/drawing/2014/main" id="{4D1B0685-10E8-496B-9E79-04E2E474E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19" name="Rectangle 3" descr="Divot">
            <a:extLst>
              <a:ext uri="{FF2B5EF4-FFF2-40B4-BE49-F238E27FC236}">
                <a16:creationId xmlns:a16="http://schemas.microsoft.com/office/drawing/2014/main" id="{E8ADF069-2214-43BE-BD67-40CB6FEE6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20" name="Rectangle 4" descr="Divot">
            <a:extLst>
              <a:ext uri="{FF2B5EF4-FFF2-40B4-BE49-F238E27FC236}">
                <a16:creationId xmlns:a16="http://schemas.microsoft.com/office/drawing/2014/main" id="{1E12EE44-C866-48D5-A6D5-53768E25F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800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21" name="Rectangle 5" descr="Divot">
            <a:extLst>
              <a:ext uri="{FF2B5EF4-FFF2-40B4-BE49-F238E27FC236}">
                <a16:creationId xmlns:a16="http://schemas.microsoft.com/office/drawing/2014/main" id="{6BD4A0A0-0A33-4F09-AA51-E9367C632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800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22" name="Rectangle 6" descr="Divot">
            <a:extLst>
              <a:ext uri="{FF2B5EF4-FFF2-40B4-BE49-F238E27FC236}">
                <a16:creationId xmlns:a16="http://schemas.microsoft.com/office/drawing/2014/main" id="{8677E32D-8C8E-45C0-AEE7-7BC9920CB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23" name="Rectangle 7" descr="Divot">
            <a:extLst>
              <a:ext uri="{FF2B5EF4-FFF2-40B4-BE49-F238E27FC236}">
                <a16:creationId xmlns:a16="http://schemas.microsoft.com/office/drawing/2014/main" id="{7737F883-0FBE-4689-934B-EA549B9BC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7900" name="Rectangle 15">
            <a:extLst>
              <a:ext uri="{FF2B5EF4-FFF2-40B4-BE49-F238E27FC236}">
                <a16:creationId xmlns:a16="http://schemas.microsoft.com/office/drawing/2014/main" id="{A3BA514C-553C-480D-AFD6-C3962D02F4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Liner</a:t>
            </a:r>
          </a:p>
        </p:txBody>
      </p:sp>
      <p:sp>
        <p:nvSpPr>
          <p:cNvPr id="37901" name="Rectangle 16">
            <a:extLst>
              <a:ext uri="{FF2B5EF4-FFF2-40B4-BE49-F238E27FC236}">
                <a16:creationId xmlns:a16="http://schemas.microsoft.com/office/drawing/2014/main" id="{299CDD53-B6C0-4747-B246-EDFDC4C34CA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1447800"/>
            <a:ext cx="4038600" cy="4876800"/>
          </a:xfrm>
        </p:spPr>
        <p:txBody>
          <a:bodyPr/>
          <a:lstStyle/>
          <a:p>
            <a:r>
              <a:rPr lang="en-US" altLang="en-US" sz="2400"/>
              <a:t>Run Liner to depth, set Hanger</a:t>
            </a:r>
          </a:p>
          <a:p>
            <a:pPr lvl="1"/>
            <a:r>
              <a:rPr lang="en-US" altLang="en-US" sz="2000"/>
              <a:t>Perform cement job</a:t>
            </a:r>
          </a:p>
          <a:p>
            <a:pPr lvl="1"/>
            <a:r>
              <a:rPr lang="en-US" altLang="en-US" sz="2000"/>
              <a:t>Don’t over-displace, Liner wipers have tendency to be inefficient </a:t>
            </a:r>
          </a:p>
          <a:p>
            <a:r>
              <a:rPr lang="en-US" altLang="en-US" sz="2400"/>
              <a:t>Pump cement above hanger (discuss with Supervisor), unless planning on running a Liner top squeeze</a:t>
            </a:r>
          </a:p>
        </p:txBody>
      </p:sp>
      <p:sp>
        <p:nvSpPr>
          <p:cNvPr id="649233" name="Line 17">
            <a:extLst>
              <a:ext uri="{FF2B5EF4-FFF2-40B4-BE49-F238E27FC236}">
                <a16:creationId xmlns:a16="http://schemas.microsoft.com/office/drawing/2014/main" id="{CE8DB4A3-7691-4AB2-8536-F7BCD1C846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34" name="Line 18">
            <a:extLst>
              <a:ext uri="{FF2B5EF4-FFF2-40B4-BE49-F238E27FC236}">
                <a16:creationId xmlns:a16="http://schemas.microsoft.com/office/drawing/2014/main" id="{AA1C7918-9C95-4342-98D7-4C3F44FD6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35" name="Line 19">
            <a:extLst>
              <a:ext uri="{FF2B5EF4-FFF2-40B4-BE49-F238E27FC236}">
                <a16:creationId xmlns:a16="http://schemas.microsoft.com/office/drawing/2014/main" id="{6D79FC19-DA58-4669-AB39-1FE8D41404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36" name="Line 20">
            <a:extLst>
              <a:ext uri="{FF2B5EF4-FFF2-40B4-BE49-F238E27FC236}">
                <a16:creationId xmlns:a16="http://schemas.microsoft.com/office/drawing/2014/main" id="{9713B901-C078-4C4E-A41A-F33A0B2867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37" name="AutoShape 21">
            <a:extLst>
              <a:ext uri="{FF2B5EF4-FFF2-40B4-BE49-F238E27FC236}">
                <a16:creationId xmlns:a16="http://schemas.microsoft.com/office/drawing/2014/main" id="{074650D1-BC16-4639-837F-A69D2FC9AF0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38" name="AutoShape 22">
            <a:extLst>
              <a:ext uri="{FF2B5EF4-FFF2-40B4-BE49-F238E27FC236}">
                <a16:creationId xmlns:a16="http://schemas.microsoft.com/office/drawing/2014/main" id="{E1EB51C8-D02C-4CA2-8BED-C497F840971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39" name="AutoShape 23">
            <a:extLst>
              <a:ext uri="{FF2B5EF4-FFF2-40B4-BE49-F238E27FC236}">
                <a16:creationId xmlns:a16="http://schemas.microsoft.com/office/drawing/2014/main" id="{C045D5E6-68DC-40F3-9883-CE2C4B54918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40" name="AutoShape 24">
            <a:extLst>
              <a:ext uri="{FF2B5EF4-FFF2-40B4-BE49-F238E27FC236}">
                <a16:creationId xmlns:a16="http://schemas.microsoft.com/office/drawing/2014/main" id="{D579B1A0-5B86-4302-94D3-B99E13FB2C0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09800" y="5638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41" name="AutoShape 25">
            <a:extLst>
              <a:ext uri="{FF2B5EF4-FFF2-40B4-BE49-F238E27FC236}">
                <a16:creationId xmlns:a16="http://schemas.microsoft.com/office/drawing/2014/main" id="{F77A0E10-5620-456C-A416-F924BDDD7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638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42" name="AutoShape 26">
            <a:extLst>
              <a:ext uri="{FF2B5EF4-FFF2-40B4-BE49-F238E27FC236}">
                <a16:creationId xmlns:a16="http://schemas.microsoft.com/office/drawing/2014/main" id="{38DC8ADD-76E2-4C6D-B8E2-68C3F12EE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43" name="AutoShape 27">
            <a:extLst>
              <a:ext uri="{FF2B5EF4-FFF2-40B4-BE49-F238E27FC236}">
                <a16:creationId xmlns:a16="http://schemas.microsoft.com/office/drawing/2014/main" id="{77C7B9F3-7752-4223-8A49-F86EE60A9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44" name="AutoShape 28">
            <a:extLst>
              <a:ext uri="{FF2B5EF4-FFF2-40B4-BE49-F238E27FC236}">
                <a16:creationId xmlns:a16="http://schemas.microsoft.com/office/drawing/2014/main" id="{A683ADA0-90CE-4B82-9C5A-03460264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7914" name="Group 221">
            <a:extLst>
              <a:ext uri="{FF2B5EF4-FFF2-40B4-BE49-F238E27FC236}">
                <a16:creationId xmlns:a16="http://schemas.microsoft.com/office/drawing/2014/main" id="{06FFB51E-B91F-41D2-B600-7DC6C7F02C01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514600"/>
            <a:ext cx="609600" cy="2819400"/>
            <a:chOff x="432" y="1632"/>
            <a:chExt cx="384" cy="1728"/>
          </a:xfrm>
        </p:grpSpPr>
        <p:sp>
          <p:nvSpPr>
            <p:cNvPr id="649249" name="Line 33">
              <a:extLst>
                <a:ext uri="{FF2B5EF4-FFF2-40B4-BE49-F238E27FC236}">
                  <a16:creationId xmlns:a16="http://schemas.microsoft.com/office/drawing/2014/main" id="{695676AC-77D9-4443-BA1B-B0305F1F9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649250" name="Line 34">
              <a:extLst>
                <a:ext uri="{FF2B5EF4-FFF2-40B4-BE49-F238E27FC236}">
                  <a16:creationId xmlns:a16="http://schemas.microsoft.com/office/drawing/2014/main" id="{E231C2CE-DC61-44A6-A451-21A438B44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37915" name="Group 220">
            <a:extLst>
              <a:ext uri="{FF2B5EF4-FFF2-40B4-BE49-F238E27FC236}">
                <a16:creationId xmlns:a16="http://schemas.microsoft.com/office/drawing/2014/main" id="{3A59148F-4FFB-4F88-B134-4FBF4B543020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981200"/>
            <a:ext cx="304800" cy="3810000"/>
            <a:chOff x="528" y="1296"/>
            <a:chExt cx="192" cy="2352"/>
          </a:xfrm>
        </p:grpSpPr>
        <p:sp>
          <p:nvSpPr>
            <p:cNvPr id="649255" name="Line 39">
              <a:extLst>
                <a:ext uri="{FF2B5EF4-FFF2-40B4-BE49-F238E27FC236}">
                  <a16:creationId xmlns:a16="http://schemas.microsoft.com/office/drawing/2014/main" id="{FF782263-DED9-4A11-ADCA-39E91A80C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96"/>
              <a:ext cx="0" cy="235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649256" name="Line 40">
              <a:extLst>
                <a:ext uri="{FF2B5EF4-FFF2-40B4-BE49-F238E27FC236}">
                  <a16:creationId xmlns:a16="http://schemas.microsoft.com/office/drawing/2014/main" id="{12F787E6-700F-475A-B3B0-F91F32F93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96"/>
              <a:ext cx="0" cy="235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649266" name="Line 50">
            <a:extLst>
              <a:ext uri="{FF2B5EF4-FFF2-40B4-BE49-F238E27FC236}">
                <a16:creationId xmlns:a16="http://schemas.microsoft.com/office/drawing/2014/main" id="{9912E083-ADD4-4C5B-908E-44576D39F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5257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67" name="AutoShape 51">
            <a:extLst>
              <a:ext uri="{FF2B5EF4-FFF2-40B4-BE49-F238E27FC236}">
                <a16:creationId xmlns:a16="http://schemas.microsoft.com/office/drawing/2014/main" id="{2B12EECD-8E58-404D-B5DE-F7381F86907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86000" y="6400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68" name="Line 52">
            <a:extLst>
              <a:ext uri="{FF2B5EF4-FFF2-40B4-BE49-F238E27FC236}">
                <a16:creationId xmlns:a16="http://schemas.microsoft.com/office/drawing/2014/main" id="{4519A4B5-1E8F-4123-83D2-7E7DCD733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1242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7919" name="Group 57">
            <a:extLst>
              <a:ext uri="{FF2B5EF4-FFF2-40B4-BE49-F238E27FC236}">
                <a16:creationId xmlns:a16="http://schemas.microsoft.com/office/drawing/2014/main" id="{0F19C5D6-38C1-4F62-A198-704104E40A5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590800" y="5257800"/>
            <a:ext cx="152400" cy="1295400"/>
            <a:chOff x="576" y="3408"/>
            <a:chExt cx="96" cy="816"/>
          </a:xfrm>
        </p:grpSpPr>
        <p:sp>
          <p:nvSpPr>
            <p:cNvPr id="649270" name="Line 54">
              <a:extLst>
                <a:ext uri="{FF2B5EF4-FFF2-40B4-BE49-F238E27FC236}">
                  <a16:creationId xmlns:a16="http://schemas.microsoft.com/office/drawing/2014/main" id="{91818BAA-8623-4DE0-8602-EBE6B14E2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408"/>
              <a:ext cx="0" cy="8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649271" name="AutoShape 55">
              <a:extLst>
                <a:ext uri="{FF2B5EF4-FFF2-40B4-BE49-F238E27FC236}">
                  <a16:creationId xmlns:a16="http://schemas.microsoft.com/office/drawing/2014/main" id="{85CF9086-C0D8-423F-980B-D01BD62013E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76" y="4128"/>
              <a:ext cx="96" cy="96"/>
            </a:xfrm>
            <a:prstGeom prst="rt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649274" name="Rectangle 58">
            <a:extLst>
              <a:ext uri="{FF2B5EF4-FFF2-40B4-BE49-F238E27FC236}">
                <a16:creationId xmlns:a16="http://schemas.microsoft.com/office/drawing/2014/main" id="{9B7AD54D-F5E9-4409-95FA-2A9D62484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257800"/>
            <a:ext cx="304800" cy="152400"/>
          </a:xfrm>
          <a:prstGeom prst="rect">
            <a:avLst/>
          </a:prstGeom>
          <a:solidFill>
            <a:srgbClr val="FF0000"/>
          </a:solidFill>
          <a:ln w="381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77" name="Line 61">
            <a:extLst>
              <a:ext uri="{FF2B5EF4-FFF2-40B4-BE49-F238E27FC236}">
                <a16:creationId xmlns:a16="http://schemas.microsoft.com/office/drawing/2014/main" id="{0A3E79E1-E0D5-44AF-98BB-C1CD3D093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295400"/>
            <a:ext cx="0" cy="3962400"/>
          </a:xfrm>
          <a:prstGeom prst="line">
            <a:avLst/>
          </a:prstGeom>
          <a:noFill/>
          <a:ln w="1143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49279" name="AutoShape 63">
            <a:extLst>
              <a:ext uri="{FF2B5EF4-FFF2-40B4-BE49-F238E27FC236}">
                <a16:creationId xmlns:a16="http://schemas.microsoft.com/office/drawing/2014/main" id="{DC18AE69-6EEB-4D0F-94D9-F2642BEB9C3F}"/>
              </a:ext>
            </a:extLst>
          </p:cNvPr>
          <p:cNvSpPr>
            <a:spLocks/>
          </p:cNvSpPr>
          <p:nvPr/>
        </p:nvSpPr>
        <p:spPr bwMode="auto">
          <a:xfrm>
            <a:off x="3929063" y="1774825"/>
            <a:ext cx="1600200" cy="1654175"/>
          </a:xfrm>
          <a:prstGeom prst="borderCallout1">
            <a:avLst>
              <a:gd name="adj1" fmla="val -7500"/>
              <a:gd name="adj2" fmla="val 92856"/>
              <a:gd name="adj3" fmla="val -7500"/>
              <a:gd name="adj4" fmla="val -87102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Drill Pipe to run and cement Liner</a:t>
            </a:r>
          </a:p>
        </p:txBody>
      </p:sp>
      <p:sp>
        <p:nvSpPr>
          <p:cNvPr id="649280" name="AutoShape 64">
            <a:extLst>
              <a:ext uri="{FF2B5EF4-FFF2-40B4-BE49-F238E27FC236}">
                <a16:creationId xmlns:a16="http://schemas.microsoft.com/office/drawing/2014/main" id="{B2F43F4D-D4B6-4EBF-81C8-8BEBF3A254C1}"/>
              </a:ext>
            </a:extLst>
          </p:cNvPr>
          <p:cNvSpPr>
            <a:spLocks/>
          </p:cNvSpPr>
          <p:nvPr/>
        </p:nvSpPr>
        <p:spPr bwMode="auto">
          <a:xfrm>
            <a:off x="3962400" y="3908425"/>
            <a:ext cx="1600200" cy="1349375"/>
          </a:xfrm>
          <a:prstGeom prst="borderCallout1">
            <a:avLst>
              <a:gd name="adj1" fmla="val 105648"/>
              <a:gd name="adj2" fmla="val 92856"/>
              <a:gd name="adj3" fmla="val 105648"/>
              <a:gd name="adj4" fmla="val -89185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Liner Hanger</a:t>
            </a:r>
          </a:p>
          <a:p>
            <a:pPr algn="ctr">
              <a:defRPr/>
            </a:pPr>
            <a:endParaRPr lang="en-US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  <a:p>
            <a:pPr algn="ctr">
              <a:defRPr/>
            </a:pPr>
            <a:r>
              <a:rPr 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Liner</a:t>
            </a:r>
          </a:p>
        </p:txBody>
      </p:sp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64">
            <a:extLst>
              <a:ext uri="{FF2B5EF4-FFF2-40B4-BE49-F238E27FC236}">
                <a16:creationId xmlns:a16="http://schemas.microsoft.com/office/drawing/2014/main" id="{083C6D13-9417-474D-8867-CB548DB54299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543050"/>
            <a:ext cx="1762125" cy="1657350"/>
            <a:chOff x="192" y="990"/>
            <a:chExt cx="1110" cy="1044"/>
          </a:xfrm>
        </p:grpSpPr>
        <p:grpSp>
          <p:nvGrpSpPr>
            <p:cNvPr id="38953" name="Group 65">
              <a:extLst>
                <a:ext uri="{FF2B5EF4-FFF2-40B4-BE49-F238E27FC236}">
                  <a16:creationId xmlns:a16="http://schemas.microsoft.com/office/drawing/2014/main" id="{6F5AFA13-9235-4CA1-B519-5298CDBBA3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990"/>
              <a:ext cx="1110" cy="1044"/>
              <a:chOff x="192" y="990"/>
              <a:chExt cx="1110" cy="1044"/>
            </a:xfrm>
          </p:grpSpPr>
          <p:grpSp>
            <p:nvGrpSpPr>
              <p:cNvPr id="38955" name="Group 66">
                <a:extLst>
                  <a:ext uri="{FF2B5EF4-FFF2-40B4-BE49-F238E27FC236}">
                    <a16:creationId xmlns:a16="http://schemas.microsoft.com/office/drawing/2014/main" id="{57E1B9AA-D2D9-4BF7-ADDC-20DDB57D6F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8" y="1086"/>
                <a:ext cx="192" cy="126"/>
                <a:chOff x="544" y="251"/>
                <a:chExt cx="32" cy="21"/>
              </a:xfrm>
            </p:grpSpPr>
            <p:sp>
              <p:nvSpPr>
                <p:cNvPr id="650307" name="Rectangle 67">
                  <a:extLst>
                    <a:ext uri="{FF2B5EF4-FFF2-40B4-BE49-F238E27FC236}">
                      <a16:creationId xmlns:a16="http://schemas.microsoft.com/office/drawing/2014/main" id="{D73FC8EE-D0AA-45F9-A373-AE6CAFAA21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4" y="255"/>
                  <a:ext cx="32" cy="13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650308" name="AutoShape 68">
                  <a:extLst>
                    <a:ext uri="{FF2B5EF4-FFF2-40B4-BE49-F238E27FC236}">
                      <a16:creationId xmlns:a16="http://schemas.microsoft.com/office/drawing/2014/main" id="{E852F939-E4B1-457F-8885-11D65EECAC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" y="251"/>
                  <a:ext cx="20" cy="21"/>
                </a:xfrm>
                <a:prstGeom prst="flowChartSummingJunction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8956" name="Group 69">
                <a:extLst>
                  <a:ext uri="{FF2B5EF4-FFF2-40B4-BE49-F238E27FC236}">
                    <a16:creationId xmlns:a16="http://schemas.microsoft.com/office/drawing/2014/main" id="{AF3A1E7B-9C83-48AC-AA4C-52AD581117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10" y="1086"/>
                <a:ext cx="192" cy="126"/>
                <a:chOff x="544" y="251"/>
                <a:chExt cx="32" cy="21"/>
              </a:xfrm>
            </p:grpSpPr>
            <p:sp>
              <p:nvSpPr>
                <p:cNvPr id="650310" name="Rectangle 70">
                  <a:extLst>
                    <a:ext uri="{FF2B5EF4-FFF2-40B4-BE49-F238E27FC236}">
                      <a16:creationId xmlns:a16="http://schemas.microsoft.com/office/drawing/2014/main" id="{12863CA0-ACBE-4297-8BA1-AEAD020835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4" y="255"/>
                  <a:ext cx="32" cy="13"/>
                </a:xfrm>
                <a:prstGeom prst="rect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650311" name="AutoShape 71">
                  <a:extLst>
                    <a:ext uri="{FF2B5EF4-FFF2-40B4-BE49-F238E27FC236}">
                      <a16:creationId xmlns:a16="http://schemas.microsoft.com/office/drawing/2014/main" id="{8CBF6605-4C40-46D2-9E52-3D19FD76D0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0" y="251"/>
                  <a:ext cx="20" cy="21"/>
                </a:xfrm>
                <a:prstGeom prst="flowChartSummingJunction">
                  <a:avLst/>
                </a:prstGeom>
                <a:solidFill>
                  <a:srgbClr val="969696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  <p:grpSp>
            <p:nvGrpSpPr>
              <p:cNvPr id="38957" name="Group 72">
                <a:extLst>
                  <a:ext uri="{FF2B5EF4-FFF2-40B4-BE49-F238E27FC236}">
                    <a16:creationId xmlns:a16="http://schemas.microsoft.com/office/drawing/2014/main" id="{C5A28B1D-52A6-4D14-8CF2-F7A1BEAAA7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990"/>
                <a:ext cx="768" cy="354"/>
                <a:chOff x="413" y="849"/>
                <a:chExt cx="128" cy="59"/>
              </a:xfrm>
            </p:grpSpPr>
            <p:grpSp>
              <p:nvGrpSpPr>
                <p:cNvPr id="38992" name="Group 73">
                  <a:extLst>
                    <a:ext uri="{FF2B5EF4-FFF2-40B4-BE49-F238E27FC236}">
                      <a16:creationId xmlns:a16="http://schemas.microsoft.com/office/drawing/2014/main" id="{F237FF9B-5801-4625-9A22-F5206E1D5FD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3" y="849"/>
                  <a:ext cx="128" cy="59"/>
                  <a:chOff x="423" y="292"/>
                  <a:chExt cx="96" cy="70"/>
                </a:xfrm>
              </p:grpSpPr>
              <p:sp>
                <p:nvSpPr>
                  <p:cNvPr id="650314" name="Rectangle 74">
                    <a:extLst>
                      <a:ext uri="{FF2B5EF4-FFF2-40B4-BE49-F238E27FC236}">
                        <a16:creationId xmlns:a16="http://schemas.microsoft.com/office/drawing/2014/main" id="{FA20436C-8C49-48BC-8B07-46DA745D19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23" y="352"/>
                    <a:ext cx="96" cy="10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650315" name="Rectangle 75">
                    <a:extLst>
                      <a:ext uri="{FF2B5EF4-FFF2-40B4-BE49-F238E27FC236}">
                        <a16:creationId xmlns:a16="http://schemas.microsoft.com/office/drawing/2014/main" id="{C2CD0F5C-A660-4054-A542-C3B224C7A9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32" y="301"/>
                    <a:ext cx="77" cy="51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650316" name="Rectangle 76">
                    <a:extLst>
                      <a:ext uri="{FF2B5EF4-FFF2-40B4-BE49-F238E27FC236}">
                        <a16:creationId xmlns:a16="http://schemas.microsoft.com/office/drawing/2014/main" id="{4862DADF-97CF-4545-89E4-786342816A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25" y="292"/>
                    <a:ext cx="91" cy="9"/>
                  </a:xfrm>
                  <a:prstGeom prst="rect">
                    <a:avLst/>
                  </a:prstGeom>
                  <a:solidFill>
                    <a:srgbClr val="969696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</p:grpSp>
            <p:grpSp>
              <p:nvGrpSpPr>
                <p:cNvPr id="38993" name="Group 77">
                  <a:extLst>
                    <a:ext uri="{FF2B5EF4-FFF2-40B4-BE49-F238E27FC236}">
                      <a16:creationId xmlns:a16="http://schemas.microsoft.com/office/drawing/2014/main" id="{AD6077ED-F6D7-4DBE-976E-8DABA3F6E0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7" y="849"/>
                  <a:ext cx="60" cy="59"/>
                  <a:chOff x="432" y="908"/>
                  <a:chExt cx="89" cy="59"/>
                </a:xfrm>
              </p:grpSpPr>
              <p:sp>
                <p:nvSpPr>
                  <p:cNvPr id="650318" name="AutoShape 78">
                    <a:extLst>
                      <a:ext uri="{FF2B5EF4-FFF2-40B4-BE49-F238E27FC236}">
                        <a16:creationId xmlns:a16="http://schemas.microsoft.com/office/drawing/2014/main" id="{331B5186-FCFB-4885-A57A-59DA688645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2" y="908"/>
                    <a:ext cx="89" cy="42"/>
                  </a:xfrm>
                  <a:custGeom>
                    <a:avLst/>
                    <a:gdLst>
                      <a:gd name="G0" fmla="+- 5400 0 0"/>
                      <a:gd name="G1" fmla="+- 21600 0 5400"/>
                      <a:gd name="G2" fmla="*/ 5400 1 2"/>
                      <a:gd name="G3" fmla="+- 21600 0 G2"/>
                      <a:gd name="G4" fmla="+/ 5400 21600 2"/>
                      <a:gd name="G5" fmla="+/ G1 0 2"/>
                      <a:gd name="G6" fmla="*/ 21600 21600 5400"/>
                      <a:gd name="G7" fmla="*/ G6 1 2"/>
                      <a:gd name="G8" fmla="+- 21600 0 G7"/>
                      <a:gd name="G9" fmla="*/ 21600 1 2"/>
                      <a:gd name="G10" fmla="+- 5400 0 G9"/>
                      <a:gd name="G11" fmla="?: G10 G8 0"/>
                      <a:gd name="G12" fmla="?: G10 G7 21600"/>
                      <a:gd name="T0" fmla="*/ 18900 w 21600"/>
                      <a:gd name="T1" fmla="*/ 10800 h 21600"/>
                      <a:gd name="T2" fmla="*/ 10800 w 21600"/>
                      <a:gd name="T3" fmla="*/ 21600 h 21600"/>
                      <a:gd name="T4" fmla="*/ 2700 w 21600"/>
                      <a:gd name="T5" fmla="*/ 10800 h 21600"/>
                      <a:gd name="T6" fmla="*/ 10800 w 21600"/>
                      <a:gd name="T7" fmla="*/ 0 h 21600"/>
                      <a:gd name="T8" fmla="*/ 4500 w 21600"/>
                      <a:gd name="T9" fmla="*/ 4500 h 21600"/>
                      <a:gd name="T10" fmla="*/ 17100 w 21600"/>
                      <a:gd name="T11" fmla="*/ 171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650319" name="Rectangle 79">
                    <a:extLst>
                      <a:ext uri="{FF2B5EF4-FFF2-40B4-BE49-F238E27FC236}">
                        <a16:creationId xmlns:a16="http://schemas.microsoft.com/office/drawing/2014/main" id="{2D7322AD-A233-483E-A53B-B676106282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5" y="947"/>
                    <a:ext cx="84" cy="20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650320" name="Rectangle 80">
                    <a:extLst>
                      <a:ext uri="{FF2B5EF4-FFF2-40B4-BE49-F238E27FC236}">
                        <a16:creationId xmlns:a16="http://schemas.microsoft.com/office/drawing/2014/main" id="{674FF3B2-880C-4B54-8D73-94665778A7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3" y="931"/>
                    <a:ext cx="47" cy="19"/>
                  </a:xfrm>
                  <a:prstGeom prst="rect">
                    <a:avLst/>
                  </a:prstGeom>
                  <a:solidFill>
                    <a:srgbClr val="FFFFFF"/>
                  </a:solidFill>
                  <a:ln w="19050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8958" name="Group 81">
                <a:extLst>
                  <a:ext uri="{FF2B5EF4-FFF2-40B4-BE49-F238E27FC236}">
                    <a16:creationId xmlns:a16="http://schemas.microsoft.com/office/drawing/2014/main" id="{094BF227-CCE7-4B1D-9FDD-F7BCA94923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1248"/>
                <a:ext cx="972" cy="786"/>
                <a:chOff x="192" y="1248"/>
                <a:chExt cx="972" cy="786"/>
              </a:xfrm>
            </p:grpSpPr>
            <p:grpSp>
              <p:nvGrpSpPr>
                <p:cNvPr id="38959" name="Group 82">
                  <a:extLst>
                    <a:ext uri="{FF2B5EF4-FFF2-40B4-BE49-F238E27FC236}">
                      <a16:creationId xmlns:a16="http://schemas.microsoft.com/office/drawing/2014/main" id="{F74F8AE2-EB7E-4201-BC80-122885C479C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" y="1344"/>
                  <a:ext cx="972" cy="690"/>
                  <a:chOff x="192" y="1326"/>
                  <a:chExt cx="972" cy="690"/>
                </a:xfrm>
              </p:grpSpPr>
              <p:grpSp>
                <p:nvGrpSpPr>
                  <p:cNvPr id="38961" name="Group 83">
                    <a:extLst>
                      <a:ext uri="{FF2B5EF4-FFF2-40B4-BE49-F238E27FC236}">
                        <a16:creationId xmlns:a16="http://schemas.microsoft.com/office/drawing/2014/main" id="{80CC9A11-49FE-4021-8DF3-B0538EDB1D8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2" y="1326"/>
                    <a:ext cx="972" cy="690"/>
                    <a:chOff x="192" y="1326"/>
                    <a:chExt cx="972" cy="690"/>
                  </a:xfrm>
                </p:grpSpPr>
                <p:grpSp>
                  <p:nvGrpSpPr>
                    <p:cNvPr id="38964" name="Group 84">
                      <a:extLst>
                        <a:ext uri="{FF2B5EF4-FFF2-40B4-BE49-F238E27FC236}">
                          <a16:creationId xmlns:a16="http://schemas.microsoft.com/office/drawing/2014/main" id="{3D9CDBAA-93B3-4263-804D-1337E79F938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42" y="1428"/>
                      <a:ext cx="192" cy="126"/>
                      <a:chOff x="544" y="251"/>
                      <a:chExt cx="32" cy="21"/>
                    </a:xfrm>
                  </p:grpSpPr>
                  <p:sp>
                    <p:nvSpPr>
                      <p:cNvPr id="650325" name="Rectangle 85">
                        <a:extLst>
                          <a:ext uri="{FF2B5EF4-FFF2-40B4-BE49-F238E27FC236}">
                            <a16:creationId xmlns:a16="http://schemas.microsoft.com/office/drawing/2014/main" id="{3423868A-BAE7-45D6-998B-3FFA394C9B6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44" y="255"/>
                        <a:ext cx="32" cy="13"/>
                      </a:xfrm>
                      <a:prstGeom prst="rect">
                        <a:avLst/>
                      </a:prstGeom>
                      <a:solidFill>
                        <a:srgbClr val="969696"/>
                      </a:solidFill>
                      <a:ln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650326" name="AutoShape 86">
                        <a:extLst>
                          <a:ext uri="{FF2B5EF4-FFF2-40B4-BE49-F238E27FC236}">
                            <a16:creationId xmlns:a16="http://schemas.microsoft.com/office/drawing/2014/main" id="{731E8BDB-3C3C-440D-8025-FC3C92687D2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50" y="251"/>
                        <a:ext cx="20" cy="21"/>
                      </a:xfrm>
                      <a:prstGeom prst="flowChartSummingJunction">
                        <a:avLst/>
                      </a:prstGeom>
                      <a:solidFill>
                        <a:srgbClr val="969696"/>
                      </a:solidFill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</p:grpSp>
                <p:grpSp>
                  <p:nvGrpSpPr>
                    <p:cNvPr id="38965" name="Group 87">
                      <a:extLst>
                        <a:ext uri="{FF2B5EF4-FFF2-40B4-BE49-F238E27FC236}">
                          <a16:creationId xmlns:a16="http://schemas.microsoft.com/office/drawing/2014/main" id="{8CC342CD-7EE7-4C16-AF77-26DDD3AFE20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" y="1326"/>
                      <a:ext cx="858" cy="354"/>
                      <a:chOff x="405" y="908"/>
                      <a:chExt cx="143" cy="59"/>
                    </a:xfrm>
                  </p:grpSpPr>
                  <p:grpSp>
                    <p:nvGrpSpPr>
                      <p:cNvPr id="38982" name="Group 88">
                        <a:extLst>
                          <a:ext uri="{FF2B5EF4-FFF2-40B4-BE49-F238E27FC236}">
                            <a16:creationId xmlns:a16="http://schemas.microsoft.com/office/drawing/2014/main" id="{B55D1737-69E8-402D-930B-FFC07C46A38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05" y="908"/>
                        <a:ext cx="143" cy="59"/>
                        <a:chOff x="417" y="359"/>
                        <a:chExt cx="107" cy="70"/>
                      </a:xfrm>
                    </p:grpSpPr>
                    <p:sp>
                      <p:nvSpPr>
                        <p:cNvPr id="650329" name="Rectangle 89">
                          <a:extLst>
                            <a:ext uri="{FF2B5EF4-FFF2-40B4-BE49-F238E27FC236}">
                              <a16:creationId xmlns:a16="http://schemas.microsoft.com/office/drawing/2014/main" id="{8D7FADCC-A864-4C62-BDCB-773BB90A390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17" y="419"/>
                          <a:ext cx="107" cy="10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50330" name="Rectangle 90">
                          <a:extLst>
                            <a:ext uri="{FF2B5EF4-FFF2-40B4-BE49-F238E27FC236}">
                              <a16:creationId xmlns:a16="http://schemas.microsoft.com/office/drawing/2014/main" id="{C61618E6-2EA7-4AC1-990F-290EA4B7E1BA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29" y="368"/>
                          <a:ext cx="83" cy="51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50331" name="Rectangle 91">
                          <a:extLst>
                            <a:ext uri="{FF2B5EF4-FFF2-40B4-BE49-F238E27FC236}">
                              <a16:creationId xmlns:a16="http://schemas.microsoft.com/office/drawing/2014/main" id="{F639D53E-8C9B-4305-83A5-AAAA8B3D95D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23" y="359"/>
                          <a:ext cx="96" cy="10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</p:grpSp>
                  <p:grpSp>
                    <p:nvGrpSpPr>
                      <p:cNvPr id="38983" name="Group 92">
                        <a:extLst>
                          <a:ext uri="{FF2B5EF4-FFF2-40B4-BE49-F238E27FC236}">
                            <a16:creationId xmlns:a16="http://schemas.microsoft.com/office/drawing/2014/main" id="{430B201A-73FE-4D40-82C5-FE92EAC0D38D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34" y="908"/>
                        <a:ext cx="86" cy="59"/>
                        <a:chOff x="432" y="908"/>
                        <a:chExt cx="89" cy="59"/>
                      </a:xfrm>
                    </p:grpSpPr>
                    <p:sp>
                      <p:nvSpPr>
                        <p:cNvPr id="650333" name="AutoShape 93">
                          <a:extLst>
                            <a:ext uri="{FF2B5EF4-FFF2-40B4-BE49-F238E27FC236}">
                              <a16:creationId xmlns:a16="http://schemas.microsoft.com/office/drawing/2014/main" id="{0BEE3336-886E-4318-A8C9-A64E915D5F4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" y="908"/>
                          <a:ext cx="89" cy="42"/>
                        </a:xfrm>
                        <a:custGeom>
                          <a:avLst/>
                          <a:gdLst>
                            <a:gd name="G0" fmla="+- 5400 0 0"/>
                            <a:gd name="G1" fmla="+- 21600 0 5400"/>
                            <a:gd name="G2" fmla="*/ 5400 1 2"/>
                            <a:gd name="G3" fmla="+- 21600 0 G2"/>
                            <a:gd name="G4" fmla="+/ 5400 21600 2"/>
                            <a:gd name="G5" fmla="+/ G1 0 2"/>
                            <a:gd name="G6" fmla="*/ 21600 21600 5400"/>
                            <a:gd name="G7" fmla="*/ G6 1 2"/>
                            <a:gd name="G8" fmla="+- 21600 0 G7"/>
                            <a:gd name="G9" fmla="*/ 21600 1 2"/>
                            <a:gd name="G10" fmla="+- 5400 0 G9"/>
                            <a:gd name="G11" fmla="?: G10 G8 0"/>
                            <a:gd name="G12" fmla="?: G10 G7 21600"/>
                            <a:gd name="T0" fmla="*/ 18900 w 21600"/>
                            <a:gd name="T1" fmla="*/ 10800 h 21600"/>
                            <a:gd name="T2" fmla="*/ 10800 w 21600"/>
                            <a:gd name="T3" fmla="*/ 21600 h 21600"/>
                            <a:gd name="T4" fmla="*/ 2700 w 21600"/>
                            <a:gd name="T5" fmla="*/ 10800 h 21600"/>
                            <a:gd name="T6" fmla="*/ 10800 w 21600"/>
                            <a:gd name="T7" fmla="*/ 0 h 21600"/>
                            <a:gd name="T8" fmla="*/ 4500 w 21600"/>
                            <a:gd name="T9" fmla="*/ 4500 h 21600"/>
                            <a:gd name="T10" fmla="*/ 17100 w 21600"/>
                            <a:gd name="T11" fmla="*/ 17100 h 2160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</a:cxnLst>
                          <a:rect l="T8" t="T9" r="T10" b="T11"/>
                          <a:pathLst>
                            <a:path w="21600" h="21600">
                              <a:moveTo>
                                <a:pt x="0" y="0"/>
                              </a:moveTo>
                              <a:lnTo>
                                <a:pt x="5400" y="21600"/>
                              </a:lnTo>
                              <a:lnTo>
                                <a:pt x="16200" y="21600"/>
                              </a:lnTo>
                              <a:lnTo>
                                <a:pt x="2160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50334" name="Rectangle 94">
                          <a:extLst>
                            <a:ext uri="{FF2B5EF4-FFF2-40B4-BE49-F238E27FC236}">
                              <a16:creationId xmlns:a16="http://schemas.microsoft.com/office/drawing/2014/main" id="{B5144E4A-1151-498F-8504-86E3BF3F4A8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5" y="947"/>
                          <a:ext cx="84" cy="2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50335" name="Rectangle 95">
                          <a:extLst>
                            <a:ext uri="{FF2B5EF4-FFF2-40B4-BE49-F238E27FC236}">
                              <a16:creationId xmlns:a16="http://schemas.microsoft.com/office/drawing/2014/main" id="{FA820C30-B51A-4549-AA7F-BB9E58853E8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53" y="931"/>
                          <a:ext cx="47" cy="19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9050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8966" name="Group 96">
                      <a:extLst>
                        <a:ext uri="{FF2B5EF4-FFF2-40B4-BE49-F238E27FC236}">
                          <a16:creationId xmlns:a16="http://schemas.microsoft.com/office/drawing/2014/main" id="{C506F3A7-93D2-466E-B68B-C602163A383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72" y="1746"/>
                      <a:ext cx="192" cy="126"/>
                      <a:chOff x="544" y="251"/>
                      <a:chExt cx="32" cy="21"/>
                    </a:xfrm>
                  </p:grpSpPr>
                  <p:sp>
                    <p:nvSpPr>
                      <p:cNvPr id="650337" name="Rectangle 97">
                        <a:extLst>
                          <a:ext uri="{FF2B5EF4-FFF2-40B4-BE49-F238E27FC236}">
                            <a16:creationId xmlns:a16="http://schemas.microsoft.com/office/drawing/2014/main" id="{C1A51F5C-6F69-458E-A64F-BAD48658018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44" y="255"/>
                        <a:ext cx="32" cy="13"/>
                      </a:xfrm>
                      <a:prstGeom prst="rect">
                        <a:avLst/>
                      </a:prstGeom>
                      <a:solidFill>
                        <a:srgbClr val="969696"/>
                      </a:solidFill>
                      <a:ln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650338" name="AutoShape 98">
                        <a:extLst>
                          <a:ext uri="{FF2B5EF4-FFF2-40B4-BE49-F238E27FC236}">
                            <a16:creationId xmlns:a16="http://schemas.microsoft.com/office/drawing/2014/main" id="{09C43F7E-63BF-4A4E-A538-8A6CBC988E8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50" y="251"/>
                        <a:ext cx="20" cy="21"/>
                      </a:xfrm>
                      <a:prstGeom prst="flowChartSummingJunction">
                        <a:avLst/>
                      </a:prstGeom>
                      <a:solidFill>
                        <a:srgbClr val="969696"/>
                      </a:solidFill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</p:grpSp>
                <p:grpSp>
                  <p:nvGrpSpPr>
                    <p:cNvPr id="38967" name="Group 99">
                      <a:extLst>
                        <a:ext uri="{FF2B5EF4-FFF2-40B4-BE49-F238E27FC236}">
                          <a16:creationId xmlns:a16="http://schemas.microsoft.com/office/drawing/2014/main" id="{F0F80842-61B1-480A-8A8F-05BE9AB3AA8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92" y="1674"/>
                      <a:ext cx="858" cy="342"/>
                      <a:chOff x="405" y="966"/>
                      <a:chExt cx="143" cy="57"/>
                    </a:xfrm>
                  </p:grpSpPr>
                  <p:grpSp>
                    <p:nvGrpSpPr>
                      <p:cNvPr id="38973" name="Group 100">
                        <a:extLst>
                          <a:ext uri="{FF2B5EF4-FFF2-40B4-BE49-F238E27FC236}">
                            <a16:creationId xmlns:a16="http://schemas.microsoft.com/office/drawing/2014/main" id="{E0B789CD-A785-4664-A8B4-14F9D20FE84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05" y="966"/>
                        <a:ext cx="143" cy="57"/>
                        <a:chOff x="417" y="445"/>
                        <a:chExt cx="107" cy="66"/>
                      </a:xfrm>
                    </p:grpSpPr>
                    <p:sp>
                      <p:nvSpPr>
                        <p:cNvPr id="650341" name="Rectangle 101">
                          <a:extLst>
                            <a:ext uri="{FF2B5EF4-FFF2-40B4-BE49-F238E27FC236}">
                              <a16:creationId xmlns:a16="http://schemas.microsoft.com/office/drawing/2014/main" id="{68654605-0787-49EF-A5A0-24E249395A66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25" y="454"/>
                          <a:ext cx="91" cy="57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50342" name="Rectangle 102">
                          <a:extLst>
                            <a:ext uri="{FF2B5EF4-FFF2-40B4-BE49-F238E27FC236}">
                              <a16:creationId xmlns:a16="http://schemas.microsoft.com/office/drawing/2014/main" id="{3A39559C-415C-485D-B447-B6F5600DB6A2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flipV="1">
                          <a:off x="417" y="445"/>
                          <a:ext cx="107" cy="10"/>
                        </a:xfrm>
                        <a:prstGeom prst="rect">
                          <a:avLst/>
                        </a:prstGeom>
                        <a:solidFill>
                          <a:srgbClr val="969696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</p:grpSp>
                  <p:grpSp>
                    <p:nvGrpSpPr>
                      <p:cNvPr id="38974" name="Group 103">
                        <a:extLst>
                          <a:ext uri="{FF2B5EF4-FFF2-40B4-BE49-F238E27FC236}">
                            <a16:creationId xmlns:a16="http://schemas.microsoft.com/office/drawing/2014/main" id="{006B6643-55F0-401D-A715-779589E0C52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4" y="966"/>
                        <a:ext cx="106" cy="57"/>
                        <a:chOff x="424" y="966"/>
                        <a:chExt cx="106" cy="57"/>
                      </a:xfrm>
                    </p:grpSpPr>
                    <p:sp>
                      <p:nvSpPr>
                        <p:cNvPr id="650344" name="AutoShape 104">
                          <a:extLst>
                            <a:ext uri="{FF2B5EF4-FFF2-40B4-BE49-F238E27FC236}">
                              <a16:creationId xmlns:a16="http://schemas.microsoft.com/office/drawing/2014/main" id="{B63FFC40-81EE-4CA2-9CFD-5D39D867F8DF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7" y="966"/>
                          <a:ext cx="99" cy="43"/>
                        </a:xfrm>
                        <a:custGeom>
                          <a:avLst/>
                          <a:gdLst>
                            <a:gd name="G0" fmla="+- 5400 0 0"/>
                            <a:gd name="G1" fmla="+- 21600 0 5400"/>
                            <a:gd name="G2" fmla="*/ 5400 1 2"/>
                            <a:gd name="G3" fmla="+- 21600 0 G2"/>
                            <a:gd name="G4" fmla="+/ 5400 21600 2"/>
                            <a:gd name="G5" fmla="+/ G1 0 2"/>
                            <a:gd name="G6" fmla="*/ 21600 21600 5400"/>
                            <a:gd name="G7" fmla="*/ G6 1 2"/>
                            <a:gd name="G8" fmla="+- 21600 0 G7"/>
                            <a:gd name="G9" fmla="*/ 21600 1 2"/>
                            <a:gd name="G10" fmla="+- 5400 0 G9"/>
                            <a:gd name="G11" fmla="?: G10 G8 0"/>
                            <a:gd name="G12" fmla="?: G10 G7 21600"/>
                            <a:gd name="T0" fmla="*/ 18900 w 21600"/>
                            <a:gd name="T1" fmla="*/ 10800 h 21600"/>
                            <a:gd name="T2" fmla="*/ 10800 w 21600"/>
                            <a:gd name="T3" fmla="*/ 21600 h 21600"/>
                            <a:gd name="T4" fmla="*/ 2700 w 21600"/>
                            <a:gd name="T5" fmla="*/ 10800 h 21600"/>
                            <a:gd name="T6" fmla="*/ 10800 w 21600"/>
                            <a:gd name="T7" fmla="*/ 0 h 21600"/>
                            <a:gd name="T8" fmla="*/ 4500 w 21600"/>
                            <a:gd name="T9" fmla="*/ 4500 h 21600"/>
                            <a:gd name="T10" fmla="*/ 17100 w 21600"/>
                            <a:gd name="T11" fmla="*/ 17100 h 2160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</a:cxnLst>
                          <a:rect l="T8" t="T9" r="T10" b="T11"/>
                          <a:pathLst>
                            <a:path w="21600" h="21600">
                              <a:moveTo>
                                <a:pt x="0" y="0"/>
                              </a:moveTo>
                              <a:lnTo>
                                <a:pt x="5400" y="21600"/>
                              </a:lnTo>
                              <a:lnTo>
                                <a:pt x="16200" y="21600"/>
                              </a:lnTo>
                              <a:lnTo>
                                <a:pt x="2160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50345" name="Rectangle 105">
                          <a:extLst>
                            <a:ext uri="{FF2B5EF4-FFF2-40B4-BE49-F238E27FC236}">
                              <a16:creationId xmlns:a16="http://schemas.microsoft.com/office/drawing/2014/main" id="{E61B61B9-848F-4870-91D8-C5E1B1F94F48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4" y="998"/>
                          <a:ext cx="106" cy="25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  <p:sp>
                      <p:nvSpPr>
                        <p:cNvPr id="650346" name="Rectangle 106">
                          <a:extLst>
                            <a:ext uri="{FF2B5EF4-FFF2-40B4-BE49-F238E27FC236}">
                              <a16:creationId xmlns:a16="http://schemas.microsoft.com/office/drawing/2014/main" id="{33E6624C-EC72-46D5-B8DF-4DBF2684913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47" y="989"/>
                          <a:ext cx="60" cy="2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19050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>
                            <a:defRPr/>
                          </a:pPr>
                          <a:endParaRPr lang="en-US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Arial" charset="0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8968" name="Group 107">
                      <a:extLst>
                        <a:ext uri="{FF2B5EF4-FFF2-40B4-BE49-F238E27FC236}">
                          <a16:creationId xmlns:a16="http://schemas.microsoft.com/office/drawing/2014/main" id="{5FBF95B3-607D-4648-8CD6-4088CA991A7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6" y="1584"/>
                      <a:ext cx="576" cy="336"/>
                      <a:chOff x="336" y="1632"/>
                      <a:chExt cx="576" cy="336"/>
                    </a:xfrm>
                  </p:grpSpPr>
                  <p:sp>
                    <p:nvSpPr>
                      <p:cNvPr id="650348" name="AutoShape 108">
                        <a:extLst>
                          <a:ext uri="{FF2B5EF4-FFF2-40B4-BE49-F238E27FC236}">
                            <a16:creationId xmlns:a16="http://schemas.microsoft.com/office/drawing/2014/main" id="{EC63892C-A516-4016-991D-8EE05DC3BAD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flipH="1" flipV="1">
                        <a:off x="336" y="1728"/>
                        <a:ext cx="96" cy="240"/>
                      </a:xfrm>
                      <a:prstGeom prst="rtTriangle">
                        <a:avLst/>
                      </a:prstGeom>
                      <a:solidFill>
                        <a:srgbClr val="FF000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650349" name="AutoShape 109">
                        <a:extLst>
                          <a:ext uri="{FF2B5EF4-FFF2-40B4-BE49-F238E27FC236}">
                            <a16:creationId xmlns:a16="http://schemas.microsoft.com/office/drawing/2014/main" id="{E34511AE-E653-4927-A890-2856AEF0211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flipV="1">
                        <a:off x="816" y="1728"/>
                        <a:ext cx="96" cy="240"/>
                      </a:xfrm>
                      <a:prstGeom prst="rtTriangle">
                        <a:avLst/>
                      </a:prstGeom>
                      <a:solidFill>
                        <a:srgbClr val="FF000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650350" name="Rectangle 110">
                        <a:extLst>
                          <a:ext uri="{FF2B5EF4-FFF2-40B4-BE49-F238E27FC236}">
                            <a16:creationId xmlns:a16="http://schemas.microsoft.com/office/drawing/2014/main" id="{ECB1FA0B-2A82-4A05-8B66-DC17A381382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4" y="1632"/>
                        <a:ext cx="48" cy="9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650351" name="Rectangle 111">
                        <a:extLst>
                          <a:ext uri="{FF2B5EF4-FFF2-40B4-BE49-F238E27FC236}">
                            <a16:creationId xmlns:a16="http://schemas.microsoft.com/office/drawing/2014/main" id="{B2A6CA05-83DF-4D4F-96D0-F3E5611D718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16" y="1632"/>
                        <a:ext cx="48" cy="9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 algn="ctr">
                          <a:defRPr/>
                        </a:pPr>
                        <a:endParaRPr lang="en-US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</p:grpSp>
              </p:grpSp>
              <p:sp>
                <p:nvSpPr>
                  <p:cNvPr id="650352" name="AutoShape 112">
                    <a:extLst>
                      <a:ext uri="{FF2B5EF4-FFF2-40B4-BE49-F238E27FC236}">
                        <a16:creationId xmlns:a16="http://schemas.microsoft.com/office/drawing/2014/main" id="{C7B31084-DED8-436B-9ADF-BC0A5CC48D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H="1" flipV="1">
                    <a:off x="384" y="1344"/>
                    <a:ext cx="128" cy="288"/>
                  </a:xfrm>
                  <a:prstGeom prst="rtTriangl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  <p:sp>
                <p:nvSpPr>
                  <p:cNvPr id="650353" name="AutoShape 113">
                    <a:extLst>
                      <a:ext uri="{FF2B5EF4-FFF2-40B4-BE49-F238E27FC236}">
                        <a16:creationId xmlns:a16="http://schemas.microsoft.com/office/drawing/2014/main" id="{90B16CA4-A151-4670-BB1D-6291403F8A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736" y="1344"/>
                    <a:ext cx="128" cy="288"/>
                  </a:xfrm>
                  <a:prstGeom prst="rtTriangl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</a:endParaRPr>
                  </a:p>
                </p:txBody>
              </p:sp>
            </p:grpSp>
            <p:sp>
              <p:nvSpPr>
                <p:cNvPr id="650354" name="Rectangle 114">
                  <a:extLst>
                    <a:ext uri="{FF2B5EF4-FFF2-40B4-BE49-F238E27FC236}">
                      <a16:creationId xmlns:a16="http://schemas.microsoft.com/office/drawing/2014/main" id="{0C745DF3-79DA-4FC2-A5AA-856FBAA21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" y="1248"/>
                  <a:ext cx="96" cy="96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</p:grpSp>
        </p:grpSp>
        <p:sp>
          <p:nvSpPr>
            <p:cNvPr id="650355" name="Rectangle 115">
              <a:extLst>
                <a:ext uri="{FF2B5EF4-FFF2-40B4-BE49-F238E27FC236}">
                  <a16:creationId xmlns:a16="http://schemas.microsoft.com/office/drawing/2014/main" id="{8FB8075C-848A-4F76-A831-55810FBDA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248"/>
              <a:ext cx="96" cy="96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650243" name="Rectangle 3" descr="Divot">
            <a:extLst>
              <a:ext uri="{FF2B5EF4-FFF2-40B4-BE49-F238E27FC236}">
                <a16:creationId xmlns:a16="http://schemas.microsoft.com/office/drawing/2014/main" id="{6491ED49-A05C-4310-9D21-E916976DA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257800"/>
            <a:ext cx="152400" cy="12954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44" name="Rectangle 4" descr="Divot">
            <a:extLst>
              <a:ext uri="{FF2B5EF4-FFF2-40B4-BE49-F238E27FC236}">
                <a16:creationId xmlns:a16="http://schemas.microsoft.com/office/drawing/2014/main" id="{DE0DEDDA-6151-4D45-AFEA-87809122A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334000"/>
            <a:ext cx="152400" cy="12192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45" name="Rectangle 5" descr="Divot">
            <a:extLst>
              <a:ext uri="{FF2B5EF4-FFF2-40B4-BE49-F238E27FC236}">
                <a16:creationId xmlns:a16="http://schemas.microsoft.com/office/drawing/2014/main" id="{5879AFA5-3CCC-4C84-A674-E1938F278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46" name="Rectangle 6" descr="Divot">
            <a:extLst>
              <a:ext uri="{FF2B5EF4-FFF2-40B4-BE49-F238E27FC236}">
                <a16:creationId xmlns:a16="http://schemas.microsoft.com/office/drawing/2014/main" id="{B329E7C8-50F9-4A2F-8B9D-05D25E533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47" name="Rectangle 7" descr="Divot">
            <a:extLst>
              <a:ext uri="{FF2B5EF4-FFF2-40B4-BE49-F238E27FC236}">
                <a16:creationId xmlns:a16="http://schemas.microsoft.com/office/drawing/2014/main" id="{DE146007-4907-4466-B279-441E81D24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800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48" name="Rectangle 8" descr="Divot">
            <a:extLst>
              <a:ext uri="{FF2B5EF4-FFF2-40B4-BE49-F238E27FC236}">
                <a16:creationId xmlns:a16="http://schemas.microsoft.com/office/drawing/2014/main" id="{5FC7AD92-039D-4650-9888-72731208B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800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49" name="Rectangle 9" descr="Divot">
            <a:extLst>
              <a:ext uri="{FF2B5EF4-FFF2-40B4-BE49-F238E27FC236}">
                <a16:creationId xmlns:a16="http://schemas.microsoft.com/office/drawing/2014/main" id="{924E4755-A8FC-4E5F-890E-0947DD203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50" name="Rectangle 10" descr="Divot">
            <a:extLst>
              <a:ext uri="{FF2B5EF4-FFF2-40B4-BE49-F238E27FC236}">
                <a16:creationId xmlns:a16="http://schemas.microsoft.com/office/drawing/2014/main" id="{0EFAD07D-2E4B-4A59-8AD5-EC72323E9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2766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8923" name="Rectangle 18">
            <a:extLst>
              <a:ext uri="{FF2B5EF4-FFF2-40B4-BE49-F238E27FC236}">
                <a16:creationId xmlns:a16="http://schemas.microsoft.com/office/drawing/2014/main" id="{33A0657F-CAD1-478B-8008-627E1D0D57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Liner</a:t>
            </a:r>
          </a:p>
        </p:txBody>
      </p:sp>
      <p:sp>
        <p:nvSpPr>
          <p:cNvPr id="38924" name="Rectangle 19">
            <a:extLst>
              <a:ext uri="{FF2B5EF4-FFF2-40B4-BE49-F238E27FC236}">
                <a16:creationId xmlns:a16="http://schemas.microsoft.com/office/drawing/2014/main" id="{6F254206-4985-4843-AE2E-6AC4F9F5996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1295400"/>
            <a:ext cx="4038600" cy="4876800"/>
          </a:xfrm>
        </p:spPr>
        <p:txBody>
          <a:bodyPr/>
          <a:lstStyle/>
          <a:p>
            <a:r>
              <a:rPr lang="en-US" altLang="en-US" sz="2400"/>
              <a:t>After pumping cement</a:t>
            </a:r>
          </a:p>
          <a:p>
            <a:pPr lvl="1"/>
            <a:r>
              <a:rPr lang="en-US" altLang="en-US" sz="2000">
                <a:solidFill>
                  <a:srgbClr val="FF0000"/>
                </a:solidFill>
              </a:rPr>
              <a:t>Immediately</a:t>
            </a:r>
            <a:r>
              <a:rPr lang="en-US" altLang="en-US" sz="2000"/>
              <a:t>, pull 5-10 stands of DP to circulate clean</a:t>
            </a:r>
          </a:p>
          <a:p>
            <a:pPr lvl="1"/>
            <a:r>
              <a:rPr lang="en-US" altLang="en-US" sz="2000"/>
              <a:t>Be prepared for the U-Tubing</a:t>
            </a:r>
          </a:p>
          <a:p>
            <a:pPr lvl="1"/>
            <a:r>
              <a:rPr lang="en-US" altLang="en-US" sz="2000"/>
              <a:t>Upfront planning is required &amp; critical</a:t>
            </a:r>
          </a:p>
          <a:p>
            <a:r>
              <a:rPr lang="en-US" altLang="en-US" sz="2400"/>
              <a:t>Tieback:</a:t>
            </a:r>
          </a:p>
          <a:p>
            <a:pPr lvl="1"/>
            <a:r>
              <a:rPr lang="en-US" altLang="en-US" sz="2000"/>
              <a:t>If not using,then install Tree.</a:t>
            </a:r>
          </a:p>
          <a:p>
            <a:pPr lvl="1"/>
            <a:r>
              <a:rPr lang="en-US" altLang="en-US" sz="2000"/>
              <a:t>If using, then another Wellhead section is required.</a:t>
            </a:r>
          </a:p>
        </p:txBody>
      </p:sp>
      <p:sp>
        <p:nvSpPr>
          <p:cNvPr id="650260" name="Line 20">
            <a:extLst>
              <a:ext uri="{FF2B5EF4-FFF2-40B4-BE49-F238E27FC236}">
                <a16:creationId xmlns:a16="http://schemas.microsoft.com/office/drawing/2014/main" id="{A24F4F39-2A84-4AF0-9296-7CB880A58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61" name="Line 21">
            <a:extLst>
              <a:ext uri="{FF2B5EF4-FFF2-40B4-BE49-F238E27FC236}">
                <a16:creationId xmlns:a16="http://schemas.microsoft.com/office/drawing/2014/main" id="{3C74A38D-51A8-4588-92BE-741E1F9E4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62" name="Line 22">
            <a:extLst>
              <a:ext uri="{FF2B5EF4-FFF2-40B4-BE49-F238E27FC236}">
                <a16:creationId xmlns:a16="http://schemas.microsoft.com/office/drawing/2014/main" id="{F1AD21D5-07F7-4704-9DD5-819FEB0517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1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63" name="Line 23">
            <a:extLst>
              <a:ext uri="{FF2B5EF4-FFF2-40B4-BE49-F238E27FC236}">
                <a16:creationId xmlns:a16="http://schemas.microsoft.com/office/drawing/2014/main" id="{0A07BA42-B78B-4917-9CC9-4C093883F5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766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64" name="AutoShape 24">
            <a:extLst>
              <a:ext uri="{FF2B5EF4-FFF2-40B4-BE49-F238E27FC236}">
                <a16:creationId xmlns:a16="http://schemas.microsoft.com/office/drawing/2014/main" id="{5CFA1508-D711-4AF2-9280-6FCC60CB5C0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65" name="AutoShape 25">
            <a:extLst>
              <a:ext uri="{FF2B5EF4-FFF2-40B4-BE49-F238E27FC236}">
                <a16:creationId xmlns:a16="http://schemas.microsoft.com/office/drawing/2014/main" id="{5A95E7AA-CB49-4FD5-8362-23733A9A29B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66" name="AutoShape 26">
            <a:extLst>
              <a:ext uri="{FF2B5EF4-FFF2-40B4-BE49-F238E27FC236}">
                <a16:creationId xmlns:a16="http://schemas.microsoft.com/office/drawing/2014/main" id="{A9D1E02D-A426-457A-A878-8DC4DDD1663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67" name="AutoShape 27">
            <a:extLst>
              <a:ext uri="{FF2B5EF4-FFF2-40B4-BE49-F238E27FC236}">
                <a16:creationId xmlns:a16="http://schemas.microsoft.com/office/drawing/2014/main" id="{837AAAD3-980A-48AA-AF02-39743A52BD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09800" y="5638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68" name="AutoShape 28">
            <a:extLst>
              <a:ext uri="{FF2B5EF4-FFF2-40B4-BE49-F238E27FC236}">
                <a16:creationId xmlns:a16="http://schemas.microsoft.com/office/drawing/2014/main" id="{F92AB1CC-8442-4019-9B66-D8EDB4002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638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69" name="AutoShape 29">
            <a:extLst>
              <a:ext uri="{FF2B5EF4-FFF2-40B4-BE49-F238E27FC236}">
                <a16:creationId xmlns:a16="http://schemas.microsoft.com/office/drawing/2014/main" id="{B493C57E-1088-442D-B7CA-822391484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70" name="AutoShape 30">
            <a:extLst>
              <a:ext uri="{FF2B5EF4-FFF2-40B4-BE49-F238E27FC236}">
                <a16:creationId xmlns:a16="http://schemas.microsoft.com/office/drawing/2014/main" id="{17063DA1-5B8A-4204-88D7-454CB3538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71" name="AutoShape 31">
            <a:extLst>
              <a:ext uri="{FF2B5EF4-FFF2-40B4-BE49-F238E27FC236}">
                <a16:creationId xmlns:a16="http://schemas.microsoft.com/office/drawing/2014/main" id="{52E6CDF9-83AD-4436-8E0A-398FBA874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8937" name="Group 63">
            <a:extLst>
              <a:ext uri="{FF2B5EF4-FFF2-40B4-BE49-F238E27FC236}">
                <a16:creationId xmlns:a16="http://schemas.microsoft.com/office/drawing/2014/main" id="{1CEBAC43-C1C4-44FE-A136-72A471E432C2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514600"/>
            <a:ext cx="609600" cy="2819400"/>
            <a:chOff x="432" y="1632"/>
            <a:chExt cx="384" cy="1728"/>
          </a:xfrm>
        </p:grpSpPr>
        <p:sp>
          <p:nvSpPr>
            <p:cNvPr id="650276" name="Line 36">
              <a:extLst>
                <a:ext uri="{FF2B5EF4-FFF2-40B4-BE49-F238E27FC236}">
                  <a16:creationId xmlns:a16="http://schemas.microsoft.com/office/drawing/2014/main" id="{E0DC355F-53C6-4DC6-9E92-5CF7028876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650277" name="Line 37">
              <a:extLst>
                <a:ext uri="{FF2B5EF4-FFF2-40B4-BE49-F238E27FC236}">
                  <a16:creationId xmlns:a16="http://schemas.microsoft.com/office/drawing/2014/main" id="{91837B58-B461-4274-AE26-3BEC37BCD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632"/>
              <a:ext cx="0" cy="17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38938" name="Group 62">
            <a:extLst>
              <a:ext uri="{FF2B5EF4-FFF2-40B4-BE49-F238E27FC236}">
                <a16:creationId xmlns:a16="http://schemas.microsoft.com/office/drawing/2014/main" id="{5BFD532E-771B-409D-9257-BA1FA60718C9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981200"/>
            <a:ext cx="304800" cy="3810000"/>
            <a:chOff x="528" y="1296"/>
            <a:chExt cx="192" cy="2352"/>
          </a:xfrm>
        </p:grpSpPr>
        <p:sp>
          <p:nvSpPr>
            <p:cNvPr id="650282" name="Line 42">
              <a:extLst>
                <a:ext uri="{FF2B5EF4-FFF2-40B4-BE49-F238E27FC236}">
                  <a16:creationId xmlns:a16="http://schemas.microsoft.com/office/drawing/2014/main" id="{B9A20FA3-1B08-4B1D-A4DB-CFAAFCEDA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96"/>
              <a:ext cx="0" cy="235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650283" name="Line 43">
              <a:extLst>
                <a:ext uri="{FF2B5EF4-FFF2-40B4-BE49-F238E27FC236}">
                  <a16:creationId xmlns:a16="http://schemas.microsoft.com/office/drawing/2014/main" id="{586A5A64-8558-47EB-9DF8-F1E2D9C98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96"/>
              <a:ext cx="0" cy="235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650292" name="Line 52">
            <a:extLst>
              <a:ext uri="{FF2B5EF4-FFF2-40B4-BE49-F238E27FC236}">
                <a16:creationId xmlns:a16="http://schemas.microsoft.com/office/drawing/2014/main" id="{4A4D8846-D706-4957-9D42-EC739B3CD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52578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93" name="AutoShape 53">
            <a:extLst>
              <a:ext uri="{FF2B5EF4-FFF2-40B4-BE49-F238E27FC236}">
                <a16:creationId xmlns:a16="http://schemas.microsoft.com/office/drawing/2014/main" id="{D6699F66-E269-477C-8A5B-7492335942F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86000" y="64008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94" name="Line 54">
            <a:extLst>
              <a:ext uri="{FF2B5EF4-FFF2-40B4-BE49-F238E27FC236}">
                <a16:creationId xmlns:a16="http://schemas.microsoft.com/office/drawing/2014/main" id="{1D7C41F7-70EC-4FF0-A762-8BB89794EE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1242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8942" name="Group 55">
            <a:extLst>
              <a:ext uri="{FF2B5EF4-FFF2-40B4-BE49-F238E27FC236}">
                <a16:creationId xmlns:a16="http://schemas.microsoft.com/office/drawing/2014/main" id="{0C5C028E-3112-4D0D-8A90-A2ED8BC9129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590800" y="5257800"/>
            <a:ext cx="152400" cy="1295400"/>
            <a:chOff x="576" y="3408"/>
            <a:chExt cx="96" cy="816"/>
          </a:xfrm>
        </p:grpSpPr>
        <p:sp>
          <p:nvSpPr>
            <p:cNvPr id="650296" name="Line 56">
              <a:extLst>
                <a:ext uri="{FF2B5EF4-FFF2-40B4-BE49-F238E27FC236}">
                  <a16:creationId xmlns:a16="http://schemas.microsoft.com/office/drawing/2014/main" id="{1FDD06BA-E797-4AA2-B78B-CA062E83C2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408"/>
              <a:ext cx="0" cy="8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650297" name="AutoShape 57">
              <a:extLst>
                <a:ext uri="{FF2B5EF4-FFF2-40B4-BE49-F238E27FC236}">
                  <a16:creationId xmlns:a16="http://schemas.microsoft.com/office/drawing/2014/main" id="{BDAAC3F9-7443-4A98-A24C-CE2EDB0B2D7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76" y="4128"/>
              <a:ext cx="96" cy="96"/>
            </a:xfrm>
            <a:prstGeom prst="rt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650298" name="Rectangle 58">
            <a:extLst>
              <a:ext uri="{FF2B5EF4-FFF2-40B4-BE49-F238E27FC236}">
                <a16:creationId xmlns:a16="http://schemas.microsoft.com/office/drawing/2014/main" id="{DA49BA05-C610-40D6-A348-26E602059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257800"/>
            <a:ext cx="304800" cy="152400"/>
          </a:xfrm>
          <a:prstGeom prst="rect">
            <a:avLst/>
          </a:prstGeom>
          <a:solidFill>
            <a:srgbClr val="FF0000"/>
          </a:solidFill>
          <a:ln w="381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299" name="Line 59">
            <a:extLst>
              <a:ext uri="{FF2B5EF4-FFF2-40B4-BE49-F238E27FC236}">
                <a16:creationId xmlns:a16="http://schemas.microsoft.com/office/drawing/2014/main" id="{1F19AB52-2159-4F43-A718-2D344B9061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371600"/>
            <a:ext cx="0" cy="3429000"/>
          </a:xfrm>
          <a:prstGeom prst="line">
            <a:avLst/>
          </a:prstGeom>
          <a:noFill/>
          <a:ln w="1143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50300" name="AutoShape 60">
            <a:extLst>
              <a:ext uri="{FF2B5EF4-FFF2-40B4-BE49-F238E27FC236}">
                <a16:creationId xmlns:a16="http://schemas.microsoft.com/office/drawing/2014/main" id="{53703CFB-2193-46FF-93B8-678D859B450F}"/>
              </a:ext>
            </a:extLst>
          </p:cNvPr>
          <p:cNvSpPr>
            <a:spLocks/>
          </p:cNvSpPr>
          <p:nvPr/>
        </p:nvSpPr>
        <p:spPr bwMode="auto">
          <a:xfrm>
            <a:off x="3929063" y="2247900"/>
            <a:ext cx="1600200" cy="708025"/>
          </a:xfrm>
          <a:prstGeom prst="borderCallout1">
            <a:avLst>
              <a:gd name="adj1" fmla="val -7500"/>
              <a:gd name="adj2" fmla="val 92856"/>
              <a:gd name="adj3" fmla="val -7500"/>
              <a:gd name="adj4" fmla="val -87102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Drill Pipe TOH</a:t>
            </a:r>
          </a:p>
        </p:txBody>
      </p:sp>
      <p:sp>
        <p:nvSpPr>
          <p:cNvPr id="650301" name="AutoShape 61">
            <a:extLst>
              <a:ext uri="{FF2B5EF4-FFF2-40B4-BE49-F238E27FC236}">
                <a16:creationId xmlns:a16="http://schemas.microsoft.com/office/drawing/2014/main" id="{46E575C9-894A-42AD-8FE4-77BC0DEB3E87}"/>
              </a:ext>
            </a:extLst>
          </p:cNvPr>
          <p:cNvSpPr>
            <a:spLocks/>
          </p:cNvSpPr>
          <p:nvPr/>
        </p:nvSpPr>
        <p:spPr bwMode="auto">
          <a:xfrm>
            <a:off x="3962400" y="3908425"/>
            <a:ext cx="1600200" cy="1349375"/>
          </a:xfrm>
          <a:prstGeom prst="borderCallout1">
            <a:avLst>
              <a:gd name="adj1" fmla="val 105648"/>
              <a:gd name="adj2" fmla="val 92856"/>
              <a:gd name="adj3" fmla="val 105648"/>
              <a:gd name="adj4" fmla="val -89185"/>
            </a:avLst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Liner Hanger</a:t>
            </a:r>
          </a:p>
          <a:p>
            <a:pPr algn="ctr">
              <a:defRPr/>
            </a:pPr>
            <a:endParaRPr lang="en-US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  <a:p>
            <a:pPr algn="ctr">
              <a:defRPr/>
            </a:pPr>
            <a:r>
              <a:rPr 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Liner</a:t>
            </a:r>
          </a:p>
        </p:txBody>
      </p:sp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4" name="Rectangle 24" descr="Divot">
            <a:extLst>
              <a:ext uri="{FF2B5EF4-FFF2-40B4-BE49-F238E27FC236}">
                <a16:creationId xmlns:a16="http://schemas.microsoft.com/office/drawing/2014/main" id="{CC47DD84-D093-45BE-8A18-0B1ACC4EB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286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505" name="Rectangle 25" descr="Divot">
            <a:extLst>
              <a:ext uri="{FF2B5EF4-FFF2-40B4-BE49-F238E27FC236}">
                <a16:creationId xmlns:a16="http://schemas.microsoft.com/office/drawing/2014/main" id="{FFDD4A3E-FECE-4CB6-B54D-1DEAE731F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286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502" name="Rectangle 22" descr="Divot">
            <a:extLst>
              <a:ext uri="{FF2B5EF4-FFF2-40B4-BE49-F238E27FC236}">
                <a16:creationId xmlns:a16="http://schemas.microsoft.com/office/drawing/2014/main" id="{8197EF58-421C-4F9D-82CC-F6BCF202C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503" name="Rectangle 23" descr="Divot">
            <a:extLst>
              <a:ext uri="{FF2B5EF4-FFF2-40B4-BE49-F238E27FC236}">
                <a16:creationId xmlns:a16="http://schemas.microsoft.com/office/drawing/2014/main" id="{E8E33834-9BA2-41BF-878B-7D018E343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52400" cy="2133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500" name="Rectangle 20" descr="Divot">
            <a:extLst>
              <a:ext uri="{FF2B5EF4-FFF2-40B4-BE49-F238E27FC236}">
                <a16:creationId xmlns:a16="http://schemas.microsoft.com/office/drawing/2014/main" id="{E301C2D8-0C1C-41D9-900A-17B3B7141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715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501" name="Rectangle 21" descr="Divot">
            <a:extLst>
              <a:ext uri="{FF2B5EF4-FFF2-40B4-BE49-F238E27FC236}">
                <a16:creationId xmlns:a16="http://schemas.microsoft.com/office/drawing/2014/main" id="{06455AC3-46C0-4296-B6C0-F46721471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715000"/>
            <a:ext cx="152400" cy="990600"/>
          </a:xfrm>
          <a:prstGeom prst="rect">
            <a:avLst/>
          </a:prstGeom>
          <a:pattFill prst="divot">
            <a:fgClr>
              <a:schemeClr val="accent2"/>
            </a:fgClr>
            <a:bgClr>
              <a:schemeClr val="bg1"/>
            </a:bgClr>
          </a:patt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9944" name="Rectangle 2">
            <a:extLst>
              <a:ext uri="{FF2B5EF4-FFF2-40B4-BE49-F238E27FC236}">
                <a16:creationId xmlns:a16="http://schemas.microsoft.com/office/drawing/2014/main" id="{7D048CCF-4025-4307-A93D-7873ED320B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Ready for Completion</a:t>
            </a:r>
          </a:p>
        </p:txBody>
      </p:sp>
      <p:sp>
        <p:nvSpPr>
          <p:cNvPr id="532484" name="Line 4">
            <a:extLst>
              <a:ext uri="{FF2B5EF4-FFF2-40B4-BE49-F238E27FC236}">
                <a16:creationId xmlns:a16="http://schemas.microsoft.com/office/drawing/2014/main" id="{4A41C726-7B6B-4198-A0A5-0CEB7AAAED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295400"/>
            <a:ext cx="0" cy="5410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85" name="Line 5">
            <a:extLst>
              <a:ext uri="{FF2B5EF4-FFF2-40B4-BE49-F238E27FC236}">
                <a16:creationId xmlns:a16="http://schemas.microsoft.com/office/drawing/2014/main" id="{3A7AC06F-8C62-4C0F-B3B6-2048E6458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676400"/>
            <a:ext cx="0" cy="3657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86" name="Line 6">
            <a:extLst>
              <a:ext uri="{FF2B5EF4-FFF2-40B4-BE49-F238E27FC236}">
                <a16:creationId xmlns:a16="http://schemas.microsoft.com/office/drawing/2014/main" id="{E3676ACC-5D66-4B43-85DD-6CCAF9F47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19812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87" name="Line 7">
            <a:extLst>
              <a:ext uri="{FF2B5EF4-FFF2-40B4-BE49-F238E27FC236}">
                <a16:creationId xmlns:a16="http://schemas.microsoft.com/office/drawing/2014/main" id="{34F6249A-2A4C-42E8-9222-08C5383612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2860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88" name="Line 8">
            <a:extLst>
              <a:ext uri="{FF2B5EF4-FFF2-40B4-BE49-F238E27FC236}">
                <a16:creationId xmlns:a16="http://schemas.microsoft.com/office/drawing/2014/main" id="{0C486ED0-E267-41C9-9BCC-A74161F60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295400"/>
            <a:ext cx="0" cy="5410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89" name="Line 9">
            <a:extLst>
              <a:ext uri="{FF2B5EF4-FFF2-40B4-BE49-F238E27FC236}">
                <a16:creationId xmlns:a16="http://schemas.microsoft.com/office/drawing/2014/main" id="{C0D8A196-A9B2-4980-AEF5-069408F3A7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1676400"/>
            <a:ext cx="0" cy="3657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90" name="Line 10">
            <a:extLst>
              <a:ext uri="{FF2B5EF4-FFF2-40B4-BE49-F238E27FC236}">
                <a16:creationId xmlns:a16="http://schemas.microsoft.com/office/drawing/2014/main" id="{7194C6C8-627D-48EC-8143-EBEA113697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981200"/>
            <a:ext cx="0" cy="1295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91" name="Line 11">
            <a:extLst>
              <a:ext uri="{FF2B5EF4-FFF2-40B4-BE49-F238E27FC236}">
                <a16:creationId xmlns:a16="http://schemas.microsoft.com/office/drawing/2014/main" id="{903F77E4-EB62-4AF6-80FC-ACF7855005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2286000"/>
            <a:ext cx="0" cy="381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92" name="AutoShape 12">
            <a:extLst>
              <a:ext uri="{FF2B5EF4-FFF2-40B4-BE49-F238E27FC236}">
                <a16:creationId xmlns:a16="http://schemas.microsoft.com/office/drawing/2014/main" id="{3697F12C-A027-4F4E-936C-8A607F55DD6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52600" y="2514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93" name="AutoShape 13">
            <a:extLst>
              <a:ext uri="{FF2B5EF4-FFF2-40B4-BE49-F238E27FC236}">
                <a16:creationId xmlns:a16="http://schemas.microsoft.com/office/drawing/2014/main" id="{D770A810-5FA3-49B1-8917-4F3D5BCA33F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3124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94" name="AutoShape 14">
            <a:extLst>
              <a:ext uri="{FF2B5EF4-FFF2-40B4-BE49-F238E27FC236}">
                <a16:creationId xmlns:a16="http://schemas.microsoft.com/office/drawing/2014/main" id="{28AC9256-E7EE-4A0C-811B-0360D174B27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95" name="AutoShape 15">
            <a:extLst>
              <a:ext uri="{FF2B5EF4-FFF2-40B4-BE49-F238E27FC236}">
                <a16:creationId xmlns:a16="http://schemas.microsoft.com/office/drawing/2014/main" id="{78BA7843-43C9-4C3B-9967-EA67E6AA25E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09800" y="6553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96" name="AutoShape 16">
            <a:extLst>
              <a:ext uri="{FF2B5EF4-FFF2-40B4-BE49-F238E27FC236}">
                <a16:creationId xmlns:a16="http://schemas.microsoft.com/office/drawing/2014/main" id="{10E81262-6367-40B0-A181-F51B46FA9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6553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97" name="AutoShape 17">
            <a:extLst>
              <a:ext uri="{FF2B5EF4-FFF2-40B4-BE49-F238E27FC236}">
                <a16:creationId xmlns:a16="http://schemas.microsoft.com/office/drawing/2014/main" id="{53CA35C5-67A7-477D-BBE3-F219DECAD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98" name="AutoShape 18">
            <a:extLst>
              <a:ext uri="{FF2B5EF4-FFF2-40B4-BE49-F238E27FC236}">
                <a16:creationId xmlns:a16="http://schemas.microsoft.com/office/drawing/2014/main" id="{61ABCADE-2ADA-455A-8B74-3E2967BB9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2499" name="AutoShape 19">
            <a:extLst>
              <a:ext uri="{FF2B5EF4-FFF2-40B4-BE49-F238E27FC236}">
                <a16:creationId xmlns:a16="http://schemas.microsoft.com/office/drawing/2014/main" id="{506EBB34-8FA6-4A3B-9263-A5EE92B74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514600"/>
            <a:ext cx="152400" cy="152400"/>
          </a:xfrm>
          <a:prstGeom prst="rt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14CEFC-C4AD-4C48-B748-DD0475B6F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799" y="1676400"/>
            <a:ext cx="4729655" cy="4572000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nov2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nov2.ppt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lnDef>
  </a:objectDefaults>
  <a:extraClrSchemeLst>
    <a:extraClrScheme>
      <a:clrScheme name="nov2.pp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v2.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v2.pp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v2.pp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v2.pp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v2.pp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v2.pp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v2.ppt 8">
        <a:dk1>
          <a:srgbClr val="0000CC"/>
        </a:dk1>
        <a:lt1>
          <a:srgbClr val="FFFFFF"/>
        </a:lt1>
        <a:dk2>
          <a:srgbClr val="FF3300"/>
        </a:dk2>
        <a:lt2>
          <a:srgbClr val="020612"/>
        </a:lt2>
        <a:accent1>
          <a:srgbClr val="F57B49"/>
        </a:accent1>
        <a:accent2>
          <a:srgbClr val="EAEC5E"/>
        </a:accent2>
        <a:accent3>
          <a:srgbClr val="FFFFFF"/>
        </a:accent3>
        <a:accent4>
          <a:srgbClr val="0000AE"/>
        </a:accent4>
        <a:accent5>
          <a:srgbClr val="F9BFB1"/>
        </a:accent5>
        <a:accent6>
          <a:srgbClr val="D4D654"/>
        </a:accent6>
        <a:hlink>
          <a:srgbClr val="00B7A5"/>
        </a:hlink>
        <a:folHlink>
          <a:srgbClr val="063DE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000000"/>
    </a:accent1>
    <a:accent2>
      <a:srgbClr val="3333CC"/>
    </a:accent2>
    <a:accent3>
      <a:srgbClr val="FFFFFF"/>
    </a:accent3>
    <a:accent4>
      <a:srgbClr val="000000"/>
    </a:accent4>
    <a:accent5>
      <a:srgbClr val="AAAAA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63</TotalTime>
  <Pages>30</Pages>
  <Words>991</Words>
  <Application>Microsoft Office PowerPoint</Application>
  <PresentationFormat>Widescreen</PresentationFormat>
  <Paragraphs>167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Arial Black</vt:lpstr>
      <vt:lpstr>Calibri</vt:lpstr>
      <vt:lpstr>Monotype Sorts</vt:lpstr>
      <vt:lpstr>Roboto</vt:lpstr>
      <vt:lpstr>Times New Roman</vt:lpstr>
      <vt:lpstr>Wingdings</vt:lpstr>
      <vt:lpstr>nov2</vt:lpstr>
      <vt:lpstr>Drilling Practices Casing Operations   Handling, Running - Procedure  Landing Casing, Slips, Seals </vt:lpstr>
      <vt:lpstr>Casing Joints</vt:lpstr>
      <vt:lpstr>Pipe Marking </vt:lpstr>
      <vt:lpstr>Pipe Marking</vt:lpstr>
      <vt:lpstr>Pipe Grade Color Coding</vt:lpstr>
      <vt:lpstr>Receiving Pipe Tally</vt:lpstr>
      <vt:lpstr>Receiving Pipe Tally</vt:lpstr>
      <vt:lpstr>Casing Running and Landing</vt:lpstr>
      <vt:lpstr>Casing Running and Landing</vt:lpstr>
      <vt:lpstr>Running Pipe Tally</vt:lpstr>
      <vt:lpstr>Running Pipe Tally</vt:lpstr>
      <vt:lpstr>Running Pipe Tally - Landing</vt:lpstr>
      <vt:lpstr>Casing Accessories</vt:lpstr>
      <vt:lpstr>Pipe Deck - Offshore</vt:lpstr>
      <vt:lpstr>Running Casing Onshore / Offshore</vt:lpstr>
      <vt:lpstr>Casing Handling Equipment</vt:lpstr>
      <vt:lpstr>Casing Accessories - Protectors</vt:lpstr>
      <vt:lpstr>Casing Power Tong</vt:lpstr>
      <vt:lpstr>Elevator / Spider</vt:lpstr>
      <vt:lpstr>PowerPoint Presentation</vt:lpstr>
      <vt:lpstr>Casing Connection Type  Casing Handling</vt:lpstr>
      <vt:lpstr>Casing Handling Equipment – CDS (Casing Drive System)</vt:lpstr>
      <vt:lpstr>Casing Dope</vt:lpstr>
      <vt:lpstr>Casing MU Torque Monitoring</vt:lpstr>
      <vt:lpstr>Drilling Sequence Drive Pipe</vt:lpstr>
      <vt:lpstr>Drilling Sequence Structural (Conductor)</vt:lpstr>
      <vt:lpstr>Drilling Sequence Structural (Conductor)</vt:lpstr>
      <vt:lpstr>Drilling Sequence Structural (Conductor)</vt:lpstr>
      <vt:lpstr>Drilling Sequence Surface </vt:lpstr>
      <vt:lpstr>Drilling Sequence Surface </vt:lpstr>
      <vt:lpstr>Drilling Sequence Surface </vt:lpstr>
      <vt:lpstr>Drilling Sequence Surface</vt:lpstr>
      <vt:lpstr>Drilling Sequence Surface </vt:lpstr>
      <vt:lpstr>Drilling Sequence Next Hole (Int or Prod)</vt:lpstr>
      <vt:lpstr>Drilling Sequence Next Hole (Int or Prod)</vt:lpstr>
      <vt:lpstr>Drilling Sequence Next Hole (Int or Prod)</vt:lpstr>
      <vt:lpstr>Drilling Sequence Next Hole (Int or Prod)</vt:lpstr>
      <vt:lpstr>Drilling Sequence Next Hole (Int or Prod)</vt:lpstr>
      <vt:lpstr>Liner</vt:lpstr>
      <vt:lpstr>Liner</vt:lpstr>
      <vt:lpstr>Ready for Completion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</dc:title>
  <dc:subject/>
  <dc:creator>Ashadi</dc:creator>
  <cp:keywords/>
  <dc:description/>
  <cp:lastModifiedBy>yudi hartono</cp:lastModifiedBy>
  <cp:revision>822</cp:revision>
  <cp:lastPrinted>2002-02-23T19:49:03Z</cp:lastPrinted>
  <dcterms:created xsi:type="dcterms:W3CDTF">1996-09-24T17:35:42Z</dcterms:created>
  <dcterms:modified xsi:type="dcterms:W3CDTF">2026-06-12T22:32:01Z</dcterms:modified>
</cp:coreProperties>
</file>