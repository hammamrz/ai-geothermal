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9" r:id="rId5"/>
    <p:sldId id="269" r:id="rId6"/>
    <p:sldId id="266" r:id="rId7"/>
    <p:sldId id="270" r:id="rId8"/>
    <p:sldId id="260" r:id="rId9"/>
    <p:sldId id="271" r:id="rId10"/>
    <p:sldId id="272" r:id="rId11"/>
    <p:sldId id="261" r:id="rId12"/>
    <p:sldId id="273" r:id="rId13"/>
    <p:sldId id="27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9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9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8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7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8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8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7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1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2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2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0D401-F725-4452-BBEA-EB1D800365EA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C4F6E-B533-4447-8C8A-F7717223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6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Tie Back &amp; Long String </a:t>
            </a:r>
            <a:br>
              <a:rPr lang="en-US" dirty="0"/>
            </a:br>
            <a:r>
              <a:rPr lang="en-US" dirty="0"/>
              <a:t>Pros and Cons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Yudi &amp; Ashadi, 16 November 2019</a:t>
            </a:r>
          </a:p>
        </p:txBody>
      </p:sp>
    </p:spTree>
    <p:extLst>
      <p:ext uri="{BB962C8B-B14F-4D97-AF65-F5344CB8AC3E}">
        <p14:creationId xmlns:p14="http://schemas.microsoft.com/office/powerpoint/2010/main" val="46256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50" y="168610"/>
            <a:ext cx="4404719" cy="1325563"/>
          </a:xfrm>
        </p:spPr>
        <p:txBody>
          <a:bodyPr/>
          <a:lstStyle/>
          <a:p>
            <a:r>
              <a:rPr lang="en-US" dirty="0"/>
              <a:t>Casing Schematic Comparison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4" y="1494173"/>
            <a:ext cx="3938427" cy="4933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70" y="0"/>
            <a:ext cx="6258297" cy="67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9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461" y="201352"/>
            <a:ext cx="10515600" cy="576571"/>
          </a:xfrm>
        </p:spPr>
        <p:txBody>
          <a:bodyPr>
            <a:normAutofit fontScale="90000"/>
          </a:bodyPr>
          <a:lstStyle/>
          <a:p>
            <a:r>
              <a:rPr lang="en-US" dirty="0"/>
              <a:t>Running Operation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58772"/>
              </p:ext>
            </p:extLst>
          </p:nvPr>
        </p:nvGraphicFramePr>
        <p:xfrm>
          <a:off x="735461" y="777923"/>
          <a:ext cx="10618338" cy="604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9169">
                  <a:extLst>
                    <a:ext uri="{9D8B030D-6E8A-4147-A177-3AD203B41FA5}">
                      <a16:colId xmlns:a16="http://schemas.microsoft.com/office/drawing/2014/main" val="1835959271"/>
                    </a:ext>
                  </a:extLst>
                </a:gridCol>
                <a:gridCol w="5309169">
                  <a:extLst>
                    <a:ext uri="{9D8B030D-6E8A-4147-A177-3AD203B41FA5}">
                      <a16:colId xmlns:a16="http://schemas.microsoft.com/office/drawing/2014/main" val="4131689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Tie Back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String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0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Liner Run: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 and run 13-3/8” Liner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</a:t>
                      </a:r>
                      <a:r>
                        <a:rPr lang="en-US" baseline="0" dirty="0"/>
                        <a:t> 20” X 13-3/8” Liner Adapter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Run with running string (HWDP + DP)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Cementing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POOH Running String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Wait On Cement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Run Clean Out BHA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Remedial Cement if required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Pressure Liner Lap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Single Run: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 and run 13-3/8” Casing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Run with running string (HWDP + DP)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Cementing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Remedial Cement if required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POOH Running String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Wait On Cement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Remedial Cement if required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Lift BOP and Cut</a:t>
                      </a:r>
                      <a:r>
                        <a:rPr lang="en-US" baseline="0" dirty="0"/>
                        <a:t> 13-3/8” Casing and Laid Down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ND BOP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Cut 20” casing and Final Cut 13-3/8” casing.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Risk of heat expose</a:t>
                      </a:r>
                      <a:r>
                        <a:rPr lang="en-US" baseline="0" dirty="0"/>
                        <a:t> 13-3/8” casing due to cutting torch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Weld section A to 13-3/8” casing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More rig Time (No pre-welded)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NU Master Valve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NU BOP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984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Tie Back</a:t>
                      </a:r>
                      <a:r>
                        <a:rPr lang="en-US" baseline="0" dirty="0"/>
                        <a:t> Run: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ND BOP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Cut 20” casing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 and run 13-3/8” Tie Back Casing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</a:t>
                      </a:r>
                      <a:r>
                        <a:rPr lang="en-US" baseline="0" dirty="0"/>
                        <a:t> Pre-Welded Wellhead and Land on C Plate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Run inner string and stab into FC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Cementing. </a:t>
                      </a:r>
                      <a:r>
                        <a:rPr lang="en-US" b="1" baseline="0" dirty="0">
                          <a:solidFill>
                            <a:srgbClr val="C00000"/>
                          </a:solidFill>
                        </a:rPr>
                        <a:t>NO Wait On Cement (Casing has been landed on C Plate prior cementing job).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NU Master Valve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NU BOP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439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79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Operation – 13-3/8” Liner &amp; Tie Back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9" y="2018515"/>
            <a:ext cx="4832036" cy="47223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066" y="2018515"/>
            <a:ext cx="3085221" cy="44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5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Operation – 13-3/8” Tie Back Casing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1" y="1690688"/>
            <a:ext cx="4654881" cy="38871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40491" y="1690688"/>
            <a:ext cx="69876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The 13-3/8” Tie Back Casing will be run with PRE-WELDED Wellhead for rig time saving.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PRE-WELDED Wellhead will be landed on C Plate on 20” casing before cementing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No Wait On Cement is required, we could NU BOP direct after cementing Job.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The 13-3/8” Tie Back Casing will be cemented with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heavy cement slurry 16.2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, almost double than water gradient.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Heavy Cement slurry will easier to remove water in annulus comparing lighter cement used in long string cementing (13.5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Easier to get Free Water in 16.2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Cement slurry comparing lighter cement used in long string cementing (13.5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Much less risk of water trap along 20” X 13-3/8” casing annulus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No well integrity issue.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77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91" y="146761"/>
            <a:ext cx="10515600" cy="767639"/>
          </a:xfrm>
        </p:spPr>
        <p:txBody>
          <a:bodyPr/>
          <a:lstStyle/>
          <a:p>
            <a:r>
              <a:rPr lang="en-US" dirty="0"/>
              <a:t>Risk Of Losses While Cementing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3" y="914400"/>
            <a:ext cx="4360023" cy="5827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31307" y="1050877"/>
            <a:ext cx="657708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Tie Back System: Hydrostatic pressure during 13-3/8” Liner Casing cementing is </a:t>
            </a:r>
            <a:r>
              <a:rPr lang="en-US" sz="2400" b="1" dirty="0">
                <a:solidFill>
                  <a:srgbClr val="C00000"/>
                </a:solidFill>
              </a:rPr>
              <a:t>210 psi (1,2 </a:t>
            </a:r>
            <a:r>
              <a:rPr lang="en-US" sz="2400" b="1" dirty="0" err="1">
                <a:solidFill>
                  <a:srgbClr val="C00000"/>
                </a:solidFill>
              </a:rPr>
              <a:t>ppg</a:t>
            </a:r>
            <a:r>
              <a:rPr lang="en-US" sz="2400" b="1" dirty="0">
                <a:solidFill>
                  <a:srgbClr val="C00000"/>
                </a:solidFill>
              </a:rPr>
              <a:t>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less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Less risk of loss circulation while cementing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lower probability for remedial cementing job.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Tie Back System: Single 14 – 14.5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ppg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Cement Slurry: easier to get Free Water Recipe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less risk of water trap in cement when hard  less risk casing collapse when expose to hot temperature when flowing well.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54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91" y="146761"/>
            <a:ext cx="10515600" cy="767639"/>
          </a:xfrm>
        </p:spPr>
        <p:txBody>
          <a:bodyPr/>
          <a:lstStyle/>
          <a:p>
            <a:r>
              <a:rPr lang="en-US" dirty="0"/>
              <a:t>Cement Quality in 20” X 13-3/8” Case Hole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90057"/>
            <a:ext cx="5610116" cy="3941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2251" y="1190057"/>
            <a:ext cx="704224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The 13-3/8” Tie Back Casing will be cemented with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heavy cement slurry 16.2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, almost double than water gradient.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Heavy Cement slurry will easier to remove water in annulus comparing lighter cement used in long string cementing (13.5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Easier to get Free Water in 16.2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Cement slurry comparing lighter cement used in long string cementing (13.5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Less risk of water trap along 20” X 13-3/8” casing annulus (short Liner Lap)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No well integrity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The 13-3/8” Tie Back casing will cemented after liner lap being pressure tested to 16,5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EMW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to ensure no losses when pumping 16,2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cement slurry. Until today, no fail on Tie back cementing job.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Good cementing quality with 16.2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</a:rPr>
              <a:t>ppg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slurry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better anchoring for 13-3/8” production casing  less casing and wellhead expansion growth. 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82" y="0"/>
            <a:ext cx="11230970" cy="890469"/>
          </a:xfrm>
        </p:spPr>
        <p:txBody>
          <a:bodyPr/>
          <a:lstStyle/>
          <a:p>
            <a:r>
              <a:rPr lang="en-US" dirty="0"/>
              <a:t>Remedial Cementing – Tie Back Design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3" y="890470"/>
            <a:ext cx="7016078" cy="48825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75216" y="1180730"/>
            <a:ext cx="494846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If any losses during cementing, we will do remedial cementing by dropping or squeezing 15.8 pp cement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until we could pressure test liner lap to 16.5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 EMW.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It is easier since shorter length for remedial cement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30-40 m liner lap and open hole annulus.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In no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injectivity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 rate: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Pressure test liner lap to 16.5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ppg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 EMW, if leaked, squeeze cement.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Run and cement 13-3/8” Tie 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Good Casing and Cementing Integrity.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74322"/>
            <a:ext cx="7075216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If any Total Losses during remedial cement and fail cured with cement plug: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Pump Fast set cement Recipe (</a:t>
            </a:r>
            <a:r>
              <a:rPr lang="en-US" b="1" dirty="0" err="1">
                <a:solidFill>
                  <a:srgbClr val="C00000"/>
                </a:solidFill>
              </a:rPr>
              <a:t>Econolite</a:t>
            </a:r>
            <a:r>
              <a:rPr lang="en-US" b="1" dirty="0">
                <a:solidFill>
                  <a:srgbClr val="C00000"/>
                </a:solidFill>
              </a:rPr>
              <a:t> + Spacer + 15.8 </a:t>
            </a:r>
            <a:r>
              <a:rPr lang="en-US" b="1" dirty="0" err="1">
                <a:solidFill>
                  <a:srgbClr val="C00000"/>
                </a:solidFill>
              </a:rPr>
              <a:t>ppg</a:t>
            </a:r>
            <a:r>
              <a:rPr lang="en-US" b="1" dirty="0">
                <a:solidFill>
                  <a:srgbClr val="C00000"/>
                </a:solidFill>
              </a:rPr>
              <a:t> Cement</a:t>
            </a:r>
          </a:p>
        </p:txBody>
      </p:sp>
    </p:spTree>
    <p:extLst>
      <p:ext uri="{BB962C8B-B14F-4D97-AF65-F5344CB8AC3E}">
        <p14:creationId xmlns:p14="http://schemas.microsoft.com/office/powerpoint/2010/main" val="74582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552" y="0"/>
            <a:ext cx="10515600" cy="890469"/>
          </a:xfrm>
        </p:spPr>
        <p:txBody>
          <a:bodyPr/>
          <a:lstStyle/>
          <a:p>
            <a:r>
              <a:rPr lang="en-US" dirty="0"/>
              <a:t>Remedial Cementing – Long String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3" y="890469"/>
            <a:ext cx="7814762" cy="5837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3495" y="1485349"/>
            <a:ext cx="432747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Case-1: Losses Zone still open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Cement Top Job by pumping cement slurry thru annulus.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The heavy cement slurry will drop into long annulus section, can not control cement speed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risk of mixed with water inside annulus  Risk of free water </a:t>
            </a:r>
            <a:r>
              <a:rPr 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&gt; nil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water trap and cause well integrity issue.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If still losses: Pump Thixotropic cement ahead and follow with remedial cement slurry  risk of premature set if any stop pumping  lack of cement quality along case hole section.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All above points could initiate well integrity issue.</a:t>
            </a:r>
          </a:p>
        </p:txBody>
      </p:sp>
    </p:spTree>
    <p:extLst>
      <p:ext uri="{BB962C8B-B14F-4D97-AF65-F5344CB8AC3E}">
        <p14:creationId xmlns:p14="http://schemas.microsoft.com/office/powerpoint/2010/main" val="152437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552" y="0"/>
            <a:ext cx="10515600" cy="890469"/>
          </a:xfrm>
        </p:spPr>
        <p:txBody>
          <a:bodyPr/>
          <a:lstStyle/>
          <a:p>
            <a:r>
              <a:rPr lang="en-US" dirty="0"/>
              <a:t>Remedial Cementing – Long String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3" y="890469"/>
            <a:ext cx="7814762" cy="5837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3495" y="1485349"/>
            <a:ext cx="432747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Case-2: Top Of Cement Above Losses Depth causing No </a:t>
            </a:r>
            <a:r>
              <a:rPr lang="en-US" sz="2000" dirty="0" err="1">
                <a:solidFill>
                  <a:srgbClr val="FF0000"/>
                </a:solidFill>
              </a:rPr>
              <a:t>Injectivity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Unable to pump remedial cement slurry.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Long Un-cemented 13-3/8” Production Casing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When flowing during well test or production phase, cause higher casing expansion and cause wellhead growth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damage on surface pipe line connection.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Again the above points could initiate well integrity 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7779" y="5850491"/>
            <a:ext cx="4913193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Case-1 and 2 are more difficult Remedial cement job, may need longer rig time.</a:t>
            </a:r>
          </a:p>
        </p:txBody>
      </p:sp>
    </p:spTree>
    <p:extLst>
      <p:ext uri="{BB962C8B-B14F-4D97-AF65-F5344CB8AC3E}">
        <p14:creationId xmlns:p14="http://schemas.microsoft.com/office/powerpoint/2010/main" val="8117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1696"/>
          </a:xfrm>
        </p:spPr>
        <p:txBody>
          <a:bodyPr/>
          <a:lstStyle/>
          <a:p>
            <a:r>
              <a:rPr lang="en-US" dirty="0"/>
              <a:t>Wellhead &amp; MV Installation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22" y="1106820"/>
            <a:ext cx="513264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3844155" y="1065766"/>
            <a:ext cx="4503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6600"/>
                </a:solidFill>
              </a:rPr>
              <a:t>13-5/8” 3M Section A Wellhead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6600"/>
                </a:solidFill>
              </a:rPr>
              <a:t>12” ANSI 900, Master Valve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6600"/>
                </a:solidFill>
              </a:rPr>
              <a:t>Companion Flange</a:t>
            </a:r>
          </a:p>
        </p:txBody>
      </p:sp>
      <p:sp>
        <p:nvSpPr>
          <p:cNvPr id="6" name="Heptagon 5"/>
          <p:cNvSpPr/>
          <p:nvPr/>
        </p:nvSpPr>
        <p:spPr>
          <a:xfrm>
            <a:off x="1746913" y="3396232"/>
            <a:ext cx="532263" cy="450376"/>
          </a:xfrm>
          <a:prstGeom prst="hep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" name="Heptagon 6"/>
          <p:cNvSpPr/>
          <p:nvPr/>
        </p:nvSpPr>
        <p:spPr>
          <a:xfrm>
            <a:off x="2544714" y="2470459"/>
            <a:ext cx="532263" cy="450376"/>
          </a:xfrm>
          <a:prstGeom prst="hep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Heptagon 7"/>
          <p:cNvSpPr/>
          <p:nvPr/>
        </p:nvSpPr>
        <p:spPr>
          <a:xfrm>
            <a:off x="2012451" y="1410839"/>
            <a:ext cx="532263" cy="450376"/>
          </a:xfrm>
          <a:prstGeom prst="hep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Left Arrow 8"/>
          <p:cNvSpPr/>
          <p:nvPr/>
        </p:nvSpPr>
        <p:spPr>
          <a:xfrm>
            <a:off x="3076977" y="3592064"/>
            <a:ext cx="512408" cy="531232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89385" y="3671890"/>
            <a:ext cx="2059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Welded Connection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6174971" y="2113165"/>
            <a:ext cx="5903297" cy="456483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13-5/8” 3M Section A Wellhead Installation: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13-3/8” Tie Back Design: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Pre-welded in horizontal position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32-40 hours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Off line job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no use Rig time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400" b="1" dirty="0">
                <a:solidFill>
                  <a:srgbClr val="C00000"/>
                </a:solidFill>
              </a:rPr>
              <a:t>13-3/8” Long String Design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To be welded in Vertical position, after cementing job and final cut 13-3/8” casing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Rig Time: 32-40 hours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Can not do Off Line  Use Rig time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Option to expedite welding job </a:t>
            </a:r>
            <a:r>
              <a:rPr 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 by pressure testing in hot condition  risk of lack on welding quality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498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143" y="118382"/>
            <a:ext cx="10515600" cy="766989"/>
          </a:xfrm>
        </p:spPr>
        <p:txBody>
          <a:bodyPr/>
          <a:lstStyle/>
          <a:p>
            <a:r>
              <a:rPr lang="en-US" dirty="0"/>
              <a:t>Rig Time Comparison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55" y="990600"/>
            <a:ext cx="8181975" cy="5867400"/>
          </a:xfrm>
          <a:prstGeom prst="rect">
            <a:avLst/>
          </a:prstGeom>
        </p:spPr>
      </p:pic>
      <p:sp>
        <p:nvSpPr>
          <p:cNvPr id="6" name="Content Placeholder 4"/>
          <p:cNvSpPr txBox="1">
            <a:spLocks/>
          </p:cNvSpPr>
          <p:nvPr/>
        </p:nvSpPr>
        <p:spPr>
          <a:xfrm>
            <a:off x="7750628" y="366485"/>
            <a:ext cx="4325258" cy="618015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Rig Time Comparison – No NPT and No Remedial Cement: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Comparing SMP T-01: Long String could create 6 hours rig time Saving.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Comparing SMP T-02: Long String could be 13 hours Longer rig time.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Risk of longer rig time IF run Long string method: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/>
                </a:solidFill>
              </a:rPr>
              <a:t>Problem when weld 13-5/8” SOW Wellhead to 13-3/8” L-80 Casing.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/>
                </a:solidFill>
              </a:rPr>
              <a:t>Difficulties for Remedial Cementing Job.</a:t>
            </a:r>
          </a:p>
        </p:txBody>
      </p:sp>
    </p:spTree>
    <p:extLst>
      <p:ext uri="{BB962C8B-B14F-4D97-AF65-F5344CB8AC3E}">
        <p14:creationId xmlns:p14="http://schemas.microsoft.com/office/powerpoint/2010/main" val="910336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75" y="160410"/>
            <a:ext cx="10515600" cy="604838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90947"/>
              </p:ext>
            </p:extLst>
          </p:nvPr>
        </p:nvGraphicFramePr>
        <p:xfrm>
          <a:off x="232011" y="852340"/>
          <a:ext cx="11750722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9798">
                  <a:extLst>
                    <a:ext uri="{9D8B030D-6E8A-4147-A177-3AD203B41FA5}">
                      <a16:colId xmlns:a16="http://schemas.microsoft.com/office/drawing/2014/main" val="1934133559"/>
                    </a:ext>
                  </a:extLst>
                </a:gridCol>
                <a:gridCol w="6550924">
                  <a:extLst>
                    <a:ext uri="{9D8B030D-6E8A-4147-A177-3AD203B41FA5}">
                      <a16:colId xmlns:a16="http://schemas.microsoft.com/office/drawing/2014/main" val="1879580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13-3/8” Tie Back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13-3/8” Long String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Run 13-3/8” Casing into two section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 Less weight of running casing. It is sufficient to u</a:t>
                      </a:r>
                      <a:r>
                        <a:rPr lang="en-US" baseline="0" dirty="0"/>
                        <a:t>se 150 T Single Casing Elevator. This Equipment is part in the contract, no additional cost.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13-3/8” casing in single run. It is still within 150 T </a:t>
                      </a:r>
                      <a:r>
                        <a:rPr lang="en-US" baseline="0" dirty="0"/>
                        <a:t>Single Casing Elevator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without any Safety factor.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 is recommend to run 13-3/8” Long String with 350 T Spider Elevator. This equipment was not in the casing handling contract. Additional cost: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Equipment Rental      = USD 18000 per well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Mob/Demobilization = USD 6000 per call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8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Need 20” X 13-3/8” Liner Adapter, additional Cost: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20” X 13-3/8” Liner Adapter: USD 15000 / 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Running Tool: USD 5000 / Well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17-1/2” Hole Opener:</a:t>
                      </a:r>
                      <a:r>
                        <a:rPr lang="en-US" baseline="0" dirty="0"/>
                        <a:t> USD 21000 for 3 well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14-3/4” Mill Tooth Bit: USD 12000 for 3 well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20” X 13-3/8” Liner Adapter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40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Total Additional Cost: USD 31000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Additional Cost: USD 18000</a:t>
                      </a:r>
                      <a:r>
                        <a:rPr lang="en-US" baseline="0" dirty="0"/>
                        <a:t> + 6000/3 = USD 20000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354377"/>
                  </a:ext>
                </a:extLst>
              </a:tr>
            </a:tbl>
          </a:graphicData>
        </a:graphic>
      </p:graphicFrame>
      <p:pic>
        <p:nvPicPr>
          <p:cNvPr id="1026" name="Picture 1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75" y="5216061"/>
            <a:ext cx="161925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2" descr="image0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705" y="4967872"/>
            <a:ext cx="2619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586" y="4949360"/>
            <a:ext cx="1330026" cy="190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5259" y="5036067"/>
            <a:ext cx="3507474" cy="1569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Cost Different between Tie Back vs Long String: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USD 11000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NOT Significant</a:t>
            </a:r>
          </a:p>
        </p:txBody>
      </p:sp>
    </p:spTree>
    <p:extLst>
      <p:ext uri="{BB962C8B-B14F-4D97-AF65-F5344CB8AC3E}">
        <p14:creationId xmlns:p14="http://schemas.microsoft.com/office/powerpoint/2010/main" val="3706321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13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300" y="1402543"/>
            <a:ext cx="11458434" cy="50664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Strongly NOT Recommend to run Long String Design for Geothermal Well:</a:t>
            </a:r>
          </a:p>
          <a:p>
            <a:r>
              <a:rPr lang="en-US" dirty="0"/>
              <a:t>Cementing 13-3/8” Casing is the most critical job to be main isolation and anchoring system. Remedial cement in Long string is more complicated and difficult comparing Tie back design.</a:t>
            </a:r>
          </a:p>
          <a:p>
            <a:r>
              <a:rPr lang="en-US" dirty="0"/>
              <a:t>No Rig Time saving expected from Long String Method, since we must weld 13-5/8” SOW wellhead on line (Rig Time) and higher risk of longer rig time due to difficulties to do Remedial Cementing on 13-3/8” Long Production Casing string.</a:t>
            </a:r>
          </a:p>
          <a:p>
            <a:r>
              <a:rPr lang="en-US"/>
              <a:t>In 13-3/8” Tie </a:t>
            </a:r>
            <a:r>
              <a:rPr lang="en-US" dirty="0"/>
              <a:t>Back System where the casing is divided into 2 section, It could make better items of casing stress distribution due to casing expansion during well flowing. </a:t>
            </a:r>
          </a:p>
          <a:p>
            <a:r>
              <a:rPr lang="en-US" dirty="0"/>
              <a:t>It was experienced that Long string Design contributed to the Lack of well integrity.</a:t>
            </a:r>
          </a:p>
          <a:p>
            <a:r>
              <a:rPr lang="en-US" dirty="0"/>
              <a:t>Most Geothermal Operators in Indonesia have abandoned to use Long string method due to well integrity concerns.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00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1453</Words>
  <Application>Microsoft Office PowerPoint</Application>
  <PresentationFormat>Widescreen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Tie Back &amp; Long String  Pros and Cons</vt:lpstr>
      <vt:lpstr>Casing Schematic Comparison</vt:lpstr>
      <vt:lpstr>Running Operation</vt:lpstr>
      <vt:lpstr>Running Operation – 13-3/8” Liner &amp; Tie Back</vt:lpstr>
      <vt:lpstr>Running Operation – 13-3/8” Tie Back Casing</vt:lpstr>
      <vt:lpstr>Risk Of Losses While Cementing</vt:lpstr>
      <vt:lpstr>Cement Quality in 20” X 13-3/8” Case Hole</vt:lpstr>
      <vt:lpstr>Remedial Cementing – Tie Back Design</vt:lpstr>
      <vt:lpstr>Remedial Cementing – Long String Design</vt:lpstr>
      <vt:lpstr>Remedial Cementing – Long String Design</vt:lpstr>
      <vt:lpstr>Wellhead &amp; MV Installation</vt:lpstr>
      <vt:lpstr>Rig Time Comparison</vt:lpstr>
      <vt:lpstr>Additional Cost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 Back &amp; Long String  Pros and Cons</dc:title>
  <dc:creator>Yudi Hartono</dc:creator>
  <cp:lastModifiedBy>poj.optimajasa</cp:lastModifiedBy>
  <cp:revision>35</cp:revision>
  <dcterms:created xsi:type="dcterms:W3CDTF">2019-10-03T05:42:49Z</dcterms:created>
  <dcterms:modified xsi:type="dcterms:W3CDTF">2021-11-29T12:48:02Z</dcterms:modified>
</cp:coreProperties>
</file>