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305" r:id="rId3"/>
    <p:sldId id="283" r:id="rId4"/>
    <p:sldId id="320" r:id="rId5"/>
    <p:sldId id="318" r:id="rId6"/>
    <p:sldId id="286" r:id="rId7"/>
    <p:sldId id="284" r:id="rId8"/>
    <p:sldId id="311" r:id="rId9"/>
    <p:sldId id="316" r:id="rId10"/>
    <p:sldId id="313" r:id="rId11"/>
    <p:sldId id="312" r:id="rId12"/>
    <p:sldId id="314" r:id="rId13"/>
    <p:sldId id="315" r:id="rId14"/>
    <p:sldId id="287" r:id="rId15"/>
    <p:sldId id="289" r:id="rId16"/>
    <p:sldId id="288" r:id="rId17"/>
    <p:sldId id="306" r:id="rId18"/>
    <p:sldId id="291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292" r:id="rId31"/>
    <p:sldId id="290" r:id="rId32"/>
    <p:sldId id="325" r:id="rId33"/>
    <p:sldId id="326" r:id="rId34"/>
    <p:sldId id="327" r:id="rId35"/>
    <p:sldId id="328" r:id="rId36"/>
    <p:sldId id="329" r:id="rId37"/>
    <p:sldId id="330" r:id="rId38"/>
    <p:sldId id="321" r:id="rId39"/>
    <p:sldId id="322" r:id="rId40"/>
    <p:sldId id="323" r:id="rId41"/>
    <p:sldId id="324" r:id="rId42"/>
    <p:sldId id="304" r:id="rId43"/>
    <p:sldId id="307" r:id="rId44"/>
    <p:sldId id="308" r:id="rId45"/>
    <p:sldId id="309" r:id="rId46"/>
    <p:sldId id="310" r:id="rId4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49D70DD-682B-4596-AB41-8691A78AC960}">
          <p14:sldIdLst>
            <p14:sldId id="256"/>
            <p14:sldId id="305"/>
            <p14:sldId id="283"/>
            <p14:sldId id="320"/>
            <p14:sldId id="318"/>
            <p14:sldId id="286"/>
            <p14:sldId id="284"/>
            <p14:sldId id="311"/>
            <p14:sldId id="316"/>
            <p14:sldId id="313"/>
            <p14:sldId id="312"/>
            <p14:sldId id="314"/>
            <p14:sldId id="315"/>
            <p14:sldId id="287"/>
            <p14:sldId id="289"/>
            <p14:sldId id="288"/>
            <p14:sldId id="306"/>
            <p14:sldId id="291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292"/>
            <p14:sldId id="290"/>
            <p14:sldId id="325"/>
            <p14:sldId id="326"/>
            <p14:sldId id="327"/>
            <p14:sldId id="328"/>
            <p14:sldId id="329"/>
            <p14:sldId id="330"/>
            <p14:sldId id="321"/>
            <p14:sldId id="322"/>
            <p14:sldId id="323"/>
            <p14:sldId id="324"/>
            <p14:sldId id="304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65DA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65DA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19" name="Google Shape;19;p7"/>
          <p:cNvSpPr txBox="1"/>
          <p:nvPr/>
        </p:nvSpPr>
        <p:spPr>
          <a:xfrm>
            <a:off x="9727864" y="6611779"/>
            <a:ext cx="246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rPr>
              <a:t>© Jakarta Drilling Society 2025</a:t>
            </a:r>
            <a:endParaRPr sz="1000" b="0" i="0" u="none" strike="noStrike" cap="none">
              <a:solidFill>
                <a:srgbClr val="365D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7"/>
          <p:cNvSpPr txBox="1"/>
          <p:nvPr/>
        </p:nvSpPr>
        <p:spPr>
          <a:xfrm>
            <a:off x="8700000" y="5257800"/>
            <a:ext cx="34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By:</a:t>
            </a:r>
            <a:endParaRPr sz="1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7"/>
          <p:cNvSpPr txBox="1"/>
          <p:nvPr/>
        </p:nvSpPr>
        <p:spPr>
          <a:xfrm>
            <a:off x="8700000" y="5165550"/>
            <a:ext cx="321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856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2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26" name="Google Shape;2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5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Google Shape;3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65DA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33" name="Google Shape;3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65DA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  <p:sp>
        <p:nvSpPr>
          <p:cNvPr id="35" name="Google Shape;35;p9"/>
          <p:cNvSpPr txBox="1"/>
          <p:nvPr/>
        </p:nvSpPr>
        <p:spPr>
          <a:xfrm>
            <a:off x="0" y="6182216"/>
            <a:ext cx="24641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rPr>
              <a:t>© Jakarta Drilling Society 2019-2024</a:t>
            </a:r>
            <a:endParaRPr sz="1000" b="0" i="0" u="none" strike="noStrike" cap="none">
              <a:solidFill>
                <a:srgbClr val="365D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9727864" y="6611779"/>
            <a:ext cx="24641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365DA8"/>
                </a:solidFill>
                <a:latin typeface="Poppins"/>
                <a:ea typeface="Poppins"/>
                <a:cs typeface="Poppins"/>
                <a:sym typeface="Poppins"/>
              </a:rPr>
              <a:t>© Jakarta Drilling Society 2025</a:t>
            </a:r>
            <a:endParaRPr sz="1000" b="0" i="0" u="none" strike="noStrike" cap="none">
              <a:solidFill>
                <a:srgbClr val="365D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0616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42" name="Google Shape;4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270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51" name="Google Shape;5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900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835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203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3200"/>
              <a:buFont typeface="Montserrat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615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3200"/>
              <a:buFont typeface="Montserrat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1" name="Google Shape;71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536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804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ID"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058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5DA8"/>
              </a:buClr>
              <a:buSzPts val="4400"/>
              <a:buFont typeface="Montserrat Black"/>
              <a:buNone/>
              <a:defRPr sz="4400" b="0" i="0" u="none" strike="noStrike" cap="none">
                <a:solidFill>
                  <a:srgbClr val="365DA8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7288A12F-9842-4F92-BCF9-6B6EA0DD7CA5}" type="datetimeFigureOut">
              <a:rPr lang="en-ID" smtClean="0"/>
              <a:t>16 May 2026</a:t>
            </a:fld>
            <a:endParaRPr lang="en-ID"/>
          </a:p>
        </p:txBody>
      </p:sp>
      <p:sp>
        <p:nvSpPr>
          <p:cNvPr id="10" name="Google Shape;1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en-ID"/>
          </a:p>
        </p:txBody>
      </p:sp>
      <p:sp>
        <p:nvSpPr>
          <p:cNvPr id="11" name="Google Shape;1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63B900A5-6BA9-467E-AA78-C61A950DB025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Google Shape;12;p6"/>
          <p:cNvSpPr txBox="1"/>
          <p:nvPr/>
        </p:nvSpPr>
        <p:spPr>
          <a:xfrm>
            <a:off x="9727864" y="6598364"/>
            <a:ext cx="246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© Jakarta Drilling Society 2025</a:t>
            </a:r>
            <a:endParaRPr sz="10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598498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C57D2-500A-F01C-BF7E-CD55E6C3F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350"/>
            <a:ext cx="9144000" cy="2387600"/>
          </a:xfrm>
        </p:spPr>
        <p:txBody>
          <a:bodyPr anchor="ctr">
            <a:noAutofit/>
          </a:bodyPr>
          <a:lstStyle/>
          <a:p>
            <a:r>
              <a:rPr lang="en-US" sz="7200" b="1" dirty="0">
                <a:latin typeface="+mn-lt"/>
              </a:rPr>
              <a:t>DRILLING PROJECT</a:t>
            </a:r>
            <a:br>
              <a:rPr lang="en-US" sz="7200" b="1" dirty="0">
                <a:latin typeface="+mn-lt"/>
              </a:rPr>
            </a:br>
            <a:r>
              <a:rPr lang="en-US" sz="7200" b="1" dirty="0">
                <a:latin typeface="+mn-lt"/>
              </a:rPr>
              <a:t>MANAGEMENT</a:t>
            </a:r>
            <a:endParaRPr lang="en-ID" sz="7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933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19FA-89B7-55AA-1475-7F85E063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0B75-55F9-69EE-7B27-70A8D24F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Kementrian</a:t>
            </a:r>
            <a:r>
              <a:rPr lang="en-US" dirty="0"/>
              <a:t> DPM - JDS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7CE9CB-D4E1-B9BD-DA20-4CC029E1E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604963"/>
            <a:ext cx="11449049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D" dirty="0"/>
              <a:t>Menteri: IBAK (+62 812-8829-9918)</a:t>
            </a:r>
          </a:p>
          <a:p>
            <a:pPr marL="114300" indent="0">
              <a:buNone/>
            </a:pPr>
            <a:r>
              <a:rPr lang="en-ID" dirty="0"/>
              <a:t>Wakil Menteri: Santika (+62 819-5500-219)</a:t>
            </a:r>
          </a:p>
          <a:p>
            <a:pPr marL="114300" indent="0">
              <a:buNone/>
            </a:pPr>
            <a:r>
              <a:rPr lang="en-ID" dirty="0"/>
              <a:t>Satgas#1 </a:t>
            </a:r>
            <a:r>
              <a:rPr lang="en-ID" dirty="0" err="1"/>
              <a:t>Kelompok</a:t>
            </a:r>
            <a:r>
              <a:rPr lang="en-ID" dirty="0"/>
              <a:t> DPM &amp; Mentor:</a:t>
            </a:r>
          </a:p>
          <a:p>
            <a:pPr lvl="0"/>
            <a:r>
              <a:rPr lang="en-ID" dirty="0"/>
              <a:t>Febri (+62 815-9003-500)</a:t>
            </a:r>
          </a:p>
          <a:p>
            <a:pPr lvl="0"/>
            <a:r>
              <a:rPr lang="en-ID" dirty="0"/>
              <a:t>Icha (+62 811-1249-409)</a:t>
            </a:r>
          </a:p>
          <a:p>
            <a:pPr marL="114300" indent="0">
              <a:buNone/>
            </a:pPr>
            <a:r>
              <a:rPr lang="en-ID" dirty="0"/>
              <a:t>Satgas#2 </a:t>
            </a:r>
            <a:r>
              <a:rPr lang="en-ID" dirty="0" err="1"/>
              <a:t>Diskusi</a:t>
            </a:r>
            <a:r>
              <a:rPr lang="en-ID" dirty="0"/>
              <a:t> &amp; </a:t>
            </a:r>
            <a:r>
              <a:rPr lang="en-ID" dirty="0" err="1"/>
              <a:t>Presentasi</a:t>
            </a:r>
            <a:r>
              <a:rPr lang="en-ID" dirty="0"/>
              <a:t> </a:t>
            </a:r>
            <a:r>
              <a:rPr lang="en-ID" dirty="0" err="1"/>
              <a:t>Kelompok</a:t>
            </a:r>
            <a:endParaRPr lang="en-ID" dirty="0"/>
          </a:p>
          <a:p>
            <a:pPr lvl="0"/>
            <a:r>
              <a:rPr lang="en-ID" dirty="0" err="1"/>
              <a:t>Febdi</a:t>
            </a:r>
            <a:r>
              <a:rPr lang="en-ID" dirty="0"/>
              <a:t> (+62 811-101-541)</a:t>
            </a:r>
          </a:p>
          <a:p>
            <a:pPr lvl="0"/>
            <a:r>
              <a:rPr lang="en-ID" dirty="0" err="1"/>
              <a:t>Rafli</a:t>
            </a:r>
            <a:r>
              <a:rPr lang="en-ID" dirty="0"/>
              <a:t> (+62 857-7587-9267)</a:t>
            </a:r>
          </a:p>
        </p:txBody>
      </p:sp>
    </p:spTree>
    <p:extLst>
      <p:ext uri="{BB962C8B-B14F-4D97-AF65-F5344CB8AC3E}">
        <p14:creationId xmlns:p14="http://schemas.microsoft.com/office/powerpoint/2010/main" val="153409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E082-1E53-9319-CDC3-34C3D325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540CBA-4D4D-DC18-6451-EC087F939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585913"/>
            <a:ext cx="11449049" cy="4561522"/>
          </a:xfrm>
        </p:spPr>
        <p:txBody>
          <a:bodyPr>
            <a:normAutofit lnSpcReduction="10000"/>
          </a:bodyPr>
          <a:lstStyle/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600" dirty="0"/>
              <a:t>Introduction to Project Management &amp; Drilling Project Management </a:t>
            </a:r>
          </a:p>
          <a:p>
            <a:pPr marL="857250" indent="-857250">
              <a:buFont typeface="Wingdings" panose="05000000000000000000" pitchFamily="2" charset="2"/>
              <a:buChar char="q"/>
            </a:pPr>
            <a:r>
              <a:rPr lang="en-US" sz="6600" dirty="0"/>
              <a:t>Modul-1 JDS Project Initiation</a:t>
            </a:r>
          </a:p>
        </p:txBody>
      </p:sp>
    </p:spTree>
    <p:extLst>
      <p:ext uri="{BB962C8B-B14F-4D97-AF65-F5344CB8AC3E}">
        <p14:creationId xmlns:p14="http://schemas.microsoft.com/office/powerpoint/2010/main" val="249916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BE707-2FDD-7D58-176D-84CB3973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9705-4AD4-19EE-C82E-8AF5BAAD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What is Project Management?</a:t>
            </a:r>
            <a:endParaRPr lang="en-ID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DCE6D3-DC76-53C6-4185-D7C53B952667}"/>
              </a:ext>
            </a:extLst>
          </p:cNvPr>
          <p:cNvSpPr/>
          <p:nvPr/>
        </p:nvSpPr>
        <p:spPr>
          <a:xfrm>
            <a:off x="781050" y="2238375"/>
            <a:ext cx="2514600" cy="34671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6CF63E-B46B-E523-CB5B-EC2F97189D42}"/>
              </a:ext>
            </a:extLst>
          </p:cNvPr>
          <p:cNvSpPr/>
          <p:nvPr/>
        </p:nvSpPr>
        <p:spPr>
          <a:xfrm>
            <a:off x="3467100" y="2238375"/>
            <a:ext cx="2514600" cy="34671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41000C-AA92-0DAA-6EB7-DA1047181003}"/>
              </a:ext>
            </a:extLst>
          </p:cNvPr>
          <p:cNvSpPr/>
          <p:nvPr/>
        </p:nvSpPr>
        <p:spPr>
          <a:xfrm>
            <a:off x="6153150" y="2238375"/>
            <a:ext cx="2514600" cy="34671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872288-1A02-60A0-2DD0-BCFAEFE709DA}"/>
              </a:ext>
            </a:extLst>
          </p:cNvPr>
          <p:cNvSpPr/>
          <p:nvPr/>
        </p:nvSpPr>
        <p:spPr>
          <a:xfrm>
            <a:off x="8839200" y="2238375"/>
            <a:ext cx="2514600" cy="34671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50CAB-9D57-CA83-2EBF-16422D60D644}"/>
              </a:ext>
            </a:extLst>
          </p:cNvPr>
          <p:cNvSpPr txBox="1"/>
          <p:nvPr/>
        </p:nvSpPr>
        <p:spPr>
          <a:xfrm>
            <a:off x="1057275" y="4268788"/>
            <a:ext cx="1962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Integration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Connecting thousands of small details into one cohesive whole.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0D52B-B670-96C4-175E-5F317F6C97FE}"/>
              </a:ext>
            </a:extLst>
          </p:cNvPr>
          <p:cNvSpPr txBox="1"/>
          <p:nvPr/>
        </p:nvSpPr>
        <p:spPr>
          <a:xfrm>
            <a:off x="3743325" y="4268788"/>
            <a:ext cx="1962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Leadership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Setting the direction and keeping the team on path to the goal.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B2E1F-BF04-08B0-D682-B0A56D3C659B}"/>
              </a:ext>
            </a:extLst>
          </p:cNvPr>
          <p:cNvSpPr txBox="1"/>
          <p:nvPr/>
        </p:nvSpPr>
        <p:spPr>
          <a:xfrm>
            <a:off x="6405562" y="4268788"/>
            <a:ext cx="20097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Risk Mitigation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Anticipating the storm before it arrives at the worksite.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D3DCB-7CB1-270D-DC7B-4390561B03AA}"/>
              </a:ext>
            </a:extLst>
          </p:cNvPr>
          <p:cNvSpPr txBox="1"/>
          <p:nvPr/>
        </p:nvSpPr>
        <p:spPr>
          <a:xfrm>
            <a:off x="9115425" y="4268788"/>
            <a:ext cx="1962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Value Creation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Ensuring every cent spent delivers a result for the company.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852009B-9B48-C059-52C8-A1753D669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3425" y="1232575"/>
            <a:ext cx="107251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Management is the application of knowledge, skills, tools, and techniques to project activities to meet the project requirements."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E7DAEBF-C285-503B-88FA-488321E49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2" y="2461542"/>
            <a:ext cx="2085975" cy="180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isk Mitigation in Testing | TO THE NEW Blog">
            <a:extLst>
              <a:ext uri="{FF2B5EF4-FFF2-40B4-BE49-F238E27FC236}">
                <a16:creationId xmlns:a16="http://schemas.microsoft.com/office/drawing/2014/main" id="{02F415F0-8D86-AB70-9997-FF2EDDC05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743" y="2461542"/>
            <a:ext cx="2127412" cy="180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Investment - Free business icons">
            <a:extLst>
              <a:ext uri="{FF2B5EF4-FFF2-40B4-BE49-F238E27FC236}">
                <a16:creationId xmlns:a16="http://schemas.microsoft.com/office/drawing/2014/main" id="{BD6AD50C-C285-7EBF-1A68-B752FEC7B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275" y="2461542"/>
            <a:ext cx="2076450" cy="184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System Integration: Purpose, Types, Methods &amp; Benefits | Kaseya">
            <a:extLst>
              <a:ext uri="{FF2B5EF4-FFF2-40B4-BE49-F238E27FC236}">
                <a16:creationId xmlns:a16="http://schemas.microsoft.com/office/drawing/2014/main" id="{373DF4F5-D83D-6071-287B-CDEDB8F383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 r="21375"/>
          <a:stretch>
            <a:fillRect/>
          </a:stretch>
        </p:blipFill>
        <p:spPr bwMode="auto">
          <a:xfrm>
            <a:off x="992981" y="2461542"/>
            <a:ext cx="2090738" cy="1807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25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4D62-5C45-15C9-582B-CDF77F00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BFCC-D8D2-9B2F-297C-3CB49A49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/>
          <a:lstStyle/>
          <a:p>
            <a:r>
              <a:rPr lang="en-US" dirty="0"/>
              <a:t>Why do we need PM? </a:t>
            </a:r>
            <a:br>
              <a:rPr lang="en-US" dirty="0"/>
            </a:br>
            <a:r>
              <a:rPr lang="en-US" dirty="0"/>
              <a:t>(The Order from Chaos)</a:t>
            </a:r>
            <a:endParaRPr lang="en-ID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B98AC9-FB0C-8EE9-5705-9D7A43CA8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2475" y="1447820"/>
            <a:ext cx="10687050" cy="472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Without Project Management, a drilling project will likely suffer from: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Scope Creep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Work expanding without direction. 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Budget Overrun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Costs swelling beyond the AFE. 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Missed Deadlines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Wasted time on the rig floor. 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Chaotic Communication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Miscoordination between vendors and the team.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Message: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"PM brings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It transitions us from being reactive (putting out fires) to being proactive (preventing the fire from starting)."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52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2726-A83F-7680-23A9-57556A7E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7668-C0B6-16A2-4D83-4B463368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Constraint</a:t>
            </a:r>
            <a:endParaRPr lang="en-ID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5FBA6BE-B213-F94B-AA6E-64539A90A885}"/>
              </a:ext>
            </a:extLst>
          </p:cNvPr>
          <p:cNvSpPr/>
          <p:nvPr/>
        </p:nvSpPr>
        <p:spPr>
          <a:xfrm>
            <a:off x="361950" y="1952625"/>
            <a:ext cx="5448300" cy="295275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QUALITY</a:t>
            </a:r>
            <a:endParaRPr lang="en-ID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35B62-4668-8F8B-D493-FA336603E566}"/>
              </a:ext>
            </a:extLst>
          </p:cNvPr>
          <p:cNvSpPr txBox="1"/>
          <p:nvPr/>
        </p:nvSpPr>
        <p:spPr>
          <a:xfrm rot="18773558">
            <a:off x="628650" y="3048001"/>
            <a:ext cx="1863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SCHEDULE</a:t>
            </a:r>
            <a:endParaRPr lang="en-ID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CAB6B-465B-BB66-A939-04E05F273384}"/>
              </a:ext>
            </a:extLst>
          </p:cNvPr>
          <p:cNvSpPr txBox="1"/>
          <p:nvPr/>
        </p:nvSpPr>
        <p:spPr>
          <a:xfrm rot="2863713">
            <a:off x="4090530" y="3048000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COST</a:t>
            </a:r>
            <a:endParaRPr lang="en-ID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18836-2589-FB17-6E8B-6A57DCEB1B6C}"/>
              </a:ext>
            </a:extLst>
          </p:cNvPr>
          <p:cNvSpPr txBox="1"/>
          <p:nvPr/>
        </p:nvSpPr>
        <p:spPr>
          <a:xfrm>
            <a:off x="2385897" y="4905375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SCOPE</a:t>
            </a:r>
            <a:endParaRPr lang="en-ID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4E209-9AAE-2E40-8112-904837C50C1C}"/>
              </a:ext>
            </a:extLst>
          </p:cNvPr>
          <p:cNvSpPr txBox="1"/>
          <p:nvPr/>
        </p:nvSpPr>
        <p:spPr>
          <a:xfrm>
            <a:off x="5965371" y="1401082"/>
            <a:ext cx="59798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Scope: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What work is being done? (Depth, logging program, completion).</a:t>
            </a:r>
          </a:p>
          <a:p>
            <a:pPr marL="261938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Time: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How long will it take? (Days vs. Depth, Rig release date).</a:t>
            </a:r>
          </a:p>
          <a:p>
            <a:pPr marL="261938" lvl="0" indent="-261938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Cost: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What is the budget? (AFE, daily spread rate).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11914-3470-B34C-F084-851F5FEF7C6C}"/>
              </a:ext>
            </a:extLst>
          </p:cNvPr>
          <p:cNvSpPr txBox="1"/>
          <p:nvPr/>
        </p:nvSpPr>
        <p:spPr>
          <a:xfrm>
            <a:off x="6096000" y="4859208"/>
            <a:ext cx="5904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change in one constraint inevitably impacts the other two. Quality is the result of balancing these three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49984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EF1A-50B8-4DF1-706F-7E28F883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Life Cycle</a:t>
            </a:r>
            <a:endParaRPr lang="en-I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1A8975-B4B8-47AA-9889-A8F292CC6A72}"/>
              </a:ext>
            </a:extLst>
          </p:cNvPr>
          <p:cNvSpPr/>
          <p:nvPr/>
        </p:nvSpPr>
        <p:spPr>
          <a:xfrm>
            <a:off x="5072062" y="1690688"/>
            <a:ext cx="2047875" cy="132556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PROJECT </a:t>
            </a:r>
          </a:p>
          <a:p>
            <a:pPr algn="ctr"/>
            <a:r>
              <a:rPr lang="en-US" sz="1800" b="1" dirty="0"/>
              <a:t>INITIATION</a:t>
            </a:r>
            <a:endParaRPr lang="en-ID" sz="1800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3CC1FB-CA48-DD7A-43F1-283C4CCFCABE}"/>
              </a:ext>
            </a:extLst>
          </p:cNvPr>
          <p:cNvSpPr/>
          <p:nvPr/>
        </p:nvSpPr>
        <p:spPr>
          <a:xfrm>
            <a:off x="8167687" y="3148013"/>
            <a:ext cx="2047875" cy="1325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PROJECT </a:t>
            </a:r>
          </a:p>
          <a:p>
            <a:pPr algn="ctr"/>
            <a:r>
              <a:rPr lang="en-US" sz="1800" b="1" dirty="0"/>
              <a:t>PLANNING</a:t>
            </a:r>
            <a:endParaRPr lang="en-ID" sz="18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4D6D47-7D1A-6ADE-5CD1-CF2F36F35388}"/>
              </a:ext>
            </a:extLst>
          </p:cNvPr>
          <p:cNvSpPr/>
          <p:nvPr/>
        </p:nvSpPr>
        <p:spPr>
          <a:xfrm>
            <a:off x="5072062" y="4719638"/>
            <a:ext cx="2047875" cy="1325563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PROJECT </a:t>
            </a:r>
          </a:p>
          <a:p>
            <a:pPr algn="ctr"/>
            <a:r>
              <a:rPr lang="en-US" b="1" dirty="0"/>
              <a:t>EXECUTION &amp; MONITORING</a:t>
            </a:r>
            <a:endParaRPr lang="en-ID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BA0404-E794-9446-8E64-199E28702D33}"/>
              </a:ext>
            </a:extLst>
          </p:cNvPr>
          <p:cNvSpPr/>
          <p:nvPr/>
        </p:nvSpPr>
        <p:spPr>
          <a:xfrm>
            <a:off x="1976438" y="3148012"/>
            <a:ext cx="2047875" cy="132556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PROJECT </a:t>
            </a:r>
          </a:p>
          <a:p>
            <a:pPr algn="ctr"/>
            <a:r>
              <a:rPr lang="en-US" b="1" dirty="0"/>
              <a:t>COMPLETION</a:t>
            </a:r>
            <a:endParaRPr lang="en-ID" b="1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7EBE801-7A9F-030C-55FF-7721F39146BF}"/>
              </a:ext>
            </a:extLst>
          </p:cNvPr>
          <p:cNvSpPr/>
          <p:nvPr/>
        </p:nvSpPr>
        <p:spPr>
          <a:xfrm rot="18107119">
            <a:off x="7539785" y="2319190"/>
            <a:ext cx="833437" cy="9898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90FCE54-53B2-1C1C-C0EF-03BC08CC63DA}"/>
              </a:ext>
            </a:extLst>
          </p:cNvPr>
          <p:cNvSpPr/>
          <p:nvPr/>
        </p:nvSpPr>
        <p:spPr>
          <a:xfrm rot="3648617">
            <a:off x="7371845" y="4322334"/>
            <a:ext cx="833437" cy="9898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D8B8EBD-ACF1-1758-C038-63573812F23E}"/>
              </a:ext>
            </a:extLst>
          </p:cNvPr>
          <p:cNvSpPr/>
          <p:nvPr/>
        </p:nvSpPr>
        <p:spPr>
          <a:xfrm rot="7371332">
            <a:off x="3969960" y="4275308"/>
            <a:ext cx="833437" cy="9898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B1504D8-B8F0-6D42-C6D4-AA8E2AF39D40}"/>
              </a:ext>
            </a:extLst>
          </p:cNvPr>
          <p:cNvSpPr/>
          <p:nvPr/>
        </p:nvSpPr>
        <p:spPr>
          <a:xfrm rot="14525232">
            <a:off x="4065199" y="2521347"/>
            <a:ext cx="833437" cy="9898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713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7032-29B2-6F59-53D2-58CEAE49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04AC-2786-F8F2-BB1F-6614DDCC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Exercise : Provide Simple Project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39520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A30D3-FFA5-46C7-2407-E982640B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5BA1-8FDD-C0F8-F534-C4165CCE2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Wedding Party</a:t>
            </a:r>
            <a:endParaRPr lang="en-ID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23C517-C793-CF5E-D149-607D183ED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435774"/>
              </p:ext>
            </p:extLst>
          </p:nvPr>
        </p:nvGraphicFramePr>
        <p:xfrm>
          <a:off x="595162" y="1757898"/>
          <a:ext cx="11001675" cy="2811780"/>
        </p:xfrm>
        <a:graphic>
          <a:graphicData uri="http://schemas.openxmlformats.org/drawingml/2006/table">
            <a:tbl>
              <a:tblPr/>
              <a:tblGrid>
                <a:gridCol w="3842084">
                  <a:extLst>
                    <a:ext uri="{9D8B030D-6E8A-4147-A177-3AD203B41FA5}">
                      <a16:colId xmlns:a16="http://schemas.microsoft.com/office/drawing/2014/main" val="2608655242"/>
                    </a:ext>
                  </a:extLst>
                </a:gridCol>
                <a:gridCol w="7159591">
                  <a:extLst>
                    <a:ext uri="{9D8B030D-6E8A-4147-A177-3AD203B41FA5}">
                      <a16:colId xmlns:a16="http://schemas.microsoft.com/office/drawing/2014/main" val="841818828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3200" b="1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Project Phase</a:t>
                      </a:r>
                      <a:endParaRPr lang="en-ID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3200" b="1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Analogy</a:t>
                      </a:r>
                      <a:endParaRPr lang="en-ID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62719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8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Initiation</a:t>
                      </a:r>
                      <a:endParaRPr lang="en-ID" sz="2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i-FI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Decision to marriage, </a:t>
                      </a:r>
                      <a:r>
                        <a:rPr lang="en-ID" sz="2800" dirty="0"/>
                        <a:t>Rough Budget Estimate</a:t>
                      </a:r>
                      <a:r>
                        <a:rPr lang="fi-FI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.</a:t>
                      </a:r>
                      <a:endParaRPr lang="fi-FI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73379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800" b="1" i="0" u="none" strike="noStrike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Planning</a:t>
                      </a:r>
                      <a:endParaRPr lang="en-ID" sz="28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de-DE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Venue decision, Catering Services decision, Wedding Organizer, Invitation letter, etc.</a:t>
                      </a:r>
                      <a:endParaRPr lang="de-DE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8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Execution &amp; Monitoring</a:t>
                      </a:r>
                      <a:endParaRPr lang="en-ID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sv-SE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D-Day (Resepsi/Akad Nikah).</a:t>
                      </a:r>
                      <a:endParaRPr lang="sv-SE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89624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D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Completion</a:t>
                      </a:r>
                      <a:endParaRPr lang="en-ID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Urbanist"/>
                        </a:rPr>
                        <a:t>Final Invoicing &amp; Vendor Evaluation</a:t>
                      </a:r>
                      <a:endParaRPr lang="it-IT" sz="2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4450" marR="44450" marT="19050" marB="190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8304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2B18EC4-0238-0FE1-7E25-D20AF1822FC1}"/>
              </a:ext>
            </a:extLst>
          </p:cNvPr>
          <p:cNvSpPr txBox="1"/>
          <p:nvPr/>
        </p:nvSpPr>
        <p:spPr>
          <a:xfrm>
            <a:off x="595162" y="4636888"/>
            <a:ext cx="10796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800" dirty="0"/>
              <a:t>*</a:t>
            </a:r>
            <a:r>
              <a:rPr lang="en-US" sz="1800" dirty="0"/>
              <a:t> Imagine if the catering </a:t>
            </a:r>
            <a:r>
              <a:rPr lang="en-US" sz="1800" b="1" dirty="0"/>
              <a:t>didn't show up</a:t>
            </a:r>
            <a:r>
              <a:rPr lang="en-US" sz="1800" dirty="0"/>
              <a:t> (Operational Risk) or the venue </a:t>
            </a:r>
            <a:r>
              <a:rPr lang="en-US" sz="1800" b="1" dirty="0"/>
              <a:t>wasn't paid off</a:t>
            </a:r>
            <a:r>
              <a:rPr lang="en-US" sz="1800" dirty="0"/>
              <a:t> (AFE Overrun)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617370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E574-03B7-E6F6-40E8-E97C5DA5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461C-4572-7C1D-92DB-717EEE951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Why PM Matters in Drilling?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3779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E3FF-D0C3-855E-118E-7D43B0E0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CD55-7568-AF58-831F-3D7F68A6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DPM as "The Art of Integration"</a:t>
            </a:r>
            <a:endParaRPr lang="en-ID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DD3FF6-ECDA-52E1-DCEF-0A56D2390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079"/>
            <a:ext cx="1125855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 drilling, the Project Manager is the "glue" that holds dozens of specialized service companies and internal departments together.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Concept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Drilling involves coordinating 30+ vendors (mud, logging, cementing, etc.) simultaneously. 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Key Message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DPM is about ensuring that Subsurface, Engineering, Procurement, and Operations are perfectly aligned</a:t>
            </a:r>
          </a:p>
        </p:txBody>
      </p:sp>
    </p:spTree>
    <p:extLst>
      <p:ext uri="{BB962C8B-B14F-4D97-AF65-F5344CB8AC3E}">
        <p14:creationId xmlns:p14="http://schemas.microsoft.com/office/powerpoint/2010/main" val="243988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0D04-213E-79A1-3024-C606DE89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F045-7FCA-B60E-2DC1-262E79E1B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D" sz="4000" dirty="0"/>
              <a:t>Managing "Subsurface Uncertainty"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4AD0E7-68F1-1886-7E4A-178A0F2D1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7712" y="1189925"/>
            <a:ext cx="10696575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Unlike a construction project where you can see the worksite, drilling happens thousands of feet underground in an invisible environment.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Concept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We rely on probabilistic models (P10, P50, P90) because we cannot see the target directly. 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Key Message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DPM is not just about following a plan; it is about managing the risks of geological "surprises" like pressure anomalies or hazardous gases</a:t>
            </a:r>
          </a:p>
        </p:txBody>
      </p:sp>
    </p:spTree>
    <p:extLst>
      <p:ext uri="{BB962C8B-B14F-4D97-AF65-F5344CB8AC3E}">
        <p14:creationId xmlns:p14="http://schemas.microsoft.com/office/powerpoint/2010/main" val="23453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2656-82ED-B766-1A0F-5FC284227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C308-8C88-E781-F58E-602DC848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88992"/>
            <a:ext cx="10515600" cy="1325563"/>
          </a:xfrm>
        </p:spPr>
        <p:txBody>
          <a:bodyPr>
            <a:normAutofit/>
          </a:bodyPr>
          <a:lstStyle/>
          <a:p>
            <a:r>
              <a:rPr lang="en-ID" sz="4000" dirty="0"/>
              <a:t>Value Protection (NPT &amp; ILT)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3B5CEB-ADBE-CE66-DDF2-864C07A74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4555"/>
            <a:ext cx="1129665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 other industries, a delay might just be an annoyance. In drilling, "Time is Money" is a literal, expensive truth.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Concept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Every hour of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Non-Productive Time (NPT)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Invisible Lost Time (ILT)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can burn thousands of dollars in rig spread rates. 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Key Message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The Project Manager’s primary goal is to protect the investment by ensuring every minute on the rig floor is productive and safe</a:t>
            </a:r>
          </a:p>
        </p:txBody>
      </p:sp>
    </p:spTree>
    <p:extLst>
      <p:ext uri="{BB962C8B-B14F-4D97-AF65-F5344CB8AC3E}">
        <p14:creationId xmlns:p14="http://schemas.microsoft.com/office/powerpoint/2010/main" val="1719245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5B8E-CFE1-29B0-3BF8-F3770B6A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9988-E03E-046E-B201-F896D991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23825"/>
            <a:ext cx="10515600" cy="1000125"/>
          </a:xfrm>
        </p:spPr>
        <p:txBody>
          <a:bodyPr/>
          <a:lstStyle/>
          <a:p>
            <a:r>
              <a:rPr lang="en-US" dirty="0"/>
              <a:t>Project Life Cycle - DPM</a:t>
            </a:r>
            <a:endParaRPr lang="en-ID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02125C-4336-1472-15AE-41ABD3D884B0}"/>
              </a:ext>
            </a:extLst>
          </p:cNvPr>
          <p:cNvSpPr txBox="1">
            <a:spLocks/>
          </p:cNvSpPr>
          <p:nvPr/>
        </p:nvSpPr>
        <p:spPr>
          <a:xfrm>
            <a:off x="3149326" y="1311275"/>
            <a:ext cx="2880000" cy="47180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PROJECT PLANNING</a:t>
            </a:r>
          </a:p>
          <a:p>
            <a:pPr marL="266700" indent="-266700"/>
            <a:r>
              <a:rPr lang="en-US" sz="2000" dirty="0"/>
              <a:t>Drilling Basis of Design</a:t>
            </a:r>
          </a:p>
          <a:p>
            <a:pPr marL="266700" indent="-266700"/>
            <a:r>
              <a:rPr lang="en-US" sz="2000" dirty="0"/>
              <a:t>Project timeline </a:t>
            </a:r>
          </a:p>
          <a:p>
            <a:pPr marL="266700" indent="-266700"/>
            <a:r>
              <a:rPr lang="en-US" sz="2000" dirty="0"/>
              <a:t>Detail Budget / AFE</a:t>
            </a:r>
          </a:p>
          <a:p>
            <a:pPr marL="266700" indent="-266700"/>
            <a:r>
              <a:rPr lang="en-US" sz="2000" dirty="0"/>
              <a:t>Risk Register</a:t>
            </a:r>
          </a:p>
          <a:p>
            <a:pPr marL="266700" indent="-266700"/>
            <a:r>
              <a:rPr lang="en-US" sz="2000" dirty="0"/>
              <a:t>Logistic &amp; Supply chain plan</a:t>
            </a:r>
          </a:p>
          <a:p>
            <a:pPr marL="266700" indent="-266700"/>
            <a:r>
              <a:rPr lang="en-US" sz="2000" dirty="0"/>
              <a:t>Procurement Strategy</a:t>
            </a:r>
          </a:p>
          <a:p>
            <a:pPr marL="266700" indent="-266700"/>
            <a:r>
              <a:rPr lang="en-US" sz="2000" dirty="0"/>
              <a:t>Well Control Plan</a:t>
            </a:r>
          </a:p>
          <a:p>
            <a:pPr marL="266700" indent="-266700"/>
            <a:r>
              <a:rPr lang="en-US" sz="2000" dirty="0"/>
              <a:t>Emergency &amp; Contingency Plan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2883F5-5790-6CD1-76D9-C1E23B102302}"/>
              </a:ext>
            </a:extLst>
          </p:cNvPr>
          <p:cNvSpPr txBox="1">
            <a:spLocks/>
          </p:cNvSpPr>
          <p:nvPr/>
        </p:nvSpPr>
        <p:spPr>
          <a:xfrm>
            <a:off x="6165302" y="1311276"/>
            <a:ext cx="2880000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PROJECT EXECUTION &amp; MONITORING</a:t>
            </a:r>
          </a:p>
          <a:p>
            <a:pPr marL="266700" indent="-266700"/>
            <a:r>
              <a:rPr lang="en-US" sz="2000" dirty="0"/>
              <a:t>Drilling Program</a:t>
            </a:r>
          </a:p>
          <a:p>
            <a:pPr marL="266700" indent="-266700"/>
            <a:r>
              <a:rPr lang="en-US" sz="2000" dirty="0"/>
              <a:t>Bridging document</a:t>
            </a:r>
          </a:p>
          <a:p>
            <a:pPr marL="266700" indent="-266700"/>
            <a:r>
              <a:rPr lang="en-US" sz="2000" dirty="0"/>
              <a:t>DWOP (Drilling Well on Paper)</a:t>
            </a:r>
          </a:p>
          <a:p>
            <a:pPr marL="266700" indent="-266700"/>
            <a:r>
              <a:rPr lang="en-US" sz="2000" dirty="0"/>
              <a:t>Bill of Material (BOM)</a:t>
            </a:r>
          </a:p>
          <a:p>
            <a:pPr marL="266700" indent="-266700"/>
            <a:r>
              <a:rPr lang="en-US" sz="2000" dirty="0"/>
              <a:t>Daily Drilling Report (DDR) &amp; NPT/ILT Tracking</a:t>
            </a:r>
          </a:p>
          <a:p>
            <a:pPr marL="266700" indent="-266700"/>
            <a:r>
              <a:rPr lang="en-US" sz="2000" dirty="0"/>
              <a:t>Cost &amp; Contract Monitoring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A751705-5F2C-ABC3-4265-4A635151D85B}"/>
              </a:ext>
            </a:extLst>
          </p:cNvPr>
          <p:cNvSpPr txBox="1">
            <a:spLocks/>
          </p:cNvSpPr>
          <p:nvPr/>
        </p:nvSpPr>
        <p:spPr>
          <a:xfrm>
            <a:off x="9181278" y="1311275"/>
            <a:ext cx="2880000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PROJECT COMPLETION</a:t>
            </a:r>
          </a:p>
          <a:p>
            <a:pPr marL="266700" indent="-266700"/>
            <a:r>
              <a:rPr lang="en-US" sz="2000" dirty="0"/>
              <a:t>End of Well report</a:t>
            </a:r>
          </a:p>
          <a:p>
            <a:pPr marL="266700" indent="-266700"/>
            <a:r>
              <a:rPr lang="en-US" sz="2000" dirty="0"/>
              <a:t>Drilling Post Mortem</a:t>
            </a:r>
          </a:p>
          <a:p>
            <a:pPr marL="266700" indent="-266700"/>
            <a:r>
              <a:rPr lang="en-US" sz="2000" dirty="0"/>
              <a:t>Well Performance Analysis</a:t>
            </a:r>
          </a:p>
          <a:p>
            <a:pPr marL="266700" indent="-266700"/>
            <a:r>
              <a:rPr lang="en-US" sz="2000" dirty="0"/>
              <a:t>After Action Review</a:t>
            </a:r>
          </a:p>
          <a:p>
            <a:pPr marL="266700" indent="-266700"/>
            <a:r>
              <a:rPr lang="en-US" sz="2000" dirty="0"/>
              <a:t>Service Quality Meeting</a:t>
            </a:r>
          </a:p>
          <a:p>
            <a:pPr marL="266700" indent="-266700"/>
            <a:r>
              <a:rPr lang="en-US" sz="2000" dirty="0"/>
              <a:t>Financial Close Out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88DF5E-4D67-8A07-A446-435C1FBAA598}"/>
              </a:ext>
            </a:extLst>
          </p:cNvPr>
          <p:cNvSpPr txBox="1">
            <a:spLocks/>
          </p:cNvSpPr>
          <p:nvPr/>
        </p:nvSpPr>
        <p:spPr>
          <a:xfrm>
            <a:off x="130722" y="1311275"/>
            <a:ext cx="2880000" cy="17711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PROJECT INITIATION</a:t>
            </a:r>
          </a:p>
          <a:p>
            <a:pPr marL="266700" indent="-266700"/>
            <a:r>
              <a:rPr lang="en-US" sz="1800" dirty="0"/>
              <a:t>Project Scope</a:t>
            </a:r>
          </a:p>
          <a:p>
            <a:pPr marL="266700" indent="-266700"/>
            <a:r>
              <a:rPr lang="en-US" sz="1800" dirty="0"/>
              <a:t>Risk Assessment project</a:t>
            </a:r>
          </a:p>
          <a:p>
            <a:pPr marL="266700" indent="-266700"/>
            <a:r>
              <a:rPr lang="en-US" sz="1800" dirty="0"/>
              <a:t>Project Economical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232271B-ADE2-99BD-B31C-9BB7F4CDA45C}"/>
              </a:ext>
            </a:extLst>
          </p:cNvPr>
          <p:cNvCxnSpPr>
            <a:cxnSpLocks/>
            <a:stCxn id="12" idx="0"/>
            <a:endCxn id="13" idx="0"/>
          </p:cNvCxnSpPr>
          <p:nvPr/>
        </p:nvCxnSpPr>
        <p:spPr>
          <a:xfrm rot="16200000" flipH="1">
            <a:off x="6097313" y="-196713"/>
            <a:ext cx="1" cy="3015976"/>
          </a:xfrm>
          <a:prstGeom prst="bentConnector3">
            <a:avLst>
              <a:gd name="adj1" fmla="val -22860000000"/>
            </a:avLst>
          </a:prstGeom>
          <a:ln w="38100">
            <a:solidFill>
              <a:srgbClr val="0000C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03E1D9E-2EDB-8416-0FD4-726A6FD4ED88}"/>
              </a:ext>
            </a:extLst>
          </p:cNvPr>
          <p:cNvCxnSpPr>
            <a:cxnSpLocks/>
            <a:stCxn id="13" idx="0"/>
            <a:endCxn id="14" idx="0"/>
          </p:cNvCxnSpPr>
          <p:nvPr/>
        </p:nvCxnSpPr>
        <p:spPr>
          <a:xfrm rot="5400000" flipH="1" flipV="1">
            <a:off x="9113290" y="-196712"/>
            <a:ext cx="1" cy="3015976"/>
          </a:xfrm>
          <a:prstGeom prst="bentConnector3">
            <a:avLst>
              <a:gd name="adj1" fmla="val 22860100000"/>
            </a:avLst>
          </a:prstGeom>
          <a:ln w="38100">
            <a:solidFill>
              <a:srgbClr val="0000C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A470C9A-9F97-CC31-29D8-C43980A2BA69}"/>
              </a:ext>
            </a:extLst>
          </p:cNvPr>
          <p:cNvCxnSpPr>
            <a:cxnSpLocks/>
            <a:stCxn id="8" idx="0"/>
            <a:endCxn id="12" idx="0"/>
          </p:cNvCxnSpPr>
          <p:nvPr/>
        </p:nvCxnSpPr>
        <p:spPr>
          <a:xfrm rot="5400000" flipH="1" flipV="1">
            <a:off x="3080024" y="-198027"/>
            <a:ext cx="12700" cy="3018604"/>
          </a:xfrm>
          <a:prstGeom prst="bentConnector3">
            <a:avLst>
              <a:gd name="adj1" fmla="val 1800000"/>
            </a:avLst>
          </a:prstGeom>
          <a:ln w="3810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E38A299-E2A3-8CB6-5D17-90E7B4B6596D}"/>
              </a:ext>
            </a:extLst>
          </p:cNvPr>
          <p:cNvCxnSpPr>
            <a:stCxn id="14" idx="2"/>
            <a:endCxn id="8" idx="2"/>
          </p:cNvCxnSpPr>
          <p:nvPr/>
        </p:nvCxnSpPr>
        <p:spPr>
          <a:xfrm rot="5400000" flipH="1">
            <a:off x="4805906" y="-152759"/>
            <a:ext cx="2580188" cy="9050556"/>
          </a:xfrm>
          <a:prstGeom prst="bentConnector3">
            <a:avLst>
              <a:gd name="adj1" fmla="val -1786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978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EE87-84C6-AF49-9FF9-49A6C5E8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6BFF-D468-4FE8-97EE-3D5E03040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23825"/>
            <a:ext cx="10515600" cy="1000125"/>
          </a:xfrm>
        </p:spPr>
        <p:txBody>
          <a:bodyPr/>
          <a:lstStyle/>
          <a:p>
            <a:r>
              <a:rPr lang="en-ID" dirty="0"/>
              <a:t>Application in Drilling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DC0F519-6418-721A-34AF-23BC44046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4863" y="1119239"/>
            <a:ext cx="1044892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Subsurface Uncertainty: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construction, we cannot see our "worksite" clearly. We manage geological risks using probabilistic models (P10, P50, P90).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Stakeholder Landscape: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Managing relationships with Regulators (SKK Migas), Partners, Service Companies, and Local Communities.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Cost of Inefficiency: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drilling, "Time is Money" is literal. Every hour of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NPT (Non-Productive Time)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cost thousands of dollars.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Risk-Based Decision Making: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7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Gates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the project only proceeds if it remains safe and economically viable</a:t>
            </a:r>
          </a:p>
        </p:txBody>
      </p:sp>
    </p:spTree>
    <p:extLst>
      <p:ext uri="{BB962C8B-B14F-4D97-AF65-F5344CB8AC3E}">
        <p14:creationId xmlns:p14="http://schemas.microsoft.com/office/powerpoint/2010/main" val="3171691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62CC-4513-BD2E-20B1-00D15FB5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BC50-5101-B400-E19B-5B5AFD76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Project Management Team</a:t>
            </a:r>
            <a:endParaRPr lang="en-ID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C04338-4B28-64B7-B225-A23712780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52810"/>
              </p:ext>
            </p:extLst>
          </p:nvPr>
        </p:nvGraphicFramePr>
        <p:xfrm>
          <a:off x="369570" y="1104899"/>
          <a:ext cx="11452860" cy="4949060"/>
        </p:xfrm>
        <a:graphic>
          <a:graphicData uri="http://schemas.openxmlformats.org/drawingml/2006/table">
            <a:tbl>
              <a:tblPr/>
              <a:tblGrid>
                <a:gridCol w="2921310">
                  <a:extLst>
                    <a:ext uri="{9D8B030D-6E8A-4147-A177-3AD203B41FA5}">
                      <a16:colId xmlns:a16="http://schemas.microsoft.com/office/drawing/2014/main" val="3627095266"/>
                    </a:ext>
                  </a:extLst>
                </a:gridCol>
                <a:gridCol w="8531550">
                  <a:extLst>
                    <a:ext uri="{9D8B030D-6E8A-4147-A177-3AD203B41FA5}">
                      <a16:colId xmlns:a16="http://schemas.microsoft.com/office/drawing/2014/main" val="3674157702"/>
                    </a:ext>
                  </a:extLst>
                </a:gridCol>
              </a:tblGrid>
              <a:tr h="54255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Main Responsibility 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97349"/>
                  </a:ext>
                </a:extLst>
              </a:tr>
              <a:tr h="807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/>
                        <a:t>Project Manager (PM)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Document Integrity, </a:t>
                      </a:r>
                      <a:r>
                        <a:rPr lang="en-US" sz="1800" b="0" i="1" dirty="0"/>
                        <a:t>Decision Tree</a:t>
                      </a:r>
                      <a:r>
                        <a:rPr lang="en-US" sz="1800" b="0" dirty="0"/>
                        <a:t>, Team Coordination, Milestone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83508"/>
                  </a:ext>
                </a:extLst>
              </a:tr>
              <a:tr h="49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/>
                        <a:t>Subsurface Specialist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G&amp;G Analysis, Coordinate Target, PPFG profiles, Offset Well Data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78507"/>
                  </a:ext>
                </a:extLst>
              </a:tr>
              <a:tr h="807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/>
                        <a:t>Drilling Design Engineer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Well Architecture Design, Rig Selection, Trajectory design, Drilling Program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248912"/>
                  </a:ext>
                </a:extLst>
              </a:tr>
              <a:tr h="807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/>
                        <a:t>Risk &amp; HSE Engineer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Hazard Identification, Risk Matrix, Contingency/Emergency Plan, HSE Bridging 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06497"/>
                  </a:ext>
                </a:extLst>
              </a:tr>
              <a:tr h="807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/>
                        <a:t>Project Contract &amp; Economist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Cost Estimation (</a:t>
                      </a:r>
                      <a:r>
                        <a:rPr lang="en-US" sz="1800" b="0" i="1"/>
                        <a:t>Dry Hole vs Complete</a:t>
                      </a:r>
                      <a:r>
                        <a:rPr lang="en-US" sz="1800" b="0"/>
                        <a:t>), </a:t>
                      </a:r>
                      <a:r>
                        <a:rPr lang="en-US" sz="1800" b="0" i="1"/>
                        <a:t>Spread Rate</a:t>
                      </a:r>
                      <a:r>
                        <a:rPr lang="en-US" sz="1800" b="0"/>
                        <a:t> calculation, Final AFE Cost, Invoice Reconciliation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927934"/>
                  </a:ext>
                </a:extLst>
              </a:tr>
              <a:tr h="683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/>
                        <a:t>Logistic Coordinator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Material Tracking (LLI), Rig Move Logistics, Personnel &amp; Equipment Mobilization, Vendor Supply Chain Alignment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644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74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27E1-3EFF-FCFA-E6BC-75E8D364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BD58-D56C-C6A3-D8D1-4B93D1631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350"/>
            <a:ext cx="9144000" cy="2387600"/>
          </a:xfrm>
        </p:spPr>
        <p:txBody>
          <a:bodyPr anchor="ctr">
            <a:noAutofit/>
          </a:bodyPr>
          <a:lstStyle/>
          <a:p>
            <a:r>
              <a:rPr lang="en-US" sz="6600" b="1" dirty="0">
                <a:latin typeface="+mn-lt"/>
              </a:rPr>
              <a:t>Break – 10 minutes</a:t>
            </a:r>
            <a:endParaRPr lang="en-ID" sz="6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188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32B1-2AF3-2A83-846F-AC2A3F4E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E370-D4FE-C635-FC92-5C360E888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350"/>
            <a:ext cx="9144000" cy="2387600"/>
          </a:xfrm>
        </p:spPr>
        <p:txBody>
          <a:bodyPr anchor="ctr">
            <a:noAutofit/>
          </a:bodyPr>
          <a:lstStyle/>
          <a:p>
            <a:r>
              <a:rPr lang="en-US" sz="6600" b="1" dirty="0">
                <a:latin typeface="+mn-lt"/>
              </a:rPr>
              <a:t>PROJECT INITIATION</a:t>
            </a:r>
            <a:endParaRPr lang="en-ID" sz="6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7414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E152-856C-D84B-48A4-5C372DD2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4714-1B55-9F3C-2349-9EB845B2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Project Initiation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E91F8-4A39-135B-9B43-2048F5180B76}"/>
              </a:ext>
            </a:extLst>
          </p:cNvPr>
          <p:cNvSpPr txBox="1"/>
          <p:nvPr/>
        </p:nvSpPr>
        <p:spPr>
          <a:xfrm>
            <a:off x="390525" y="1314450"/>
            <a:ext cx="11410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Laying the Strategic and Economic Foundation for Advance Drilling Operations and Value Creation</a:t>
            </a:r>
          </a:p>
          <a:p>
            <a:endParaRPr lang="en-US" sz="4800" dirty="0"/>
          </a:p>
          <a:p>
            <a:r>
              <a:rPr lang="en-US" sz="4800" dirty="0"/>
              <a:t>Establish the “Why” and “How” Before the first bit touches the ground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3007267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75BEF-9405-D273-8D7A-500B54BE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F571-6388-DBB4-FC27-E7F5A8F36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Core Objectives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9F666-8035-82F1-C25D-8758FD57907F}"/>
              </a:ext>
            </a:extLst>
          </p:cNvPr>
          <p:cNvSpPr txBox="1"/>
          <p:nvPr/>
        </p:nvSpPr>
        <p:spPr>
          <a:xfrm>
            <a:off x="280989" y="1184265"/>
            <a:ext cx="77057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buFont typeface="Arial" panose="020B0604020202020204" pitchFamily="34" charset="0"/>
              <a:buChar char="•"/>
            </a:pPr>
            <a:r>
              <a:rPr lang="en-US" sz="3200" b="1" dirty="0"/>
              <a:t>Technical Feasibility: </a:t>
            </a:r>
            <a:r>
              <a:rPr lang="en-US" sz="3200" dirty="0"/>
              <a:t>Validating if the geological target can be safely reached with current technology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en-US" sz="3200" b="1" dirty="0"/>
              <a:t>Economic Viability: </a:t>
            </a:r>
            <a:r>
              <a:rPr lang="en-US" sz="3200" dirty="0"/>
              <a:t>Ensuring the cost of drilling justifies the potential hydrocarbon recovery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en-ID" sz="3200" b="1" dirty="0"/>
              <a:t>Strategic Alignment: </a:t>
            </a:r>
            <a:r>
              <a:rPr lang="en-ID" sz="3200" dirty="0"/>
              <a:t>Confirming the project fits into the company’s long-term energy portfolio</a:t>
            </a:r>
          </a:p>
        </p:txBody>
      </p:sp>
      <p:pic>
        <p:nvPicPr>
          <p:cNvPr id="4098" name="Picture 2" descr="Oil Rig Sunset Images – Browse 71,983 Stock Photos, Vectors, and Video |  Adobe Stock">
            <a:extLst>
              <a:ext uri="{FF2B5EF4-FFF2-40B4-BE49-F238E27FC236}">
                <a16:creationId xmlns:a16="http://schemas.microsoft.com/office/drawing/2014/main" id="{7CAC7C71-6FB3-D38E-31FC-17BA0FF486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4" r="50000"/>
          <a:stretch>
            <a:fillRect/>
          </a:stretch>
        </p:blipFill>
        <p:spPr bwMode="auto">
          <a:xfrm>
            <a:off x="8058150" y="333375"/>
            <a:ext cx="3590925" cy="545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448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5720-7E22-DF11-E2F9-5241D00E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5829A-8BDE-AED2-0792-8330DA71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Defining Project Scope</a:t>
            </a:r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0C6A2E-A87A-492A-C417-754A34197657}"/>
              </a:ext>
            </a:extLst>
          </p:cNvPr>
          <p:cNvSpPr/>
          <p:nvPr/>
        </p:nvSpPr>
        <p:spPr>
          <a:xfrm>
            <a:off x="6362700" y="1195387"/>
            <a:ext cx="5553076" cy="446722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/>
              <a:t>Major Deliverables</a:t>
            </a:r>
          </a:p>
          <a:p>
            <a:pPr algn="ctr"/>
            <a:endParaRPr lang="en-US" sz="2800" dirty="0"/>
          </a:p>
          <a:p>
            <a:r>
              <a:rPr lang="en-US" sz="2800" dirty="0"/>
              <a:t>Defining the “End State” of the project: Data Sets (Logging/Coring), Well Test result, and the final status (Producer or P&amp;A)</a:t>
            </a:r>
            <a:endParaRPr lang="en-ID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B819FC-E6E8-EB35-C9E8-DDDF72C7EE45}"/>
              </a:ext>
            </a:extLst>
          </p:cNvPr>
          <p:cNvSpPr/>
          <p:nvPr/>
        </p:nvSpPr>
        <p:spPr>
          <a:xfrm>
            <a:off x="276225" y="1195387"/>
            <a:ext cx="5553076" cy="446722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/>
              <a:t>Technical Boundaries</a:t>
            </a:r>
          </a:p>
          <a:p>
            <a:endParaRPr lang="en-US" sz="2800" dirty="0"/>
          </a:p>
          <a:p>
            <a:r>
              <a:rPr lang="en-US" sz="2800" dirty="0"/>
              <a:t>Establishing precise surface and subsurface coordinates, target formations, and depth parameters (TVD/MD) to prevent scope creep during planning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3080162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861E-34DC-EBAB-1357-969B86F7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4D07-0090-7CC0-160C-4B572DC9E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Macro Risk Assessment</a:t>
            </a:r>
            <a:endParaRPr lang="en-ID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D85E36-52F0-0942-F62C-A8C9687031FE}"/>
              </a:ext>
            </a:extLst>
          </p:cNvPr>
          <p:cNvSpPr/>
          <p:nvPr/>
        </p:nvSpPr>
        <p:spPr>
          <a:xfrm>
            <a:off x="276225" y="2743200"/>
            <a:ext cx="3676650" cy="291941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Subsurface</a:t>
            </a:r>
          </a:p>
          <a:p>
            <a:endParaRPr lang="en-US" sz="2000" dirty="0"/>
          </a:p>
          <a:p>
            <a:r>
              <a:rPr lang="en-US" sz="2000" dirty="0"/>
              <a:t>Assessing geological uncertainties like pressure anomalies, faulting, and hazardous gas zones</a:t>
            </a:r>
            <a:endParaRPr lang="en-ID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8E2FF6-C3A9-7A39-5EB6-4F8232C5F270}"/>
              </a:ext>
            </a:extLst>
          </p:cNvPr>
          <p:cNvSpPr/>
          <p:nvPr/>
        </p:nvSpPr>
        <p:spPr>
          <a:xfrm>
            <a:off x="4257675" y="2743200"/>
            <a:ext cx="3676650" cy="291941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Operational</a:t>
            </a:r>
          </a:p>
          <a:p>
            <a:endParaRPr lang="en-US" sz="2000" dirty="0"/>
          </a:p>
          <a:p>
            <a:r>
              <a:rPr lang="en-US" sz="2000" dirty="0"/>
              <a:t>Evaluating Rig availability, Lead times material, and logistical accessibility to remote sites</a:t>
            </a:r>
            <a:endParaRPr lang="en-ID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B87A0B-D132-7FFA-7715-14DA8ED60347}"/>
              </a:ext>
            </a:extLst>
          </p:cNvPr>
          <p:cNvSpPr/>
          <p:nvPr/>
        </p:nvSpPr>
        <p:spPr>
          <a:xfrm>
            <a:off x="8239125" y="2743199"/>
            <a:ext cx="3676650" cy="29194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/>
              <a:t>Regulatory</a:t>
            </a:r>
          </a:p>
          <a:p>
            <a:endParaRPr lang="en-US" sz="2000" dirty="0"/>
          </a:p>
          <a:p>
            <a:r>
              <a:rPr lang="en-US" sz="2000" dirty="0"/>
              <a:t>Ensuring compliance with SKK Migas permits, environmental licenses, and social impact requirements</a:t>
            </a:r>
            <a:endParaRPr lang="en-ID" sz="2000" dirty="0"/>
          </a:p>
        </p:txBody>
      </p:sp>
      <p:pic>
        <p:nvPicPr>
          <p:cNvPr id="5122" name="Picture 2" descr="85,391 Operations Logo Royalty-Free Images, Stock Photos &amp; Pictures |  Shutterstock">
            <a:extLst>
              <a:ext uri="{FF2B5EF4-FFF2-40B4-BE49-F238E27FC236}">
                <a16:creationId xmlns:a16="http://schemas.microsoft.com/office/drawing/2014/main" id="{8468304D-D5EB-183D-6707-30625E88E9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8" b="23213"/>
          <a:stretch>
            <a:fillRect/>
          </a:stretch>
        </p:blipFill>
        <p:spPr bwMode="auto">
          <a:xfrm>
            <a:off x="4857750" y="962025"/>
            <a:ext cx="24765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Oil And Gas Logo Vector Art, Icons, and Graphics for Free Download">
            <a:extLst>
              <a:ext uri="{FF2B5EF4-FFF2-40B4-BE49-F238E27FC236}">
                <a16:creationId xmlns:a16="http://schemas.microsoft.com/office/drawing/2014/main" id="{E5B8CEAD-ADAB-0060-A9A9-846DDAFA4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7" t="17714" r="31715" b="34286"/>
          <a:stretch>
            <a:fillRect/>
          </a:stretch>
        </p:blipFill>
        <p:spPr bwMode="auto">
          <a:xfrm>
            <a:off x="1490662" y="981075"/>
            <a:ext cx="12477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Vektor Stok This Icon Logo Compliance Regulation Icon (Tanpa Royalti)  2431039347 | Shutterstock">
            <a:extLst>
              <a:ext uri="{FF2B5EF4-FFF2-40B4-BE49-F238E27FC236}">
                <a16:creationId xmlns:a16="http://schemas.microsoft.com/office/drawing/2014/main" id="{84216DD5-92F4-E00F-9113-502D80C7D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2"/>
          <a:stretch>
            <a:fillRect/>
          </a:stretch>
        </p:blipFill>
        <p:spPr bwMode="auto">
          <a:xfrm>
            <a:off x="9291638" y="1004233"/>
            <a:ext cx="1576386" cy="159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92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B73FF-9A75-C7D8-2E3E-A51A6CB7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E300-28BF-A0DB-E673-61F32034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Financial Target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E9E26-A150-EC75-08A7-841AB4B06B7A}"/>
              </a:ext>
            </a:extLst>
          </p:cNvPr>
          <p:cNvSpPr txBox="1"/>
          <p:nvPr/>
        </p:nvSpPr>
        <p:spPr>
          <a:xfrm>
            <a:off x="1144882" y="1905000"/>
            <a:ext cx="4447050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/>
              <a:t>25%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Target IRR</a:t>
            </a:r>
            <a:endParaRPr lang="en-ID" sz="2800" dirty="0">
              <a:solidFill>
                <a:srgbClr val="FF0000"/>
              </a:solidFill>
            </a:endParaRPr>
          </a:p>
        </p:txBody>
      </p:sp>
      <p:pic>
        <p:nvPicPr>
          <p:cNvPr id="6146" name="Picture 2" descr="Nilai Sekarang Bersih (NPV): Apa yang Harus Anda Ketahui - PropertyMetrics">
            <a:extLst>
              <a:ext uri="{FF2B5EF4-FFF2-40B4-BE49-F238E27FC236}">
                <a16:creationId xmlns:a16="http://schemas.microsoft.com/office/drawing/2014/main" id="{F57E604F-6F70-6F42-D23C-0547E0408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1" y="3133725"/>
            <a:ext cx="4362450" cy="265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22EF17-8E42-20F1-9B2E-FB191D92BFBF}"/>
              </a:ext>
            </a:extLst>
          </p:cNvPr>
          <p:cNvSpPr txBox="1"/>
          <p:nvPr/>
        </p:nvSpPr>
        <p:spPr>
          <a:xfrm>
            <a:off x="6062663" y="1073052"/>
            <a:ext cx="5800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Investment Threshold</a:t>
            </a:r>
          </a:p>
          <a:p>
            <a:endParaRPr lang="en-US" sz="2000" dirty="0"/>
          </a:p>
          <a:p>
            <a:r>
              <a:rPr lang="en-US" sz="2000" dirty="0"/>
              <a:t>A Project must exceed the Weighted Average Cost of Capital (WACC).Initiation focuses on high-level NPV modeling and Payback Period Estimation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623505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EE02-B87A-B415-70AD-1C23C1230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F8C5-57DA-05C3-B4FC-289BC97A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Resource Probability Matrix</a:t>
            </a:r>
            <a:endParaRPr lang="en-ID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D72009-E6B8-C852-189C-A7E4E5648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490397"/>
              </p:ext>
            </p:extLst>
          </p:nvPr>
        </p:nvGraphicFramePr>
        <p:xfrm>
          <a:off x="323850" y="1224491"/>
          <a:ext cx="11506200" cy="3779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2698784630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47916734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3313296894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1510540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Confidence Level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Metric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Est. Reserves </a:t>
                      </a:r>
                    </a:p>
                    <a:p>
                      <a:pPr algn="ctr"/>
                      <a:r>
                        <a:rPr lang="en-US" sz="2800" dirty="0"/>
                        <a:t>(MMBOE)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Cost-Reward Ratio</a:t>
                      </a:r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65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P90 (Proven)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Conservative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1.2-1.5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Low Risk / High Stability</a:t>
                      </a:r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0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P50 (Probable)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Base Case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2.8-3.2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Optimal Strategic Target</a:t>
                      </a:r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7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P10 (Possible)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Upside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5.5-7.0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 Reward / Exploratory</a:t>
                      </a:r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74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999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FE66-8713-5ED5-F7FB-97F0EC36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2844-C580-1DCF-E546-86137055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Drilling Proposal</a:t>
            </a:r>
            <a:endParaRPr lang="en-ID" dirty="0"/>
          </a:p>
        </p:txBody>
      </p:sp>
      <p:pic>
        <p:nvPicPr>
          <p:cNvPr id="7170" name="Picture 2" descr="Oil Drilling Well Project Proposal | Google Slides &amp; PPT">
            <a:extLst>
              <a:ext uri="{FF2B5EF4-FFF2-40B4-BE49-F238E27FC236}">
                <a16:creationId xmlns:a16="http://schemas.microsoft.com/office/drawing/2014/main" id="{BEDB6AFB-ABDE-686E-75A2-A1551ACC10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2" r="23905"/>
          <a:stretch>
            <a:fillRect/>
          </a:stretch>
        </p:blipFill>
        <p:spPr bwMode="auto">
          <a:xfrm>
            <a:off x="6096000" y="1181100"/>
            <a:ext cx="5605153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FE2490-364A-7E0E-8D00-D1A499356FFD}"/>
              </a:ext>
            </a:extLst>
          </p:cNvPr>
          <p:cNvSpPr txBox="1"/>
          <p:nvPr/>
        </p:nvSpPr>
        <p:spPr>
          <a:xfrm>
            <a:off x="342901" y="1181100"/>
            <a:ext cx="56864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definitive outcome of Phase-1. It synthesizes all technical and commercial findings into a single business case for executive management.</a:t>
            </a:r>
          </a:p>
          <a:p>
            <a:endParaRPr lang="en-US" sz="3200" dirty="0"/>
          </a:p>
          <a:p>
            <a:r>
              <a:rPr lang="en-US" sz="3200" b="1" dirty="0"/>
              <a:t>Goal: </a:t>
            </a:r>
            <a:r>
              <a:rPr lang="en-US" sz="3200" dirty="0"/>
              <a:t>Secure the initial AFE mandate and move into Phase-2 Planning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352552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99B5-3A95-AB66-729D-839177C10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F66D-D5A9-5500-FB08-C70BDC81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Initiation Workflow</a:t>
            </a:r>
            <a:endParaRPr lang="en-ID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5E60C7-0576-51FC-2490-9D1C3319A6ED}"/>
              </a:ext>
            </a:extLst>
          </p:cNvPr>
          <p:cNvSpPr/>
          <p:nvPr/>
        </p:nvSpPr>
        <p:spPr>
          <a:xfrm>
            <a:off x="476250" y="2743198"/>
            <a:ext cx="1762125" cy="18002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Business Case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Identifying the Opportunities or Requirement</a:t>
            </a:r>
            <a:endParaRPr lang="en-ID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3F9C4F-F2F0-18B2-BDA8-9BA20EDE16DF}"/>
              </a:ext>
            </a:extLst>
          </p:cNvPr>
          <p:cNvSpPr/>
          <p:nvPr/>
        </p:nvSpPr>
        <p:spPr>
          <a:xfrm>
            <a:off x="3548062" y="2743197"/>
            <a:ext cx="1762125" cy="18002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Feasibility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Technical &amp; Geological validation study</a:t>
            </a:r>
            <a:endParaRPr lang="en-ID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7C2334-68D8-1741-C4C1-EE16DD3446B8}"/>
              </a:ext>
            </a:extLst>
          </p:cNvPr>
          <p:cNvSpPr/>
          <p:nvPr/>
        </p:nvSpPr>
        <p:spPr>
          <a:xfrm>
            <a:off x="6750843" y="2743197"/>
            <a:ext cx="1762125" cy="18002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Economics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Initial AFE estimation and valuation</a:t>
            </a:r>
            <a:endParaRPr lang="en-ID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1D1A0C-30DF-83BB-4F5E-98B6402D5281}"/>
              </a:ext>
            </a:extLst>
          </p:cNvPr>
          <p:cNvSpPr/>
          <p:nvPr/>
        </p:nvSpPr>
        <p:spPr>
          <a:xfrm>
            <a:off x="9953625" y="2743198"/>
            <a:ext cx="1762125" cy="18002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Approval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Decision Gate 1 </a:t>
            </a:r>
          </a:p>
          <a:p>
            <a:pPr algn="ctr"/>
            <a:r>
              <a:rPr lang="en-US" dirty="0"/>
              <a:t>Presentation to Board</a:t>
            </a:r>
            <a:endParaRPr lang="en-ID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B93371B-A44D-15BC-3CA9-E82C35F19B18}"/>
              </a:ext>
            </a:extLst>
          </p:cNvPr>
          <p:cNvSpPr/>
          <p:nvPr/>
        </p:nvSpPr>
        <p:spPr>
          <a:xfrm>
            <a:off x="2525315" y="3400993"/>
            <a:ext cx="735806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79FB2BD-A3D1-163C-9498-CBD679013B71}"/>
              </a:ext>
            </a:extLst>
          </p:cNvPr>
          <p:cNvSpPr/>
          <p:nvPr/>
        </p:nvSpPr>
        <p:spPr>
          <a:xfrm>
            <a:off x="5661423" y="3400993"/>
            <a:ext cx="735806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54D9B67-4DB6-01E3-BEFD-69935FB90BD4}"/>
              </a:ext>
            </a:extLst>
          </p:cNvPr>
          <p:cNvSpPr/>
          <p:nvPr/>
        </p:nvSpPr>
        <p:spPr>
          <a:xfrm>
            <a:off x="8865393" y="3400993"/>
            <a:ext cx="735806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5172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9929-4B56-3149-26F3-0E893F9E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BEE8-236A-6BA8-822C-744FA0240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Key Subsurface Inputs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C1BF0-DD4A-57B0-4069-7B1EBF535834}"/>
              </a:ext>
            </a:extLst>
          </p:cNvPr>
          <p:cNvSpPr txBox="1"/>
          <p:nvPr/>
        </p:nvSpPr>
        <p:spPr>
          <a:xfrm>
            <a:off x="771526" y="5055274"/>
            <a:ext cx="2992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Seismic Interpretation</a:t>
            </a:r>
            <a:endParaRPr lang="en-ID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BEE5D-F848-6979-28C3-F0FF1F692668}"/>
              </a:ext>
            </a:extLst>
          </p:cNvPr>
          <p:cNvSpPr txBox="1"/>
          <p:nvPr/>
        </p:nvSpPr>
        <p:spPr>
          <a:xfrm>
            <a:off x="4843273" y="5055274"/>
            <a:ext cx="347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Pore Pressure Prediction</a:t>
            </a:r>
            <a:endParaRPr lang="en-ID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95E05-CEE7-6CE8-8F3C-FD44A2249FBB}"/>
              </a:ext>
            </a:extLst>
          </p:cNvPr>
          <p:cNvSpPr txBox="1"/>
          <p:nvPr/>
        </p:nvSpPr>
        <p:spPr>
          <a:xfrm>
            <a:off x="9076025" y="5055274"/>
            <a:ext cx="284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Offset Well Analysis</a:t>
            </a:r>
            <a:endParaRPr lang="en-ID" sz="1800" b="1" dirty="0"/>
          </a:p>
        </p:txBody>
      </p:sp>
      <p:pic>
        <p:nvPicPr>
          <p:cNvPr id="1026" name="Picture 2" descr="1. Uninterpreted and interpreted seismic section (from a 3D volume). In...  | Download Scientific Diagram">
            <a:extLst>
              <a:ext uri="{FF2B5EF4-FFF2-40B4-BE49-F238E27FC236}">
                <a16:creationId xmlns:a16="http://schemas.microsoft.com/office/drawing/2014/main" id="{38BB125A-B747-53B9-338D-F9CEB10AF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70" y="1433393"/>
            <a:ext cx="3978056" cy="363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chlog Pore Pressure Prediction | SLB">
            <a:extLst>
              <a:ext uri="{FF2B5EF4-FFF2-40B4-BE49-F238E27FC236}">
                <a16:creationId xmlns:a16="http://schemas.microsoft.com/office/drawing/2014/main" id="{F534D831-6D3C-5302-950B-0CA019C0F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123" y="1883870"/>
            <a:ext cx="3783487" cy="309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rrelation of offset wells. | Download Scientific Diagram">
            <a:extLst>
              <a:ext uri="{FF2B5EF4-FFF2-40B4-BE49-F238E27FC236}">
                <a16:creationId xmlns:a16="http://schemas.microsoft.com/office/drawing/2014/main" id="{03D069C8-9DD8-17AA-93D9-C69B65BA3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606" y="1801058"/>
            <a:ext cx="3930251" cy="317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052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87FA-7C82-AB02-612A-59A3437D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1816-326E-353E-8460-242C0C2E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Decision Gate 1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EE54C-14D3-89C6-97CF-A06D69177367}"/>
              </a:ext>
            </a:extLst>
          </p:cNvPr>
          <p:cNvSpPr txBox="1"/>
          <p:nvPr/>
        </p:nvSpPr>
        <p:spPr>
          <a:xfrm>
            <a:off x="398144" y="2038350"/>
            <a:ext cx="113957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The “GO” or “NO-GO” Moment</a:t>
            </a:r>
          </a:p>
          <a:p>
            <a:pPr algn="ctr"/>
            <a:endParaRPr lang="en-US" sz="4800" b="1" dirty="0"/>
          </a:p>
          <a:p>
            <a:pPr algn="ctr"/>
            <a:r>
              <a:rPr lang="en-US" sz="4800" b="1" dirty="0"/>
              <a:t>Moving from Strategic Concept to Detailed Engineering</a:t>
            </a:r>
            <a:endParaRPr lang="en-ID" sz="4800" b="1" dirty="0"/>
          </a:p>
        </p:txBody>
      </p:sp>
    </p:spTree>
    <p:extLst>
      <p:ext uri="{BB962C8B-B14F-4D97-AF65-F5344CB8AC3E}">
        <p14:creationId xmlns:p14="http://schemas.microsoft.com/office/powerpoint/2010/main" val="3030160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3DA9-A196-0D61-79F4-FE235AA3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8756-7994-E51F-0907-3B904A99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Q&amp;A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01A0E-7714-B51F-2863-BAD6CD550EAD}"/>
              </a:ext>
            </a:extLst>
          </p:cNvPr>
          <p:cNvSpPr txBox="1"/>
          <p:nvPr/>
        </p:nvSpPr>
        <p:spPr>
          <a:xfrm>
            <a:off x="5157281" y="2228671"/>
            <a:ext cx="1877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/>
              <a:t>???</a:t>
            </a:r>
            <a:endParaRPr lang="en-ID" sz="7200" b="1" dirty="0"/>
          </a:p>
        </p:txBody>
      </p:sp>
    </p:spTree>
    <p:extLst>
      <p:ext uri="{BB962C8B-B14F-4D97-AF65-F5344CB8AC3E}">
        <p14:creationId xmlns:p14="http://schemas.microsoft.com/office/powerpoint/2010/main" val="39527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CCB0-D0F8-26D8-9A06-3657B093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9F0D-4A39-5342-E189-5B85FE79B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350"/>
            <a:ext cx="9144000" cy="2387600"/>
          </a:xfrm>
        </p:spPr>
        <p:txBody>
          <a:bodyPr anchor="ctr">
            <a:noAutofit/>
          </a:bodyPr>
          <a:lstStyle/>
          <a:p>
            <a:r>
              <a:rPr lang="en-US" sz="6600" b="1" dirty="0">
                <a:latin typeface="+mn-lt"/>
              </a:rPr>
              <a:t>PROJECT ASSIGNMENT</a:t>
            </a:r>
            <a:endParaRPr lang="en-ID" sz="6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5559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9721-AF09-2D8B-4D77-180CA68C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D3F7-1F1F-B4AB-A98C-E0852DC9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Project Assignment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01B0F-665C-DA8F-601A-B4E603597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253330"/>
            <a:ext cx="10681334" cy="4793139"/>
          </a:xfrm>
        </p:spPr>
        <p:txBody>
          <a:bodyPr>
            <a:noAutofit/>
          </a:bodyPr>
          <a:lstStyle/>
          <a:p>
            <a:pPr marL="266700" indent="-266700"/>
            <a:r>
              <a:rPr lang="en-US" sz="4000" b="1" dirty="0"/>
              <a:t>Phase-1 Drilling Proposal </a:t>
            </a:r>
          </a:p>
          <a:p>
            <a:pPr marL="0" indent="0">
              <a:buNone/>
            </a:pPr>
            <a:r>
              <a:rPr lang="en-US" sz="4000" b="1" dirty="0">
                <a:sym typeface="Wingdings" panose="05000000000000000000" pitchFamily="2" charset="2"/>
              </a:rPr>
              <a:t>	 Project Approval </a:t>
            </a:r>
            <a:endParaRPr lang="en-US" sz="4000" b="1" dirty="0"/>
          </a:p>
          <a:p>
            <a:pPr marL="266700" indent="-266700"/>
            <a:r>
              <a:rPr lang="en-US" sz="4000" dirty="0"/>
              <a:t>Phase-2 Basis of Design </a:t>
            </a:r>
          </a:p>
          <a:p>
            <a:pPr marL="0" indent="0">
              <a:buNone/>
            </a:pPr>
            <a:r>
              <a:rPr lang="en-US" sz="4000" dirty="0">
                <a:sym typeface="Wingdings" panose="05000000000000000000" pitchFamily="2" charset="2"/>
              </a:rPr>
              <a:t>	 Peer Review</a:t>
            </a:r>
            <a:r>
              <a:rPr lang="en-US" sz="4000" dirty="0"/>
              <a:t> </a:t>
            </a:r>
          </a:p>
          <a:p>
            <a:pPr marL="266700" indent="-266700"/>
            <a:r>
              <a:rPr lang="en-US" sz="4000" dirty="0"/>
              <a:t>Phase-3 Drilling Program </a:t>
            </a:r>
          </a:p>
          <a:p>
            <a:pPr marL="0" indent="0">
              <a:buNone/>
            </a:pPr>
            <a:r>
              <a:rPr lang="en-US" sz="4000" dirty="0">
                <a:sym typeface="Wingdings" panose="05000000000000000000" pitchFamily="2" charset="2"/>
              </a:rPr>
              <a:t>	 DWOP (Drilling Well on Paper)</a:t>
            </a:r>
            <a:endParaRPr lang="en-US" sz="4000" dirty="0"/>
          </a:p>
          <a:p>
            <a:pPr marL="266700" indent="-266700"/>
            <a:r>
              <a:rPr lang="en-US" sz="4000" dirty="0"/>
              <a:t>Phase-4 N/A</a:t>
            </a:r>
          </a:p>
        </p:txBody>
      </p:sp>
    </p:spTree>
    <p:extLst>
      <p:ext uri="{BB962C8B-B14F-4D97-AF65-F5344CB8AC3E}">
        <p14:creationId xmlns:p14="http://schemas.microsoft.com/office/powerpoint/2010/main" val="2020410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627D-E157-3E34-5798-52BC7B7A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6CC3-B728-2BF1-5E80-70A78C4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PMT Contribution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C283-BF79-98C6-C00D-C9E5065A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253330"/>
            <a:ext cx="10681334" cy="413847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300" b="1" dirty="0"/>
              <a:t>1. Subsurface Specialist</a:t>
            </a:r>
          </a:p>
          <a:p>
            <a:pPr marL="114300" indent="0">
              <a:buNone/>
            </a:pPr>
            <a:r>
              <a:rPr lang="en-US" sz="2300" dirty="0"/>
              <a:t>This role focuses on validating the subsurface targets to ensure the project has a clear and justified objective.</a:t>
            </a:r>
          </a:p>
          <a:p>
            <a:pPr marL="114300" indent="0">
              <a:buNone/>
            </a:pPr>
            <a:r>
              <a:rPr lang="en-US" sz="2300" b="1" dirty="0"/>
              <a:t>Objective &amp; Feasibility Study Inputs:</a:t>
            </a:r>
          </a:p>
          <a:p>
            <a:pPr marL="361950" lvl="1"/>
            <a:r>
              <a:rPr lang="en-US" sz="2300" dirty="0"/>
              <a:t>Geological Targets &amp; Rationale: Defines the exact subsurface target coordinates and provides the geological justification (why this specific reservoir structure holds commercial value).</a:t>
            </a:r>
          </a:p>
          <a:p>
            <a:pPr marL="342900" lvl="1"/>
            <a:r>
              <a:rPr lang="en-US" sz="2300" dirty="0"/>
              <a:t>Preliminary PPFG Profile: Delivers the initial Pore Pressure &amp; Fracture Gradient model. This is the ultimate baseline; if this data is flawed, every engineering design and cost estimate that follows will be wrong.</a:t>
            </a:r>
          </a:p>
        </p:txBody>
      </p:sp>
    </p:spTree>
    <p:extLst>
      <p:ext uri="{BB962C8B-B14F-4D97-AF65-F5344CB8AC3E}">
        <p14:creationId xmlns:p14="http://schemas.microsoft.com/office/powerpoint/2010/main" val="2221475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A04A-4569-9D42-0906-F268CF94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2E4D-91D4-A246-3FF2-6300AEEFA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PMT Contribution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FA622-75A8-07A1-98F9-EEBAF2394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253330"/>
            <a:ext cx="10681334" cy="479313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300" b="1" dirty="0"/>
              <a:t>2. Drilling Design Engineer</a:t>
            </a:r>
          </a:p>
          <a:p>
            <a:pPr marL="114300" indent="0">
              <a:buNone/>
            </a:pPr>
            <a:r>
              <a:rPr lang="en-US" sz="2300" dirty="0"/>
              <a:t>This role is responsible for translating geological data into a technically safe and executable well construction concept.</a:t>
            </a:r>
          </a:p>
          <a:p>
            <a:pPr marL="114300" indent="0">
              <a:buNone/>
            </a:pPr>
            <a:r>
              <a:rPr lang="en-US" sz="2300" b="1" dirty="0"/>
              <a:t>Feasibility Study Inputs:</a:t>
            </a:r>
          </a:p>
          <a:p>
            <a:pPr marL="342900" lvl="1"/>
            <a:r>
              <a:rPr lang="en-US" sz="2300" dirty="0"/>
              <a:t>Conceptual Well Architecture: Translates the Subsurface data into an initial well schematic, defining preliminary casing setting depths and hole sizes.</a:t>
            </a:r>
          </a:p>
          <a:p>
            <a:pPr marL="342900" lvl="1"/>
            <a:r>
              <a:rPr lang="en-US" sz="2300" dirty="0"/>
              <a:t>Rig Capability Specification: Specifies the minimum rig rating and equipment capacities (hoisting, pump pressure, BOP configuration) required to safely drill the well.</a:t>
            </a:r>
          </a:p>
          <a:p>
            <a:pPr marL="342900" lvl="1"/>
            <a:r>
              <a:rPr lang="en-US" sz="2300" dirty="0"/>
              <a:t>Technical Feasibility Validation: Proves mathematically that the well can be successfully drilled to the Target Depth (TD) under the expected subsurface conditions.</a:t>
            </a:r>
          </a:p>
        </p:txBody>
      </p:sp>
    </p:spTree>
    <p:extLst>
      <p:ext uri="{BB962C8B-B14F-4D97-AF65-F5344CB8AC3E}">
        <p14:creationId xmlns:p14="http://schemas.microsoft.com/office/powerpoint/2010/main" val="539106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4272-AB59-6CDE-AE75-70D2B4AC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5B8F7-FFB3-21DE-80BB-1A70AF7E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PMT Contribution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F6EF2-E397-C0BC-0761-73F0C3A6C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032430"/>
            <a:ext cx="10681334" cy="511612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b="1" dirty="0"/>
              <a:t>3. Logistic Coordinator</a:t>
            </a:r>
          </a:p>
          <a:p>
            <a:pPr marL="114300" indent="0">
              <a:buNone/>
            </a:pPr>
            <a:r>
              <a:rPr lang="en-US" sz="2000" dirty="0"/>
              <a:t>This role performs a reality check on the supply chain and physical access constraints to the project location before capital is approved.</a:t>
            </a:r>
          </a:p>
          <a:p>
            <a:pPr marL="114300" indent="0">
              <a:buNone/>
            </a:pPr>
            <a:r>
              <a:rPr lang="en-US" sz="2000" b="1" dirty="0"/>
              <a:t>Feasibility Study &amp; Risk Assessment Inputs:</a:t>
            </a:r>
            <a:endParaRPr lang="en-US" sz="2000" dirty="0"/>
          </a:p>
          <a:p>
            <a:pPr marL="361950" lvl="1"/>
            <a:r>
              <a:rPr lang="en-US" sz="2000" b="1" dirty="0"/>
              <a:t>Macro-Logistics Feasibility:</a:t>
            </a:r>
            <a:r>
              <a:rPr lang="en-US" sz="2000" dirty="0"/>
              <a:t> Evaluates the physical accessibility of the location (e.g., terrain restrictions, road/bridge load capacities for heavy rig components, or swamp/offshore marine requirements).</a:t>
            </a:r>
          </a:p>
          <a:p>
            <a:pPr marL="361950" lvl="1"/>
            <a:r>
              <a:rPr lang="en-US" sz="2000" b="1" dirty="0"/>
              <a:t>Long Lead Items (LLI) Supply Chain Risks:</a:t>
            </a:r>
            <a:r>
              <a:rPr lang="en-US" sz="2000" dirty="0"/>
              <a:t> Identifies manufacturing and shipping bottlenecks for critical, high-value materials (such as wellheads or specialized casing grades) and provides the realistic Lead Time analysis.</a:t>
            </a:r>
          </a:p>
          <a:p>
            <a:pPr marL="361950" lvl="1"/>
            <a:r>
              <a:rPr lang="en-US" sz="2000" b="1" dirty="0"/>
              <a:t>Market Resource Availability:</a:t>
            </a:r>
            <a:r>
              <a:rPr lang="en-US" sz="2000" dirty="0"/>
              <a:t> Assesses whether the required rig type is physically available in the region or if it requires a costly mobilization from another country.</a:t>
            </a:r>
          </a:p>
          <a:p>
            <a:pPr marL="361950" lvl="1"/>
            <a:r>
              <a:rPr lang="en-US" sz="2000" b="1" dirty="0"/>
              <a:t>Initial Mobilization Estimates:</a:t>
            </a:r>
            <a:r>
              <a:rPr lang="en-US" sz="2000" dirty="0"/>
              <a:t> Provides the baseline cost figures for massive logistical movements (Rig mobilization/demobilization, trucking convoys, supply vessels) to be integrated into the AFE.</a:t>
            </a:r>
          </a:p>
        </p:txBody>
      </p:sp>
    </p:spTree>
    <p:extLst>
      <p:ext uri="{BB962C8B-B14F-4D97-AF65-F5344CB8AC3E}">
        <p14:creationId xmlns:p14="http://schemas.microsoft.com/office/powerpoint/2010/main" val="308194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D80C-ECCC-F34D-7781-7D4011FF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D8C3-B821-A321-290C-17DA38C0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PMT Contribution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B317-0ED2-9E29-9C0A-C583EDC0C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032430"/>
            <a:ext cx="10681334" cy="511612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300" b="1" dirty="0"/>
              <a:t>4. Risk &amp; HSE Engineer</a:t>
            </a:r>
          </a:p>
          <a:p>
            <a:pPr marL="114300" indent="0">
              <a:buNone/>
            </a:pPr>
            <a:r>
              <a:rPr lang="en-US" sz="2300" dirty="0"/>
              <a:t>This role is responsible for mapping all potential hazards and ensuring the project has a robust mitigation framework right from the start.</a:t>
            </a:r>
          </a:p>
          <a:p>
            <a:pPr marL="114300" indent="0">
              <a:buNone/>
            </a:pPr>
            <a:r>
              <a:rPr lang="en-US" sz="2300" b="1" dirty="0"/>
              <a:t>Risk Assessment Inputs:</a:t>
            </a:r>
            <a:endParaRPr lang="en-US" sz="2300" dirty="0"/>
          </a:p>
          <a:p>
            <a:pPr marL="361950" lvl="1"/>
            <a:r>
              <a:rPr lang="en-US" sz="2300" b="1" dirty="0"/>
              <a:t>High-Level Risk Register:</a:t>
            </a:r>
            <a:r>
              <a:rPr lang="en-US" sz="2300" dirty="0"/>
              <a:t> Audits historical offset well data to identify top subsurface hazards (e.g., shallow gas, severe loss zones, active fault lines) and external liabilities (environmental sensitivities, community issues, land permitting hurdles).</a:t>
            </a:r>
          </a:p>
          <a:p>
            <a:pPr marL="361950" lvl="1"/>
            <a:r>
              <a:rPr lang="en-US" sz="2300" b="1" dirty="0"/>
              <a:t>Risk Impact Matrix:</a:t>
            </a:r>
            <a:r>
              <a:rPr lang="en-US" sz="2300" dirty="0"/>
              <a:t> Establishes the probability and severity of each risk, which directly dictates the financial contingency percentage needed in the budget.</a:t>
            </a:r>
          </a:p>
          <a:p>
            <a:pPr marL="361950" lvl="1"/>
            <a:r>
              <a:rPr lang="en-US" sz="2300" b="1" dirty="0"/>
              <a:t>Initial Mitigation Strategy:</a:t>
            </a:r>
            <a:r>
              <a:rPr lang="en-US" sz="2300" dirty="0"/>
              <a:t> Outlines the broad safety boundaries and emergency response philosophies to protect the investment.</a:t>
            </a:r>
          </a:p>
        </p:txBody>
      </p:sp>
    </p:spTree>
    <p:extLst>
      <p:ext uri="{BB962C8B-B14F-4D97-AF65-F5344CB8AC3E}">
        <p14:creationId xmlns:p14="http://schemas.microsoft.com/office/powerpoint/2010/main" val="2249849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C1063-0BD5-1620-5B77-FF61C8B7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162A-4A6D-8775-579F-BBC9C526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PMT Contribution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6174-033E-6DA1-485F-740FBCA20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032430"/>
            <a:ext cx="10681334" cy="511612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300" b="1" dirty="0"/>
              <a:t>5. Project Contract &amp; Economist</a:t>
            </a:r>
          </a:p>
          <a:p>
            <a:pPr marL="114300" indent="0">
              <a:buNone/>
            </a:pPr>
            <a:r>
              <a:rPr lang="en-US" sz="2300" dirty="0"/>
              <a:t>This role delivers the ultimate financial verdict of the proposal, determining if the project makes commercial sense for the company.</a:t>
            </a:r>
          </a:p>
          <a:p>
            <a:pPr marL="114300" indent="0">
              <a:buNone/>
            </a:pPr>
            <a:r>
              <a:rPr lang="en-US" sz="2300" b="1" dirty="0"/>
              <a:t>Economics Inputs:</a:t>
            </a:r>
            <a:endParaRPr lang="en-US" sz="2300" dirty="0"/>
          </a:p>
          <a:p>
            <a:pPr marL="361950" lvl="1"/>
            <a:r>
              <a:rPr lang="en-US" sz="2300" b="1" dirty="0"/>
              <a:t>Rough Order of Magnitude (ROM) AFE Cost:</a:t>
            </a:r>
            <a:r>
              <a:rPr lang="en-US" sz="2300" dirty="0"/>
              <a:t> Formulates the total estimated capital expenditure (Capex) by integrating rig spread rates, third-party service costs, material costs, and the logistics mobilization budget.</a:t>
            </a:r>
          </a:p>
          <a:p>
            <a:pPr marL="361950" lvl="1"/>
            <a:r>
              <a:rPr lang="en-US" sz="2300" b="1" dirty="0"/>
              <a:t>Financial Viability Metrics:</a:t>
            </a:r>
            <a:r>
              <a:rPr lang="en-US" sz="2300" dirty="0"/>
              <a:t> Runs the financial models to calculate NPV (Net Present Value), IRR (Internal Rate of Return), and Payback Period against the estimated reservoir reserves (P50/P10).</a:t>
            </a:r>
          </a:p>
          <a:p>
            <a:pPr marL="361950" lvl="1"/>
            <a:r>
              <a:rPr lang="en-US" sz="2300" b="1" dirty="0"/>
              <a:t>Contingency Allocation:</a:t>
            </a:r>
            <a:r>
              <a:rPr lang="en-US" sz="2300" dirty="0"/>
              <a:t> Integrates the financial buffer requested by the Risk Engineer into the commercial model.</a:t>
            </a:r>
          </a:p>
        </p:txBody>
      </p:sp>
    </p:spTree>
    <p:extLst>
      <p:ext uri="{BB962C8B-B14F-4D97-AF65-F5344CB8AC3E}">
        <p14:creationId xmlns:p14="http://schemas.microsoft.com/office/powerpoint/2010/main" val="1509349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CC14-0961-7EF1-65A5-EB320298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0B63-B9BE-1878-DDA6-53C8666C0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PMT Contribution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4DD3-19C2-4C95-14A9-B2C24C83B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6" y="1032430"/>
            <a:ext cx="10681334" cy="511612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600" b="1" dirty="0"/>
              <a:t>6. Project Manager (PM)</a:t>
            </a:r>
          </a:p>
          <a:p>
            <a:pPr marL="114300" indent="0">
              <a:buNone/>
            </a:pPr>
            <a:r>
              <a:rPr lang="en-US" sz="2600" dirty="0"/>
              <a:t>This role acts as the conductor who synthesizes all disciplines into a single, highly persuasive business case.</a:t>
            </a:r>
          </a:p>
          <a:p>
            <a:pPr marL="114300" indent="0">
              <a:buNone/>
            </a:pPr>
            <a:r>
              <a:rPr lang="en-US" sz="2600" b="1" dirty="0"/>
              <a:t>Integration &amp; Decision Tree Inputs:</a:t>
            </a:r>
            <a:endParaRPr lang="en-US" sz="2600" dirty="0"/>
          </a:p>
          <a:p>
            <a:pPr marL="342900" lvl="1"/>
            <a:r>
              <a:rPr lang="en-US" sz="2600" b="1" dirty="0"/>
              <a:t>Document Integrity:</a:t>
            </a:r>
            <a:r>
              <a:rPr lang="en-US" sz="2600" dirty="0"/>
              <a:t> Weaves the technical, logistical, safety, and financial inputs into a single, cohesive, and persuasive business narrative for executive approval.</a:t>
            </a:r>
          </a:p>
          <a:p>
            <a:pPr marL="342900" lvl="1"/>
            <a:r>
              <a:rPr lang="en-US" sz="2600" b="1" dirty="0"/>
              <a:t>Macro Decision Tree:</a:t>
            </a:r>
            <a:r>
              <a:rPr lang="en-US" sz="2600" dirty="0"/>
              <a:t> Defines the exact operational and financial thresholds for Go / No-Go scenarios, or when to trigger a pre-approved Plan B if subsurface realities shift during initiation.</a:t>
            </a:r>
          </a:p>
        </p:txBody>
      </p:sp>
    </p:spTree>
    <p:extLst>
      <p:ext uri="{BB962C8B-B14F-4D97-AF65-F5344CB8AC3E}">
        <p14:creationId xmlns:p14="http://schemas.microsoft.com/office/powerpoint/2010/main" val="3659281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9FE4-4920-ACC7-61C4-FE3A0640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4634-3167-178B-F7A2-A7ED2590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Drilling Proposal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EACCD-D198-4F7C-D4CE-3862526CF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333" y="1175305"/>
            <a:ext cx="10681334" cy="500641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300" b="1" dirty="0"/>
              <a:t>1. Objective (The Strategic Intent)</a:t>
            </a:r>
          </a:p>
          <a:p>
            <a:r>
              <a:rPr lang="en-US" sz="2300" dirty="0"/>
              <a:t>The primary goal is to answer: </a:t>
            </a:r>
            <a:r>
              <a:rPr lang="en-US" sz="2300" i="1" dirty="0"/>
              <a:t>Why are we doing this project and how does it align with company goals?</a:t>
            </a:r>
            <a:endParaRPr lang="en-US" sz="2300" dirty="0"/>
          </a:p>
          <a:p>
            <a:r>
              <a:rPr lang="en-US" sz="2300" b="1" dirty="0"/>
              <a:t>Required Data:</a:t>
            </a:r>
            <a:r>
              <a:rPr lang="en-US" sz="2300" dirty="0"/>
              <a:t> Geological targets, reservoir depth, concession/block status, and production forecasts.</a:t>
            </a:r>
          </a:p>
          <a:p>
            <a:r>
              <a:rPr lang="en-US" sz="2300" b="1" dirty="0"/>
              <a:t>Minimal Content:</a:t>
            </a:r>
            <a:endParaRPr lang="en-US" sz="2300" dirty="0"/>
          </a:p>
          <a:p>
            <a:pPr lvl="1"/>
            <a:r>
              <a:rPr lang="en-US" sz="2300" b="1" dirty="0"/>
              <a:t>Well Classification:</a:t>
            </a:r>
            <a:r>
              <a:rPr lang="en-US" sz="2300" dirty="0"/>
              <a:t> (e.g., Exploration/Wildcat, Appraisal, or Development).</a:t>
            </a:r>
          </a:p>
          <a:p>
            <a:pPr lvl="1"/>
            <a:r>
              <a:rPr lang="en-US" sz="2300" b="1" dirty="0"/>
              <a:t>Project Rationale:</a:t>
            </a:r>
            <a:r>
              <a:rPr lang="en-US" sz="2300" dirty="0"/>
              <a:t> Is it to meet national production targets? To prove new reserves? Or to fulfill a firm commitment (KKP)?</a:t>
            </a:r>
          </a:p>
          <a:p>
            <a:pPr lvl="1"/>
            <a:r>
              <a:rPr lang="en-US" sz="2300" b="1" dirty="0"/>
              <a:t>Success Criteria:</a:t>
            </a:r>
            <a:r>
              <a:rPr lang="en-US" sz="2300" dirty="0"/>
              <a:t> What defines a "successful well" beyond just reaching the target depth (e.g., specific logging data, DST results).</a:t>
            </a:r>
          </a:p>
        </p:txBody>
      </p:sp>
    </p:spTree>
    <p:extLst>
      <p:ext uri="{BB962C8B-B14F-4D97-AF65-F5344CB8AC3E}">
        <p14:creationId xmlns:p14="http://schemas.microsoft.com/office/powerpoint/2010/main" val="3281494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73F5-AD25-5542-49B8-6A347E35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DAF8-BB03-F833-7F3D-DE179E11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Drilling Proposal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8FC77-CF05-7160-012E-3CC91DE08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333" y="1175306"/>
            <a:ext cx="10681334" cy="479687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200" b="1" dirty="0"/>
              <a:t>2. Feasibility Study (The Technical Viability)</a:t>
            </a:r>
          </a:p>
          <a:p>
            <a:r>
              <a:rPr lang="en-US" sz="2200" dirty="0"/>
              <a:t>The goal is to answer: </a:t>
            </a:r>
            <a:r>
              <a:rPr lang="en-US" sz="2200" i="1" dirty="0"/>
              <a:t>Is this technically possible with our current technology and rig capacity?</a:t>
            </a:r>
            <a:endParaRPr lang="en-US" sz="2200" dirty="0"/>
          </a:p>
          <a:p>
            <a:r>
              <a:rPr lang="en-US" sz="2200" b="1" dirty="0"/>
              <a:t>Required Data:</a:t>
            </a:r>
            <a:r>
              <a:rPr lang="en-US" sz="2200" dirty="0"/>
              <a:t> Preliminary Pore Pressure/Fracture Gradient (PPFG) models, offset well performance records, and available rig market specifications.</a:t>
            </a:r>
          </a:p>
          <a:p>
            <a:r>
              <a:rPr lang="en-US" sz="2200" b="1" dirty="0"/>
              <a:t>Minimal Content:</a:t>
            </a:r>
            <a:endParaRPr lang="en-US" sz="2200" dirty="0"/>
          </a:p>
          <a:p>
            <a:pPr lvl="1"/>
            <a:r>
              <a:rPr lang="en-US" sz="2200" b="1" dirty="0"/>
              <a:t>Technical Concept:</a:t>
            </a:r>
            <a:r>
              <a:rPr lang="en-US" sz="2200" dirty="0"/>
              <a:t> A high-level description of the well design and why it is suitable for this environment.</a:t>
            </a:r>
          </a:p>
          <a:p>
            <a:pPr lvl="1"/>
            <a:r>
              <a:rPr lang="en-US" sz="2200" b="1" dirty="0"/>
              <a:t>Operational Constraints:</a:t>
            </a:r>
            <a:r>
              <a:rPr lang="en-US" sz="2200" dirty="0"/>
              <a:t> Identification of major hurdles (e.g., deepwater, high-pressure zones, remote logistics).</a:t>
            </a:r>
          </a:p>
          <a:p>
            <a:pPr lvl="1"/>
            <a:r>
              <a:rPr lang="en-US" sz="2200" b="1" dirty="0"/>
              <a:t>Capability Assessment:</a:t>
            </a:r>
            <a:r>
              <a:rPr lang="en-US" sz="2200" dirty="0"/>
              <a:t> Confirming that the proposed rig and equipment can handle the anticipated subsurface conditions.</a:t>
            </a:r>
          </a:p>
        </p:txBody>
      </p:sp>
    </p:spTree>
    <p:extLst>
      <p:ext uri="{BB962C8B-B14F-4D97-AF65-F5344CB8AC3E}">
        <p14:creationId xmlns:p14="http://schemas.microsoft.com/office/powerpoint/2010/main" val="1836024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623E-8E61-05CA-CBA6-22897901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CEA9-74C5-4FBE-CB12-57CF1D97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Drilling Proposal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49F3-D2D7-7933-E2FE-447675EA6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333" y="1280081"/>
            <a:ext cx="10681334" cy="479687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200" b="1" dirty="0"/>
              <a:t>3. Risk Assessment (The Threat Mitigation)</a:t>
            </a:r>
          </a:p>
          <a:p>
            <a:r>
              <a:rPr lang="en-US" sz="2200" dirty="0"/>
              <a:t>The goal is to answer: </a:t>
            </a:r>
            <a:r>
              <a:rPr lang="en-US" sz="2200" i="1" dirty="0"/>
              <a:t>What could go wrong, and can we survive it?</a:t>
            </a:r>
            <a:endParaRPr lang="en-US" sz="2200" dirty="0"/>
          </a:p>
          <a:p>
            <a:r>
              <a:rPr lang="en-US" sz="2200" b="1" dirty="0"/>
              <a:t>Required Data:</a:t>
            </a:r>
            <a:r>
              <a:rPr lang="en-US" sz="2200" dirty="0"/>
              <a:t> Historical incident reports, geological hazard data (shallow gas, loss zones), and socio-political/environmental regulations.</a:t>
            </a:r>
          </a:p>
          <a:p>
            <a:r>
              <a:rPr lang="en-US" sz="2200" b="1" dirty="0"/>
              <a:t>Minimal Content:</a:t>
            </a:r>
            <a:endParaRPr lang="en-US" sz="2200" dirty="0"/>
          </a:p>
          <a:p>
            <a:pPr lvl="1"/>
            <a:r>
              <a:rPr lang="en-US" sz="2200" b="1" dirty="0"/>
              <a:t>High-Level Risk Register:</a:t>
            </a:r>
            <a:r>
              <a:rPr lang="en-US" sz="2200" dirty="0"/>
              <a:t> Identifying the "Top 5" risks (Geological, Technical, Commercial, and Safety).</a:t>
            </a:r>
          </a:p>
          <a:p>
            <a:pPr lvl="1"/>
            <a:r>
              <a:rPr lang="en-US" sz="2200" b="1" dirty="0"/>
              <a:t>Initial Mitigation Strategy:</a:t>
            </a:r>
            <a:r>
              <a:rPr lang="en-US" sz="2200" dirty="0"/>
              <a:t> Broad strokes on how these risks will be managed to protect the investment.</a:t>
            </a:r>
          </a:p>
          <a:p>
            <a:pPr lvl="1"/>
            <a:r>
              <a:rPr lang="en-US" sz="2200" b="1" dirty="0"/>
              <a:t>Project Sensitivity:</a:t>
            </a:r>
            <a:r>
              <a:rPr lang="en-US" sz="2200" dirty="0"/>
              <a:t> How a delay or a technical failure would impact the overall project timeline.</a:t>
            </a:r>
          </a:p>
        </p:txBody>
      </p:sp>
    </p:spTree>
    <p:extLst>
      <p:ext uri="{BB962C8B-B14F-4D97-AF65-F5344CB8AC3E}">
        <p14:creationId xmlns:p14="http://schemas.microsoft.com/office/powerpoint/2010/main" val="3018256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695D8-69C7-18AF-C2DB-2D848AA7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4BAB-BDAD-073E-24E3-481FDFB1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Drilling Proposal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7D38-EF8A-CC9D-0D7E-A1A5836C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333" y="1280081"/>
            <a:ext cx="10681334" cy="479687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200" b="1" dirty="0"/>
              <a:t>4. Economics (The Financial Justification)</a:t>
            </a:r>
          </a:p>
          <a:p>
            <a:r>
              <a:rPr lang="en-US" sz="2200" dirty="0"/>
              <a:t>The goal is to answer: </a:t>
            </a:r>
            <a:r>
              <a:rPr lang="en-US" sz="2200" i="1" dirty="0"/>
              <a:t>Is the potential reward worth the capital investment?</a:t>
            </a:r>
            <a:endParaRPr lang="en-US" sz="2200" dirty="0"/>
          </a:p>
          <a:p>
            <a:r>
              <a:rPr lang="en-US" sz="2200" b="1" dirty="0"/>
              <a:t>Required Data:</a:t>
            </a:r>
            <a:r>
              <a:rPr lang="en-US" sz="2200" dirty="0"/>
              <a:t> Rough Order of Magnitude (ROM) Cost Estimate, current oil/gas price forecasts, and estimated ultimate recovery (EUR) based on P90/P50/P10.</a:t>
            </a:r>
          </a:p>
          <a:p>
            <a:r>
              <a:rPr lang="en-US" sz="2200" b="1" dirty="0"/>
              <a:t>Minimal Content:</a:t>
            </a:r>
            <a:endParaRPr lang="en-US" sz="2200" dirty="0"/>
          </a:p>
          <a:p>
            <a:pPr lvl="1"/>
            <a:r>
              <a:rPr lang="en-US" sz="2200" b="1" dirty="0"/>
              <a:t>AFE Estimate:</a:t>
            </a:r>
            <a:r>
              <a:rPr lang="en-US" sz="2200" dirty="0"/>
              <a:t> Total estimated cost (Capex) including a contingency buffer.</a:t>
            </a:r>
          </a:p>
          <a:p>
            <a:pPr lvl="1"/>
            <a:r>
              <a:rPr lang="en-US" sz="2200" b="1" dirty="0"/>
              <a:t>Financial Metrics:</a:t>
            </a:r>
            <a:r>
              <a:rPr lang="en-US" sz="2200" dirty="0"/>
              <a:t> Presentation of </a:t>
            </a:r>
            <a:r>
              <a:rPr lang="en-US" sz="2200" b="1" dirty="0"/>
              <a:t>NPV (Net Present Value)</a:t>
            </a:r>
            <a:r>
              <a:rPr lang="en-US" sz="2200" dirty="0"/>
              <a:t>, </a:t>
            </a:r>
            <a:r>
              <a:rPr lang="en-US" sz="2200" b="1" dirty="0"/>
              <a:t>IRR (Internal Rate of Return)</a:t>
            </a:r>
            <a:r>
              <a:rPr lang="en-US" sz="2200" dirty="0"/>
              <a:t>, and </a:t>
            </a:r>
            <a:r>
              <a:rPr lang="en-US" sz="2200" b="1" dirty="0"/>
              <a:t>Payback Period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/>
              <a:t>Threshold Comparison:</a:t>
            </a:r>
            <a:r>
              <a:rPr lang="en-US" sz="2200" dirty="0"/>
              <a:t> Comparison against the company’s WACC (Weighted Average Cost of Capital) or minimum hurdle rate.</a:t>
            </a:r>
          </a:p>
        </p:txBody>
      </p:sp>
    </p:spTree>
    <p:extLst>
      <p:ext uri="{BB962C8B-B14F-4D97-AF65-F5344CB8AC3E}">
        <p14:creationId xmlns:p14="http://schemas.microsoft.com/office/powerpoint/2010/main" val="3105397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3426-CF52-2559-404B-F25D3BB5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C2CC-46D0-AFD8-9480-87BDA739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/>
              <a:t>Phase-1 Drilling Proposal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DEB7-6871-9D95-1BD1-8AA62AC25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10180"/>
            <a:ext cx="10515600" cy="143764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600" dirty="0" err="1"/>
              <a:t>Diskusi</a:t>
            </a:r>
            <a:r>
              <a:rPr lang="en-US" sz="9600" dirty="0"/>
              <a:t> </a:t>
            </a:r>
            <a:r>
              <a:rPr lang="en-US" sz="9600" dirty="0" err="1"/>
              <a:t>Kelompok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242841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AD8D-C80D-CD02-3D8A-BA8F0CD4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742C-8257-186C-195C-91B609C0E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4350"/>
            <a:ext cx="9144000" cy="2387600"/>
          </a:xfrm>
        </p:spPr>
        <p:txBody>
          <a:bodyPr anchor="ctr">
            <a:noAutofit/>
          </a:bodyPr>
          <a:lstStyle/>
          <a:p>
            <a:r>
              <a:rPr lang="en-US" sz="6600" b="1" dirty="0">
                <a:latin typeface="+mn-lt"/>
              </a:rPr>
              <a:t>Back up</a:t>
            </a:r>
            <a:endParaRPr lang="en-ID" sz="6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50062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178E-4F3B-ECB8-7BBE-3455F837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6C9C-B2D2-0394-0698-0E5CFA96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 err="1"/>
              <a:t>Sesi</a:t>
            </a:r>
            <a:r>
              <a:rPr lang="en-US" dirty="0"/>
              <a:t> Pagi</a:t>
            </a:r>
            <a:endParaRPr lang="en-ID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DA3928-48AC-4692-52CB-496E44259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00317"/>
              </p:ext>
            </p:extLst>
          </p:nvPr>
        </p:nvGraphicFramePr>
        <p:xfrm>
          <a:off x="523874" y="1457960"/>
          <a:ext cx="11144251" cy="39420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9308785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86444221"/>
                    </a:ext>
                  </a:extLst>
                </a:gridCol>
                <a:gridCol w="1969968">
                  <a:extLst>
                    <a:ext uri="{9D8B030D-6E8A-4147-A177-3AD203B41FA5}">
                      <a16:colId xmlns:a16="http://schemas.microsoft.com/office/drawing/2014/main" val="1679441365"/>
                    </a:ext>
                  </a:extLst>
                </a:gridCol>
                <a:gridCol w="5973883">
                  <a:extLst>
                    <a:ext uri="{9D8B030D-6E8A-4147-A177-3AD203B41FA5}">
                      <a16:colId xmlns:a16="http://schemas.microsoft.com/office/drawing/2014/main" val="1737073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Waktu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Durasi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Aktivitas</a:t>
                      </a:r>
                      <a:endParaRPr lang="en-ID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Detail Konten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08:00 - 08:15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Opening &amp; Vision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Sambutan Menteri DPM mengenai standar JDS &amp; pengenalan struktur kabinet.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588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08:15 - 09:00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DPM Fundamentals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Perbedaan Proyek vs Operasi, Triple Constraint, &amp; Lifecycle Pemboran.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314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09:00 - 09:15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Coffee Break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Istirahat sejenak.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31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09:15 - 10:00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 1: Initiation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Membedah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Drilling Proposal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Justifikasi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teknis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risiko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makro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dan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keekonomian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sumur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334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53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26AC-2C2F-83C1-CAF0-6BDBBBCA3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77A0-C3A4-7DDD-978F-E77B2A2D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 err="1"/>
              <a:t>Sesi</a:t>
            </a:r>
            <a:r>
              <a:rPr lang="en-US" dirty="0"/>
              <a:t> Siang</a:t>
            </a:r>
            <a:endParaRPr lang="en-ID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FFC7FD-6A3C-21A1-B027-697BCFBFC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561610"/>
              </p:ext>
            </p:extLst>
          </p:nvPr>
        </p:nvGraphicFramePr>
        <p:xfrm>
          <a:off x="491490" y="1104900"/>
          <a:ext cx="11224260" cy="43078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176965897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3171418512"/>
                    </a:ext>
                  </a:extLst>
                </a:gridCol>
                <a:gridCol w="2368752">
                  <a:extLst>
                    <a:ext uri="{9D8B030D-6E8A-4147-A177-3AD203B41FA5}">
                      <a16:colId xmlns:a16="http://schemas.microsoft.com/office/drawing/2014/main" val="2563927709"/>
                    </a:ext>
                  </a:extLst>
                </a:gridCol>
                <a:gridCol w="5689398">
                  <a:extLst>
                    <a:ext uri="{9D8B030D-6E8A-4147-A177-3AD203B41FA5}">
                      <a16:colId xmlns:a16="http://schemas.microsoft.com/office/drawing/2014/main" val="2776369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Waktu</a:t>
                      </a:r>
                      <a:endParaRPr lang="en-ID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2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Durasi</a:t>
                      </a:r>
                      <a:endParaRPr lang="en-ID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2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Aktivitas</a:t>
                      </a:r>
                      <a:endParaRPr lang="en-ID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D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Detail </a:t>
                      </a:r>
                      <a:r>
                        <a:rPr lang="en-ID" sz="2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Konten</a:t>
                      </a:r>
                      <a:endParaRPr lang="en-ID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58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13:00 - 13:20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PMT Establishment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Workshop: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Pembagian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10 </a:t>
                      </a:r>
                      <a:r>
                        <a:rPr lang="en-US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posisi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kunci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dalam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kelompok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(RACI Matrix).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0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13:20 - 14:10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Drafting Exercise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Diskusi Kelompok:</a:t>
                      </a: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Menyusun draf poin-poin </a:t>
                      </a:r>
                      <a:r>
                        <a:rPr lang="en-ID" sz="24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Drilling Proposal</a:t>
                      </a: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didampingi Mentor.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50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14:10 - 14:50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Group Pitching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 Kelompok presentasi draf (7' presentasi + 6' feedback dari Menteri/Wamen).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14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14:50 - 15:00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10'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Closing &amp; Mandate</a:t>
                      </a:r>
                      <a:endParaRPr lang="en-ID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Instruksi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pengerjaan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dokumen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final &amp; info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jadwal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4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sidang</a:t>
                      </a:r>
                      <a:r>
                        <a:rPr lang="en-ID" sz="2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Gate-1.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02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820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626B-C3CA-8314-0E67-7C224248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F99E-A2DE-71E8-967E-C4960C60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6" y="142875"/>
            <a:ext cx="10515600" cy="962025"/>
          </a:xfrm>
        </p:spPr>
        <p:txBody>
          <a:bodyPr/>
          <a:lstStyle/>
          <a:p>
            <a:r>
              <a:rPr lang="en-US" dirty="0" err="1"/>
              <a:t>Diskusi</a:t>
            </a:r>
            <a:r>
              <a:rPr lang="en-US" dirty="0"/>
              <a:t> </a:t>
            </a:r>
            <a:r>
              <a:rPr lang="en-US" dirty="0" err="1"/>
              <a:t>Kelompok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19AA48-97E8-E352-50F9-571FFFAA2D0B}"/>
              </a:ext>
            </a:extLst>
          </p:cNvPr>
          <p:cNvSpPr txBox="1"/>
          <p:nvPr/>
        </p:nvSpPr>
        <p:spPr>
          <a:xfrm>
            <a:off x="508635" y="1223010"/>
            <a:ext cx="110413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>
              <a:buFont typeface="+mj-lt"/>
              <a:buAutoNum type="arabicPeriod"/>
            </a:pPr>
            <a:r>
              <a:rPr lang="en-US" sz="4500" dirty="0" err="1"/>
              <a:t>Berkumpul</a:t>
            </a:r>
            <a:r>
              <a:rPr lang="en-US" sz="4500" dirty="0"/>
              <a:t> </a:t>
            </a:r>
            <a:r>
              <a:rPr lang="en-US" sz="4500" dirty="0" err="1"/>
              <a:t>sesuai</a:t>
            </a:r>
            <a:r>
              <a:rPr lang="en-US" sz="4500" dirty="0"/>
              <a:t> </a:t>
            </a:r>
            <a:r>
              <a:rPr lang="en-US" sz="4500" dirty="0" err="1"/>
              <a:t>kelompok</a:t>
            </a:r>
            <a:endParaRPr lang="en-US" sz="4500" dirty="0"/>
          </a:p>
          <a:p>
            <a:pPr marL="720725" indent="-720725">
              <a:buFont typeface="+mj-lt"/>
              <a:buAutoNum type="arabicPeriod"/>
            </a:pPr>
            <a:r>
              <a:rPr lang="en-US" sz="4500" dirty="0" err="1"/>
              <a:t>Diskusi</a:t>
            </a:r>
            <a:r>
              <a:rPr lang="en-US" sz="4500" dirty="0"/>
              <a:t> </a:t>
            </a:r>
            <a:r>
              <a:rPr lang="en-US" sz="4500" dirty="0" err="1"/>
              <a:t>anggota</a:t>
            </a:r>
            <a:r>
              <a:rPr lang="en-US" sz="4500" dirty="0"/>
              <a:t> </a:t>
            </a:r>
            <a:r>
              <a:rPr lang="en-US" sz="4500" dirty="0" err="1"/>
              <a:t>kelompok</a:t>
            </a:r>
            <a:r>
              <a:rPr lang="en-US" sz="4500" dirty="0"/>
              <a:t> dan </a:t>
            </a:r>
            <a:r>
              <a:rPr lang="en-US" sz="4500" dirty="0" err="1"/>
              <a:t>tugas</a:t>
            </a:r>
            <a:r>
              <a:rPr lang="en-US" sz="4500" dirty="0"/>
              <a:t> masing-masing </a:t>
            </a:r>
            <a:r>
              <a:rPr lang="en-US" sz="4500" dirty="0" err="1"/>
              <a:t>anggota</a:t>
            </a:r>
            <a:endParaRPr lang="en-US" sz="4500" dirty="0"/>
          </a:p>
          <a:p>
            <a:pPr marL="720725" indent="-720725">
              <a:buFont typeface="+mj-lt"/>
              <a:buAutoNum type="arabicPeriod"/>
            </a:pPr>
            <a:r>
              <a:rPr lang="en-US" sz="4500" dirty="0" err="1"/>
              <a:t>Diskusi</a:t>
            </a:r>
            <a:r>
              <a:rPr lang="en-US" sz="4500" dirty="0"/>
              <a:t> </a:t>
            </a:r>
            <a:r>
              <a:rPr lang="en-US" sz="4500" dirty="0" err="1"/>
              <a:t>mengenai</a:t>
            </a:r>
            <a:r>
              <a:rPr lang="en-US" sz="4500" dirty="0"/>
              <a:t> draft Drilling Proposal</a:t>
            </a:r>
          </a:p>
          <a:p>
            <a:pPr marL="720725" indent="-720725">
              <a:buFont typeface="+mj-lt"/>
              <a:buAutoNum type="arabicPeriod"/>
            </a:pPr>
            <a:r>
              <a:rPr lang="en-US" sz="4500" dirty="0" err="1"/>
              <a:t>Presentasi</a:t>
            </a:r>
            <a:r>
              <a:rPr lang="en-US" sz="4500" dirty="0"/>
              <a:t>, </a:t>
            </a:r>
            <a:r>
              <a:rPr lang="en-US" sz="4500" dirty="0" err="1"/>
              <a:t>perkenalan</a:t>
            </a:r>
            <a:r>
              <a:rPr lang="en-US" sz="4500" dirty="0"/>
              <a:t> </a:t>
            </a:r>
            <a:r>
              <a:rPr lang="en-US" sz="4500" dirty="0" err="1"/>
              <a:t>kelompok</a:t>
            </a:r>
            <a:r>
              <a:rPr lang="en-US" sz="4500" dirty="0"/>
              <a:t> + draft drilling proposal yang </a:t>
            </a:r>
            <a:r>
              <a:rPr lang="en-US" sz="4500" dirty="0" err="1"/>
              <a:t>akan</a:t>
            </a:r>
            <a:r>
              <a:rPr lang="en-US" sz="4500" dirty="0"/>
              <a:t> </a:t>
            </a:r>
            <a:r>
              <a:rPr lang="en-US" sz="4500" dirty="0" err="1"/>
              <a:t>dibuat</a:t>
            </a:r>
            <a:endParaRPr lang="en-ID" sz="4500" dirty="0"/>
          </a:p>
        </p:txBody>
      </p:sp>
    </p:spTree>
    <p:extLst>
      <p:ext uri="{BB962C8B-B14F-4D97-AF65-F5344CB8AC3E}">
        <p14:creationId xmlns:p14="http://schemas.microsoft.com/office/powerpoint/2010/main" val="36928480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BE3A847D-1D4D-4276-9742-B4C05A869D63}" vid="{C47A6A03-E171-4246-A00F-C3CBF11973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1558</TotalTime>
  <Words>2735</Words>
  <Application>Microsoft Office PowerPoint</Application>
  <PresentationFormat>Widescreen</PresentationFormat>
  <Paragraphs>338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Google Sans Text</vt:lpstr>
      <vt:lpstr>Montserrat</vt:lpstr>
      <vt:lpstr>Montserrat Black</vt:lpstr>
      <vt:lpstr>Poppins</vt:lpstr>
      <vt:lpstr>Urbanist</vt:lpstr>
      <vt:lpstr>Wingdings</vt:lpstr>
      <vt:lpstr>Theme3</vt:lpstr>
      <vt:lpstr>DRILLING PROJECT MANAGEMENT</vt:lpstr>
      <vt:lpstr>Kementrian DPM - JDS</vt:lpstr>
      <vt:lpstr>Content</vt:lpstr>
      <vt:lpstr>What is Project Management?</vt:lpstr>
      <vt:lpstr>Why do we need PM?  (The Order from Chaos)</vt:lpstr>
      <vt:lpstr>Triple Constraint</vt:lpstr>
      <vt:lpstr>Project Life Cycle</vt:lpstr>
      <vt:lpstr>Exercise : Provide Simple Project</vt:lpstr>
      <vt:lpstr>Wedding Party</vt:lpstr>
      <vt:lpstr>Why PM Matters in Drilling?</vt:lpstr>
      <vt:lpstr>DPM as "The Art of Integration"</vt:lpstr>
      <vt:lpstr>Managing "Subsurface Uncertainty"</vt:lpstr>
      <vt:lpstr>Value Protection (NPT &amp; ILT)</vt:lpstr>
      <vt:lpstr>Project Life Cycle - DPM</vt:lpstr>
      <vt:lpstr>Application in Drilling</vt:lpstr>
      <vt:lpstr>Project Management Team</vt:lpstr>
      <vt:lpstr>Break – 10 minutes</vt:lpstr>
      <vt:lpstr>PROJECT INITIATION</vt:lpstr>
      <vt:lpstr>Project Initiation</vt:lpstr>
      <vt:lpstr>Core Objectives</vt:lpstr>
      <vt:lpstr>Defining Project Scope</vt:lpstr>
      <vt:lpstr>Macro Risk Assessment</vt:lpstr>
      <vt:lpstr>Financial Target</vt:lpstr>
      <vt:lpstr>Resource Probability Matrix</vt:lpstr>
      <vt:lpstr>Drilling Proposal</vt:lpstr>
      <vt:lpstr>Initiation Workflow</vt:lpstr>
      <vt:lpstr>Key Subsurface Inputs</vt:lpstr>
      <vt:lpstr>Decision Gate 1</vt:lpstr>
      <vt:lpstr>Q&amp;A</vt:lpstr>
      <vt:lpstr>PROJECT ASSIGNMENT</vt:lpstr>
      <vt:lpstr>Project Assignment</vt:lpstr>
      <vt:lpstr>PMT Contribution</vt:lpstr>
      <vt:lpstr>PMT Contribution</vt:lpstr>
      <vt:lpstr>PMT Contribution</vt:lpstr>
      <vt:lpstr>PMT Contribution</vt:lpstr>
      <vt:lpstr>PMT Contribution</vt:lpstr>
      <vt:lpstr>PMT Contribution</vt:lpstr>
      <vt:lpstr>Drilling Proposal</vt:lpstr>
      <vt:lpstr>Drilling Proposal</vt:lpstr>
      <vt:lpstr>Drilling Proposal</vt:lpstr>
      <vt:lpstr>Drilling Proposal</vt:lpstr>
      <vt:lpstr>Phase-1 Drilling Proposal</vt:lpstr>
      <vt:lpstr>Back up</vt:lpstr>
      <vt:lpstr>Sesi Pagi</vt:lpstr>
      <vt:lpstr>Sesi Siang</vt:lpstr>
      <vt:lpstr>Diskusi Kelompok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 AK</dc:creator>
  <cp:lastModifiedBy>IB AK</cp:lastModifiedBy>
  <cp:revision>16</cp:revision>
  <dcterms:created xsi:type="dcterms:W3CDTF">2026-04-13T07:05:19Z</dcterms:created>
  <dcterms:modified xsi:type="dcterms:W3CDTF">2026-05-16T13:50:51Z</dcterms:modified>
</cp:coreProperties>
</file>