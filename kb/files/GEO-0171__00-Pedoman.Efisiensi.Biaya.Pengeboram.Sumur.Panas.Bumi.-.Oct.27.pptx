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charts/chart8.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9.xml" ContentType="application/vnd.openxmlformats-officedocument.drawingml.chart+xml"/>
  <Override PartName="/ppt/theme/themeOverride1.xml" ContentType="application/vnd.openxmlformats-officedocument.themeOverride+xml"/>
  <Override PartName="/ppt/charts/chart10.xml" ContentType="application/vnd.openxmlformats-officedocument.drawingml.chart+xml"/>
  <Override PartName="/ppt/theme/themeOverride2.xml" ContentType="application/vnd.openxmlformats-officedocument.themeOverride+xml"/>
  <Override PartName="/ppt/charts/chart11.xml" ContentType="application/vnd.openxmlformats-officedocument.drawingml.chart+xml"/>
  <Override PartName="/ppt/theme/themeOverride3.xml" ContentType="application/vnd.openxmlformats-officedocument.themeOverr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0"/>
  </p:notesMasterIdLst>
  <p:handoutMasterIdLst>
    <p:handoutMasterId r:id="rId231"/>
  </p:handoutMasterIdLst>
  <p:sldIdLst>
    <p:sldId id="2147376331" r:id="rId2"/>
    <p:sldId id="403" r:id="rId3"/>
    <p:sldId id="2147376270" r:id="rId4"/>
    <p:sldId id="2147376271" r:id="rId5"/>
    <p:sldId id="304" r:id="rId6"/>
    <p:sldId id="411" r:id="rId7"/>
    <p:sldId id="2181" r:id="rId8"/>
    <p:sldId id="2147376193" r:id="rId9"/>
    <p:sldId id="2147376198" r:id="rId10"/>
    <p:sldId id="2147376208" r:id="rId11"/>
    <p:sldId id="2147376199" r:id="rId12"/>
    <p:sldId id="2147376200" r:id="rId13"/>
    <p:sldId id="2147376201" r:id="rId14"/>
    <p:sldId id="2147376202" r:id="rId15"/>
    <p:sldId id="2147376203" r:id="rId16"/>
    <p:sldId id="2147376204" r:id="rId17"/>
    <p:sldId id="2147376324" r:id="rId18"/>
    <p:sldId id="2147376325" r:id="rId19"/>
    <p:sldId id="2147376273" r:id="rId20"/>
    <p:sldId id="462" r:id="rId21"/>
    <p:sldId id="463" r:id="rId22"/>
    <p:sldId id="464" r:id="rId23"/>
    <p:sldId id="2147376327" r:id="rId24"/>
    <p:sldId id="461" r:id="rId25"/>
    <p:sldId id="432" r:id="rId26"/>
    <p:sldId id="2147376479" r:id="rId27"/>
    <p:sldId id="2147376274" r:id="rId28"/>
    <p:sldId id="2147376279" r:id="rId29"/>
    <p:sldId id="2147376250" r:id="rId30"/>
    <p:sldId id="2147376253" r:id="rId31"/>
    <p:sldId id="2147376266" r:id="rId32"/>
    <p:sldId id="1790" r:id="rId33"/>
    <p:sldId id="1788" r:id="rId34"/>
    <p:sldId id="2175" r:id="rId35"/>
    <p:sldId id="1791" r:id="rId36"/>
    <p:sldId id="1792" r:id="rId37"/>
    <p:sldId id="1795" r:id="rId38"/>
    <p:sldId id="2147376280" r:id="rId39"/>
    <p:sldId id="443" r:id="rId40"/>
    <p:sldId id="485" r:id="rId41"/>
    <p:sldId id="491" r:id="rId42"/>
    <p:sldId id="444" r:id="rId43"/>
    <p:sldId id="2147376477" r:id="rId44"/>
    <p:sldId id="2147376430" r:id="rId45"/>
    <p:sldId id="2147376439" r:id="rId46"/>
    <p:sldId id="2147376441" r:id="rId47"/>
    <p:sldId id="2147376292" r:id="rId48"/>
    <p:sldId id="2147376478" r:id="rId49"/>
    <p:sldId id="2147376242" r:id="rId50"/>
    <p:sldId id="2147376245" r:id="rId51"/>
    <p:sldId id="2147376244" r:id="rId52"/>
    <p:sldId id="447" r:id="rId53"/>
    <p:sldId id="448" r:id="rId54"/>
    <p:sldId id="697" r:id="rId55"/>
    <p:sldId id="502" r:id="rId56"/>
    <p:sldId id="1752" r:id="rId57"/>
    <p:sldId id="1793" r:id="rId58"/>
    <p:sldId id="1761" r:id="rId59"/>
    <p:sldId id="477" r:id="rId60"/>
    <p:sldId id="266" r:id="rId61"/>
    <p:sldId id="2147376294" r:id="rId62"/>
    <p:sldId id="761" r:id="rId63"/>
    <p:sldId id="2147376216" r:id="rId64"/>
    <p:sldId id="2184" r:id="rId65"/>
    <p:sldId id="2203" r:id="rId66"/>
    <p:sldId id="2147376217" r:id="rId67"/>
    <p:sldId id="2147376218" r:id="rId68"/>
    <p:sldId id="2230" r:id="rId69"/>
    <p:sldId id="2228" r:id="rId70"/>
    <p:sldId id="2172" r:id="rId71"/>
    <p:sldId id="2173" r:id="rId72"/>
    <p:sldId id="2182" r:id="rId73"/>
    <p:sldId id="2183" r:id="rId74"/>
    <p:sldId id="2147376267" r:id="rId75"/>
    <p:sldId id="1774" r:id="rId76"/>
    <p:sldId id="575" r:id="rId77"/>
    <p:sldId id="1775" r:id="rId78"/>
    <p:sldId id="2147376296" r:id="rId79"/>
    <p:sldId id="576" r:id="rId80"/>
    <p:sldId id="1764" r:id="rId81"/>
    <p:sldId id="1776" r:id="rId82"/>
    <p:sldId id="1778" r:id="rId83"/>
    <p:sldId id="1777" r:id="rId84"/>
    <p:sldId id="2222" r:id="rId85"/>
    <p:sldId id="2221" r:id="rId86"/>
    <p:sldId id="2147376246" r:id="rId87"/>
    <p:sldId id="2147376247" r:id="rId88"/>
    <p:sldId id="2147376297" r:id="rId89"/>
    <p:sldId id="318" r:id="rId90"/>
    <p:sldId id="2147376295" r:id="rId91"/>
    <p:sldId id="2159" r:id="rId92"/>
    <p:sldId id="2160" r:id="rId93"/>
    <p:sldId id="2161" r:id="rId94"/>
    <p:sldId id="446" r:id="rId95"/>
    <p:sldId id="2147376275" r:id="rId96"/>
    <p:sldId id="2147376298" r:id="rId97"/>
    <p:sldId id="452" r:id="rId98"/>
    <p:sldId id="453" r:id="rId99"/>
    <p:sldId id="2147376299" r:id="rId100"/>
    <p:sldId id="2147376269" r:id="rId101"/>
    <p:sldId id="2147376219" r:id="rId102"/>
    <p:sldId id="2147376268" r:id="rId103"/>
    <p:sldId id="2147376300" r:id="rId104"/>
    <p:sldId id="467" r:id="rId105"/>
    <p:sldId id="470" r:id="rId106"/>
    <p:sldId id="2147376302" r:id="rId107"/>
    <p:sldId id="471" r:id="rId108"/>
    <p:sldId id="472" r:id="rId109"/>
    <p:sldId id="2147376212" r:id="rId110"/>
    <p:sldId id="475" r:id="rId111"/>
    <p:sldId id="257" r:id="rId112"/>
    <p:sldId id="268" r:id="rId113"/>
    <p:sldId id="259" r:id="rId114"/>
    <p:sldId id="269" r:id="rId115"/>
    <p:sldId id="814" r:id="rId116"/>
    <p:sldId id="270" r:id="rId117"/>
    <p:sldId id="260" r:id="rId118"/>
    <p:sldId id="271" r:id="rId119"/>
    <p:sldId id="272" r:id="rId120"/>
    <p:sldId id="261" r:id="rId121"/>
    <p:sldId id="273" r:id="rId122"/>
    <p:sldId id="274" r:id="rId123"/>
    <p:sldId id="262" r:id="rId124"/>
    <p:sldId id="763" r:id="rId125"/>
    <p:sldId id="1782" r:id="rId126"/>
    <p:sldId id="1783" r:id="rId127"/>
    <p:sldId id="2147376256" r:id="rId128"/>
    <p:sldId id="2147376257" r:id="rId129"/>
    <p:sldId id="2147376320" r:id="rId130"/>
    <p:sldId id="2147376322" r:id="rId131"/>
    <p:sldId id="2147376319" r:id="rId132"/>
    <p:sldId id="2147376321" r:id="rId133"/>
    <p:sldId id="2147376303" r:id="rId134"/>
    <p:sldId id="2180" r:id="rId135"/>
    <p:sldId id="811" r:id="rId136"/>
    <p:sldId id="473" r:id="rId137"/>
    <p:sldId id="474" r:id="rId138"/>
    <p:sldId id="1784" r:id="rId139"/>
    <p:sldId id="1785" r:id="rId140"/>
    <p:sldId id="1786" r:id="rId141"/>
    <p:sldId id="2147376301" r:id="rId142"/>
    <p:sldId id="758" r:id="rId143"/>
    <p:sldId id="2147376259" r:id="rId144"/>
    <p:sldId id="2147376258" r:id="rId145"/>
    <p:sldId id="759" r:id="rId146"/>
    <p:sldId id="1763" r:id="rId147"/>
    <p:sldId id="1779" r:id="rId148"/>
    <p:sldId id="2147376305" r:id="rId149"/>
    <p:sldId id="1796" r:id="rId150"/>
    <p:sldId id="770" r:id="rId151"/>
    <p:sldId id="2147376304" r:id="rId152"/>
    <p:sldId id="737" r:id="rId153"/>
    <p:sldId id="738" r:id="rId154"/>
    <p:sldId id="354" r:id="rId155"/>
    <p:sldId id="482" r:id="rId156"/>
    <p:sldId id="476" r:id="rId157"/>
    <p:sldId id="284" r:id="rId158"/>
    <p:sldId id="2147376306" r:id="rId159"/>
    <p:sldId id="2147376255" r:id="rId160"/>
    <p:sldId id="821" r:id="rId161"/>
    <p:sldId id="823" r:id="rId162"/>
    <p:sldId id="819" r:id="rId163"/>
    <p:sldId id="2147376254" r:id="rId164"/>
    <p:sldId id="2147376308" r:id="rId165"/>
    <p:sldId id="2147376309" r:id="rId166"/>
    <p:sldId id="382" r:id="rId167"/>
    <p:sldId id="826" r:id="rId168"/>
    <p:sldId id="2147376232" r:id="rId169"/>
    <p:sldId id="2147376226" r:id="rId170"/>
    <p:sldId id="2147376233" r:id="rId171"/>
    <p:sldId id="2147376237" r:id="rId172"/>
    <p:sldId id="2147376236" r:id="rId173"/>
    <p:sldId id="320" r:id="rId174"/>
    <p:sldId id="321" r:id="rId175"/>
    <p:sldId id="2147376234" r:id="rId176"/>
    <p:sldId id="2147376229" r:id="rId177"/>
    <p:sldId id="825" r:id="rId178"/>
    <p:sldId id="822" r:id="rId179"/>
    <p:sldId id="820" r:id="rId180"/>
    <p:sldId id="829" r:id="rId181"/>
    <p:sldId id="2147376276" r:id="rId182"/>
    <p:sldId id="2147376221" r:id="rId183"/>
    <p:sldId id="1780" r:id="rId184"/>
    <p:sldId id="1794" r:id="rId185"/>
    <p:sldId id="817" r:id="rId186"/>
    <p:sldId id="479" r:id="rId187"/>
    <p:sldId id="749" r:id="rId188"/>
    <p:sldId id="751" r:id="rId189"/>
    <p:sldId id="2147376310" r:id="rId190"/>
    <p:sldId id="772" r:id="rId191"/>
    <p:sldId id="1797" r:id="rId192"/>
    <p:sldId id="1798" r:id="rId193"/>
    <p:sldId id="2179" r:id="rId194"/>
    <p:sldId id="2174" r:id="rId195"/>
    <p:sldId id="2147376277" r:id="rId196"/>
    <p:sldId id="466" r:id="rId197"/>
    <p:sldId id="327" r:id="rId198"/>
    <p:sldId id="329" r:id="rId199"/>
    <p:sldId id="433" r:id="rId200"/>
    <p:sldId id="775" r:id="rId201"/>
    <p:sldId id="774" r:id="rId202"/>
    <p:sldId id="2147376329" r:id="rId203"/>
    <p:sldId id="789" r:id="rId204"/>
    <p:sldId id="779" r:id="rId205"/>
    <p:sldId id="336" r:id="rId206"/>
    <p:sldId id="437" r:id="rId207"/>
    <p:sldId id="438" r:id="rId208"/>
    <p:sldId id="366" r:id="rId209"/>
    <p:sldId id="440" r:id="rId210"/>
    <p:sldId id="2147376224" r:id="rId211"/>
    <p:sldId id="2147376328" r:id="rId212"/>
    <p:sldId id="810" r:id="rId213"/>
    <p:sldId id="743" r:id="rId214"/>
    <p:sldId id="776" r:id="rId215"/>
    <p:sldId id="2147376311" r:id="rId216"/>
    <p:sldId id="347" r:id="rId217"/>
    <p:sldId id="348" r:id="rId218"/>
    <p:sldId id="335" r:id="rId219"/>
    <p:sldId id="750" r:id="rId220"/>
    <p:sldId id="357" r:id="rId221"/>
    <p:sldId id="358" r:id="rId222"/>
    <p:sldId id="2147376313" r:id="rId223"/>
    <p:sldId id="2147376315" r:id="rId224"/>
    <p:sldId id="2147376316" r:id="rId225"/>
    <p:sldId id="2147376312" r:id="rId226"/>
    <p:sldId id="2147376278" r:id="rId227"/>
    <p:sldId id="480" r:id="rId228"/>
    <p:sldId id="2147376345" r:id="rId2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147376331"/>
            <p14:sldId id="403"/>
          </p14:sldIdLst>
        </p14:section>
        <p14:section name="Design, Morph, Annotate, Work Together, Tell Me" id="{B9B51309-D148-4332-87C2-07BE32FBCA3B}">
          <p14:sldIdLst>
            <p14:sldId id="2147376270"/>
            <p14:sldId id="2147376271"/>
            <p14:sldId id="304"/>
            <p14:sldId id="411"/>
          </p14:sldIdLst>
        </p14:section>
        <p14:section name="Evaluasi Biaya - EBTKE" id="{62E3440C-B32E-45FE-8DF5-65E77949C26E}">
          <p14:sldIdLst>
            <p14:sldId id="2181"/>
            <p14:sldId id="2147376193"/>
            <p14:sldId id="2147376198"/>
            <p14:sldId id="2147376208"/>
            <p14:sldId id="2147376199"/>
            <p14:sldId id="2147376200"/>
            <p14:sldId id="2147376201"/>
            <p14:sldId id="2147376202"/>
            <p14:sldId id="2147376203"/>
            <p14:sldId id="2147376204"/>
            <p14:sldId id="2147376324"/>
            <p14:sldId id="2147376325"/>
            <p14:sldId id="2147376273"/>
            <p14:sldId id="462"/>
            <p14:sldId id="463"/>
            <p14:sldId id="464"/>
            <p14:sldId id="2147376327"/>
            <p14:sldId id="461"/>
            <p14:sldId id="432"/>
            <p14:sldId id="2147376479"/>
            <p14:sldId id="2147376274"/>
            <p14:sldId id="2147376279"/>
            <p14:sldId id="2147376250"/>
            <p14:sldId id="2147376253"/>
            <p14:sldId id="2147376266"/>
            <p14:sldId id="1790"/>
            <p14:sldId id="1788"/>
            <p14:sldId id="2175"/>
            <p14:sldId id="1791"/>
            <p14:sldId id="1792"/>
            <p14:sldId id="1795"/>
            <p14:sldId id="2147376280"/>
            <p14:sldId id="443"/>
            <p14:sldId id="485"/>
            <p14:sldId id="491"/>
            <p14:sldId id="444"/>
            <p14:sldId id="2147376477"/>
            <p14:sldId id="2147376430"/>
            <p14:sldId id="2147376439"/>
            <p14:sldId id="2147376441"/>
            <p14:sldId id="2147376292"/>
            <p14:sldId id="2147376478"/>
            <p14:sldId id="2147376242"/>
            <p14:sldId id="2147376245"/>
            <p14:sldId id="2147376244"/>
            <p14:sldId id="447"/>
            <p14:sldId id="448"/>
            <p14:sldId id="697"/>
            <p14:sldId id="502"/>
            <p14:sldId id="1752"/>
            <p14:sldId id="1793"/>
            <p14:sldId id="1761"/>
            <p14:sldId id="477"/>
            <p14:sldId id="266"/>
            <p14:sldId id="2147376294"/>
            <p14:sldId id="761"/>
            <p14:sldId id="2147376216"/>
            <p14:sldId id="2184"/>
            <p14:sldId id="2203"/>
            <p14:sldId id="2147376217"/>
            <p14:sldId id="2147376218"/>
            <p14:sldId id="2230"/>
            <p14:sldId id="2228"/>
            <p14:sldId id="2172"/>
            <p14:sldId id="2173"/>
            <p14:sldId id="2182"/>
            <p14:sldId id="2183"/>
            <p14:sldId id="2147376267"/>
            <p14:sldId id="1774"/>
            <p14:sldId id="575"/>
            <p14:sldId id="1775"/>
            <p14:sldId id="2147376296"/>
            <p14:sldId id="576"/>
            <p14:sldId id="1764"/>
            <p14:sldId id="1776"/>
            <p14:sldId id="1778"/>
            <p14:sldId id="1777"/>
            <p14:sldId id="2222"/>
            <p14:sldId id="2221"/>
            <p14:sldId id="2147376246"/>
            <p14:sldId id="2147376247"/>
            <p14:sldId id="2147376297"/>
            <p14:sldId id="318"/>
            <p14:sldId id="2147376295"/>
            <p14:sldId id="2159"/>
            <p14:sldId id="2160"/>
            <p14:sldId id="2161"/>
            <p14:sldId id="446"/>
            <p14:sldId id="2147376275"/>
            <p14:sldId id="2147376298"/>
            <p14:sldId id="452"/>
            <p14:sldId id="453"/>
            <p14:sldId id="2147376299"/>
            <p14:sldId id="2147376269"/>
            <p14:sldId id="2147376219"/>
            <p14:sldId id="2147376268"/>
            <p14:sldId id="2147376300"/>
            <p14:sldId id="467"/>
            <p14:sldId id="470"/>
            <p14:sldId id="2147376302"/>
            <p14:sldId id="471"/>
            <p14:sldId id="472"/>
            <p14:sldId id="2147376212"/>
            <p14:sldId id="475"/>
            <p14:sldId id="257"/>
            <p14:sldId id="268"/>
            <p14:sldId id="259"/>
            <p14:sldId id="269"/>
            <p14:sldId id="814"/>
            <p14:sldId id="270"/>
            <p14:sldId id="260"/>
            <p14:sldId id="271"/>
            <p14:sldId id="272"/>
            <p14:sldId id="261"/>
            <p14:sldId id="273"/>
            <p14:sldId id="274"/>
            <p14:sldId id="262"/>
            <p14:sldId id="763"/>
            <p14:sldId id="1782"/>
            <p14:sldId id="1783"/>
            <p14:sldId id="2147376256"/>
            <p14:sldId id="2147376257"/>
            <p14:sldId id="2147376320"/>
            <p14:sldId id="2147376322"/>
            <p14:sldId id="2147376319"/>
            <p14:sldId id="2147376321"/>
            <p14:sldId id="2147376303"/>
            <p14:sldId id="2180"/>
            <p14:sldId id="811"/>
            <p14:sldId id="473"/>
            <p14:sldId id="474"/>
            <p14:sldId id="1784"/>
            <p14:sldId id="1785"/>
            <p14:sldId id="1786"/>
            <p14:sldId id="2147376301"/>
            <p14:sldId id="758"/>
            <p14:sldId id="2147376259"/>
            <p14:sldId id="2147376258"/>
            <p14:sldId id="759"/>
            <p14:sldId id="1763"/>
            <p14:sldId id="1779"/>
            <p14:sldId id="2147376305"/>
            <p14:sldId id="1796"/>
            <p14:sldId id="770"/>
            <p14:sldId id="2147376304"/>
            <p14:sldId id="737"/>
            <p14:sldId id="738"/>
            <p14:sldId id="354"/>
            <p14:sldId id="482"/>
            <p14:sldId id="476"/>
            <p14:sldId id="284"/>
            <p14:sldId id="2147376306"/>
            <p14:sldId id="2147376255"/>
            <p14:sldId id="821"/>
            <p14:sldId id="823"/>
            <p14:sldId id="819"/>
            <p14:sldId id="2147376254"/>
            <p14:sldId id="2147376308"/>
            <p14:sldId id="2147376309"/>
            <p14:sldId id="382"/>
            <p14:sldId id="826"/>
            <p14:sldId id="2147376232"/>
            <p14:sldId id="2147376226"/>
            <p14:sldId id="2147376233"/>
            <p14:sldId id="2147376237"/>
            <p14:sldId id="2147376236"/>
            <p14:sldId id="320"/>
            <p14:sldId id="321"/>
            <p14:sldId id="2147376234"/>
            <p14:sldId id="2147376229"/>
            <p14:sldId id="825"/>
            <p14:sldId id="822"/>
            <p14:sldId id="820"/>
            <p14:sldId id="829"/>
            <p14:sldId id="2147376276"/>
            <p14:sldId id="2147376221"/>
            <p14:sldId id="1780"/>
            <p14:sldId id="1794"/>
            <p14:sldId id="817"/>
            <p14:sldId id="479"/>
            <p14:sldId id="749"/>
            <p14:sldId id="751"/>
            <p14:sldId id="2147376310"/>
            <p14:sldId id="772"/>
            <p14:sldId id="1797"/>
            <p14:sldId id="1798"/>
            <p14:sldId id="2179"/>
            <p14:sldId id="2174"/>
            <p14:sldId id="2147376277"/>
            <p14:sldId id="466"/>
            <p14:sldId id="327"/>
            <p14:sldId id="329"/>
            <p14:sldId id="433"/>
            <p14:sldId id="775"/>
            <p14:sldId id="774"/>
            <p14:sldId id="2147376329"/>
            <p14:sldId id="789"/>
            <p14:sldId id="779"/>
            <p14:sldId id="336"/>
            <p14:sldId id="437"/>
            <p14:sldId id="438"/>
            <p14:sldId id="366"/>
            <p14:sldId id="440"/>
            <p14:sldId id="2147376224"/>
            <p14:sldId id="2147376328"/>
            <p14:sldId id="810"/>
            <p14:sldId id="743"/>
            <p14:sldId id="776"/>
            <p14:sldId id="2147376311"/>
            <p14:sldId id="347"/>
            <p14:sldId id="348"/>
            <p14:sldId id="335"/>
            <p14:sldId id="750"/>
            <p14:sldId id="357"/>
            <p14:sldId id="358"/>
            <p14:sldId id="2147376313"/>
            <p14:sldId id="2147376315"/>
            <p14:sldId id="2147376316"/>
            <p14:sldId id="2147376312"/>
            <p14:sldId id="2147376278"/>
            <p14:sldId id="480"/>
            <p14:sldId id="2147376345"/>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66"/>
    <a:srgbClr val="FFCC00"/>
    <a:srgbClr val="CCFF99"/>
    <a:srgbClr val="FFFF00"/>
    <a:srgbClr val="FFCCFF"/>
    <a:srgbClr val="FFFF99"/>
    <a:srgbClr val="66FF99"/>
    <a:srgbClr val="3399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214" autoAdjust="0"/>
  </p:normalViewPr>
  <p:slideViewPr>
    <p:cSldViewPr snapToGrid="0">
      <p:cViewPr varScale="1">
        <p:scale>
          <a:sx n="60" d="100"/>
          <a:sy n="60" d="100"/>
        </p:scale>
        <p:origin x="764" y="4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3" d="100"/>
          <a:sy n="53" d="100"/>
        </p:scale>
        <p:origin x="2844" y="9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notesMaster" Target="notesMasters/notes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tableStyles" Target="tableStyles.xml"/><Relationship Id="rId26" Type="http://schemas.openxmlformats.org/officeDocument/2006/relationships/slide" Target="slides/slide25.xml"/><Relationship Id="rId231" Type="http://schemas.openxmlformats.org/officeDocument/2006/relationships/handoutMaster" Target="handoutMasters/handoutMaster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commentAuthors" Target="commentAuthor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presProps" Target="presProp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theme" Target="theme/theme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D:\Kerja%20EBTKE\Pengeboran%20Panas%20Bumi\Data%20Sheet\Update_Drilling%20Cost%20Lapangan%202021_v1_242%20well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Kerja%20EBTKE\Pengeboran%20Panas%20Bumi\Data%20Sheet\Update_Drilling%20Cost%20Lapangan%202021_v1_242%20wells%20-%20Eksplorasi-sent.xlsx"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D:\Kerja%20EBTKE\Pengeboran%20Panas%20Bumi\Data%20Sheet\Update_Drilling%20Cost%20Lapangan%202021_v1_242%20wells.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D:\Kerja%20EBTKE\Pengeboran%20Panas%20Bumi\Data%20Sheet\Update_Drilling%20Cost%20Lapangan%202021_v1_242%20well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D:\Kerja%20EBTKE\Pengeboran%20Panas%20Bumi\Data%20Sheet\Update_Drilling%20Cost%20Lapangan%202021_v1_242%20wells.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Kerja%20EBTKE\Pengeboran%20Panas%20Bumi\Data%20Sheet\Update_Drilling%20Cost%20Lapangan%202021_v1_242%20wells.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Kerja%20EBTKE\Pengeboran%20Panas%20Bumi\Data%20Sheet\Update_Drilling%20Cost%20Lapangan%202021_v1_242%20wells.xlsx" TargetMode="External"/></Relationships>
</file>

<file path=ppt/charts/_rels/chart8.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_rels/chart9.xml.rels><?xml version="1.0" encoding="UTF-8" standalone="yes"?>
<Relationships xmlns="http://schemas.openxmlformats.org/package/2006/relationships"><Relationship Id="rId3" Type="http://schemas.openxmlformats.org/officeDocument/2006/relationships/image" Target="../media/image208.jpeg"/><Relationship Id="rId2" Type="http://schemas.openxmlformats.org/officeDocument/2006/relationships/image" Target="../media/image207.jpeg"/><Relationship Id="rId1" Type="http://schemas.openxmlformats.org/officeDocument/2006/relationships/themeOverride" Target="../theme/themeOverride1.xml"/><Relationship Id="rId4" Type="http://schemas.openxmlformats.org/officeDocument/2006/relationships/oleObject" Target="file:///D:\Geothermal%20Project\ADB%20Files\Presentation\Cost%20Evaluation.xlsx" TargetMode="External"/></Relationships>
</file>

<file path=ppt/charts/_rels/chart10.xml.rels><?xml version="1.0" encoding="UTF-8" standalone="yes"?>
<Relationships xmlns="http://schemas.openxmlformats.org/package/2006/relationships"><Relationship Id="rId3" Type="http://schemas.openxmlformats.org/officeDocument/2006/relationships/image" Target="../media/image208.jpeg"/><Relationship Id="rId2" Type="http://schemas.openxmlformats.org/officeDocument/2006/relationships/image" Target="../media/image207.jpeg"/><Relationship Id="rId1" Type="http://schemas.openxmlformats.org/officeDocument/2006/relationships/themeOverride" Target="../theme/themeOverride2.xml"/><Relationship Id="rId4" Type="http://schemas.openxmlformats.org/officeDocument/2006/relationships/oleObject" Target="file:///D:\Geothermal%20Project\ADB%20Files\Presentation\Cost%20Evaluation.xlsx" TargetMode="External"/></Relationships>
</file>

<file path=ppt/charts/_rels/chart11.xml.rels><?xml version="1.0" encoding="UTF-8" standalone="yes"?>
<Relationships xmlns="http://schemas.openxmlformats.org/package/2006/relationships"><Relationship Id="rId3" Type="http://schemas.openxmlformats.org/officeDocument/2006/relationships/image" Target="../media/image208.jpeg"/><Relationship Id="rId2" Type="http://schemas.openxmlformats.org/officeDocument/2006/relationships/image" Target="../media/image207.jpeg"/><Relationship Id="rId1" Type="http://schemas.openxmlformats.org/officeDocument/2006/relationships/themeOverride" Target="../theme/themeOverride3.xml"/><Relationship Id="rId4" Type="http://schemas.openxmlformats.org/officeDocument/2006/relationships/oleObject" Target="file:///D:\Geothermal%20Project\ADB%20Files\Presentation\Cost%20Evaluatio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885888334712442"/>
          <c:y val="0.10172878585900767"/>
          <c:w val="0.83404826421265099"/>
          <c:h val="0.73320358070530656"/>
        </c:manualLayout>
      </c:layout>
      <c:barChart>
        <c:barDir val="col"/>
        <c:grouping val="clustered"/>
        <c:varyColors val="0"/>
        <c:ser>
          <c:idx val="0"/>
          <c:order val="0"/>
          <c:spPr>
            <a:solidFill>
              <a:schemeClr val="tx2">
                <a:lumMod val="75000"/>
              </a:schemeClr>
            </a:solidFill>
          </c:spPr>
          <c:invertIfNegative val="0"/>
          <c:cat>
            <c:strRef>
              <c:f>'histogram (Q3-2021)'!$AA$40:$AA$47</c:f>
              <c:strCache>
                <c:ptCount val="8"/>
                <c:pt idx="0">
                  <c:v>&lt;4 m</c:v>
                </c:pt>
                <c:pt idx="1">
                  <c:v>4-6 m</c:v>
                </c:pt>
                <c:pt idx="2">
                  <c:v>6-8 m</c:v>
                </c:pt>
                <c:pt idx="3">
                  <c:v>8-10 m</c:v>
                </c:pt>
                <c:pt idx="4">
                  <c:v>10-12 m</c:v>
                </c:pt>
                <c:pt idx="5">
                  <c:v>12-14 m</c:v>
                </c:pt>
                <c:pt idx="6">
                  <c:v>14-16 m</c:v>
                </c:pt>
                <c:pt idx="7">
                  <c:v>16-18 m</c:v>
                </c:pt>
              </c:strCache>
            </c:strRef>
          </c:cat>
          <c:val>
            <c:numRef>
              <c:f>'histogram (Q3-2021)'!$AB$40:$AB$47</c:f>
              <c:numCache>
                <c:formatCode>General</c:formatCode>
                <c:ptCount val="8"/>
                <c:pt idx="0">
                  <c:v>37</c:v>
                </c:pt>
                <c:pt idx="1">
                  <c:v>73</c:v>
                </c:pt>
                <c:pt idx="2">
                  <c:v>58</c:v>
                </c:pt>
                <c:pt idx="3">
                  <c:v>38</c:v>
                </c:pt>
                <c:pt idx="4">
                  <c:v>24</c:v>
                </c:pt>
                <c:pt idx="5">
                  <c:v>7</c:v>
                </c:pt>
                <c:pt idx="6">
                  <c:v>2</c:v>
                </c:pt>
                <c:pt idx="7">
                  <c:v>3</c:v>
                </c:pt>
              </c:numCache>
            </c:numRef>
          </c:val>
          <c:extLst>
            <c:ext xmlns:c16="http://schemas.microsoft.com/office/drawing/2014/chart" uri="{C3380CC4-5D6E-409C-BE32-E72D297353CC}">
              <c16:uniqueId val="{00000000-566F-4335-A1B2-01A2E58FF374}"/>
            </c:ext>
          </c:extLst>
        </c:ser>
        <c:dLbls>
          <c:showLegendKey val="0"/>
          <c:showVal val="0"/>
          <c:showCatName val="0"/>
          <c:showSerName val="0"/>
          <c:showPercent val="0"/>
          <c:showBubbleSize val="0"/>
        </c:dLbls>
        <c:gapWidth val="150"/>
        <c:axId val="105793792"/>
        <c:axId val="105977344"/>
      </c:barChart>
      <c:catAx>
        <c:axId val="105793792"/>
        <c:scaling>
          <c:orientation val="minMax"/>
        </c:scaling>
        <c:delete val="0"/>
        <c:axPos val="b"/>
        <c:title>
          <c:tx>
            <c:rich>
              <a:bodyPr/>
              <a:lstStyle/>
              <a:p>
                <a:pPr>
                  <a:defRPr sz="1200">
                    <a:latin typeface="Avenir Next LT Pro" panose="020B0504020202020204" pitchFamily="34" charset="0"/>
                    <a:cs typeface="Times New Roman" pitchFamily="18" charset="0"/>
                  </a:defRPr>
                </a:pPr>
                <a:r>
                  <a:rPr lang="en-US" sz="1200">
                    <a:latin typeface="Avenir Next LT Pro" panose="020B0504020202020204" pitchFamily="34" charset="0"/>
                    <a:cs typeface="Times New Roman" pitchFamily="18" charset="0"/>
                  </a:rPr>
                  <a:t>drilling cost (MUSD)</a:t>
                </a:r>
              </a:p>
            </c:rich>
          </c:tx>
          <c:overlay val="0"/>
        </c:title>
        <c:numFmt formatCode="General" sourceLinked="1"/>
        <c:majorTickMark val="out"/>
        <c:minorTickMark val="none"/>
        <c:tickLblPos val="nextTo"/>
        <c:txPr>
          <a:bodyPr/>
          <a:lstStyle/>
          <a:p>
            <a:pPr>
              <a:defRPr sz="1200">
                <a:latin typeface="Avenir Next LT Pro" panose="020B0504020202020204" pitchFamily="34" charset="0"/>
                <a:cs typeface="Times New Roman" pitchFamily="18" charset="0"/>
              </a:defRPr>
            </a:pPr>
            <a:endParaRPr lang="en-US"/>
          </a:p>
        </c:txPr>
        <c:crossAx val="105977344"/>
        <c:crosses val="autoZero"/>
        <c:auto val="1"/>
        <c:lblAlgn val="ctr"/>
        <c:lblOffset val="100"/>
        <c:noMultiLvlLbl val="0"/>
      </c:catAx>
      <c:valAx>
        <c:axId val="105977344"/>
        <c:scaling>
          <c:orientation val="minMax"/>
          <c:max val="80"/>
        </c:scaling>
        <c:delete val="0"/>
        <c:axPos val="l"/>
        <c:majorGridlines/>
        <c:title>
          <c:tx>
            <c:rich>
              <a:bodyPr rot="-5400000" vert="horz"/>
              <a:lstStyle/>
              <a:p>
                <a:pPr>
                  <a:defRPr sz="1400">
                    <a:latin typeface="Avenir Next LT Pro" panose="020B0504020202020204" pitchFamily="34" charset="0"/>
                    <a:cs typeface="Times New Roman" pitchFamily="18" charset="0"/>
                  </a:defRPr>
                </a:pPr>
                <a:r>
                  <a:rPr lang="en-US" sz="1400">
                    <a:latin typeface="Avenir Next LT Pro" panose="020B0504020202020204" pitchFamily="34" charset="0"/>
                    <a:cs typeface="Times New Roman" pitchFamily="18" charset="0"/>
                  </a:rPr>
                  <a:t>frequency</a:t>
                </a:r>
              </a:p>
            </c:rich>
          </c:tx>
          <c:overlay val="0"/>
        </c:title>
        <c:numFmt formatCode="General" sourceLinked="1"/>
        <c:majorTickMark val="out"/>
        <c:minorTickMark val="none"/>
        <c:tickLblPos val="nextTo"/>
        <c:txPr>
          <a:bodyPr/>
          <a:lstStyle/>
          <a:p>
            <a:pPr>
              <a:defRPr sz="1200">
                <a:latin typeface="Avenir Next LT Pro" panose="020B0504020202020204" pitchFamily="34" charset="0"/>
                <a:cs typeface="Times New Roman" pitchFamily="18" charset="0"/>
              </a:defRPr>
            </a:pPr>
            <a:endParaRPr lang="en-US"/>
          </a:p>
        </c:txPr>
        <c:crossAx val="105793792"/>
        <c:crosses val="autoZero"/>
        <c:crossBetween val="between"/>
      </c:valAx>
      <c:spPr>
        <a:solidFill>
          <a:schemeClr val="tx2">
            <a:lumMod val="20000"/>
            <a:lumOff val="80000"/>
          </a:schemeClr>
        </a:solidFill>
      </c:spPr>
    </c:plotArea>
    <c:plotVisOnly val="1"/>
    <c:dispBlanksAs val="gap"/>
    <c:showDLblsOverMax val="0"/>
  </c:chart>
  <c:spPr>
    <a:ln w="3175"/>
  </c:sp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0"/>
    <c:plotArea>
      <c:layout>
        <c:manualLayout>
          <c:layoutTarget val="inner"/>
          <c:xMode val="edge"/>
          <c:yMode val="edge"/>
          <c:x val="0.17305225452989922"/>
          <c:y val="6.1538886096348076E-2"/>
          <c:w val="0.73543518717323419"/>
          <c:h val="0.79441223173506637"/>
        </c:manualLayout>
      </c:layout>
      <c:scatterChart>
        <c:scatterStyle val="lineMarker"/>
        <c:varyColors val="0"/>
        <c:ser>
          <c:idx val="0"/>
          <c:order val="0"/>
          <c:tx>
            <c:v>Kamojang</c:v>
          </c:tx>
          <c:spPr>
            <a:ln w="66675">
              <a:noFill/>
            </a:ln>
          </c:spPr>
          <c:marker>
            <c:symbol val="square"/>
            <c:size val="13"/>
            <c:spPr>
              <a:solidFill>
                <a:srgbClr val="FF33CC"/>
              </a:solidFill>
              <a:ln>
                <a:noFill/>
              </a:ln>
            </c:spPr>
          </c:marker>
          <c:xVal>
            <c:numRef>
              <c:f>'Rekap (Q3-2021)'!$F$7:$F$11</c:f>
              <c:numCache>
                <c:formatCode>0</c:formatCode>
                <c:ptCount val="5"/>
                <c:pt idx="0">
                  <c:v>3009</c:v>
                </c:pt>
                <c:pt idx="1">
                  <c:v>2612</c:v>
                </c:pt>
                <c:pt idx="2">
                  <c:v>2308</c:v>
                </c:pt>
                <c:pt idx="3">
                  <c:v>3001</c:v>
                </c:pt>
                <c:pt idx="4">
                  <c:v>2605</c:v>
                </c:pt>
              </c:numCache>
            </c:numRef>
          </c:xVal>
          <c:yVal>
            <c:numRef>
              <c:f>'Rekap (Q3-2021)'!$I$7:$I$11</c:f>
              <c:numCache>
                <c:formatCode>_(* #,##0_);_(* \(#,##0\);_(* "-"??_);_(@_)</c:formatCode>
                <c:ptCount val="5"/>
                <c:pt idx="0">
                  <c:v>8184259.5916143078</c:v>
                </c:pt>
                <c:pt idx="1">
                  <c:v>9747429.1259720065</c:v>
                </c:pt>
                <c:pt idx="2">
                  <c:v>9410580.9367091749</c:v>
                </c:pt>
                <c:pt idx="3">
                  <c:v>7370289.8356496589</c:v>
                </c:pt>
                <c:pt idx="4">
                  <c:v>9181255.1560488753</c:v>
                </c:pt>
              </c:numCache>
            </c:numRef>
          </c:yVal>
          <c:smooth val="0"/>
          <c:extLst>
            <c:ext xmlns:c16="http://schemas.microsoft.com/office/drawing/2014/chart" uri="{C3380CC4-5D6E-409C-BE32-E72D297353CC}">
              <c16:uniqueId val="{00000000-FD7F-44CF-98BB-88484B9904F8}"/>
            </c:ext>
          </c:extLst>
        </c:ser>
        <c:ser>
          <c:idx val="1"/>
          <c:order val="1"/>
          <c:tx>
            <c:v>Lahendong</c:v>
          </c:tx>
          <c:spPr>
            <a:ln w="66675">
              <a:noFill/>
            </a:ln>
          </c:spPr>
          <c:marker>
            <c:spPr>
              <a:ln>
                <a:noFill/>
              </a:ln>
            </c:spPr>
          </c:marker>
          <c:xVal>
            <c:numRef>
              <c:f>'Rekap (Q3-2021)'!$F$15:$F$24</c:f>
              <c:numCache>
                <c:formatCode>0</c:formatCode>
                <c:ptCount val="10"/>
                <c:pt idx="0">
                  <c:v>2810</c:v>
                </c:pt>
                <c:pt idx="1">
                  <c:v>3000</c:v>
                </c:pt>
                <c:pt idx="2">
                  <c:v>2900</c:v>
                </c:pt>
                <c:pt idx="3">
                  <c:v>2799</c:v>
                </c:pt>
                <c:pt idx="4">
                  <c:v>2840</c:v>
                </c:pt>
                <c:pt idx="5">
                  <c:v>2300</c:v>
                </c:pt>
                <c:pt idx="6">
                  <c:v>3003</c:v>
                </c:pt>
                <c:pt idx="7">
                  <c:v>2801</c:v>
                </c:pt>
                <c:pt idx="8">
                  <c:v>2500</c:v>
                </c:pt>
                <c:pt idx="9">
                  <c:v>3003</c:v>
                </c:pt>
              </c:numCache>
            </c:numRef>
          </c:xVal>
          <c:yVal>
            <c:numRef>
              <c:f>'Rekap (Q3-2021)'!$I$15:$I$24</c:f>
              <c:numCache>
                <c:formatCode>_(* #,##0_);_(* \(#,##0\);_(* "-"??_);_(@_)</c:formatCode>
                <c:ptCount val="10"/>
                <c:pt idx="0">
                  <c:v>6849609.9681741837</c:v>
                </c:pt>
                <c:pt idx="1">
                  <c:v>8730924.5337480567</c:v>
                </c:pt>
                <c:pt idx="2">
                  <c:v>6211100.7153965784</c:v>
                </c:pt>
                <c:pt idx="3">
                  <c:v>6127060.0175178852</c:v>
                </c:pt>
                <c:pt idx="4">
                  <c:v>6745519.6144572319</c:v>
                </c:pt>
                <c:pt idx="5">
                  <c:v>6422890.821760783</c:v>
                </c:pt>
                <c:pt idx="6">
                  <c:v>9676636.2164051514</c:v>
                </c:pt>
                <c:pt idx="7">
                  <c:v>8949968.8887719642</c:v>
                </c:pt>
                <c:pt idx="8">
                  <c:v>7686980.9434680222</c:v>
                </c:pt>
                <c:pt idx="9">
                  <c:v>8019181</c:v>
                </c:pt>
              </c:numCache>
            </c:numRef>
          </c:yVal>
          <c:smooth val="0"/>
          <c:extLst>
            <c:ext xmlns:c16="http://schemas.microsoft.com/office/drawing/2014/chart" uri="{C3380CC4-5D6E-409C-BE32-E72D297353CC}">
              <c16:uniqueId val="{00000001-FD7F-44CF-98BB-88484B9904F8}"/>
            </c:ext>
          </c:extLst>
        </c:ser>
        <c:ser>
          <c:idx val="2"/>
          <c:order val="2"/>
          <c:tx>
            <c:v>Ulubelu</c:v>
          </c:tx>
          <c:spPr>
            <a:ln w="66675">
              <a:noFill/>
            </a:ln>
          </c:spPr>
          <c:marker>
            <c:spPr>
              <a:solidFill>
                <a:srgbClr val="00B050"/>
              </a:solidFill>
              <a:ln>
                <a:noFill/>
              </a:ln>
            </c:spPr>
          </c:marker>
          <c:xVal>
            <c:numRef>
              <c:f>'Rekap (Q3-2021)'!$F$28:$F$49</c:f>
              <c:numCache>
                <c:formatCode>0</c:formatCode>
                <c:ptCount val="22"/>
                <c:pt idx="0">
                  <c:v>1770</c:v>
                </c:pt>
                <c:pt idx="1">
                  <c:v>2091</c:v>
                </c:pt>
                <c:pt idx="2">
                  <c:v>1386</c:v>
                </c:pt>
                <c:pt idx="3">
                  <c:v>2449</c:v>
                </c:pt>
                <c:pt idx="4">
                  <c:v>2247</c:v>
                </c:pt>
                <c:pt idx="5">
                  <c:v>1636</c:v>
                </c:pt>
                <c:pt idx="6">
                  <c:v>1750</c:v>
                </c:pt>
                <c:pt idx="7">
                  <c:v>2016</c:v>
                </c:pt>
                <c:pt idx="8">
                  <c:v>1996</c:v>
                </c:pt>
                <c:pt idx="9">
                  <c:v>1468</c:v>
                </c:pt>
                <c:pt idx="10">
                  <c:v>1979</c:v>
                </c:pt>
                <c:pt idx="11">
                  <c:v>2200</c:v>
                </c:pt>
                <c:pt idx="12">
                  <c:v>2500</c:v>
                </c:pt>
                <c:pt idx="13">
                  <c:v>2412</c:v>
                </c:pt>
                <c:pt idx="14">
                  <c:v>2306</c:v>
                </c:pt>
                <c:pt idx="15">
                  <c:v>2336</c:v>
                </c:pt>
                <c:pt idx="16">
                  <c:v>3000</c:v>
                </c:pt>
                <c:pt idx="17">
                  <c:v>2465</c:v>
                </c:pt>
                <c:pt idx="18">
                  <c:v>2100</c:v>
                </c:pt>
                <c:pt idx="19">
                  <c:v>2165</c:v>
                </c:pt>
                <c:pt idx="20">
                  <c:v>2205</c:v>
                </c:pt>
                <c:pt idx="21">
                  <c:v>1663</c:v>
                </c:pt>
              </c:numCache>
            </c:numRef>
          </c:xVal>
          <c:yVal>
            <c:numRef>
              <c:f>'Rekap (Q3-2021)'!$I$28:$I$49</c:f>
              <c:numCache>
                <c:formatCode>_(* #,##0_);_(* \(#,##0\);_(* "-"??_);_(@_)</c:formatCode>
                <c:ptCount val="22"/>
                <c:pt idx="0">
                  <c:v>6707896.8699029125</c:v>
                </c:pt>
                <c:pt idx="1">
                  <c:v>4985400.3156086626</c:v>
                </c:pt>
                <c:pt idx="2">
                  <c:v>6561439.4240477961</c:v>
                </c:pt>
                <c:pt idx="3">
                  <c:v>7646363.974458551</c:v>
                </c:pt>
                <c:pt idx="4">
                  <c:v>11511896.573114263</c:v>
                </c:pt>
                <c:pt idx="5">
                  <c:v>7031370.9715707619</c:v>
                </c:pt>
                <c:pt idx="6">
                  <c:v>5404568.7863141522</c:v>
                </c:pt>
                <c:pt idx="7">
                  <c:v>6113226.5244167959</c:v>
                </c:pt>
                <c:pt idx="8">
                  <c:v>8703208.9521368593</c:v>
                </c:pt>
                <c:pt idx="9">
                  <c:v>9933108.1342208404</c:v>
                </c:pt>
                <c:pt idx="10">
                  <c:v>7567913.8949673409</c:v>
                </c:pt>
                <c:pt idx="11">
                  <c:v>9595568.5108334143</c:v>
                </c:pt>
                <c:pt idx="12">
                  <c:v>11611546.112487083</c:v>
                </c:pt>
                <c:pt idx="13">
                  <c:v>11374678.640233019</c:v>
                </c:pt>
                <c:pt idx="14">
                  <c:v>10168587.030724423</c:v>
                </c:pt>
                <c:pt idx="15">
                  <c:v>8386917.1582448576</c:v>
                </c:pt>
                <c:pt idx="16">
                  <c:v>9725518.2915026583</c:v>
                </c:pt>
                <c:pt idx="17">
                  <c:v>5742741.5521686412</c:v>
                </c:pt>
                <c:pt idx="18">
                  <c:v>8354009.8408730524</c:v>
                </c:pt>
                <c:pt idx="19">
                  <c:v>5715664.6099431021</c:v>
                </c:pt>
                <c:pt idx="20">
                  <c:v>5245628.5283306204</c:v>
                </c:pt>
                <c:pt idx="21">
                  <c:v>4388776.5143768787</c:v>
                </c:pt>
              </c:numCache>
            </c:numRef>
          </c:yVal>
          <c:smooth val="0"/>
          <c:extLst>
            <c:ext xmlns:c16="http://schemas.microsoft.com/office/drawing/2014/chart" uri="{C3380CC4-5D6E-409C-BE32-E72D297353CC}">
              <c16:uniqueId val="{00000002-FD7F-44CF-98BB-88484B9904F8}"/>
            </c:ext>
          </c:extLst>
        </c:ser>
        <c:ser>
          <c:idx val="3"/>
          <c:order val="3"/>
          <c:tx>
            <c:v>Karaha</c:v>
          </c:tx>
          <c:spPr>
            <a:ln w="66675">
              <a:noFill/>
            </a:ln>
          </c:spPr>
          <c:marker>
            <c:spPr>
              <a:solidFill>
                <a:schemeClr val="bg1">
                  <a:lumMod val="75000"/>
                </a:schemeClr>
              </a:solidFill>
            </c:spPr>
          </c:marker>
          <c:xVal>
            <c:numRef>
              <c:f>'Rekap (Q3-2021)'!$F$52:$F$54</c:f>
              <c:numCache>
                <c:formatCode>0</c:formatCode>
                <c:ptCount val="3"/>
                <c:pt idx="0">
                  <c:v>2187</c:v>
                </c:pt>
                <c:pt idx="1">
                  <c:v>2551</c:v>
                </c:pt>
                <c:pt idx="2">
                  <c:v>2204</c:v>
                </c:pt>
              </c:numCache>
            </c:numRef>
          </c:xVal>
          <c:yVal>
            <c:numRef>
              <c:f>'Rekap (Q3-2021)'!$I$52:$I$54</c:f>
              <c:numCache>
                <c:formatCode>_(* #,##0_);_(* \(#,##0\);_(* "-"??_);_(@_)</c:formatCode>
                <c:ptCount val="3"/>
                <c:pt idx="0">
                  <c:v>6593645.8823002232</c:v>
                </c:pt>
                <c:pt idx="1">
                  <c:v>8189388.8852875279</c:v>
                </c:pt>
                <c:pt idx="2">
                  <c:v>6012227.3350751316</c:v>
                </c:pt>
              </c:numCache>
            </c:numRef>
          </c:yVal>
          <c:smooth val="0"/>
          <c:extLst>
            <c:ext xmlns:c16="http://schemas.microsoft.com/office/drawing/2014/chart" uri="{C3380CC4-5D6E-409C-BE32-E72D297353CC}">
              <c16:uniqueId val="{00000003-FD7F-44CF-98BB-88484B9904F8}"/>
            </c:ext>
          </c:extLst>
        </c:ser>
        <c:ser>
          <c:idx val="4"/>
          <c:order val="4"/>
          <c:tx>
            <c:v>Hululais</c:v>
          </c:tx>
          <c:spPr>
            <a:ln w="66675">
              <a:noFill/>
            </a:ln>
          </c:spPr>
          <c:marker>
            <c:symbol val="circle"/>
            <c:size val="10"/>
          </c:marker>
          <c:xVal>
            <c:numRef>
              <c:f>'Rekap (Q3-2021)'!$F$57:$F$79</c:f>
              <c:numCache>
                <c:formatCode>0</c:formatCode>
                <c:ptCount val="23"/>
                <c:pt idx="0">
                  <c:v>3006</c:v>
                </c:pt>
                <c:pt idx="1">
                  <c:v>2580</c:v>
                </c:pt>
                <c:pt idx="2">
                  <c:v>3203</c:v>
                </c:pt>
                <c:pt idx="3">
                  <c:v>2941</c:v>
                </c:pt>
                <c:pt idx="4">
                  <c:v>1253</c:v>
                </c:pt>
                <c:pt idx="5">
                  <c:v>2435</c:v>
                </c:pt>
                <c:pt idx="6">
                  <c:v>3006</c:v>
                </c:pt>
                <c:pt idx="7">
                  <c:v>3280</c:v>
                </c:pt>
                <c:pt idx="8">
                  <c:v>3156</c:v>
                </c:pt>
                <c:pt idx="9">
                  <c:v>3014</c:v>
                </c:pt>
                <c:pt idx="10">
                  <c:v>3006</c:v>
                </c:pt>
                <c:pt idx="11">
                  <c:v>1668</c:v>
                </c:pt>
                <c:pt idx="12">
                  <c:v>1803</c:v>
                </c:pt>
                <c:pt idx="13">
                  <c:v>3200</c:v>
                </c:pt>
                <c:pt idx="14">
                  <c:v>2786</c:v>
                </c:pt>
                <c:pt idx="15">
                  <c:v>3000</c:v>
                </c:pt>
                <c:pt idx="16">
                  <c:v>1800</c:v>
                </c:pt>
                <c:pt idx="17">
                  <c:v>3101</c:v>
                </c:pt>
                <c:pt idx="18">
                  <c:v>3204</c:v>
                </c:pt>
                <c:pt idx="19">
                  <c:v>2000</c:v>
                </c:pt>
                <c:pt idx="20">
                  <c:v>2961</c:v>
                </c:pt>
                <c:pt idx="21">
                  <c:v>2690</c:v>
                </c:pt>
                <c:pt idx="22">
                  <c:v>3000</c:v>
                </c:pt>
              </c:numCache>
            </c:numRef>
          </c:xVal>
          <c:yVal>
            <c:numRef>
              <c:f>'Rekap (Q3-2021)'!$I$57:$I$79</c:f>
              <c:numCache>
                <c:formatCode>_(* #,##0_);_(* \(#,##0\);_(* "-"??_);_(@_)</c:formatCode>
                <c:ptCount val="23"/>
                <c:pt idx="0">
                  <c:v>9299693.3001555204</c:v>
                </c:pt>
                <c:pt idx="1">
                  <c:v>8418484.4010699838</c:v>
                </c:pt>
                <c:pt idx="2">
                  <c:v>13734453.632696735</c:v>
                </c:pt>
                <c:pt idx="3">
                  <c:v>17987903.842901442</c:v>
                </c:pt>
                <c:pt idx="4">
                  <c:v>12924217.227774126</c:v>
                </c:pt>
                <c:pt idx="5">
                  <c:v>11078365.1871089</c:v>
                </c:pt>
                <c:pt idx="6">
                  <c:v>11530577.182706978</c:v>
                </c:pt>
                <c:pt idx="7">
                  <c:v>11689009.751756616</c:v>
                </c:pt>
                <c:pt idx="8">
                  <c:v>10158802.278911179</c:v>
                </c:pt>
                <c:pt idx="9">
                  <c:v>16454665.63903174</c:v>
                </c:pt>
                <c:pt idx="10">
                  <c:v>13531556.331016293</c:v>
                </c:pt>
                <c:pt idx="11">
                  <c:v>12240026.687958213</c:v>
                </c:pt>
                <c:pt idx="12">
                  <c:v>5561527.6286913529</c:v>
                </c:pt>
                <c:pt idx="13">
                  <c:v>8615146.0812983867</c:v>
                </c:pt>
                <c:pt idx="14">
                  <c:v>10054643.402070703</c:v>
                </c:pt>
                <c:pt idx="15">
                  <c:v>10009906.132487642</c:v>
                </c:pt>
                <c:pt idx="16">
                  <c:v>5077050.1306967633</c:v>
                </c:pt>
                <c:pt idx="17">
                  <c:v>10711183.351403786</c:v>
                </c:pt>
                <c:pt idx="18">
                  <c:v>10946391.264098497</c:v>
                </c:pt>
                <c:pt idx="19">
                  <c:v>4294513.7964076269</c:v>
                </c:pt>
                <c:pt idx="20">
                  <c:v>6286610.4880591966</c:v>
                </c:pt>
                <c:pt idx="21">
                  <c:v>5845780.0703245411</c:v>
                </c:pt>
                <c:pt idx="22">
                  <c:v>6098167.8668348622</c:v>
                </c:pt>
              </c:numCache>
            </c:numRef>
          </c:yVal>
          <c:smooth val="0"/>
          <c:extLst>
            <c:ext xmlns:c16="http://schemas.microsoft.com/office/drawing/2014/chart" uri="{C3380CC4-5D6E-409C-BE32-E72D297353CC}">
              <c16:uniqueId val="{00000004-FD7F-44CF-98BB-88484B9904F8}"/>
            </c:ext>
          </c:extLst>
        </c:ser>
        <c:ser>
          <c:idx val="5"/>
          <c:order val="5"/>
          <c:tx>
            <c:v>Lumut Balai</c:v>
          </c:tx>
          <c:spPr>
            <a:ln w="66675">
              <a:noFill/>
            </a:ln>
          </c:spPr>
          <c:marker>
            <c:spPr>
              <a:ln>
                <a:noFill/>
              </a:ln>
            </c:spPr>
          </c:marker>
          <c:xVal>
            <c:numRef>
              <c:f>'Rekap (Q3-2021)'!$F$82:$F$94</c:f>
              <c:numCache>
                <c:formatCode>0</c:formatCode>
                <c:ptCount val="13"/>
                <c:pt idx="0">
                  <c:v>2495</c:v>
                </c:pt>
                <c:pt idx="1">
                  <c:v>2616</c:v>
                </c:pt>
                <c:pt idx="2">
                  <c:v>2632</c:v>
                </c:pt>
                <c:pt idx="3">
                  <c:v>2700</c:v>
                </c:pt>
                <c:pt idx="4">
                  <c:v>2979</c:v>
                </c:pt>
                <c:pt idx="5">
                  <c:v>2701</c:v>
                </c:pt>
                <c:pt idx="6">
                  <c:v>2940</c:v>
                </c:pt>
                <c:pt idx="7">
                  <c:v>3000</c:v>
                </c:pt>
                <c:pt idx="8">
                  <c:v>1503</c:v>
                </c:pt>
                <c:pt idx="9">
                  <c:v>3003</c:v>
                </c:pt>
                <c:pt idx="10">
                  <c:v>3001</c:v>
                </c:pt>
                <c:pt idx="11">
                  <c:v>3003</c:v>
                </c:pt>
                <c:pt idx="12">
                  <c:v>3003</c:v>
                </c:pt>
              </c:numCache>
            </c:numRef>
          </c:xVal>
          <c:yVal>
            <c:numRef>
              <c:f>'Rekap (Q3-2021)'!$I$82:$I$94</c:f>
              <c:numCache>
                <c:formatCode>_(* #,##0_);_(* \(#,##0\);_(* "-"??_);_(@_)</c:formatCode>
                <c:ptCount val="13"/>
                <c:pt idx="0">
                  <c:v>8244433.8692379473</c:v>
                </c:pt>
                <c:pt idx="1">
                  <c:v>6674536.7807318894</c:v>
                </c:pt>
                <c:pt idx="2">
                  <c:v>7081358.2926064227</c:v>
                </c:pt>
                <c:pt idx="3">
                  <c:v>7308143.086432348</c:v>
                </c:pt>
                <c:pt idx="4">
                  <c:v>9503539.9045474343</c:v>
                </c:pt>
                <c:pt idx="5">
                  <c:v>5718014.4411913948</c:v>
                </c:pt>
                <c:pt idx="6">
                  <c:v>8917972.6099783927</c:v>
                </c:pt>
                <c:pt idx="7">
                  <c:v>6629000.6005825447</c:v>
                </c:pt>
                <c:pt idx="8">
                  <c:v>12933273.68238279</c:v>
                </c:pt>
                <c:pt idx="9">
                  <c:v>9278776.7833474614</c:v>
                </c:pt>
                <c:pt idx="10">
                  <c:v>6314035.0780710755</c:v>
                </c:pt>
                <c:pt idx="11">
                  <c:v>7965470.4950657589</c:v>
                </c:pt>
                <c:pt idx="12">
                  <c:v>9120194.4047010541</c:v>
                </c:pt>
              </c:numCache>
            </c:numRef>
          </c:yVal>
          <c:smooth val="0"/>
          <c:extLst>
            <c:ext xmlns:c16="http://schemas.microsoft.com/office/drawing/2014/chart" uri="{C3380CC4-5D6E-409C-BE32-E72D297353CC}">
              <c16:uniqueId val="{00000005-FD7F-44CF-98BB-88484B9904F8}"/>
            </c:ext>
          </c:extLst>
        </c:ser>
        <c:ser>
          <c:idx val="6"/>
          <c:order val="6"/>
          <c:tx>
            <c:v>Sorik Marapi</c:v>
          </c:tx>
          <c:spPr>
            <a:ln w="66675">
              <a:noFill/>
            </a:ln>
          </c:spPr>
          <c:marker>
            <c:symbol val="circle"/>
            <c:size val="10"/>
            <c:spPr>
              <a:solidFill>
                <a:schemeClr val="tx1"/>
              </a:solidFill>
            </c:spPr>
          </c:marker>
          <c:xVal>
            <c:numRef>
              <c:f>'Rekap (Q3-2021)'!$F$98:$F$141</c:f>
              <c:numCache>
                <c:formatCode>0</c:formatCode>
                <c:ptCount val="44"/>
                <c:pt idx="0">
                  <c:v>984</c:v>
                </c:pt>
                <c:pt idx="1">
                  <c:v>2200</c:v>
                </c:pt>
                <c:pt idx="2">
                  <c:v>2129</c:v>
                </c:pt>
                <c:pt idx="3">
                  <c:v>2089</c:v>
                </c:pt>
                <c:pt idx="4">
                  <c:v>2210</c:v>
                </c:pt>
                <c:pt idx="5">
                  <c:v>1878</c:v>
                </c:pt>
                <c:pt idx="6">
                  <c:v>2383</c:v>
                </c:pt>
                <c:pt idx="7">
                  <c:v>2400</c:v>
                </c:pt>
                <c:pt idx="8">
                  <c:v>2593</c:v>
                </c:pt>
                <c:pt idx="9">
                  <c:v>498</c:v>
                </c:pt>
                <c:pt idx="10">
                  <c:v>2541</c:v>
                </c:pt>
                <c:pt idx="11">
                  <c:v>2500</c:v>
                </c:pt>
                <c:pt idx="12">
                  <c:v>1828</c:v>
                </c:pt>
                <c:pt idx="13">
                  <c:v>1765</c:v>
                </c:pt>
                <c:pt idx="14">
                  <c:v>2550</c:v>
                </c:pt>
                <c:pt idx="15">
                  <c:v>2250</c:v>
                </c:pt>
                <c:pt idx="16">
                  <c:v>984</c:v>
                </c:pt>
                <c:pt idx="17">
                  <c:v>2200</c:v>
                </c:pt>
                <c:pt idx="18">
                  <c:v>1800</c:v>
                </c:pt>
                <c:pt idx="19">
                  <c:v>1800</c:v>
                </c:pt>
                <c:pt idx="20">
                  <c:v>2250</c:v>
                </c:pt>
                <c:pt idx="21">
                  <c:v>1732</c:v>
                </c:pt>
                <c:pt idx="22">
                  <c:v>2284</c:v>
                </c:pt>
                <c:pt idx="23">
                  <c:v>2228</c:v>
                </c:pt>
                <c:pt idx="24">
                  <c:v>2228.6799999999998</c:v>
                </c:pt>
                <c:pt idx="25">
                  <c:v>2473</c:v>
                </c:pt>
                <c:pt idx="26">
                  <c:v>2100</c:v>
                </c:pt>
                <c:pt idx="27">
                  <c:v>2657</c:v>
                </c:pt>
                <c:pt idx="28">
                  <c:v>1715</c:v>
                </c:pt>
                <c:pt idx="29">
                  <c:v>1938</c:v>
                </c:pt>
                <c:pt idx="30">
                  <c:v>2305</c:v>
                </c:pt>
                <c:pt idx="31">
                  <c:v>2577</c:v>
                </c:pt>
                <c:pt idx="32">
                  <c:v>1829</c:v>
                </c:pt>
                <c:pt idx="33">
                  <c:v>2101</c:v>
                </c:pt>
                <c:pt idx="34">
                  <c:v>2550</c:v>
                </c:pt>
                <c:pt idx="35">
                  <c:v>1750</c:v>
                </c:pt>
                <c:pt idx="36">
                  <c:v>2328.4</c:v>
                </c:pt>
                <c:pt idx="37">
                  <c:v>1655</c:v>
                </c:pt>
                <c:pt idx="38">
                  <c:v>2200</c:v>
                </c:pt>
                <c:pt idx="39">
                  <c:v>2450</c:v>
                </c:pt>
                <c:pt idx="40">
                  <c:v>2715.01</c:v>
                </c:pt>
                <c:pt idx="41">
                  <c:v>2450</c:v>
                </c:pt>
                <c:pt idx="42">
                  <c:v>2550</c:v>
                </c:pt>
                <c:pt idx="43">
                  <c:v>1758.72</c:v>
                </c:pt>
              </c:numCache>
            </c:numRef>
          </c:xVal>
          <c:yVal>
            <c:numRef>
              <c:f>'Rekap (Q3-2021)'!$I$98:$I$141</c:f>
              <c:numCache>
                <c:formatCode>_(* #,##0_);_(* \(#,##0\);_(* "-"??_);_(@_)</c:formatCode>
                <c:ptCount val="44"/>
                <c:pt idx="0">
                  <c:v>10187975.224128539</c:v>
                </c:pt>
                <c:pt idx="1">
                  <c:v>5412383.564032699</c:v>
                </c:pt>
                <c:pt idx="2">
                  <c:v>3971986.7492512004</c:v>
                </c:pt>
                <c:pt idx="3">
                  <c:v>4894398.9556371849</c:v>
                </c:pt>
                <c:pt idx="4">
                  <c:v>5020904.0449091075</c:v>
                </c:pt>
                <c:pt idx="5">
                  <c:v>4529138.286144862</c:v>
                </c:pt>
                <c:pt idx="6">
                  <c:v>4893442.4495055098</c:v>
                </c:pt>
                <c:pt idx="7">
                  <c:v>6906826.5421870574</c:v>
                </c:pt>
                <c:pt idx="8">
                  <c:v>6218898.3394932644</c:v>
                </c:pt>
                <c:pt idx="9">
                  <c:v>1317084.417519073</c:v>
                </c:pt>
                <c:pt idx="10">
                  <c:v>3946781.0838541179</c:v>
                </c:pt>
                <c:pt idx="11">
                  <c:v>3440783.5090010259</c:v>
                </c:pt>
                <c:pt idx="12">
                  <c:v>3339583.9940304076</c:v>
                </c:pt>
                <c:pt idx="13">
                  <c:v>3946781.0838541179</c:v>
                </c:pt>
                <c:pt idx="14">
                  <c:v>2833586.4191773157</c:v>
                </c:pt>
                <c:pt idx="15">
                  <c:v>3643182.5389422625</c:v>
                </c:pt>
                <c:pt idx="16">
                  <c:v>4351579.1437365916</c:v>
                </c:pt>
                <c:pt idx="17">
                  <c:v>5059975.7485309206</c:v>
                </c:pt>
                <c:pt idx="18">
                  <c:v>5262374.7784721572</c:v>
                </c:pt>
                <c:pt idx="19">
                  <c:v>5363574.2934427755</c:v>
                </c:pt>
                <c:pt idx="20">
                  <c:v>4958776.2335603023</c:v>
                </c:pt>
                <c:pt idx="21">
                  <c:v>4429726.1327397218</c:v>
                </c:pt>
                <c:pt idx="22">
                  <c:v>4632942.0156222172</c:v>
                </c:pt>
                <c:pt idx="23">
                  <c:v>4734888.7468083147</c:v>
                </c:pt>
                <c:pt idx="24">
                  <c:v>4402817.0311282612</c:v>
                </c:pt>
                <c:pt idx="25">
                  <c:v>4259755.6317248922</c:v>
                </c:pt>
                <c:pt idx="26">
                  <c:v>3199790.5844984781</c:v>
                </c:pt>
                <c:pt idx="27">
                  <c:v>4207068.1773379454</c:v>
                </c:pt>
                <c:pt idx="28">
                  <c:v>1537402.5867457758</c:v>
                </c:pt>
                <c:pt idx="29">
                  <c:v>3036223.5325598931</c:v>
                </c:pt>
                <c:pt idx="30">
                  <c:v>3095580.091847253</c:v>
                </c:pt>
                <c:pt idx="31">
                  <c:v>3123601.361717307</c:v>
                </c:pt>
                <c:pt idx="32">
                  <c:v>3913668.7175020855</c:v>
                </c:pt>
                <c:pt idx="33">
                  <c:v>1764508.7654647159</c:v>
                </c:pt>
                <c:pt idx="34">
                  <c:v>1506819.1899288388</c:v>
                </c:pt>
                <c:pt idx="35">
                  <c:v>2472388.9358339142</c:v>
                </c:pt>
                <c:pt idx="36">
                  <c:v>3341250.0088573736</c:v>
                </c:pt>
                <c:pt idx="37">
                  <c:v>2004154.5862988362</c:v>
                </c:pt>
                <c:pt idx="38">
                  <c:v>2536188.0486513367</c:v>
                </c:pt>
                <c:pt idx="39">
                  <c:v>3670040.3098235074</c:v>
                </c:pt>
                <c:pt idx="40">
                  <c:v>3067012.2622441412</c:v>
                </c:pt>
                <c:pt idx="41">
                  <c:v>1389104.5544890072</c:v>
                </c:pt>
                <c:pt idx="42">
                  <c:v>4271714.7561698109</c:v>
                </c:pt>
                <c:pt idx="43">
                  <c:v>1286790.700708813</c:v>
                </c:pt>
              </c:numCache>
            </c:numRef>
          </c:yVal>
          <c:smooth val="0"/>
          <c:extLst>
            <c:ext xmlns:c16="http://schemas.microsoft.com/office/drawing/2014/chart" uri="{C3380CC4-5D6E-409C-BE32-E72D297353CC}">
              <c16:uniqueId val="{00000006-FD7F-44CF-98BB-88484B9904F8}"/>
            </c:ext>
          </c:extLst>
        </c:ser>
        <c:ser>
          <c:idx val="7"/>
          <c:order val="7"/>
          <c:tx>
            <c:v>Rantau Dedap</c:v>
          </c:tx>
          <c:spPr>
            <a:ln w="66675">
              <a:noFill/>
            </a:ln>
          </c:spPr>
          <c:marker>
            <c:symbol val="diamond"/>
            <c:size val="12"/>
            <c:spPr>
              <a:solidFill>
                <a:srgbClr val="FFFF00"/>
              </a:solidFill>
            </c:spPr>
          </c:marker>
          <c:xVal>
            <c:numRef>
              <c:f>'Rekap (Q3-2021)'!$F$144:$F$169</c:f>
              <c:numCache>
                <c:formatCode>0</c:formatCode>
                <c:ptCount val="26"/>
                <c:pt idx="0">
                  <c:v>2347</c:v>
                </c:pt>
                <c:pt idx="1">
                  <c:v>2248</c:v>
                </c:pt>
                <c:pt idx="2">
                  <c:v>2427</c:v>
                </c:pt>
                <c:pt idx="3">
                  <c:v>2723</c:v>
                </c:pt>
                <c:pt idx="4">
                  <c:v>2700</c:v>
                </c:pt>
                <c:pt idx="5">
                  <c:v>2511</c:v>
                </c:pt>
                <c:pt idx="6">
                  <c:v>3123</c:v>
                </c:pt>
                <c:pt idx="7">
                  <c:v>3123</c:v>
                </c:pt>
                <c:pt idx="8">
                  <c:v>2350</c:v>
                </c:pt>
                <c:pt idx="9">
                  <c:v>3013</c:v>
                </c:pt>
                <c:pt idx="10">
                  <c:v>3000</c:v>
                </c:pt>
                <c:pt idx="11">
                  <c:v>2994</c:v>
                </c:pt>
                <c:pt idx="12">
                  <c:v>2500</c:v>
                </c:pt>
                <c:pt idx="13">
                  <c:v>2500</c:v>
                </c:pt>
                <c:pt idx="14">
                  <c:v>2800</c:v>
                </c:pt>
                <c:pt idx="15">
                  <c:v>3200</c:v>
                </c:pt>
                <c:pt idx="16">
                  <c:v>3000</c:v>
                </c:pt>
                <c:pt idx="17">
                  <c:v>2600</c:v>
                </c:pt>
                <c:pt idx="18">
                  <c:v>2600</c:v>
                </c:pt>
                <c:pt idx="19">
                  <c:v>2450</c:v>
                </c:pt>
                <c:pt idx="20">
                  <c:v>2600</c:v>
                </c:pt>
                <c:pt idx="21">
                  <c:v>2626</c:v>
                </c:pt>
                <c:pt idx="22">
                  <c:v>1879</c:v>
                </c:pt>
                <c:pt idx="23">
                  <c:v>2400</c:v>
                </c:pt>
                <c:pt idx="24">
                  <c:v>2400</c:v>
                </c:pt>
                <c:pt idx="25">
                  <c:v>1700</c:v>
                </c:pt>
              </c:numCache>
            </c:numRef>
          </c:xVal>
          <c:yVal>
            <c:numRef>
              <c:f>'Rekap (Q3-2021)'!$I$144:$I$169</c:f>
              <c:numCache>
                <c:formatCode>_(* #,##0_);_(* \(#,##0\);_(* "-"??_);_(@_)</c:formatCode>
                <c:ptCount val="26"/>
                <c:pt idx="0">
                  <c:v>8320652.6371919336</c:v>
                </c:pt>
                <c:pt idx="1">
                  <c:v>5377084.8528752793</c:v>
                </c:pt>
                <c:pt idx="2">
                  <c:v>10289259.484092606</c:v>
                </c:pt>
                <c:pt idx="3">
                  <c:v>9870287.8787154593</c:v>
                </c:pt>
                <c:pt idx="4">
                  <c:v>8163738.5753547419</c:v>
                </c:pt>
                <c:pt idx="5">
                  <c:v>6870244.7937293937</c:v>
                </c:pt>
                <c:pt idx="6">
                  <c:v>7442802.3241115566</c:v>
                </c:pt>
                <c:pt idx="7">
                  <c:v>8903987.1268506851</c:v>
                </c:pt>
                <c:pt idx="8">
                  <c:v>5409910.5153623726</c:v>
                </c:pt>
                <c:pt idx="9">
                  <c:v>7169716.426687954</c:v>
                </c:pt>
                <c:pt idx="10">
                  <c:v>6436583.6427198956</c:v>
                </c:pt>
                <c:pt idx="11">
                  <c:v>5662316.9287604773</c:v>
                </c:pt>
                <c:pt idx="12">
                  <c:v>5254521.0095980838</c:v>
                </c:pt>
                <c:pt idx="13">
                  <c:v>3695668.4437839659</c:v>
                </c:pt>
                <c:pt idx="14">
                  <c:v>4146233.8199392059</c:v>
                </c:pt>
                <c:pt idx="15">
                  <c:v>4996576.0919156251</c:v>
                </c:pt>
                <c:pt idx="16">
                  <c:v>5011750.6744695874</c:v>
                </c:pt>
                <c:pt idx="17">
                  <c:v>4695141.1644201539</c:v>
                </c:pt>
                <c:pt idx="18">
                  <c:v>5400536.3914888389</c:v>
                </c:pt>
                <c:pt idx="19">
                  <c:v>6110563.7438300224</c:v>
                </c:pt>
                <c:pt idx="20">
                  <c:v>5459957.5143479994</c:v>
                </c:pt>
                <c:pt idx="21">
                  <c:v>7559191.0117612146</c:v>
                </c:pt>
                <c:pt idx="22">
                  <c:v>2066152.7518480315</c:v>
                </c:pt>
                <c:pt idx="23">
                  <c:v>6396011.4157132795</c:v>
                </c:pt>
                <c:pt idx="24">
                  <c:v>3910777.4567328314</c:v>
                </c:pt>
                <c:pt idx="25">
                  <c:v>3618339.0604190007</c:v>
                </c:pt>
              </c:numCache>
            </c:numRef>
          </c:yVal>
          <c:smooth val="0"/>
          <c:extLst>
            <c:ext xmlns:c16="http://schemas.microsoft.com/office/drawing/2014/chart" uri="{C3380CC4-5D6E-409C-BE32-E72D297353CC}">
              <c16:uniqueId val="{00000007-FD7F-44CF-98BB-88484B9904F8}"/>
            </c:ext>
          </c:extLst>
        </c:ser>
        <c:ser>
          <c:idx val="8"/>
          <c:order val="8"/>
          <c:tx>
            <c:v>Muaralaboh</c:v>
          </c:tx>
          <c:spPr>
            <a:ln w="66675">
              <a:noFill/>
            </a:ln>
          </c:spPr>
          <c:marker>
            <c:symbol val="square"/>
            <c:size val="11"/>
            <c:spPr>
              <a:solidFill>
                <a:srgbClr val="FF0000"/>
              </a:solidFill>
            </c:spPr>
          </c:marker>
          <c:xVal>
            <c:numRef>
              <c:f>'Rekap (Q3-2021)'!$F$173:$F$191</c:f>
              <c:numCache>
                <c:formatCode>0</c:formatCode>
                <c:ptCount val="19"/>
                <c:pt idx="0">
                  <c:v>1570</c:v>
                </c:pt>
                <c:pt idx="1">
                  <c:v>2270</c:v>
                </c:pt>
                <c:pt idx="2">
                  <c:v>2423</c:v>
                </c:pt>
                <c:pt idx="3">
                  <c:v>2100</c:v>
                </c:pt>
                <c:pt idx="4">
                  <c:v>1920</c:v>
                </c:pt>
                <c:pt idx="5">
                  <c:v>2564</c:v>
                </c:pt>
                <c:pt idx="6">
                  <c:v>2254</c:v>
                </c:pt>
                <c:pt idx="7">
                  <c:v>2009</c:v>
                </c:pt>
                <c:pt idx="8">
                  <c:v>1600</c:v>
                </c:pt>
                <c:pt idx="9">
                  <c:v>2891</c:v>
                </c:pt>
                <c:pt idx="10">
                  <c:v>2800</c:v>
                </c:pt>
                <c:pt idx="11">
                  <c:v>3103</c:v>
                </c:pt>
                <c:pt idx="12">
                  <c:v>3100</c:v>
                </c:pt>
                <c:pt idx="13">
                  <c:v>2000</c:v>
                </c:pt>
                <c:pt idx="14">
                  <c:v>3000</c:v>
                </c:pt>
                <c:pt idx="15">
                  <c:v>2829</c:v>
                </c:pt>
                <c:pt idx="16">
                  <c:v>1900</c:v>
                </c:pt>
                <c:pt idx="17">
                  <c:v>2000</c:v>
                </c:pt>
                <c:pt idx="18">
                  <c:v>1700</c:v>
                </c:pt>
              </c:numCache>
            </c:numRef>
          </c:xVal>
          <c:yVal>
            <c:numRef>
              <c:f>'Rekap (Q3-2021)'!$I$173:$I$191</c:f>
              <c:numCache>
                <c:formatCode>_(* #,##0_);_(* \(#,##0\);_(* "-"??_);_(@_)</c:formatCode>
                <c:ptCount val="19"/>
                <c:pt idx="0">
                  <c:v>10163048.130393093</c:v>
                </c:pt>
                <c:pt idx="1">
                  <c:v>8607148.2370782159</c:v>
                </c:pt>
                <c:pt idx="2">
                  <c:v>12555947.428282559</c:v>
                </c:pt>
                <c:pt idx="3">
                  <c:v>8164964.9943131469</c:v>
                </c:pt>
                <c:pt idx="4">
                  <c:v>6015748.7678503664</c:v>
                </c:pt>
                <c:pt idx="5">
                  <c:v>8329498.2939466611</c:v>
                </c:pt>
                <c:pt idx="6">
                  <c:v>5313922.9537534136</c:v>
                </c:pt>
                <c:pt idx="7">
                  <c:v>3474488.085146463</c:v>
                </c:pt>
                <c:pt idx="8">
                  <c:v>2554770.6508429875</c:v>
                </c:pt>
                <c:pt idx="9">
                  <c:v>3167915.6070453045</c:v>
                </c:pt>
                <c:pt idx="10">
                  <c:v>4189823.8673824994</c:v>
                </c:pt>
                <c:pt idx="11">
                  <c:v>4394205.5194499381</c:v>
                </c:pt>
                <c:pt idx="12">
                  <c:v>5899036.1070795637</c:v>
                </c:pt>
                <c:pt idx="13">
                  <c:v>6093462.6392314145</c:v>
                </c:pt>
                <c:pt idx="14">
                  <c:v>5598660.3180559473</c:v>
                </c:pt>
                <c:pt idx="15">
                  <c:v>4975779.7760656653</c:v>
                </c:pt>
                <c:pt idx="16">
                  <c:v>7000083.8462089095</c:v>
                </c:pt>
                <c:pt idx="17">
                  <c:v>4347139.4907035884</c:v>
                </c:pt>
                <c:pt idx="18">
                  <c:v>3285506.5905623054</c:v>
                </c:pt>
              </c:numCache>
            </c:numRef>
          </c:yVal>
          <c:smooth val="0"/>
          <c:extLst>
            <c:ext xmlns:c16="http://schemas.microsoft.com/office/drawing/2014/chart" uri="{C3380CC4-5D6E-409C-BE32-E72D297353CC}">
              <c16:uniqueId val="{00000008-FD7F-44CF-98BB-88484B9904F8}"/>
            </c:ext>
          </c:extLst>
        </c:ser>
        <c:ser>
          <c:idx val="9"/>
          <c:order val="9"/>
          <c:tx>
            <c:v>Sarulla</c:v>
          </c:tx>
          <c:spPr>
            <a:ln w="66675">
              <a:noFill/>
            </a:ln>
          </c:spPr>
          <c:marker>
            <c:spPr>
              <a:solidFill>
                <a:srgbClr val="7030A0"/>
              </a:solidFill>
              <a:ln>
                <a:noFill/>
              </a:ln>
            </c:spPr>
          </c:marker>
          <c:xVal>
            <c:numRef>
              <c:f>'Rekap (Q3-2021)'!$F$195:$F$227</c:f>
              <c:numCache>
                <c:formatCode>0</c:formatCode>
                <c:ptCount val="33"/>
                <c:pt idx="0">
                  <c:v>2065.528802194453</c:v>
                </c:pt>
                <c:pt idx="1">
                  <c:v>1804.3279487960988</c:v>
                </c:pt>
                <c:pt idx="2">
                  <c:v>1828.7107589149648</c:v>
                </c:pt>
                <c:pt idx="3">
                  <c:v>1889.6677842121303</c:v>
                </c:pt>
                <c:pt idx="4">
                  <c:v>286.80280402316367</c:v>
                </c:pt>
                <c:pt idx="5">
                  <c:v>1889.6677842121303</c:v>
                </c:pt>
                <c:pt idx="6">
                  <c:v>2127.7049679975617</c:v>
                </c:pt>
                <c:pt idx="7">
                  <c:v>1827.1868332825356</c:v>
                </c:pt>
                <c:pt idx="8">
                  <c:v>1799.1466016458396</c:v>
                </c:pt>
                <c:pt idx="9">
                  <c:v>1985.0655288021944</c:v>
                </c:pt>
                <c:pt idx="10">
                  <c:v>1922.2797927461138</c:v>
                </c:pt>
                <c:pt idx="11">
                  <c:v>1828.7107589149648</c:v>
                </c:pt>
                <c:pt idx="12">
                  <c:v>2133.4958854007923</c:v>
                </c:pt>
                <c:pt idx="13">
                  <c:v>2272.1731179518438</c:v>
                </c:pt>
                <c:pt idx="14">
                  <c:v>504.41938433404448</c:v>
                </c:pt>
                <c:pt idx="15">
                  <c:v>1981.1033221578787</c:v>
                </c:pt>
                <c:pt idx="16">
                  <c:v>2371.5330691862237</c:v>
                </c:pt>
                <c:pt idx="17">
                  <c:v>2590.6735751295337</c:v>
                </c:pt>
                <c:pt idx="18">
                  <c:v>562.93812861932338</c:v>
                </c:pt>
                <c:pt idx="19">
                  <c:v>2331.6062176165801</c:v>
                </c:pt>
                <c:pt idx="20">
                  <c:v>1984.4559585492227</c:v>
                </c:pt>
                <c:pt idx="21">
                  <c:v>1079.8537031392868</c:v>
                </c:pt>
                <c:pt idx="22">
                  <c:v>2285.8884486437059</c:v>
                </c:pt>
                <c:pt idx="23">
                  <c:v>1883.5720816824139</c:v>
                </c:pt>
                <c:pt idx="24">
                  <c:v>1798.8418165193539</c:v>
                </c:pt>
                <c:pt idx="25">
                  <c:v>2285.8884486437059</c:v>
                </c:pt>
                <c:pt idx="26">
                  <c:v>1584.8826577263028</c:v>
                </c:pt>
                <c:pt idx="27">
                  <c:v>1688.8143858579701</c:v>
                </c:pt>
                <c:pt idx="28">
                  <c:v>2285.8884486437059</c:v>
                </c:pt>
                <c:pt idx="29">
                  <c:v>2060.3474550441938</c:v>
                </c:pt>
                <c:pt idx="30">
                  <c:v>2285.8884486437059</c:v>
                </c:pt>
                <c:pt idx="31">
                  <c:v>2285.8884486437059</c:v>
                </c:pt>
                <c:pt idx="32">
                  <c:v>1060.3474550441938</c:v>
                </c:pt>
              </c:numCache>
            </c:numRef>
          </c:xVal>
          <c:yVal>
            <c:numRef>
              <c:f>'Rekap (Q3-2021)'!$I$195:$I$227</c:f>
              <c:numCache>
                <c:formatCode>_(* #,##0_);_(* \(#,##0\);_(* "-"??_);_(@_)</c:formatCode>
                <c:ptCount val="33"/>
                <c:pt idx="0">
                  <c:v>16286645.300970873</c:v>
                </c:pt>
                <c:pt idx="1">
                  <c:v>14725470.711725168</c:v>
                </c:pt>
                <c:pt idx="2">
                  <c:v>9513242.7878818046</c:v>
                </c:pt>
                <c:pt idx="3">
                  <c:v>7931850.9875458786</c:v>
                </c:pt>
                <c:pt idx="4">
                  <c:v>5822691.7847589422</c:v>
                </c:pt>
                <c:pt idx="5">
                  <c:v>13694460.62347745</c:v>
                </c:pt>
                <c:pt idx="6">
                  <c:v>8068772.6020777607</c:v>
                </c:pt>
                <c:pt idx="7">
                  <c:v>9268496.0599688962</c:v>
                </c:pt>
                <c:pt idx="8">
                  <c:v>6958140.7273903573</c:v>
                </c:pt>
                <c:pt idx="9">
                  <c:v>5265145.5206220839</c:v>
                </c:pt>
                <c:pt idx="10">
                  <c:v>4951787.1371944016</c:v>
                </c:pt>
                <c:pt idx="11">
                  <c:v>11891522.471784275</c:v>
                </c:pt>
                <c:pt idx="12">
                  <c:v>11928829.886159921</c:v>
                </c:pt>
                <c:pt idx="13">
                  <c:v>14790701.144263839</c:v>
                </c:pt>
                <c:pt idx="14">
                  <c:v>8483296.5030419901</c:v>
                </c:pt>
                <c:pt idx="15">
                  <c:v>6220328.7810886474</c:v>
                </c:pt>
                <c:pt idx="16">
                  <c:v>10151684.209567651</c:v>
                </c:pt>
                <c:pt idx="17">
                  <c:v>7785957.445623639</c:v>
                </c:pt>
                <c:pt idx="18">
                  <c:v>8968065.0677449461</c:v>
                </c:pt>
                <c:pt idx="19">
                  <c:v>6256928.2109113531</c:v>
                </c:pt>
                <c:pt idx="20">
                  <c:v>4102537.8187744948</c:v>
                </c:pt>
                <c:pt idx="21">
                  <c:v>3849977.3540528771</c:v>
                </c:pt>
                <c:pt idx="22">
                  <c:v>10732287.107169034</c:v>
                </c:pt>
                <c:pt idx="23">
                  <c:v>5395686.6178333191</c:v>
                </c:pt>
                <c:pt idx="24">
                  <c:v>4934303.8863478359</c:v>
                </c:pt>
                <c:pt idx="25">
                  <c:v>10882831.805919386</c:v>
                </c:pt>
                <c:pt idx="26">
                  <c:v>5709702.157211314</c:v>
                </c:pt>
                <c:pt idx="27">
                  <c:v>6990044.6654514726</c:v>
                </c:pt>
                <c:pt idx="28">
                  <c:v>5711490.2055435516</c:v>
                </c:pt>
                <c:pt idx="29">
                  <c:v>7188037.8873625873</c:v>
                </c:pt>
                <c:pt idx="30">
                  <c:v>6026000.1596542345</c:v>
                </c:pt>
                <c:pt idx="31">
                  <c:v>4865606.6904021846</c:v>
                </c:pt>
                <c:pt idx="32">
                  <c:v>7022975.6131487228</c:v>
                </c:pt>
              </c:numCache>
            </c:numRef>
          </c:yVal>
          <c:smooth val="0"/>
          <c:extLst>
            <c:ext xmlns:c16="http://schemas.microsoft.com/office/drawing/2014/chart" uri="{C3380CC4-5D6E-409C-BE32-E72D297353CC}">
              <c16:uniqueId val="{00000009-FD7F-44CF-98BB-88484B9904F8}"/>
            </c:ext>
          </c:extLst>
        </c:ser>
        <c:ser>
          <c:idx val="10"/>
          <c:order val="10"/>
          <c:tx>
            <c:v>Darajat</c:v>
          </c:tx>
          <c:spPr>
            <a:ln w="66675">
              <a:noFill/>
            </a:ln>
          </c:spPr>
          <c:marker>
            <c:spPr>
              <a:ln>
                <a:noFill/>
              </a:ln>
            </c:spPr>
          </c:marker>
          <c:xVal>
            <c:numRef>
              <c:f>'Rekap (Q3-2021)'!$F$231:$F$246</c:f>
              <c:numCache>
                <c:formatCode>General</c:formatCode>
                <c:ptCount val="16"/>
                <c:pt idx="0">
                  <c:v>2374</c:v>
                </c:pt>
                <c:pt idx="1">
                  <c:v>2652</c:v>
                </c:pt>
                <c:pt idx="2">
                  <c:v>1798</c:v>
                </c:pt>
                <c:pt idx="3">
                  <c:v>1775</c:v>
                </c:pt>
                <c:pt idx="4">
                  <c:v>1890</c:v>
                </c:pt>
                <c:pt idx="5">
                  <c:v>2407</c:v>
                </c:pt>
                <c:pt idx="6">
                  <c:v>2515</c:v>
                </c:pt>
                <c:pt idx="7">
                  <c:v>2254</c:v>
                </c:pt>
                <c:pt idx="8">
                  <c:v>2240</c:v>
                </c:pt>
                <c:pt idx="9">
                  <c:v>2038</c:v>
                </c:pt>
                <c:pt idx="10">
                  <c:v>2514</c:v>
                </c:pt>
                <c:pt idx="11" formatCode="0">
                  <c:v>1786.0408412069489</c:v>
                </c:pt>
                <c:pt idx="12" formatCode="0">
                  <c:v>1821.7007010057907</c:v>
                </c:pt>
                <c:pt idx="13" formatCode="0">
                  <c:v>1778.7259981712891</c:v>
                </c:pt>
                <c:pt idx="14" formatCode="0">
                  <c:v>1798.8418165193539</c:v>
                </c:pt>
                <c:pt idx="15" formatCode="0">
                  <c:v>1508.3815909783602</c:v>
                </c:pt>
              </c:numCache>
            </c:numRef>
          </c:xVal>
          <c:yVal>
            <c:numRef>
              <c:f>'Rekap (Q3-2021)'!$I$231:$I$246</c:f>
              <c:numCache>
                <c:formatCode>_(* #,##0_);_(* \(#,##0\);_(* "-"??_);_(@_)</c:formatCode>
                <c:ptCount val="16"/>
                <c:pt idx="0">
                  <c:v>5405205.280573546</c:v>
                </c:pt>
                <c:pt idx="1">
                  <c:v>6577996.1234189421</c:v>
                </c:pt>
                <c:pt idx="2">
                  <c:v>5991239.9644818557</c:v>
                </c:pt>
                <c:pt idx="3">
                  <c:v>4485834.1472424064</c:v>
                </c:pt>
                <c:pt idx="4">
                  <c:v>4784856.6448515086</c:v>
                </c:pt>
                <c:pt idx="5">
                  <c:v>6163208.9968230929</c:v>
                </c:pt>
                <c:pt idx="6">
                  <c:v>6855389.3562929509</c:v>
                </c:pt>
                <c:pt idx="7">
                  <c:v>4509994.9972045859</c:v>
                </c:pt>
                <c:pt idx="8">
                  <c:v>8770887.3602525629</c:v>
                </c:pt>
                <c:pt idx="9">
                  <c:v>7143119.8063077498</c:v>
                </c:pt>
                <c:pt idx="10">
                  <c:v>7742257.7184464009</c:v>
                </c:pt>
                <c:pt idx="11">
                  <c:v>5422234.9252356533</c:v>
                </c:pt>
                <c:pt idx="12">
                  <c:v>9604639.2974914797</c:v>
                </c:pt>
                <c:pt idx="13">
                  <c:v>7069212.7999017462</c:v>
                </c:pt>
                <c:pt idx="14">
                  <c:v>6041358.0159536982</c:v>
                </c:pt>
                <c:pt idx="15">
                  <c:v>5036351.0703817764</c:v>
                </c:pt>
              </c:numCache>
            </c:numRef>
          </c:yVal>
          <c:smooth val="0"/>
          <c:extLst>
            <c:ext xmlns:c16="http://schemas.microsoft.com/office/drawing/2014/chart" uri="{C3380CC4-5D6E-409C-BE32-E72D297353CC}">
              <c16:uniqueId val="{0000000A-FD7F-44CF-98BB-88484B9904F8}"/>
            </c:ext>
          </c:extLst>
        </c:ser>
        <c:ser>
          <c:idx val="11"/>
          <c:order val="11"/>
          <c:tx>
            <c:v>Wayang Windu</c:v>
          </c:tx>
          <c:spPr>
            <a:ln w="66675">
              <a:noFill/>
            </a:ln>
          </c:spPr>
          <c:xVal>
            <c:numRef>
              <c:f>'Rekap (Q3-2021)'!$F$249:$F$258</c:f>
              <c:numCache>
                <c:formatCode>General</c:formatCode>
                <c:ptCount val="10"/>
                <c:pt idx="0">
                  <c:v>1747</c:v>
                </c:pt>
                <c:pt idx="1">
                  <c:v>1513</c:v>
                </c:pt>
                <c:pt idx="2">
                  <c:v>1523</c:v>
                </c:pt>
                <c:pt idx="3">
                  <c:v>1244</c:v>
                </c:pt>
                <c:pt idx="4" formatCode="0">
                  <c:v>1262</c:v>
                </c:pt>
                <c:pt idx="5" formatCode="0">
                  <c:v>1372</c:v>
                </c:pt>
                <c:pt idx="6" formatCode="0">
                  <c:v>2153</c:v>
                </c:pt>
                <c:pt idx="7" formatCode="0">
                  <c:v>2182</c:v>
                </c:pt>
                <c:pt idx="8" formatCode="0">
                  <c:v>1307</c:v>
                </c:pt>
                <c:pt idx="9" formatCode="0">
                  <c:v>1318</c:v>
                </c:pt>
              </c:numCache>
            </c:numRef>
          </c:xVal>
          <c:yVal>
            <c:numRef>
              <c:f>'Rekap (Q3-2021)'!$I$249:$I$258</c:f>
              <c:numCache>
                <c:formatCode>_(* #,##0_);_(* \(#,##0\);_(* "-"??_);_(@_)</c:formatCode>
                <c:ptCount val="10"/>
                <c:pt idx="0">
                  <c:v>4757915.4362466186</c:v>
                </c:pt>
                <c:pt idx="1">
                  <c:v>5049774.0768952072</c:v>
                </c:pt>
                <c:pt idx="2">
                  <c:v>7400416.2528539402</c:v>
                </c:pt>
                <c:pt idx="3">
                  <c:v>9741412.4151923601</c:v>
                </c:pt>
                <c:pt idx="4">
                  <c:v>3440691.4258153085</c:v>
                </c:pt>
                <c:pt idx="5">
                  <c:v>2782542.2030942757</c:v>
                </c:pt>
                <c:pt idx="6">
                  <c:v>4175200</c:v>
                </c:pt>
                <c:pt idx="7">
                  <c:v>6306400</c:v>
                </c:pt>
                <c:pt idx="8">
                  <c:v>3265600</c:v>
                </c:pt>
                <c:pt idx="9">
                  <c:v>2233500</c:v>
                </c:pt>
              </c:numCache>
            </c:numRef>
          </c:yVal>
          <c:smooth val="0"/>
          <c:extLst>
            <c:ext xmlns:c16="http://schemas.microsoft.com/office/drawing/2014/chart" uri="{C3380CC4-5D6E-409C-BE32-E72D297353CC}">
              <c16:uniqueId val="{0000000B-FD7F-44CF-98BB-88484B9904F8}"/>
            </c:ext>
          </c:extLst>
        </c:ser>
        <c:ser>
          <c:idx val="12"/>
          <c:order val="12"/>
          <c:tx>
            <c:v>Tulehu</c:v>
          </c:tx>
          <c:spPr>
            <a:ln w="66675">
              <a:noFill/>
            </a:ln>
          </c:spPr>
          <c:marker>
            <c:symbol val="circle"/>
            <c:size val="11"/>
            <c:spPr>
              <a:solidFill>
                <a:srgbClr val="FFFF00"/>
              </a:solidFill>
            </c:spPr>
          </c:marker>
          <c:xVal>
            <c:numRef>
              <c:f>'Rekap (Q3-2021)'!$F$261:$F$264</c:f>
              <c:numCache>
                <c:formatCode>General</c:formatCode>
                <c:ptCount val="4"/>
                <c:pt idx="0">
                  <c:v>1712</c:v>
                </c:pt>
                <c:pt idx="1">
                  <c:v>1800</c:v>
                </c:pt>
                <c:pt idx="2">
                  <c:v>1900</c:v>
                </c:pt>
                <c:pt idx="3">
                  <c:v>1800</c:v>
                </c:pt>
              </c:numCache>
            </c:numRef>
          </c:xVal>
          <c:yVal>
            <c:numRef>
              <c:f>'Rekap (Q3-2021)'!$I$261:$I$264</c:f>
              <c:numCache>
                <c:formatCode>_(* #,##0_);_(* \(#,##0\);_(* "-"??_);_(@_)</c:formatCode>
                <c:ptCount val="4"/>
                <c:pt idx="0">
                  <c:v>6406633.1059998106</c:v>
                </c:pt>
                <c:pt idx="1">
                  <c:v>5647103.879137232</c:v>
                </c:pt>
                <c:pt idx="2">
                  <c:v>5011546.4309692001</c:v>
                </c:pt>
                <c:pt idx="3">
                  <c:v>4099511.3918477753</c:v>
                </c:pt>
              </c:numCache>
            </c:numRef>
          </c:yVal>
          <c:smooth val="0"/>
          <c:extLst>
            <c:ext xmlns:c16="http://schemas.microsoft.com/office/drawing/2014/chart" uri="{C3380CC4-5D6E-409C-BE32-E72D297353CC}">
              <c16:uniqueId val="{0000000C-FD7F-44CF-98BB-88484B9904F8}"/>
            </c:ext>
          </c:extLst>
        </c:ser>
        <c:ser>
          <c:idx val="13"/>
          <c:order val="13"/>
          <c:tx>
            <c:v>Baturaden</c:v>
          </c:tx>
          <c:spPr>
            <a:ln w="66675">
              <a:noFill/>
            </a:ln>
          </c:spPr>
          <c:marker>
            <c:symbol val="triangle"/>
            <c:size val="13"/>
            <c:spPr>
              <a:solidFill>
                <a:srgbClr val="0000FF"/>
              </a:solidFill>
            </c:spPr>
          </c:marker>
          <c:xVal>
            <c:numRef>
              <c:f>'Rekap (Q3-2021)'!$F$268:$F$270</c:f>
              <c:numCache>
                <c:formatCode>General</c:formatCode>
                <c:ptCount val="3"/>
                <c:pt idx="0">
                  <c:v>924</c:v>
                </c:pt>
                <c:pt idx="1">
                  <c:v>3477</c:v>
                </c:pt>
                <c:pt idx="2">
                  <c:v>1616</c:v>
                </c:pt>
              </c:numCache>
            </c:numRef>
          </c:xVal>
          <c:yVal>
            <c:numRef>
              <c:f>'Rekap (Q3-2021)'!$I$268:$I$270</c:f>
              <c:numCache>
                <c:formatCode>_(* #,##0_);_(* \(#,##0\);_(* "-"??_);_(@_)</c:formatCode>
                <c:ptCount val="3"/>
                <c:pt idx="0">
                  <c:v>11646388.309150266</c:v>
                </c:pt>
                <c:pt idx="1">
                  <c:v>10331797.501725584</c:v>
                </c:pt>
                <c:pt idx="2">
                  <c:v>10802508.829698721</c:v>
                </c:pt>
              </c:numCache>
            </c:numRef>
          </c:yVal>
          <c:smooth val="0"/>
          <c:extLst>
            <c:ext xmlns:c16="http://schemas.microsoft.com/office/drawing/2014/chart" uri="{C3380CC4-5D6E-409C-BE32-E72D297353CC}">
              <c16:uniqueId val="{0000000D-FD7F-44CF-98BB-88484B9904F8}"/>
            </c:ext>
          </c:extLst>
        </c:ser>
        <c:ser>
          <c:idx val="14"/>
          <c:order val="14"/>
          <c:tx>
            <c:v>Jaboi</c:v>
          </c:tx>
          <c:spPr>
            <a:ln w="66675">
              <a:noFill/>
            </a:ln>
          </c:spPr>
          <c:marker>
            <c:spPr>
              <a:solidFill>
                <a:srgbClr val="00FF00"/>
              </a:solidFill>
            </c:spPr>
          </c:marker>
          <c:dPt>
            <c:idx val="1"/>
            <c:marker>
              <c:spPr>
                <a:solidFill>
                  <a:srgbClr val="00FF00"/>
                </a:solidFill>
                <a:ln>
                  <a:noFill/>
                </a:ln>
              </c:spPr>
            </c:marker>
            <c:bubble3D val="0"/>
            <c:extLst>
              <c:ext xmlns:c16="http://schemas.microsoft.com/office/drawing/2014/chart" uri="{C3380CC4-5D6E-409C-BE32-E72D297353CC}">
                <c16:uniqueId val="{0000000E-FD7F-44CF-98BB-88484B9904F8}"/>
              </c:ext>
            </c:extLst>
          </c:dPt>
          <c:xVal>
            <c:numRef>
              <c:f>'Rekap (Q3-2021)'!$F$274:$F$275</c:f>
              <c:numCache>
                <c:formatCode>General</c:formatCode>
                <c:ptCount val="2"/>
                <c:pt idx="0">
                  <c:v>1300</c:v>
                </c:pt>
                <c:pt idx="1">
                  <c:v>1100</c:v>
                </c:pt>
              </c:numCache>
            </c:numRef>
          </c:xVal>
          <c:yVal>
            <c:numRef>
              <c:f>'Rekap (Q3-2021)'!$I$274:$I$275</c:f>
              <c:numCache>
                <c:formatCode>_(* #,##0_);_(* \(#,##0\);_(* "-"??_);_(@_)</c:formatCode>
                <c:ptCount val="2"/>
                <c:pt idx="0">
                  <c:v>5313922.9537534136</c:v>
                </c:pt>
                <c:pt idx="1">
                  <c:v>5262374.7784721572</c:v>
                </c:pt>
              </c:numCache>
            </c:numRef>
          </c:yVal>
          <c:smooth val="0"/>
          <c:extLst>
            <c:ext xmlns:c16="http://schemas.microsoft.com/office/drawing/2014/chart" uri="{C3380CC4-5D6E-409C-BE32-E72D297353CC}">
              <c16:uniqueId val="{0000000F-FD7F-44CF-98BB-88484B9904F8}"/>
            </c:ext>
          </c:extLst>
        </c:ser>
        <c:ser>
          <c:idx val="15"/>
          <c:order val="15"/>
          <c:tx>
            <c:v>Sokoria</c:v>
          </c:tx>
          <c:spPr>
            <a:ln w="66675">
              <a:noFill/>
            </a:ln>
          </c:spPr>
          <c:marker>
            <c:symbol val="diamond"/>
            <c:size val="12"/>
            <c:spPr>
              <a:solidFill>
                <a:schemeClr val="tx1"/>
              </a:solidFill>
            </c:spPr>
          </c:marker>
          <c:xVal>
            <c:numRef>
              <c:f>'Rekap (Q3-2021)'!$F$278:$F$282</c:f>
              <c:numCache>
                <c:formatCode>General</c:formatCode>
                <c:ptCount val="5"/>
                <c:pt idx="0">
                  <c:v>2030</c:v>
                </c:pt>
                <c:pt idx="1">
                  <c:v>1925</c:v>
                </c:pt>
                <c:pt idx="2">
                  <c:v>2072</c:v>
                </c:pt>
                <c:pt idx="3">
                  <c:v>2000</c:v>
                </c:pt>
                <c:pt idx="4">
                  <c:v>2505</c:v>
                </c:pt>
              </c:numCache>
            </c:numRef>
          </c:xVal>
          <c:yVal>
            <c:numRef>
              <c:f>'Rekap (Q3-2021)'!$I$278:$I$282</c:f>
              <c:numCache>
                <c:formatCode>_(* #,##0_);_(* \(#,##0\);_(* "-"??_);_(@_)</c:formatCode>
                <c:ptCount val="5"/>
                <c:pt idx="0">
                  <c:v>6643158.4429756049</c:v>
                </c:pt>
                <c:pt idx="1">
                  <c:v>4667462.2977707302</c:v>
                </c:pt>
                <c:pt idx="2">
                  <c:v>4462645.0042197555</c:v>
                </c:pt>
                <c:pt idx="3">
                  <c:v>4815887.5783975376</c:v>
                </c:pt>
                <c:pt idx="4">
                  <c:v>6046754.0536964834</c:v>
                </c:pt>
              </c:numCache>
            </c:numRef>
          </c:yVal>
          <c:smooth val="0"/>
          <c:extLst>
            <c:ext xmlns:c16="http://schemas.microsoft.com/office/drawing/2014/chart" uri="{C3380CC4-5D6E-409C-BE32-E72D297353CC}">
              <c16:uniqueId val="{00000010-FD7F-44CF-98BB-88484B9904F8}"/>
            </c:ext>
          </c:extLst>
        </c:ser>
        <c:ser>
          <c:idx val="16"/>
          <c:order val="16"/>
          <c:tx>
            <c:v>Blawan Ijen</c:v>
          </c:tx>
          <c:spPr>
            <a:ln w="66675">
              <a:noFill/>
            </a:ln>
          </c:spPr>
          <c:marker>
            <c:symbol val="square"/>
            <c:size val="13"/>
            <c:spPr>
              <a:solidFill>
                <a:srgbClr val="0000FF"/>
              </a:solidFill>
            </c:spPr>
          </c:marker>
          <c:xVal>
            <c:numRef>
              <c:f>'Rekap (Q3-2021)'!$F$286:$F$289</c:f>
              <c:numCache>
                <c:formatCode>General</c:formatCode>
                <c:ptCount val="4"/>
                <c:pt idx="0">
                  <c:v>2300</c:v>
                </c:pt>
                <c:pt idx="1">
                  <c:v>2700</c:v>
                </c:pt>
                <c:pt idx="2">
                  <c:v>2644</c:v>
                </c:pt>
                <c:pt idx="3">
                  <c:v>2514</c:v>
                </c:pt>
              </c:numCache>
            </c:numRef>
          </c:xVal>
          <c:yVal>
            <c:numRef>
              <c:f>'Rekap (Q3-2021)'!$I$286:$I$289</c:f>
              <c:numCache>
                <c:formatCode>_(* #,##0_);_(* \(#,##0\);_(* "-"??_);_(@_)</c:formatCode>
                <c:ptCount val="4"/>
                <c:pt idx="0">
                  <c:v>11595725.860868922</c:v>
                </c:pt>
                <c:pt idx="1">
                  <c:v>7344671.5998961162</c:v>
                </c:pt>
                <c:pt idx="2">
                  <c:v>6296813.5043965429</c:v>
                </c:pt>
                <c:pt idx="3">
                  <c:v>5181020</c:v>
                </c:pt>
              </c:numCache>
            </c:numRef>
          </c:yVal>
          <c:smooth val="0"/>
          <c:extLst>
            <c:ext xmlns:c16="http://schemas.microsoft.com/office/drawing/2014/chart" uri="{C3380CC4-5D6E-409C-BE32-E72D297353CC}">
              <c16:uniqueId val="{00000011-FD7F-44CF-98BB-88484B9904F8}"/>
            </c:ext>
          </c:extLst>
        </c:ser>
        <c:dLbls>
          <c:showLegendKey val="0"/>
          <c:showVal val="0"/>
          <c:showCatName val="0"/>
          <c:showSerName val="0"/>
          <c:showPercent val="0"/>
          <c:showBubbleSize val="0"/>
        </c:dLbls>
        <c:axId val="105285888"/>
        <c:axId val="105312640"/>
      </c:scatterChart>
      <c:valAx>
        <c:axId val="105285888"/>
        <c:scaling>
          <c:orientation val="minMax"/>
        </c:scaling>
        <c:delete val="0"/>
        <c:axPos val="b"/>
        <c:majorGridlines/>
        <c:title>
          <c:tx>
            <c:rich>
              <a:bodyPr rot="0" vert="horz"/>
              <a:lstStyle/>
              <a:p>
                <a:pPr>
                  <a:defRPr sz="1600">
                    <a:latin typeface="Times New Roman" pitchFamily="18" charset="0"/>
                    <a:cs typeface="Times New Roman" pitchFamily="18" charset="0"/>
                  </a:defRPr>
                </a:pPr>
                <a:r>
                  <a:rPr lang="en-ID" sz="1600">
                    <a:latin typeface="Times New Roman" pitchFamily="18" charset="0"/>
                    <a:cs typeface="Times New Roman" pitchFamily="18" charset="0"/>
                  </a:rPr>
                  <a:t>Depth (m)</a:t>
                </a:r>
              </a:p>
            </c:rich>
          </c:tx>
          <c:overlay val="0"/>
        </c:title>
        <c:numFmt formatCode="0" sourceLinked="1"/>
        <c:majorTickMark val="none"/>
        <c:minorTickMark val="none"/>
        <c:tickLblPos val="nextTo"/>
        <c:txPr>
          <a:bodyPr rot="-60000000" vert="horz"/>
          <a:lstStyle/>
          <a:p>
            <a:pPr>
              <a:defRPr sz="1200">
                <a:latin typeface="Times New Roman" pitchFamily="18" charset="0"/>
                <a:cs typeface="Times New Roman" pitchFamily="18" charset="0"/>
              </a:defRPr>
            </a:pPr>
            <a:endParaRPr lang="en-US"/>
          </a:p>
        </c:txPr>
        <c:crossAx val="105312640"/>
        <c:crosses val="autoZero"/>
        <c:crossBetween val="midCat"/>
      </c:valAx>
      <c:valAx>
        <c:axId val="105312640"/>
        <c:scaling>
          <c:orientation val="minMax"/>
        </c:scaling>
        <c:delete val="0"/>
        <c:axPos val="l"/>
        <c:majorGridlines/>
        <c:title>
          <c:tx>
            <c:rich>
              <a:bodyPr rot="-5400000" vert="horz"/>
              <a:lstStyle/>
              <a:p>
                <a:pPr>
                  <a:defRPr sz="1600">
                    <a:latin typeface="Times New Roman" pitchFamily="18" charset="0"/>
                    <a:cs typeface="Times New Roman" pitchFamily="18" charset="0"/>
                  </a:defRPr>
                </a:pPr>
                <a:r>
                  <a:rPr lang="en-ID" sz="1600">
                    <a:latin typeface="Times New Roman" pitchFamily="18" charset="0"/>
                    <a:cs typeface="Times New Roman" pitchFamily="18" charset="0"/>
                  </a:rPr>
                  <a:t>COST (USD)</a:t>
                </a:r>
              </a:p>
            </c:rich>
          </c:tx>
          <c:overlay val="0"/>
        </c:title>
        <c:numFmt formatCode="_(* #,##0_);_(* \(#,##0\);_(* &quot;-&quot;??_);_(@_)" sourceLinked="1"/>
        <c:majorTickMark val="none"/>
        <c:minorTickMark val="none"/>
        <c:tickLblPos val="nextTo"/>
        <c:txPr>
          <a:bodyPr rot="-60000000" vert="horz"/>
          <a:lstStyle/>
          <a:p>
            <a:pPr>
              <a:defRPr sz="1200">
                <a:latin typeface="Times New Roman" pitchFamily="18" charset="0"/>
                <a:cs typeface="Times New Roman" pitchFamily="18" charset="0"/>
              </a:defRPr>
            </a:pPr>
            <a:endParaRPr lang="en-US"/>
          </a:p>
        </c:txPr>
        <c:crossAx val="105285888"/>
        <c:crosses val="autoZero"/>
        <c:crossBetween val="midCat"/>
      </c:valAx>
      <c:spPr>
        <a:ln w="19050">
          <a:solidFill>
            <a:schemeClr val="tx1"/>
          </a:solidFill>
        </a:ln>
      </c:spPr>
    </c:plotArea>
    <c:legend>
      <c:legendPos val="r"/>
      <c:layout>
        <c:manualLayout>
          <c:xMode val="edge"/>
          <c:yMode val="edge"/>
          <c:x val="0.18398238505227979"/>
          <c:y val="6.6413970530911345E-2"/>
          <c:w val="0.37657716602409469"/>
          <c:h val="0.31865786307961502"/>
        </c:manualLayout>
      </c:layout>
      <c:overlay val="0"/>
      <c:spPr>
        <a:solidFill>
          <a:schemeClr val="lt1"/>
        </a:solidFill>
        <a:ln>
          <a:solidFill>
            <a:schemeClr val="bg1">
              <a:lumMod val="75000"/>
            </a:schemeClr>
          </a:solidFill>
        </a:ln>
      </c:spPr>
      <c:txPr>
        <a:bodyPr rot="0" vert="horz"/>
        <a:lstStyle/>
        <a:p>
          <a:pPr>
            <a:defRPr sz="1400">
              <a:latin typeface="Times New Roman" pitchFamily="18" charset="0"/>
              <a:cs typeface="Times New Roman"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tx2">
                <a:lumMod val="75000"/>
              </a:schemeClr>
            </a:solidFill>
          </c:spPr>
          <c:invertIfNegative val="0"/>
          <c:cat>
            <c:strRef>
              <c:f>'histogram (Q3-2021)'!$AA$20:$AA$29</c:f>
              <c:strCache>
                <c:ptCount val="10"/>
                <c:pt idx="0">
                  <c:v>&lt;1000</c:v>
                </c:pt>
                <c:pt idx="1">
                  <c:v> 1000-3200 </c:v>
                </c:pt>
                <c:pt idx="2">
                  <c:v> 3201-5500 </c:v>
                </c:pt>
                <c:pt idx="3">
                  <c:v> 5501-7800 </c:v>
                </c:pt>
                <c:pt idx="4">
                  <c:v> 7801-10100 </c:v>
                </c:pt>
                <c:pt idx="5">
                  <c:v> 10101-12400 </c:v>
                </c:pt>
                <c:pt idx="6">
                  <c:v> 12401-14700 </c:v>
                </c:pt>
                <c:pt idx="7">
                  <c:v> 14701-17000 </c:v>
                </c:pt>
                <c:pt idx="8">
                  <c:v> 17001-19300 </c:v>
                </c:pt>
                <c:pt idx="9">
                  <c:v> 19301-21600 </c:v>
                </c:pt>
              </c:strCache>
            </c:strRef>
          </c:cat>
          <c:val>
            <c:numRef>
              <c:f>'histogram (Q3-2021)'!$AB$20:$AB$29</c:f>
              <c:numCache>
                <c:formatCode>General</c:formatCode>
                <c:ptCount val="10"/>
                <c:pt idx="0">
                  <c:v>5</c:v>
                </c:pt>
                <c:pt idx="1">
                  <c:v>151</c:v>
                </c:pt>
                <c:pt idx="2">
                  <c:v>66</c:v>
                </c:pt>
                <c:pt idx="3">
                  <c:v>10</c:v>
                </c:pt>
                <c:pt idx="4">
                  <c:v>4</c:v>
                </c:pt>
                <c:pt idx="5">
                  <c:v>2</c:v>
                </c:pt>
                <c:pt idx="6">
                  <c:v>1</c:v>
                </c:pt>
                <c:pt idx="7">
                  <c:v>2</c:v>
                </c:pt>
                <c:pt idx="8">
                  <c:v>0</c:v>
                </c:pt>
                <c:pt idx="9">
                  <c:v>1</c:v>
                </c:pt>
              </c:numCache>
            </c:numRef>
          </c:val>
          <c:extLst>
            <c:ext xmlns:c16="http://schemas.microsoft.com/office/drawing/2014/chart" uri="{C3380CC4-5D6E-409C-BE32-E72D297353CC}">
              <c16:uniqueId val="{00000000-6317-4687-8491-408A2B4F87B0}"/>
            </c:ext>
          </c:extLst>
        </c:ser>
        <c:dLbls>
          <c:showLegendKey val="0"/>
          <c:showVal val="0"/>
          <c:showCatName val="0"/>
          <c:showSerName val="0"/>
          <c:showPercent val="0"/>
          <c:showBubbleSize val="0"/>
        </c:dLbls>
        <c:gapWidth val="81"/>
        <c:axId val="105768832"/>
        <c:axId val="105779200"/>
      </c:barChart>
      <c:catAx>
        <c:axId val="105768832"/>
        <c:scaling>
          <c:orientation val="minMax"/>
        </c:scaling>
        <c:delete val="0"/>
        <c:axPos val="b"/>
        <c:title>
          <c:tx>
            <c:rich>
              <a:bodyPr/>
              <a:lstStyle/>
              <a:p>
                <a:pPr>
                  <a:defRPr sz="1400">
                    <a:latin typeface="Avenir Next LT Pro" panose="020B0504020202020204" pitchFamily="34" charset="0"/>
                    <a:cs typeface="Times New Roman" pitchFamily="18" charset="0"/>
                  </a:defRPr>
                </a:pPr>
                <a:r>
                  <a:rPr lang="en-US" sz="1400">
                    <a:latin typeface="Avenir Next LT Pro" panose="020B0504020202020204" pitchFamily="34" charset="0"/>
                    <a:cs typeface="Times New Roman" pitchFamily="18" charset="0"/>
                  </a:rPr>
                  <a:t>drilling unit cost (USD/m)</a:t>
                </a:r>
              </a:p>
            </c:rich>
          </c:tx>
          <c:overlay val="0"/>
        </c:title>
        <c:numFmt formatCode="#,##0.00" sourceLinked="0"/>
        <c:majorTickMark val="out"/>
        <c:minorTickMark val="none"/>
        <c:tickLblPos val="nextTo"/>
        <c:spPr>
          <a:ln w="15875">
            <a:solidFill>
              <a:schemeClr val="tx1"/>
            </a:solidFill>
          </a:ln>
        </c:spPr>
        <c:txPr>
          <a:bodyPr/>
          <a:lstStyle/>
          <a:p>
            <a:pPr>
              <a:defRPr sz="1200">
                <a:latin typeface="Avenir Next LT Pro" panose="020B0504020202020204" pitchFamily="34" charset="0"/>
                <a:cs typeface="Times New Roman" pitchFamily="18" charset="0"/>
              </a:defRPr>
            </a:pPr>
            <a:endParaRPr lang="en-US"/>
          </a:p>
        </c:txPr>
        <c:crossAx val="105779200"/>
        <c:crosses val="autoZero"/>
        <c:auto val="1"/>
        <c:lblAlgn val="ctr"/>
        <c:lblOffset val="100"/>
        <c:noMultiLvlLbl val="0"/>
      </c:catAx>
      <c:valAx>
        <c:axId val="105779200"/>
        <c:scaling>
          <c:orientation val="minMax"/>
          <c:max val="160"/>
        </c:scaling>
        <c:delete val="0"/>
        <c:axPos val="l"/>
        <c:majorGridlines/>
        <c:title>
          <c:tx>
            <c:rich>
              <a:bodyPr rot="-5400000" vert="horz"/>
              <a:lstStyle/>
              <a:p>
                <a:pPr>
                  <a:defRPr sz="1400">
                    <a:latin typeface="Avenir Next LT Pro" panose="020B0504020202020204" pitchFamily="34" charset="0"/>
                    <a:cs typeface="Times New Roman" pitchFamily="18" charset="0"/>
                  </a:defRPr>
                </a:pPr>
                <a:r>
                  <a:rPr lang="en-US" sz="1400">
                    <a:latin typeface="Avenir Next LT Pro" panose="020B0504020202020204" pitchFamily="34" charset="0"/>
                    <a:cs typeface="Times New Roman" pitchFamily="18" charset="0"/>
                  </a:rPr>
                  <a:t>Frequency</a:t>
                </a:r>
              </a:p>
            </c:rich>
          </c:tx>
          <c:overlay val="0"/>
        </c:title>
        <c:numFmt formatCode="General" sourceLinked="1"/>
        <c:majorTickMark val="out"/>
        <c:minorTickMark val="none"/>
        <c:tickLblPos val="nextTo"/>
        <c:txPr>
          <a:bodyPr/>
          <a:lstStyle/>
          <a:p>
            <a:pPr>
              <a:defRPr sz="1400">
                <a:latin typeface="Avenir Next LT Pro" panose="020B0504020202020204" pitchFamily="34" charset="0"/>
                <a:cs typeface="Times New Roman" pitchFamily="18" charset="0"/>
              </a:defRPr>
            </a:pPr>
            <a:endParaRPr lang="en-US"/>
          </a:p>
        </c:txPr>
        <c:crossAx val="105768832"/>
        <c:crosses val="autoZero"/>
        <c:crossBetween val="between"/>
      </c:valAx>
      <c:spPr>
        <a:solidFill>
          <a:schemeClr val="tx2">
            <a:lumMod val="20000"/>
            <a:lumOff val="80000"/>
          </a:schemeClr>
        </a:solidFill>
        <a:ln w="15875">
          <a:solidFill>
            <a:schemeClr val="tx1"/>
          </a:solidFill>
        </a:ln>
      </c:spPr>
    </c:plotArea>
    <c:plotVisOnly val="1"/>
    <c:dispBlanksAs val="gap"/>
    <c:showDLblsOverMax val="0"/>
  </c:chart>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2"/>
    </mc:Choice>
    <mc:Fallback>
      <c:style val="32"/>
    </mc:Fallback>
  </mc:AlternateContent>
  <c:chart>
    <c:autoTitleDeleted val="1"/>
    <c:plotArea>
      <c:layout/>
      <c:barChart>
        <c:barDir val="bar"/>
        <c:grouping val="clustered"/>
        <c:varyColors val="0"/>
        <c:ser>
          <c:idx val="0"/>
          <c:order val="0"/>
          <c:tx>
            <c:strRef>
              <c:f>'histogram (Q3-2021)'!$AF$68</c:f>
              <c:strCache>
                <c:ptCount val="1"/>
                <c:pt idx="0">
                  <c:v>Unit cost (USD/m)</c:v>
                </c:pt>
              </c:strCache>
            </c:strRef>
          </c:tx>
          <c:spPr>
            <a:solidFill>
              <a:schemeClr val="accent5">
                <a:lumMod val="50000"/>
              </a:schemeClr>
            </a:solidFill>
          </c:spPr>
          <c:invertIfNegative val="0"/>
          <c:dPt>
            <c:idx val="4"/>
            <c:invertIfNegative val="0"/>
            <c:bubble3D val="0"/>
            <c:spPr>
              <a:solidFill>
                <a:srgbClr val="FFC000"/>
              </a:solidFill>
            </c:spPr>
            <c:extLst>
              <c:ext xmlns:c16="http://schemas.microsoft.com/office/drawing/2014/chart" uri="{C3380CC4-5D6E-409C-BE32-E72D297353CC}">
                <c16:uniqueId val="{00000001-33B3-4447-BB36-0AD41D13F5E9}"/>
              </c:ext>
            </c:extLst>
          </c:dPt>
          <c:dPt>
            <c:idx val="5"/>
            <c:invertIfNegative val="0"/>
            <c:bubble3D val="0"/>
            <c:spPr>
              <a:solidFill>
                <a:srgbClr val="FFC000"/>
              </a:solidFill>
            </c:spPr>
            <c:extLst>
              <c:ext xmlns:c16="http://schemas.microsoft.com/office/drawing/2014/chart" uri="{C3380CC4-5D6E-409C-BE32-E72D297353CC}">
                <c16:uniqueId val="{00000003-33B3-4447-BB36-0AD41D13F5E9}"/>
              </c:ext>
            </c:extLst>
          </c:dPt>
          <c:dPt>
            <c:idx val="7"/>
            <c:invertIfNegative val="0"/>
            <c:bubble3D val="0"/>
            <c:spPr>
              <a:solidFill>
                <a:srgbClr val="FFC000"/>
              </a:solidFill>
            </c:spPr>
            <c:extLst>
              <c:ext xmlns:c16="http://schemas.microsoft.com/office/drawing/2014/chart" uri="{C3380CC4-5D6E-409C-BE32-E72D297353CC}">
                <c16:uniqueId val="{00000005-33B3-4447-BB36-0AD41D13F5E9}"/>
              </c:ext>
            </c:extLst>
          </c:dPt>
          <c:dLbls>
            <c:dLbl>
              <c:idx val="4"/>
              <c:numFmt formatCode="#,##0" sourceLinked="0"/>
              <c:spPr>
                <a:solidFill>
                  <a:srgbClr val="FFFF00"/>
                </a:solidFill>
              </c:spPr>
              <c:txPr>
                <a:bodyPr/>
                <a:lstStyle/>
                <a:p>
                  <a:pPr>
                    <a:defRPr sz="1200" b="1">
                      <a:latin typeface="Avenir Next LT Pro" panose="020B0504020202020204" pitchFamily="34" charset="0"/>
                      <a:cs typeface="Times New Roman" pitchFamily="18" charset="0"/>
                    </a:defRPr>
                  </a:pPr>
                  <a:endParaRPr lang="en-US"/>
                </a:p>
              </c:txPr>
              <c:showLegendKey val="0"/>
              <c:showVal val="1"/>
              <c:showCatName val="0"/>
              <c:showSerName val="0"/>
              <c:showPercent val="0"/>
              <c:showBubbleSize val="0"/>
              <c:extLst>
                <c:ext xmlns:c16="http://schemas.microsoft.com/office/drawing/2014/chart" uri="{C3380CC4-5D6E-409C-BE32-E72D297353CC}">
                  <c16:uniqueId val="{00000001-33B3-4447-BB36-0AD41D13F5E9}"/>
                </c:ext>
              </c:extLst>
            </c:dLbl>
            <c:dLbl>
              <c:idx val="7"/>
              <c:layout>
                <c:manualLayout>
                  <c:x val="-1.3637458088448741E-2"/>
                  <c:y val="-8.6652146522099804E-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3B3-4447-BB36-0AD41D13F5E9}"/>
                </c:ext>
              </c:extLst>
            </c:dLbl>
            <c:numFmt formatCode="#,##0" sourceLinked="0"/>
            <c:spPr>
              <a:solidFill>
                <a:schemeClr val="accent1">
                  <a:lumMod val="20000"/>
                  <a:lumOff val="80000"/>
                </a:schemeClr>
              </a:solidFill>
            </c:spPr>
            <c:txPr>
              <a:bodyPr/>
              <a:lstStyle/>
              <a:p>
                <a:pPr>
                  <a:defRPr sz="1200" b="1">
                    <a:latin typeface="Avenir Next LT Pro" panose="020B0504020202020204" pitchFamily="34" charset="0"/>
                    <a:cs typeface="Times New Roman"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'histogram (Q3-2021)'!$AE$69:$AE$76</c:f>
              <c:strCache>
                <c:ptCount val="8"/>
                <c:pt idx="0">
                  <c:v>Turkey</c:v>
                </c:pt>
                <c:pt idx="1">
                  <c:v>Iceland</c:v>
                </c:pt>
                <c:pt idx="2">
                  <c:v>Kenya</c:v>
                </c:pt>
                <c:pt idx="3">
                  <c:v>New Zealand</c:v>
                </c:pt>
                <c:pt idx="4">
                  <c:v>Indonesia (data 2021)</c:v>
                </c:pt>
                <c:pt idx="5">
                  <c:v>Indonesia (data 2020)</c:v>
                </c:pt>
                <c:pt idx="6">
                  <c:v>Philippines</c:v>
                </c:pt>
                <c:pt idx="7">
                  <c:v>Indonesia (data 2018)</c:v>
                </c:pt>
              </c:strCache>
            </c:strRef>
          </c:cat>
          <c:val>
            <c:numRef>
              <c:f>'histogram (Q3-2021)'!$AF$69:$AF$76</c:f>
              <c:numCache>
                <c:formatCode>General</c:formatCode>
                <c:ptCount val="8"/>
                <c:pt idx="0" formatCode="0">
                  <c:v>752.36472948063647</c:v>
                </c:pt>
                <c:pt idx="1">
                  <c:v>1859</c:v>
                </c:pt>
                <c:pt idx="2">
                  <c:v>2084</c:v>
                </c:pt>
                <c:pt idx="3" formatCode="0">
                  <c:v>2148.1999999999998</c:v>
                </c:pt>
                <c:pt idx="4" formatCode="0">
                  <c:v>3258</c:v>
                </c:pt>
                <c:pt idx="5" formatCode="0">
                  <c:v>3499</c:v>
                </c:pt>
                <c:pt idx="6">
                  <c:v>3600</c:v>
                </c:pt>
                <c:pt idx="7" formatCode="0">
                  <c:v>3960</c:v>
                </c:pt>
              </c:numCache>
            </c:numRef>
          </c:val>
          <c:extLst>
            <c:ext xmlns:c16="http://schemas.microsoft.com/office/drawing/2014/chart" uri="{C3380CC4-5D6E-409C-BE32-E72D297353CC}">
              <c16:uniqueId val="{00000006-33B3-4447-BB36-0AD41D13F5E9}"/>
            </c:ext>
          </c:extLst>
        </c:ser>
        <c:dLbls>
          <c:showLegendKey val="0"/>
          <c:showVal val="0"/>
          <c:showCatName val="0"/>
          <c:showSerName val="0"/>
          <c:showPercent val="0"/>
          <c:showBubbleSize val="0"/>
        </c:dLbls>
        <c:gapWidth val="100"/>
        <c:axId val="105968384"/>
        <c:axId val="105969920"/>
      </c:barChart>
      <c:catAx>
        <c:axId val="105968384"/>
        <c:scaling>
          <c:orientation val="minMax"/>
        </c:scaling>
        <c:delete val="0"/>
        <c:axPos val="l"/>
        <c:numFmt formatCode="General" sourceLinked="1"/>
        <c:majorTickMark val="none"/>
        <c:minorTickMark val="none"/>
        <c:tickLblPos val="nextTo"/>
        <c:txPr>
          <a:bodyPr rot="-60000000" vert="horz"/>
          <a:lstStyle/>
          <a:p>
            <a:pPr>
              <a:defRPr sz="1200" b="1">
                <a:latin typeface="Avenir Next LT Pro" panose="020B0504020202020204" pitchFamily="34" charset="0"/>
                <a:cs typeface="Times New Roman" pitchFamily="18" charset="0"/>
              </a:defRPr>
            </a:pPr>
            <a:endParaRPr lang="en-US"/>
          </a:p>
        </c:txPr>
        <c:crossAx val="105969920"/>
        <c:crosses val="autoZero"/>
        <c:auto val="1"/>
        <c:lblAlgn val="ctr"/>
        <c:lblOffset val="100"/>
        <c:noMultiLvlLbl val="0"/>
      </c:catAx>
      <c:valAx>
        <c:axId val="105969920"/>
        <c:scaling>
          <c:orientation val="minMax"/>
          <c:max val="4000"/>
        </c:scaling>
        <c:delete val="0"/>
        <c:axPos val="b"/>
        <c:majorGridlines/>
        <c:title>
          <c:tx>
            <c:rich>
              <a:bodyPr/>
              <a:lstStyle/>
              <a:p>
                <a:pPr>
                  <a:defRPr sz="1200">
                    <a:latin typeface="Avenir Next LT Pro" panose="020B0504020202020204" pitchFamily="34" charset="0"/>
                    <a:cs typeface="Times New Roman" pitchFamily="18" charset="0"/>
                  </a:defRPr>
                </a:pPr>
                <a:r>
                  <a:rPr lang="en-US" sz="1200" b="1" i="0" baseline="0">
                    <a:latin typeface="Avenir Next LT Pro" panose="020B0504020202020204" pitchFamily="34" charset="0"/>
                    <a:cs typeface="Times New Roman" pitchFamily="18" charset="0"/>
                  </a:rPr>
                  <a:t>Cost (USD/m)</a:t>
                </a:r>
                <a:endParaRPr lang="en-US" sz="1200">
                  <a:latin typeface="Avenir Next LT Pro" panose="020B0504020202020204" pitchFamily="34" charset="0"/>
                  <a:cs typeface="Times New Roman" pitchFamily="18" charset="0"/>
                </a:endParaRPr>
              </a:p>
            </c:rich>
          </c:tx>
          <c:overlay val="0"/>
        </c:title>
        <c:numFmt formatCode="#,##0" sourceLinked="0"/>
        <c:majorTickMark val="in"/>
        <c:minorTickMark val="none"/>
        <c:tickLblPos val="nextTo"/>
        <c:txPr>
          <a:bodyPr rot="-60000000" vert="horz"/>
          <a:lstStyle/>
          <a:p>
            <a:pPr>
              <a:defRPr sz="1200">
                <a:latin typeface="Avenir Next LT Pro" panose="020B0504020202020204" pitchFamily="34" charset="0"/>
                <a:cs typeface="Times New Roman" pitchFamily="18" charset="0"/>
              </a:defRPr>
            </a:pPr>
            <a:endParaRPr lang="en-US"/>
          </a:p>
        </c:txPr>
        <c:crossAx val="105968384"/>
        <c:crosses val="autoZero"/>
        <c:crossBetween val="between"/>
      </c:valAx>
    </c:plotArea>
    <c:plotVisOnly val="1"/>
    <c:dispBlanksAs val="gap"/>
    <c:showDLblsOverMax val="0"/>
  </c:chart>
  <c:spPr>
    <a:ln w="12700">
      <a:solidFill>
        <a:schemeClr val="accent5">
          <a:lumMod val="50000"/>
        </a:schemeClr>
      </a:solidFill>
    </a:ln>
    <a:effectLst>
      <a:glow rad="63500">
        <a:schemeClr val="accent3">
          <a:satMod val="175000"/>
          <a:alpha val="40000"/>
        </a:schemeClr>
      </a:glow>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bar"/>
        <c:grouping val="clustered"/>
        <c:varyColors val="0"/>
        <c:ser>
          <c:idx val="0"/>
          <c:order val="0"/>
          <c:tx>
            <c:strRef>
              <c:f>'histogram (Q3-2021)'!$S$57</c:f>
              <c:strCache>
                <c:ptCount val="1"/>
                <c:pt idx="0">
                  <c:v>Unit Cost (USD/m) (2021 study)</c:v>
                </c:pt>
              </c:strCache>
            </c:strRef>
          </c:tx>
          <c:invertIfNegative val="0"/>
          <c:dLbls>
            <c:numFmt formatCode="#,##0" sourceLinked="0"/>
            <c:spPr>
              <a:solidFill>
                <a:schemeClr val="bg1">
                  <a:lumMod val="95000"/>
                </a:schemeClr>
              </a:solidFill>
            </c:spPr>
            <c:txPr>
              <a:bodyPr/>
              <a:lstStyle/>
              <a:p>
                <a:pPr>
                  <a:defRPr sz="1200" b="1">
                    <a:latin typeface="Avenir Next LT Pro" panose="020B0504020202020204" pitchFamily="34" charset="0"/>
                    <a:cs typeface="Times New Roman"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'histogram (Q3-2021)'!$R$58:$R$62</c:f>
              <c:strCache>
                <c:ptCount val="5"/>
                <c:pt idx="0">
                  <c:v>NTT</c:v>
                </c:pt>
                <c:pt idx="1">
                  <c:v>Sulawesi</c:v>
                </c:pt>
                <c:pt idx="2">
                  <c:v>Maluku</c:v>
                </c:pt>
                <c:pt idx="3">
                  <c:v>Sumatera</c:v>
                </c:pt>
                <c:pt idx="4">
                  <c:v>Jawa</c:v>
                </c:pt>
              </c:strCache>
            </c:strRef>
          </c:cat>
          <c:val>
            <c:numRef>
              <c:f>'histogram (Q3-2021)'!$S$58:$S$62</c:f>
              <c:numCache>
                <c:formatCode>General</c:formatCode>
                <c:ptCount val="5"/>
                <c:pt idx="0">
                  <c:v>2535</c:v>
                </c:pt>
                <c:pt idx="1">
                  <c:v>2701</c:v>
                </c:pt>
                <c:pt idx="2">
                  <c:v>2949</c:v>
                </c:pt>
                <c:pt idx="3">
                  <c:v>3335</c:v>
                </c:pt>
                <c:pt idx="4">
                  <c:v>3472</c:v>
                </c:pt>
              </c:numCache>
            </c:numRef>
          </c:val>
          <c:extLst>
            <c:ext xmlns:c16="http://schemas.microsoft.com/office/drawing/2014/chart" uri="{C3380CC4-5D6E-409C-BE32-E72D297353CC}">
              <c16:uniqueId val="{00000000-217F-438C-844F-072E699C3582}"/>
            </c:ext>
          </c:extLst>
        </c:ser>
        <c:dLbls>
          <c:showLegendKey val="0"/>
          <c:showVal val="0"/>
          <c:showCatName val="0"/>
          <c:showSerName val="0"/>
          <c:showPercent val="0"/>
          <c:showBubbleSize val="0"/>
        </c:dLbls>
        <c:gapWidth val="100"/>
        <c:axId val="106051456"/>
        <c:axId val="106052992"/>
      </c:barChart>
      <c:catAx>
        <c:axId val="1060514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Avenir Next LT Pro" panose="020B0504020202020204" pitchFamily="34" charset="0"/>
                <a:ea typeface="+mn-ea"/>
                <a:cs typeface="Times New Roman" panose="02020603050405020304" pitchFamily="18" charset="0"/>
              </a:defRPr>
            </a:pPr>
            <a:endParaRPr lang="en-US"/>
          </a:p>
        </c:txPr>
        <c:crossAx val="106052992"/>
        <c:crosses val="autoZero"/>
        <c:auto val="1"/>
        <c:lblAlgn val="ctr"/>
        <c:lblOffset val="100"/>
        <c:noMultiLvlLbl val="0"/>
      </c:catAx>
      <c:valAx>
        <c:axId val="106052992"/>
        <c:scaling>
          <c:orientation val="minMax"/>
          <c:max val="4000"/>
        </c:scaling>
        <c:delete val="0"/>
        <c:axPos val="b"/>
        <c:majorGridlines>
          <c:spPr>
            <a:ln w="9525" cap="flat" cmpd="sng" algn="ctr">
              <a:solidFill>
                <a:schemeClr val="tx1">
                  <a:lumMod val="15000"/>
                  <a:lumOff val="85000"/>
                </a:schemeClr>
              </a:solidFill>
              <a:round/>
            </a:ln>
            <a:effectLst/>
          </c:spPr>
        </c:majorGridlines>
        <c:title>
          <c:tx>
            <c:rich>
              <a:bodyPr/>
              <a:lstStyle/>
              <a:p>
                <a:pPr>
                  <a:defRPr>
                    <a:latin typeface="Avenir Next LT Pro" panose="020B0504020202020204" pitchFamily="34" charset="0"/>
                  </a:defRPr>
                </a:pPr>
                <a:r>
                  <a:rPr lang="en-US" sz="1100">
                    <a:latin typeface="Avenir Next LT Pro" panose="020B0504020202020204" pitchFamily="34" charset="0"/>
                    <a:cs typeface="Times New Roman" pitchFamily="18" charset="0"/>
                  </a:rPr>
                  <a:t>drilling</a:t>
                </a:r>
                <a:r>
                  <a:rPr lang="en-US" sz="1100" baseline="0">
                    <a:latin typeface="Avenir Next LT Pro" panose="020B0504020202020204" pitchFamily="34" charset="0"/>
                    <a:cs typeface="Times New Roman" pitchFamily="18" charset="0"/>
                  </a:rPr>
                  <a:t> cost (USD/m)</a:t>
                </a:r>
                <a:endParaRPr lang="en-US" sz="1100">
                  <a:latin typeface="Avenir Next LT Pro" panose="020B0504020202020204" pitchFamily="34" charset="0"/>
                  <a:cs typeface="Times New Roman" pitchFamily="18" charset="0"/>
                </a:endParaRPr>
              </a:p>
            </c:rich>
          </c:tx>
          <c:overlay val="0"/>
        </c:title>
        <c:numFmt formatCode="#,##0" sourceLinked="0"/>
        <c:majorTickMark val="in"/>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Avenir Next LT Pro" panose="020B0504020202020204" pitchFamily="34" charset="0"/>
                <a:ea typeface="+mn-ea"/>
                <a:cs typeface="Times New Roman" panose="02020603050405020304" pitchFamily="18" charset="0"/>
              </a:defRPr>
            </a:pPr>
            <a:endParaRPr lang="en-US"/>
          </a:p>
        </c:txPr>
        <c:crossAx val="106051456"/>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8"/>
    </mc:Choice>
    <mc:Fallback>
      <c:style val="28"/>
    </mc:Fallback>
  </mc:AlternateContent>
  <c:chart>
    <c:autoTitleDeleted val="1"/>
    <c:plotArea>
      <c:layout/>
      <c:barChart>
        <c:barDir val="col"/>
        <c:grouping val="clustered"/>
        <c:varyColors val="0"/>
        <c:ser>
          <c:idx val="0"/>
          <c:order val="0"/>
          <c:tx>
            <c:strRef>
              <c:f>'histogram (Q3-2021)'!$S$87</c:f>
              <c:strCache>
                <c:ptCount val="1"/>
                <c:pt idx="0">
                  <c:v>Unit cost (USD/m)</c:v>
                </c:pt>
              </c:strCache>
            </c:strRef>
          </c:tx>
          <c:spPr>
            <a:solidFill>
              <a:schemeClr val="accent5">
                <a:lumMod val="50000"/>
              </a:schemeClr>
            </a:solidFill>
          </c:spPr>
          <c:invertIfNegative val="0"/>
          <c:dLbls>
            <c:dLbl>
              <c:idx val="5"/>
              <c:spPr>
                <a:solidFill>
                  <a:srgbClr val="FFFF00"/>
                </a:solidFill>
              </c:spPr>
              <c:txPr>
                <a:bodyPr/>
                <a:lstStyle/>
                <a:p>
                  <a:pPr>
                    <a:defRPr sz="1200" b="1">
                      <a:latin typeface="Times New Roman" pitchFamily="18" charset="0"/>
                      <a:cs typeface="Times New Roman" pitchFamily="18" charset="0"/>
                    </a:defRPr>
                  </a:pPr>
                  <a:endParaRPr lang="en-US"/>
                </a:p>
              </c:txPr>
              <c:showLegendKey val="0"/>
              <c:showVal val="1"/>
              <c:showCatName val="0"/>
              <c:showSerName val="0"/>
              <c:showPercent val="0"/>
              <c:showBubbleSize val="0"/>
              <c:extLst>
                <c:ext xmlns:c16="http://schemas.microsoft.com/office/drawing/2014/chart" uri="{C3380CC4-5D6E-409C-BE32-E72D297353CC}">
                  <c16:uniqueId val="{00000002-8E11-4A32-BB16-5E97A1300089}"/>
                </c:ext>
              </c:extLst>
            </c:dLbl>
            <c:spPr>
              <a:solidFill>
                <a:schemeClr val="accent1">
                  <a:lumMod val="20000"/>
                  <a:lumOff val="80000"/>
                </a:schemeClr>
              </a:solidFill>
            </c:spPr>
            <c:txPr>
              <a:bodyPr/>
              <a:lstStyle/>
              <a:p>
                <a:pPr>
                  <a:defRPr sz="1200" b="1">
                    <a:latin typeface="Times New Roman" pitchFamily="18" charset="0"/>
                    <a:cs typeface="Times New Roman"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'histogram (Q3-2021)'!$R$89:$R$94</c:f>
              <c:strCache>
                <c:ptCount val="6"/>
                <c:pt idx="0">
                  <c:v>2010-2011</c:v>
                </c:pt>
                <c:pt idx="1">
                  <c:v>2012-2013</c:v>
                </c:pt>
                <c:pt idx="2">
                  <c:v>2014-2015</c:v>
                </c:pt>
                <c:pt idx="3">
                  <c:v>2016-2017</c:v>
                </c:pt>
                <c:pt idx="4">
                  <c:v>2018-2019</c:v>
                </c:pt>
                <c:pt idx="5">
                  <c:v>2020-2021</c:v>
                </c:pt>
              </c:strCache>
            </c:strRef>
          </c:cat>
          <c:val>
            <c:numRef>
              <c:f>'histogram (Q3-2021)'!$T$89:$T$94</c:f>
              <c:numCache>
                <c:formatCode>General</c:formatCode>
                <c:ptCount val="6"/>
                <c:pt idx="0">
                  <c:v>2812</c:v>
                </c:pt>
                <c:pt idx="1">
                  <c:v>4286</c:v>
                </c:pt>
                <c:pt idx="2">
                  <c:v>4452</c:v>
                </c:pt>
                <c:pt idx="3">
                  <c:v>3628</c:v>
                </c:pt>
                <c:pt idx="4">
                  <c:v>2329</c:v>
                </c:pt>
                <c:pt idx="5">
                  <c:v>1917</c:v>
                </c:pt>
              </c:numCache>
            </c:numRef>
          </c:val>
          <c:extLst>
            <c:ext xmlns:c16="http://schemas.microsoft.com/office/drawing/2014/chart" uri="{C3380CC4-5D6E-409C-BE32-E72D297353CC}">
              <c16:uniqueId val="{00000000-8E11-4A32-BB16-5E97A1300089}"/>
            </c:ext>
          </c:extLst>
        </c:ser>
        <c:dLbls>
          <c:showLegendKey val="0"/>
          <c:showVal val="0"/>
          <c:showCatName val="0"/>
          <c:showSerName val="0"/>
          <c:showPercent val="0"/>
          <c:showBubbleSize val="0"/>
        </c:dLbls>
        <c:gapWidth val="66"/>
        <c:overlap val="-9"/>
        <c:axId val="106108800"/>
        <c:axId val="106110336"/>
      </c:barChart>
      <c:catAx>
        <c:axId val="106108800"/>
        <c:scaling>
          <c:orientation val="minMax"/>
        </c:scaling>
        <c:delete val="0"/>
        <c:axPos val="b"/>
        <c:numFmt formatCode="General" sourceLinked="0"/>
        <c:majorTickMark val="out"/>
        <c:minorTickMark val="none"/>
        <c:tickLblPos val="nextTo"/>
        <c:txPr>
          <a:bodyPr/>
          <a:lstStyle/>
          <a:p>
            <a:pPr>
              <a:defRPr sz="1200">
                <a:latin typeface="Times New Roman" pitchFamily="18" charset="0"/>
                <a:cs typeface="Times New Roman" pitchFamily="18" charset="0"/>
              </a:defRPr>
            </a:pPr>
            <a:endParaRPr lang="en-US"/>
          </a:p>
        </c:txPr>
        <c:crossAx val="106110336"/>
        <c:crosses val="autoZero"/>
        <c:auto val="1"/>
        <c:lblAlgn val="ctr"/>
        <c:lblOffset val="100"/>
        <c:noMultiLvlLbl val="0"/>
      </c:catAx>
      <c:valAx>
        <c:axId val="106110336"/>
        <c:scaling>
          <c:orientation val="minMax"/>
        </c:scaling>
        <c:delete val="0"/>
        <c:axPos val="l"/>
        <c:majorGridlines/>
        <c:title>
          <c:tx>
            <c:rich>
              <a:bodyPr rot="-5400000" vert="horz"/>
              <a:lstStyle/>
              <a:p>
                <a:pPr>
                  <a:defRPr sz="1200">
                    <a:latin typeface="Times New Roman" pitchFamily="18" charset="0"/>
                    <a:cs typeface="Times New Roman" pitchFamily="18" charset="0"/>
                  </a:defRPr>
                </a:pPr>
                <a:r>
                  <a:rPr lang="en-US" sz="1200">
                    <a:latin typeface="Times New Roman" pitchFamily="18" charset="0"/>
                    <a:cs typeface="Times New Roman" pitchFamily="18" charset="0"/>
                  </a:rPr>
                  <a:t>Cost (USD/m)</a:t>
                </a:r>
              </a:p>
            </c:rich>
          </c:tx>
          <c:overlay val="0"/>
        </c:title>
        <c:numFmt formatCode="#,##0" sourceLinked="0"/>
        <c:majorTickMark val="out"/>
        <c:minorTickMark val="none"/>
        <c:tickLblPos val="nextTo"/>
        <c:txPr>
          <a:bodyPr/>
          <a:lstStyle/>
          <a:p>
            <a:pPr>
              <a:defRPr sz="1200">
                <a:latin typeface="Times New Roman" pitchFamily="18" charset="0"/>
                <a:cs typeface="Times New Roman" pitchFamily="18" charset="0"/>
              </a:defRPr>
            </a:pPr>
            <a:endParaRPr lang="en-US"/>
          </a:p>
        </c:txPr>
        <c:crossAx val="106108800"/>
        <c:crosses val="autoZero"/>
        <c:crossBetween val="between"/>
      </c:valAx>
    </c:plotArea>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0.16434504634739275"/>
          <c:y val="1.0068544080934811E-3"/>
          <c:w val="0.79205275480696202"/>
          <c:h val="0.92242010810400477"/>
        </c:manualLayout>
      </c:layout>
      <c:barChart>
        <c:barDir val="bar"/>
        <c:grouping val="clustered"/>
        <c:varyColors val="0"/>
        <c:ser>
          <c:idx val="0"/>
          <c:order val="0"/>
          <c:tx>
            <c:strRef>
              <c:f>'histogram (Q3-2021)'!$Y$104</c:f>
              <c:strCache>
                <c:ptCount val="1"/>
                <c:pt idx="0">
                  <c:v>2021</c:v>
                </c:pt>
              </c:strCache>
            </c:strRef>
          </c:tx>
          <c:spPr>
            <a:solidFill>
              <a:srgbClr val="002060"/>
            </a:solidFill>
            <a:ln w="9525" cap="flat" cmpd="sng" algn="ctr">
              <a:solidFill>
                <a:schemeClr val="dk1">
                  <a:tint val="88500"/>
                  <a:shade val="95000"/>
                </a:schemeClr>
              </a:solidFill>
              <a:round/>
            </a:ln>
            <a:effectLst/>
          </c:spPr>
          <c:invertIfNegative val="0"/>
          <c:dLbls>
            <c:numFmt formatCode="#,##0" sourceLinked="0"/>
            <c:spPr>
              <a:solidFill>
                <a:schemeClr val="accent4">
                  <a:lumMod val="20000"/>
                  <a:lumOff val="80000"/>
                </a:schemeClr>
              </a:solidFill>
            </c:spPr>
            <c:txPr>
              <a:bodyPr/>
              <a:lstStyle/>
              <a:p>
                <a:pPr>
                  <a:defRPr sz="1100" b="1">
                    <a:latin typeface="Times New Roman" pitchFamily="18" charset="0"/>
                    <a:cs typeface="Times New Roman"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'histogram (Q3-2021)'!$W$106:$W$122</c:f>
              <c:strCache>
                <c:ptCount val="17"/>
                <c:pt idx="0">
                  <c:v>Sorik</c:v>
                </c:pt>
                <c:pt idx="1">
                  <c:v>Rantau Dedap</c:v>
                </c:pt>
                <c:pt idx="2">
                  <c:v>Sokoria</c:v>
                </c:pt>
                <c:pt idx="3">
                  <c:v>Lahendong</c:v>
                </c:pt>
                <c:pt idx="4">
                  <c:v>Muaralaboh</c:v>
                </c:pt>
                <c:pt idx="5">
                  <c:v>Tulehu</c:v>
                </c:pt>
                <c:pt idx="6">
                  <c:v>Karaha</c:v>
                </c:pt>
                <c:pt idx="7">
                  <c:v>Blawan Ijen</c:v>
                </c:pt>
                <c:pt idx="8">
                  <c:v>Darajat</c:v>
                </c:pt>
                <c:pt idx="9">
                  <c:v>Lumut Balai</c:v>
                </c:pt>
                <c:pt idx="10">
                  <c:v>Wayang Windu</c:v>
                </c:pt>
                <c:pt idx="11">
                  <c:v>Kamojang</c:v>
                </c:pt>
                <c:pt idx="12">
                  <c:v>Ulubelu</c:v>
                </c:pt>
                <c:pt idx="13">
                  <c:v>Hululais</c:v>
                </c:pt>
                <c:pt idx="14">
                  <c:v>Jaboi</c:v>
                </c:pt>
                <c:pt idx="15">
                  <c:v>Sarulla</c:v>
                </c:pt>
                <c:pt idx="16">
                  <c:v>Baturaden</c:v>
                </c:pt>
              </c:strCache>
            </c:strRef>
          </c:cat>
          <c:val>
            <c:numRef>
              <c:f>'histogram (Q3-2021)'!$Y$106:$Y$122</c:f>
              <c:numCache>
                <c:formatCode>General</c:formatCode>
                <c:ptCount val="17"/>
                <c:pt idx="0">
                  <c:v>2026</c:v>
                </c:pt>
                <c:pt idx="1">
                  <c:v>2334</c:v>
                </c:pt>
                <c:pt idx="2">
                  <c:v>2535</c:v>
                </c:pt>
                <c:pt idx="3">
                  <c:v>2701</c:v>
                </c:pt>
                <c:pt idx="4">
                  <c:v>2725</c:v>
                </c:pt>
                <c:pt idx="5">
                  <c:v>2949</c:v>
                </c:pt>
                <c:pt idx="6">
                  <c:v>2984</c:v>
                </c:pt>
                <c:pt idx="7">
                  <c:v>3051</c:v>
                </c:pt>
                <c:pt idx="8">
                  <c:v>3120</c:v>
                </c:pt>
                <c:pt idx="9">
                  <c:v>3176</c:v>
                </c:pt>
                <c:pt idx="10">
                  <c:v>3253</c:v>
                </c:pt>
                <c:pt idx="11">
                  <c:v>3302</c:v>
                </c:pt>
                <c:pt idx="12">
                  <c:v>3793</c:v>
                </c:pt>
                <c:pt idx="13">
                  <c:v>3932</c:v>
                </c:pt>
                <c:pt idx="14">
                  <c:v>4436</c:v>
                </c:pt>
                <c:pt idx="15">
                  <c:v>5492</c:v>
                </c:pt>
                <c:pt idx="16">
                  <c:v>7420</c:v>
                </c:pt>
              </c:numCache>
            </c:numRef>
          </c:val>
          <c:extLst>
            <c:ext xmlns:c16="http://schemas.microsoft.com/office/drawing/2014/chart" uri="{C3380CC4-5D6E-409C-BE32-E72D297353CC}">
              <c16:uniqueId val="{00000000-D277-4217-B097-FBCEC980DFD6}"/>
            </c:ext>
          </c:extLst>
        </c:ser>
        <c:dLbls>
          <c:showLegendKey val="0"/>
          <c:showVal val="0"/>
          <c:showCatName val="0"/>
          <c:showSerName val="0"/>
          <c:showPercent val="0"/>
          <c:showBubbleSize val="0"/>
        </c:dLbls>
        <c:gapWidth val="100"/>
        <c:axId val="106143104"/>
        <c:axId val="106165376"/>
      </c:barChart>
      <c:catAx>
        <c:axId val="10614310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6165376"/>
        <c:crosses val="autoZero"/>
        <c:auto val="1"/>
        <c:lblAlgn val="ctr"/>
        <c:lblOffset val="100"/>
        <c:noMultiLvlLbl val="0"/>
      </c:catAx>
      <c:valAx>
        <c:axId val="106165376"/>
        <c:scaling>
          <c:orientation val="minMax"/>
        </c:scaling>
        <c:delete val="0"/>
        <c:axPos val="b"/>
        <c:majorGridlines>
          <c:spPr>
            <a:ln w="9525" cap="flat" cmpd="sng" algn="ctr">
              <a:solidFill>
                <a:schemeClr val="tx1">
                  <a:lumMod val="15000"/>
                  <a:lumOff val="85000"/>
                </a:schemeClr>
              </a:solidFill>
              <a:round/>
            </a:ln>
            <a:effectLst/>
          </c:spPr>
        </c:majorGridlines>
        <c:title>
          <c:tx>
            <c:rich>
              <a:bodyPr/>
              <a:lstStyle/>
              <a:p>
                <a:pPr>
                  <a:defRPr/>
                </a:pPr>
                <a:r>
                  <a:rPr lang="en-US" sz="1200">
                    <a:latin typeface="Times New Roman" pitchFamily="18" charset="0"/>
                    <a:cs typeface="Times New Roman" pitchFamily="18" charset="0"/>
                  </a:rPr>
                  <a:t>Cost (USD/m)</a:t>
                </a:r>
              </a:p>
            </c:rich>
          </c:tx>
          <c:overlay val="0"/>
        </c:title>
        <c:numFmt formatCode="#,##0" sourceLinked="0"/>
        <c:majorTickMark val="in"/>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6143104"/>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USD/meter SMGP</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2"/>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3C8D-46A2-AD78-D236A824A691}"/>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3C8D-46A2-AD78-D236A824A691}"/>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3C8D-46A2-AD78-D236A824A691}"/>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3"/>
                <c:pt idx="0">
                  <c:v>SMP T-04</c:v>
                </c:pt>
                <c:pt idx="1">
                  <c:v>SMP T-09</c:v>
                </c:pt>
                <c:pt idx="2">
                  <c:v>SMP T-07</c:v>
                </c:pt>
              </c:strCache>
              <c:extLst/>
            </c:strRef>
          </c:cat>
          <c:val>
            <c:numRef>
              <c:f>Sheet1!$B$2:$B$8</c:f>
              <c:numCache>
                <c:formatCode>[$$-409]#,##0.00;\([$$-409]#,##0.00\)</c:formatCode>
                <c:ptCount val="3"/>
                <c:pt idx="0">
                  <c:v>1605.5890447022769</c:v>
                </c:pt>
                <c:pt idx="1">
                  <c:v>1437.6807746648003</c:v>
                </c:pt>
                <c:pt idx="2">
                  <c:v>1499.439841159674</c:v>
                </c:pt>
              </c:numCache>
              <c:extLst/>
            </c:numRef>
          </c:val>
          <c:extLst>
            <c:ext xmlns:c16="http://schemas.microsoft.com/office/drawing/2014/chart" uri="{C3380CC4-5D6E-409C-BE32-E72D297353CC}">
              <c16:uniqueId val="{00000006-3C8D-46A2-AD78-D236A824A691}"/>
            </c:ext>
          </c:extLst>
        </c:ser>
        <c:dLbls>
          <c:dLblPos val="outEnd"/>
          <c:showLegendKey val="0"/>
          <c:showVal val="1"/>
          <c:showCatName val="0"/>
          <c:showSerName val="0"/>
          <c:showPercent val="0"/>
          <c:showBubbleSize val="0"/>
        </c:dLbls>
        <c:gapWidth val="219"/>
        <c:overlap val="-27"/>
        <c:axId val="1718269023"/>
        <c:axId val="349523855"/>
      </c:barChart>
      <c:catAx>
        <c:axId val="1718269023"/>
        <c:scaling>
          <c:orientation val="minMax"/>
        </c:scaling>
        <c:delete val="1"/>
        <c:axPos val="b"/>
        <c:numFmt formatCode="General" sourceLinked="1"/>
        <c:majorTickMark val="none"/>
        <c:minorTickMark val="none"/>
        <c:tickLblPos val="nextTo"/>
        <c:crossAx val="349523855"/>
        <c:crosses val="autoZero"/>
        <c:auto val="1"/>
        <c:lblAlgn val="ctr"/>
        <c:lblOffset val="100"/>
        <c:noMultiLvlLbl val="0"/>
      </c:catAx>
      <c:valAx>
        <c:axId val="349523855"/>
        <c:scaling>
          <c:orientation val="minMax"/>
        </c:scaling>
        <c:delete val="1"/>
        <c:axPos val="l"/>
        <c:majorGridlines>
          <c:spPr>
            <a:ln w="9525" cap="flat" cmpd="sng" algn="ctr">
              <a:solidFill>
                <a:schemeClr val="tx1">
                  <a:lumMod val="15000"/>
                  <a:lumOff val="85000"/>
                </a:schemeClr>
              </a:solidFill>
              <a:round/>
            </a:ln>
            <a:effectLst/>
          </c:spPr>
        </c:majorGridlines>
        <c:numFmt formatCode="[$$-409]#,##0.00;\([$$-409]#,##0.00\)" sourceLinked="1"/>
        <c:majorTickMark val="none"/>
        <c:minorTickMark val="none"/>
        <c:tickLblPos val="nextTo"/>
        <c:crossAx val="1718269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alpha val="50196"/>
      </a:srgbClr>
    </a:soli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2"/>
    </mc:Choice>
    <mc:Fallback>
      <c:style val="42"/>
    </mc:Fallback>
  </mc:AlternateContent>
  <c:clrMapOvr bg1="lt1" tx1="dk1" bg2="lt2" tx2="dk2" accent1="accent1" accent2="accent2" accent3="accent3" accent4="accent4" accent5="accent5" accent6="accent6" hlink="hlink" folHlink="folHlink"/>
  <c:chart>
    <c:title>
      <c:tx>
        <c:rich>
          <a:bodyPr/>
          <a:lstStyle/>
          <a:p>
            <a:pPr>
              <a:defRPr>
                <a:solidFill>
                  <a:srgbClr val="FFC000"/>
                </a:solidFill>
              </a:defRPr>
            </a:pPr>
            <a:r>
              <a:rPr lang="en-US">
                <a:solidFill>
                  <a:srgbClr val="FFC000"/>
                </a:solidFill>
              </a:rPr>
              <a:t>GROUP I</a:t>
            </a:r>
          </a:p>
        </c:rich>
      </c:tx>
      <c:overlay val="0"/>
    </c:title>
    <c:autoTitleDeleted val="0"/>
    <c:plotArea>
      <c:layout/>
      <c:barChart>
        <c:barDir val="col"/>
        <c:grouping val="clustered"/>
        <c:varyColors val="0"/>
        <c:ser>
          <c:idx val="0"/>
          <c:order val="0"/>
          <c:invertIfNegative val="0"/>
          <c:dPt>
            <c:idx val="4"/>
            <c:invertIfNegative val="0"/>
            <c:bubble3D val="0"/>
            <c:spPr>
              <a:blipFill>
                <a:blip xmlns:r="http://schemas.openxmlformats.org/officeDocument/2006/relationships" r:embed="rId2"/>
                <a:tile tx="0" ty="0" sx="100000" sy="100000" flip="none" algn="tl"/>
              </a:blipFill>
            </c:spPr>
            <c:extLst>
              <c:ext xmlns:c16="http://schemas.microsoft.com/office/drawing/2014/chart" uri="{C3380CC4-5D6E-409C-BE32-E72D297353CC}">
                <c16:uniqueId val="{00000001-1C2B-4EDD-9868-9ABBECFFCE14}"/>
              </c:ext>
            </c:extLst>
          </c:dPt>
          <c:dPt>
            <c:idx val="6"/>
            <c:invertIfNegative val="0"/>
            <c:bubble3D val="0"/>
            <c:spPr>
              <a:blipFill>
                <a:blip xmlns:r="http://schemas.openxmlformats.org/officeDocument/2006/relationships" r:embed="rId3"/>
                <a:tile tx="0" ty="0" sx="100000" sy="100000" flip="none" algn="tl"/>
              </a:blipFill>
            </c:spPr>
            <c:extLst>
              <c:ext xmlns:c16="http://schemas.microsoft.com/office/drawing/2014/chart" uri="{C3380CC4-5D6E-409C-BE32-E72D297353CC}">
                <c16:uniqueId val="{00000003-1C2B-4EDD-9868-9ABBECFFCE1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'[Cost Evaluation.xlsx]Sheet1'!$B$3:$I$3</c:f>
              <c:strCache>
                <c:ptCount val="8"/>
                <c:pt idx="0">
                  <c:v>PT. PILLAR</c:v>
                </c:pt>
                <c:pt idx="1">
                  <c:v>PT ATAMORA</c:v>
                </c:pt>
                <c:pt idx="2">
                  <c:v>PT KIPRAH</c:v>
                </c:pt>
                <c:pt idx="3">
                  <c:v>PT INDO KAYA</c:v>
                </c:pt>
                <c:pt idx="4">
                  <c:v>PT SPIJ</c:v>
                </c:pt>
                <c:pt idx="5">
                  <c:v>PT GEO LINK</c:v>
                </c:pt>
                <c:pt idx="6">
                  <c:v>PT CITRA TUBINDO</c:v>
                </c:pt>
                <c:pt idx="7">
                  <c:v>PT DHIVA</c:v>
                </c:pt>
              </c:strCache>
            </c:strRef>
          </c:cat>
          <c:val>
            <c:numRef>
              <c:f>'[Cost Evaluation.xlsx]Sheet1'!$B$4:$I$4</c:f>
              <c:numCache>
                <c:formatCode>#,##0.00</c:formatCode>
                <c:ptCount val="8"/>
                <c:pt idx="0">
                  <c:v>1.29015122</c:v>
                </c:pt>
                <c:pt idx="1">
                  <c:v>1.7592399999999999</c:v>
                </c:pt>
                <c:pt idx="2">
                  <c:v>3.0818115000000001</c:v>
                </c:pt>
                <c:pt idx="3">
                  <c:v>1.6046781999999999</c:v>
                </c:pt>
                <c:pt idx="4">
                  <c:v>2.9698484399999998</c:v>
                </c:pt>
                <c:pt idx="5">
                  <c:v>2.1236540000000002</c:v>
                </c:pt>
                <c:pt idx="6">
                  <c:v>0.9713518000000001</c:v>
                </c:pt>
                <c:pt idx="7">
                  <c:v>1.482788</c:v>
                </c:pt>
              </c:numCache>
            </c:numRef>
          </c:val>
          <c:extLst>
            <c:ext xmlns:c16="http://schemas.microsoft.com/office/drawing/2014/chart" uri="{C3380CC4-5D6E-409C-BE32-E72D297353CC}">
              <c16:uniqueId val="{00000004-1C2B-4EDD-9868-9ABBECFFCE14}"/>
            </c:ext>
          </c:extLst>
        </c:ser>
        <c:dLbls>
          <c:showLegendKey val="0"/>
          <c:showVal val="0"/>
          <c:showCatName val="0"/>
          <c:showSerName val="0"/>
          <c:showPercent val="0"/>
          <c:showBubbleSize val="0"/>
        </c:dLbls>
        <c:gapWidth val="150"/>
        <c:axId val="302695168"/>
        <c:axId val="302696704"/>
      </c:barChart>
      <c:catAx>
        <c:axId val="302695168"/>
        <c:scaling>
          <c:orientation val="minMax"/>
        </c:scaling>
        <c:delete val="1"/>
        <c:axPos val="b"/>
        <c:numFmt formatCode="General" sourceLinked="0"/>
        <c:majorTickMark val="none"/>
        <c:minorTickMark val="none"/>
        <c:tickLblPos val="nextTo"/>
        <c:crossAx val="302696704"/>
        <c:crosses val="autoZero"/>
        <c:auto val="1"/>
        <c:lblAlgn val="ctr"/>
        <c:lblOffset val="100"/>
        <c:noMultiLvlLbl val="0"/>
      </c:catAx>
      <c:valAx>
        <c:axId val="302696704"/>
        <c:scaling>
          <c:orientation val="minMax"/>
        </c:scaling>
        <c:delete val="0"/>
        <c:axPos val="l"/>
        <c:majorGridlines/>
        <c:numFmt formatCode="#,##0.00" sourceLinked="1"/>
        <c:majorTickMark val="none"/>
        <c:minorTickMark val="none"/>
        <c:tickLblPos val="nextTo"/>
        <c:txPr>
          <a:bodyPr/>
          <a:lstStyle/>
          <a:p>
            <a:pPr>
              <a:defRPr>
                <a:solidFill>
                  <a:schemeClr val="accent6">
                    <a:lumMod val="50000"/>
                  </a:schemeClr>
                </a:solidFill>
              </a:defRPr>
            </a:pPr>
            <a:endParaRPr lang="en-US"/>
          </a:p>
        </c:txPr>
        <c:crossAx val="302695168"/>
        <c:crosses val="autoZero"/>
        <c:crossBetween val="between"/>
      </c:valAx>
    </c:plotArea>
    <c:plotVisOnly val="1"/>
    <c:dispBlanksAs val="gap"/>
    <c:showDLblsOverMax val="0"/>
  </c:chart>
  <c:spPr>
    <a:noFill/>
  </c:sp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4"/>
    </mc:Choice>
    <mc:Fallback>
      <c:style val="44"/>
    </mc:Fallback>
  </mc:AlternateContent>
  <c:clrMapOvr bg1="lt1" tx1="dk1" bg2="lt2" tx2="dk2" accent1="accent1" accent2="accent2" accent3="accent3" accent4="accent4" accent5="accent5" accent6="accent6" hlink="hlink" folHlink="folHlink"/>
  <c:chart>
    <c:title>
      <c:tx>
        <c:rich>
          <a:bodyPr/>
          <a:lstStyle/>
          <a:p>
            <a:pPr>
              <a:defRPr>
                <a:solidFill>
                  <a:srgbClr val="FFC000"/>
                </a:solidFill>
              </a:defRPr>
            </a:pPr>
            <a:r>
              <a:rPr lang="en-US">
                <a:solidFill>
                  <a:srgbClr val="FFC000"/>
                </a:solidFill>
              </a:rPr>
              <a:t>GROUP II</a:t>
            </a:r>
          </a:p>
        </c:rich>
      </c:tx>
      <c:overlay val="0"/>
    </c:title>
    <c:autoTitleDeleted val="0"/>
    <c:plotArea>
      <c:layout/>
      <c:barChart>
        <c:barDir val="col"/>
        <c:grouping val="clustered"/>
        <c:varyColors val="0"/>
        <c:ser>
          <c:idx val="1"/>
          <c:order val="0"/>
          <c:invertIfNegative val="0"/>
          <c:dPt>
            <c:idx val="4"/>
            <c:invertIfNegative val="0"/>
            <c:bubble3D val="0"/>
            <c:spPr>
              <a:blipFill>
                <a:blip xmlns:r="http://schemas.openxmlformats.org/officeDocument/2006/relationships" r:embed="rId2"/>
                <a:tile tx="0" ty="0" sx="100000" sy="100000" flip="none" algn="tl"/>
              </a:blipFill>
            </c:spPr>
            <c:extLst>
              <c:ext xmlns:c16="http://schemas.microsoft.com/office/drawing/2014/chart" uri="{C3380CC4-5D6E-409C-BE32-E72D297353CC}">
                <c16:uniqueId val="{00000001-95D2-4C89-8686-17704E64EDBD}"/>
              </c:ext>
            </c:extLst>
          </c:dPt>
          <c:dPt>
            <c:idx val="7"/>
            <c:invertIfNegative val="0"/>
            <c:bubble3D val="0"/>
            <c:spPr>
              <a:blipFill>
                <a:blip xmlns:r="http://schemas.openxmlformats.org/officeDocument/2006/relationships" r:embed="rId3"/>
                <a:tile tx="0" ty="0" sx="100000" sy="100000" flip="none" algn="tl"/>
              </a:blipFill>
            </c:spPr>
            <c:extLst>
              <c:ext xmlns:c16="http://schemas.microsoft.com/office/drawing/2014/chart" uri="{C3380CC4-5D6E-409C-BE32-E72D297353CC}">
                <c16:uniqueId val="{00000003-95D2-4C89-8686-17704E64EDBD}"/>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'[Cost Evaluation.xlsx]Sheet1'!$B$3:$I$3</c:f>
              <c:strCache>
                <c:ptCount val="8"/>
                <c:pt idx="0">
                  <c:v>PT. PILLAR</c:v>
                </c:pt>
                <c:pt idx="1">
                  <c:v>PT ATAMORA</c:v>
                </c:pt>
                <c:pt idx="2">
                  <c:v>PT KIPRAH</c:v>
                </c:pt>
                <c:pt idx="3">
                  <c:v>PT INDO KAYA</c:v>
                </c:pt>
                <c:pt idx="4">
                  <c:v>PT SPIJ</c:v>
                </c:pt>
                <c:pt idx="5">
                  <c:v>PT GEO LINK</c:v>
                </c:pt>
                <c:pt idx="6">
                  <c:v>PT CITRA TUBINDO</c:v>
                </c:pt>
                <c:pt idx="7">
                  <c:v>PT DHIVA</c:v>
                </c:pt>
              </c:strCache>
            </c:strRef>
          </c:cat>
          <c:val>
            <c:numRef>
              <c:f>'[Cost Evaluation.xlsx]Sheet1'!$B$5:$I$5</c:f>
              <c:numCache>
                <c:formatCode>#,##0.00</c:formatCode>
                <c:ptCount val="8"/>
                <c:pt idx="0">
                  <c:v>1.9246416799999999</c:v>
                </c:pt>
                <c:pt idx="1">
                  <c:v>2.4373021499999998</c:v>
                </c:pt>
                <c:pt idx="2">
                  <c:v>2.5628802200000003</c:v>
                </c:pt>
                <c:pt idx="3">
                  <c:v>3.2793266000000001</c:v>
                </c:pt>
                <c:pt idx="4">
                  <c:v>3.8069986</c:v>
                </c:pt>
                <c:pt idx="5">
                  <c:v>2.5546609999999998</c:v>
                </c:pt>
                <c:pt idx="6">
                  <c:v>3.4360219999999999</c:v>
                </c:pt>
                <c:pt idx="7">
                  <c:v>1.8319383999999999</c:v>
                </c:pt>
              </c:numCache>
            </c:numRef>
          </c:val>
          <c:extLst>
            <c:ext xmlns:c16="http://schemas.microsoft.com/office/drawing/2014/chart" uri="{C3380CC4-5D6E-409C-BE32-E72D297353CC}">
              <c16:uniqueId val="{00000004-95D2-4C89-8686-17704E64EDBD}"/>
            </c:ext>
          </c:extLst>
        </c:ser>
        <c:dLbls>
          <c:showLegendKey val="0"/>
          <c:showVal val="0"/>
          <c:showCatName val="0"/>
          <c:showSerName val="0"/>
          <c:showPercent val="0"/>
          <c:showBubbleSize val="0"/>
        </c:dLbls>
        <c:gapWidth val="150"/>
        <c:axId val="235088896"/>
        <c:axId val="235094784"/>
      </c:barChart>
      <c:catAx>
        <c:axId val="235088896"/>
        <c:scaling>
          <c:orientation val="minMax"/>
        </c:scaling>
        <c:delete val="1"/>
        <c:axPos val="b"/>
        <c:numFmt formatCode="General" sourceLinked="0"/>
        <c:majorTickMark val="none"/>
        <c:minorTickMark val="none"/>
        <c:tickLblPos val="nextTo"/>
        <c:crossAx val="235094784"/>
        <c:crosses val="autoZero"/>
        <c:auto val="1"/>
        <c:lblAlgn val="ctr"/>
        <c:lblOffset val="100"/>
        <c:noMultiLvlLbl val="0"/>
      </c:catAx>
      <c:valAx>
        <c:axId val="235094784"/>
        <c:scaling>
          <c:orientation val="minMax"/>
        </c:scaling>
        <c:delete val="0"/>
        <c:axPos val="l"/>
        <c:majorGridlines/>
        <c:numFmt formatCode="#,##0.00" sourceLinked="1"/>
        <c:majorTickMark val="none"/>
        <c:minorTickMark val="none"/>
        <c:tickLblPos val="nextTo"/>
        <c:txPr>
          <a:bodyPr/>
          <a:lstStyle/>
          <a:p>
            <a:pPr>
              <a:defRPr>
                <a:solidFill>
                  <a:schemeClr val="accent6">
                    <a:lumMod val="50000"/>
                  </a:schemeClr>
                </a:solidFill>
              </a:defRPr>
            </a:pPr>
            <a:endParaRPr lang="en-US"/>
          </a:p>
        </c:txPr>
        <c:crossAx val="235088896"/>
        <c:crosses val="autoZero"/>
        <c:crossBetween val="between"/>
      </c:valAx>
    </c:plotArea>
    <c:plotVisOnly val="1"/>
    <c:dispBlanksAs val="gap"/>
    <c:showDLblsOverMax val="0"/>
  </c:chart>
  <c:spPr>
    <a:noFill/>
  </c:sp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2"/>
    </mc:Choice>
    <mc:Fallback>
      <c:style val="42"/>
    </mc:Fallback>
  </mc:AlternateContent>
  <c:clrMapOvr bg1="lt1" tx1="dk1" bg2="lt2" tx2="dk2" accent1="accent1" accent2="accent2" accent3="accent3" accent4="accent4" accent5="accent5" accent6="accent6" hlink="hlink" folHlink="folHlink"/>
  <c:chart>
    <c:title>
      <c:tx>
        <c:rich>
          <a:bodyPr/>
          <a:lstStyle/>
          <a:p>
            <a:pPr>
              <a:defRPr>
                <a:solidFill>
                  <a:srgbClr val="FFC000"/>
                </a:solidFill>
              </a:defRPr>
            </a:pPr>
            <a:r>
              <a:rPr lang="en-US">
                <a:solidFill>
                  <a:srgbClr val="FFC000"/>
                </a:solidFill>
              </a:rPr>
              <a:t>GROUP III</a:t>
            </a:r>
          </a:p>
        </c:rich>
      </c:tx>
      <c:overlay val="0"/>
    </c:title>
    <c:autoTitleDeleted val="0"/>
    <c:plotArea>
      <c:layout>
        <c:manualLayout>
          <c:layoutTarget val="inner"/>
          <c:xMode val="edge"/>
          <c:yMode val="edge"/>
          <c:x val="0.11776239323150832"/>
          <c:y val="0.17651350622263412"/>
          <c:w val="0.83522786484656486"/>
          <c:h val="0.80031185401071814"/>
        </c:manualLayout>
      </c:layout>
      <c:barChart>
        <c:barDir val="col"/>
        <c:grouping val="clustered"/>
        <c:varyColors val="0"/>
        <c:ser>
          <c:idx val="2"/>
          <c:order val="0"/>
          <c:invertIfNegative val="0"/>
          <c:dPt>
            <c:idx val="4"/>
            <c:invertIfNegative val="0"/>
            <c:bubble3D val="0"/>
            <c:spPr>
              <a:blipFill>
                <a:blip xmlns:r="http://schemas.openxmlformats.org/officeDocument/2006/relationships" r:embed="rId2"/>
                <a:tile tx="0" ty="0" sx="100000" sy="100000" flip="none" algn="tl"/>
              </a:blipFill>
            </c:spPr>
            <c:extLst>
              <c:ext xmlns:c16="http://schemas.microsoft.com/office/drawing/2014/chart" uri="{C3380CC4-5D6E-409C-BE32-E72D297353CC}">
                <c16:uniqueId val="{00000001-3297-4B04-A972-4C991BB96D9C}"/>
              </c:ext>
            </c:extLst>
          </c:dPt>
          <c:dPt>
            <c:idx val="7"/>
            <c:invertIfNegative val="0"/>
            <c:bubble3D val="0"/>
            <c:spPr>
              <a:blipFill>
                <a:blip xmlns:r="http://schemas.openxmlformats.org/officeDocument/2006/relationships" r:embed="rId3"/>
                <a:tile tx="0" ty="0" sx="100000" sy="100000" flip="none" algn="tl"/>
              </a:blipFill>
            </c:spPr>
            <c:extLst>
              <c:ext xmlns:c16="http://schemas.microsoft.com/office/drawing/2014/chart" uri="{C3380CC4-5D6E-409C-BE32-E72D297353CC}">
                <c16:uniqueId val="{00000003-3297-4B04-A972-4C991BB96D9C}"/>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'[Cost Evaluation.xlsx]Sheet1'!$B$3:$I$3</c:f>
              <c:strCache>
                <c:ptCount val="8"/>
                <c:pt idx="0">
                  <c:v>PT. PILLAR</c:v>
                </c:pt>
                <c:pt idx="1">
                  <c:v>PT ATAMORA</c:v>
                </c:pt>
                <c:pt idx="2">
                  <c:v>PT KIPRAH</c:v>
                </c:pt>
                <c:pt idx="3">
                  <c:v>PT INDO KAYA</c:v>
                </c:pt>
                <c:pt idx="4">
                  <c:v>PT SPIJ</c:v>
                </c:pt>
                <c:pt idx="5">
                  <c:v>PT GEO LINK</c:v>
                </c:pt>
                <c:pt idx="6">
                  <c:v>PT CITRA TUBINDO</c:v>
                </c:pt>
                <c:pt idx="7">
                  <c:v>PT DHIVA</c:v>
                </c:pt>
              </c:strCache>
            </c:strRef>
          </c:cat>
          <c:val>
            <c:numRef>
              <c:f>'[Cost Evaluation.xlsx]Sheet1'!$B$6:$I$6</c:f>
              <c:numCache>
                <c:formatCode>#,##0.00</c:formatCode>
                <c:ptCount val="8"/>
                <c:pt idx="0">
                  <c:v>0.62939149999999999</c:v>
                </c:pt>
                <c:pt idx="1">
                  <c:v>0.66643149999999995</c:v>
                </c:pt>
                <c:pt idx="2">
                  <c:v>0.71564280000000002</c:v>
                </c:pt>
                <c:pt idx="3">
                  <c:v>0</c:v>
                </c:pt>
                <c:pt idx="4">
                  <c:v>0.79871168000000003</c:v>
                </c:pt>
                <c:pt idx="5">
                  <c:v>0.66502899999999998</c:v>
                </c:pt>
                <c:pt idx="6">
                  <c:v>1.0415364</c:v>
                </c:pt>
                <c:pt idx="7">
                  <c:v>0.54619399999999996</c:v>
                </c:pt>
              </c:numCache>
            </c:numRef>
          </c:val>
          <c:extLst>
            <c:ext xmlns:c16="http://schemas.microsoft.com/office/drawing/2014/chart" uri="{C3380CC4-5D6E-409C-BE32-E72D297353CC}">
              <c16:uniqueId val="{00000004-3297-4B04-A972-4C991BB96D9C}"/>
            </c:ext>
          </c:extLst>
        </c:ser>
        <c:dLbls>
          <c:showLegendKey val="0"/>
          <c:showVal val="0"/>
          <c:showCatName val="0"/>
          <c:showSerName val="0"/>
          <c:showPercent val="0"/>
          <c:showBubbleSize val="0"/>
        </c:dLbls>
        <c:gapWidth val="150"/>
        <c:axId val="235136512"/>
        <c:axId val="235138048"/>
      </c:barChart>
      <c:catAx>
        <c:axId val="235136512"/>
        <c:scaling>
          <c:orientation val="minMax"/>
        </c:scaling>
        <c:delete val="1"/>
        <c:axPos val="b"/>
        <c:numFmt formatCode="General" sourceLinked="0"/>
        <c:majorTickMark val="none"/>
        <c:minorTickMark val="none"/>
        <c:tickLblPos val="nextTo"/>
        <c:crossAx val="235138048"/>
        <c:crosses val="autoZero"/>
        <c:auto val="1"/>
        <c:lblAlgn val="ctr"/>
        <c:lblOffset val="100"/>
        <c:noMultiLvlLbl val="0"/>
      </c:catAx>
      <c:valAx>
        <c:axId val="235138048"/>
        <c:scaling>
          <c:orientation val="minMax"/>
        </c:scaling>
        <c:delete val="0"/>
        <c:axPos val="l"/>
        <c:majorGridlines/>
        <c:numFmt formatCode="#,##0.00" sourceLinked="1"/>
        <c:majorTickMark val="none"/>
        <c:minorTickMark val="none"/>
        <c:tickLblPos val="nextTo"/>
        <c:txPr>
          <a:bodyPr/>
          <a:lstStyle/>
          <a:p>
            <a:pPr>
              <a:defRPr>
                <a:solidFill>
                  <a:schemeClr val="accent6">
                    <a:lumMod val="50000"/>
                  </a:schemeClr>
                </a:solidFill>
              </a:defRPr>
            </a:pPr>
            <a:endParaRPr lang="en-US"/>
          </a:p>
        </c:txPr>
        <c:crossAx val="235136512"/>
        <c:crosses val="autoZero"/>
        <c:crossBetween val="between"/>
      </c:valAx>
    </c:plotArea>
    <c:plotVisOnly val="1"/>
    <c:dispBlanksAs val="gap"/>
    <c:showDLblsOverMax val="0"/>
  </c:chart>
  <c:spPr>
    <a:noFill/>
  </c:sp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image" Target="../media/image9.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diagrams/_rels/data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diagrams/_rels/data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jpeg"/><Relationship Id="rId4" Type="http://schemas.openxmlformats.org/officeDocument/2006/relationships/image" Target="../media/image41.png"/></Relationships>
</file>

<file path=ppt/diagrams/_rels/data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jpeg"/><Relationship Id="rId5" Type="http://schemas.openxmlformats.org/officeDocument/2006/relationships/image" Target="../media/image46.png"/><Relationship Id="rId4" Type="http://schemas.openxmlformats.org/officeDocument/2006/relationships/image" Target="../media/image45.jpeg"/></Relationships>
</file>

<file path=ppt/diagrams/_rels/data18.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image" Target="../media/image293.png"/><Relationship Id="rId6" Type="http://schemas.openxmlformats.org/officeDocument/2006/relationships/image" Target="../media/image298.png"/><Relationship Id="rId5" Type="http://schemas.openxmlformats.org/officeDocument/2006/relationships/image" Target="../media/image297.png"/><Relationship Id="rId4" Type="http://schemas.openxmlformats.org/officeDocument/2006/relationships/image" Target="../media/image296.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image" Target="../media/image9.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diagrams/_rels/drawing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diagrams/_rels/drawing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jpeg"/><Relationship Id="rId4" Type="http://schemas.openxmlformats.org/officeDocument/2006/relationships/image" Target="../media/image41.png"/></Relationships>
</file>

<file path=ppt/diagrams/_rels/drawing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jpeg"/><Relationship Id="rId5" Type="http://schemas.openxmlformats.org/officeDocument/2006/relationships/image" Target="../media/image46.png"/><Relationship Id="rId4" Type="http://schemas.openxmlformats.org/officeDocument/2006/relationships/image" Target="../media/image45.jpeg"/></Relationships>
</file>

<file path=ppt/diagrams/_rels/drawing18.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image" Target="../media/image293.png"/><Relationship Id="rId6" Type="http://schemas.openxmlformats.org/officeDocument/2006/relationships/image" Target="../media/image297.png"/><Relationship Id="rId5" Type="http://schemas.openxmlformats.org/officeDocument/2006/relationships/image" Target="../media/image296.png"/><Relationship Id="rId4" Type="http://schemas.openxmlformats.org/officeDocument/2006/relationships/image" Target="../media/image298.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B2E815-0D19-41DC-B01B-4D608769620A}" type="doc">
      <dgm:prSet loTypeId="urn:microsoft.com/office/officeart/2016/7/layout/RoundedRectangleTimeline" loCatId="other" qsTypeId="urn:microsoft.com/office/officeart/2005/8/quickstyle/simple1" qsCatId="simple" csTypeId="urn:microsoft.com/office/officeart/2005/8/colors/colorful5" csCatId="colorful" phldr="1"/>
      <dgm:spPr/>
      <dgm:t>
        <a:bodyPr/>
        <a:lstStyle/>
        <a:p>
          <a:endParaRPr lang="en-US"/>
        </a:p>
      </dgm:t>
    </dgm:pt>
    <dgm:pt modelId="{4259F840-24E7-476F-9F30-482E46395856}">
      <dgm:prSet phldrT="[Text]" custT="1"/>
      <dgm:spPr/>
      <dgm:t>
        <a:bodyPr/>
        <a:lstStyle/>
        <a:p>
          <a:r>
            <a:rPr lang="en-US" sz="1800" dirty="0">
              <a:latin typeface="+mn-lt"/>
            </a:rPr>
            <a:t>Aug 2017</a:t>
          </a:r>
        </a:p>
      </dgm:t>
    </dgm:pt>
    <dgm:pt modelId="{FCE8068D-7E50-4749-A8D0-ADEDAC5637B3}" type="parTrans" cxnId="{42EE41D1-3C16-4937-BB38-B076896C09A0}">
      <dgm:prSet/>
      <dgm:spPr/>
      <dgm:t>
        <a:bodyPr/>
        <a:lstStyle/>
        <a:p>
          <a:endParaRPr lang="en-US" sz="1800">
            <a:latin typeface="+mn-lt"/>
          </a:endParaRPr>
        </a:p>
      </dgm:t>
    </dgm:pt>
    <dgm:pt modelId="{DCC444A4-F20A-48F5-A61E-47BFFF185A57}" type="sibTrans" cxnId="{42EE41D1-3C16-4937-BB38-B076896C09A0}">
      <dgm:prSet/>
      <dgm:spPr/>
      <dgm:t>
        <a:bodyPr/>
        <a:lstStyle/>
        <a:p>
          <a:endParaRPr lang="en-US" sz="1800">
            <a:latin typeface="+mn-lt"/>
          </a:endParaRPr>
        </a:p>
      </dgm:t>
    </dgm:pt>
    <dgm:pt modelId="{B54C8F6C-BE1E-4EAB-B7A0-48DE01FFAA36}">
      <dgm:prSet phldrT="[Text]" custT="1"/>
      <dgm:spPr/>
      <dgm:t>
        <a:bodyPr/>
        <a:lstStyle/>
        <a:p>
          <a:pPr>
            <a:buFont typeface="Symbol" panose="05050102010706020507" pitchFamily="18" charset="2"/>
            <a:buChar char=""/>
          </a:pPr>
          <a:r>
            <a:rPr lang="en-US" sz="1800" dirty="0">
              <a:latin typeface="+mn-lt"/>
            </a:rPr>
            <a:t>A non IPM Contract for Exploration Drilling in PT. SMGP, IIGCE Aug 2017</a:t>
          </a:r>
        </a:p>
      </dgm:t>
    </dgm:pt>
    <dgm:pt modelId="{8DE7CD45-B7C0-432E-B819-6A7D97E31315}" type="parTrans" cxnId="{770CA1CC-3DDD-451E-AE83-A71CA570260C}">
      <dgm:prSet/>
      <dgm:spPr/>
      <dgm:t>
        <a:bodyPr/>
        <a:lstStyle/>
        <a:p>
          <a:endParaRPr lang="en-US" sz="1800">
            <a:latin typeface="+mn-lt"/>
          </a:endParaRPr>
        </a:p>
      </dgm:t>
    </dgm:pt>
    <dgm:pt modelId="{C33B8BEF-A818-4A2F-A99A-E2B29895E184}" type="sibTrans" cxnId="{770CA1CC-3DDD-451E-AE83-A71CA570260C}">
      <dgm:prSet/>
      <dgm:spPr/>
      <dgm:t>
        <a:bodyPr/>
        <a:lstStyle/>
        <a:p>
          <a:endParaRPr lang="en-US" sz="1800">
            <a:latin typeface="+mn-lt"/>
          </a:endParaRPr>
        </a:p>
      </dgm:t>
    </dgm:pt>
    <dgm:pt modelId="{E4033A39-DCC4-4038-9562-AEDDBBB37A99}">
      <dgm:prSet phldrT="[Text]" custT="1"/>
      <dgm:spPr/>
      <dgm:t>
        <a:bodyPr/>
        <a:lstStyle/>
        <a:p>
          <a:r>
            <a:rPr lang="en-US" sz="1800" dirty="0">
              <a:latin typeface="+mn-lt"/>
            </a:rPr>
            <a:t>23 Dec 2020</a:t>
          </a:r>
        </a:p>
      </dgm:t>
    </dgm:pt>
    <dgm:pt modelId="{048EEAE6-78BA-4B00-B7BB-9C22DBB1E8F4}" type="parTrans" cxnId="{32EF2862-2950-4DF8-BEA8-CD19460CCA31}">
      <dgm:prSet/>
      <dgm:spPr/>
      <dgm:t>
        <a:bodyPr/>
        <a:lstStyle/>
        <a:p>
          <a:endParaRPr lang="en-US" sz="1800">
            <a:latin typeface="+mn-lt"/>
          </a:endParaRPr>
        </a:p>
      </dgm:t>
    </dgm:pt>
    <dgm:pt modelId="{80AB0E5B-0C58-465D-A545-5B21133D2849}" type="sibTrans" cxnId="{32EF2862-2950-4DF8-BEA8-CD19460CCA31}">
      <dgm:prSet/>
      <dgm:spPr/>
      <dgm:t>
        <a:bodyPr/>
        <a:lstStyle/>
        <a:p>
          <a:endParaRPr lang="en-US" sz="1800">
            <a:latin typeface="+mn-lt"/>
          </a:endParaRPr>
        </a:p>
      </dgm:t>
    </dgm:pt>
    <dgm:pt modelId="{A4C0B4E4-70AD-4901-9E3F-7EA25DD6DAA1}">
      <dgm:prSet phldrT="[Text]" custT="1"/>
      <dgm:spPr/>
      <dgm:t>
        <a:bodyPr/>
        <a:lstStyle/>
        <a:p>
          <a:pPr>
            <a:buFont typeface="Symbol" panose="05050102010706020507" pitchFamily="18" charset="2"/>
            <a:buChar char=""/>
          </a:pPr>
          <a:r>
            <a:rPr lang="en-US" sz="1800" dirty="0">
              <a:latin typeface="+mn-lt"/>
            </a:rPr>
            <a:t>Collaboration between JDS and </a:t>
          </a:r>
          <a:r>
            <a:rPr lang="en-US" sz="1800" dirty="0" err="1">
              <a:latin typeface="+mn-lt"/>
            </a:rPr>
            <a:t>Enerka</a:t>
          </a:r>
          <a:r>
            <a:rPr lang="en-US" sz="1800" dirty="0">
              <a:latin typeface="+mn-lt"/>
            </a:rPr>
            <a:t> to conduct online seminar with the title “The Economic Way To Drill Geothermal Well”.</a:t>
          </a:r>
        </a:p>
      </dgm:t>
    </dgm:pt>
    <dgm:pt modelId="{701D9033-BAD3-4299-933F-A47AFDC2ECD0}" type="parTrans" cxnId="{5E74CB62-E52E-4CEE-8AA1-9812BFC0D67E}">
      <dgm:prSet/>
      <dgm:spPr/>
      <dgm:t>
        <a:bodyPr/>
        <a:lstStyle/>
        <a:p>
          <a:endParaRPr lang="en-US" sz="1800">
            <a:latin typeface="+mn-lt"/>
          </a:endParaRPr>
        </a:p>
      </dgm:t>
    </dgm:pt>
    <dgm:pt modelId="{657DB10D-2517-48AA-B970-6D815DBD4123}" type="sibTrans" cxnId="{5E74CB62-E52E-4CEE-8AA1-9812BFC0D67E}">
      <dgm:prSet/>
      <dgm:spPr/>
      <dgm:t>
        <a:bodyPr/>
        <a:lstStyle/>
        <a:p>
          <a:endParaRPr lang="en-US" sz="1800">
            <a:latin typeface="+mn-lt"/>
          </a:endParaRPr>
        </a:p>
      </dgm:t>
    </dgm:pt>
    <dgm:pt modelId="{87BF7896-20EA-4E8F-B6F4-A34EC5C9CB50}">
      <dgm:prSet phldrT="[Text]" custT="1"/>
      <dgm:spPr/>
      <dgm:t>
        <a:bodyPr/>
        <a:lstStyle/>
        <a:p>
          <a:r>
            <a:rPr lang="en-US" sz="1800" dirty="0">
              <a:latin typeface="+mn-lt"/>
            </a:rPr>
            <a:t>July 2021</a:t>
          </a:r>
        </a:p>
      </dgm:t>
    </dgm:pt>
    <dgm:pt modelId="{05E47BA5-F724-4AEE-9B5B-401F18E028E6}" type="parTrans" cxnId="{92330C11-C197-4512-BDA4-8D8A69AF7D1C}">
      <dgm:prSet/>
      <dgm:spPr/>
      <dgm:t>
        <a:bodyPr/>
        <a:lstStyle/>
        <a:p>
          <a:endParaRPr lang="en-US" sz="1800">
            <a:latin typeface="+mn-lt"/>
          </a:endParaRPr>
        </a:p>
      </dgm:t>
    </dgm:pt>
    <dgm:pt modelId="{D63CE73E-35DE-48C3-8753-7648BC953C0D}" type="sibTrans" cxnId="{92330C11-C197-4512-BDA4-8D8A69AF7D1C}">
      <dgm:prSet/>
      <dgm:spPr/>
      <dgm:t>
        <a:bodyPr/>
        <a:lstStyle/>
        <a:p>
          <a:endParaRPr lang="en-US" sz="1800">
            <a:latin typeface="+mn-lt"/>
          </a:endParaRPr>
        </a:p>
      </dgm:t>
    </dgm:pt>
    <dgm:pt modelId="{43CBB0A2-9D75-4264-8A30-3E8974B40658}">
      <dgm:prSet phldrT="[Text]" custT="1"/>
      <dgm:spPr/>
      <dgm:t>
        <a:bodyPr/>
        <a:lstStyle/>
        <a:p>
          <a:pPr>
            <a:buFont typeface="Symbol" panose="05050102010706020507" pitchFamily="18" charset="2"/>
            <a:buChar char=""/>
          </a:pPr>
          <a:r>
            <a:rPr lang="en-US" sz="1800" dirty="0"/>
            <a:t>JDS and EBTKE agreement to translate this seminar to become a book.</a:t>
          </a:r>
          <a:endParaRPr lang="en-US" sz="1800" dirty="0">
            <a:latin typeface="+mn-lt"/>
          </a:endParaRPr>
        </a:p>
      </dgm:t>
    </dgm:pt>
    <dgm:pt modelId="{F806E590-5F8E-48A1-96AC-9E738290D2ED}" type="parTrans" cxnId="{4D2DF581-8128-4440-9E51-29109DC6ED52}">
      <dgm:prSet/>
      <dgm:spPr/>
      <dgm:t>
        <a:bodyPr/>
        <a:lstStyle/>
        <a:p>
          <a:endParaRPr lang="en-US" sz="1800">
            <a:latin typeface="+mn-lt"/>
          </a:endParaRPr>
        </a:p>
      </dgm:t>
    </dgm:pt>
    <dgm:pt modelId="{20F77EFB-335C-4BC3-AD95-8421EDF343E6}" type="sibTrans" cxnId="{4D2DF581-8128-4440-9E51-29109DC6ED52}">
      <dgm:prSet/>
      <dgm:spPr/>
      <dgm:t>
        <a:bodyPr/>
        <a:lstStyle/>
        <a:p>
          <a:endParaRPr lang="en-US" sz="1800">
            <a:latin typeface="+mn-lt"/>
          </a:endParaRPr>
        </a:p>
      </dgm:t>
    </dgm:pt>
    <dgm:pt modelId="{3DE6FF16-CA4D-4D34-ABEB-8BE6A40B5E52}">
      <dgm:prSet phldrT="[Text]" custT="1"/>
      <dgm:spPr/>
      <dgm:t>
        <a:bodyPr/>
        <a:lstStyle/>
        <a:p>
          <a:pPr>
            <a:buFont typeface="Symbol" panose="05050102010706020507" pitchFamily="18" charset="2"/>
            <a:buChar char=""/>
          </a:pPr>
          <a:r>
            <a:rPr lang="en-US" sz="1800" dirty="0">
              <a:latin typeface="+mn-lt"/>
            </a:rPr>
            <a:t>9 Dec 2022</a:t>
          </a:r>
        </a:p>
      </dgm:t>
    </dgm:pt>
    <dgm:pt modelId="{DA9CCCCB-8206-4757-82C8-F885E9D238B5}" type="parTrans" cxnId="{636DE8C5-F706-4BA5-855F-85FD2239E2BE}">
      <dgm:prSet/>
      <dgm:spPr/>
      <dgm:t>
        <a:bodyPr/>
        <a:lstStyle/>
        <a:p>
          <a:endParaRPr lang="en-US" sz="1800"/>
        </a:p>
      </dgm:t>
    </dgm:pt>
    <dgm:pt modelId="{986162A7-6F89-4679-B40E-33A17DA21B73}" type="sibTrans" cxnId="{636DE8C5-F706-4BA5-855F-85FD2239E2BE}">
      <dgm:prSet/>
      <dgm:spPr/>
      <dgm:t>
        <a:bodyPr/>
        <a:lstStyle/>
        <a:p>
          <a:endParaRPr lang="en-US" sz="1800"/>
        </a:p>
      </dgm:t>
    </dgm:pt>
    <dgm:pt modelId="{AC76BE15-3E8A-498B-91BD-CF772C26B6F1}">
      <dgm:prSet phldrT="[Text]" custT="1"/>
      <dgm:spPr/>
      <dgm:t>
        <a:bodyPr/>
        <a:lstStyle/>
        <a:p>
          <a:pPr>
            <a:buFont typeface="Symbol" panose="05050102010706020507" pitchFamily="18" charset="2"/>
            <a:buChar char=""/>
          </a:pPr>
          <a:r>
            <a:rPr lang="en-US" sz="1800" dirty="0">
              <a:latin typeface="+mn-lt"/>
            </a:rPr>
            <a:t>May 2023</a:t>
          </a:r>
        </a:p>
      </dgm:t>
    </dgm:pt>
    <dgm:pt modelId="{00CCB400-064A-4EF5-9806-9534D9AC69AD}" type="parTrans" cxnId="{140A4778-8248-44DE-B78A-23C578A77D7E}">
      <dgm:prSet/>
      <dgm:spPr/>
      <dgm:t>
        <a:bodyPr/>
        <a:lstStyle/>
        <a:p>
          <a:endParaRPr lang="en-US" sz="1800"/>
        </a:p>
      </dgm:t>
    </dgm:pt>
    <dgm:pt modelId="{662A3D6E-7238-444F-BC0B-C7A4321261DB}" type="sibTrans" cxnId="{140A4778-8248-44DE-B78A-23C578A77D7E}">
      <dgm:prSet/>
      <dgm:spPr/>
      <dgm:t>
        <a:bodyPr/>
        <a:lstStyle/>
        <a:p>
          <a:endParaRPr lang="en-US" sz="1800"/>
        </a:p>
      </dgm:t>
    </dgm:pt>
    <dgm:pt modelId="{73820394-2159-4075-9E6F-217263B07F8B}">
      <dgm:prSet phldrT="[Text]" custT="1"/>
      <dgm:spPr/>
      <dgm:t>
        <a:bodyPr/>
        <a:lstStyle/>
        <a:p>
          <a:pPr>
            <a:buFont typeface="Symbol" panose="05050102010706020507" pitchFamily="18" charset="2"/>
            <a:buChar char=""/>
          </a:pPr>
          <a:r>
            <a:rPr lang="en-US" sz="1800" dirty="0"/>
            <a:t>Book Revision: Re-structure the book content refer to the drilling campaign flow process.</a:t>
          </a:r>
          <a:endParaRPr lang="en-US" sz="1800" dirty="0">
            <a:latin typeface="+mn-lt"/>
          </a:endParaRPr>
        </a:p>
      </dgm:t>
    </dgm:pt>
    <dgm:pt modelId="{A861A835-3A0D-4B09-8870-87D7FDC7B27F}" type="parTrans" cxnId="{19CF03A0-47BE-4ABD-A62C-A27E16D6C5A3}">
      <dgm:prSet/>
      <dgm:spPr/>
      <dgm:t>
        <a:bodyPr/>
        <a:lstStyle/>
        <a:p>
          <a:endParaRPr lang="en-US" sz="1800"/>
        </a:p>
      </dgm:t>
    </dgm:pt>
    <dgm:pt modelId="{D383A36B-470D-499F-AE13-85A6B2495524}" type="sibTrans" cxnId="{19CF03A0-47BE-4ABD-A62C-A27E16D6C5A3}">
      <dgm:prSet/>
      <dgm:spPr/>
      <dgm:t>
        <a:bodyPr/>
        <a:lstStyle/>
        <a:p>
          <a:endParaRPr lang="en-US" sz="1800"/>
        </a:p>
      </dgm:t>
    </dgm:pt>
    <dgm:pt modelId="{C032D242-8D23-4EEC-A10A-7B0691E5A409}">
      <dgm:prSet phldrT="[Text]" custT="1"/>
      <dgm:spPr/>
      <dgm:t>
        <a:bodyPr/>
        <a:lstStyle/>
        <a:p>
          <a:pPr>
            <a:buFont typeface="Symbol" panose="05050102010706020507" pitchFamily="18" charset="2"/>
            <a:buChar char=""/>
          </a:pPr>
          <a:r>
            <a:rPr lang="en-US" sz="1800" dirty="0"/>
            <a:t>The book of “</a:t>
          </a:r>
          <a:r>
            <a:rPr lang="en-US" sz="1800" dirty="0" err="1"/>
            <a:t>Pedoman</a:t>
          </a:r>
          <a:r>
            <a:rPr lang="en-US" sz="1800" dirty="0"/>
            <a:t> </a:t>
          </a:r>
          <a:r>
            <a:rPr lang="en-US" sz="1800" dirty="0" err="1"/>
            <a:t>Efisiensi</a:t>
          </a:r>
          <a:r>
            <a:rPr lang="en-US" sz="1800" dirty="0"/>
            <a:t> </a:t>
          </a:r>
          <a:r>
            <a:rPr lang="en-US" sz="1800" dirty="0" err="1"/>
            <a:t>Biaya</a:t>
          </a:r>
          <a:r>
            <a:rPr lang="en-US" sz="1800" dirty="0"/>
            <a:t> </a:t>
          </a:r>
          <a:r>
            <a:rPr lang="en-US" sz="1800" dirty="0" err="1"/>
            <a:t>Pemboran</a:t>
          </a:r>
          <a:r>
            <a:rPr lang="en-US" sz="1800" dirty="0"/>
            <a:t> </a:t>
          </a:r>
          <a:r>
            <a:rPr lang="en-US" sz="1800" dirty="0" err="1"/>
            <a:t>sumur</a:t>
          </a:r>
          <a:r>
            <a:rPr lang="en-US" sz="1800" dirty="0"/>
            <a:t> </a:t>
          </a:r>
          <a:r>
            <a:rPr lang="en-US" sz="1800" dirty="0" err="1"/>
            <a:t>panas</a:t>
          </a:r>
          <a:r>
            <a:rPr lang="en-US" sz="1800" dirty="0"/>
            <a:t> </a:t>
          </a:r>
          <a:r>
            <a:rPr lang="en-US" sz="1800" dirty="0" err="1"/>
            <a:t>bumi</a:t>
          </a:r>
          <a:r>
            <a:rPr lang="en-US" sz="1800" dirty="0"/>
            <a:t>” was launched by EBTKE and ESDM.</a:t>
          </a:r>
          <a:endParaRPr lang="en-US" sz="1800" dirty="0">
            <a:latin typeface="+mn-lt"/>
          </a:endParaRPr>
        </a:p>
      </dgm:t>
    </dgm:pt>
    <dgm:pt modelId="{167DA838-BF1F-42A4-81E8-806F40795A14}" type="parTrans" cxnId="{D9403C73-FB83-47D6-85AE-067D49ED63F2}">
      <dgm:prSet/>
      <dgm:spPr/>
      <dgm:t>
        <a:bodyPr/>
        <a:lstStyle/>
        <a:p>
          <a:endParaRPr lang="en-US" sz="1800"/>
        </a:p>
      </dgm:t>
    </dgm:pt>
    <dgm:pt modelId="{7EFA60CA-572D-434D-B452-A4ACBAEB4D2C}" type="sibTrans" cxnId="{D9403C73-FB83-47D6-85AE-067D49ED63F2}">
      <dgm:prSet/>
      <dgm:spPr/>
      <dgm:t>
        <a:bodyPr/>
        <a:lstStyle/>
        <a:p>
          <a:endParaRPr lang="en-US" sz="1800"/>
        </a:p>
      </dgm:t>
    </dgm:pt>
    <dgm:pt modelId="{752ECCCC-3C39-4250-9A97-5F22E4EF0A2C}">
      <dgm:prSet phldrT="[Text]" custT="1"/>
      <dgm:spPr/>
      <dgm:t>
        <a:bodyPr/>
        <a:lstStyle/>
        <a:p>
          <a:r>
            <a:rPr lang="en-US" sz="1800" dirty="0">
              <a:latin typeface="+mn-lt"/>
            </a:rPr>
            <a:t>2018-2019</a:t>
          </a:r>
        </a:p>
      </dgm:t>
    </dgm:pt>
    <dgm:pt modelId="{5E6397FB-C938-4A8E-88B6-651C947F127A}" type="parTrans" cxnId="{ABA7B7E6-2A73-4FFE-B8D5-55EDF57844FB}">
      <dgm:prSet/>
      <dgm:spPr/>
      <dgm:t>
        <a:bodyPr/>
        <a:lstStyle/>
        <a:p>
          <a:endParaRPr lang="en-ID"/>
        </a:p>
      </dgm:t>
    </dgm:pt>
    <dgm:pt modelId="{49CBB392-7D4F-4C51-BF69-F522A99AAB2E}" type="sibTrans" cxnId="{ABA7B7E6-2A73-4FFE-B8D5-55EDF57844FB}">
      <dgm:prSet/>
      <dgm:spPr/>
      <dgm:t>
        <a:bodyPr/>
        <a:lstStyle/>
        <a:p>
          <a:endParaRPr lang="en-ID"/>
        </a:p>
      </dgm:t>
    </dgm:pt>
    <dgm:pt modelId="{9DDA9E02-0A65-44C4-B38D-F2058552102F}">
      <dgm:prSet phldrT="[Text]" custT="1"/>
      <dgm:spPr/>
      <dgm:t>
        <a:bodyPr/>
        <a:lstStyle/>
        <a:p>
          <a:r>
            <a:rPr lang="en-US" sz="1800" dirty="0">
              <a:latin typeface="+mn-lt"/>
            </a:rPr>
            <a:t>ITB International Geothermal Workshop (IIGW), presented in pre-workshop session, topic: Drilling Procurement Strategy </a:t>
          </a:r>
        </a:p>
      </dgm:t>
    </dgm:pt>
    <dgm:pt modelId="{16DC09CC-C247-4593-A13C-73BC818B3517}" type="parTrans" cxnId="{02A7AFE3-05E2-4CF8-BA89-4D6E9C6F8DE9}">
      <dgm:prSet/>
      <dgm:spPr/>
      <dgm:t>
        <a:bodyPr/>
        <a:lstStyle/>
        <a:p>
          <a:endParaRPr lang="en-ID"/>
        </a:p>
      </dgm:t>
    </dgm:pt>
    <dgm:pt modelId="{78D6B0F5-D136-44CC-B9B9-64F0234F8515}" type="sibTrans" cxnId="{02A7AFE3-05E2-4CF8-BA89-4D6E9C6F8DE9}">
      <dgm:prSet/>
      <dgm:spPr/>
      <dgm:t>
        <a:bodyPr/>
        <a:lstStyle/>
        <a:p>
          <a:endParaRPr lang="en-ID"/>
        </a:p>
      </dgm:t>
    </dgm:pt>
    <dgm:pt modelId="{196C9F68-3606-4282-A4C6-4485F1280B5F}" type="pres">
      <dgm:prSet presAssocID="{E5B2E815-0D19-41DC-B01B-4D608769620A}" presName="Name0" presStyleCnt="0">
        <dgm:presLayoutVars>
          <dgm:chMax/>
          <dgm:chPref/>
          <dgm:animLvl val="lvl"/>
        </dgm:presLayoutVars>
      </dgm:prSet>
      <dgm:spPr/>
    </dgm:pt>
    <dgm:pt modelId="{68D8AC18-502F-4825-B069-75605ADB3A40}" type="pres">
      <dgm:prSet presAssocID="{4259F840-24E7-476F-9F30-482E46395856}" presName="composite1" presStyleCnt="0"/>
      <dgm:spPr/>
    </dgm:pt>
    <dgm:pt modelId="{E088D226-49D7-4C30-90DC-CA1755D98829}" type="pres">
      <dgm:prSet presAssocID="{4259F840-24E7-476F-9F30-482E46395856}" presName="parent1" presStyleLbl="alignNode1" presStyleIdx="0" presStyleCnt="6">
        <dgm:presLayoutVars>
          <dgm:chMax val="1"/>
          <dgm:chPref val="1"/>
          <dgm:bulletEnabled val="1"/>
        </dgm:presLayoutVars>
      </dgm:prSet>
      <dgm:spPr/>
    </dgm:pt>
    <dgm:pt modelId="{45A02F84-C6CB-43F5-AEE4-3EA66C2BD25F}" type="pres">
      <dgm:prSet presAssocID="{4259F840-24E7-476F-9F30-482E46395856}" presName="Childtext1" presStyleLbl="revTx" presStyleIdx="0" presStyleCnt="6">
        <dgm:presLayoutVars>
          <dgm:bulletEnabled val="1"/>
        </dgm:presLayoutVars>
      </dgm:prSet>
      <dgm:spPr/>
    </dgm:pt>
    <dgm:pt modelId="{6BA46904-CB7C-4538-BD49-D3891EF19552}" type="pres">
      <dgm:prSet presAssocID="{4259F840-24E7-476F-9F30-482E46395856}" presName="ConnectLine1" presStyleLbl="sibTrans1D1" presStyleIdx="0" presStyleCnt="6"/>
      <dgm:spPr>
        <a:noFill/>
        <a:ln w="6350" cap="flat" cmpd="sng" algn="ctr">
          <a:solidFill>
            <a:schemeClr val="accent5">
              <a:hueOff val="0"/>
              <a:satOff val="0"/>
              <a:lumOff val="0"/>
              <a:alphaOff val="0"/>
            </a:schemeClr>
          </a:solidFill>
          <a:prstDash val="dash"/>
          <a:miter lim="800000"/>
        </a:ln>
        <a:effectLst/>
      </dgm:spPr>
    </dgm:pt>
    <dgm:pt modelId="{049FDBD0-77FE-49D1-A275-A272C8C5E426}" type="pres">
      <dgm:prSet presAssocID="{4259F840-24E7-476F-9F30-482E46395856}" presName="ConnectLineEnd1" presStyleLbl="lnNode1" presStyleIdx="0" presStyleCnt="6"/>
      <dgm:spPr/>
    </dgm:pt>
    <dgm:pt modelId="{CB26EA94-33BB-4F98-9E1E-2237D4831263}" type="pres">
      <dgm:prSet presAssocID="{4259F840-24E7-476F-9F30-482E46395856}" presName="EmptyPane1" presStyleCnt="0"/>
      <dgm:spPr/>
    </dgm:pt>
    <dgm:pt modelId="{606F1DBF-510E-4065-ACCB-3EBDA85CFB92}" type="pres">
      <dgm:prSet presAssocID="{DCC444A4-F20A-48F5-A61E-47BFFF185A57}" presName="spaceBetweenRectangles1" presStyleCnt="0"/>
      <dgm:spPr/>
    </dgm:pt>
    <dgm:pt modelId="{4A85631E-FE91-4055-86B8-CB14ADA7E3FD}" type="pres">
      <dgm:prSet presAssocID="{752ECCCC-3C39-4250-9A97-5F22E4EF0A2C}" presName="composite1" presStyleCnt="0"/>
      <dgm:spPr/>
    </dgm:pt>
    <dgm:pt modelId="{A165F714-1083-4BD1-B33E-DC9BB7709CBF}" type="pres">
      <dgm:prSet presAssocID="{752ECCCC-3C39-4250-9A97-5F22E4EF0A2C}" presName="parent1" presStyleLbl="alignNode1" presStyleIdx="1" presStyleCnt="6">
        <dgm:presLayoutVars>
          <dgm:chMax val="1"/>
          <dgm:chPref val="1"/>
          <dgm:bulletEnabled val="1"/>
        </dgm:presLayoutVars>
      </dgm:prSet>
      <dgm:spPr/>
    </dgm:pt>
    <dgm:pt modelId="{51985C07-7287-4596-8CF3-F855F319F5A0}" type="pres">
      <dgm:prSet presAssocID="{752ECCCC-3C39-4250-9A97-5F22E4EF0A2C}" presName="Childtext1" presStyleLbl="revTx" presStyleIdx="1" presStyleCnt="6">
        <dgm:presLayoutVars>
          <dgm:bulletEnabled val="1"/>
        </dgm:presLayoutVars>
      </dgm:prSet>
      <dgm:spPr/>
    </dgm:pt>
    <dgm:pt modelId="{58840F26-0DC6-4BB6-A361-507CD0422F49}" type="pres">
      <dgm:prSet presAssocID="{752ECCCC-3C39-4250-9A97-5F22E4EF0A2C}" presName="ConnectLine1" presStyleLbl="sibTrans1D1" presStyleIdx="1" presStyleCnt="6"/>
      <dgm:spPr>
        <a:noFill/>
        <a:ln w="6350" cap="flat" cmpd="sng" algn="ctr">
          <a:solidFill>
            <a:schemeClr val="accent5">
              <a:hueOff val="-1470669"/>
              <a:satOff val="-2046"/>
              <a:lumOff val="-784"/>
              <a:alphaOff val="0"/>
            </a:schemeClr>
          </a:solidFill>
          <a:prstDash val="dash"/>
          <a:miter lim="800000"/>
        </a:ln>
        <a:effectLst/>
      </dgm:spPr>
    </dgm:pt>
    <dgm:pt modelId="{3BBBA9E1-5588-4526-8C06-EF2D8917D171}" type="pres">
      <dgm:prSet presAssocID="{752ECCCC-3C39-4250-9A97-5F22E4EF0A2C}" presName="ConnectLineEnd1" presStyleLbl="lnNode1" presStyleIdx="1" presStyleCnt="6"/>
      <dgm:spPr/>
    </dgm:pt>
    <dgm:pt modelId="{7CC236AF-97A5-4F7E-8841-BA5B8FBC8D88}" type="pres">
      <dgm:prSet presAssocID="{752ECCCC-3C39-4250-9A97-5F22E4EF0A2C}" presName="EmptyPane1" presStyleCnt="0"/>
      <dgm:spPr/>
    </dgm:pt>
    <dgm:pt modelId="{56D79471-C4B4-4445-A5F7-C0CDC78D808E}" type="pres">
      <dgm:prSet presAssocID="{49CBB392-7D4F-4C51-BF69-F522A99AAB2E}" presName="spaceBetweenRectangles1" presStyleCnt="0"/>
      <dgm:spPr/>
    </dgm:pt>
    <dgm:pt modelId="{07989479-D1A2-4D15-AA3A-B0CFFB9F91D9}" type="pres">
      <dgm:prSet presAssocID="{E4033A39-DCC4-4038-9562-AEDDBBB37A99}" presName="composite1" presStyleCnt="0"/>
      <dgm:spPr/>
    </dgm:pt>
    <dgm:pt modelId="{539615E2-3277-4D8E-8484-FF5088C8BF01}" type="pres">
      <dgm:prSet presAssocID="{E4033A39-DCC4-4038-9562-AEDDBBB37A99}" presName="parent1" presStyleLbl="alignNode1" presStyleIdx="2" presStyleCnt="6">
        <dgm:presLayoutVars>
          <dgm:chMax val="1"/>
          <dgm:chPref val="1"/>
          <dgm:bulletEnabled val="1"/>
        </dgm:presLayoutVars>
      </dgm:prSet>
      <dgm:spPr/>
    </dgm:pt>
    <dgm:pt modelId="{FEBD3C2A-A340-470A-A475-AE614EA07678}" type="pres">
      <dgm:prSet presAssocID="{E4033A39-DCC4-4038-9562-AEDDBBB37A99}" presName="Childtext1" presStyleLbl="revTx" presStyleIdx="2" presStyleCnt="6">
        <dgm:presLayoutVars>
          <dgm:bulletEnabled val="1"/>
        </dgm:presLayoutVars>
      </dgm:prSet>
      <dgm:spPr/>
    </dgm:pt>
    <dgm:pt modelId="{080474C8-0FEA-4FD1-97F1-0978CFB4A37F}" type="pres">
      <dgm:prSet presAssocID="{E4033A39-DCC4-4038-9562-AEDDBBB37A99}" presName="ConnectLine1" presStyleLbl="sibTrans1D1" presStyleIdx="2" presStyleCnt="6"/>
      <dgm:spPr>
        <a:noFill/>
        <a:ln w="6350" cap="flat" cmpd="sng" algn="ctr">
          <a:solidFill>
            <a:schemeClr val="accent5">
              <a:hueOff val="90002"/>
              <a:satOff val="2173"/>
              <a:lumOff val="-10490"/>
              <a:alphaOff val="0"/>
            </a:schemeClr>
          </a:solidFill>
          <a:prstDash val="dash"/>
          <a:miter lim="800000"/>
        </a:ln>
        <a:effectLst/>
      </dgm:spPr>
    </dgm:pt>
    <dgm:pt modelId="{4797FB61-2602-4A58-81E6-6F133DB1E419}" type="pres">
      <dgm:prSet presAssocID="{E4033A39-DCC4-4038-9562-AEDDBBB37A99}" presName="ConnectLineEnd1" presStyleLbl="lnNode1" presStyleIdx="2" presStyleCnt="6"/>
      <dgm:spPr/>
    </dgm:pt>
    <dgm:pt modelId="{3ADF0AE3-D759-4F4F-8135-572855211847}" type="pres">
      <dgm:prSet presAssocID="{E4033A39-DCC4-4038-9562-AEDDBBB37A99}" presName="EmptyPane1" presStyleCnt="0"/>
      <dgm:spPr/>
    </dgm:pt>
    <dgm:pt modelId="{B0CD7A53-7149-45F2-83E8-36717D7878A1}" type="pres">
      <dgm:prSet presAssocID="{80AB0E5B-0C58-465D-A545-5B21133D2849}" presName="spaceBetweenRectangles1" presStyleCnt="0"/>
      <dgm:spPr/>
    </dgm:pt>
    <dgm:pt modelId="{FB379A6E-C0F9-420B-90FC-2785E757E6AE}" type="pres">
      <dgm:prSet presAssocID="{87BF7896-20EA-4E8F-B6F4-A34EC5C9CB50}" presName="composite1" presStyleCnt="0"/>
      <dgm:spPr/>
    </dgm:pt>
    <dgm:pt modelId="{9D82041D-873A-4600-A9C7-C0A0ADFB138B}" type="pres">
      <dgm:prSet presAssocID="{87BF7896-20EA-4E8F-B6F4-A34EC5C9CB50}" presName="parent1" presStyleLbl="alignNode1" presStyleIdx="3" presStyleCnt="6">
        <dgm:presLayoutVars>
          <dgm:chMax val="1"/>
          <dgm:chPref val="1"/>
          <dgm:bulletEnabled val="1"/>
        </dgm:presLayoutVars>
      </dgm:prSet>
      <dgm:spPr/>
    </dgm:pt>
    <dgm:pt modelId="{80CDBBF8-C6B4-4166-87C1-DC9120CC7586}" type="pres">
      <dgm:prSet presAssocID="{87BF7896-20EA-4E8F-B6F4-A34EC5C9CB50}" presName="Childtext1" presStyleLbl="revTx" presStyleIdx="3" presStyleCnt="6">
        <dgm:presLayoutVars>
          <dgm:bulletEnabled val="1"/>
        </dgm:presLayoutVars>
      </dgm:prSet>
      <dgm:spPr/>
    </dgm:pt>
    <dgm:pt modelId="{89759DE5-9F8A-470E-A6D8-F13BB4DEE93D}" type="pres">
      <dgm:prSet presAssocID="{87BF7896-20EA-4E8F-B6F4-A34EC5C9CB50}" presName="ConnectLine1" presStyleLbl="sibTrans1D1" presStyleIdx="3" presStyleCnt="6"/>
      <dgm:spPr>
        <a:noFill/>
        <a:ln w="6350" cap="flat" cmpd="sng" algn="ctr">
          <a:solidFill>
            <a:schemeClr val="accent5">
              <a:hueOff val="180003"/>
              <a:satOff val="4346"/>
              <a:lumOff val="-20980"/>
              <a:alphaOff val="0"/>
            </a:schemeClr>
          </a:solidFill>
          <a:prstDash val="dash"/>
          <a:miter lim="800000"/>
        </a:ln>
        <a:effectLst/>
      </dgm:spPr>
    </dgm:pt>
    <dgm:pt modelId="{07CCF286-8B46-4A20-ACAC-84BA2D6EFBBC}" type="pres">
      <dgm:prSet presAssocID="{87BF7896-20EA-4E8F-B6F4-A34EC5C9CB50}" presName="ConnectLineEnd1" presStyleLbl="lnNode1" presStyleIdx="3" presStyleCnt="6"/>
      <dgm:spPr/>
    </dgm:pt>
    <dgm:pt modelId="{4624FC32-5405-42B1-B5CC-DF0659852A58}" type="pres">
      <dgm:prSet presAssocID="{87BF7896-20EA-4E8F-B6F4-A34EC5C9CB50}" presName="EmptyPane1" presStyleCnt="0"/>
      <dgm:spPr/>
    </dgm:pt>
    <dgm:pt modelId="{8C327064-3851-4ECF-AAB7-82B51711041E}" type="pres">
      <dgm:prSet presAssocID="{D63CE73E-35DE-48C3-8753-7648BC953C0D}" presName="spaceBetweenRectangles1" presStyleCnt="0"/>
      <dgm:spPr/>
    </dgm:pt>
    <dgm:pt modelId="{3ADEA4DF-6814-494D-9D3D-41947417052B}" type="pres">
      <dgm:prSet presAssocID="{3DE6FF16-CA4D-4D34-ABEB-8BE6A40B5E52}" presName="composite1" presStyleCnt="0"/>
      <dgm:spPr/>
    </dgm:pt>
    <dgm:pt modelId="{74CD3FF2-195B-429B-BC6F-5B5A7FED2BE2}" type="pres">
      <dgm:prSet presAssocID="{3DE6FF16-CA4D-4D34-ABEB-8BE6A40B5E52}" presName="parent1" presStyleLbl="alignNode1" presStyleIdx="4" presStyleCnt="6">
        <dgm:presLayoutVars>
          <dgm:chMax val="1"/>
          <dgm:chPref val="1"/>
          <dgm:bulletEnabled val="1"/>
        </dgm:presLayoutVars>
      </dgm:prSet>
      <dgm:spPr/>
    </dgm:pt>
    <dgm:pt modelId="{1BB5FD64-47F9-47A3-911F-535BFE17A3B9}" type="pres">
      <dgm:prSet presAssocID="{3DE6FF16-CA4D-4D34-ABEB-8BE6A40B5E52}" presName="Childtext1" presStyleLbl="revTx" presStyleIdx="4" presStyleCnt="6">
        <dgm:presLayoutVars>
          <dgm:bulletEnabled val="1"/>
        </dgm:presLayoutVars>
      </dgm:prSet>
      <dgm:spPr/>
    </dgm:pt>
    <dgm:pt modelId="{FE9B27EB-7AC7-485A-9A55-41E8118F9EAF}" type="pres">
      <dgm:prSet presAssocID="{3DE6FF16-CA4D-4D34-ABEB-8BE6A40B5E52}" presName="ConnectLine1" presStyleLbl="sibTrans1D1" presStyleIdx="4" presStyleCnt="6"/>
      <dgm:spPr>
        <a:noFill/>
        <a:ln w="6350" cap="flat" cmpd="sng" algn="ctr">
          <a:solidFill>
            <a:schemeClr val="accent5">
              <a:hueOff val="270005"/>
              <a:satOff val="6519"/>
              <a:lumOff val="-31471"/>
              <a:alphaOff val="0"/>
            </a:schemeClr>
          </a:solidFill>
          <a:prstDash val="dash"/>
          <a:miter lim="800000"/>
        </a:ln>
        <a:effectLst/>
      </dgm:spPr>
    </dgm:pt>
    <dgm:pt modelId="{46BD4721-4664-4AD0-9F11-DBE7E0B207D5}" type="pres">
      <dgm:prSet presAssocID="{3DE6FF16-CA4D-4D34-ABEB-8BE6A40B5E52}" presName="ConnectLineEnd1" presStyleLbl="lnNode1" presStyleIdx="4" presStyleCnt="6"/>
      <dgm:spPr/>
    </dgm:pt>
    <dgm:pt modelId="{69028BD0-349D-4B47-B1F4-B64C6478DE3C}" type="pres">
      <dgm:prSet presAssocID="{3DE6FF16-CA4D-4D34-ABEB-8BE6A40B5E52}" presName="EmptyPane1" presStyleCnt="0"/>
      <dgm:spPr/>
    </dgm:pt>
    <dgm:pt modelId="{619CFBB1-86F5-45A6-80BA-23F97450662F}" type="pres">
      <dgm:prSet presAssocID="{986162A7-6F89-4679-B40E-33A17DA21B73}" presName="spaceBetweenRectangles1" presStyleCnt="0"/>
      <dgm:spPr/>
    </dgm:pt>
    <dgm:pt modelId="{E4E0A96A-AF87-442A-A1A3-64B8F3CFC7FE}" type="pres">
      <dgm:prSet presAssocID="{AC76BE15-3E8A-498B-91BD-CF772C26B6F1}" presName="composite1" presStyleCnt="0"/>
      <dgm:spPr/>
    </dgm:pt>
    <dgm:pt modelId="{483E7832-9872-48C4-8E65-DCB39D4CDBDF}" type="pres">
      <dgm:prSet presAssocID="{AC76BE15-3E8A-498B-91BD-CF772C26B6F1}" presName="parent1" presStyleLbl="alignNode1" presStyleIdx="5" presStyleCnt="6">
        <dgm:presLayoutVars>
          <dgm:chMax val="1"/>
          <dgm:chPref val="1"/>
          <dgm:bulletEnabled val="1"/>
        </dgm:presLayoutVars>
      </dgm:prSet>
      <dgm:spPr/>
    </dgm:pt>
    <dgm:pt modelId="{1FA3C236-5719-4A33-A6BB-80FA85F940E3}" type="pres">
      <dgm:prSet presAssocID="{AC76BE15-3E8A-498B-91BD-CF772C26B6F1}" presName="Childtext1" presStyleLbl="revTx" presStyleIdx="5" presStyleCnt="6">
        <dgm:presLayoutVars>
          <dgm:bulletEnabled val="1"/>
        </dgm:presLayoutVars>
      </dgm:prSet>
      <dgm:spPr/>
    </dgm:pt>
    <dgm:pt modelId="{18F1C823-9ACD-4FCD-8102-F468DCE57A45}" type="pres">
      <dgm:prSet presAssocID="{AC76BE15-3E8A-498B-91BD-CF772C26B6F1}" presName="ConnectLine1" presStyleLbl="sibTrans1D1" presStyleIdx="5" presStyleCnt="6"/>
      <dgm:spPr>
        <a:noFill/>
        <a:ln w="6350" cap="flat" cmpd="sng" algn="ctr">
          <a:solidFill>
            <a:schemeClr val="accent5">
              <a:hueOff val="360006"/>
              <a:satOff val="8692"/>
              <a:lumOff val="-41961"/>
              <a:alphaOff val="0"/>
            </a:schemeClr>
          </a:solidFill>
          <a:prstDash val="dash"/>
          <a:miter lim="800000"/>
        </a:ln>
        <a:effectLst/>
      </dgm:spPr>
    </dgm:pt>
    <dgm:pt modelId="{F8AD0AB8-BBDF-4F0A-A6A0-850E289DD521}" type="pres">
      <dgm:prSet presAssocID="{AC76BE15-3E8A-498B-91BD-CF772C26B6F1}" presName="ConnectLineEnd1" presStyleLbl="lnNode1" presStyleIdx="5" presStyleCnt="6"/>
      <dgm:spPr/>
    </dgm:pt>
    <dgm:pt modelId="{11CAE2E7-2E06-450A-A729-9C2DCEF85421}" type="pres">
      <dgm:prSet presAssocID="{AC76BE15-3E8A-498B-91BD-CF772C26B6F1}" presName="EmptyPane1" presStyleCnt="0"/>
      <dgm:spPr/>
    </dgm:pt>
  </dgm:ptLst>
  <dgm:cxnLst>
    <dgm:cxn modelId="{58AF9605-98E3-490C-9551-60E5D74419A2}" type="presOf" srcId="{3DE6FF16-CA4D-4D34-ABEB-8BE6A40B5E52}" destId="{74CD3FF2-195B-429B-BC6F-5B5A7FED2BE2}" srcOrd="0" destOrd="0" presId="urn:microsoft.com/office/officeart/2016/7/layout/RoundedRectangleTimeline"/>
    <dgm:cxn modelId="{467F290A-9E2A-412E-AF06-428DAA68BEDD}" type="presOf" srcId="{E4033A39-DCC4-4038-9562-AEDDBBB37A99}" destId="{539615E2-3277-4D8E-8484-FF5088C8BF01}" srcOrd="0" destOrd="0" presId="urn:microsoft.com/office/officeart/2016/7/layout/RoundedRectangleTimeline"/>
    <dgm:cxn modelId="{A2A50010-8F67-49E4-9B0A-E0F7FDA9656C}" type="presOf" srcId="{B54C8F6C-BE1E-4EAB-B7A0-48DE01FFAA36}" destId="{45A02F84-C6CB-43F5-AEE4-3EA66C2BD25F}" srcOrd="0" destOrd="0" presId="urn:microsoft.com/office/officeart/2016/7/layout/RoundedRectangleTimeline"/>
    <dgm:cxn modelId="{92330C11-C197-4512-BDA4-8D8A69AF7D1C}" srcId="{E5B2E815-0D19-41DC-B01B-4D608769620A}" destId="{87BF7896-20EA-4E8F-B6F4-A34EC5C9CB50}" srcOrd="3" destOrd="0" parTransId="{05E47BA5-F724-4AEE-9B5B-401F18E028E6}" sibTransId="{D63CE73E-35DE-48C3-8753-7648BC953C0D}"/>
    <dgm:cxn modelId="{D88F5139-A3BF-4F98-ABB0-AEE7243465CB}" type="presOf" srcId="{87BF7896-20EA-4E8F-B6F4-A34EC5C9CB50}" destId="{9D82041D-873A-4600-A9C7-C0A0ADFB138B}" srcOrd="0" destOrd="0" presId="urn:microsoft.com/office/officeart/2016/7/layout/RoundedRectangleTimeline"/>
    <dgm:cxn modelId="{32EF2862-2950-4DF8-BEA8-CD19460CCA31}" srcId="{E5B2E815-0D19-41DC-B01B-4D608769620A}" destId="{E4033A39-DCC4-4038-9562-AEDDBBB37A99}" srcOrd="2" destOrd="0" parTransId="{048EEAE6-78BA-4B00-B7BB-9C22DBB1E8F4}" sibTransId="{80AB0E5B-0C58-465D-A545-5B21133D2849}"/>
    <dgm:cxn modelId="{5E74CB62-E52E-4CEE-8AA1-9812BFC0D67E}" srcId="{E4033A39-DCC4-4038-9562-AEDDBBB37A99}" destId="{A4C0B4E4-70AD-4901-9E3F-7EA25DD6DAA1}" srcOrd="0" destOrd="0" parTransId="{701D9033-BAD3-4299-933F-A47AFDC2ECD0}" sibTransId="{657DB10D-2517-48AA-B970-6D815DBD4123}"/>
    <dgm:cxn modelId="{A5A36D69-A0C2-4634-B7CF-09F76C55A3EC}" type="presOf" srcId="{9DDA9E02-0A65-44C4-B38D-F2058552102F}" destId="{51985C07-7287-4596-8CF3-F855F319F5A0}" srcOrd="0" destOrd="0" presId="urn:microsoft.com/office/officeart/2016/7/layout/RoundedRectangleTimeline"/>
    <dgm:cxn modelId="{A84FF04F-4B61-476C-AFF2-56196A2F9714}" type="presOf" srcId="{752ECCCC-3C39-4250-9A97-5F22E4EF0A2C}" destId="{A165F714-1083-4BD1-B33E-DC9BB7709CBF}" srcOrd="0" destOrd="0" presId="urn:microsoft.com/office/officeart/2016/7/layout/RoundedRectangleTimeline"/>
    <dgm:cxn modelId="{4653A150-E557-4235-B1A1-18156274D965}" type="presOf" srcId="{4259F840-24E7-476F-9F30-482E46395856}" destId="{E088D226-49D7-4C30-90DC-CA1755D98829}" srcOrd="0" destOrd="0" presId="urn:microsoft.com/office/officeart/2016/7/layout/RoundedRectangleTimeline"/>
    <dgm:cxn modelId="{E6B56652-B46A-4546-9536-64D675143F1B}" type="presOf" srcId="{A4C0B4E4-70AD-4901-9E3F-7EA25DD6DAA1}" destId="{FEBD3C2A-A340-470A-A475-AE614EA07678}" srcOrd="0" destOrd="0" presId="urn:microsoft.com/office/officeart/2016/7/layout/RoundedRectangleTimeline"/>
    <dgm:cxn modelId="{D9403C73-FB83-47D6-85AE-067D49ED63F2}" srcId="{3DE6FF16-CA4D-4D34-ABEB-8BE6A40B5E52}" destId="{C032D242-8D23-4EEC-A10A-7B0691E5A409}" srcOrd="0" destOrd="0" parTransId="{167DA838-BF1F-42A4-81E8-806F40795A14}" sibTransId="{7EFA60CA-572D-434D-B452-A4ACBAEB4D2C}"/>
    <dgm:cxn modelId="{140A4778-8248-44DE-B78A-23C578A77D7E}" srcId="{E5B2E815-0D19-41DC-B01B-4D608769620A}" destId="{AC76BE15-3E8A-498B-91BD-CF772C26B6F1}" srcOrd="5" destOrd="0" parTransId="{00CCB400-064A-4EF5-9806-9534D9AC69AD}" sibTransId="{662A3D6E-7238-444F-BC0B-C7A4321261DB}"/>
    <dgm:cxn modelId="{020D505A-97FA-43DD-A9A1-2501AD46F8AF}" type="presOf" srcId="{43CBB0A2-9D75-4264-8A30-3E8974B40658}" destId="{80CDBBF8-C6B4-4166-87C1-DC9120CC7586}" srcOrd="0" destOrd="0" presId="urn:microsoft.com/office/officeart/2016/7/layout/RoundedRectangleTimeline"/>
    <dgm:cxn modelId="{4D2DF581-8128-4440-9E51-29109DC6ED52}" srcId="{87BF7896-20EA-4E8F-B6F4-A34EC5C9CB50}" destId="{43CBB0A2-9D75-4264-8A30-3E8974B40658}" srcOrd="0" destOrd="0" parTransId="{F806E590-5F8E-48A1-96AC-9E738290D2ED}" sibTransId="{20F77EFB-335C-4BC3-AD95-8421EDF343E6}"/>
    <dgm:cxn modelId="{67A67F8B-14DC-457C-93BE-25105825881F}" type="presOf" srcId="{AC76BE15-3E8A-498B-91BD-CF772C26B6F1}" destId="{483E7832-9872-48C4-8E65-DCB39D4CDBDF}" srcOrd="0" destOrd="0" presId="urn:microsoft.com/office/officeart/2016/7/layout/RoundedRectangleTimeline"/>
    <dgm:cxn modelId="{C8CAF48F-322D-43C3-A68B-40DA904320AC}" type="presOf" srcId="{E5B2E815-0D19-41DC-B01B-4D608769620A}" destId="{196C9F68-3606-4282-A4C6-4485F1280B5F}" srcOrd="0" destOrd="0" presId="urn:microsoft.com/office/officeart/2016/7/layout/RoundedRectangleTimeline"/>
    <dgm:cxn modelId="{19CF03A0-47BE-4ABD-A62C-A27E16D6C5A3}" srcId="{AC76BE15-3E8A-498B-91BD-CF772C26B6F1}" destId="{73820394-2159-4075-9E6F-217263B07F8B}" srcOrd="0" destOrd="0" parTransId="{A861A835-3A0D-4B09-8870-87D7FDC7B27F}" sibTransId="{D383A36B-470D-499F-AE13-85A6B2495524}"/>
    <dgm:cxn modelId="{D473BBA6-FF54-423D-9B9B-875C8AA2545B}" type="presOf" srcId="{73820394-2159-4075-9E6F-217263B07F8B}" destId="{1FA3C236-5719-4A33-A6BB-80FA85F940E3}" srcOrd="0" destOrd="0" presId="urn:microsoft.com/office/officeart/2016/7/layout/RoundedRectangleTimeline"/>
    <dgm:cxn modelId="{636DE8C5-F706-4BA5-855F-85FD2239E2BE}" srcId="{E5B2E815-0D19-41DC-B01B-4D608769620A}" destId="{3DE6FF16-CA4D-4D34-ABEB-8BE6A40B5E52}" srcOrd="4" destOrd="0" parTransId="{DA9CCCCB-8206-4757-82C8-F885E9D238B5}" sibTransId="{986162A7-6F89-4679-B40E-33A17DA21B73}"/>
    <dgm:cxn modelId="{770CA1CC-3DDD-451E-AE83-A71CA570260C}" srcId="{4259F840-24E7-476F-9F30-482E46395856}" destId="{B54C8F6C-BE1E-4EAB-B7A0-48DE01FFAA36}" srcOrd="0" destOrd="0" parTransId="{8DE7CD45-B7C0-432E-B819-6A7D97E31315}" sibTransId="{C33B8BEF-A818-4A2F-A99A-E2B29895E184}"/>
    <dgm:cxn modelId="{42EE41D1-3C16-4937-BB38-B076896C09A0}" srcId="{E5B2E815-0D19-41DC-B01B-4D608769620A}" destId="{4259F840-24E7-476F-9F30-482E46395856}" srcOrd="0" destOrd="0" parTransId="{FCE8068D-7E50-4749-A8D0-ADEDAC5637B3}" sibTransId="{DCC444A4-F20A-48F5-A61E-47BFFF185A57}"/>
    <dgm:cxn modelId="{02A7AFE3-05E2-4CF8-BA89-4D6E9C6F8DE9}" srcId="{752ECCCC-3C39-4250-9A97-5F22E4EF0A2C}" destId="{9DDA9E02-0A65-44C4-B38D-F2058552102F}" srcOrd="0" destOrd="0" parTransId="{16DC09CC-C247-4593-A13C-73BC818B3517}" sibTransId="{78D6B0F5-D136-44CC-B9B9-64F0234F8515}"/>
    <dgm:cxn modelId="{ABA7B7E6-2A73-4FFE-B8D5-55EDF57844FB}" srcId="{E5B2E815-0D19-41DC-B01B-4D608769620A}" destId="{752ECCCC-3C39-4250-9A97-5F22E4EF0A2C}" srcOrd="1" destOrd="0" parTransId="{5E6397FB-C938-4A8E-88B6-651C947F127A}" sibTransId="{49CBB392-7D4F-4C51-BF69-F522A99AAB2E}"/>
    <dgm:cxn modelId="{546179F7-5E1B-4360-8938-B9238DA6DE5D}" type="presOf" srcId="{C032D242-8D23-4EEC-A10A-7B0691E5A409}" destId="{1BB5FD64-47F9-47A3-911F-535BFE17A3B9}" srcOrd="0" destOrd="0" presId="urn:microsoft.com/office/officeart/2016/7/layout/RoundedRectangleTimeline"/>
    <dgm:cxn modelId="{B5EA3CD6-0576-4168-82C9-9ADC0803B31E}" type="presParOf" srcId="{196C9F68-3606-4282-A4C6-4485F1280B5F}" destId="{68D8AC18-502F-4825-B069-75605ADB3A40}" srcOrd="0" destOrd="0" presId="urn:microsoft.com/office/officeart/2016/7/layout/RoundedRectangleTimeline"/>
    <dgm:cxn modelId="{30A197C5-075F-4643-BF26-64BC9FAF532F}" type="presParOf" srcId="{68D8AC18-502F-4825-B069-75605ADB3A40}" destId="{E088D226-49D7-4C30-90DC-CA1755D98829}" srcOrd="0" destOrd="0" presId="urn:microsoft.com/office/officeart/2016/7/layout/RoundedRectangleTimeline"/>
    <dgm:cxn modelId="{DBAA9861-CCB2-4B8A-A3AA-B305A4B5783E}" type="presParOf" srcId="{68D8AC18-502F-4825-B069-75605ADB3A40}" destId="{45A02F84-C6CB-43F5-AEE4-3EA66C2BD25F}" srcOrd="1" destOrd="0" presId="urn:microsoft.com/office/officeart/2016/7/layout/RoundedRectangleTimeline"/>
    <dgm:cxn modelId="{3F249148-C6F7-40D3-8583-B11C276DE023}" type="presParOf" srcId="{68D8AC18-502F-4825-B069-75605ADB3A40}" destId="{6BA46904-CB7C-4538-BD49-D3891EF19552}" srcOrd="2" destOrd="0" presId="urn:microsoft.com/office/officeart/2016/7/layout/RoundedRectangleTimeline"/>
    <dgm:cxn modelId="{337BF8D5-8206-4D0E-857F-BA46391BB745}" type="presParOf" srcId="{68D8AC18-502F-4825-B069-75605ADB3A40}" destId="{049FDBD0-77FE-49D1-A275-A272C8C5E426}" srcOrd="3" destOrd="0" presId="urn:microsoft.com/office/officeart/2016/7/layout/RoundedRectangleTimeline"/>
    <dgm:cxn modelId="{8E042F31-23CC-40C0-92DC-707183B24E81}" type="presParOf" srcId="{68D8AC18-502F-4825-B069-75605ADB3A40}" destId="{CB26EA94-33BB-4F98-9E1E-2237D4831263}" srcOrd="4" destOrd="0" presId="urn:microsoft.com/office/officeart/2016/7/layout/RoundedRectangleTimeline"/>
    <dgm:cxn modelId="{16926BC1-FC34-413E-B35A-2F54A781CCCD}" type="presParOf" srcId="{196C9F68-3606-4282-A4C6-4485F1280B5F}" destId="{606F1DBF-510E-4065-ACCB-3EBDA85CFB92}" srcOrd="1" destOrd="0" presId="urn:microsoft.com/office/officeart/2016/7/layout/RoundedRectangleTimeline"/>
    <dgm:cxn modelId="{63DC718A-5293-4D6E-B385-F0157EFF1664}" type="presParOf" srcId="{196C9F68-3606-4282-A4C6-4485F1280B5F}" destId="{4A85631E-FE91-4055-86B8-CB14ADA7E3FD}" srcOrd="2" destOrd="0" presId="urn:microsoft.com/office/officeart/2016/7/layout/RoundedRectangleTimeline"/>
    <dgm:cxn modelId="{4C2938C5-8F35-41CF-9EA6-A9B1AC951F55}" type="presParOf" srcId="{4A85631E-FE91-4055-86B8-CB14ADA7E3FD}" destId="{A165F714-1083-4BD1-B33E-DC9BB7709CBF}" srcOrd="0" destOrd="0" presId="urn:microsoft.com/office/officeart/2016/7/layout/RoundedRectangleTimeline"/>
    <dgm:cxn modelId="{9A68649A-31E3-4FFD-9FBF-6ABCB5B30160}" type="presParOf" srcId="{4A85631E-FE91-4055-86B8-CB14ADA7E3FD}" destId="{51985C07-7287-4596-8CF3-F855F319F5A0}" srcOrd="1" destOrd="0" presId="urn:microsoft.com/office/officeart/2016/7/layout/RoundedRectangleTimeline"/>
    <dgm:cxn modelId="{65E54980-9BE5-49AB-8445-EEC658EC7EDA}" type="presParOf" srcId="{4A85631E-FE91-4055-86B8-CB14ADA7E3FD}" destId="{58840F26-0DC6-4BB6-A361-507CD0422F49}" srcOrd="2" destOrd="0" presId="urn:microsoft.com/office/officeart/2016/7/layout/RoundedRectangleTimeline"/>
    <dgm:cxn modelId="{3FCF9858-7ABD-4C92-92FA-4B287BB62547}" type="presParOf" srcId="{4A85631E-FE91-4055-86B8-CB14ADA7E3FD}" destId="{3BBBA9E1-5588-4526-8C06-EF2D8917D171}" srcOrd="3" destOrd="0" presId="urn:microsoft.com/office/officeart/2016/7/layout/RoundedRectangleTimeline"/>
    <dgm:cxn modelId="{F079926E-C5F1-422F-97F4-F9A82F68616E}" type="presParOf" srcId="{4A85631E-FE91-4055-86B8-CB14ADA7E3FD}" destId="{7CC236AF-97A5-4F7E-8841-BA5B8FBC8D88}" srcOrd="4" destOrd="0" presId="urn:microsoft.com/office/officeart/2016/7/layout/RoundedRectangleTimeline"/>
    <dgm:cxn modelId="{F6DFD647-50EA-4866-BA25-997641879507}" type="presParOf" srcId="{196C9F68-3606-4282-A4C6-4485F1280B5F}" destId="{56D79471-C4B4-4445-A5F7-C0CDC78D808E}" srcOrd="3" destOrd="0" presId="urn:microsoft.com/office/officeart/2016/7/layout/RoundedRectangleTimeline"/>
    <dgm:cxn modelId="{42F07C1F-C715-41B1-8356-B99F8CE1AC01}" type="presParOf" srcId="{196C9F68-3606-4282-A4C6-4485F1280B5F}" destId="{07989479-D1A2-4D15-AA3A-B0CFFB9F91D9}" srcOrd="4" destOrd="0" presId="urn:microsoft.com/office/officeart/2016/7/layout/RoundedRectangleTimeline"/>
    <dgm:cxn modelId="{5856EE22-FE01-4788-BBF3-407A68D5A730}" type="presParOf" srcId="{07989479-D1A2-4D15-AA3A-B0CFFB9F91D9}" destId="{539615E2-3277-4D8E-8484-FF5088C8BF01}" srcOrd="0" destOrd="0" presId="urn:microsoft.com/office/officeart/2016/7/layout/RoundedRectangleTimeline"/>
    <dgm:cxn modelId="{3004EE47-5347-4BBA-95CC-D947A73AE485}" type="presParOf" srcId="{07989479-D1A2-4D15-AA3A-B0CFFB9F91D9}" destId="{FEBD3C2A-A340-470A-A475-AE614EA07678}" srcOrd="1" destOrd="0" presId="urn:microsoft.com/office/officeart/2016/7/layout/RoundedRectangleTimeline"/>
    <dgm:cxn modelId="{400A75AC-5289-4270-AC07-416891AF3888}" type="presParOf" srcId="{07989479-D1A2-4D15-AA3A-B0CFFB9F91D9}" destId="{080474C8-0FEA-4FD1-97F1-0978CFB4A37F}" srcOrd="2" destOrd="0" presId="urn:microsoft.com/office/officeart/2016/7/layout/RoundedRectangleTimeline"/>
    <dgm:cxn modelId="{304EB087-DD14-4AA8-8A06-DF9485956226}" type="presParOf" srcId="{07989479-D1A2-4D15-AA3A-B0CFFB9F91D9}" destId="{4797FB61-2602-4A58-81E6-6F133DB1E419}" srcOrd="3" destOrd="0" presId="urn:microsoft.com/office/officeart/2016/7/layout/RoundedRectangleTimeline"/>
    <dgm:cxn modelId="{BC4CC356-31E8-4421-B18C-CB3697E73FAC}" type="presParOf" srcId="{07989479-D1A2-4D15-AA3A-B0CFFB9F91D9}" destId="{3ADF0AE3-D759-4F4F-8135-572855211847}" srcOrd="4" destOrd="0" presId="urn:microsoft.com/office/officeart/2016/7/layout/RoundedRectangleTimeline"/>
    <dgm:cxn modelId="{718BABD9-3B60-482F-B01A-2E414F152777}" type="presParOf" srcId="{196C9F68-3606-4282-A4C6-4485F1280B5F}" destId="{B0CD7A53-7149-45F2-83E8-36717D7878A1}" srcOrd="5" destOrd="0" presId="urn:microsoft.com/office/officeart/2016/7/layout/RoundedRectangleTimeline"/>
    <dgm:cxn modelId="{FD435764-A46B-4635-A943-B6C17FFBD43C}" type="presParOf" srcId="{196C9F68-3606-4282-A4C6-4485F1280B5F}" destId="{FB379A6E-C0F9-420B-90FC-2785E757E6AE}" srcOrd="6" destOrd="0" presId="urn:microsoft.com/office/officeart/2016/7/layout/RoundedRectangleTimeline"/>
    <dgm:cxn modelId="{03D7F2C3-849C-416B-B668-D51C46CA90E6}" type="presParOf" srcId="{FB379A6E-C0F9-420B-90FC-2785E757E6AE}" destId="{9D82041D-873A-4600-A9C7-C0A0ADFB138B}" srcOrd="0" destOrd="0" presId="urn:microsoft.com/office/officeart/2016/7/layout/RoundedRectangleTimeline"/>
    <dgm:cxn modelId="{1DA536D0-EC28-4B9F-A5E9-28EC8F45638C}" type="presParOf" srcId="{FB379A6E-C0F9-420B-90FC-2785E757E6AE}" destId="{80CDBBF8-C6B4-4166-87C1-DC9120CC7586}" srcOrd="1" destOrd="0" presId="urn:microsoft.com/office/officeart/2016/7/layout/RoundedRectangleTimeline"/>
    <dgm:cxn modelId="{A1A8842C-F8BC-40AC-8FFC-6A922D88E333}" type="presParOf" srcId="{FB379A6E-C0F9-420B-90FC-2785E757E6AE}" destId="{89759DE5-9F8A-470E-A6D8-F13BB4DEE93D}" srcOrd="2" destOrd="0" presId="urn:microsoft.com/office/officeart/2016/7/layout/RoundedRectangleTimeline"/>
    <dgm:cxn modelId="{29E74E09-91C9-47DF-AE07-A1527FF00EB2}" type="presParOf" srcId="{FB379A6E-C0F9-420B-90FC-2785E757E6AE}" destId="{07CCF286-8B46-4A20-ACAC-84BA2D6EFBBC}" srcOrd="3" destOrd="0" presId="urn:microsoft.com/office/officeart/2016/7/layout/RoundedRectangleTimeline"/>
    <dgm:cxn modelId="{410C15E7-86BA-42B7-8F67-411E34B11038}" type="presParOf" srcId="{FB379A6E-C0F9-420B-90FC-2785E757E6AE}" destId="{4624FC32-5405-42B1-B5CC-DF0659852A58}" srcOrd="4" destOrd="0" presId="urn:microsoft.com/office/officeart/2016/7/layout/RoundedRectangleTimeline"/>
    <dgm:cxn modelId="{E805D201-407E-43CA-9B74-1CB556699F3D}" type="presParOf" srcId="{196C9F68-3606-4282-A4C6-4485F1280B5F}" destId="{8C327064-3851-4ECF-AAB7-82B51711041E}" srcOrd="7" destOrd="0" presId="urn:microsoft.com/office/officeart/2016/7/layout/RoundedRectangleTimeline"/>
    <dgm:cxn modelId="{43BD8313-2385-4BA0-9145-2022434D3E68}" type="presParOf" srcId="{196C9F68-3606-4282-A4C6-4485F1280B5F}" destId="{3ADEA4DF-6814-494D-9D3D-41947417052B}" srcOrd="8" destOrd="0" presId="urn:microsoft.com/office/officeart/2016/7/layout/RoundedRectangleTimeline"/>
    <dgm:cxn modelId="{77EE5245-99F9-4607-BF5D-14371704AD7C}" type="presParOf" srcId="{3ADEA4DF-6814-494D-9D3D-41947417052B}" destId="{74CD3FF2-195B-429B-BC6F-5B5A7FED2BE2}" srcOrd="0" destOrd="0" presId="urn:microsoft.com/office/officeart/2016/7/layout/RoundedRectangleTimeline"/>
    <dgm:cxn modelId="{4182CE37-4E54-4351-9A5F-1904FF20E71C}" type="presParOf" srcId="{3ADEA4DF-6814-494D-9D3D-41947417052B}" destId="{1BB5FD64-47F9-47A3-911F-535BFE17A3B9}" srcOrd="1" destOrd="0" presId="urn:microsoft.com/office/officeart/2016/7/layout/RoundedRectangleTimeline"/>
    <dgm:cxn modelId="{618B960F-61F5-4357-A407-60CA51E36041}" type="presParOf" srcId="{3ADEA4DF-6814-494D-9D3D-41947417052B}" destId="{FE9B27EB-7AC7-485A-9A55-41E8118F9EAF}" srcOrd="2" destOrd="0" presId="urn:microsoft.com/office/officeart/2016/7/layout/RoundedRectangleTimeline"/>
    <dgm:cxn modelId="{181A4BE4-72AF-463E-880D-D34673D0F9E8}" type="presParOf" srcId="{3ADEA4DF-6814-494D-9D3D-41947417052B}" destId="{46BD4721-4664-4AD0-9F11-DBE7E0B207D5}" srcOrd="3" destOrd="0" presId="urn:microsoft.com/office/officeart/2016/7/layout/RoundedRectangleTimeline"/>
    <dgm:cxn modelId="{AC4EA57A-E4C0-4C2D-8EC9-38BC20FC13B6}" type="presParOf" srcId="{3ADEA4DF-6814-494D-9D3D-41947417052B}" destId="{69028BD0-349D-4B47-B1F4-B64C6478DE3C}" srcOrd="4" destOrd="0" presId="urn:microsoft.com/office/officeart/2016/7/layout/RoundedRectangleTimeline"/>
    <dgm:cxn modelId="{AA8AD3DD-2E80-42F5-B3E4-A5C7AF3802D4}" type="presParOf" srcId="{196C9F68-3606-4282-A4C6-4485F1280B5F}" destId="{619CFBB1-86F5-45A6-80BA-23F97450662F}" srcOrd="9" destOrd="0" presId="urn:microsoft.com/office/officeart/2016/7/layout/RoundedRectangleTimeline"/>
    <dgm:cxn modelId="{FDD0F37D-1C7B-48B3-AC81-ED4C6F1B5BBD}" type="presParOf" srcId="{196C9F68-3606-4282-A4C6-4485F1280B5F}" destId="{E4E0A96A-AF87-442A-A1A3-64B8F3CFC7FE}" srcOrd="10" destOrd="0" presId="urn:microsoft.com/office/officeart/2016/7/layout/RoundedRectangleTimeline"/>
    <dgm:cxn modelId="{CF303A04-9A48-4B41-A7BB-CC3D8C5695D3}" type="presParOf" srcId="{E4E0A96A-AF87-442A-A1A3-64B8F3CFC7FE}" destId="{483E7832-9872-48C4-8E65-DCB39D4CDBDF}" srcOrd="0" destOrd="0" presId="urn:microsoft.com/office/officeart/2016/7/layout/RoundedRectangleTimeline"/>
    <dgm:cxn modelId="{73245F8D-03D3-46C1-81E4-D90E66C49907}" type="presParOf" srcId="{E4E0A96A-AF87-442A-A1A3-64B8F3CFC7FE}" destId="{1FA3C236-5719-4A33-A6BB-80FA85F940E3}" srcOrd="1" destOrd="0" presId="urn:microsoft.com/office/officeart/2016/7/layout/RoundedRectangleTimeline"/>
    <dgm:cxn modelId="{412C5C97-3381-4F16-9B7D-FDFBEDD4E918}" type="presParOf" srcId="{E4E0A96A-AF87-442A-A1A3-64B8F3CFC7FE}" destId="{18F1C823-9ACD-4FCD-8102-F468DCE57A45}" srcOrd="2" destOrd="0" presId="urn:microsoft.com/office/officeart/2016/7/layout/RoundedRectangleTimeline"/>
    <dgm:cxn modelId="{23A8F6FC-DFDA-4E9F-A354-A33937E1BFC9}" type="presParOf" srcId="{E4E0A96A-AF87-442A-A1A3-64B8F3CFC7FE}" destId="{F8AD0AB8-BBDF-4F0A-A6A0-850E289DD521}" srcOrd="3" destOrd="0" presId="urn:microsoft.com/office/officeart/2016/7/layout/RoundedRectangleTimeline"/>
    <dgm:cxn modelId="{C02C06C2-0966-4212-84DD-DA325FCEF64C}" type="presParOf" srcId="{E4E0A96A-AF87-442A-A1A3-64B8F3CFC7FE}" destId="{11CAE2E7-2E06-450A-A729-9C2DCEF85421}" srcOrd="4" destOrd="0" presId="urn:microsoft.com/office/officeart/2016/7/layout/RoundedRectangle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2205B3-14AE-454A-9DFB-B89FEFAF994F}" type="doc">
      <dgm:prSet loTypeId="urn:microsoft.com/office/officeart/2005/8/layout/vList3" loCatId="picture" qsTypeId="urn:microsoft.com/office/officeart/2005/8/quickstyle/simple5" qsCatId="simple" csTypeId="urn:microsoft.com/office/officeart/2005/8/colors/accent4_3" csCatId="accent4" phldr="1"/>
      <dgm:spPr/>
      <dgm:t>
        <a:bodyPr/>
        <a:lstStyle/>
        <a:p>
          <a:endParaRPr lang="en-ID"/>
        </a:p>
      </dgm:t>
    </dgm:pt>
    <dgm:pt modelId="{F42759FC-71E2-4376-998A-C19D74D50145}">
      <dgm:prSet phldrT="[Text]"/>
      <dgm:spPr/>
      <dgm:t>
        <a:bodyPr/>
        <a:lstStyle/>
        <a:p>
          <a:pPr algn="l"/>
          <a:r>
            <a:rPr lang="en-ID" b="1" dirty="0" err="1">
              <a:solidFill>
                <a:schemeClr val="accent6">
                  <a:lumMod val="50000"/>
                </a:schemeClr>
              </a:solidFill>
            </a:rPr>
            <a:t>Pendahuluan</a:t>
          </a:r>
          <a:endParaRPr lang="en-ID" b="1" dirty="0">
            <a:solidFill>
              <a:schemeClr val="accent6">
                <a:lumMod val="50000"/>
              </a:schemeClr>
            </a:solidFill>
          </a:endParaRPr>
        </a:p>
      </dgm:t>
    </dgm:pt>
    <dgm:pt modelId="{F6501BE7-DD20-4BB3-9ED6-8672E0992579}" type="parTrans" cxnId="{46DA3F80-D651-4BA3-A2CF-040E17817D6A}">
      <dgm:prSet/>
      <dgm:spPr/>
      <dgm:t>
        <a:bodyPr/>
        <a:lstStyle/>
        <a:p>
          <a:pPr algn="l"/>
          <a:endParaRPr lang="en-ID" b="1"/>
        </a:p>
      </dgm:t>
    </dgm:pt>
    <dgm:pt modelId="{AE550515-A444-4899-A4DB-7F5A7451CBE3}" type="sibTrans" cxnId="{46DA3F80-D651-4BA3-A2CF-040E17817D6A}">
      <dgm:prSet/>
      <dgm:spPr/>
      <dgm:t>
        <a:bodyPr/>
        <a:lstStyle/>
        <a:p>
          <a:pPr algn="l"/>
          <a:endParaRPr lang="en-ID" b="1"/>
        </a:p>
      </dgm:t>
    </dgm:pt>
    <dgm:pt modelId="{C17C4690-775A-49CA-9A45-29B5DB830548}">
      <dgm:prSet phldrT="[Text]"/>
      <dgm:spPr/>
      <dgm:t>
        <a:bodyPr/>
        <a:lstStyle/>
        <a:p>
          <a:pPr algn="l"/>
          <a:r>
            <a:rPr lang="en-ID" b="1" dirty="0" err="1">
              <a:solidFill>
                <a:schemeClr val="accent6">
                  <a:lumMod val="50000"/>
                </a:schemeClr>
              </a:solidFill>
            </a:rPr>
            <a:t>Efisiensi</a:t>
          </a:r>
          <a:r>
            <a:rPr lang="en-ID" b="1" dirty="0">
              <a:solidFill>
                <a:schemeClr val="accent6">
                  <a:lumMod val="50000"/>
                </a:schemeClr>
              </a:solidFill>
            </a:rPr>
            <a:t> </a:t>
          </a:r>
          <a:r>
            <a:rPr lang="en-ID" b="1" dirty="0" err="1">
              <a:solidFill>
                <a:schemeClr val="accent6">
                  <a:lumMod val="50000"/>
                </a:schemeClr>
              </a:solidFill>
            </a:rPr>
            <a:t>Biaya</a:t>
          </a:r>
          <a:r>
            <a:rPr lang="en-ID" b="1" dirty="0">
              <a:solidFill>
                <a:schemeClr val="accent6">
                  <a:lumMod val="50000"/>
                </a:schemeClr>
              </a:solidFill>
            </a:rPr>
            <a:t> </a:t>
          </a:r>
          <a:r>
            <a:rPr lang="en-ID" b="1" dirty="0" err="1">
              <a:solidFill>
                <a:schemeClr val="accent6">
                  <a:lumMod val="50000"/>
                </a:schemeClr>
              </a:solidFill>
            </a:rPr>
            <a:t>Pengeboran</a:t>
          </a:r>
          <a:r>
            <a:rPr lang="en-ID" b="1" dirty="0">
              <a:solidFill>
                <a:schemeClr val="accent6">
                  <a:lumMod val="50000"/>
                </a:schemeClr>
              </a:solidFill>
            </a:rPr>
            <a:t> </a:t>
          </a:r>
          <a:r>
            <a:rPr lang="en-ID" b="1" dirty="0" err="1">
              <a:solidFill>
                <a:schemeClr val="accent6">
                  <a:lumMod val="50000"/>
                </a:schemeClr>
              </a:solidFill>
            </a:rPr>
            <a:t>Sumur</a:t>
          </a:r>
          <a:r>
            <a:rPr lang="en-ID" b="1" dirty="0">
              <a:solidFill>
                <a:schemeClr val="accent6">
                  <a:lumMod val="50000"/>
                </a:schemeClr>
              </a:solidFill>
            </a:rPr>
            <a:t> </a:t>
          </a:r>
          <a:r>
            <a:rPr lang="en-ID" b="1" dirty="0" err="1">
              <a:solidFill>
                <a:schemeClr val="accent6">
                  <a:lumMod val="50000"/>
                </a:schemeClr>
              </a:solidFill>
            </a:rPr>
            <a:t>Panas</a:t>
          </a:r>
          <a:r>
            <a:rPr lang="en-ID" b="1" dirty="0">
              <a:solidFill>
                <a:schemeClr val="accent6">
                  <a:lumMod val="50000"/>
                </a:schemeClr>
              </a:solidFill>
            </a:rPr>
            <a:t> </a:t>
          </a:r>
          <a:r>
            <a:rPr lang="en-ID" b="1" dirty="0" err="1">
              <a:solidFill>
                <a:schemeClr val="accent6">
                  <a:lumMod val="50000"/>
                </a:schemeClr>
              </a:solidFill>
            </a:rPr>
            <a:t>Bumi</a:t>
          </a:r>
          <a:endParaRPr lang="en-ID" b="1" dirty="0">
            <a:solidFill>
              <a:schemeClr val="accent6">
                <a:lumMod val="50000"/>
              </a:schemeClr>
            </a:solidFill>
          </a:endParaRPr>
        </a:p>
      </dgm:t>
    </dgm:pt>
    <dgm:pt modelId="{0E649669-2BFB-45BA-9E45-DAAC63640BAF}" type="parTrans" cxnId="{328B6769-D00A-44B3-B72B-1DDD0B0DC73F}">
      <dgm:prSet/>
      <dgm:spPr/>
      <dgm:t>
        <a:bodyPr/>
        <a:lstStyle/>
        <a:p>
          <a:pPr algn="l"/>
          <a:endParaRPr lang="en-ID" b="1"/>
        </a:p>
      </dgm:t>
    </dgm:pt>
    <dgm:pt modelId="{F24AA1D5-B041-4982-8AF4-8CEF7ECCDCBE}" type="sibTrans" cxnId="{328B6769-D00A-44B3-B72B-1DDD0B0DC73F}">
      <dgm:prSet/>
      <dgm:spPr/>
      <dgm:t>
        <a:bodyPr/>
        <a:lstStyle/>
        <a:p>
          <a:pPr algn="l"/>
          <a:endParaRPr lang="en-ID" b="1"/>
        </a:p>
      </dgm:t>
    </dgm:pt>
    <dgm:pt modelId="{73D24F58-7B7A-48ED-9AAD-3CE1248C21F9}">
      <dgm:prSet phldrT="[Text]"/>
      <dgm:spPr/>
      <dgm:t>
        <a:bodyPr/>
        <a:lstStyle/>
        <a:p>
          <a:pPr algn="l"/>
          <a:r>
            <a:rPr lang="en-ID" b="1" dirty="0" err="1">
              <a:solidFill>
                <a:schemeClr val="accent6">
                  <a:lumMod val="50000"/>
                </a:schemeClr>
              </a:solidFill>
            </a:rPr>
            <a:t>Persiapan</a:t>
          </a:r>
          <a:r>
            <a:rPr lang="en-ID" b="1" dirty="0">
              <a:solidFill>
                <a:schemeClr val="accent6">
                  <a:lumMod val="50000"/>
                </a:schemeClr>
              </a:solidFill>
            </a:rPr>
            <a:t> </a:t>
          </a:r>
          <a:r>
            <a:rPr lang="en-ID" b="1" dirty="0" err="1">
              <a:solidFill>
                <a:schemeClr val="accent6">
                  <a:lumMod val="50000"/>
                </a:schemeClr>
              </a:solidFill>
            </a:rPr>
            <a:t>Umum</a:t>
          </a:r>
          <a:r>
            <a:rPr lang="en-ID" b="1" dirty="0">
              <a:solidFill>
                <a:schemeClr val="accent6">
                  <a:lumMod val="50000"/>
                </a:schemeClr>
              </a:solidFill>
            </a:rPr>
            <a:t> </a:t>
          </a:r>
          <a:r>
            <a:rPr lang="en-ID" b="1" dirty="0" err="1">
              <a:solidFill>
                <a:schemeClr val="accent6">
                  <a:lumMod val="50000"/>
                </a:schemeClr>
              </a:solidFill>
            </a:rPr>
            <a:t>Sebelum</a:t>
          </a:r>
          <a:r>
            <a:rPr lang="en-ID" b="1" dirty="0">
              <a:solidFill>
                <a:schemeClr val="accent6">
                  <a:lumMod val="50000"/>
                </a:schemeClr>
              </a:solidFill>
            </a:rPr>
            <a:t> </a:t>
          </a:r>
          <a:r>
            <a:rPr lang="en-ID" b="1" dirty="0" err="1">
              <a:solidFill>
                <a:schemeClr val="accent6">
                  <a:lumMod val="50000"/>
                </a:schemeClr>
              </a:solidFill>
            </a:rPr>
            <a:t>Dimulainya</a:t>
          </a:r>
          <a:r>
            <a:rPr lang="en-ID" b="1" dirty="0">
              <a:solidFill>
                <a:schemeClr val="accent6">
                  <a:lumMod val="50000"/>
                </a:schemeClr>
              </a:solidFill>
            </a:rPr>
            <a:t> </a:t>
          </a:r>
          <a:r>
            <a:rPr lang="en-ID" b="1" dirty="0" err="1">
              <a:solidFill>
                <a:schemeClr val="accent6">
                  <a:lumMod val="50000"/>
                </a:schemeClr>
              </a:solidFill>
            </a:rPr>
            <a:t>Pengeboran</a:t>
          </a:r>
          <a:endParaRPr lang="en-ID" b="1" dirty="0">
            <a:solidFill>
              <a:schemeClr val="accent6">
                <a:lumMod val="50000"/>
              </a:schemeClr>
            </a:solidFill>
          </a:endParaRPr>
        </a:p>
      </dgm:t>
    </dgm:pt>
    <dgm:pt modelId="{EA934BA2-A38A-4A82-903E-A2E657ACC8DE}" type="parTrans" cxnId="{692449A2-C99F-4A35-A386-2451C8E79D4D}">
      <dgm:prSet/>
      <dgm:spPr/>
      <dgm:t>
        <a:bodyPr/>
        <a:lstStyle/>
        <a:p>
          <a:pPr algn="l"/>
          <a:endParaRPr lang="en-ID" b="1"/>
        </a:p>
      </dgm:t>
    </dgm:pt>
    <dgm:pt modelId="{89CA7043-6765-41E1-8F82-17875AF272E6}" type="sibTrans" cxnId="{692449A2-C99F-4A35-A386-2451C8E79D4D}">
      <dgm:prSet/>
      <dgm:spPr/>
      <dgm:t>
        <a:bodyPr/>
        <a:lstStyle/>
        <a:p>
          <a:pPr algn="l"/>
          <a:endParaRPr lang="en-ID" b="1"/>
        </a:p>
      </dgm:t>
    </dgm:pt>
    <dgm:pt modelId="{F569756E-35F0-46BC-A6BB-7062C2005C75}">
      <dgm:prSet phldrT="[Text]"/>
      <dgm:spPr/>
      <dgm:t>
        <a:bodyPr/>
        <a:lstStyle/>
        <a:p>
          <a:pPr algn="l"/>
          <a:r>
            <a:rPr lang="en-ID" b="1" dirty="0" err="1">
              <a:solidFill>
                <a:schemeClr val="accent6">
                  <a:lumMod val="50000"/>
                </a:schemeClr>
              </a:solidFill>
            </a:rPr>
            <a:t>Optimasi</a:t>
          </a:r>
          <a:r>
            <a:rPr lang="en-ID" b="1" dirty="0">
              <a:solidFill>
                <a:schemeClr val="accent6">
                  <a:lumMod val="50000"/>
                </a:schemeClr>
              </a:solidFill>
            </a:rPr>
            <a:t> Desain </a:t>
          </a:r>
          <a:r>
            <a:rPr lang="en-ID" b="1" dirty="0" err="1">
              <a:solidFill>
                <a:schemeClr val="accent6">
                  <a:lumMod val="50000"/>
                </a:schemeClr>
              </a:solidFill>
            </a:rPr>
            <a:t>Sumur</a:t>
          </a:r>
          <a:r>
            <a:rPr lang="en-ID" b="1" dirty="0">
              <a:solidFill>
                <a:schemeClr val="accent6">
                  <a:lumMod val="50000"/>
                </a:schemeClr>
              </a:solidFill>
            </a:rPr>
            <a:t> </a:t>
          </a:r>
          <a:r>
            <a:rPr lang="en-ID" b="1" dirty="0" err="1">
              <a:solidFill>
                <a:schemeClr val="accent6">
                  <a:lumMod val="50000"/>
                </a:schemeClr>
              </a:solidFill>
            </a:rPr>
            <a:t>Pengeboran</a:t>
          </a:r>
          <a:endParaRPr lang="en-ID" b="1" dirty="0">
            <a:solidFill>
              <a:schemeClr val="accent6">
                <a:lumMod val="50000"/>
              </a:schemeClr>
            </a:solidFill>
          </a:endParaRPr>
        </a:p>
      </dgm:t>
    </dgm:pt>
    <dgm:pt modelId="{AC333C5E-0C65-40D0-A75C-525986035FA9}" type="parTrans" cxnId="{06BE99BF-1E4B-4ADB-9123-EB65C8B144C9}">
      <dgm:prSet/>
      <dgm:spPr/>
      <dgm:t>
        <a:bodyPr/>
        <a:lstStyle/>
        <a:p>
          <a:pPr algn="l"/>
          <a:endParaRPr lang="en-ID" b="1"/>
        </a:p>
      </dgm:t>
    </dgm:pt>
    <dgm:pt modelId="{B671A06B-AFA2-4976-A545-D820DFB0658C}" type="sibTrans" cxnId="{06BE99BF-1E4B-4ADB-9123-EB65C8B144C9}">
      <dgm:prSet/>
      <dgm:spPr/>
      <dgm:t>
        <a:bodyPr/>
        <a:lstStyle/>
        <a:p>
          <a:pPr algn="l"/>
          <a:endParaRPr lang="en-ID" b="1"/>
        </a:p>
      </dgm:t>
    </dgm:pt>
    <dgm:pt modelId="{1643C58C-C321-4710-8A52-1E08C8953908}">
      <dgm:prSet phldrT="[Text]"/>
      <dgm:spPr/>
      <dgm:t>
        <a:bodyPr/>
        <a:lstStyle/>
        <a:p>
          <a:pPr algn="l"/>
          <a:r>
            <a:rPr lang="en-ID" b="1" dirty="0" err="1">
              <a:solidFill>
                <a:schemeClr val="accent6">
                  <a:lumMod val="50000"/>
                </a:schemeClr>
              </a:solidFill>
            </a:rPr>
            <a:t>Effesiensi</a:t>
          </a:r>
          <a:r>
            <a:rPr lang="en-ID" b="1" dirty="0">
              <a:solidFill>
                <a:schemeClr val="accent6">
                  <a:lumMod val="50000"/>
                </a:schemeClr>
              </a:solidFill>
            </a:rPr>
            <a:t> </a:t>
          </a:r>
          <a:r>
            <a:rPr lang="en-ID" b="1" dirty="0" err="1">
              <a:solidFill>
                <a:schemeClr val="accent6">
                  <a:lumMod val="50000"/>
                </a:schemeClr>
              </a:solidFill>
            </a:rPr>
            <a:t>Operasi</a:t>
          </a:r>
          <a:r>
            <a:rPr lang="en-ID" b="1" dirty="0">
              <a:solidFill>
                <a:schemeClr val="accent6">
                  <a:lumMod val="50000"/>
                </a:schemeClr>
              </a:solidFill>
            </a:rPr>
            <a:t> </a:t>
          </a:r>
          <a:r>
            <a:rPr lang="en-ID" b="1" dirty="0" err="1">
              <a:solidFill>
                <a:schemeClr val="accent6">
                  <a:lumMod val="50000"/>
                </a:schemeClr>
              </a:solidFill>
            </a:rPr>
            <a:t>Pengeboran</a:t>
          </a:r>
          <a:endParaRPr lang="en-ID" b="1" dirty="0">
            <a:solidFill>
              <a:schemeClr val="accent6">
                <a:lumMod val="50000"/>
              </a:schemeClr>
            </a:solidFill>
          </a:endParaRPr>
        </a:p>
      </dgm:t>
    </dgm:pt>
    <dgm:pt modelId="{0F343D49-B098-46C4-A0BB-A7EF115D0A8B}" type="parTrans" cxnId="{B103ECBB-0BE5-4686-B25C-FE85229C8B42}">
      <dgm:prSet/>
      <dgm:spPr/>
      <dgm:t>
        <a:bodyPr/>
        <a:lstStyle/>
        <a:p>
          <a:pPr algn="l"/>
          <a:endParaRPr lang="en-ID" b="1"/>
        </a:p>
      </dgm:t>
    </dgm:pt>
    <dgm:pt modelId="{EC3F1B67-3E50-4D8E-89B0-2AB3483EBBB3}" type="sibTrans" cxnId="{B103ECBB-0BE5-4686-B25C-FE85229C8B42}">
      <dgm:prSet/>
      <dgm:spPr/>
      <dgm:t>
        <a:bodyPr/>
        <a:lstStyle/>
        <a:p>
          <a:pPr algn="l"/>
          <a:endParaRPr lang="en-ID" b="1"/>
        </a:p>
      </dgm:t>
    </dgm:pt>
    <dgm:pt modelId="{ED809601-EC42-4966-B7CC-83AE268280D9}">
      <dgm:prSet phldrT="[Text]"/>
      <dgm:spPr/>
      <dgm:t>
        <a:bodyPr/>
        <a:lstStyle/>
        <a:p>
          <a:pPr algn="l"/>
          <a:r>
            <a:rPr lang="en-ID" b="1" dirty="0">
              <a:solidFill>
                <a:schemeClr val="accent6">
                  <a:lumMod val="50000"/>
                </a:schemeClr>
              </a:solidFill>
            </a:rPr>
            <a:t>Strategi </a:t>
          </a:r>
          <a:r>
            <a:rPr lang="en-ID" b="1" dirty="0" err="1">
              <a:solidFill>
                <a:schemeClr val="accent6">
                  <a:lumMod val="50000"/>
                </a:schemeClr>
              </a:solidFill>
            </a:rPr>
            <a:t>Pengadaan</a:t>
          </a:r>
          <a:r>
            <a:rPr lang="en-ID" b="1" dirty="0">
              <a:solidFill>
                <a:schemeClr val="accent6">
                  <a:lumMod val="50000"/>
                </a:schemeClr>
              </a:solidFill>
            </a:rPr>
            <a:t> </a:t>
          </a:r>
          <a:r>
            <a:rPr lang="en-ID" b="1" dirty="0" err="1">
              <a:solidFill>
                <a:schemeClr val="accent6">
                  <a:lumMod val="50000"/>
                </a:schemeClr>
              </a:solidFill>
            </a:rPr>
            <a:t>Barang</a:t>
          </a:r>
          <a:r>
            <a:rPr lang="en-ID" b="1" dirty="0">
              <a:solidFill>
                <a:schemeClr val="accent6">
                  <a:lumMod val="50000"/>
                </a:schemeClr>
              </a:solidFill>
            </a:rPr>
            <a:t> dan Jasa </a:t>
          </a:r>
          <a:r>
            <a:rPr lang="en-ID" b="1" dirty="0" err="1">
              <a:solidFill>
                <a:schemeClr val="accent6">
                  <a:lumMod val="50000"/>
                </a:schemeClr>
              </a:solidFill>
            </a:rPr>
            <a:t>Pemboran</a:t>
          </a:r>
          <a:endParaRPr lang="en-ID" b="1" dirty="0">
            <a:solidFill>
              <a:schemeClr val="accent6">
                <a:lumMod val="50000"/>
              </a:schemeClr>
            </a:solidFill>
          </a:endParaRPr>
        </a:p>
      </dgm:t>
    </dgm:pt>
    <dgm:pt modelId="{4B86CB41-1D16-493B-BE84-58EEEAC52810}" type="parTrans" cxnId="{BD9B383C-A8FE-48E1-AD4A-A5B0EEF11007}">
      <dgm:prSet/>
      <dgm:spPr/>
      <dgm:t>
        <a:bodyPr/>
        <a:lstStyle/>
        <a:p>
          <a:pPr algn="l"/>
          <a:endParaRPr lang="en-ID" b="1"/>
        </a:p>
      </dgm:t>
    </dgm:pt>
    <dgm:pt modelId="{D03992BF-9066-459F-9DA0-E5B65ECFEDBA}" type="sibTrans" cxnId="{BD9B383C-A8FE-48E1-AD4A-A5B0EEF11007}">
      <dgm:prSet/>
      <dgm:spPr/>
      <dgm:t>
        <a:bodyPr/>
        <a:lstStyle/>
        <a:p>
          <a:pPr algn="l"/>
          <a:endParaRPr lang="en-ID" b="1"/>
        </a:p>
      </dgm:t>
    </dgm:pt>
    <dgm:pt modelId="{2A4FDBEA-8B39-4389-97FC-0E8E4AAEC4B3}">
      <dgm:prSet phldrT="[Text]"/>
      <dgm:spPr/>
      <dgm:t>
        <a:bodyPr/>
        <a:lstStyle/>
        <a:p>
          <a:pPr algn="l"/>
          <a:r>
            <a:rPr lang="en-ID" b="1" dirty="0">
              <a:solidFill>
                <a:schemeClr val="accent6">
                  <a:lumMod val="50000"/>
                </a:schemeClr>
              </a:solidFill>
            </a:rPr>
            <a:t>Kesimpulan dan </a:t>
          </a:r>
          <a:r>
            <a:rPr lang="en-ID" b="1" dirty="0" err="1">
              <a:solidFill>
                <a:schemeClr val="accent6">
                  <a:lumMod val="50000"/>
                </a:schemeClr>
              </a:solidFill>
            </a:rPr>
            <a:t>Penutup</a:t>
          </a:r>
          <a:endParaRPr lang="en-ID" b="1" dirty="0">
            <a:solidFill>
              <a:schemeClr val="accent6">
                <a:lumMod val="50000"/>
              </a:schemeClr>
            </a:solidFill>
          </a:endParaRPr>
        </a:p>
      </dgm:t>
    </dgm:pt>
    <dgm:pt modelId="{CE2616F2-4783-4DF3-8556-269C68F75EE7}" type="parTrans" cxnId="{4FE70C0D-4BF1-44E2-92CC-462108FAE7BD}">
      <dgm:prSet/>
      <dgm:spPr/>
      <dgm:t>
        <a:bodyPr/>
        <a:lstStyle/>
        <a:p>
          <a:pPr algn="l"/>
          <a:endParaRPr lang="en-ID" b="1"/>
        </a:p>
      </dgm:t>
    </dgm:pt>
    <dgm:pt modelId="{36CAF2EF-A9EA-4FCB-8BA3-EE65CE0ED5D8}" type="sibTrans" cxnId="{4FE70C0D-4BF1-44E2-92CC-462108FAE7BD}">
      <dgm:prSet/>
      <dgm:spPr/>
      <dgm:t>
        <a:bodyPr/>
        <a:lstStyle/>
        <a:p>
          <a:pPr algn="l"/>
          <a:endParaRPr lang="en-ID" b="1"/>
        </a:p>
      </dgm:t>
    </dgm:pt>
    <dgm:pt modelId="{57A78C12-FB8A-4A88-8778-B2F3E7A98498}" type="pres">
      <dgm:prSet presAssocID="{A12205B3-14AE-454A-9DFB-B89FEFAF994F}" presName="linearFlow" presStyleCnt="0">
        <dgm:presLayoutVars>
          <dgm:dir/>
          <dgm:resizeHandles val="exact"/>
        </dgm:presLayoutVars>
      </dgm:prSet>
      <dgm:spPr/>
    </dgm:pt>
    <dgm:pt modelId="{5FB1C1CC-F706-4DB7-BEC9-968BBC3296EB}" type="pres">
      <dgm:prSet presAssocID="{F42759FC-71E2-4376-998A-C19D74D50145}" presName="composite" presStyleCnt="0"/>
      <dgm:spPr/>
    </dgm:pt>
    <dgm:pt modelId="{13289350-2592-4329-A9F3-5D471ED095DF}" type="pres">
      <dgm:prSet presAssocID="{F42759FC-71E2-4376-998A-C19D74D50145}" presName="imgShp" presStyleLbl="fgImgPlace1" presStyleIdx="0" presStyleCnt="7"/>
      <dgm:spPr>
        <a:blipFill rotWithShape="1">
          <a:blip xmlns:r="http://schemas.openxmlformats.org/officeDocument/2006/relationships" r:embed="rId1"/>
          <a:srcRect/>
          <a:stretch>
            <a:fillRect l="-27000" r="-27000"/>
          </a:stretch>
        </a:blipFill>
      </dgm:spPr>
    </dgm:pt>
    <dgm:pt modelId="{5923E68A-7B4F-49AE-85A1-4BE494C10151}" type="pres">
      <dgm:prSet presAssocID="{F42759FC-71E2-4376-998A-C19D74D50145}" presName="txShp" presStyleLbl="node1" presStyleIdx="0" presStyleCnt="7">
        <dgm:presLayoutVars>
          <dgm:bulletEnabled val="1"/>
        </dgm:presLayoutVars>
      </dgm:prSet>
      <dgm:spPr/>
    </dgm:pt>
    <dgm:pt modelId="{B6FCA7FD-06D4-48A5-9AF0-4E21BDC463D8}" type="pres">
      <dgm:prSet presAssocID="{AE550515-A444-4899-A4DB-7F5A7451CBE3}" presName="spacing" presStyleCnt="0"/>
      <dgm:spPr/>
    </dgm:pt>
    <dgm:pt modelId="{55E6711A-7769-4927-BEA7-BB0531CAD093}" type="pres">
      <dgm:prSet presAssocID="{C17C4690-775A-49CA-9A45-29B5DB830548}" presName="composite" presStyleCnt="0"/>
      <dgm:spPr/>
    </dgm:pt>
    <dgm:pt modelId="{90318AE3-7E66-4CC2-B500-BFBF7AAEBB5D}" type="pres">
      <dgm:prSet presAssocID="{C17C4690-775A-49CA-9A45-29B5DB830548}" presName="imgShp" presStyleLbl="fgImgPlace1" presStyleIdx="1" presStyleCnt="7"/>
      <dgm:spPr>
        <a:blipFill rotWithShape="1">
          <a:blip xmlns:r="http://schemas.openxmlformats.org/officeDocument/2006/relationships" r:embed="rId2"/>
          <a:srcRect/>
          <a:stretch>
            <a:fillRect l="-11000" r="-11000"/>
          </a:stretch>
        </a:blipFill>
      </dgm:spPr>
    </dgm:pt>
    <dgm:pt modelId="{A6514698-6CD4-4506-AE12-1CA1A6A95C86}" type="pres">
      <dgm:prSet presAssocID="{C17C4690-775A-49CA-9A45-29B5DB830548}" presName="txShp" presStyleLbl="node1" presStyleIdx="1" presStyleCnt="7">
        <dgm:presLayoutVars>
          <dgm:bulletEnabled val="1"/>
        </dgm:presLayoutVars>
      </dgm:prSet>
      <dgm:spPr/>
    </dgm:pt>
    <dgm:pt modelId="{0FB6DA8E-AD1C-4E55-8F8C-87E229A33A1D}" type="pres">
      <dgm:prSet presAssocID="{F24AA1D5-B041-4982-8AF4-8CEF7ECCDCBE}" presName="spacing" presStyleCnt="0"/>
      <dgm:spPr/>
    </dgm:pt>
    <dgm:pt modelId="{215C1553-EBDC-419A-8A06-81FE9604395F}" type="pres">
      <dgm:prSet presAssocID="{73D24F58-7B7A-48ED-9AAD-3CE1248C21F9}" presName="composite" presStyleCnt="0"/>
      <dgm:spPr/>
    </dgm:pt>
    <dgm:pt modelId="{5354FB36-9309-4DE7-B7C6-1B1B41663645}" type="pres">
      <dgm:prSet presAssocID="{73D24F58-7B7A-48ED-9AAD-3CE1248C21F9}" presName="imgShp" presStyleLbl="fgImgPlace1" presStyleIdx="2" presStyleCnt="7"/>
      <dgm:spPr>
        <a:blipFill rotWithShape="1">
          <a:blip xmlns:r="http://schemas.openxmlformats.org/officeDocument/2006/relationships" r:embed="rId3"/>
          <a:srcRect/>
          <a:stretch>
            <a:fillRect l="-8000" r="-8000"/>
          </a:stretch>
        </a:blipFill>
      </dgm:spPr>
    </dgm:pt>
    <dgm:pt modelId="{0566B5D7-98FC-4DB8-8B1B-7B6F815FBAD7}" type="pres">
      <dgm:prSet presAssocID="{73D24F58-7B7A-48ED-9AAD-3CE1248C21F9}" presName="txShp" presStyleLbl="node1" presStyleIdx="2" presStyleCnt="7">
        <dgm:presLayoutVars>
          <dgm:bulletEnabled val="1"/>
        </dgm:presLayoutVars>
      </dgm:prSet>
      <dgm:spPr/>
    </dgm:pt>
    <dgm:pt modelId="{49FF90B9-6841-4288-9356-A025D84EA17F}" type="pres">
      <dgm:prSet presAssocID="{89CA7043-6765-41E1-8F82-17875AF272E6}" presName="spacing" presStyleCnt="0"/>
      <dgm:spPr/>
    </dgm:pt>
    <dgm:pt modelId="{4F55B9F8-79C1-458E-9215-FC5A5655338B}" type="pres">
      <dgm:prSet presAssocID="{F569756E-35F0-46BC-A6BB-7062C2005C75}" presName="composite" presStyleCnt="0"/>
      <dgm:spPr/>
    </dgm:pt>
    <dgm:pt modelId="{F97C736C-F0C5-4F7F-8367-81FE22A6E8A3}" type="pres">
      <dgm:prSet presAssocID="{F569756E-35F0-46BC-A6BB-7062C2005C75}" presName="imgShp" presStyleLbl="fgImgPlace1" presStyleIdx="3" presStyleCnt="7"/>
      <dgm:spPr>
        <a:blipFill rotWithShape="1">
          <a:blip xmlns:r="http://schemas.openxmlformats.org/officeDocument/2006/relationships" r:embed="rId4"/>
          <a:srcRect/>
          <a:stretch>
            <a:fillRect/>
          </a:stretch>
        </a:blipFill>
      </dgm:spPr>
    </dgm:pt>
    <dgm:pt modelId="{A7BA4CA4-CB83-45D1-BA26-CBABFEE6E809}" type="pres">
      <dgm:prSet presAssocID="{F569756E-35F0-46BC-A6BB-7062C2005C75}" presName="txShp" presStyleLbl="node1" presStyleIdx="3" presStyleCnt="7">
        <dgm:presLayoutVars>
          <dgm:bulletEnabled val="1"/>
        </dgm:presLayoutVars>
      </dgm:prSet>
      <dgm:spPr/>
    </dgm:pt>
    <dgm:pt modelId="{99E8557B-86B6-4F7B-BC2A-4822A74B39DA}" type="pres">
      <dgm:prSet presAssocID="{B671A06B-AFA2-4976-A545-D820DFB0658C}" presName="spacing" presStyleCnt="0"/>
      <dgm:spPr/>
    </dgm:pt>
    <dgm:pt modelId="{2D469F4A-732E-44FE-88E3-B8A7798AB922}" type="pres">
      <dgm:prSet presAssocID="{1643C58C-C321-4710-8A52-1E08C8953908}" presName="composite" presStyleCnt="0"/>
      <dgm:spPr/>
    </dgm:pt>
    <dgm:pt modelId="{E084E869-7746-45AA-A87E-92E3B1EB78A0}" type="pres">
      <dgm:prSet presAssocID="{1643C58C-C321-4710-8A52-1E08C8953908}" presName="imgShp" presStyleLbl="fgImgPlace1" presStyleIdx="4" presStyleCnt="7"/>
      <dgm:spPr>
        <a:blipFill rotWithShape="1">
          <a:blip xmlns:r="http://schemas.openxmlformats.org/officeDocument/2006/relationships" r:embed="rId5"/>
          <a:srcRect/>
          <a:stretch>
            <a:fillRect/>
          </a:stretch>
        </a:blipFill>
      </dgm:spPr>
    </dgm:pt>
    <dgm:pt modelId="{0AA8237C-F9CB-4362-BFA9-41E49531DBEE}" type="pres">
      <dgm:prSet presAssocID="{1643C58C-C321-4710-8A52-1E08C8953908}" presName="txShp" presStyleLbl="node1" presStyleIdx="4" presStyleCnt="7">
        <dgm:presLayoutVars>
          <dgm:bulletEnabled val="1"/>
        </dgm:presLayoutVars>
      </dgm:prSet>
      <dgm:spPr/>
    </dgm:pt>
    <dgm:pt modelId="{963DA3A2-0C1C-4A92-8FA8-D2FEB58D40DE}" type="pres">
      <dgm:prSet presAssocID="{EC3F1B67-3E50-4D8E-89B0-2AB3483EBBB3}" presName="spacing" presStyleCnt="0"/>
      <dgm:spPr/>
    </dgm:pt>
    <dgm:pt modelId="{356ADCCE-F360-46C7-98AC-DCBB3BC545AD}" type="pres">
      <dgm:prSet presAssocID="{ED809601-EC42-4966-B7CC-83AE268280D9}" presName="composite" presStyleCnt="0"/>
      <dgm:spPr/>
    </dgm:pt>
    <dgm:pt modelId="{2866615D-2676-453A-8759-C7D14E5DB558}" type="pres">
      <dgm:prSet presAssocID="{ED809601-EC42-4966-B7CC-83AE268280D9}" presName="imgShp" presStyleLbl="fgImgPlace1" presStyleIdx="5" presStyleCnt="7"/>
      <dgm:spPr>
        <a:blipFill rotWithShape="1">
          <a:blip xmlns:r="http://schemas.openxmlformats.org/officeDocument/2006/relationships" r:embed="rId6"/>
          <a:srcRect/>
          <a:stretch>
            <a:fillRect/>
          </a:stretch>
        </a:blipFill>
      </dgm:spPr>
    </dgm:pt>
    <dgm:pt modelId="{75F3E704-4E75-484B-9089-D7BE913FC0F6}" type="pres">
      <dgm:prSet presAssocID="{ED809601-EC42-4966-B7CC-83AE268280D9}" presName="txShp" presStyleLbl="node1" presStyleIdx="5" presStyleCnt="7">
        <dgm:presLayoutVars>
          <dgm:bulletEnabled val="1"/>
        </dgm:presLayoutVars>
      </dgm:prSet>
      <dgm:spPr/>
    </dgm:pt>
    <dgm:pt modelId="{368C0831-49C0-4E95-BBED-93C450609C68}" type="pres">
      <dgm:prSet presAssocID="{D03992BF-9066-459F-9DA0-E5B65ECFEDBA}" presName="spacing" presStyleCnt="0"/>
      <dgm:spPr/>
    </dgm:pt>
    <dgm:pt modelId="{5D16F3D5-A543-4C3D-830F-CA794F1464F3}" type="pres">
      <dgm:prSet presAssocID="{2A4FDBEA-8B39-4389-97FC-0E8E4AAEC4B3}" presName="composite" presStyleCnt="0"/>
      <dgm:spPr/>
    </dgm:pt>
    <dgm:pt modelId="{7997477C-AB3F-4102-810D-AB4926ECBE17}" type="pres">
      <dgm:prSet presAssocID="{2A4FDBEA-8B39-4389-97FC-0E8E4AAEC4B3}" presName="imgShp" presStyleLbl="fgImgPlace1" presStyleIdx="6" presStyleCnt="7"/>
      <dgm:spPr>
        <a:blipFill rotWithShape="1">
          <a:blip xmlns:r="http://schemas.openxmlformats.org/officeDocument/2006/relationships" r:embed="rId7"/>
          <a:srcRect/>
          <a:stretch>
            <a:fillRect/>
          </a:stretch>
        </a:blipFill>
      </dgm:spPr>
    </dgm:pt>
    <dgm:pt modelId="{ACBCF323-59B8-4DA9-8696-1C481F11716C}" type="pres">
      <dgm:prSet presAssocID="{2A4FDBEA-8B39-4389-97FC-0E8E4AAEC4B3}" presName="txShp" presStyleLbl="node1" presStyleIdx="6" presStyleCnt="7">
        <dgm:presLayoutVars>
          <dgm:bulletEnabled val="1"/>
        </dgm:presLayoutVars>
      </dgm:prSet>
      <dgm:spPr/>
    </dgm:pt>
  </dgm:ptLst>
  <dgm:cxnLst>
    <dgm:cxn modelId="{12923507-0849-4FF5-9D89-29257C1E4D74}" type="presOf" srcId="{1643C58C-C321-4710-8A52-1E08C8953908}" destId="{0AA8237C-F9CB-4362-BFA9-41E49531DBEE}" srcOrd="0" destOrd="0" presId="urn:microsoft.com/office/officeart/2005/8/layout/vList3"/>
    <dgm:cxn modelId="{4FE70C0D-4BF1-44E2-92CC-462108FAE7BD}" srcId="{A12205B3-14AE-454A-9DFB-B89FEFAF994F}" destId="{2A4FDBEA-8B39-4389-97FC-0E8E4AAEC4B3}" srcOrd="6" destOrd="0" parTransId="{CE2616F2-4783-4DF3-8556-269C68F75EE7}" sibTransId="{36CAF2EF-A9EA-4FCB-8BA3-EE65CE0ED5D8}"/>
    <dgm:cxn modelId="{4B1DF617-32D5-4988-8734-58371C1D56EC}" type="presOf" srcId="{2A4FDBEA-8B39-4389-97FC-0E8E4AAEC4B3}" destId="{ACBCF323-59B8-4DA9-8696-1C481F11716C}" srcOrd="0" destOrd="0" presId="urn:microsoft.com/office/officeart/2005/8/layout/vList3"/>
    <dgm:cxn modelId="{1D89441B-6BD5-4154-9349-9868D746913D}" type="presOf" srcId="{A12205B3-14AE-454A-9DFB-B89FEFAF994F}" destId="{57A78C12-FB8A-4A88-8778-B2F3E7A98498}" srcOrd="0" destOrd="0" presId="urn:microsoft.com/office/officeart/2005/8/layout/vList3"/>
    <dgm:cxn modelId="{AB070B2D-5E82-482F-A79C-1F9C27A4D36D}" type="presOf" srcId="{C17C4690-775A-49CA-9A45-29B5DB830548}" destId="{A6514698-6CD4-4506-AE12-1CA1A6A95C86}" srcOrd="0" destOrd="0" presId="urn:microsoft.com/office/officeart/2005/8/layout/vList3"/>
    <dgm:cxn modelId="{BD9B383C-A8FE-48E1-AD4A-A5B0EEF11007}" srcId="{A12205B3-14AE-454A-9DFB-B89FEFAF994F}" destId="{ED809601-EC42-4966-B7CC-83AE268280D9}" srcOrd="5" destOrd="0" parTransId="{4B86CB41-1D16-493B-BE84-58EEEAC52810}" sibTransId="{D03992BF-9066-459F-9DA0-E5B65ECFEDBA}"/>
    <dgm:cxn modelId="{05D1B262-10E1-4CED-AD00-2E87B9A2BDE6}" type="presOf" srcId="{73D24F58-7B7A-48ED-9AAD-3CE1248C21F9}" destId="{0566B5D7-98FC-4DB8-8B1B-7B6F815FBAD7}" srcOrd="0" destOrd="0" presId="urn:microsoft.com/office/officeart/2005/8/layout/vList3"/>
    <dgm:cxn modelId="{328B6769-D00A-44B3-B72B-1DDD0B0DC73F}" srcId="{A12205B3-14AE-454A-9DFB-B89FEFAF994F}" destId="{C17C4690-775A-49CA-9A45-29B5DB830548}" srcOrd="1" destOrd="0" parTransId="{0E649669-2BFB-45BA-9E45-DAAC63640BAF}" sibTransId="{F24AA1D5-B041-4982-8AF4-8CEF7ECCDCBE}"/>
    <dgm:cxn modelId="{46DA3F80-D651-4BA3-A2CF-040E17817D6A}" srcId="{A12205B3-14AE-454A-9DFB-B89FEFAF994F}" destId="{F42759FC-71E2-4376-998A-C19D74D50145}" srcOrd="0" destOrd="0" parTransId="{F6501BE7-DD20-4BB3-9ED6-8672E0992579}" sibTransId="{AE550515-A444-4899-A4DB-7F5A7451CBE3}"/>
    <dgm:cxn modelId="{692449A2-C99F-4A35-A386-2451C8E79D4D}" srcId="{A12205B3-14AE-454A-9DFB-B89FEFAF994F}" destId="{73D24F58-7B7A-48ED-9AAD-3CE1248C21F9}" srcOrd="2" destOrd="0" parTransId="{EA934BA2-A38A-4A82-903E-A2E657ACC8DE}" sibTransId="{89CA7043-6765-41E1-8F82-17875AF272E6}"/>
    <dgm:cxn modelId="{E76C9EA6-42D8-4533-8F00-1D7593A00C5A}" type="presOf" srcId="{F569756E-35F0-46BC-A6BB-7062C2005C75}" destId="{A7BA4CA4-CB83-45D1-BA26-CBABFEE6E809}" srcOrd="0" destOrd="0" presId="urn:microsoft.com/office/officeart/2005/8/layout/vList3"/>
    <dgm:cxn modelId="{7BDE48B7-A950-4F9C-8654-63478CB38363}" type="presOf" srcId="{ED809601-EC42-4966-B7CC-83AE268280D9}" destId="{75F3E704-4E75-484B-9089-D7BE913FC0F6}" srcOrd="0" destOrd="0" presId="urn:microsoft.com/office/officeart/2005/8/layout/vList3"/>
    <dgm:cxn modelId="{B103ECBB-0BE5-4686-B25C-FE85229C8B42}" srcId="{A12205B3-14AE-454A-9DFB-B89FEFAF994F}" destId="{1643C58C-C321-4710-8A52-1E08C8953908}" srcOrd="4" destOrd="0" parTransId="{0F343D49-B098-46C4-A0BB-A7EF115D0A8B}" sibTransId="{EC3F1B67-3E50-4D8E-89B0-2AB3483EBBB3}"/>
    <dgm:cxn modelId="{06BE99BF-1E4B-4ADB-9123-EB65C8B144C9}" srcId="{A12205B3-14AE-454A-9DFB-B89FEFAF994F}" destId="{F569756E-35F0-46BC-A6BB-7062C2005C75}" srcOrd="3" destOrd="0" parTransId="{AC333C5E-0C65-40D0-A75C-525986035FA9}" sibTransId="{B671A06B-AFA2-4976-A545-D820DFB0658C}"/>
    <dgm:cxn modelId="{1EE052C3-4FE9-4FBE-BF30-1122A2F547D9}" type="presOf" srcId="{F42759FC-71E2-4376-998A-C19D74D50145}" destId="{5923E68A-7B4F-49AE-85A1-4BE494C10151}" srcOrd="0" destOrd="0" presId="urn:microsoft.com/office/officeart/2005/8/layout/vList3"/>
    <dgm:cxn modelId="{B3ED4B64-64B4-491B-908D-91B555EBA75A}" type="presParOf" srcId="{57A78C12-FB8A-4A88-8778-B2F3E7A98498}" destId="{5FB1C1CC-F706-4DB7-BEC9-968BBC3296EB}" srcOrd="0" destOrd="0" presId="urn:microsoft.com/office/officeart/2005/8/layout/vList3"/>
    <dgm:cxn modelId="{AA56DEB4-E615-433C-BD83-A77941409812}" type="presParOf" srcId="{5FB1C1CC-F706-4DB7-BEC9-968BBC3296EB}" destId="{13289350-2592-4329-A9F3-5D471ED095DF}" srcOrd="0" destOrd="0" presId="urn:microsoft.com/office/officeart/2005/8/layout/vList3"/>
    <dgm:cxn modelId="{DBEFF3C9-1F15-418F-9028-97E357831B6A}" type="presParOf" srcId="{5FB1C1CC-F706-4DB7-BEC9-968BBC3296EB}" destId="{5923E68A-7B4F-49AE-85A1-4BE494C10151}" srcOrd="1" destOrd="0" presId="urn:microsoft.com/office/officeart/2005/8/layout/vList3"/>
    <dgm:cxn modelId="{DE436326-5217-4CA4-B6B0-D9DA522050F5}" type="presParOf" srcId="{57A78C12-FB8A-4A88-8778-B2F3E7A98498}" destId="{B6FCA7FD-06D4-48A5-9AF0-4E21BDC463D8}" srcOrd="1" destOrd="0" presId="urn:microsoft.com/office/officeart/2005/8/layout/vList3"/>
    <dgm:cxn modelId="{1E68DEBE-73EB-4A34-998F-4429E734AB15}" type="presParOf" srcId="{57A78C12-FB8A-4A88-8778-B2F3E7A98498}" destId="{55E6711A-7769-4927-BEA7-BB0531CAD093}" srcOrd="2" destOrd="0" presId="urn:microsoft.com/office/officeart/2005/8/layout/vList3"/>
    <dgm:cxn modelId="{358BFFDB-FD48-465D-9893-B0F01EEB6974}" type="presParOf" srcId="{55E6711A-7769-4927-BEA7-BB0531CAD093}" destId="{90318AE3-7E66-4CC2-B500-BFBF7AAEBB5D}" srcOrd="0" destOrd="0" presId="urn:microsoft.com/office/officeart/2005/8/layout/vList3"/>
    <dgm:cxn modelId="{847988D9-72CE-4A0F-9036-B873CA08B92B}" type="presParOf" srcId="{55E6711A-7769-4927-BEA7-BB0531CAD093}" destId="{A6514698-6CD4-4506-AE12-1CA1A6A95C86}" srcOrd="1" destOrd="0" presId="urn:microsoft.com/office/officeart/2005/8/layout/vList3"/>
    <dgm:cxn modelId="{042B7DFF-2BC6-46D3-B5BA-EE6670BA1C57}" type="presParOf" srcId="{57A78C12-FB8A-4A88-8778-B2F3E7A98498}" destId="{0FB6DA8E-AD1C-4E55-8F8C-87E229A33A1D}" srcOrd="3" destOrd="0" presId="urn:microsoft.com/office/officeart/2005/8/layout/vList3"/>
    <dgm:cxn modelId="{994DFADC-D22E-4763-B38C-3FE670668BDE}" type="presParOf" srcId="{57A78C12-FB8A-4A88-8778-B2F3E7A98498}" destId="{215C1553-EBDC-419A-8A06-81FE9604395F}" srcOrd="4" destOrd="0" presId="urn:microsoft.com/office/officeart/2005/8/layout/vList3"/>
    <dgm:cxn modelId="{17392759-F8F8-47CF-AA0D-D67F0077219F}" type="presParOf" srcId="{215C1553-EBDC-419A-8A06-81FE9604395F}" destId="{5354FB36-9309-4DE7-B7C6-1B1B41663645}" srcOrd="0" destOrd="0" presId="urn:microsoft.com/office/officeart/2005/8/layout/vList3"/>
    <dgm:cxn modelId="{A81B1A23-533A-4FBE-8AC2-5A986610D184}" type="presParOf" srcId="{215C1553-EBDC-419A-8A06-81FE9604395F}" destId="{0566B5D7-98FC-4DB8-8B1B-7B6F815FBAD7}" srcOrd="1" destOrd="0" presId="urn:microsoft.com/office/officeart/2005/8/layout/vList3"/>
    <dgm:cxn modelId="{23824512-3CC6-4AD3-A7BA-E851773D4ABF}" type="presParOf" srcId="{57A78C12-FB8A-4A88-8778-B2F3E7A98498}" destId="{49FF90B9-6841-4288-9356-A025D84EA17F}" srcOrd="5" destOrd="0" presId="urn:microsoft.com/office/officeart/2005/8/layout/vList3"/>
    <dgm:cxn modelId="{0F3C154D-BBA8-426D-AD10-442656D8D188}" type="presParOf" srcId="{57A78C12-FB8A-4A88-8778-B2F3E7A98498}" destId="{4F55B9F8-79C1-458E-9215-FC5A5655338B}" srcOrd="6" destOrd="0" presId="urn:microsoft.com/office/officeart/2005/8/layout/vList3"/>
    <dgm:cxn modelId="{1C96173D-3636-486D-AF51-C4CEBBD61242}" type="presParOf" srcId="{4F55B9F8-79C1-458E-9215-FC5A5655338B}" destId="{F97C736C-F0C5-4F7F-8367-81FE22A6E8A3}" srcOrd="0" destOrd="0" presId="urn:microsoft.com/office/officeart/2005/8/layout/vList3"/>
    <dgm:cxn modelId="{FB023EFF-4C01-499A-9676-B56E48B01B15}" type="presParOf" srcId="{4F55B9F8-79C1-458E-9215-FC5A5655338B}" destId="{A7BA4CA4-CB83-45D1-BA26-CBABFEE6E809}" srcOrd="1" destOrd="0" presId="urn:microsoft.com/office/officeart/2005/8/layout/vList3"/>
    <dgm:cxn modelId="{A58A05EC-C3FD-4DC4-A7B5-42B4080CF105}" type="presParOf" srcId="{57A78C12-FB8A-4A88-8778-B2F3E7A98498}" destId="{99E8557B-86B6-4F7B-BC2A-4822A74B39DA}" srcOrd="7" destOrd="0" presId="urn:microsoft.com/office/officeart/2005/8/layout/vList3"/>
    <dgm:cxn modelId="{A47854D9-6E0A-4178-A814-F46C994F74D0}" type="presParOf" srcId="{57A78C12-FB8A-4A88-8778-B2F3E7A98498}" destId="{2D469F4A-732E-44FE-88E3-B8A7798AB922}" srcOrd="8" destOrd="0" presId="urn:microsoft.com/office/officeart/2005/8/layout/vList3"/>
    <dgm:cxn modelId="{6397C6CE-CC2F-41FD-AB8B-6FBD42662E33}" type="presParOf" srcId="{2D469F4A-732E-44FE-88E3-B8A7798AB922}" destId="{E084E869-7746-45AA-A87E-92E3B1EB78A0}" srcOrd="0" destOrd="0" presId="urn:microsoft.com/office/officeart/2005/8/layout/vList3"/>
    <dgm:cxn modelId="{8447ACDF-DF28-40B9-A46A-743ED2B35ED7}" type="presParOf" srcId="{2D469F4A-732E-44FE-88E3-B8A7798AB922}" destId="{0AA8237C-F9CB-4362-BFA9-41E49531DBEE}" srcOrd="1" destOrd="0" presId="urn:microsoft.com/office/officeart/2005/8/layout/vList3"/>
    <dgm:cxn modelId="{7D02799E-1346-4AA3-9BE2-622326BD0BB3}" type="presParOf" srcId="{57A78C12-FB8A-4A88-8778-B2F3E7A98498}" destId="{963DA3A2-0C1C-4A92-8FA8-D2FEB58D40DE}" srcOrd="9" destOrd="0" presId="urn:microsoft.com/office/officeart/2005/8/layout/vList3"/>
    <dgm:cxn modelId="{BC4465DE-C45C-459A-837E-678774412EEA}" type="presParOf" srcId="{57A78C12-FB8A-4A88-8778-B2F3E7A98498}" destId="{356ADCCE-F360-46C7-98AC-DCBB3BC545AD}" srcOrd="10" destOrd="0" presId="urn:microsoft.com/office/officeart/2005/8/layout/vList3"/>
    <dgm:cxn modelId="{66A593F3-8E00-4027-9F49-17C472A295AA}" type="presParOf" srcId="{356ADCCE-F360-46C7-98AC-DCBB3BC545AD}" destId="{2866615D-2676-453A-8759-C7D14E5DB558}" srcOrd="0" destOrd="0" presId="urn:microsoft.com/office/officeart/2005/8/layout/vList3"/>
    <dgm:cxn modelId="{96027868-D67D-4AB8-90FB-0BFA6F6F0098}" type="presParOf" srcId="{356ADCCE-F360-46C7-98AC-DCBB3BC545AD}" destId="{75F3E704-4E75-484B-9089-D7BE913FC0F6}" srcOrd="1" destOrd="0" presId="urn:microsoft.com/office/officeart/2005/8/layout/vList3"/>
    <dgm:cxn modelId="{C3E7BAE0-F5E7-4A70-B05C-CA7D496A571D}" type="presParOf" srcId="{57A78C12-FB8A-4A88-8778-B2F3E7A98498}" destId="{368C0831-49C0-4E95-BBED-93C450609C68}" srcOrd="11" destOrd="0" presId="urn:microsoft.com/office/officeart/2005/8/layout/vList3"/>
    <dgm:cxn modelId="{825EA0AE-89FD-44B4-9A75-2E7542037B7B}" type="presParOf" srcId="{57A78C12-FB8A-4A88-8778-B2F3E7A98498}" destId="{5D16F3D5-A543-4C3D-830F-CA794F1464F3}" srcOrd="12" destOrd="0" presId="urn:microsoft.com/office/officeart/2005/8/layout/vList3"/>
    <dgm:cxn modelId="{9ECA889F-2699-4F70-868E-54B16895C6B1}" type="presParOf" srcId="{5D16F3D5-A543-4C3D-830F-CA794F1464F3}" destId="{7997477C-AB3F-4102-810D-AB4926ECBE17}" srcOrd="0" destOrd="0" presId="urn:microsoft.com/office/officeart/2005/8/layout/vList3"/>
    <dgm:cxn modelId="{42895221-B018-4818-8F6C-9D1629B0A84A}" type="presParOf" srcId="{5D16F3D5-A543-4C3D-830F-CA794F1464F3}" destId="{ACBCF323-59B8-4DA9-8696-1C481F11716C}"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BC8150-D73C-4875-AA7B-6F831E28F9B5}" type="doc">
      <dgm:prSet loTypeId="urn:microsoft.com/office/officeart/2005/8/layout/hierarchy2" loCatId="hierarchy" qsTypeId="urn:microsoft.com/office/officeart/2005/8/quickstyle/simple2" qsCatId="simple" csTypeId="urn:microsoft.com/office/officeart/2005/8/colors/accent0_1" csCatId="mainScheme" phldr="1"/>
      <dgm:spPr/>
      <dgm:t>
        <a:bodyPr/>
        <a:lstStyle/>
        <a:p>
          <a:endParaRPr lang="en-US"/>
        </a:p>
      </dgm:t>
    </dgm:pt>
    <dgm:pt modelId="{6924EE7B-E2E4-471E-BA31-6A096EC7CC08}">
      <dgm:prSet phldrT="[Text]" custT="1"/>
      <dgm:spPr/>
      <dgm:t>
        <a:bodyPr/>
        <a:lstStyle/>
        <a:p>
          <a:r>
            <a:rPr lang="en-US" sz="3400" b="1" dirty="0">
              <a:latin typeface="Avenir Next LT Pro" panose="020B0504020202020204" pitchFamily="34" charset="0"/>
            </a:rPr>
            <a:t>WELL COST</a:t>
          </a:r>
        </a:p>
      </dgm:t>
    </dgm:pt>
    <dgm:pt modelId="{A77910E6-F11E-48FC-A36E-983972D33CD8}" type="parTrans" cxnId="{342193BD-9381-4433-ABB8-5E36768CE39C}">
      <dgm:prSet/>
      <dgm:spPr/>
      <dgm:t>
        <a:bodyPr/>
        <a:lstStyle/>
        <a:p>
          <a:endParaRPr lang="en-US">
            <a:latin typeface="Avenir Next LT Pro" panose="020B0504020202020204" pitchFamily="34" charset="0"/>
          </a:endParaRPr>
        </a:p>
      </dgm:t>
    </dgm:pt>
    <dgm:pt modelId="{B6B4C7EE-E64F-4E3E-825F-77C52DEA6CD4}" type="sibTrans" cxnId="{342193BD-9381-4433-ABB8-5E36768CE39C}">
      <dgm:prSet/>
      <dgm:spPr/>
      <dgm:t>
        <a:bodyPr/>
        <a:lstStyle/>
        <a:p>
          <a:endParaRPr lang="en-US">
            <a:latin typeface="Avenir Next LT Pro" panose="020B0504020202020204" pitchFamily="34" charset="0"/>
          </a:endParaRPr>
        </a:p>
      </dgm:t>
    </dgm:pt>
    <dgm:pt modelId="{F4545D87-B589-42D2-93BB-4018155620A5}">
      <dgm:prSet phldrT="[Text]" custT="1"/>
      <dgm:spPr>
        <a:solidFill>
          <a:schemeClr val="tx1">
            <a:lumMod val="50000"/>
            <a:lumOff val="50000"/>
          </a:schemeClr>
        </a:solidFill>
      </dgm:spPr>
      <dgm:t>
        <a:bodyPr/>
        <a:lstStyle/>
        <a:p>
          <a:r>
            <a:rPr lang="en-US" sz="3200" b="1" dirty="0">
              <a:solidFill>
                <a:schemeClr val="bg1"/>
              </a:solidFill>
              <a:latin typeface="Avenir Next LT Pro" panose="020B0504020202020204" pitchFamily="34" charset="0"/>
            </a:rPr>
            <a:t>Drilling Cost</a:t>
          </a:r>
        </a:p>
      </dgm:t>
    </dgm:pt>
    <dgm:pt modelId="{5514C451-54D7-449C-BE7A-BAE23851F7CE}" type="parTrans" cxnId="{CBD95514-0ED5-4B53-8CC8-BA2C3B9F0DA3}">
      <dgm:prSet/>
      <dgm:spPr/>
      <dgm:t>
        <a:bodyPr/>
        <a:lstStyle/>
        <a:p>
          <a:endParaRPr lang="en-US">
            <a:latin typeface="Avenir Next LT Pro" panose="020B0504020202020204" pitchFamily="34" charset="0"/>
          </a:endParaRPr>
        </a:p>
      </dgm:t>
    </dgm:pt>
    <dgm:pt modelId="{72298E28-F0EC-4412-BA04-B9B273EA42BD}" type="sibTrans" cxnId="{CBD95514-0ED5-4B53-8CC8-BA2C3B9F0DA3}">
      <dgm:prSet/>
      <dgm:spPr/>
      <dgm:t>
        <a:bodyPr/>
        <a:lstStyle/>
        <a:p>
          <a:endParaRPr lang="en-US">
            <a:latin typeface="Avenir Next LT Pro" panose="020B0504020202020204" pitchFamily="34" charset="0"/>
          </a:endParaRPr>
        </a:p>
      </dgm:t>
    </dgm:pt>
    <dgm:pt modelId="{EF37A533-32B4-47DB-8BE5-022BFD3C8C9D}">
      <dgm:prSet phldrT="[Text]" custT="1"/>
      <dgm:spPr/>
      <dgm:t>
        <a:bodyPr/>
        <a:lstStyle/>
        <a:p>
          <a:r>
            <a:rPr lang="en-US" sz="2400" i="1" dirty="0">
              <a:latin typeface="Avenir Next LT Pro" panose="020B0504020202020204" pitchFamily="34" charset="0"/>
            </a:rPr>
            <a:t>Infrastructure, Well pad construction, Explosive, Permit, Post Drilling, Hook up</a:t>
          </a:r>
        </a:p>
      </dgm:t>
    </dgm:pt>
    <dgm:pt modelId="{6287F365-7314-421E-B8AF-492B1E493039}" type="parTrans" cxnId="{12F59B04-E106-4D67-AF7C-BE0461867832}">
      <dgm:prSet/>
      <dgm:spPr/>
      <dgm:t>
        <a:bodyPr/>
        <a:lstStyle/>
        <a:p>
          <a:endParaRPr lang="en-US">
            <a:latin typeface="Avenir Next LT Pro" panose="020B0504020202020204" pitchFamily="34" charset="0"/>
          </a:endParaRPr>
        </a:p>
      </dgm:t>
    </dgm:pt>
    <dgm:pt modelId="{2945847D-2DF7-4837-A357-94706A8233D6}" type="sibTrans" cxnId="{12F59B04-E106-4D67-AF7C-BE0461867832}">
      <dgm:prSet/>
      <dgm:spPr/>
      <dgm:t>
        <a:bodyPr/>
        <a:lstStyle/>
        <a:p>
          <a:endParaRPr lang="en-US">
            <a:latin typeface="Avenir Next LT Pro" panose="020B0504020202020204" pitchFamily="34" charset="0"/>
          </a:endParaRPr>
        </a:p>
      </dgm:t>
    </dgm:pt>
    <dgm:pt modelId="{F0CE96A1-B785-4530-9414-B028F72695ED}">
      <dgm:prSet phldrT="[Text]" custT="1"/>
      <dgm:spPr/>
      <dgm:t>
        <a:bodyPr/>
        <a:lstStyle/>
        <a:p>
          <a:r>
            <a:rPr lang="en-US" sz="2400" dirty="0">
              <a:latin typeface="Avenir Next LT Pro" panose="020B0504020202020204" pitchFamily="34" charset="0"/>
            </a:rPr>
            <a:t>Supporting cost (</a:t>
          </a:r>
          <a:r>
            <a:rPr lang="en-US" sz="2400" i="1" dirty="0">
              <a:latin typeface="Avenir Next LT Pro" panose="020B0504020202020204" pitchFamily="34" charset="0"/>
            </a:rPr>
            <a:t>overhead</a:t>
          </a:r>
          <a:r>
            <a:rPr lang="en-US" sz="2400" dirty="0">
              <a:latin typeface="Avenir Next LT Pro" panose="020B0504020202020204" pitchFamily="34" charset="0"/>
            </a:rPr>
            <a:t>)</a:t>
          </a:r>
        </a:p>
      </dgm:t>
    </dgm:pt>
    <dgm:pt modelId="{D47468CB-76CB-4A3E-AEFA-E65C543D2CA0}" type="parTrans" cxnId="{2F989BC6-BFFA-4E6E-BAE3-C8C5BC321235}">
      <dgm:prSet/>
      <dgm:spPr/>
      <dgm:t>
        <a:bodyPr/>
        <a:lstStyle/>
        <a:p>
          <a:endParaRPr lang="en-US">
            <a:latin typeface="Avenir Next LT Pro" panose="020B0504020202020204" pitchFamily="34" charset="0"/>
          </a:endParaRPr>
        </a:p>
      </dgm:t>
    </dgm:pt>
    <dgm:pt modelId="{2054535C-53C5-4054-8D33-10149DBD9967}" type="sibTrans" cxnId="{2F989BC6-BFFA-4E6E-BAE3-C8C5BC321235}">
      <dgm:prSet/>
      <dgm:spPr/>
      <dgm:t>
        <a:bodyPr/>
        <a:lstStyle/>
        <a:p>
          <a:endParaRPr lang="en-US">
            <a:latin typeface="Avenir Next LT Pro" panose="020B0504020202020204" pitchFamily="34" charset="0"/>
          </a:endParaRPr>
        </a:p>
      </dgm:t>
    </dgm:pt>
    <dgm:pt modelId="{D55BBAA2-DC4F-44B7-AA1D-248CCFAAD1FA}">
      <dgm:prSet phldrT="[Text]" custT="1"/>
      <dgm:spPr/>
      <dgm:t>
        <a:bodyPr/>
        <a:lstStyle/>
        <a:p>
          <a:r>
            <a:rPr lang="en-US" sz="2400" dirty="0">
              <a:latin typeface="Avenir Next LT Pro" panose="020B0504020202020204" pitchFamily="34" charset="0"/>
            </a:rPr>
            <a:t>Well test</a:t>
          </a:r>
        </a:p>
      </dgm:t>
    </dgm:pt>
    <dgm:pt modelId="{F55FB4C4-B8DE-4DC0-8E2C-BE00179F7526}" type="parTrans" cxnId="{2130F665-FF14-4DBB-8A76-46B7A13E09AD}">
      <dgm:prSet/>
      <dgm:spPr/>
      <dgm:t>
        <a:bodyPr/>
        <a:lstStyle/>
        <a:p>
          <a:endParaRPr lang="en-US">
            <a:latin typeface="Avenir Next LT Pro" panose="020B0504020202020204" pitchFamily="34" charset="0"/>
          </a:endParaRPr>
        </a:p>
      </dgm:t>
    </dgm:pt>
    <dgm:pt modelId="{80FD0882-9764-4A72-B0F6-4B87BDFF98D1}" type="sibTrans" cxnId="{2130F665-FF14-4DBB-8A76-46B7A13E09AD}">
      <dgm:prSet/>
      <dgm:spPr/>
      <dgm:t>
        <a:bodyPr/>
        <a:lstStyle/>
        <a:p>
          <a:endParaRPr lang="en-US">
            <a:latin typeface="Avenir Next LT Pro" panose="020B0504020202020204" pitchFamily="34" charset="0"/>
          </a:endParaRPr>
        </a:p>
      </dgm:t>
    </dgm:pt>
    <dgm:pt modelId="{EA52B2BC-1528-46F2-A86D-CFC969E7D6F5}" type="pres">
      <dgm:prSet presAssocID="{7DBC8150-D73C-4875-AA7B-6F831E28F9B5}" presName="diagram" presStyleCnt="0">
        <dgm:presLayoutVars>
          <dgm:chPref val="1"/>
          <dgm:dir/>
          <dgm:animOne val="branch"/>
          <dgm:animLvl val="lvl"/>
          <dgm:resizeHandles val="exact"/>
        </dgm:presLayoutVars>
      </dgm:prSet>
      <dgm:spPr/>
    </dgm:pt>
    <dgm:pt modelId="{2DFB8E5B-6147-41A1-AA1A-8C7BE09A2270}" type="pres">
      <dgm:prSet presAssocID="{6924EE7B-E2E4-471E-BA31-6A096EC7CC08}" presName="root1" presStyleCnt="0"/>
      <dgm:spPr/>
    </dgm:pt>
    <dgm:pt modelId="{5C4E39C6-065E-4C99-9AC2-567A731D5D59}" type="pres">
      <dgm:prSet presAssocID="{6924EE7B-E2E4-471E-BA31-6A096EC7CC08}" presName="LevelOneTextNode" presStyleLbl="node0" presStyleIdx="0" presStyleCnt="1" custScaleX="88128">
        <dgm:presLayoutVars>
          <dgm:chPref val="3"/>
        </dgm:presLayoutVars>
      </dgm:prSet>
      <dgm:spPr/>
    </dgm:pt>
    <dgm:pt modelId="{6CF4F4E9-5B85-4707-AFD5-5A8BBD9FDC4F}" type="pres">
      <dgm:prSet presAssocID="{6924EE7B-E2E4-471E-BA31-6A096EC7CC08}" presName="level2hierChild" presStyleCnt="0"/>
      <dgm:spPr/>
    </dgm:pt>
    <dgm:pt modelId="{0B280DB8-6B4A-479E-8211-7C9BE50B96A5}" type="pres">
      <dgm:prSet presAssocID="{5514C451-54D7-449C-BE7A-BAE23851F7CE}" presName="conn2-1" presStyleLbl="parChTrans1D2" presStyleIdx="0" presStyleCnt="4"/>
      <dgm:spPr/>
    </dgm:pt>
    <dgm:pt modelId="{61F6F2F8-FCC4-44BF-BED2-5487A8328FBC}" type="pres">
      <dgm:prSet presAssocID="{5514C451-54D7-449C-BE7A-BAE23851F7CE}" presName="connTx" presStyleLbl="parChTrans1D2" presStyleIdx="0" presStyleCnt="4"/>
      <dgm:spPr/>
    </dgm:pt>
    <dgm:pt modelId="{50C97CD5-E8DA-4C2E-B68A-D389AB7BD371}" type="pres">
      <dgm:prSet presAssocID="{F4545D87-B589-42D2-93BB-4018155620A5}" presName="root2" presStyleCnt="0"/>
      <dgm:spPr/>
    </dgm:pt>
    <dgm:pt modelId="{DFC761C9-BCAE-42C0-8D6B-071EFE4285AC}" type="pres">
      <dgm:prSet presAssocID="{F4545D87-B589-42D2-93BB-4018155620A5}" presName="LevelTwoTextNode" presStyleLbl="node2" presStyleIdx="0" presStyleCnt="4" custScaleX="131586" custScaleY="103012">
        <dgm:presLayoutVars>
          <dgm:chPref val="3"/>
        </dgm:presLayoutVars>
      </dgm:prSet>
      <dgm:spPr/>
    </dgm:pt>
    <dgm:pt modelId="{97508783-91F8-408A-8FBC-051D1BB7F4CB}" type="pres">
      <dgm:prSet presAssocID="{F4545D87-B589-42D2-93BB-4018155620A5}" presName="level3hierChild" presStyleCnt="0"/>
      <dgm:spPr/>
    </dgm:pt>
    <dgm:pt modelId="{28D824FA-2DBD-44F0-8B5C-C98FF6FD0123}" type="pres">
      <dgm:prSet presAssocID="{6287F365-7314-421E-B8AF-492B1E493039}" presName="conn2-1" presStyleLbl="parChTrans1D2" presStyleIdx="1" presStyleCnt="4"/>
      <dgm:spPr/>
    </dgm:pt>
    <dgm:pt modelId="{2207AA34-3610-4BDA-982B-6D8D2861EF62}" type="pres">
      <dgm:prSet presAssocID="{6287F365-7314-421E-B8AF-492B1E493039}" presName="connTx" presStyleLbl="parChTrans1D2" presStyleIdx="1" presStyleCnt="4"/>
      <dgm:spPr/>
    </dgm:pt>
    <dgm:pt modelId="{5DDA07F1-A21A-45F3-AF79-624F3E16EB96}" type="pres">
      <dgm:prSet presAssocID="{EF37A533-32B4-47DB-8BE5-022BFD3C8C9D}" presName="root2" presStyleCnt="0"/>
      <dgm:spPr/>
    </dgm:pt>
    <dgm:pt modelId="{B0A1AE98-042C-49FF-B92D-0C30CFCC9A2C}" type="pres">
      <dgm:prSet presAssocID="{EF37A533-32B4-47DB-8BE5-022BFD3C8C9D}" presName="LevelTwoTextNode" presStyleLbl="node2" presStyleIdx="1" presStyleCnt="4" custScaleX="131586" custScaleY="177760">
        <dgm:presLayoutVars>
          <dgm:chPref val="3"/>
        </dgm:presLayoutVars>
      </dgm:prSet>
      <dgm:spPr/>
    </dgm:pt>
    <dgm:pt modelId="{9A5F2A42-9E85-48DD-8AC3-E55DA025AF07}" type="pres">
      <dgm:prSet presAssocID="{EF37A533-32B4-47DB-8BE5-022BFD3C8C9D}" presName="level3hierChild" presStyleCnt="0"/>
      <dgm:spPr/>
    </dgm:pt>
    <dgm:pt modelId="{660BD6D7-B3C6-4557-9A96-6B0192345F05}" type="pres">
      <dgm:prSet presAssocID="{D47468CB-76CB-4A3E-AEFA-E65C543D2CA0}" presName="conn2-1" presStyleLbl="parChTrans1D2" presStyleIdx="2" presStyleCnt="4"/>
      <dgm:spPr/>
    </dgm:pt>
    <dgm:pt modelId="{CE742B03-887E-47A5-9B43-B462FA731E5D}" type="pres">
      <dgm:prSet presAssocID="{D47468CB-76CB-4A3E-AEFA-E65C543D2CA0}" presName="connTx" presStyleLbl="parChTrans1D2" presStyleIdx="2" presStyleCnt="4"/>
      <dgm:spPr/>
    </dgm:pt>
    <dgm:pt modelId="{9247FD2F-A060-458B-99C2-FA2AE704C442}" type="pres">
      <dgm:prSet presAssocID="{F0CE96A1-B785-4530-9414-B028F72695ED}" presName="root2" presStyleCnt="0"/>
      <dgm:spPr/>
    </dgm:pt>
    <dgm:pt modelId="{2D346C31-B313-4889-B06E-9DADE4739FEC}" type="pres">
      <dgm:prSet presAssocID="{F0CE96A1-B785-4530-9414-B028F72695ED}" presName="LevelTwoTextNode" presStyleLbl="node2" presStyleIdx="2" presStyleCnt="4" custScaleX="131586" custLinFactNeighborX="350" custLinFactNeighborY="7654">
        <dgm:presLayoutVars>
          <dgm:chPref val="3"/>
        </dgm:presLayoutVars>
      </dgm:prSet>
      <dgm:spPr/>
    </dgm:pt>
    <dgm:pt modelId="{8D241828-D87D-429B-9E57-F1AC1AB5ADD6}" type="pres">
      <dgm:prSet presAssocID="{F0CE96A1-B785-4530-9414-B028F72695ED}" presName="level3hierChild" presStyleCnt="0"/>
      <dgm:spPr/>
    </dgm:pt>
    <dgm:pt modelId="{FFED5DF9-822E-4D09-B131-A13B825FCCD1}" type="pres">
      <dgm:prSet presAssocID="{F55FB4C4-B8DE-4DC0-8E2C-BE00179F7526}" presName="conn2-1" presStyleLbl="parChTrans1D2" presStyleIdx="3" presStyleCnt="4"/>
      <dgm:spPr/>
    </dgm:pt>
    <dgm:pt modelId="{ACB0459D-B4A3-4129-BF51-23E67B093762}" type="pres">
      <dgm:prSet presAssocID="{F55FB4C4-B8DE-4DC0-8E2C-BE00179F7526}" presName="connTx" presStyleLbl="parChTrans1D2" presStyleIdx="3" presStyleCnt="4"/>
      <dgm:spPr/>
    </dgm:pt>
    <dgm:pt modelId="{36C87574-A81A-4CE9-957B-DFDE70324BBB}" type="pres">
      <dgm:prSet presAssocID="{D55BBAA2-DC4F-44B7-AA1D-248CCFAAD1FA}" presName="root2" presStyleCnt="0"/>
      <dgm:spPr/>
    </dgm:pt>
    <dgm:pt modelId="{827BE06A-4DE3-40DE-B8FD-B11F2C4ED6E1}" type="pres">
      <dgm:prSet presAssocID="{D55BBAA2-DC4F-44B7-AA1D-248CCFAAD1FA}" presName="LevelTwoTextNode" presStyleLbl="node2" presStyleIdx="3" presStyleCnt="4" custScaleX="131586" custScaleY="74492" custLinFactNeighborX="350" custLinFactNeighborY="38266">
        <dgm:presLayoutVars>
          <dgm:chPref val="3"/>
        </dgm:presLayoutVars>
      </dgm:prSet>
      <dgm:spPr/>
    </dgm:pt>
    <dgm:pt modelId="{C772B1DB-B819-4F8C-B828-F442FD1DBF70}" type="pres">
      <dgm:prSet presAssocID="{D55BBAA2-DC4F-44B7-AA1D-248CCFAAD1FA}" presName="level3hierChild" presStyleCnt="0"/>
      <dgm:spPr/>
    </dgm:pt>
  </dgm:ptLst>
  <dgm:cxnLst>
    <dgm:cxn modelId="{12F59B04-E106-4D67-AF7C-BE0461867832}" srcId="{6924EE7B-E2E4-471E-BA31-6A096EC7CC08}" destId="{EF37A533-32B4-47DB-8BE5-022BFD3C8C9D}" srcOrd="1" destOrd="0" parTransId="{6287F365-7314-421E-B8AF-492B1E493039}" sibTransId="{2945847D-2DF7-4837-A357-94706A8233D6}"/>
    <dgm:cxn modelId="{119DBD09-E11E-4E90-B499-711801CB8A10}" type="presOf" srcId="{7DBC8150-D73C-4875-AA7B-6F831E28F9B5}" destId="{EA52B2BC-1528-46F2-A86D-CFC969E7D6F5}" srcOrd="0" destOrd="0" presId="urn:microsoft.com/office/officeart/2005/8/layout/hierarchy2"/>
    <dgm:cxn modelId="{CBD95514-0ED5-4B53-8CC8-BA2C3B9F0DA3}" srcId="{6924EE7B-E2E4-471E-BA31-6A096EC7CC08}" destId="{F4545D87-B589-42D2-93BB-4018155620A5}" srcOrd="0" destOrd="0" parTransId="{5514C451-54D7-449C-BE7A-BAE23851F7CE}" sibTransId="{72298E28-F0EC-4412-BA04-B9B273EA42BD}"/>
    <dgm:cxn modelId="{545A501B-83A0-467E-96D9-05E39BDAEF7E}" type="presOf" srcId="{F4545D87-B589-42D2-93BB-4018155620A5}" destId="{DFC761C9-BCAE-42C0-8D6B-071EFE4285AC}" srcOrd="0" destOrd="0" presId="urn:microsoft.com/office/officeart/2005/8/layout/hierarchy2"/>
    <dgm:cxn modelId="{0FE5C21D-DC3E-4ACC-A22E-C1A8E935501D}" type="presOf" srcId="{D47468CB-76CB-4A3E-AEFA-E65C543D2CA0}" destId="{660BD6D7-B3C6-4557-9A96-6B0192345F05}" srcOrd="0" destOrd="0" presId="urn:microsoft.com/office/officeart/2005/8/layout/hierarchy2"/>
    <dgm:cxn modelId="{BC80DE25-9868-4F60-B887-39EC7023A81B}" type="presOf" srcId="{6924EE7B-E2E4-471E-BA31-6A096EC7CC08}" destId="{5C4E39C6-065E-4C99-9AC2-567A731D5D59}" srcOrd="0" destOrd="0" presId="urn:microsoft.com/office/officeart/2005/8/layout/hierarchy2"/>
    <dgm:cxn modelId="{C3F3B627-0553-42AA-9CFA-0E789E93AF01}" type="presOf" srcId="{6287F365-7314-421E-B8AF-492B1E493039}" destId="{28D824FA-2DBD-44F0-8B5C-C98FF6FD0123}" srcOrd="0" destOrd="0" presId="urn:microsoft.com/office/officeart/2005/8/layout/hierarchy2"/>
    <dgm:cxn modelId="{EB163528-7D6D-4279-AA7C-D2E64BC2CFA2}" type="presOf" srcId="{D47468CB-76CB-4A3E-AEFA-E65C543D2CA0}" destId="{CE742B03-887E-47A5-9B43-B462FA731E5D}" srcOrd="1" destOrd="0" presId="urn:microsoft.com/office/officeart/2005/8/layout/hierarchy2"/>
    <dgm:cxn modelId="{9D8F575C-7D26-492E-8398-ABA0F6500F34}" type="presOf" srcId="{D55BBAA2-DC4F-44B7-AA1D-248CCFAAD1FA}" destId="{827BE06A-4DE3-40DE-B8FD-B11F2C4ED6E1}" srcOrd="0" destOrd="0" presId="urn:microsoft.com/office/officeart/2005/8/layout/hierarchy2"/>
    <dgm:cxn modelId="{2130F665-FF14-4DBB-8A76-46B7A13E09AD}" srcId="{6924EE7B-E2E4-471E-BA31-6A096EC7CC08}" destId="{D55BBAA2-DC4F-44B7-AA1D-248CCFAAD1FA}" srcOrd="3" destOrd="0" parTransId="{F55FB4C4-B8DE-4DC0-8E2C-BE00179F7526}" sibTransId="{80FD0882-9764-4A72-B0F6-4B87BDFF98D1}"/>
    <dgm:cxn modelId="{BB867749-135E-425D-ADA6-FCB03A92C13A}" type="presOf" srcId="{F0CE96A1-B785-4530-9414-B028F72695ED}" destId="{2D346C31-B313-4889-B06E-9DADE4739FEC}" srcOrd="0" destOrd="0" presId="urn:microsoft.com/office/officeart/2005/8/layout/hierarchy2"/>
    <dgm:cxn modelId="{19C62173-EBF6-4474-AC0C-D9B396408370}" type="presOf" srcId="{EF37A533-32B4-47DB-8BE5-022BFD3C8C9D}" destId="{B0A1AE98-042C-49FF-B92D-0C30CFCC9A2C}" srcOrd="0" destOrd="0" presId="urn:microsoft.com/office/officeart/2005/8/layout/hierarchy2"/>
    <dgm:cxn modelId="{96618C79-57E2-4C0B-90CF-9A410962B4A5}" type="presOf" srcId="{5514C451-54D7-449C-BE7A-BAE23851F7CE}" destId="{61F6F2F8-FCC4-44BF-BED2-5487A8328FBC}" srcOrd="1" destOrd="0" presId="urn:microsoft.com/office/officeart/2005/8/layout/hierarchy2"/>
    <dgm:cxn modelId="{99D8CC80-8201-4695-8C0F-841EE63C6F98}" type="presOf" srcId="{6287F365-7314-421E-B8AF-492B1E493039}" destId="{2207AA34-3610-4BDA-982B-6D8D2861EF62}" srcOrd="1" destOrd="0" presId="urn:microsoft.com/office/officeart/2005/8/layout/hierarchy2"/>
    <dgm:cxn modelId="{9A196F98-2C0C-4317-93A1-42A367D49DDC}" type="presOf" srcId="{F55FB4C4-B8DE-4DC0-8E2C-BE00179F7526}" destId="{ACB0459D-B4A3-4129-BF51-23E67B093762}" srcOrd="1" destOrd="0" presId="urn:microsoft.com/office/officeart/2005/8/layout/hierarchy2"/>
    <dgm:cxn modelId="{098E09AA-B65F-469A-9921-69D07A963F87}" type="presOf" srcId="{5514C451-54D7-449C-BE7A-BAE23851F7CE}" destId="{0B280DB8-6B4A-479E-8211-7C9BE50B96A5}" srcOrd="0" destOrd="0" presId="urn:microsoft.com/office/officeart/2005/8/layout/hierarchy2"/>
    <dgm:cxn modelId="{342193BD-9381-4433-ABB8-5E36768CE39C}" srcId="{7DBC8150-D73C-4875-AA7B-6F831E28F9B5}" destId="{6924EE7B-E2E4-471E-BA31-6A096EC7CC08}" srcOrd="0" destOrd="0" parTransId="{A77910E6-F11E-48FC-A36E-983972D33CD8}" sibTransId="{B6B4C7EE-E64F-4E3E-825F-77C52DEA6CD4}"/>
    <dgm:cxn modelId="{2F989BC6-BFFA-4E6E-BAE3-C8C5BC321235}" srcId="{6924EE7B-E2E4-471E-BA31-6A096EC7CC08}" destId="{F0CE96A1-B785-4530-9414-B028F72695ED}" srcOrd="2" destOrd="0" parTransId="{D47468CB-76CB-4A3E-AEFA-E65C543D2CA0}" sibTransId="{2054535C-53C5-4054-8D33-10149DBD9967}"/>
    <dgm:cxn modelId="{72B077CD-E84F-4AE1-999D-6E65F7DDFF32}" type="presOf" srcId="{F55FB4C4-B8DE-4DC0-8E2C-BE00179F7526}" destId="{FFED5DF9-822E-4D09-B131-A13B825FCCD1}" srcOrd="0" destOrd="0" presId="urn:microsoft.com/office/officeart/2005/8/layout/hierarchy2"/>
    <dgm:cxn modelId="{51E28D66-F7D2-427B-917B-7EF0D8EE0D85}" type="presParOf" srcId="{EA52B2BC-1528-46F2-A86D-CFC969E7D6F5}" destId="{2DFB8E5B-6147-41A1-AA1A-8C7BE09A2270}" srcOrd="0" destOrd="0" presId="urn:microsoft.com/office/officeart/2005/8/layout/hierarchy2"/>
    <dgm:cxn modelId="{6BB9ABED-A7FA-4A75-88BF-B8301908459C}" type="presParOf" srcId="{2DFB8E5B-6147-41A1-AA1A-8C7BE09A2270}" destId="{5C4E39C6-065E-4C99-9AC2-567A731D5D59}" srcOrd="0" destOrd="0" presId="urn:microsoft.com/office/officeart/2005/8/layout/hierarchy2"/>
    <dgm:cxn modelId="{547035EF-4A6A-49CD-82A7-93A4D7EAC670}" type="presParOf" srcId="{2DFB8E5B-6147-41A1-AA1A-8C7BE09A2270}" destId="{6CF4F4E9-5B85-4707-AFD5-5A8BBD9FDC4F}" srcOrd="1" destOrd="0" presId="urn:microsoft.com/office/officeart/2005/8/layout/hierarchy2"/>
    <dgm:cxn modelId="{D763473E-5B2C-481D-AB83-EABACEED8787}" type="presParOf" srcId="{6CF4F4E9-5B85-4707-AFD5-5A8BBD9FDC4F}" destId="{0B280DB8-6B4A-479E-8211-7C9BE50B96A5}" srcOrd="0" destOrd="0" presId="urn:microsoft.com/office/officeart/2005/8/layout/hierarchy2"/>
    <dgm:cxn modelId="{959CD2B8-BF0C-432C-B3FA-888A3995C645}" type="presParOf" srcId="{0B280DB8-6B4A-479E-8211-7C9BE50B96A5}" destId="{61F6F2F8-FCC4-44BF-BED2-5487A8328FBC}" srcOrd="0" destOrd="0" presId="urn:microsoft.com/office/officeart/2005/8/layout/hierarchy2"/>
    <dgm:cxn modelId="{23D79C4D-DB19-4E03-B1AA-174EC1457473}" type="presParOf" srcId="{6CF4F4E9-5B85-4707-AFD5-5A8BBD9FDC4F}" destId="{50C97CD5-E8DA-4C2E-B68A-D389AB7BD371}" srcOrd="1" destOrd="0" presId="urn:microsoft.com/office/officeart/2005/8/layout/hierarchy2"/>
    <dgm:cxn modelId="{67E0C65D-269B-4444-A4B3-E936682F124A}" type="presParOf" srcId="{50C97CD5-E8DA-4C2E-B68A-D389AB7BD371}" destId="{DFC761C9-BCAE-42C0-8D6B-071EFE4285AC}" srcOrd="0" destOrd="0" presId="urn:microsoft.com/office/officeart/2005/8/layout/hierarchy2"/>
    <dgm:cxn modelId="{A0E51375-0314-4419-A906-D5D9B0A44520}" type="presParOf" srcId="{50C97CD5-E8DA-4C2E-B68A-D389AB7BD371}" destId="{97508783-91F8-408A-8FBC-051D1BB7F4CB}" srcOrd="1" destOrd="0" presId="urn:microsoft.com/office/officeart/2005/8/layout/hierarchy2"/>
    <dgm:cxn modelId="{E050E4E6-6A88-4ADC-9062-DC5223963060}" type="presParOf" srcId="{6CF4F4E9-5B85-4707-AFD5-5A8BBD9FDC4F}" destId="{28D824FA-2DBD-44F0-8B5C-C98FF6FD0123}" srcOrd="2" destOrd="0" presId="urn:microsoft.com/office/officeart/2005/8/layout/hierarchy2"/>
    <dgm:cxn modelId="{E71DE8C9-0B77-48E5-8E1F-6CA374EC5ED0}" type="presParOf" srcId="{28D824FA-2DBD-44F0-8B5C-C98FF6FD0123}" destId="{2207AA34-3610-4BDA-982B-6D8D2861EF62}" srcOrd="0" destOrd="0" presId="urn:microsoft.com/office/officeart/2005/8/layout/hierarchy2"/>
    <dgm:cxn modelId="{DEE5A725-59C3-43E4-A7DC-4C937752D233}" type="presParOf" srcId="{6CF4F4E9-5B85-4707-AFD5-5A8BBD9FDC4F}" destId="{5DDA07F1-A21A-45F3-AF79-624F3E16EB96}" srcOrd="3" destOrd="0" presId="urn:microsoft.com/office/officeart/2005/8/layout/hierarchy2"/>
    <dgm:cxn modelId="{A339E141-5AC1-44E5-B4FE-DD8DAB00F25D}" type="presParOf" srcId="{5DDA07F1-A21A-45F3-AF79-624F3E16EB96}" destId="{B0A1AE98-042C-49FF-B92D-0C30CFCC9A2C}" srcOrd="0" destOrd="0" presId="urn:microsoft.com/office/officeart/2005/8/layout/hierarchy2"/>
    <dgm:cxn modelId="{E11BBB06-184B-48DB-B59C-075D30D567EF}" type="presParOf" srcId="{5DDA07F1-A21A-45F3-AF79-624F3E16EB96}" destId="{9A5F2A42-9E85-48DD-8AC3-E55DA025AF07}" srcOrd="1" destOrd="0" presId="urn:microsoft.com/office/officeart/2005/8/layout/hierarchy2"/>
    <dgm:cxn modelId="{49DA3E44-AC51-475F-BC63-899DB39A0DB3}" type="presParOf" srcId="{6CF4F4E9-5B85-4707-AFD5-5A8BBD9FDC4F}" destId="{660BD6D7-B3C6-4557-9A96-6B0192345F05}" srcOrd="4" destOrd="0" presId="urn:microsoft.com/office/officeart/2005/8/layout/hierarchy2"/>
    <dgm:cxn modelId="{B35E5720-9A72-44EB-A10C-ADBF9D39A93E}" type="presParOf" srcId="{660BD6D7-B3C6-4557-9A96-6B0192345F05}" destId="{CE742B03-887E-47A5-9B43-B462FA731E5D}" srcOrd="0" destOrd="0" presId="urn:microsoft.com/office/officeart/2005/8/layout/hierarchy2"/>
    <dgm:cxn modelId="{605DF8EE-C719-443D-960B-F55212AEFB03}" type="presParOf" srcId="{6CF4F4E9-5B85-4707-AFD5-5A8BBD9FDC4F}" destId="{9247FD2F-A060-458B-99C2-FA2AE704C442}" srcOrd="5" destOrd="0" presId="urn:microsoft.com/office/officeart/2005/8/layout/hierarchy2"/>
    <dgm:cxn modelId="{D955778F-ACE5-4C31-8513-143075CB2B80}" type="presParOf" srcId="{9247FD2F-A060-458B-99C2-FA2AE704C442}" destId="{2D346C31-B313-4889-B06E-9DADE4739FEC}" srcOrd="0" destOrd="0" presId="urn:microsoft.com/office/officeart/2005/8/layout/hierarchy2"/>
    <dgm:cxn modelId="{D0AD9418-DA02-4682-BF59-8CD8AC927358}" type="presParOf" srcId="{9247FD2F-A060-458B-99C2-FA2AE704C442}" destId="{8D241828-D87D-429B-9E57-F1AC1AB5ADD6}" srcOrd="1" destOrd="0" presId="urn:microsoft.com/office/officeart/2005/8/layout/hierarchy2"/>
    <dgm:cxn modelId="{E177530B-9157-4AF8-A4FE-4DCF96E7A382}" type="presParOf" srcId="{6CF4F4E9-5B85-4707-AFD5-5A8BBD9FDC4F}" destId="{FFED5DF9-822E-4D09-B131-A13B825FCCD1}" srcOrd="6" destOrd="0" presId="urn:microsoft.com/office/officeart/2005/8/layout/hierarchy2"/>
    <dgm:cxn modelId="{64E18C4F-1CAD-4AAE-AF0C-80BBFF4F399B}" type="presParOf" srcId="{FFED5DF9-822E-4D09-B131-A13B825FCCD1}" destId="{ACB0459D-B4A3-4129-BF51-23E67B093762}" srcOrd="0" destOrd="0" presId="urn:microsoft.com/office/officeart/2005/8/layout/hierarchy2"/>
    <dgm:cxn modelId="{F344346C-F105-4B72-9E66-1FF5D81E64F9}" type="presParOf" srcId="{6CF4F4E9-5B85-4707-AFD5-5A8BBD9FDC4F}" destId="{36C87574-A81A-4CE9-957B-DFDE70324BBB}" srcOrd="7" destOrd="0" presId="urn:microsoft.com/office/officeart/2005/8/layout/hierarchy2"/>
    <dgm:cxn modelId="{474BF946-26F2-4C4F-85D5-CD786FF7F370}" type="presParOf" srcId="{36C87574-A81A-4CE9-957B-DFDE70324BBB}" destId="{827BE06A-4DE3-40DE-B8FD-B11F2C4ED6E1}" srcOrd="0" destOrd="0" presId="urn:microsoft.com/office/officeart/2005/8/layout/hierarchy2"/>
    <dgm:cxn modelId="{BC65B5C5-FB00-4179-9F0C-C5A8DACCDF3A}" type="presParOf" srcId="{36C87574-A81A-4CE9-957B-DFDE70324BBB}" destId="{C772B1DB-B819-4F8C-B828-F442FD1DBF7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22BB37-FA8B-4682-A820-C3D4466FEBB5}"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DBEBF800-7295-438E-9F4C-50B4232E05CB}">
      <dgm:prSet phldrT="[Text]" custT="1"/>
      <dgm:spPr>
        <a:solidFill>
          <a:srgbClr val="CCFFCC"/>
        </a:solidFill>
      </dgm:spPr>
      <dgm:t>
        <a:bodyPr/>
        <a:lstStyle/>
        <a:p>
          <a:pPr>
            <a:lnSpc>
              <a:spcPct val="100000"/>
            </a:lnSpc>
            <a:spcAft>
              <a:spcPts val="0"/>
            </a:spcAft>
          </a:pPr>
          <a:r>
            <a:rPr lang="en-US" sz="4400" b="1" dirty="0">
              <a:solidFill>
                <a:schemeClr val="accent6">
                  <a:lumMod val="75000"/>
                </a:schemeClr>
              </a:solidFill>
            </a:rPr>
            <a:t>Cut Cost</a:t>
          </a:r>
        </a:p>
        <a:p>
          <a:pPr>
            <a:lnSpc>
              <a:spcPct val="100000"/>
            </a:lnSpc>
            <a:spcAft>
              <a:spcPts val="0"/>
            </a:spcAft>
          </a:pPr>
          <a:r>
            <a:rPr lang="en-US" sz="4400" b="1" dirty="0">
              <a:solidFill>
                <a:schemeClr val="accent6">
                  <a:lumMod val="75000"/>
                </a:schemeClr>
              </a:solidFill>
            </a:rPr>
            <a:t>$</a:t>
          </a:r>
        </a:p>
      </dgm:t>
    </dgm:pt>
    <dgm:pt modelId="{32B44929-8F72-49E5-B487-E40B0A5B0AA2}" type="parTrans" cxnId="{1D5A3476-E8E0-4DD5-99A0-A562FD00242C}">
      <dgm:prSet/>
      <dgm:spPr/>
      <dgm:t>
        <a:bodyPr/>
        <a:lstStyle/>
        <a:p>
          <a:endParaRPr lang="en-US"/>
        </a:p>
      </dgm:t>
    </dgm:pt>
    <dgm:pt modelId="{4EC37970-29F2-429A-AB85-F9C4BFF0571C}" type="sibTrans" cxnId="{1D5A3476-E8E0-4DD5-99A0-A562FD00242C}">
      <dgm:prSet/>
      <dgm:spPr/>
      <dgm:t>
        <a:bodyPr/>
        <a:lstStyle/>
        <a:p>
          <a:endParaRPr lang="en-US"/>
        </a:p>
      </dgm:t>
    </dgm:pt>
    <dgm:pt modelId="{7BC5B92C-288F-43C2-A378-0B175AD6A832}">
      <dgm:prSet phldrT="[Text]"/>
      <dgm:spPr>
        <a:blipFill dpi="0" rotWithShape="0">
          <a:blip xmlns:r="http://schemas.openxmlformats.org/officeDocument/2006/relationships" r:embed="rId1" cstate="email">
            <a:alphaModFix amt="40000"/>
            <a:extLst>
              <a:ext uri="{28A0092B-C50C-407E-A947-70E740481C1C}">
                <a14:useLocalDpi xmlns:a14="http://schemas.microsoft.com/office/drawing/2010/main"/>
              </a:ext>
            </a:extLst>
          </a:blip>
          <a:srcRect/>
          <a:stretch>
            <a:fillRect/>
          </a:stretch>
        </a:blipFill>
      </dgm:spPr>
      <dgm:t>
        <a:bodyPr/>
        <a:lstStyle/>
        <a:p>
          <a:r>
            <a:rPr lang="en-US" b="1" dirty="0">
              <a:solidFill>
                <a:srgbClr val="002060"/>
              </a:solidFill>
            </a:rPr>
            <a:t>Drilling Resources</a:t>
          </a:r>
        </a:p>
      </dgm:t>
    </dgm:pt>
    <dgm:pt modelId="{73DE898D-B6DE-480C-A056-61BC31703601}" type="parTrans" cxnId="{34462987-5211-45EA-831A-8D700A84786C}">
      <dgm:prSet/>
      <dgm:spPr/>
      <dgm:t>
        <a:bodyPr/>
        <a:lstStyle/>
        <a:p>
          <a:endParaRPr lang="en-US"/>
        </a:p>
      </dgm:t>
    </dgm:pt>
    <dgm:pt modelId="{766215CD-D825-44E9-AE0B-2205AA359522}" type="sibTrans" cxnId="{34462987-5211-45EA-831A-8D700A84786C}">
      <dgm:prSet/>
      <dgm:spPr/>
      <dgm:t>
        <a:bodyPr/>
        <a:lstStyle/>
        <a:p>
          <a:endParaRPr lang="en-US"/>
        </a:p>
      </dgm:t>
    </dgm:pt>
    <dgm:pt modelId="{BAE40951-5D7E-4403-8EC0-A4575946E49C}">
      <dgm:prSet phldrT="[Text]"/>
      <dgm:spPr>
        <a:blipFill dpi="0" rotWithShape="0">
          <a:blip xmlns:r="http://schemas.openxmlformats.org/officeDocument/2006/relationships" r:embed="rId2" cstate="email">
            <a:alphaModFix amt="41000"/>
            <a:extLst>
              <a:ext uri="{28A0092B-C50C-407E-A947-70E740481C1C}">
                <a14:useLocalDpi xmlns:a14="http://schemas.microsoft.com/office/drawing/2010/main"/>
              </a:ext>
            </a:extLst>
          </a:blip>
          <a:srcRect/>
          <a:stretch>
            <a:fillRect/>
          </a:stretch>
        </a:blipFill>
      </dgm:spPr>
      <dgm:t>
        <a:bodyPr/>
        <a:lstStyle/>
        <a:p>
          <a:r>
            <a:rPr lang="en-US" b="1" dirty="0">
              <a:solidFill>
                <a:srgbClr val="002060"/>
              </a:solidFill>
            </a:rPr>
            <a:t>Drilling Cost Saving Initiative</a:t>
          </a:r>
        </a:p>
      </dgm:t>
    </dgm:pt>
    <dgm:pt modelId="{EC0BF3FB-F62D-424F-8EB0-8D52CAB6FEE0}" type="parTrans" cxnId="{5B83B78D-E420-4CAE-B173-730668BD6927}">
      <dgm:prSet/>
      <dgm:spPr/>
      <dgm:t>
        <a:bodyPr/>
        <a:lstStyle/>
        <a:p>
          <a:endParaRPr lang="en-US"/>
        </a:p>
      </dgm:t>
    </dgm:pt>
    <dgm:pt modelId="{741A039D-8917-4453-B540-4575802F982A}" type="sibTrans" cxnId="{5B83B78D-E420-4CAE-B173-730668BD6927}">
      <dgm:prSet/>
      <dgm:spPr/>
      <dgm:t>
        <a:bodyPr/>
        <a:lstStyle/>
        <a:p>
          <a:endParaRPr lang="en-US"/>
        </a:p>
      </dgm:t>
    </dgm:pt>
    <dgm:pt modelId="{0A01D744-DD00-4026-8391-1210CDBDBD4A}">
      <dgm:prSet phldrT="[Text]"/>
      <dgm:spPr>
        <a:blipFill dpi="0" rotWithShape="0">
          <a:blip xmlns:r="http://schemas.openxmlformats.org/officeDocument/2006/relationships" r:embed="rId3" cstate="email">
            <a:alphaModFix amt="32000"/>
            <a:extLst>
              <a:ext uri="{28A0092B-C50C-407E-A947-70E740481C1C}">
                <a14:useLocalDpi xmlns:a14="http://schemas.microsoft.com/office/drawing/2010/main"/>
              </a:ext>
            </a:extLst>
          </a:blip>
          <a:srcRect/>
          <a:stretch>
            <a:fillRect/>
          </a:stretch>
        </a:blipFill>
      </dgm:spPr>
      <dgm:t>
        <a:bodyPr/>
        <a:lstStyle/>
        <a:p>
          <a:r>
            <a:rPr lang="en-US" b="1" dirty="0">
              <a:solidFill>
                <a:srgbClr val="002060"/>
              </a:solidFill>
            </a:rPr>
            <a:t>Drilling Optimization</a:t>
          </a:r>
        </a:p>
      </dgm:t>
    </dgm:pt>
    <dgm:pt modelId="{FEAB0625-EE7C-4BC3-9008-D8DD0DF6B2A6}" type="parTrans" cxnId="{742BB8D1-C3A4-4728-8D06-A3B9F6D2607A}">
      <dgm:prSet/>
      <dgm:spPr/>
      <dgm:t>
        <a:bodyPr/>
        <a:lstStyle/>
        <a:p>
          <a:endParaRPr lang="en-US"/>
        </a:p>
      </dgm:t>
    </dgm:pt>
    <dgm:pt modelId="{DFBA5670-7B3C-428C-AA11-0795FF90EC66}" type="sibTrans" cxnId="{742BB8D1-C3A4-4728-8D06-A3B9F6D2607A}">
      <dgm:prSet/>
      <dgm:spPr/>
      <dgm:t>
        <a:bodyPr/>
        <a:lstStyle/>
        <a:p>
          <a:endParaRPr lang="en-US"/>
        </a:p>
      </dgm:t>
    </dgm:pt>
    <dgm:pt modelId="{B77FB501-B484-4847-8912-08468D472576}" type="pres">
      <dgm:prSet presAssocID="{B322BB37-FA8B-4682-A820-C3D4466FEBB5}" presName="cycle" presStyleCnt="0">
        <dgm:presLayoutVars>
          <dgm:chMax val="1"/>
          <dgm:dir/>
          <dgm:animLvl val="ctr"/>
          <dgm:resizeHandles val="exact"/>
        </dgm:presLayoutVars>
      </dgm:prSet>
      <dgm:spPr/>
    </dgm:pt>
    <dgm:pt modelId="{F1D4E84B-8D19-4F78-8237-A39CD018823C}" type="pres">
      <dgm:prSet presAssocID="{DBEBF800-7295-438E-9F4C-50B4232E05CB}" presName="centerShape" presStyleLbl="node0" presStyleIdx="0" presStyleCnt="1"/>
      <dgm:spPr/>
    </dgm:pt>
    <dgm:pt modelId="{4478CD83-07D8-48B2-865A-1BB7431B5E54}" type="pres">
      <dgm:prSet presAssocID="{73DE898D-B6DE-480C-A056-61BC31703601}" presName="parTrans" presStyleLbl="bgSibTrans2D1" presStyleIdx="0" presStyleCnt="3"/>
      <dgm:spPr/>
    </dgm:pt>
    <dgm:pt modelId="{1614708C-3D5B-484D-A628-04001560B075}" type="pres">
      <dgm:prSet presAssocID="{7BC5B92C-288F-43C2-A378-0B175AD6A832}" presName="node" presStyleLbl="node1" presStyleIdx="0" presStyleCnt="3">
        <dgm:presLayoutVars>
          <dgm:bulletEnabled val="1"/>
        </dgm:presLayoutVars>
      </dgm:prSet>
      <dgm:spPr/>
    </dgm:pt>
    <dgm:pt modelId="{3B99CCA3-B7EB-4427-B85E-8611AEC9A5A6}" type="pres">
      <dgm:prSet presAssocID="{EC0BF3FB-F62D-424F-8EB0-8D52CAB6FEE0}" presName="parTrans" presStyleLbl="bgSibTrans2D1" presStyleIdx="1" presStyleCnt="3"/>
      <dgm:spPr/>
    </dgm:pt>
    <dgm:pt modelId="{84F29E67-038A-4074-804F-16EB4DFE47F3}" type="pres">
      <dgm:prSet presAssocID="{BAE40951-5D7E-4403-8EC0-A4575946E49C}" presName="node" presStyleLbl="node1" presStyleIdx="1" presStyleCnt="3">
        <dgm:presLayoutVars>
          <dgm:bulletEnabled val="1"/>
        </dgm:presLayoutVars>
      </dgm:prSet>
      <dgm:spPr/>
    </dgm:pt>
    <dgm:pt modelId="{03F3DC10-817B-4BA4-A329-DACFEC27DD63}" type="pres">
      <dgm:prSet presAssocID="{FEAB0625-EE7C-4BC3-9008-D8DD0DF6B2A6}" presName="parTrans" presStyleLbl="bgSibTrans2D1" presStyleIdx="2" presStyleCnt="3"/>
      <dgm:spPr/>
    </dgm:pt>
    <dgm:pt modelId="{C2350E09-4BB4-4028-B2EF-A1423E3C2A01}" type="pres">
      <dgm:prSet presAssocID="{0A01D744-DD00-4026-8391-1210CDBDBD4A}" presName="node" presStyleLbl="node1" presStyleIdx="2" presStyleCnt="3">
        <dgm:presLayoutVars>
          <dgm:bulletEnabled val="1"/>
        </dgm:presLayoutVars>
      </dgm:prSet>
      <dgm:spPr/>
    </dgm:pt>
  </dgm:ptLst>
  <dgm:cxnLst>
    <dgm:cxn modelId="{18D80626-4E6F-4255-A7F7-71BFEA736814}" type="presOf" srcId="{7BC5B92C-288F-43C2-A378-0B175AD6A832}" destId="{1614708C-3D5B-484D-A628-04001560B075}" srcOrd="0" destOrd="0" presId="urn:microsoft.com/office/officeart/2005/8/layout/radial4"/>
    <dgm:cxn modelId="{304C0C42-8196-466B-9EF2-731A5C9F9D51}" type="presOf" srcId="{B322BB37-FA8B-4682-A820-C3D4466FEBB5}" destId="{B77FB501-B484-4847-8912-08468D472576}" srcOrd="0" destOrd="0" presId="urn:microsoft.com/office/officeart/2005/8/layout/radial4"/>
    <dgm:cxn modelId="{0313856A-AD39-4D7D-9204-8D522FAC5064}" type="presOf" srcId="{BAE40951-5D7E-4403-8EC0-A4575946E49C}" destId="{84F29E67-038A-4074-804F-16EB4DFE47F3}" srcOrd="0" destOrd="0" presId="urn:microsoft.com/office/officeart/2005/8/layout/radial4"/>
    <dgm:cxn modelId="{D7FE2F4E-EAED-4763-8795-99BFE3F2AFD0}" type="presOf" srcId="{0A01D744-DD00-4026-8391-1210CDBDBD4A}" destId="{C2350E09-4BB4-4028-B2EF-A1423E3C2A01}" srcOrd="0" destOrd="0" presId="urn:microsoft.com/office/officeart/2005/8/layout/radial4"/>
    <dgm:cxn modelId="{1D5A3476-E8E0-4DD5-99A0-A562FD00242C}" srcId="{B322BB37-FA8B-4682-A820-C3D4466FEBB5}" destId="{DBEBF800-7295-438E-9F4C-50B4232E05CB}" srcOrd="0" destOrd="0" parTransId="{32B44929-8F72-49E5-B487-E40B0A5B0AA2}" sibTransId="{4EC37970-29F2-429A-AB85-F9C4BFF0571C}"/>
    <dgm:cxn modelId="{34462987-5211-45EA-831A-8D700A84786C}" srcId="{DBEBF800-7295-438E-9F4C-50B4232E05CB}" destId="{7BC5B92C-288F-43C2-A378-0B175AD6A832}" srcOrd="0" destOrd="0" parTransId="{73DE898D-B6DE-480C-A056-61BC31703601}" sibTransId="{766215CD-D825-44E9-AE0B-2205AA359522}"/>
    <dgm:cxn modelId="{5B83B78D-E420-4CAE-B173-730668BD6927}" srcId="{DBEBF800-7295-438E-9F4C-50B4232E05CB}" destId="{BAE40951-5D7E-4403-8EC0-A4575946E49C}" srcOrd="1" destOrd="0" parTransId="{EC0BF3FB-F62D-424F-8EB0-8D52CAB6FEE0}" sibTransId="{741A039D-8917-4453-B540-4575802F982A}"/>
    <dgm:cxn modelId="{742BB8D1-C3A4-4728-8D06-A3B9F6D2607A}" srcId="{DBEBF800-7295-438E-9F4C-50B4232E05CB}" destId="{0A01D744-DD00-4026-8391-1210CDBDBD4A}" srcOrd="2" destOrd="0" parTransId="{FEAB0625-EE7C-4BC3-9008-D8DD0DF6B2A6}" sibTransId="{DFBA5670-7B3C-428C-AA11-0795FF90EC66}"/>
    <dgm:cxn modelId="{57242CD5-533A-4BE5-8028-4E33C71EEB03}" type="presOf" srcId="{EC0BF3FB-F62D-424F-8EB0-8D52CAB6FEE0}" destId="{3B99CCA3-B7EB-4427-B85E-8611AEC9A5A6}" srcOrd="0" destOrd="0" presId="urn:microsoft.com/office/officeart/2005/8/layout/radial4"/>
    <dgm:cxn modelId="{E44E93EC-C3A8-40B8-884F-384ED3976F58}" type="presOf" srcId="{FEAB0625-EE7C-4BC3-9008-D8DD0DF6B2A6}" destId="{03F3DC10-817B-4BA4-A329-DACFEC27DD63}" srcOrd="0" destOrd="0" presId="urn:microsoft.com/office/officeart/2005/8/layout/radial4"/>
    <dgm:cxn modelId="{263EFEFA-CED6-483C-BF2C-F576D83194EC}" type="presOf" srcId="{DBEBF800-7295-438E-9F4C-50B4232E05CB}" destId="{F1D4E84B-8D19-4F78-8237-A39CD018823C}" srcOrd="0" destOrd="0" presId="urn:microsoft.com/office/officeart/2005/8/layout/radial4"/>
    <dgm:cxn modelId="{BB0380FB-BD0E-4C50-9AEE-199841452E4F}" type="presOf" srcId="{73DE898D-B6DE-480C-A056-61BC31703601}" destId="{4478CD83-07D8-48B2-865A-1BB7431B5E54}" srcOrd="0" destOrd="0" presId="urn:microsoft.com/office/officeart/2005/8/layout/radial4"/>
    <dgm:cxn modelId="{EDC5D476-0A68-4E36-82BD-A3E8AD507FA5}" type="presParOf" srcId="{B77FB501-B484-4847-8912-08468D472576}" destId="{F1D4E84B-8D19-4F78-8237-A39CD018823C}" srcOrd="0" destOrd="0" presId="urn:microsoft.com/office/officeart/2005/8/layout/radial4"/>
    <dgm:cxn modelId="{C4484471-93A2-43D2-86AE-4FC581BA572C}" type="presParOf" srcId="{B77FB501-B484-4847-8912-08468D472576}" destId="{4478CD83-07D8-48B2-865A-1BB7431B5E54}" srcOrd="1" destOrd="0" presId="urn:microsoft.com/office/officeart/2005/8/layout/radial4"/>
    <dgm:cxn modelId="{53E624AA-735A-42A8-A6FC-7288ED4E9E1D}" type="presParOf" srcId="{B77FB501-B484-4847-8912-08468D472576}" destId="{1614708C-3D5B-484D-A628-04001560B075}" srcOrd="2" destOrd="0" presId="urn:microsoft.com/office/officeart/2005/8/layout/radial4"/>
    <dgm:cxn modelId="{5C10CA39-4C6F-4172-8078-3E4E8BBF7EE8}" type="presParOf" srcId="{B77FB501-B484-4847-8912-08468D472576}" destId="{3B99CCA3-B7EB-4427-B85E-8611AEC9A5A6}" srcOrd="3" destOrd="0" presId="urn:microsoft.com/office/officeart/2005/8/layout/radial4"/>
    <dgm:cxn modelId="{C28D983E-1091-41D1-BC13-3C910EDEA595}" type="presParOf" srcId="{B77FB501-B484-4847-8912-08468D472576}" destId="{84F29E67-038A-4074-804F-16EB4DFE47F3}" srcOrd="4" destOrd="0" presId="urn:microsoft.com/office/officeart/2005/8/layout/radial4"/>
    <dgm:cxn modelId="{409621B1-C975-4B17-B5AF-2AE7AEC14868}" type="presParOf" srcId="{B77FB501-B484-4847-8912-08468D472576}" destId="{03F3DC10-817B-4BA4-A329-DACFEC27DD63}" srcOrd="5" destOrd="0" presId="urn:microsoft.com/office/officeart/2005/8/layout/radial4"/>
    <dgm:cxn modelId="{5B09971B-5727-46A7-AC64-9B14152815A7}" type="presParOf" srcId="{B77FB501-B484-4847-8912-08468D472576}" destId="{C2350E09-4BB4-4028-B2EF-A1423E3C2A01}"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F5029DD-B684-4C4A-80C2-E9B1EF6F4318}"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1DD4FFB5-598A-41AD-A62A-E63F56A4EA44}">
      <dgm:prSet phldrT="[Text]"/>
      <dgm:spPr>
        <a:solidFill>
          <a:srgbClr val="CCCC00"/>
        </a:solidFill>
      </dgm:spPr>
      <dgm:t>
        <a:bodyPr/>
        <a:lstStyle/>
        <a:p>
          <a:r>
            <a:rPr lang="en-US" dirty="0">
              <a:solidFill>
                <a:schemeClr val="accent6">
                  <a:lumMod val="75000"/>
                </a:schemeClr>
              </a:solidFill>
            </a:rPr>
            <a:t>Mud and Cementing</a:t>
          </a:r>
        </a:p>
      </dgm:t>
    </dgm:pt>
    <dgm:pt modelId="{2D31649E-B711-4497-B800-49203130CB2D}" type="parTrans" cxnId="{0818E32F-8701-4B45-B022-2C3C74A853F0}">
      <dgm:prSet/>
      <dgm:spPr/>
      <dgm:t>
        <a:bodyPr/>
        <a:lstStyle/>
        <a:p>
          <a:endParaRPr lang="en-US">
            <a:solidFill>
              <a:schemeClr val="accent6">
                <a:lumMod val="75000"/>
              </a:schemeClr>
            </a:solidFill>
          </a:endParaRPr>
        </a:p>
      </dgm:t>
    </dgm:pt>
    <dgm:pt modelId="{4B2E7BA7-7E74-4584-B503-49AA5D57AC8E}" type="sibTrans" cxnId="{0818E32F-8701-4B45-B022-2C3C74A853F0}">
      <dgm:prSet/>
      <dgm:spPr/>
      <dgm:t>
        <a:bodyPr/>
        <a:lstStyle/>
        <a:p>
          <a:endParaRPr lang="en-US">
            <a:solidFill>
              <a:schemeClr val="accent6">
                <a:lumMod val="75000"/>
              </a:schemeClr>
            </a:solidFill>
          </a:endParaRPr>
        </a:p>
      </dgm:t>
    </dgm:pt>
    <dgm:pt modelId="{332F902D-F61B-4F2E-BA9E-9D5C9A13CFFE}">
      <dgm:prSet phldrT="[Text]"/>
      <dgm:spPr>
        <a:solidFill>
          <a:srgbClr val="CCFF33"/>
        </a:solidFill>
      </dgm:spPr>
      <dgm:t>
        <a:bodyPr/>
        <a:lstStyle/>
        <a:p>
          <a:r>
            <a:rPr lang="en-US" dirty="0">
              <a:solidFill>
                <a:schemeClr val="accent6">
                  <a:lumMod val="75000"/>
                </a:schemeClr>
              </a:solidFill>
            </a:rPr>
            <a:t>Drilling Bit</a:t>
          </a:r>
        </a:p>
      </dgm:t>
    </dgm:pt>
    <dgm:pt modelId="{8166E60C-9FED-489F-A22C-B8471C4D6F3C}" type="parTrans" cxnId="{A5B2F26D-3D84-4464-A5A5-C00AA8B26747}">
      <dgm:prSet/>
      <dgm:spPr/>
      <dgm:t>
        <a:bodyPr/>
        <a:lstStyle/>
        <a:p>
          <a:endParaRPr lang="en-US">
            <a:solidFill>
              <a:schemeClr val="accent6">
                <a:lumMod val="75000"/>
              </a:schemeClr>
            </a:solidFill>
          </a:endParaRPr>
        </a:p>
      </dgm:t>
    </dgm:pt>
    <dgm:pt modelId="{1E0956C5-896F-4E4E-80F1-D20B8EE37B3B}" type="sibTrans" cxnId="{A5B2F26D-3D84-4464-A5A5-C00AA8B26747}">
      <dgm:prSet/>
      <dgm:spPr/>
      <dgm:t>
        <a:bodyPr/>
        <a:lstStyle/>
        <a:p>
          <a:endParaRPr lang="en-US">
            <a:solidFill>
              <a:schemeClr val="accent6">
                <a:lumMod val="75000"/>
              </a:schemeClr>
            </a:solidFill>
          </a:endParaRPr>
        </a:p>
      </dgm:t>
    </dgm:pt>
    <dgm:pt modelId="{FEE826F9-7CF3-4764-82E1-876F6D1D7ECD}">
      <dgm:prSet phldrT="[Text]"/>
      <dgm:spPr>
        <a:solidFill>
          <a:srgbClr val="CCFF66"/>
        </a:solidFill>
      </dgm:spPr>
      <dgm:t>
        <a:bodyPr/>
        <a:lstStyle/>
        <a:p>
          <a:r>
            <a:rPr lang="en-US" dirty="0">
              <a:solidFill>
                <a:schemeClr val="accent6">
                  <a:lumMod val="75000"/>
                </a:schemeClr>
              </a:solidFill>
            </a:rPr>
            <a:t>Fuel Consumption</a:t>
          </a:r>
        </a:p>
      </dgm:t>
    </dgm:pt>
    <dgm:pt modelId="{C2A1D4AD-2B70-4294-BDAE-3211BE0C5F80}" type="parTrans" cxnId="{20172E9D-83ED-4296-87C7-20D1707AED65}">
      <dgm:prSet/>
      <dgm:spPr/>
      <dgm:t>
        <a:bodyPr/>
        <a:lstStyle/>
        <a:p>
          <a:endParaRPr lang="en-US">
            <a:solidFill>
              <a:schemeClr val="accent6">
                <a:lumMod val="75000"/>
              </a:schemeClr>
            </a:solidFill>
          </a:endParaRPr>
        </a:p>
      </dgm:t>
    </dgm:pt>
    <dgm:pt modelId="{BC2E925C-CF41-4FDC-9006-C68E16591509}" type="sibTrans" cxnId="{20172E9D-83ED-4296-87C7-20D1707AED65}">
      <dgm:prSet/>
      <dgm:spPr/>
      <dgm:t>
        <a:bodyPr/>
        <a:lstStyle/>
        <a:p>
          <a:endParaRPr lang="en-US">
            <a:solidFill>
              <a:schemeClr val="accent6">
                <a:lumMod val="75000"/>
              </a:schemeClr>
            </a:solidFill>
          </a:endParaRPr>
        </a:p>
      </dgm:t>
    </dgm:pt>
    <dgm:pt modelId="{E35BE437-9B12-458A-A53D-06969757A6E0}">
      <dgm:prSet phldrT="[Text]"/>
      <dgm:spPr>
        <a:solidFill>
          <a:srgbClr val="CCFF99"/>
        </a:solidFill>
      </dgm:spPr>
      <dgm:t>
        <a:bodyPr/>
        <a:lstStyle/>
        <a:p>
          <a:r>
            <a:rPr lang="en-US" dirty="0">
              <a:solidFill>
                <a:srgbClr val="C00000"/>
              </a:solidFill>
            </a:rPr>
            <a:t>Stuck Pipe</a:t>
          </a:r>
        </a:p>
      </dgm:t>
    </dgm:pt>
    <dgm:pt modelId="{1668A629-D1D9-4AA5-87F0-9C51A6F1899E}" type="parTrans" cxnId="{EF013F99-BA98-4B3D-B479-148E9847986C}">
      <dgm:prSet/>
      <dgm:spPr/>
      <dgm:t>
        <a:bodyPr/>
        <a:lstStyle/>
        <a:p>
          <a:endParaRPr lang="en-US">
            <a:solidFill>
              <a:schemeClr val="accent6">
                <a:lumMod val="75000"/>
              </a:schemeClr>
            </a:solidFill>
          </a:endParaRPr>
        </a:p>
      </dgm:t>
    </dgm:pt>
    <dgm:pt modelId="{92C3B6CB-6FC2-4FEE-856E-F3316CCD13BD}" type="sibTrans" cxnId="{EF013F99-BA98-4B3D-B479-148E9847986C}">
      <dgm:prSet/>
      <dgm:spPr/>
      <dgm:t>
        <a:bodyPr/>
        <a:lstStyle/>
        <a:p>
          <a:endParaRPr lang="en-US">
            <a:solidFill>
              <a:schemeClr val="accent6">
                <a:lumMod val="75000"/>
              </a:schemeClr>
            </a:solidFill>
          </a:endParaRPr>
        </a:p>
      </dgm:t>
    </dgm:pt>
    <dgm:pt modelId="{F5E380B6-492E-4CF2-A298-5F55CCC7D15E}" type="pres">
      <dgm:prSet presAssocID="{AF5029DD-B684-4C4A-80C2-E9B1EF6F4318}" presName="linear" presStyleCnt="0">
        <dgm:presLayoutVars>
          <dgm:dir/>
          <dgm:resizeHandles val="exact"/>
        </dgm:presLayoutVars>
      </dgm:prSet>
      <dgm:spPr/>
    </dgm:pt>
    <dgm:pt modelId="{4C0F7EC6-09C1-4109-9728-73A2EB51D889}" type="pres">
      <dgm:prSet presAssocID="{1DD4FFB5-598A-41AD-A62A-E63F56A4EA44}" presName="comp" presStyleCnt="0"/>
      <dgm:spPr/>
    </dgm:pt>
    <dgm:pt modelId="{4F874492-943E-4D24-9CA5-54B7C41E4871}" type="pres">
      <dgm:prSet presAssocID="{1DD4FFB5-598A-41AD-A62A-E63F56A4EA44}" presName="box" presStyleLbl="node1" presStyleIdx="0" presStyleCnt="4" custLinFactNeighborY="1263"/>
      <dgm:spPr/>
    </dgm:pt>
    <dgm:pt modelId="{DDDFBA2F-753E-4867-B4CC-4A2E8A51555B}" type="pres">
      <dgm:prSet presAssocID="{1DD4FFB5-598A-41AD-A62A-E63F56A4EA44}" presName="img" presStyleLbl="fgImgPlace1" presStyleIdx="0" presStyleCnt="4"/>
      <dgm:spPr>
        <a:blipFill rotWithShape="1">
          <a:blip xmlns:r="http://schemas.openxmlformats.org/officeDocument/2006/relationships" r:embed="rId1" cstate="email">
            <a:extLst>
              <a:ext uri="{28A0092B-C50C-407E-A947-70E740481C1C}">
                <a14:useLocalDpi xmlns:a14="http://schemas.microsoft.com/office/drawing/2010/main"/>
              </a:ext>
            </a:extLst>
          </a:blip>
          <a:stretch>
            <a:fillRect/>
          </a:stretch>
        </a:blipFill>
      </dgm:spPr>
    </dgm:pt>
    <dgm:pt modelId="{22A2D9DD-118A-4195-847E-B1A5C11A0CB8}" type="pres">
      <dgm:prSet presAssocID="{1DD4FFB5-598A-41AD-A62A-E63F56A4EA44}" presName="text" presStyleLbl="node1" presStyleIdx="0" presStyleCnt="4">
        <dgm:presLayoutVars>
          <dgm:bulletEnabled val="1"/>
        </dgm:presLayoutVars>
      </dgm:prSet>
      <dgm:spPr/>
    </dgm:pt>
    <dgm:pt modelId="{33D6CE84-DFFC-4D4A-9766-A96E2CE79139}" type="pres">
      <dgm:prSet presAssocID="{4B2E7BA7-7E74-4584-B503-49AA5D57AC8E}" presName="spacer" presStyleCnt="0"/>
      <dgm:spPr/>
    </dgm:pt>
    <dgm:pt modelId="{12DAC9C2-BEDA-4563-A3B8-99F8693FE7E9}" type="pres">
      <dgm:prSet presAssocID="{332F902D-F61B-4F2E-BA9E-9D5C9A13CFFE}" presName="comp" presStyleCnt="0"/>
      <dgm:spPr/>
    </dgm:pt>
    <dgm:pt modelId="{0A210AF5-885E-418B-84D6-FDC883EF68AD}" type="pres">
      <dgm:prSet presAssocID="{332F902D-F61B-4F2E-BA9E-9D5C9A13CFFE}" presName="box" presStyleLbl="node1" presStyleIdx="1" presStyleCnt="4"/>
      <dgm:spPr/>
    </dgm:pt>
    <dgm:pt modelId="{AEE8B268-C3C3-45EF-82C5-3E4F8DEA1D22}" type="pres">
      <dgm:prSet presAssocID="{332F902D-F61B-4F2E-BA9E-9D5C9A13CFFE}" presName="img" presStyleLbl="fgImgPlace1" presStyleIdx="1" presStyleCnt="4"/>
      <dgm:spPr>
        <a:blipFill rotWithShape="1">
          <a:blip xmlns:r="http://schemas.openxmlformats.org/officeDocument/2006/relationships" r:embed="rId2" cstate="email">
            <a:extLst>
              <a:ext uri="{28A0092B-C50C-407E-A947-70E740481C1C}">
                <a14:useLocalDpi xmlns:a14="http://schemas.microsoft.com/office/drawing/2010/main"/>
              </a:ext>
            </a:extLst>
          </a:blip>
          <a:stretch>
            <a:fillRect/>
          </a:stretch>
        </a:blipFill>
      </dgm:spPr>
    </dgm:pt>
    <dgm:pt modelId="{0356FD0D-5CE4-4B9D-9E92-EC2B027AE026}" type="pres">
      <dgm:prSet presAssocID="{332F902D-F61B-4F2E-BA9E-9D5C9A13CFFE}" presName="text" presStyleLbl="node1" presStyleIdx="1" presStyleCnt="4">
        <dgm:presLayoutVars>
          <dgm:bulletEnabled val="1"/>
        </dgm:presLayoutVars>
      </dgm:prSet>
      <dgm:spPr/>
    </dgm:pt>
    <dgm:pt modelId="{7F8B32E4-24D1-4EAC-B31E-697943659A83}" type="pres">
      <dgm:prSet presAssocID="{1E0956C5-896F-4E4E-80F1-D20B8EE37B3B}" presName="spacer" presStyleCnt="0"/>
      <dgm:spPr/>
    </dgm:pt>
    <dgm:pt modelId="{6C65657E-BF83-4093-BF47-58CBFA397990}" type="pres">
      <dgm:prSet presAssocID="{FEE826F9-7CF3-4764-82E1-876F6D1D7ECD}" presName="comp" presStyleCnt="0"/>
      <dgm:spPr/>
    </dgm:pt>
    <dgm:pt modelId="{DEFDDDBB-72AC-4F7A-9341-ABB19FEBD88B}" type="pres">
      <dgm:prSet presAssocID="{FEE826F9-7CF3-4764-82E1-876F6D1D7ECD}" presName="box" presStyleLbl="node1" presStyleIdx="2" presStyleCnt="4"/>
      <dgm:spPr/>
    </dgm:pt>
    <dgm:pt modelId="{9B111DCB-E249-4F0E-A2BE-96FBA4F45769}" type="pres">
      <dgm:prSet presAssocID="{FEE826F9-7CF3-4764-82E1-876F6D1D7ECD}" presName="img" presStyleLbl="fgImgPlace1" presStyleIdx="2" presStyleCnt="4"/>
      <dgm:spPr>
        <a:blipFill rotWithShape="1">
          <a:blip xmlns:r="http://schemas.openxmlformats.org/officeDocument/2006/relationships" r:embed="rId3" cstate="email">
            <a:extLst>
              <a:ext uri="{28A0092B-C50C-407E-A947-70E740481C1C}">
                <a14:useLocalDpi xmlns:a14="http://schemas.microsoft.com/office/drawing/2010/main"/>
              </a:ext>
            </a:extLst>
          </a:blip>
          <a:stretch>
            <a:fillRect/>
          </a:stretch>
        </a:blipFill>
      </dgm:spPr>
    </dgm:pt>
    <dgm:pt modelId="{1E465B5A-D5D4-4C85-BA01-8F295C395675}" type="pres">
      <dgm:prSet presAssocID="{FEE826F9-7CF3-4764-82E1-876F6D1D7ECD}" presName="text" presStyleLbl="node1" presStyleIdx="2" presStyleCnt="4">
        <dgm:presLayoutVars>
          <dgm:bulletEnabled val="1"/>
        </dgm:presLayoutVars>
      </dgm:prSet>
      <dgm:spPr/>
    </dgm:pt>
    <dgm:pt modelId="{1FA00A06-1784-49C2-B4BA-C17994372568}" type="pres">
      <dgm:prSet presAssocID="{BC2E925C-CF41-4FDC-9006-C68E16591509}" presName="spacer" presStyleCnt="0"/>
      <dgm:spPr/>
    </dgm:pt>
    <dgm:pt modelId="{3DA94004-6550-47A3-A116-5CFF6777D97B}" type="pres">
      <dgm:prSet presAssocID="{E35BE437-9B12-458A-A53D-06969757A6E0}" presName="comp" presStyleCnt="0"/>
      <dgm:spPr/>
    </dgm:pt>
    <dgm:pt modelId="{7CC5284D-DAD1-4D49-BB4B-7E716E3EB89B}" type="pres">
      <dgm:prSet presAssocID="{E35BE437-9B12-458A-A53D-06969757A6E0}" presName="box" presStyleLbl="node1" presStyleIdx="3" presStyleCnt="4" custLinFactNeighborY="-1874"/>
      <dgm:spPr/>
    </dgm:pt>
    <dgm:pt modelId="{5D7F2ED6-243E-4909-938D-1DBD13351968}" type="pres">
      <dgm:prSet presAssocID="{E35BE437-9B12-458A-A53D-06969757A6E0}" presName="img" presStyleLbl="fgImgPlace1" presStyleIdx="3" presStyleCnt="4"/>
      <dgm:spPr>
        <a:blipFill rotWithShape="1">
          <a:blip xmlns:r="http://schemas.openxmlformats.org/officeDocument/2006/relationships" r:embed="rId4" cstate="email">
            <a:extLst>
              <a:ext uri="{28A0092B-C50C-407E-A947-70E740481C1C}">
                <a14:useLocalDpi xmlns:a14="http://schemas.microsoft.com/office/drawing/2010/main"/>
              </a:ext>
            </a:extLst>
          </a:blip>
          <a:stretch>
            <a:fillRect/>
          </a:stretch>
        </a:blipFill>
      </dgm:spPr>
    </dgm:pt>
    <dgm:pt modelId="{A3F36290-EC0E-458E-B064-46D3609282F0}" type="pres">
      <dgm:prSet presAssocID="{E35BE437-9B12-458A-A53D-06969757A6E0}" presName="text" presStyleLbl="node1" presStyleIdx="3" presStyleCnt="4">
        <dgm:presLayoutVars>
          <dgm:bulletEnabled val="1"/>
        </dgm:presLayoutVars>
      </dgm:prSet>
      <dgm:spPr/>
    </dgm:pt>
  </dgm:ptLst>
  <dgm:cxnLst>
    <dgm:cxn modelId="{0B398302-B88C-45DC-A64D-C46B71396B63}" type="presOf" srcId="{FEE826F9-7CF3-4764-82E1-876F6D1D7ECD}" destId="{1E465B5A-D5D4-4C85-BA01-8F295C395675}" srcOrd="1" destOrd="0" presId="urn:microsoft.com/office/officeart/2005/8/layout/vList4"/>
    <dgm:cxn modelId="{0818E32F-8701-4B45-B022-2C3C74A853F0}" srcId="{AF5029DD-B684-4C4A-80C2-E9B1EF6F4318}" destId="{1DD4FFB5-598A-41AD-A62A-E63F56A4EA44}" srcOrd="0" destOrd="0" parTransId="{2D31649E-B711-4497-B800-49203130CB2D}" sibTransId="{4B2E7BA7-7E74-4584-B503-49AA5D57AC8E}"/>
    <dgm:cxn modelId="{E7AD4931-6F68-482F-ADAD-620094AFD4D9}" type="presOf" srcId="{E35BE437-9B12-458A-A53D-06969757A6E0}" destId="{A3F36290-EC0E-458E-B064-46D3609282F0}" srcOrd="1" destOrd="0" presId="urn:microsoft.com/office/officeart/2005/8/layout/vList4"/>
    <dgm:cxn modelId="{4FD8635D-064B-4524-9EA1-9BEB77D4386F}" type="presOf" srcId="{332F902D-F61B-4F2E-BA9E-9D5C9A13CFFE}" destId="{0356FD0D-5CE4-4B9D-9E92-EC2B027AE026}" srcOrd="1" destOrd="0" presId="urn:microsoft.com/office/officeart/2005/8/layout/vList4"/>
    <dgm:cxn modelId="{92631845-DD1D-456D-9D88-59A1161478C2}" type="presOf" srcId="{E35BE437-9B12-458A-A53D-06969757A6E0}" destId="{7CC5284D-DAD1-4D49-BB4B-7E716E3EB89B}" srcOrd="0" destOrd="0" presId="urn:microsoft.com/office/officeart/2005/8/layout/vList4"/>
    <dgm:cxn modelId="{A5B2F26D-3D84-4464-A5A5-C00AA8B26747}" srcId="{AF5029DD-B684-4C4A-80C2-E9B1EF6F4318}" destId="{332F902D-F61B-4F2E-BA9E-9D5C9A13CFFE}" srcOrd="1" destOrd="0" parTransId="{8166E60C-9FED-489F-A22C-B8471C4D6F3C}" sibTransId="{1E0956C5-896F-4E4E-80F1-D20B8EE37B3B}"/>
    <dgm:cxn modelId="{73D66277-D71F-4A0D-8F31-C4AEEF482C5D}" type="presOf" srcId="{1DD4FFB5-598A-41AD-A62A-E63F56A4EA44}" destId="{22A2D9DD-118A-4195-847E-B1A5C11A0CB8}" srcOrd="1" destOrd="0" presId="urn:microsoft.com/office/officeart/2005/8/layout/vList4"/>
    <dgm:cxn modelId="{55AFA77E-4AA4-4D00-ADC4-1156985DE751}" type="presOf" srcId="{FEE826F9-7CF3-4764-82E1-876F6D1D7ECD}" destId="{DEFDDDBB-72AC-4F7A-9341-ABB19FEBD88B}" srcOrd="0" destOrd="0" presId="urn:microsoft.com/office/officeart/2005/8/layout/vList4"/>
    <dgm:cxn modelId="{7C019780-23AD-4226-A26D-42037CF9B270}" type="presOf" srcId="{332F902D-F61B-4F2E-BA9E-9D5C9A13CFFE}" destId="{0A210AF5-885E-418B-84D6-FDC883EF68AD}" srcOrd="0" destOrd="0" presId="urn:microsoft.com/office/officeart/2005/8/layout/vList4"/>
    <dgm:cxn modelId="{EF013F99-BA98-4B3D-B479-148E9847986C}" srcId="{AF5029DD-B684-4C4A-80C2-E9B1EF6F4318}" destId="{E35BE437-9B12-458A-A53D-06969757A6E0}" srcOrd="3" destOrd="0" parTransId="{1668A629-D1D9-4AA5-87F0-9C51A6F1899E}" sibTransId="{92C3B6CB-6FC2-4FEE-856E-F3316CCD13BD}"/>
    <dgm:cxn modelId="{20172E9D-83ED-4296-87C7-20D1707AED65}" srcId="{AF5029DD-B684-4C4A-80C2-E9B1EF6F4318}" destId="{FEE826F9-7CF3-4764-82E1-876F6D1D7ECD}" srcOrd="2" destOrd="0" parTransId="{C2A1D4AD-2B70-4294-BDAE-3211BE0C5F80}" sibTransId="{BC2E925C-CF41-4FDC-9006-C68E16591509}"/>
    <dgm:cxn modelId="{C37DBAC0-AEEB-4256-9152-6A51E3460897}" type="presOf" srcId="{1DD4FFB5-598A-41AD-A62A-E63F56A4EA44}" destId="{4F874492-943E-4D24-9CA5-54B7C41E4871}" srcOrd="0" destOrd="0" presId="urn:microsoft.com/office/officeart/2005/8/layout/vList4"/>
    <dgm:cxn modelId="{0737B7D7-C57A-4C04-8C6C-9B265DAE4EA5}" type="presOf" srcId="{AF5029DD-B684-4C4A-80C2-E9B1EF6F4318}" destId="{F5E380B6-492E-4CF2-A298-5F55CCC7D15E}" srcOrd="0" destOrd="0" presId="urn:microsoft.com/office/officeart/2005/8/layout/vList4"/>
    <dgm:cxn modelId="{C831709C-7F56-46AD-ABC6-7C674720162E}" type="presParOf" srcId="{F5E380B6-492E-4CF2-A298-5F55CCC7D15E}" destId="{4C0F7EC6-09C1-4109-9728-73A2EB51D889}" srcOrd="0" destOrd="0" presId="urn:microsoft.com/office/officeart/2005/8/layout/vList4"/>
    <dgm:cxn modelId="{817EF30D-71A2-4E1D-9E82-FDA5E350FBFA}" type="presParOf" srcId="{4C0F7EC6-09C1-4109-9728-73A2EB51D889}" destId="{4F874492-943E-4D24-9CA5-54B7C41E4871}" srcOrd="0" destOrd="0" presId="urn:microsoft.com/office/officeart/2005/8/layout/vList4"/>
    <dgm:cxn modelId="{1DC25B15-8500-4625-956D-6B82F9F5DFC9}" type="presParOf" srcId="{4C0F7EC6-09C1-4109-9728-73A2EB51D889}" destId="{DDDFBA2F-753E-4867-B4CC-4A2E8A51555B}" srcOrd="1" destOrd="0" presId="urn:microsoft.com/office/officeart/2005/8/layout/vList4"/>
    <dgm:cxn modelId="{03709834-9AB5-4B35-91B3-5D5ADCD11E97}" type="presParOf" srcId="{4C0F7EC6-09C1-4109-9728-73A2EB51D889}" destId="{22A2D9DD-118A-4195-847E-B1A5C11A0CB8}" srcOrd="2" destOrd="0" presId="urn:microsoft.com/office/officeart/2005/8/layout/vList4"/>
    <dgm:cxn modelId="{58685717-2B6A-407E-9BEA-4B210DDBA219}" type="presParOf" srcId="{F5E380B6-492E-4CF2-A298-5F55CCC7D15E}" destId="{33D6CE84-DFFC-4D4A-9766-A96E2CE79139}" srcOrd="1" destOrd="0" presId="urn:microsoft.com/office/officeart/2005/8/layout/vList4"/>
    <dgm:cxn modelId="{568F3CA3-F7E3-44C8-AD2B-0FC735A7309F}" type="presParOf" srcId="{F5E380B6-492E-4CF2-A298-5F55CCC7D15E}" destId="{12DAC9C2-BEDA-4563-A3B8-99F8693FE7E9}" srcOrd="2" destOrd="0" presId="urn:microsoft.com/office/officeart/2005/8/layout/vList4"/>
    <dgm:cxn modelId="{96BF43A6-E386-48EB-86EE-09651EC827FB}" type="presParOf" srcId="{12DAC9C2-BEDA-4563-A3B8-99F8693FE7E9}" destId="{0A210AF5-885E-418B-84D6-FDC883EF68AD}" srcOrd="0" destOrd="0" presId="urn:microsoft.com/office/officeart/2005/8/layout/vList4"/>
    <dgm:cxn modelId="{71F27182-F4A2-41ED-95F2-012862ADB8D3}" type="presParOf" srcId="{12DAC9C2-BEDA-4563-A3B8-99F8693FE7E9}" destId="{AEE8B268-C3C3-45EF-82C5-3E4F8DEA1D22}" srcOrd="1" destOrd="0" presId="urn:microsoft.com/office/officeart/2005/8/layout/vList4"/>
    <dgm:cxn modelId="{F26B71EC-1AB8-43F0-99D2-90E93D6108E8}" type="presParOf" srcId="{12DAC9C2-BEDA-4563-A3B8-99F8693FE7E9}" destId="{0356FD0D-5CE4-4B9D-9E92-EC2B027AE026}" srcOrd="2" destOrd="0" presId="urn:microsoft.com/office/officeart/2005/8/layout/vList4"/>
    <dgm:cxn modelId="{B88D0D46-CE86-49E4-9720-87C3F3E3773A}" type="presParOf" srcId="{F5E380B6-492E-4CF2-A298-5F55CCC7D15E}" destId="{7F8B32E4-24D1-4EAC-B31E-697943659A83}" srcOrd="3" destOrd="0" presId="urn:microsoft.com/office/officeart/2005/8/layout/vList4"/>
    <dgm:cxn modelId="{00BE0C81-F9D8-4ECB-BB5E-FC0F7C98A1BF}" type="presParOf" srcId="{F5E380B6-492E-4CF2-A298-5F55CCC7D15E}" destId="{6C65657E-BF83-4093-BF47-58CBFA397990}" srcOrd="4" destOrd="0" presId="urn:microsoft.com/office/officeart/2005/8/layout/vList4"/>
    <dgm:cxn modelId="{D6457087-C254-4E13-A1A4-9735FEF015A8}" type="presParOf" srcId="{6C65657E-BF83-4093-BF47-58CBFA397990}" destId="{DEFDDDBB-72AC-4F7A-9341-ABB19FEBD88B}" srcOrd="0" destOrd="0" presId="urn:microsoft.com/office/officeart/2005/8/layout/vList4"/>
    <dgm:cxn modelId="{22299371-83CE-420A-983C-BF28181E9EDB}" type="presParOf" srcId="{6C65657E-BF83-4093-BF47-58CBFA397990}" destId="{9B111DCB-E249-4F0E-A2BE-96FBA4F45769}" srcOrd="1" destOrd="0" presId="urn:microsoft.com/office/officeart/2005/8/layout/vList4"/>
    <dgm:cxn modelId="{AEF6D7D4-BB09-47FA-8E45-8A21B2819F43}" type="presParOf" srcId="{6C65657E-BF83-4093-BF47-58CBFA397990}" destId="{1E465B5A-D5D4-4C85-BA01-8F295C395675}" srcOrd="2" destOrd="0" presId="urn:microsoft.com/office/officeart/2005/8/layout/vList4"/>
    <dgm:cxn modelId="{41F00C10-E397-4653-88E5-F32FF9C56B19}" type="presParOf" srcId="{F5E380B6-492E-4CF2-A298-5F55CCC7D15E}" destId="{1FA00A06-1784-49C2-B4BA-C17994372568}" srcOrd="5" destOrd="0" presId="urn:microsoft.com/office/officeart/2005/8/layout/vList4"/>
    <dgm:cxn modelId="{9645EC23-5C3F-4CF9-8D9D-2D97AD70F63E}" type="presParOf" srcId="{F5E380B6-492E-4CF2-A298-5F55CCC7D15E}" destId="{3DA94004-6550-47A3-A116-5CFF6777D97B}" srcOrd="6" destOrd="0" presId="urn:microsoft.com/office/officeart/2005/8/layout/vList4"/>
    <dgm:cxn modelId="{198EA469-7A91-4A16-9E69-392135A31421}" type="presParOf" srcId="{3DA94004-6550-47A3-A116-5CFF6777D97B}" destId="{7CC5284D-DAD1-4D49-BB4B-7E716E3EB89B}" srcOrd="0" destOrd="0" presId="urn:microsoft.com/office/officeart/2005/8/layout/vList4"/>
    <dgm:cxn modelId="{C9DA1A55-5BC2-44D2-B599-D4DF4DC48DA4}" type="presParOf" srcId="{3DA94004-6550-47A3-A116-5CFF6777D97B}" destId="{5D7F2ED6-243E-4909-938D-1DBD13351968}" srcOrd="1" destOrd="0" presId="urn:microsoft.com/office/officeart/2005/8/layout/vList4"/>
    <dgm:cxn modelId="{D26B3FDC-C0A2-4B11-96B9-0BF43DA1C0B4}" type="presParOf" srcId="{3DA94004-6550-47A3-A116-5CFF6777D97B}" destId="{A3F36290-EC0E-458E-B064-46D3609282F0}"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5029DD-B684-4C4A-80C2-E9B1EF6F4318}"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563CFE6B-78A3-49F1-9EA9-EEA283A0EB43}">
      <dgm:prSet phldrT="[Text]"/>
      <dgm:spPr>
        <a:solidFill>
          <a:srgbClr val="CC9900"/>
        </a:solidFill>
      </dgm:spPr>
      <dgm:t>
        <a:bodyPr/>
        <a:lstStyle/>
        <a:p>
          <a:r>
            <a:rPr lang="en-US" dirty="0">
              <a:solidFill>
                <a:schemeClr val="accent6">
                  <a:lumMod val="75000"/>
                </a:schemeClr>
              </a:solidFill>
            </a:rPr>
            <a:t>Heavy Equipment</a:t>
          </a:r>
        </a:p>
      </dgm:t>
    </dgm:pt>
    <dgm:pt modelId="{C272DF4B-37CE-41D6-AC98-F4ED2D7CDC3C}" type="parTrans" cxnId="{AA495C91-2ECE-4AA2-B3A4-A02898DF6678}">
      <dgm:prSet/>
      <dgm:spPr/>
      <dgm:t>
        <a:bodyPr/>
        <a:lstStyle/>
        <a:p>
          <a:endParaRPr lang="en-US"/>
        </a:p>
      </dgm:t>
    </dgm:pt>
    <dgm:pt modelId="{2541F305-BEB7-4E23-8262-2DBC31704458}" type="sibTrans" cxnId="{AA495C91-2ECE-4AA2-B3A4-A02898DF6678}">
      <dgm:prSet/>
      <dgm:spPr/>
      <dgm:t>
        <a:bodyPr/>
        <a:lstStyle/>
        <a:p>
          <a:endParaRPr lang="en-US"/>
        </a:p>
      </dgm:t>
    </dgm:pt>
    <dgm:pt modelId="{39A65AD6-B00B-4473-AF5F-5021271DFF6B}">
      <dgm:prSet phldrT="[Text]"/>
      <dgm:spPr>
        <a:solidFill>
          <a:srgbClr val="FFFF00"/>
        </a:solidFill>
      </dgm:spPr>
      <dgm:t>
        <a:bodyPr/>
        <a:lstStyle/>
        <a:p>
          <a:r>
            <a:rPr lang="en-US" dirty="0">
              <a:solidFill>
                <a:schemeClr val="accent6">
                  <a:lumMod val="75000"/>
                </a:schemeClr>
              </a:solidFill>
            </a:rPr>
            <a:t>Drilling Rig</a:t>
          </a:r>
        </a:p>
      </dgm:t>
    </dgm:pt>
    <dgm:pt modelId="{2FA70986-AF89-4E21-95EF-6B344BB9F9B4}" type="parTrans" cxnId="{6924B2E1-5AE8-47D9-B905-EE0CDE6092FB}">
      <dgm:prSet/>
      <dgm:spPr/>
      <dgm:t>
        <a:bodyPr/>
        <a:lstStyle/>
        <a:p>
          <a:endParaRPr lang="en-US"/>
        </a:p>
      </dgm:t>
    </dgm:pt>
    <dgm:pt modelId="{21B98FD9-38E8-4642-8440-55C613DE0600}" type="sibTrans" cxnId="{6924B2E1-5AE8-47D9-B905-EE0CDE6092FB}">
      <dgm:prSet/>
      <dgm:spPr/>
      <dgm:t>
        <a:bodyPr/>
        <a:lstStyle/>
        <a:p>
          <a:endParaRPr lang="en-US"/>
        </a:p>
      </dgm:t>
    </dgm:pt>
    <dgm:pt modelId="{9B508CC9-9F95-426F-9918-8E3DBED28353}">
      <dgm:prSet phldrT="[Text]"/>
      <dgm:spPr>
        <a:solidFill>
          <a:srgbClr val="FFFF66"/>
        </a:solidFill>
      </dgm:spPr>
      <dgm:t>
        <a:bodyPr/>
        <a:lstStyle/>
        <a:p>
          <a:r>
            <a:rPr lang="en-US" dirty="0">
              <a:solidFill>
                <a:schemeClr val="accent6">
                  <a:lumMod val="75000"/>
                </a:schemeClr>
              </a:solidFill>
            </a:rPr>
            <a:t>Casing &amp; Installation</a:t>
          </a:r>
        </a:p>
      </dgm:t>
    </dgm:pt>
    <dgm:pt modelId="{D9891EA4-25F7-40BA-BDA5-A1D781D678C3}" type="parTrans" cxnId="{E94A18D6-0DFA-437A-BE89-AC792A4DF600}">
      <dgm:prSet/>
      <dgm:spPr/>
      <dgm:t>
        <a:bodyPr/>
        <a:lstStyle/>
        <a:p>
          <a:endParaRPr lang="en-US"/>
        </a:p>
      </dgm:t>
    </dgm:pt>
    <dgm:pt modelId="{18FCA4AE-C603-47F8-A52C-157130630D89}" type="sibTrans" cxnId="{E94A18D6-0DFA-437A-BE89-AC792A4DF600}">
      <dgm:prSet/>
      <dgm:spPr/>
      <dgm:t>
        <a:bodyPr/>
        <a:lstStyle/>
        <a:p>
          <a:endParaRPr lang="en-US"/>
        </a:p>
      </dgm:t>
    </dgm:pt>
    <dgm:pt modelId="{E35BE437-9B12-458A-A53D-06969757A6E0}">
      <dgm:prSet phldrT="[Text]"/>
      <dgm:spPr>
        <a:solidFill>
          <a:srgbClr val="FFFF99"/>
        </a:solidFill>
      </dgm:spPr>
      <dgm:t>
        <a:bodyPr/>
        <a:lstStyle/>
        <a:p>
          <a:r>
            <a:rPr lang="en-US" dirty="0">
              <a:solidFill>
                <a:schemeClr val="accent2">
                  <a:lumMod val="75000"/>
                </a:schemeClr>
              </a:solidFill>
            </a:rPr>
            <a:t>Directional Drilling</a:t>
          </a:r>
        </a:p>
      </dgm:t>
    </dgm:pt>
    <dgm:pt modelId="{1668A629-D1D9-4AA5-87F0-9C51A6F1899E}" type="parTrans" cxnId="{EF013F99-BA98-4B3D-B479-148E9847986C}">
      <dgm:prSet/>
      <dgm:spPr/>
      <dgm:t>
        <a:bodyPr/>
        <a:lstStyle/>
        <a:p>
          <a:endParaRPr lang="en-US"/>
        </a:p>
      </dgm:t>
    </dgm:pt>
    <dgm:pt modelId="{92C3B6CB-6FC2-4FEE-856E-F3316CCD13BD}" type="sibTrans" cxnId="{EF013F99-BA98-4B3D-B479-148E9847986C}">
      <dgm:prSet/>
      <dgm:spPr/>
      <dgm:t>
        <a:bodyPr/>
        <a:lstStyle/>
        <a:p>
          <a:endParaRPr lang="en-US"/>
        </a:p>
      </dgm:t>
    </dgm:pt>
    <dgm:pt modelId="{29C9BA6D-F191-46DA-8C53-032FAED2373A}">
      <dgm:prSet phldrT="[Text]"/>
      <dgm:spPr>
        <a:solidFill>
          <a:srgbClr val="FFFFCC"/>
        </a:solidFill>
      </dgm:spPr>
      <dgm:t>
        <a:bodyPr/>
        <a:lstStyle/>
        <a:p>
          <a:r>
            <a:rPr lang="en-US" dirty="0">
              <a:solidFill>
                <a:schemeClr val="accent2">
                  <a:lumMod val="75000"/>
                </a:schemeClr>
              </a:solidFill>
            </a:rPr>
            <a:t>Aerated Drilling</a:t>
          </a:r>
        </a:p>
      </dgm:t>
    </dgm:pt>
    <dgm:pt modelId="{8AA2B5CD-67EA-4C3A-9DCD-64164458BCE7}" type="parTrans" cxnId="{195545BF-89C0-476D-9256-757AA05CD65B}">
      <dgm:prSet/>
      <dgm:spPr/>
      <dgm:t>
        <a:bodyPr/>
        <a:lstStyle/>
        <a:p>
          <a:endParaRPr lang="en-US"/>
        </a:p>
      </dgm:t>
    </dgm:pt>
    <dgm:pt modelId="{D2685B66-C77C-4FB3-9952-C9C47F60442E}" type="sibTrans" cxnId="{195545BF-89C0-476D-9256-757AA05CD65B}">
      <dgm:prSet/>
      <dgm:spPr/>
      <dgm:t>
        <a:bodyPr/>
        <a:lstStyle/>
        <a:p>
          <a:endParaRPr lang="en-US"/>
        </a:p>
      </dgm:t>
    </dgm:pt>
    <dgm:pt modelId="{F5E380B6-492E-4CF2-A298-5F55CCC7D15E}" type="pres">
      <dgm:prSet presAssocID="{AF5029DD-B684-4C4A-80C2-E9B1EF6F4318}" presName="linear" presStyleCnt="0">
        <dgm:presLayoutVars>
          <dgm:dir/>
          <dgm:resizeHandles val="exact"/>
        </dgm:presLayoutVars>
      </dgm:prSet>
      <dgm:spPr/>
    </dgm:pt>
    <dgm:pt modelId="{402ECB4F-E0A4-4480-99B4-13428F3DD9B8}" type="pres">
      <dgm:prSet presAssocID="{563CFE6B-78A3-49F1-9EA9-EEA283A0EB43}" presName="comp" presStyleCnt="0"/>
      <dgm:spPr/>
    </dgm:pt>
    <dgm:pt modelId="{30E412BE-5EEE-4951-B2F7-53E10F60FDB9}" type="pres">
      <dgm:prSet presAssocID="{563CFE6B-78A3-49F1-9EA9-EEA283A0EB43}" presName="box" presStyleLbl="node1" presStyleIdx="0" presStyleCnt="5" custLinFactNeighborX="-726" custLinFactNeighborY="-401"/>
      <dgm:spPr/>
    </dgm:pt>
    <dgm:pt modelId="{C6ADFD21-97F7-4F5A-8C14-2E0D2E695998}" type="pres">
      <dgm:prSet presAssocID="{563CFE6B-78A3-49F1-9EA9-EEA283A0EB43}" presName="img" presStyleLbl="fgImgPlace1" presStyleIdx="0" presStyleCnt="5"/>
      <dgm:spPr>
        <a:blipFill rotWithShape="1">
          <a:blip xmlns:r="http://schemas.openxmlformats.org/officeDocument/2006/relationships" r:embed="rId1" cstate="email">
            <a:extLst>
              <a:ext uri="{28A0092B-C50C-407E-A947-70E740481C1C}">
                <a14:useLocalDpi xmlns:a14="http://schemas.microsoft.com/office/drawing/2010/main"/>
              </a:ext>
            </a:extLst>
          </a:blip>
          <a:stretch>
            <a:fillRect/>
          </a:stretch>
        </a:blipFill>
      </dgm:spPr>
    </dgm:pt>
    <dgm:pt modelId="{691FEDF1-933B-41E1-A167-9D64F04AB0E2}" type="pres">
      <dgm:prSet presAssocID="{563CFE6B-78A3-49F1-9EA9-EEA283A0EB43}" presName="text" presStyleLbl="node1" presStyleIdx="0" presStyleCnt="5">
        <dgm:presLayoutVars>
          <dgm:bulletEnabled val="1"/>
        </dgm:presLayoutVars>
      </dgm:prSet>
      <dgm:spPr/>
    </dgm:pt>
    <dgm:pt modelId="{C650E84C-F146-4772-8FF5-37480807FEC6}" type="pres">
      <dgm:prSet presAssocID="{2541F305-BEB7-4E23-8262-2DBC31704458}" presName="spacer" presStyleCnt="0"/>
      <dgm:spPr/>
    </dgm:pt>
    <dgm:pt modelId="{55FD430C-C6CE-423A-BBA3-A78E3710F21A}" type="pres">
      <dgm:prSet presAssocID="{39A65AD6-B00B-4473-AF5F-5021271DFF6B}" presName="comp" presStyleCnt="0"/>
      <dgm:spPr/>
    </dgm:pt>
    <dgm:pt modelId="{C1F84909-D618-4CA9-A577-D85FEE5931F9}" type="pres">
      <dgm:prSet presAssocID="{39A65AD6-B00B-4473-AF5F-5021271DFF6B}" presName="box" presStyleLbl="node1" presStyleIdx="1" presStyleCnt="5" custLinFactNeighborX="-34807" custLinFactNeighborY="7344"/>
      <dgm:spPr/>
    </dgm:pt>
    <dgm:pt modelId="{593927D4-CBC8-416E-9CD8-076834F202D5}" type="pres">
      <dgm:prSet presAssocID="{39A65AD6-B00B-4473-AF5F-5021271DFF6B}" presName="img" presStyleLbl="fgImgPlace1" presStyleIdx="1" presStyleCnt="5"/>
      <dgm:spPr>
        <a:blipFill rotWithShape="1">
          <a:blip xmlns:r="http://schemas.openxmlformats.org/officeDocument/2006/relationships" r:embed="rId2" cstate="email">
            <a:extLst>
              <a:ext uri="{28A0092B-C50C-407E-A947-70E740481C1C}">
                <a14:useLocalDpi xmlns:a14="http://schemas.microsoft.com/office/drawing/2010/main"/>
              </a:ext>
            </a:extLst>
          </a:blip>
          <a:stretch>
            <a:fillRect/>
          </a:stretch>
        </a:blipFill>
      </dgm:spPr>
    </dgm:pt>
    <dgm:pt modelId="{AC8FD5C4-286A-4C77-978F-B1C7546F1AB6}" type="pres">
      <dgm:prSet presAssocID="{39A65AD6-B00B-4473-AF5F-5021271DFF6B}" presName="text" presStyleLbl="node1" presStyleIdx="1" presStyleCnt="5">
        <dgm:presLayoutVars>
          <dgm:bulletEnabled val="1"/>
        </dgm:presLayoutVars>
      </dgm:prSet>
      <dgm:spPr/>
    </dgm:pt>
    <dgm:pt modelId="{F1FB62B4-2351-44CA-A775-91395E7C69DD}" type="pres">
      <dgm:prSet presAssocID="{21B98FD9-38E8-4642-8440-55C613DE0600}" presName="spacer" presStyleCnt="0"/>
      <dgm:spPr/>
    </dgm:pt>
    <dgm:pt modelId="{6D6A5727-0D7D-449D-9771-8444A233F298}" type="pres">
      <dgm:prSet presAssocID="{9B508CC9-9F95-426F-9918-8E3DBED28353}" presName="comp" presStyleCnt="0"/>
      <dgm:spPr/>
    </dgm:pt>
    <dgm:pt modelId="{19AE6B41-48E0-4C1E-A012-0101F699FCF2}" type="pres">
      <dgm:prSet presAssocID="{9B508CC9-9F95-426F-9918-8E3DBED28353}" presName="box" presStyleLbl="node1" presStyleIdx="2" presStyleCnt="5"/>
      <dgm:spPr/>
    </dgm:pt>
    <dgm:pt modelId="{670191DE-729F-4D29-AA50-CE49813DFF21}" type="pres">
      <dgm:prSet presAssocID="{9B508CC9-9F95-426F-9918-8E3DBED28353}" presName="img" presStyleLbl="fgImgPlace1" presStyleIdx="2" presStyleCnt="5"/>
      <dgm:spPr>
        <a:blipFill rotWithShape="1">
          <a:blip xmlns:r="http://schemas.openxmlformats.org/officeDocument/2006/relationships" r:embed="rId3" cstate="email">
            <a:extLst>
              <a:ext uri="{28A0092B-C50C-407E-A947-70E740481C1C}">
                <a14:useLocalDpi xmlns:a14="http://schemas.microsoft.com/office/drawing/2010/main"/>
              </a:ext>
            </a:extLst>
          </a:blip>
          <a:stretch>
            <a:fillRect/>
          </a:stretch>
        </a:blipFill>
      </dgm:spPr>
    </dgm:pt>
    <dgm:pt modelId="{7F0D1A04-A1F0-4359-B47C-A06F53357ADB}" type="pres">
      <dgm:prSet presAssocID="{9B508CC9-9F95-426F-9918-8E3DBED28353}" presName="text" presStyleLbl="node1" presStyleIdx="2" presStyleCnt="5">
        <dgm:presLayoutVars>
          <dgm:bulletEnabled val="1"/>
        </dgm:presLayoutVars>
      </dgm:prSet>
      <dgm:spPr/>
    </dgm:pt>
    <dgm:pt modelId="{F5C50B80-68D0-40AA-BE76-8E7B682B400C}" type="pres">
      <dgm:prSet presAssocID="{18FCA4AE-C603-47F8-A52C-157130630D89}" presName="spacer" presStyleCnt="0"/>
      <dgm:spPr/>
    </dgm:pt>
    <dgm:pt modelId="{3DA94004-6550-47A3-A116-5CFF6777D97B}" type="pres">
      <dgm:prSet presAssocID="{E35BE437-9B12-458A-A53D-06969757A6E0}" presName="comp" presStyleCnt="0"/>
      <dgm:spPr/>
    </dgm:pt>
    <dgm:pt modelId="{7CC5284D-DAD1-4D49-BB4B-7E716E3EB89B}" type="pres">
      <dgm:prSet presAssocID="{E35BE437-9B12-458A-A53D-06969757A6E0}" presName="box" presStyleLbl="node1" presStyleIdx="3" presStyleCnt="5"/>
      <dgm:spPr/>
    </dgm:pt>
    <dgm:pt modelId="{5D7F2ED6-243E-4909-938D-1DBD13351968}" type="pres">
      <dgm:prSet presAssocID="{E35BE437-9B12-458A-A53D-06969757A6E0}" presName="img" presStyleLbl="fgImgPlace1" presStyleIdx="3" presStyleCnt="5"/>
      <dgm:spPr>
        <a:blipFill rotWithShape="1">
          <a:blip xmlns:r="http://schemas.openxmlformats.org/officeDocument/2006/relationships" r:embed="rId4" cstate="email">
            <a:extLst>
              <a:ext uri="{28A0092B-C50C-407E-A947-70E740481C1C}">
                <a14:useLocalDpi xmlns:a14="http://schemas.microsoft.com/office/drawing/2010/main"/>
              </a:ext>
            </a:extLst>
          </a:blip>
          <a:stretch>
            <a:fillRect/>
          </a:stretch>
        </a:blipFill>
      </dgm:spPr>
    </dgm:pt>
    <dgm:pt modelId="{A3F36290-EC0E-458E-B064-46D3609282F0}" type="pres">
      <dgm:prSet presAssocID="{E35BE437-9B12-458A-A53D-06969757A6E0}" presName="text" presStyleLbl="node1" presStyleIdx="3" presStyleCnt="5">
        <dgm:presLayoutVars>
          <dgm:bulletEnabled val="1"/>
        </dgm:presLayoutVars>
      </dgm:prSet>
      <dgm:spPr/>
    </dgm:pt>
    <dgm:pt modelId="{3927258E-E4EE-4297-868D-7773228EAEFD}" type="pres">
      <dgm:prSet presAssocID="{92C3B6CB-6FC2-4FEE-856E-F3316CCD13BD}" presName="spacer" presStyleCnt="0"/>
      <dgm:spPr/>
    </dgm:pt>
    <dgm:pt modelId="{2E72CB1E-F04A-4AC2-8E33-D6A8FF0FC0E2}" type="pres">
      <dgm:prSet presAssocID="{29C9BA6D-F191-46DA-8C53-032FAED2373A}" presName="comp" presStyleCnt="0"/>
      <dgm:spPr/>
    </dgm:pt>
    <dgm:pt modelId="{FBB942E4-A997-4F3C-A7A2-9AE2CAC92EEC}" type="pres">
      <dgm:prSet presAssocID="{29C9BA6D-F191-46DA-8C53-032FAED2373A}" presName="box" presStyleLbl="node1" presStyleIdx="4" presStyleCnt="5"/>
      <dgm:spPr/>
    </dgm:pt>
    <dgm:pt modelId="{4774F5EB-71A4-4FCC-ABC0-AB4C913FE58C}" type="pres">
      <dgm:prSet presAssocID="{29C9BA6D-F191-46DA-8C53-032FAED2373A}" presName="img" presStyleLbl="fgImgPlace1" presStyleIdx="4" presStyleCnt="5"/>
      <dgm:spPr>
        <a:blipFill rotWithShape="1">
          <a:blip xmlns:r="http://schemas.openxmlformats.org/officeDocument/2006/relationships" r:embed="rId5" cstate="email">
            <a:extLst>
              <a:ext uri="{28A0092B-C50C-407E-A947-70E740481C1C}">
                <a14:useLocalDpi xmlns:a14="http://schemas.microsoft.com/office/drawing/2010/main"/>
              </a:ext>
            </a:extLst>
          </a:blip>
          <a:stretch>
            <a:fillRect/>
          </a:stretch>
        </a:blipFill>
      </dgm:spPr>
    </dgm:pt>
    <dgm:pt modelId="{3A95C0A7-9B44-4C8B-8C85-0FE11BA2ED65}" type="pres">
      <dgm:prSet presAssocID="{29C9BA6D-F191-46DA-8C53-032FAED2373A}" presName="text" presStyleLbl="node1" presStyleIdx="4" presStyleCnt="5">
        <dgm:presLayoutVars>
          <dgm:bulletEnabled val="1"/>
        </dgm:presLayoutVars>
      </dgm:prSet>
      <dgm:spPr/>
    </dgm:pt>
  </dgm:ptLst>
  <dgm:cxnLst>
    <dgm:cxn modelId="{96C47F03-A779-4CD9-A99A-D4BF577CE571}" type="presOf" srcId="{29C9BA6D-F191-46DA-8C53-032FAED2373A}" destId="{3A95C0A7-9B44-4C8B-8C85-0FE11BA2ED65}" srcOrd="1" destOrd="0" presId="urn:microsoft.com/office/officeart/2005/8/layout/vList4"/>
    <dgm:cxn modelId="{E7AD4931-6F68-482F-ADAD-620094AFD4D9}" type="presOf" srcId="{E35BE437-9B12-458A-A53D-06969757A6E0}" destId="{A3F36290-EC0E-458E-B064-46D3609282F0}" srcOrd="1" destOrd="0" presId="urn:microsoft.com/office/officeart/2005/8/layout/vList4"/>
    <dgm:cxn modelId="{92631845-DD1D-456D-9D88-59A1161478C2}" type="presOf" srcId="{E35BE437-9B12-458A-A53D-06969757A6E0}" destId="{7CC5284D-DAD1-4D49-BB4B-7E716E3EB89B}" srcOrd="0" destOrd="0" presId="urn:microsoft.com/office/officeart/2005/8/layout/vList4"/>
    <dgm:cxn modelId="{6206784B-5AF2-45AF-88B0-D178656BE956}" type="presOf" srcId="{9B508CC9-9F95-426F-9918-8E3DBED28353}" destId="{7F0D1A04-A1F0-4359-B47C-A06F53357ADB}" srcOrd="1" destOrd="0" presId="urn:microsoft.com/office/officeart/2005/8/layout/vList4"/>
    <dgm:cxn modelId="{2E6CA376-1FD4-4B33-846C-9055B4CF86B8}" type="presOf" srcId="{39A65AD6-B00B-4473-AF5F-5021271DFF6B}" destId="{AC8FD5C4-286A-4C77-978F-B1C7546F1AB6}" srcOrd="1" destOrd="0" presId="urn:microsoft.com/office/officeart/2005/8/layout/vList4"/>
    <dgm:cxn modelId="{C1761F8B-5AB4-474D-9513-F880E034CD3C}" type="presOf" srcId="{39A65AD6-B00B-4473-AF5F-5021271DFF6B}" destId="{C1F84909-D618-4CA9-A577-D85FEE5931F9}" srcOrd="0" destOrd="0" presId="urn:microsoft.com/office/officeart/2005/8/layout/vList4"/>
    <dgm:cxn modelId="{AA495C91-2ECE-4AA2-B3A4-A02898DF6678}" srcId="{AF5029DD-B684-4C4A-80C2-E9B1EF6F4318}" destId="{563CFE6B-78A3-49F1-9EA9-EEA283A0EB43}" srcOrd="0" destOrd="0" parTransId="{C272DF4B-37CE-41D6-AC98-F4ED2D7CDC3C}" sibTransId="{2541F305-BEB7-4E23-8262-2DBC31704458}"/>
    <dgm:cxn modelId="{EF013F99-BA98-4B3D-B479-148E9847986C}" srcId="{AF5029DD-B684-4C4A-80C2-E9B1EF6F4318}" destId="{E35BE437-9B12-458A-A53D-06969757A6E0}" srcOrd="3" destOrd="0" parTransId="{1668A629-D1D9-4AA5-87F0-9C51A6F1899E}" sibTransId="{92C3B6CB-6FC2-4FEE-856E-F3316CCD13BD}"/>
    <dgm:cxn modelId="{E7B0CF9A-1D53-4CC0-A4E9-7EB7E4A29FA7}" type="presOf" srcId="{563CFE6B-78A3-49F1-9EA9-EEA283A0EB43}" destId="{691FEDF1-933B-41E1-A167-9D64F04AB0E2}" srcOrd="1" destOrd="0" presId="urn:microsoft.com/office/officeart/2005/8/layout/vList4"/>
    <dgm:cxn modelId="{22161BAF-D22F-402B-BBCA-8C43653EDD20}" type="presOf" srcId="{563CFE6B-78A3-49F1-9EA9-EEA283A0EB43}" destId="{30E412BE-5EEE-4951-B2F7-53E10F60FDB9}" srcOrd="0" destOrd="0" presId="urn:microsoft.com/office/officeart/2005/8/layout/vList4"/>
    <dgm:cxn modelId="{195545BF-89C0-476D-9256-757AA05CD65B}" srcId="{AF5029DD-B684-4C4A-80C2-E9B1EF6F4318}" destId="{29C9BA6D-F191-46DA-8C53-032FAED2373A}" srcOrd="4" destOrd="0" parTransId="{8AA2B5CD-67EA-4C3A-9DCD-64164458BCE7}" sibTransId="{D2685B66-C77C-4FB3-9952-C9C47F60442E}"/>
    <dgm:cxn modelId="{E94A18D6-0DFA-437A-BE89-AC792A4DF600}" srcId="{AF5029DD-B684-4C4A-80C2-E9B1EF6F4318}" destId="{9B508CC9-9F95-426F-9918-8E3DBED28353}" srcOrd="2" destOrd="0" parTransId="{D9891EA4-25F7-40BA-BDA5-A1D781D678C3}" sibTransId="{18FCA4AE-C603-47F8-A52C-157130630D89}"/>
    <dgm:cxn modelId="{0737B7D7-C57A-4C04-8C6C-9B265DAE4EA5}" type="presOf" srcId="{AF5029DD-B684-4C4A-80C2-E9B1EF6F4318}" destId="{F5E380B6-492E-4CF2-A298-5F55CCC7D15E}" srcOrd="0" destOrd="0" presId="urn:microsoft.com/office/officeart/2005/8/layout/vList4"/>
    <dgm:cxn modelId="{CD201BDB-22BD-4FE4-B09E-9C248C05CC87}" type="presOf" srcId="{9B508CC9-9F95-426F-9918-8E3DBED28353}" destId="{19AE6B41-48E0-4C1E-A012-0101F699FCF2}" srcOrd="0" destOrd="0" presId="urn:microsoft.com/office/officeart/2005/8/layout/vList4"/>
    <dgm:cxn modelId="{6924B2E1-5AE8-47D9-B905-EE0CDE6092FB}" srcId="{AF5029DD-B684-4C4A-80C2-E9B1EF6F4318}" destId="{39A65AD6-B00B-4473-AF5F-5021271DFF6B}" srcOrd="1" destOrd="0" parTransId="{2FA70986-AF89-4E21-95EF-6B344BB9F9B4}" sibTransId="{21B98FD9-38E8-4642-8440-55C613DE0600}"/>
    <dgm:cxn modelId="{477537F2-4037-41AA-95EF-A72F25CAB12D}" type="presOf" srcId="{29C9BA6D-F191-46DA-8C53-032FAED2373A}" destId="{FBB942E4-A997-4F3C-A7A2-9AE2CAC92EEC}" srcOrd="0" destOrd="0" presId="urn:microsoft.com/office/officeart/2005/8/layout/vList4"/>
    <dgm:cxn modelId="{00281AEA-F2C6-4A14-B8FB-83ED0F00203B}" type="presParOf" srcId="{F5E380B6-492E-4CF2-A298-5F55CCC7D15E}" destId="{402ECB4F-E0A4-4480-99B4-13428F3DD9B8}" srcOrd="0" destOrd="0" presId="urn:microsoft.com/office/officeart/2005/8/layout/vList4"/>
    <dgm:cxn modelId="{1350C68C-9BB2-4D6F-9EEB-A6063F44C53B}" type="presParOf" srcId="{402ECB4F-E0A4-4480-99B4-13428F3DD9B8}" destId="{30E412BE-5EEE-4951-B2F7-53E10F60FDB9}" srcOrd="0" destOrd="0" presId="urn:microsoft.com/office/officeart/2005/8/layout/vList4"/>
    <dgm:cxn modelId="{F923AFD2-9E4A-4DF5-B2E0-5CB923FA3A27}" type="presParOf" srcId="{402ECB4F-E0A4-4480-99B4-13428F3DD9B8}" destId="{C6ADFD21-97F7-4F5A-8C14-2E0D2E695998}" srcOrd="1" destOrd="0" presId="urn:microsoft.com/office/officeart/2005/8/layout/vList4"/>
    <dgm:cxn modelId="{5342ADBB-426C-4884-A853-2B0F06FC52DF}" type="presParOf" srcId="{402ECB4F-E0A4-4480-99B4-13428F3DD9B8}" destId="{691FEDF1-933B-41E1-A167-9D64F04AB0E2}" srcOrd="2" destOrd="0" presId="urn:microsoft.com/office/officeart/2005/8/layout/vList4"/>
    <dgm:cxn modelId="{F714CFF6-AE17-424D-B9E3-3632AFCD6AD0}" type="presParOf" srcId="{F5E380B6-492E-4CF2-A298-5F55CCC7D15E}" destId="{C650E84C-F146-4772-8FF5-37480807FEC6}" srcOrd="1" destOrd="0" presId="urn:microsoft.com/office/officeart/2005/8/layout/vList4"/>
    <dgm:cxn modelId="{9B0D074A-02B8-41ED-9F3F-E8424B0B9BE2}" type="presParOf" srcId="{F5E380B6-492E-4CF2-A298-5F55CCC7D15E}" destId="{55FD430C-C6CE-423A-BBA3-A78E3710F21A}" srcOrd="2" destOrd="0" presId="urn:microsoft.com/office/officeart/2005/8/layout/vList4"/>
    <dgm:cxn modelId="{7DDE7202-2F3B-4836-B48F-71EDFD43A925}" type="presParOf" srcId="{55FD430C-C6CE-423A-BBA3-A78E3710F21A}" destId="{C1F84909-D618-4CA9-A577-D85FEE5931F9}" srcOrd="0" destOrd="0" presId="urn:microsoft.com/office/officeart/2005/8/layout/vList4"/>
    <dgm:cxn modelId="{F9A5C8CF-4697-4BF6-B023-63229DC8ED27}" type="presParOf" srcId="{55FD430C-C6CE-423A-BBA3-A78E3710F21A}" destId="{593927D4-CBC8-416E-9CD8-076834F202D5}" srcOrd="1" destOrd="0" presId="urn:microsoft.com/office/officeart/2005/8/layout/vList4"/>
    <dgm:cxn modelId="{4F87A699-2B4B-4B10-A471-9F31C54D09AD}" type="presParOf" srcId="{55FD430C-C6CE-423A-BBA3-A78E3710F21A}" destId="{AC8FD5C4-286A-4C77-978F-B1C7546F1AB6}" srcOrd="2" destOrd="0" presId="urn:microsoft.com/office/officeart/2005/8/layout/vList4"/>
    <dgm:cxn modelId="{C564EA7D-E2D9-413E-AEB2-80B16715FC15}" type="presParOf" srcId="{F5E380B6-492E-4CF2-A298-5F55CCC7D15E}" destId="{F1FB62B4-2351-44CA-A775-91395E7C69DD}" srcOrd="3" destOrd="0" presId="urn:microsoft.com/office/officeart/2005/8/layout/vList4"/>
    <dgm:cxn modelId="{088936C7-13D3-47CE-B6E1-F57EA60FAB63}" type="presParOf" srcId="{F5E380B6-492E-4CF2-A298-5F55CCC7D15E}" destId="{6D6A5727-0D7D-449D-9771-8444A233F298}" srcOrd="4" destOrd="0" presId="urn:microsoft.com/office/officeart/2005/8/layout/vList4"/>
    <dgm:cxn modelId="{BFB7525E-534E-441A-9B5D-F4EFDE7B6A52}" type="presParOf" srcId="{6D6A5727-0D7D-449D-9771-8444A233F298}" destId="{19AE6B41-48E0-4C1E-A012-0101F699FCF2}" srcOrd="0" destOrd="0" presId="urn:microsoft.com/office/officeart/2005/8/layout/vList4"/>
    <dgm:cxn modelId="{2D63BEDB-888A-48A7-A758-1C280F32A318}" type="presParOf" srcId="{6D6A5727-0D7D-449D-9771-8444A233F298}" destId="{670191DE-729F-4D29-AA50-CE49813DFF21}" srcOrd="1" destOrd="0" presId="urn:microsoft.com/office/officeart/2005/8/layout/vList4"/>
    <dgm:cxn modelId="{0C7398F8-999F-4262-A434-0D9F2428356B}" type="presParOf" srcId="{6D6A5727-0D7D-449D-9771-8444A233F298}" destId="{7F0D1A04-A1F0-4359-B47C-A06F53357ADB}" srcOrd="2" destOrd="0" presId="urn:microsoft.com/office/officeart/2005/8/layout/vList4"/>
    <dgm:cxn modelId="{B6293974-0CAF-4492-9B94-E9630DCE0753}" type="presParOf" srcId="{F5E380B6-492E-4CF2-A298-5F55CCC7D15E}" destId="{F5C50B80-68D0-40AA-BE76-8E7B682B400C}" srcOrd="5" destOrd="0" presId="urn:microsoft.com/office/officeart/2005/8/layout/vList4"/>
    <dgm:cxn modelId="{9645EC23-5C3F-4CF9-8D9D-2D97AD70F63E}" type="presParOf" srcId="{F5E380B6-492E-4CF2-A298-5F55CCC7D15E}" destId="{3DA94004-6550-47A3-A116-5CFF6777D97B}" srcOrd="6" destOrd="0" presId="urn:microsoft.com/office/officeart/2005/8/layout/vList4"/>
    <dgm:cxn modelId="{198EA469-7A91-4A16-9E69-392135A31421}" type="presParOf" srcId="{3DA94004-6550-47A3-A116-5CFF6777D97B}" destId="{7CC5284D-DAD1-4D49-BB4B-7E716E3EB89B}" srcOrd="0" destOrd="0" presId="urn:microsoft.com/office/officeart/2005/8/layout/vList4"/>
    <dgm:cxn modelId="{C9DA1A55-5BC2-44D2-B599-D4DF4DC48DA4}" type="presParOf" srcId="{3DA94004-6550-47A3-A116-5CFF6777D97B}" destId="{5D7F2ED6-243E-4909-938D-1DBD13351968}" srcOrd="1" destOrd="0" presId="urn:microsoft.com/office/officeart/2005/8/layout/vList4"/>
    <dgm:cxn modelId="{D26B3FDC-C0A2-4B11-96B9-0BF43DA1C0B4}" type="presParOf" srcId="{3DA94004-6550-47A3-A116-5CFF6777D97B}" destId="{A3F36290-EC0E-458E-B064-46D3609282F0}" srcOrd="2" destOrd="0" presId="urn:microsoft.com/office/officeart/2005/8/layout/vList4"/>
    <dgm:cxn modelId="{5E20F5CD-3BFC-4A6E-B39E-C8BF91BAAFEE}" type="presParOf" srcId="{F5E380B6-492E-4CF2-A298-5F55CCC7D15E}" destId="{3927258E-E4EE-4297-868D-7773228EAEFD}" srcOrd="7" destOrd="0" presId="urn:microsoft.com/office/officeart/2005/8/layout/vList4"/>
    <dgm:cxn modelId="{1E096147-4CCA-4B3F-A6CD-3AFD31ADCD8D}" type="presParOf" srcId="{F5E380B6-492E-4CF2-A298-5F55CCC7D15E}" destId="{2E72CB1E-F04A-4AC2-8E33-D6A8FF0FC0E2}" srcOrd="8" destOrd="0" presId="urn:microsoft.com/office/officeart/2005/8/layout/vList4"/>
    <dgm:cxn modelId="{9C649375-83E3-4DD5-B92C-4ADF50EDF1EE}" type="presParOf" srcId="{2E72CB1E-F04A-4AC2-8E33-D6A8FF0FC0E2}" destId="{FBB942E4-A997-4F3C-A7A2-9AE2CAC92EEC}" srcOrd="0" destOrd="0" presId="urn:microsoft.com/office/officeart/2005/8/layout/vList4"/>
    <dgm:cxn modelId="{940EB3C7-A6C7-4B95-A58F-90338552BCC2}" type="presParOf" srcId="{2E72CB1E-F04A-4AC2-8E33-D6A8FF0FC0E2}" destId="{4774F5EB-71A4-4FCC-ABC0-AB4C913FE58C}" srcOrd="1" destOrd="0" presId="urn:microsoft.com/office/officeart/2005/8/layout/vList4"/>
    <dgm:cxn modelId="{1A182855-320F-4486-BC2F-1578DA181FBD}" type="presParOf" srcId="{2E72CB1E-F04A-4AC2-8E33-D6A8FF0FC0E2}" destId="{3A95C0A7-9B44-4C8B-8C85-0FE11BA2ED65}" srcOrd="2" destOrd="0" presId="urn:microsoft.com/office/officeart/2005/8/layout/vList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D9103CF-A425-44D2-B4B3-C3732BBA05FC}" type="doc">
      <dgm:prSet loTypeId="urn:microsoft.com/office/officeart/2005/8/layout/radial5" loCatId="cycle" qsTypeId="urn:microsoft.com/office/officeart/2005/8/quickstyle/simple5" qsCatId="simple" csTypeId="urn:microsoft.com/office/officeart/2005/8/colors/accent1_2" csCatId="accent1" phldr="1"/>
      <dgm:spPr/>
      <dgm:t>
        <a:bodyPr/>
        <a:lstStyle/>
        <a:p>
          <a:endParaRPr lang="en-US"/>
        </a:p>
      </dgm:t>
    </dgm:pt>
    <dgm:pt modelId="{6BBC2CB7-5145-48C9-8B8D-CD79159B0915}">
      <dgm:prSet phldrT="[Text]"/>
      <dgm:spPr>
        <a:gradFill rotWithShape="0">
          <a:gsLst>
            <a:gs pos="0">
              <a:srgbClr val="CCFF99"/>
            </a:gs>
            <a:gs pos="50000">
              <a:srgbClr val="CCFF99"/>
            </a:gs>
            <a:gs pos="100000">
              <a:srgbClr val="FFFF00"/>
            </a:gs>
          </a:gsLst>
        </a:gradFill>
      </dgm:spPr>
      <dgm:t>
        <a:bodyPr/>
        <a:lstStyle/>
        <a:p>
          <a:r>
            <a:rPr lang="en-US" b="1" dirty="0">
              <a:solidFill>
                <a:srgbClr val="C00000"/>
              </a:solidFill>
            </a:rPr>
            <a:t>Low Drilling Cost</a:t>
          </a:r>
        </a:p>
      </dgm:t>
    </dgm:pt>
    <dgm:pt modelId="{43988EF9-6D7D-49F8-BBD4-AB34E7DF8505}" type="parTrans" cxnId="{1434490A-7F1B-4E8F-9ADE-8FE2A8448017}">
      <dgm:prSet/>
      <dgm:spPr/>
      <dgm:t>
        <a:bodyPr/>
        <a:lstStyle/>
        <a:p>
          <a:endParaRPr lang="en-US"/>
        </a:p>
      </dgm:t>
    </dgm:pt>
    <dgm:pt modelId="{47C7A8D5-568E-4377-B4EE-4F3DBF297FC3}" type="sibTrans" cxnId="{1434490A-7F1B-4E8F-9ADE-8FE2A8448017}">
      <dgm:prSet/>
      <dgm:spPr/>
      <dgm:t>
        <a:bodyPr/>
        <a:lstStyle/>
        <a:p>
          <a:endParaRPr lang="en-US"/>
        </a:p>
      </dgm:t>
    </dgm:pt>
    <dgm:pt modelId="{9F0E220F-EBB0-4964-A0F5-BA7A24BDD8FD}">
      <dgm:prSet phldrT="[Text]" custT="1"/>
      <dgm:spPr>
        <a:gradFill rotWithShape="0">
          <a:gsLst>
            <a:gs pos="0">
              <a:schemeClr val="accent6">
                <a:lumMod val="60000"/>
                <a:lumOff val="40000"/>
              </a:schemeClr>
            </a:gs>
            <a:gs pos="50000">
              <a:schemeClr val="accent6">
                <a:lumMod val="75000"/>
              </a:schemeClr>
            </a:gs>
            <a:gs pos="100000">
              <a:schemeClr val="accent6">
                <a:lumMod val="50000"/>
              </a:schemeClr>
            </a:gs>
          </a:gsLst>
        </a:gradFill>
      </dgm:spPr>
      <dgm:t>
        <a:bodyPr/>
        <a:lstStyle/>
        <a:p>
          <a:r>
            <a:rPr lang="en-US" sz="2000" b="1" dirty="0"/>
            <a:t>Well Design Study</a:t>
          </a:r>
        </a:p>
      </dgm:t>
    </dgm:pt>
    <dgm:pt modelId="{341FFC98-9533-45FC-A339-559F127B2E33}" type="parTrans" cxnId="{507C2C63-5371-458B-92F8-85BE688A14F8}">
      <dgm:prSet/>
      <dgm:spPr/>
      <dgm:t>
        <a:bodyPr/>
        <a:lstStyle/>
        <a:p>
          <a:endParaRPr lang="en-US"/>
        </a:p>
      </dgm:t>
    </dgm:pt>
    <dgm:pt modelId="{DBDAD8E8-2875-43B0-9291-7107CC356D14}" type="sibTrans" cxnId="{507C2C63-5371-458B-92F8-85BE688A14F8}">
      <dgm:prSet/>
      <dgm:spPr/>
      <dgm:t>
        <a:bodyPr/>
        <a:lstStyle/>
        <a:p>
          <a:endParaRPr lang="en-US"/>
        </a:p>
      </dgm:t>
    </dgm:pt>
    <dgm:pt modelId="{D5A96400-49C5-4910-AF86-41E395E84FA6}">
      <dgm:prSet phldrT="[Text]"/>
      <dgm:spPr>
        <a:gradFill rotWithShape="0">
          <a:gsLst>
            <a:gs pos="0">
              <a:schemeClr val="accent4">
                <a:lumMod val="60000"/>
                <a:lumOff val="40000"/>
              </a:schemeClr>
            </a:gs>
            <a:gs pos="50000">
              <a:schemeClr val="accent4">
                <a:lumMod val="75000"/>
              </a:schemeClr>
            </a:gs>
            <a:gs pos="100000">
              <a:schemeClr val="accent4">
                <a:lumMod val="50000"/>
              </a:schemeClr>
            </a:gs>
          </a:gsLst>
        </a:gradFill>
      </dgm:spPr>
      <dgm:t>
        <a:bodyPr/>
        <a:lstStyle/>
        <a:p>
          <a:r>
            <a:rPr lang="en-US" b="1" dirty="0"/>
            <a:t>Most Efficient Drilling Operation</a:t>
          </a:r>
        </a:p>
      </dgm:t>
    </dgm:pt>
    <dgm:pt modelId="{6BEB8F61-03CC-40A5-85AF-F1C7923CD055}" type="parTrans" cxnId="{D4F80E52-B8FC-4BFD-8570-D06CA2E50C37}">
      <dgm:prSet/>
      <dgm:spPr/>
      <dgm:t>
        <a:bodyPr/>
        <a:lstStyle/>
        <a:p>
          <a:endParaRPr lang="en-US"/>
        </a:p>
      </dgm:t>
    </dgm:pt>
    <dgm:pt modelId="{1EF528C4-C0DC-497C-8927-C5847DD56902}" type="sibTrans" cxnId="{D4F80E52-B8FC-4BFD-8570-D06CA2E50C37}">
      <dgm:prSet/>
      <dgm:spPr/>
      <dgm:t>
        <a:bodyPr/>
        <a:lstStyle/>
        <a:p>
          <a:endParaRPr lang="en-US"/>
        </a:p>
      </dgm:t>
    </dgm:pt>
    <dgm:pt modelId="{9F26D381-98CC-4512-8C8F-C35A185B423A}">
      <dgm:prSet phldrT="[Text]" custT="1"/>
      <dgm:spPr>
        <a:gradFill rotWithShape="0">
          <a:gsLst>
            <a:gs pos="0">
              <a:schemeClr val="accent5">
                <a:lumMod val="40000"/>
                <a:lumOff val="60000"/>
              </a:schemeClr>
            </a:gs>
            <a:gs pos="50000">
              <a:schemeClr val="accent5">
                <a:lumMod val="75000"/>
              </a:schemeClr>
            </a:gs>
            <a:gs pos="100000">
              <a:schemeClr val="accent5">
                <a:lumMod val="50000"/>
              </a:schemeClr>
            </a:gs>
          </a:gsLst>
        </a:gradFill>
      </dgm:spPr>
      <dgm:t>
        <a:bodyPr/>
        <a:lstStyle/>
        <a:p>
          <a:r>
            <a:rPr lang="en-US" sz="2400" dirty="0"/>
            <a:t>Rig Sizing</a:t>
          </a:r>
        </a:p>
      </dgm:t>
    </dgm:pt>
    <dgm:pt modelId="{45EEFC93-37C0-44D6-B981-824ACF225433}" type="parTrans" cxnId="{080AE889-80D2-49D4-AF2B-9ACA427268C3}">
      <dgm:prSet/>
      <dgm:spPr/>
      <dgm:t>
        <a:bodyPr/>
        <a:lstStyle/>
        <a:p>
          <a:endParaRPr lang="en-US"/>
        </a:p>
      </dgm:t>
    </dgm:pt>
    <dgm:pt modelId="{3BA50CAB-2B45-44A2-81D6-B2F9D43B5B12}" type="sibTrans" cxnId="{080AE889-80D2-49D4-AF2B-9ACA427268C3}">
      <dgm:prSet/>
      <dgm:spPr/>
      <dgm:t>
        <a:bodyPr/>
        <a:lstStyle/>
        <a:p>
          <a:endParaRPr lang="en-US"/>
        </a:p>
      </dgm:t>
    </dgm:pt>
    <dgm:pt modelId="{A1F93839-8944-40A6-834A-8EC478122B9C}">
      <dgm:prSet phldrT="[Text]" custT="1"/>
      <dgm:spPr>
        <a:gradFill rotWithShape="0">
          <a:gsLst>
            <a:gs pos="0">
              <a:srgbClr val="FFFF66"/>
            </a:gs>
            <a:gs pos="50000">
              <a:schemeClr val="accent6">
                <a:lumMod val="75000"/>
              </a:schemeClr>
            </a:gs>
            <a:gs pos="100000">
              <a:srgbClr val="FFFFCC"/>
            </a:gs>
          </a:gsLst>
        </a:gradFill>
      </dgm:spPr>
      <dgm:t>
        <a:bodyPr/>
        <a:lstStyle/>
        <a:p>
          <a:r>
            <a:rPr lang="en-US" sz="2400" b="1" dirty="0">
              <a:solidFill>
                <a:schemeClr val="accent5">
                  <a:lumMod val="50000"/>
                </a:schemeClr>
              </a:solidFill>
            </a:rPr>
            <a:t>Drilling Procurement Strategy</a:t>
          </a:r>
        </a:p>
      </dgm:t>
    </dgm:pt>
    <dgm:pt modelId="{85E686B6-8757-4D27-B3C7-352697FF1F27}" type="sibTrans" cxnId="{B652AA6E-70AE-42D5-A312-DF6B699D46D4}">
      <dgm:prSet/>
      <dgm:spPr/>
      <dgm:t>
        <a:bodyPr/>
        <a:lstStyle/>
        <a:p>
          <a:endParaRPr lang="en-US"/>
        </a:p>
      </dgm:t>
    </dgm:pt>
    <dgm:pt modelId="{D49785F6-F32A-4230-B91A-D5DCE3B050E4}" type="parTrans" cxnId="{B652AA6E-70AE-42D5-A312-DF6B699D46D4}">
      <dgm:prSet>
        <dgm:style>
          <a:lnRef idx="3">
            <a:schemeClr val="lt1"/>
          </a:lnRef>
          <a:fillRef idx="1">
            <a:schemeClr val="accent4"/>
          </a:fillRef>
          <a:effectRef idx="1">
            <a:schemeClr val="accent4"/>
          </a:effectRef>
          <a:fontRef idx="minor">
            <a:schemeClr val="lt1"/>
          </a:fontRef>
        </dgm:style>
      </dgm:prSet>
      <dgm:spPr>
        <a:effectLst>
          <a:outerShdw blurRad="63500" sx="102000" sy="102000" algn="ctr" rotWithShape="0">
            <a:prstClr val="black">
              <a:alpha val="40000"/>
            </a:prstClr>
          </a:outerShdw>
        </a:effectLst>
      </dgm:spPr>
      <dgm:t>
        <a:bodyPr/>
        <a:lstStyle/>
        <a:p>
          <a:endParaRPr lang="en-US"/>
        </a:p>
      </dgm:t>
    </dgm:pt>
    <dgm:pt modelId="{E995DBF7-D0E0-4453-AD60-0B1333C17EB9}" type="pres">
      <dgm:prSet presAssocID="{7D9103CF-A425-44D2-B4B3-C3732BBA05FC}" presName="Name0" presStyleCnt="0">
        <dgm:presLayoutVars>
          <dgm:chMax val="1"/>
          <dgm:dir/>
          <dgm:animLvl val="ctr"/>
          <dgm:resizeHandles val="exact"/>
        </dgm:presLayoutVars>
      </dgm:prSet>
      <dgm:spPr/>
    </dgm:pt>
    <dgm:pt modelId="{17D5D29E-5CB2-46C3-80A6-0A696CBDBC30}" type="pres">
      <dgm:prSet presAssocID="{6BBC2CB7-5145-48C9-8B8D-CD79159B0915}" presName="centerShape" presStyleLbl="node0" presStyleIdx="0" presStyleCnt="1"/>
      <dgm:spPr/>
    </dgm:pt>
    <dgm:pt modelId="{DBF2EF6E-61E2-474E-A76B-0E996086892B}" type="pres">
      <dgm:prSet presAssocID="{341FFC98-9533-45FC-A339-559F127B2E33}" presName="parTrans" presStyleLbl="sibTrans2D1" presStyleIdx="0" presStyleCnt="4" custFlipVert="1"/>
      <dgm:spPr/>
    </dgm:pt>
    <dgm:pt modelId="{BB914C8D-A9D6-435A-A156-A2A4AD915095}" type="pres">
      <dgm:prSet presAssocID="{341FFC98-9533-45FC-A339-559F127B2E33}" presName="connectorText" presStyleLbl="sibTrans2D1" presStyleIdx="0" presStyleCnt="4"/>
      <dgm:spPr/>
    </dgm:pt>
    <dgm:pt modelId="{AC158ED0-DB9A-4A98-B9F0-85406F407931}" type="pres">
      <dgm:prSet presAssocID="{9F0E220F-EBB0-4964-A0F5-BA7A24BDD8FD}" presName="node" presStyleLbl="node1" presStyleIdx="0" presStyleCnt="4">
        <dgm:presLayoutVars>
          <dgm:bulletEnabled val="1"/>
        </dgm:presLayoutVars>
      </dgm:prSet>
      <dgm:spPr/>
    </dgm:pt>
    <dgm:pt modelId="{FB81C519-65FF-465B-AD46-A9218BB5AAD6}" type="pres">
      <dgm:prSet presAssocID="{D49785F6-F32A-4230-B91A-D5DCE3B050E4}" presName="parTrans" presStyleLbl="sibTrans2D1" presStyleIdx="1" presStyleCnt="4" custFlipHor="0" custScaleX="117667" custScaleY="287079"/>
      <dgm:spPr/>
    </dgm:pt>
    <dgm:pt modelId="{96DA51E6-9FC6-466E-A898-FADB5F1FAE45}" type="pres">
      <dgm:prSet presAssocID="{D49785F6-F32A-4230-B91A-D5DCE3B050E4}" presName="connectorText" presStyleLbl="sibTrans2D1" presStyleIdx="1" presStyleCnt="4"/>
      <dgm:spPr/>
    </dgm:pt>
    <dgm:pt modelId="{1C549977-4DFD-4271-A65A-848F7E7C7EEF}" type="pres">
      <dgm:prSet presAssocID="{A1F93839-8944-40A6-834A-8EC478122B9C}" presName="node" presStyleLbl="node1" presStyleIdx="1" presStyleCnt="4" custScaleX="192700" custScaleY="192700" custRadScaleRad="172396" custRadScaleInc="1441">
        <dgm:presLayoutVars>
          <dgm:bulletEnabled val="1"/>
        </dgm:presLayoutVars>
      </dgm:prSet>
      <dgm:spPr/>
    </dgm:pt>
    <dgm:pt modelId="{91C7A6C3-6308-4250-AB64-D22EF893C8B8}" type="pres">
      <dgm:prSet presAssocID="{6BEB8F61-03CC-40A5-85AF-F1C7923CD055}" presName="parTrans" presStyleLbl="sibTrans2D1" presStyleIdx="2" presStyleCnt="4" custFlipVert="1"/>
      <dgm:spPr/>
    </dgm:pt>
    <dgm:pt modelId="{6431749A-956F-45AF-A783-55D9AADC2692}" type="pres">
      <dgm:prSet presAssocID="{6BEB8F61-03CC-40A5-85AF-F1C7923CD055}" presName="connectorText" presStyleLbl="sibTrans2D1" presStyleIdx="2" presStyleCnt="4"/>
      <dgm:spPr/>
    </dgm:pt>
    <dgm:pt modelId="{20A3061D-0085-48EE-B108-ADD2FD3C299D}" type="pres">
      <dgm:prSet presAssocID="{D5A96400-49C5-4910-AF86-41E395E84FA6}" presName="node" presStyleLbl="node1" presStyleIdx="2" presStyleCnt="4">
        <dgm:presLayoutVars>
          <dgm:bulletEnabled val="1"/>
        </dgm:presLayoutVars>
      </dgm:prSet>
      <dgm:spPr/>
    </dgm:pt>
    <dgm:pt modelId="{029549BF-33CD-429E-AEB8-D5DC55C64F93}" type="pres">
      <dgm:prSet presAssocID="{45EEFC93-37C0-44D6-B981-824ACF225433}" presName="parTrans" presStyleLbl="sibTrans2D1" presStyleIdx="3" presStyleCnt="4" custFlipHor="1"/>
      <dgm:spPr/>
    </dgm:pt>
    <dgm:pt modelId="{782F20AB-DC6E-4C42-A1C6-2EFCBDA1A19F}" type="pres">
      <dgm:prSet presAssocID="{45EEFC93-37C0-44D6-B981-824ACF225433}" presName="connectorText" presStyleLbl="sibTrans2D1" presStyleIdx="3" presStyleCnt="4"/>
      <dgm:spPr/>
    </dgm:pt>
    <dgm:pt modelId="{05ED72A3-6C32-4F92-AAEC-7B968005CF45}" type="pres">
      <dgm:prSet presAssocID="{9F26D381-98CC-4512-8C8F-C35A185B423A}" presName="node" presStyleLbl="node1" presStyleIdx="3" presStyleCnt="4">
        <dgm:presLayoutVars>
          <dgm:bulletEnabled val="1"/>
        </dgm:presLayoutVars>
      </dgm:prSet>
      <dgm:spPr/>
    </dgm:pt>
  </dgm:ptLst>
  <dgm:cxnLst>
    <dgm:cxn modelId="{1434490A-7F1B-4E8F-9ADE-8FE2A8448017}" srcId="{7D9103CF-A425-44D2-B4B3-C3732BBA05FC}" destId="{6BBC2CB7-5145-48C9-8B8D-CD79159B0915}" srcOrd="0" destOrd="0" parTransId="{43988EF9-6D7D-49F8-BBD4-AB34E7DF8505}" sibTransId="{47C7A8D5-568E-4377-B4EE-4F3DBF297FC3}"/>
    <dgm:cxn modelId="{8F8ABC33-8856-4DBE-9305-D16E1902686D}" type="presOf" srcId="{D49785F6-F32A-4230-B91A-D5DCE3B050E4}" destId="{FB81C519-65FF-465B-AD46-A9218BB5AAD6}" srcOrd="0" destOrd="0" presId="urn:microsoft.com/office/officeart/2005/8/layout/radial5"/>
    <dgm:cxn modelId="{B26D5F37-5485-4F9D-B19A-46DFD617801B}" type="presOf" srcId="{45EEFC93-37C0-44D6-B981-824ACF225433}" destId="{782F20AB-DC6E-4C42-A1C6-2EFCBDA1A19F}" srcOrd="1" destOrd="0" presId="urn:microsoft.com/office/officeart/2005/8/layout/radial5"/>
    <dgm:cxn modelId="{202B5C5E-6DE3-4B4F-AED8-038C503DC384}" type="presOf" srcId="{6BBC2CB7-5145-48C9-8B8D-CD79159B0915}" destId="{17D5D29E-5CB2-46C3-80A6-0A696CBDBC30}" srcOrd="0" destOrd="0" presId="urn:microsoft.com/office/officeart/2005/8/layout/radial5"/>
    <dgm:cxn modelId="{507C2C63-5371-458B-92F8-85BE688A14F8}" srcId="{6BBC2CB7-5145-48C9-8B8D-CD79159B0915}" destId="{9F0E220F-EBB0-4964-A0F5-BA7A24BDD8FD}" srcOrd="0" destOrd="0" parTransId="{341FFC98-9533-45FC-A339-559F127B2E33}" sibTransId="{DBDAD8E8-2875-43B0-9291-7107CC356D14}"/>
    <dgm:cxn modelId="{2E452C47-3008-49BD-8631-453B6813F8DE}" type="presOf" srcId="{A1F93839-8944-40A6-834A-8EC478122B9C}" destId="{1C549977-4DFD-4271-A65A-848F7E7C7EEF}" srcOrd="0" destOrd="0" presId="urn:microsoft.com/office/officeart/2005/8/layout/radial5"/>
    <dgm:cxn modelId="{38B7FB67-DC0A-43B3-94BB-BFA5CB5F1CEF}" type="presOf" srcId="{45EEFC93-37C0-44D6-B981-824ACF225433}" destId="{029549BF-33CD-429E-AEB8-D5DC55C64F93}" srcOrd="0" destOrd="0" presId="urn:microsoft.com/office/officeart/2005/8/layout/radial5"/>
    <dgm:cxn modelId="{B652AA6E-70AE-42D5-A312-DF6B699D46D4}" srcId="{6BBC2CB7-5145-48C9-8B8D-CD79159B0915}" destId="{A1F93839-8944-40A6-834A-8EC478122B9C}" srcOrd="1" destOrd="0" parTransId="{D49785F6-F32A-4230-B91A-D5DCE3B050E4}" sibTransId="{85E686B6-8757-4D27-B3C7-352697FF1F27}"/>
    <dgm:cxn modelId="{4E60F14E-A718-4675-818C-2976769D8DA7}" type="presOf" srcId="{341FFC98-9533-45FC-A339-559F127B2E33}" destId="{DBF2EF6E-61E2-474E-A76B-0E996086892B}" srcOrd="0" destOrd="0" presId="urn:microsoft.com/office/officeart/2005/8/layout/radial5"/>
    <dgm:cxn modelId="{D4F80E52-B8FC-4BFD-8570-D06CA2E50C37}" srcId="{6BBC2CB7-5145-48C9-8B8D-CD79159B0915}" destId="{D5A96400-49C5-4910-AF86-41E395E84FA6}" srcOrd="2" destOrd="0" parTransId="{6BEB8F61-03CC-40A5-85AF-F1C7923CD055}" sibTransId="{1EF528C4-C0DC-497C-8927-C5847DD56902}"/>
    <dgm:cxn modelId="{AB057454-7AA4-48AB-B445-3EB62AC3CF5C}" type="presOf" srcId="{D5A96400-49C5-4910-AF86-41E395E84FA6}" destId="{20A3061D-0085-48EE-B108-ADD2FD3C299D}" srcOrd="0" destOrd="0" presId="urn:microsoft.com/office/officeart/2005/8/layout/radial5"/>
    <dgm:cxn modelId="{AD8F7189-95CD-44AF-8E98-08FA3FC59A03}" type="presOf" srcId="{341FFC98-9533-45FC-A339-559F127B2E33}" destId="{BB914C8D-A9D6-435A-A156-A2A4AD915095}" srcOrd="1" destOrd="0" presId="urn:microsoft.com/office/officeart/2005/8/layout/radial5"/>
    <dgm:cxn modelId="{080AE889-80D2-49D4-AF2B-9ACA427268C3}" srcId="{6BBC2CB7-5145-48C9-8B8D-CD79159B0915}" destId="{9F26D381-98CC-4512-8C8F-C35A185B423A}" srcOrd="3" destOrd="0" parTransId="{45EEFC93-37C0-44D6-B981-824ACF225433}" sibTransId="{3BA50CAB-2B45-44A2-81D6-B2F9D43B5B12}"/>
    <dgm:cxn modelId="{F80C1C8E-00DF-4FA3-866E-62A8EE7ADB14}" type="presOf" srcId="{D49785F6-F32A-4230-B91A-D5DCE3B050E4}" destId="{96DA51E6-9FC6-466E-A898-FADB5F1FAE45}" srcOrd="1" destOrd="0" presId="urn:microsoft.com/office/officeart/2005/8/layout/radial5"/>
    <dgm:cxn modelId="{85396BAF-30BC-49C2-967E-02340A41A4B9}" type="presOf" srcId="{9F0E220F-EBB0-4964-A0F5-BA7A24BDD8FD}" destId="{AC158ED0-DB9A-4A98-B9F0-85406F407931}" srcOrd="0" destOrd="0" presId="urn:microsoft.com/office/officeart/2005/8/layout/radial5"/>
    <dgm:cxn modelId="{F4AF44C0-BB1F-419C-803E-09523E32BF6D}" type="presOf" srcId="{7D9103CF-A425-44D2-B4B3-C3732BBA05FC}" destId="{E995DBF7-D0E0-4453-AD60-0B1333C17EB9}" srcOrd="0" destOrd="0" presId="urn:microsoft.com/office/officeart/2005/8/layout/radial5"/>
    <dgm:cxn modelId="{88E44BCA-FDFE-4B5A-8012-6CAA870450D8}" type="presOf" srcId="{6BEB8F61-03CC-40A5-85AF-F1C7923CD055}" destId="{6431749A-956F-45AF-A783-55D9AADC2692}" srcOrd="1" destOrd="0" presId="urn:microsoft.com/office/officeart/2005/8/layout/radial5"/>
    <dgm:cxn modelId="{4F83B5E7-F108-4F63-B3FA-8BA6E7168958}" type="presOf" srcId="{6BEB8F61-03CC-40A5-85AF-F1C7923CD055}" destId="{91C7A6C3-6308-4250-AB64-D22EF893C8B8}" srcOrd="0" destOrd="0" presId="urn:microsoft.com/office/officeart/2005/8/layout/radial5"/>
    <dgm:cxn modelId="{393DA8FB-566E-47C3-B27B-0306AB777CD4}" type="presOf" srcId="{9F26D381-98CC-4512-8C8F-C35A185B423A}" destId="{05ED72A3-6C32-4F92-AAEC-7B968005CF45}" srcOrd="0" destOrd="0" presId="urn:microsoft.com/office/officeart/2005/8/layout/radial5"/>
    <dgm:cxn modelId="{316766B1-5E5C-449F-9457-E3D8BEF5D729}" type="presParOf" srcId="{E995DBF7-D0E0-4453-AD60-0B1333C17EB9}" destId="{17D5D29E-5CB2-46C3-80A6-0A696CBDBC30}" srcOrd="0" destOrd="0" presId="urn:microsoft.com/office/officeart/2005/8/layout/radial5"/>
    <dgm:cxn modelId="{2FC81CF6-F6A7-4094-BC6C-F9F7179D7BB9}" type="presParOf" srcId="{E995DBF7-D0E0-4453-AD60-0B1333C17EB9}" destId="{DBF2EF6E-61E2-474E-A76B-0E996086892B}" srcOrd="1" destOrd="0" presId="urn:microsoft.com/office/officeart/2005/8/layout/radial5"/>
    <dgm:cxn modelId="{774B989A-B152-4FAB-894E-35F70AF003F3}" type="presParOf" srcId="{DBF2EF6E-61E2-474E-A76B-0E996086892B}" destId="{BB914C8D-A9D6-435A-A156-A2A4AD915095}" srcOrd="0" destOrd="0" presId="urn:microsoft.com/office/officeart/2005/8/layout/radial5"/>
    <dgm:cxn modelId="{507ED931-19C0-4229-B87B-66FF6A9A78BE}" type="presParOf" srcId="{E995DBF7-D0E0-4453-AD60-0B1333C17EB9}" destId="{AC158ED0-DB9A-4A98-B9F0-85406F407931}" srcOrd="2" destOrd="0" presId="urn:microsoft.com/office/officeart/2005/8/layout/radial5"/>
    <dgm:cxn modelId="{5BC7D4EE-6A44-4440-AC93-ADAD13BEE80A}" type="presParOf" srcId="{E995DBF7-D0E0-4453-AD60-0B1333C17EB9}" destId="{FB81C519-65FF-465B-AD46-A9218BB5AAD6}" srcOrd="3" destOrd="0" presId="urn:microsoft.com/office/officeart/2005/8/layout/radial5"/>
    <dgm:cxn modelId="{30ACF71F-3D8B-40BD-A946-D1A1400FDCDE}" type="presParOf" srcId="{FB81C519-65FF-465B-AD46-A9218BB5AAD6}" destId="{96DA51E6-9FC6-466E-A898-FADB5F1FAE45}" srcOrd="0" destOrd="0" presId="urn:microsoft.com/office/officeart/2005/8/layout/radial5"/>
    <dgm:cxn modelId="{648B0E4B-165E-4269-A70E-0975D5A3E17A}" type="presParOf" srcId="{E995DBF7-D0E0-4453-AD60-0B1333C17EB9}" destId="{1C549977-4DFD-4271-A65A-848F7E7C7EEF}" srcOrd="4" destOrd="0" presId="urn:microsoft.com/office/officeart/2005/8/layout/radial5"/>
    <dgm:cxn modelId="{3ECF13AC-1DD5-4AF8-A39D-6C694F96BC92}" type="presParOf" srcId="{E995DBF7-D0E0-4453-AD60-0B1333C17EB9}" destId="{91C7A6C3-6308-4250-AB64-D22EF893C8B8}" srcOrd="5" destOrd="0" presId="urn:microsoft.com/office/officeart/2005/8/layout/radial5"/>
    <dgm:cxn modelId="{737049B8-BEA0-4EC3-9A1A-F0B3F890F8CD}" type="presParOf" srcId="{91C7A6C3-6308-4250-AB64-D22EF893C8B8}" destId="{6431749A-956F-45AF-A783-55D9AADC2692}" srcOrd="0" destOrd="0" presId="urn:microsoft.com/office/officeart/2005/8/layout/radial5"/>
    <dgm:cxn modelId="{288E9213-CF1E-4F98-BCF7-F9E1C91EE4A4}" type="presParOf" srcId="{E995DBF7-D0E0-4453-AD60-0B1333C17EB9}" destId="{20A3061D-0085-48EE-B108-ADD2FD3C299D}" srcOrd="6" destOrd="0" presId="urn:microsoft.com/office/officeart/2005/8/layout/radial5"/>
    <dgm:cxn modelId="{D14283B5-01B0-4A33-B32F-A73FFB633949}" type="presParOf" srcId="{E995DBF7-D0E0-4453-AD60-0B1333C17EB9}" destId="{029549BF-33CD-429E-AEB8-D5DC55C64F93}" srcOrd="7" destOrd="0" presId="urn:microsoft.com/office/officeart/2005/8/layout/radial5"/>
    <dgm:cxn modelId="{44EAD30C-B6F5-4406-B406-C87C56D2FF68}" type="presParOf" srcId="{029549BF-33CD-429E-AEB8-D5DC55C64F93}" destId="{782F20AB-DC6E-4C42-A1C6-2EFCBDA1A19F}" srcOrd="0" destOrd="0" presId="urn:microsoft.com/office/officeart/2005/8/layout/radial5"/>
    <dgm:cxn modelId="{4BF740EF-8E82-49A3-9613-8E5CED868A4A}" type="presParOf" srcId="{E995DBF7-D0E0-4453-AD60-0B1333C17EB9}" destId="{05ED72A3-6C32-4F92-AAEC-7B968005CF45}"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B0F3D45-3A89-4FD3-AAA8-ECFBB0898F32}" type="doc">
      <dgm:prSet loTypeId="urn:microsoft.com/office/officeart/2011/layout/CircleProcess#1" loCatId="process" qsTypeId="urn:microsoft.com/office/officeart/2005/8/quickstyle/simple1" qsCatId="simple" csTypeId="urn:microsoft.com/office/officeart/2005/8/colors/accent1_2" csCatId="accent1" phldr="1"/>
      <dgm:spPr/>
      <dgm:t>
        <a:bodyPr/>
        <a:lstStyle/>
        <a:p>
          <a:endParaRPr lang="en-US"/>
        </a:p>
      </dgm:t>
    </dgm:pt>
    <dgm:pt modelId="{06A4B98D-9E78-4037-BBBD-6103CD494C18}">
      <dgm:prSet phldrT="[Text]" custT="1"/>
      <dgm:spPr>
        <a:solidFill>
          <a:srgbClr val="CCFF33"/>
        </a:solidFill>
      </dgm:spPr>
      <dgm:t>
        <a:bodyPr/>
        <a:lstStyle/>
        <a:p>
          <a:r>
            <a:rPr lang="en-US" sz="1800" dirty="0">
              <a:solidFill>
                <a:srgbClr val="FF0000"/>
              </a:solidFill>
            </a:rPr>
            <a:t>Well Design &amp; Planning </a:t>
          </a:r>
        </a:p>
      </dgm:t>
    </dgm:pt>
    <dgm:pt modelId="{EAEDEDE8-7C7F-4D53-B528-B132C0783A0F}" type="parTrans" cxnId="{A1E869A8-DD80-465F-A723-A15A2159D26F}">
      <dgm:prSet/>
      <dgm:spPr/>
      <dgm:t>
        <a:bodyPr/>
        <a:lstStyle/>
        <a:p>
          <a:endParaRPr lang="en-US"/>
        </a:p>
      </dgm:t>
    </dgm:pt>
    <dgm:pt modelId="{B0F53EE3-DD5C-41D5-9D5C-D415934D75AD}" type="sibTrans" cxnId="{A1E869A8-DD80-465F-A723-A15A2159D26F}">
      <dgm:prSet/>
      <dgm:spPr/>
      <dgm:t>
        <a:bodyPr/>
        <a:lstStyle/>
        <a:p>
          <a:endParaRPr lang="en-US"/>
        </a:p>
      </dgm:t>
    </dgm:pt>
    <dgm:pt modelId="{C38C8551-695C-451D-AB9D-DE649CF005C2}">
      <dgm:prSet phldrT="[Text]" custT="1"/>
      <dgm:spPr>
        <a:solidFill>
          <a:srgbClr val="FFFFFF"/>
        </a:solidFill>
      </dgm:spPr>
      <dgm:t>
        <a:bodyPr/>
        <a:lstStyle/>
        <a:p>
          <a:r>
            <a:rPr lang="en-US" sz="2000" dirty="0"/>
            <a:t>Drilling Operation</a:t>
          </a:r>
        </a:p>
      </dgm:t>
    </dgm:pt>
    <dgm:pt modelId="{A3E622A0-69AD-4639-A8CE-E307081DB934}" type="parTrans" cxnId="{18976EB2-94E5-484D-BCF2-88F6E69C0D56}">
      <dgm:prSet/>
      <dgm:spPr/>
      <dgm:t>
        <a:bodyPr/>
        <a:lstStyle/>
        <a:p>
          <a:endParaRPr lang="en-US"/>
        </a:p>
      </dgm:t>
    </dgm:pt>
    <dgm:pt modelId="{22D840A1-7350-4BF2-86DF-279421715A77}" type="sibTrans" cxnId="{18976EB2-94E5-484D-BCF2-88F6E69C0D56}">
      <dgm:prSet/>
      <dgm:spPr/>
      <dgm:t>
        <a:bodyPr/>
        <a:lstStyle/>
        <a:p>
          <a:endParaRPr lang="en-US"/>
        </a:p>
      </dgm:t>
    </dgm:pt>
    <dgm:pt modelId="{C4310700-E23F-453A-BD72-31C1085F4936}">
      <dgm:prSet phldrT="[Text]" custT="1"/>
      <dgm:spPr>
        <a:solidFill>
          <a:srgbClr val="CCFF99"/>
        </a:solidFill>
      </dgm:spPr>
      <dgm:t>
        <a:bodyPr/>
        <a:lstStyle/>
        <a:p>
          <a:r>
            <a:rPr lang="en-US" sz="4000" b="1" dirty="0">
              <a:solidFill>
                <a:srgbClr val="7030A0"/>
              </a:solidFill>
            </a:rPr>
            <a:t>Well Cost</a:t>
          </a:r>
        </a:p>
      </dgm:t>
    </dgm:pt>
    <dgm:pt modelId="{9E14A7FA-FAF0-4E7A-A074-6D4EFEEA4CB6}" type="parTrans" cxnId="{9E2A04B7-F540-4ECA-B33D-FEFFA885A8C4}">
      <dgm:prSet/>
      <dgm:spPr/>
      <dgm:t>
        <a:bodyPr/>
        <a:lstStyle/>
        <a:p>
          <a:endParaRPr lang="en-US"/>
        </a:p>
      </dgm:t>
    </dgm:pt>
    <dgm:pt modelId="{D991D980-1523-41E4-A762-09260D261C3B}" type="sibTrans" cxnId="{9E2A04B7-F540-4ECA-B33D-FEFFA885A8C4}">
      <dgm:prSet/>
      <dgm:spPr/>
      <dgm:t>
        <a:bodyPr/>
        <a:lstStyle/>
        <a:p>
          <a:endParaRPr lang="en-US"/>
        </a:p>
      </dgm:t>
    </dgm:pt>
    <dgm:pt modelId="{C06C497E-0B47-485F-B816-DA32E98B1B0B}">
      <dgm:prSet phldrT="[Text]"/>
      <dgm:spPr>
        <a:solidFill>
          <a:srgbClr val="FFFF99">
            <a:alpha val="89804"/>
          </a:srgbClr>
        </a:solidFill>
      </dgm:spPr>
      <dgm:t>
        <a:bodyPr/>
        <a:lstStyle/>
        <a:p>
          <a:r>
            <a:rPr lang="en-US" dirty="0">
              <a:solidFill>
                <a:srgbClr val="00B050"/>
              </a:solidFill>
            </a:rPr>
            <a:t>Procurement Process</a:t>
          </a:r>
        </a:p>
      </dgm:t>
    </dgm:pt>
    <dgm:pt modelId="{CCA5B920-82BA-4188-85D8-593FA589ACB7}" type="parTrans" cxnId="{A67D6842-E856-403D-BD9C-AB35E5EF5377}">
      <dgm:prSet/>
      <dgm:spPr/>
      <dgm:t>
        <a:bodyPr/>
        <a:lstStyle/>
        <a:p>
          <a:endParaRPr lang="en-US"/>
        </a:p>
      </dgm:t>
    </dgm:pt>
    <dgm:pt modelId="{0A8514D5-7FEC-41B0-8D92-DD3531D8CBE1}" type="sibTrans" cxnId="{A67D6842-E856-403D-BD9C-AB35E5EF5377}">
      <dgm:prSet/>
      <dgm:spPr/>
      <dgm:t>
        <a:bodyPr/>
        <a:lstStyle/>
        <a:p>
          <a:endParaRPr lang="en-US"/>
        </a:p>
      </dgm:t>
    </dgm:pt>
    <dgm:pt modelId="{E51F4387-6CC4-4990-B923-7953BC6F95D3}" type="pres">
      <dgm:prSet presAssocID="{DB0F3D45-3A89-4FD3-AAA8-ECFBB0898F32}" presName="Name0" presStyleCnt="0">
        <dgm:presLayoutVars>
          <dgm:chMax val="11"/>
          <dgm:chPref val="11"/>
          <dgm:dir/>
          <dgm:resizeHandles/>
        </dgm:presLayoutVars>
      </dgm:prSet>
      <dgm:spPr/>
    </dgm:pt>
    <dgm:pt modelId="{B5484684-2601-4DD9-BADB-9D0598CA477D}" type="pres">
      <dgm:prSet presAssocID="{C4310700-E23F-453A-BD72-31C1085F4936}" presName="Accent4" presStyleCnt="0"/>
      <dgm:spPr/>
    </dgm:pt>
    <dgm:pt modelId="{30829E38-8095-420C-9325-082840F1AE90}" type="pres">
      <dgm:prSet presAssocID="{C4310700-E23F-453A-BD72-31C1085F4936}" presName="Accent" presStyleLbl="node1" presStyleIdx="0" presStyleCnt="4"/>
      <dgm:spPr/>
    </dgm:pt>
    <dgm:pt modelId="{1FAFB417-2FF2-459F-AF66-A3F882E18750}" type="pres">
      <dgm:prSet presAssocID="{C4310700-E23F-453A-BD72-31C1085F4936}" presName="ParentBackground4" presStyleCnt="0"/>
      <dgm:spPr/>
    </dgm:pt>
    <dgm:pt modelId="{B679DD02-2289-45FA-85D6-87B43C4493E3}" type="pres">
      <dgm:prSet presAssocID="{C4310700-E23F-453A-BD72-31C1085F4936}" presName="ParentBackground" presStyleLbl="fgAcc1" presStyleIdx="0" presStyleCnt="4"/>
      <dgm:spPr/>
    </dgm:pt>
    <dgm:pt modelId="{F23DD749-A430-4D88-A1DA-7C105C6EE037}" type="pres">
      <dgm:prSet presAssocID="{C4310700-E23F-453A-BD72-31C1085F4936}" presName="Parent4" presStyleLbl="revTx" presStyleIdx="0" presStyleCnt="0">
        <dgm:presLayoutVars>
          <dgm:chMax val="1"/>
          <dgm:chPref val="1"/>
          <dgm:bulletEnabled val="1"/>
        </dgm:presLayoutVars>
      </dgm:prSet>
      <dgm:spPr/>
    </dgm:pt>
    <dgm:pt modelId="{95D2C594-522D-49A1-88AC-6C778C657BAF}" type="pres">
      <dgm:prSet presAssocID="{C38C8551-695C-451D-AB9D-DE649CF005C2}" presName="Accent3" presStyleCnt="0"/>
      <dgm:spPr/>
    </dgm:pt>
    <dgm:pt modelId="{92C44062-60E7-4618-8F1B-421E18F0AD80}" type="pres">
      <dgm:prSet presAssocID="{C38C8551-695C-451D-AB9D-DE649CF005C2}" presName="Accent" presStyleLbl="node1" presStyleIdx="1" presStyleCnt="4"/>
      <dgm:spPr/>
    </dgm:pt>
    <dgm:pt modelId="{D31A7C9F-0D22-4408-8311-241B9ED50B03}" type="pres">
      <dgm:prSet presAssocID="{C38C8551-695C-451D-AB9D-DE649CF005C2}" presName="ParentBackground3" presStyleCnt="0"/>
      <dgm:spPr/>
    </dgm:pt>
    <dgm:pt modelId="{7BB3FB92-2C82-4815-A6E5-5DC4A920491E}" type="pres">
      <dgm:prSet presAssocID="{C38C8551-695C-451D-AB9D-DE649CF005C2}" presName="ParentBackground" presStyleLbl="fgAcc1" presStyleIdx="1" presStyleCnt="4"/>
      <dgm:spPr/>
    </dgm:pt>
    <dgm:pt modelId="{DFB65B26-D9FB-4606-819D-492A448EA594}" type="pres">
      <dgm:prSet presAssocID="{C38C8551-695C-451D-AB9D-DE649CF005C2}" presName="Parent3" presStyleLbl="revTx" presStyleIdx="0" presStyleCnt="0">
        <dgm:presLayoutVars>
          <dgm:chMax val="1"/>
          <dgm:chPref val="1"/>
          <dgm:bulletEnabled val="1"/>
        </dgm:presLayoutVars>
      </dgm:prSet>
      <dgm:spPr/>
    </dgm:pt>
    <dgm:pt modelId="{209CB2FA-DBEF-440B-832E-2CCA247F0B9B}" type="pres">
      <dgm:prSet presAssocID="{C06C497E-0B47-485F-B816-DA32E98B1B0B}" presName="Accent2" presStyleCnt="0"/>
      <dgm:spPr/>
    </dgm:pt>
    <dgm:pt modelId="{9E1C4520-8FE5-4DD8-ABE4-86ED9F98665B}" type="pres">
      <dgm:prSet presAssocID="{C06C497E-0B47-485F-B816-DA32E98B1B0B}" presName="Accent" presStyleLbl="node1" presStyleIdx="2" presStyleCnt="4"/>
      <dgm:spPr/>
    </dgm:pt>
    <dgm:pt modelId="{7B7ECECB-03AE-4A1C-BAB7-07C7E14BCBBE}" type="pres">
      <dgm:prSet presAssocID="{C06C497E-0B47-485F-B816-DA32E98B1B0B}" presName="ParentBackground2" presStyleCnt="0"/>
      <dgm:spPr/>
    </dgm:pt>
    <dgm:pt modelId="{8A573667-E93C-4493-8C39-2FC7CEA6A590}" type="pres">
      <dgm:prSet presAssocID="{C06C497E-0B47-485F-B816-DA32E98B1B0B}" presName="ParentBackground" presStyleLbl="fgAcc1" presStyleIdx="2" presStyleCnt="4"/>
      <dgm:spPr/>
    </dgm:pt>
    <dgm:pt modelId="{7C6286ED-40FB-46C0-9178-E7E2E3B2FA4A}" type="pres">
      <dgm:prSet presAssocID="{C06C497E-0B47-485F-B816-DA32E98B1B0B}" presName="Parent2" presStyleLbl="revTx" presStyleIdx="0" presStyleCnt="0">
        <dgm:presLayoutVars>
          <dgm:chMax val="1"/>
          <dgm:chPref val="1"/>
          <dgm:bulletEnabled val="1"/>
        </dgm:presLayoutVars>
      </dgm:prSet>
      <dgm:spPr/>
    </dgm:pt>
    <dgm:pt modelId="{6C9094EE-E1D5-43F9-83B7-A327BE0CD178}" type="pres">
      <dgm:prSet presAssocID="{06A4B98D-9E78-4037-BBBD-6103CD494C18}" presName="Accent1" presStyleCnt="0"/>
      <dgm:spPr/>
    </dgm:pt>
    <dgm:pt modelId="{ED0E750E-131D-4BCB-9A45-3130AF9567C8}" type="pres">
      <dgm:prSet presAssocID="{06A4B98D-9E78-4037-BBBD-6103CD494C18}" presName="Accent" presStyleLbl="node1" presStyleIdx="3" presStyleCnt="4"/>
      <dgm:spPr/>
    </dgm:pt>
    <dgm:pt modelId="{C23417DC-8372-4EE6-8EFC-99EA5676C0C1}" type="pres">
      <dgm:prSet presAssocID="{06A4B98D-9E78-4037-BBBD-6103CD494C18}" presName="ParentBackground1" presStyleCnt="0"/>
      <dgm:spPr/>
    </dgm:pt>
    <dgm:pt modelId="{E3FCE92C-C896-4495-9C3A-D9724C26B732}" type="pres">
      <dgm:prSet presAssocID="{06A4B98D-9E78-4037-BBBD-6103CD494C18}" presName="ParentBackground" presStyleLbl="fgAcc1" presStyleIdx="3" presStyleCnt="4"/>
      <dgm:spPr/>
    </dgm:pt>
    <dgm:pt modelId="{A2BACCEE-D63D-488F-B4B9-76BAE92B1D0D}" type="pres">
      <dgm:prSet presAssocID="{06A4B98D-9E78-4037-BBBD-6103CD494C18}" presName="Parent1" presStyleLbl="revTx" presStyleIdx="0" presStyleCnt="0">
        <dgm:presLayoutVars>
          <dgm:chMax val="1"/>
          <dgm:chPref val="1"/>
          <dgm:bulletEnabled val="1"/>
        </dgm:presLayoutVars>
      </dgm:prSet>
      <dgm:spPr/>
    </dgm:pt>
  </dgm:ptLst>
  <dgm:cxnLst>
    <dgm:cxn modelId="{265F5B12-E51B-4662-BC10-7DEDFA7B4255}" type="presOf" srcId="{C4310700-E23F-453A-BD72-31C1085F4936}" destId="{F23DD749-A430-4D88-A1DA-7C105C6EE037}" srcOrd="1" destOrd="0" presId="urn:microsoft.com/office/officeart/2011/layout/CircleProcess#1"/>
    <dgm:cxn modelId="{78E27236-DC23-468E-B75B-9E6022DC6800}" type="presOf" srcId="{DB0F3D45-3A89-4FD3-AAA8-ECFBB0898F32}" destId="{E51F4387-6CC4-4990-B923-7953BC6F95D3}" srcOrd="0" destOrd="0" presId="urn:microsoft.com/office/officeart/2011/layout/CircleProcess#1"/>
    <dgm:cxn modelId="{A67D6842-E856-403D-BD9C-AB35E5EF5377}" srcId="{DB0F3D45-3A89-4FD3-AAA8-ECFBB0898F32}" destId="{C06C497E-0B47-485F-B816-DA32E98B1B0B}" srcOrd="1" destOrd="0" parTransId="{CCA5B920-82BA-4188-85D8-593FA589ACB7}" sibTransId="{0A8514D5-7FEC-41B0-8D92-DD3531D8CBE1}"/>
    <dgm:cxn modelId="{295C7646-0971-4F4B-B24F-0EF84FFF4304}" type="presOf" srcId="{06A4B98D-9E78-4037-BBBD-6103CD494C18}" destId="{A2BACCEE-D63D-488F-B4B9-76BAE92B1D0D}" srcOrd="1" destOrd="0" presId="urn:microsoft.com/office/officeart/2011/layout/CircleProcess#1"/>
    <dgm:cxn modelId="{BA5A0849-A691-4876-BB3D-92D96ED66222}" type="presOf" srcId="{C38C8551-695C-451D-AB9D-DE649CF005C2}" destId="{7BB3FB92-2C82-4815-A6E5-5DC4A920491E}" srcOrd="0" destOrd="0" presId="urn:microsoft.com/office/officeart/2011/layout/CircleProcess#1"/>
    <dgm:cxn modelId="{5F1DB881-AE63-4CF1-B7E5-1427DCB76024}" type="presOf" srcId="{C06C497E-0B47-485F-B816-DA32E98B1B0B}" destId="{8A573667-E93C-4493-8C39-2FC7CEA6A590}" srcOrd="0" destOrd="0" presId="urn:microsoft.com/office/officeart/2011/layout/CircleProcess#1"/>
    <dgm:cxn modelId="{A1E869A8-DD80-465F-A723-A15A2159D26F}" srcId="{DB0F3D45-3A89-4FD3-AAA8-ECFBB0898F32}" destId="{06A4B98D-9E78-4037-BBBD-6103CD494C18}" srcOrd="0" destOrd="0" parTransId="{EAEDEDE8-7C7F-4D53-B528-B132C0783A0F}" sibTransId="{B0F53EE3-DD5C-41D5-9D5C-D415934D75AD}"/>
    <dgm:cxn modelId="{238C06B2-4F9F-476D-8B9D-3561F048A006}" type="presOf" srcId="{C4310700-E23F-453A-BD72-31C1085F4936}" destId="{B679DD02-2289-45FA-85D6-87B43C4493E3}" srcOrd="0" destOrd="0" presId="urn:microsoft.com/office/officeart/2011/layout/CircleProcess#1"/>
    <dgm:cxn modelId="{18976EB2-94E5-484D-BCF2-88F6E69C0D56}" srcId="{DB0F3D45-3A89-4FD3-AAA8-ECFBB0898F32}" destId="{C38C8551-695C-451D-AB9D-DE649CF005C2}" srcOrd="2" destOrd="0" parTransId="{A3E622A0-69AD-4639-A8CE-E307081DB934}" sibTransId="{22D840A1-7350-4BF2-86DF-279421715A77}"/>
    <dgm:cxn modelId="{9E2A04B7-F540-4ECA-B33D-FEFFA885A8C4}" srcId="{DB0F3D45-3A89-4FD3-AAA8-ECFBB0898F32}" destId="{C4310700-E23F-453A-BD72-31C1085F4936}" srcOrd="3" destOrd="0" parTransId="{9E14A7FA-FAF0-4E7A-A074-6D4EFEEA4CB6}" sibTransId="{D991D980-1523-41E4-A762-09260D261C3B}"/>
    <dgm:cxn modelId="{8B93E7BF-3B36-46EE-A583-FF952536E4A9}" type="presOf" srcId="{C06C497E-0B47-485F-B816-DA32E98B1B0B}" destId="{7C6286ED-40FB-46C0-9178-E7E2E3B2FA4A}" srcOrd="1" destOrd="0" presId="urn:microsoft.com/office/officeart/2011/layout/CircleProcess#1"/>
    <dgm:cxn modelId="{5218BFEF-8979-405A-B6AC-6FF0A6DC3776}" type="presOf" srcId="{06A4B98D-9E78-4037-BBBD-6103CD494C18}" destId="{E3FCE92C-C896-4495-9C3A-D9724C26B732}" srcOrd="0" destOrd="0" presId="urn:microsoft.com/office/officeart/2011/layout/CircleProcess#1"/>
    <dgm:cxn modelId="{5AECC5EF-7304-49A0-9AE3-EBC1A7F84AD7}" type="presOf" srcId="{C38C8551-695C-451D-AB9D-DE649CF005C2}" destId="{DFB65B26-D9FB-4606-819D-492A448EA594}" srcOrd="1" destOrd="0" presId="urn:microsoft.com/office/officeart/2011/layout/CircleProcess#1"/>
    <dgm:cxn modelId="{725CBC28-DA39-495D-89B5-789373BF06AB}" type="presParOf" srcId="{E51F4387-6CC4-4990-B923-7953BC6F95D3}" destId="{B5484684-2601-4DD9-BADB-9D0598CA477D}" srcOrd="0" destOrd="0" presId="urn:microsoft.com/office/officeart/2011/layout/CircleProcess#1"/>
    <dgm:cxn modelId="{DB4C5732-3EA0-46B3-9A22-4AEC1BB25B43}" type="presParOf" srcId="{B5484684-2601-4DD9-BADB-9D0598CA477D}" destId="{30829E38-8095-420C-9325-082840F1AE90}" srcOrd="0" destOrd="0" presId="urn:microsoft.com/office/officeart/2011/layout/CircleProcess#1"/>
    <dgm:cxn modelId="{6B3E7BFE-2772-44D1-969B-1C0211DBA84B}" type="presParOf" srcId="{E51F4387-6CC4-4990-B923-7953BC6F95D3}" destId="{1FAFB417-2FF2-459F-AF66-A3F882E18750}" srcOrd="1" destOrd="0" presId="urn:microsoft.com/office/officeart/2011/layout/CircleProcess#1"/>
    <dgm:cxn modelId="{C740E498-D77C-4EF1-9B75-CB5C1F11EE9B}" type="presParOf" srcId="{1FAFB417-2FF2-459F-AF66-A3F882E18750}" destId="{B679DD02-2289-45FA-85D6-87B43C4493E3}" srcOrd="0" destOrd="0" presId="urn:microsoft.com/office/officeart/2011/layout/CircleProcess#1"/>
    <dgm:cxn modelId="{1200870B-7806-4859-8644-9DB89F500D29}" type="presParOf" srcId="{E51F4387-6CC4-4990-B923-7953BC6F95D3}" destId="{F23DD749-A430-4D88-A1DA-7C105C6EE037}" srcOrd="2" destOrd="0" presId="urn:microsoft.com/office/officeart/2011/layout/CircleProcess#1"/>
    <dgm:cxn modelId="{31614034-ABAA-4A23-9F75-9D58B84323B2}" type="presParOf" srcId="{E51F4387-6CC4-4990-B923-7953BC6F95D3}" destId="{95D2C594-522D-49A1-88AC-6C778C657BAF}" srcOrd="3" destOrd="0" presId="urn:microsoft.com/office/officeart/2011/layout/CircleProcess#1"/>
    <dgm:cxn modelId="{C434048D-863E-4C97-AA0A-A483DDAE7111}" type="presParOf" srcId="{95D2C594-522D-49A1-88AC-6C778C657BAF}" destId="{92C44062-60E7-4618-8F1B-421E18F0AD80}" srcOrd="0" destOrd="0" presId="urn:microsoft.com/office/officeart/2011/layout/CircleProcess#1"/>
    <dgm:cxn modelId="{762CF743-628B-41F4-BD97-E800C3744CBB}" type="presParOf" srcId="{E51F4387-6CC4-4990-B923-7953BC6F95D3}" destId="{D31A7C9F-0D22-4408-8311-241B9ED50B03}" srcOrd="4" destOrd="0" presId="urn:microsoft.com/office/officeart/2011/layout/CircleProcess#1"/>
    <dgm:cxn modelId="{907B42E7-5F69-434F-8EB1-F6501707FAA0}" type="presParOf" srcId="{D31A7C9F-0D22-4408-8311-241B9ED50B03}" destId="{7BB3FB92-2C82-4815-A6E5-5DC4A920491E}" srcOrd="0" destOrd="0" presId="urn:microsoft.com/office/officeart/2011/layout/CircleProcess#1"/>
    <dgm:cxn modelId="{27FBF4CF-03A9-41B6-BB1F-46D6BE361958}" type="presParOf" srcId="{E51F4387-6CC4-4990-B923-7953BC6F95D3}" destId="{DFB65B26-D9FB-4606-819D-492A448EA594}" srcOrd="5" destOrd="0" presId="urn:microsoft.com/office/officeart/2011/layout/CircleProcess#1"/>
    <dgm:cxn modelId="{D6B46DF8-429B-430E-AEA8-5722F056BE2C}" type="presParOf" srcId="{E51F4387-6CC4-4990-B923-7953BC6F95D3}" destId="{209CB2FA-DBEF-440B-832E-2CCA247F0B9B}" srcOrd="6" destOrd="0" presId="urn:microsoft.com/office/officeart/2011/layout/CircleProcess#1"/>
    <dgm:cxn modelId="{5CA3043F-193D-49F7-8660-BBD5BB4F5EB2}" type="presParOf" srcId="{209CB2FA-DBEF-440B-832E-2CCA247F0B9B}" destId="{9E1C4520-8FE5-4DD8-ABE4-86ED9F98665B}" srcOrd="0" destOrd="0" presId="urn:microsoft.com/office/officeart/2011/layout/CircleProcess#1"/>
    <dgm:cxn modelId="{30485A58-190E-4A83-89A4-78E71DD51B5E}" type="presParOf" srcId="{E51F4387-6CC4-4990-B923-7953BC6F95D3}" destId="{7B7ECECB-03AE-4A1C-BAB7-07C7E14BCBBE}" srcOrd="7" destOrd="0" presId="urn:microsoft.com/office/officeart/2011/layout/CircleProcess#1"/>
    <dgm:cxn modelId="{4D1C8CA3-49B7-4D3B-B121-1085557464AF}" type="presParOf" srcId="{7B7ECECB-03AE-4A1C-BAB7-07C7E14BCBBE}" destId="{8A573667-E93C-4493-8C39-2FC7CEA6A590}" srcOrd="0" destOrd="0" presId="urn:microsoft.com/office/officeart/2011/layout/CircleProcess#1"/>
    <dgm:cxn modelId="{3A38906A-1045-49F9-B493-D092E2D29E0B}" type="presParOf" srcId="{E51F4387-6CC4-4990-B923-7953BC6F95D3}" destId="{7C6286ED-40FB-46C0-9178-E7E2E3B2FA4A}" srcOrd="8" destOrd="0" presId="urn:microsoft.com/office/officeart/2011/layout/CircleProcess#1"/>
    <dgm:cxn modelId="{C87287DC-C6F0-43E5-BA3E-47C9DA343733}" type="presParOf" srcId="{E51F4387-6CC4-4990-B923-7953BC6F95D3}" destId="{6C9094EE-E1D5-43F9-83B7-A327BE0CD178}" srcOrd="9" destOrd="0" presId="urn:microsoft.com/office/officeart/2011/layout/CircleProcess#1"/>
    <dgm:cxn modelId="{2FFE1BE8-F89E-48E7-AA1B-3030AC8B6A2F}" type="presParOf" srcId="{6C9094EE-E1D5-43F9-83B7-A327BE0CD178}" destId="{ED0E750E-131D-4BCB-9A45-3130AF9567C8}" srcOrd="0" destOrd="0" presId="urn:microsoft.com/office/officeart/2011/layout/CircleProcess#1"/>
    <dgm:cxn modelId="{CB5DB904-302E-4B6E-9D9B-7B6FB2380117}" type="presParOf" srcId="{E51F4387-6CC4-4990-B923-7953BC6F95D3}" destId="{C23417DC-8372-4EE6-8EFC-99EA5676C0C1}" srcOrd="10" destOrd="0" presId="urn:microsoft.com/office/officeart/2011/layout/CircleProcess#1"/>
    <dgm:cxn modelId="{F6F8720B-A294-47E7-8C5B-E8E362D79FED}" type="presParOf" srcId="{C23417DC-8372-4EE6-8EFC-99EA5676C0C1}" destId="{E3FCE92C-C896-4495-9C3A-D9724C26B732}" srcOrd="0" destOrd="0" presId="urn:microsoft.com/office/officeart/2011/layout/CircleProcess#1"/>
    <dgm:cxn modelId="{B4B3A101-9D6B-4AFE-AD43-0BD36C3970FA}" type="presParOf" srcId="{E51F4387-6CC4-4990-B923-7953BC6F95D3}" destId="{A2BACCEE-D63D-488F-B4B9-76BAE92B1D0D}" srcOrd="11" destOrd="0" presId="urn:microsoft.com/office/officeart/2011/layout/Circle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DADAEE6-E687-45E8-B0CE-1924E381D5B5}" type="doc">
      <dgm:prSet loTypeId="urn:microsoft.com/office/officeart/2005/8/layout/process1" loCatId="process" qsTypeId="urn:microsoft.com/office/officeart/2005/8/quickstyle/3d2" qsCatId="3D" csTypeId="urn:microsoft.com/office/officeart/2005/8/colors/accent1_2" csCatId="accent1" phldr="1"/>
      <dgm:spPr/>
    </dgm:pt>
    <dgm:pt modelId="{01F4D127-BD27-4D71-A31F-E9232B53EAEC}">
      <dgm:prSet phldrT="[Text]"/>
      <dgm:spPr/>
      <dgm:t>
        <a:bodyPr/>
        <a:lstStyle/>
        <a:p>
          <a:r>
            <a:rPr lang="en-US" dirty="0">
              <a:solidFill>
                <a:srgbClr val="002060"/>
              </a:solidFill>
            </a:rPr>
            <a:t>Pre Drilling</a:t>
          </a:r>
        </a:p>
        <a:p>
          <a:endParaRPr lang="en-US" dirty="0">
            <a:solidFill>
              <a:schemeClr val="accent6">
                <a:lumMod val="75000"/>
              </a:schemeClr>
            </a:solidFill>
          </a:endParaRPr>
        </a:p>
      </dgm:t>
    </dgm:pt>
    <dgm:pt modelId="{42AF5B5C-49FC-449B-94E8-CA610ABB7D77}" type="parTrans" cxnId="{52C39E4B-770A-48C5-BE52-445172F41300}">
      <dgm:prSet/>
      <dgm:spPr/>
      <dgm:t>
        <a:bodyPr/>
        <a:lstStyle/>
        <a:p>
          <a:endParaRPr lang="en-US">
            <a:solidFill>
              <a:schemeClr val="accent6">
                <a:lumMod val="75000"/>
              </a:schemeClr>
            </a:solidFill>
          </a:endParaRPr>
        </a:p>
      </dgm:t>
    </dgm:pt>
    <dgm:pt modelId="{E227830C-2CA6-4FE2-937F-690A90651019}" type="sibTrans" cxnId="{52C39E4B-770A-48C5-BE52-445172F41300}">
      <dgm:prSet/>
      <dgm:spPr>
        <a:solidFill>
          <a:schemeClr val="accent2">
            <a:lumMod val="75000"/>
          </a:schemeClr>
        </a:solidFill>
      </dgm:spPr>
      <dgm:t>
        <a:bodyPr/>
        <a:lstStyle/>
        <a:p>
          <a:endParaRPr lang="en-US">
            <a:solidFill>
              <a:schemeClr val="accent6">
                <a:lumMod val="75000"/>
              </a:schemeClr>
            </a:solidFill>
          </a:endParaRPr>
        </a:p>
      </dgm:t>
    </dgm:pt>
    <dgm:pt modelId="{C69B3261-79BB-49B8-90F9-1D255BD1B1DE}">
      <dgm:prSet phldrT="[Text]"/>
      <dgm:spPr>
        <a:solidFill>
          <a:srgbClr val="FFC000"/>
        </a:solidFill>
      </dgm:spPr>
      <dgm:t>
        <a:bodyPr/>
        <a:lstStyle/>
        <a:p>
          <a:r>
            <a:rPr lang="en-US" dirty="0">
              <a:solidFill>
                <a:schemeClr val="accent6">
                  <a:lumMod val="75000"/>
                </a:schemeClr>
              </a:solidFill>
            </a:rPr>
            <a:t>Drilling Execution</a:t>
          </a:r>
        </a:p>
      </dgm:t>
    </dgm:pt>
    <dgm:pt modelId="{4B2269E9-2DF1-4574-9C88-D298C8BCDCA5}" type="parTrans" cxnId="{6EC78184-583C-4BE9-B9BA-B981F4C10DB4}">
      <dgm:prSet/>
      <dgm:spPr/>
      <dgm:t>
        <a:bodyPr/>
        <a:lstStyle/>
        <a:p>
          <a:endParaRPr lang="en-US">
            <a:solidFill>
              <a:schemeClr val="accent6">
                <a:lumMod val="75000"/>
              </a:schemeClr>
            </a:solidFill>
          </a:endParaRPr>
        </a:p>
      </dgm:t>
    </dgm:pt>
    <dgm:pt modelId="{B43A88A9-AB7F-42BE-A6B7-2B7AC600A257}" type="sibTrans" cxnId="{6EC78184-583C-4BE9-B9BA-B981F4C10DB4}">
      <dgm:prSet/>
      <dgm:spPr>
        <a:solidFill>
          <a:schemeClr val="accent4">
            <a:lumMod val="75000"/>
          </a:schemeClr>
        </a:solidFill>
      </dgm:spPr>
      <dgm:t>
        <a:bodyPr/>
        <a:lstStyle/>
        <a:p>
          <a:endParaRPr lang="en-US">
            <a:solidFill>
              <a:schemeClr val="accent6">
                <a:lumMod val="75000"/>
              </a:schemeClr>
            </a:solidFill>
          </a:endParaRPr>
        </a:p>
      </dgm:t>
    </dgm:pt>
    <dgm:pt modelId="{83D6F360-088D-430B-8259-C4D1E1E3D129}">
      <dgm:prSet phldrT="[Text]"/>
      <dgm:spPr>
        <a:solidFill>
          <a:srgbClr val="FFFF00"/>
        </a:solidFill>
      </dgm:spPr>
      <dgm:t>
        <a:bodyPr/>
        <a:lstStyle/>
        <a:p>
          <a:r>
            <a:rPr lang="en-US" dirty="0">
              <a:solidFill>
                <a:schemeClr val="accent6">
                  <a:lumMod val="75000"/>
                </a:schemeClr>
              </a:solidFill>
            </a:rPr>
            <a:t>Post Drilling</a:t>
          </a:r>
        </a:p>
      </dgm:t>
    </dgm:pt>
    <dgm:pt modelId="{B4740830-A29C-41CC-AAE1-D48D0B1448B0}" type="parTrans" cxnId="{8D78BC36-0E79-4EFC-A29D-DE6D5E5BAF5A}">
      <dgm:prSet/>
      <dgm:spPr/>
      <dgm:t>
        <a:bodyPr/>
        <a:lstStyle/>
        <a:p>
          <a:endParaRPr lang="en-US">
            <a:solidFill>
              <a:schemeClr val="accent6">
                <a:lumMod val="75000"/>
              </a:schemeClr>
            </a:solidFill>
          </a:endParaRPr>
        </a:p>
      </dgm:t>
    </dgm:pt>
    <dgm:pt modelId="{CB26B7C2-590B-47D7-8E59-490F91A9F29A}" type="sibTrans" cxnId="{8D78BC36-0E79-4EFC-A29D-DE6D5E5BAF5A}">
      <dgm:prSet/>
      <dgm:spPr/>
      <dgm:t>
        <a:bodyPr/>
        <a:lstStyle/>
        <a:p>
          <a:endParaRPr lang="en-US">
            <a:solidFill>
              <a:schemeClr val="accent6">
                <a:lumMod val="75000"/>
              </a:schemeClr>
            </a:solidFill>
          </a:endParaRPr>
        </a:p>
      </dgm:t>
    </dgm:pt>
    <dgm:pt modelId="{1196654A-2020-4C6F-A9C5-DE716807D966}" type="pres">
      <dgm:prSet presAssocID="{CDADAEE6-E687-45E8-B0CE-1924E381D5B5}" presName="Name0" presStyleCnt="0">
        <dgm:presLayoutVars>
          <dgm:dir/>
          <dgm:resizeHandles val="exact"/>
        </dgm:presLayoutVars>
      </dgm:prSet>
      <dgm:spPr/>
    </dgm:pt>
    <dgm:pt modelId="{62E6BD6E-2ED3-454E-9753-4DAF074C0FB3}" type="pres">
      <dgm:prSet presAssocID="{01F4D127-BD27-4D71-A31F-E9232B53EAEC}" presName="node" presStyleLbl="node1" presStyleIdx="0" presStyleCnt="3">
        <dgm:presLayoutVars>
          <dgm:bulletEnabled val="1"/>
        </dgm:presLayoutVars>
      </dgm:prSet>
      <dgm:spPr/>
    </dgm:pt>
    <dgm:pt modelId="{701226F9-1DB9-4878-AAB0-607C847A892E}" type="pres">
      <dgm:prSet presAssocID="{E227830C-2CA6-4FE2-937F-690A90651019}" presName="sibTrans" presStyleLbl="sibTrans2D1" presStyleIdx="0" presStyleCnt="2"/>
      <dgm:spPr/>
    </dgm:pt>
    <dgm:pt modelId="{52585347-FA36-473A-B267-8EE205564885}" type="pres">
      <dgm:prSet presAssocID="{E227830C-2CA6-4FE2-937F-690A90651019}" presName="connectorText" presStyleLbl="sibTrans2D1" presStyleIdx="0" presStyleCnt="2"/>
      <dgm:spPr/>
    </dgm:pt>
    <dgm:pt modelId="{8FC4075B-DC1B-4F1E-BD8F-DED4E2E9C8F5}" type="pres">
      <dgm:prSet presAssocID="{C69B3261-79BB-49B8-90F9-1D255BD1B1DE}" presName="node" presStyleLbl="node1" presStyleIdx="1" presStyleCnt="3">
        <dgm:presLayoutVars>
          <dgm:bulletEnabled val="1"/>
        </dgm:presLayoutVars>
      </dgm:prSet>
      <dgm:spPr/>
    </dgm:pt>
    <dgm:pt modelId="{F4126C27-8682-4203-B466-FD9719559965}" type="pres">
      <dgm:prSet presAssocID="{B43A88A9-AB7F-42BE-A6B7-2B7AC600A257}" presName="sibTrans" presStyleLbl="sibTrans2D1" presStyleIdx="1" presStyleCnt="2"/>
      <dgm:spPr/>
    </dgm:pt>
    <dgm:pt modelId="{142F7E40-D79D-44BE-9DDA-53F771FCC975}" type="pres">
      <dgm:prSet presAssocID="{B43A88A9-AB7F-42BE-A6B7-2B7AC600A257}" presName="connectorText" presStyleLbl="sibTrans2D1" presStyleIdx="1" presStyleCnt="2"/>
      <dgm:spPr/>
    </dgm:pt>
    <dgm:pt modelId="{143DAE12-60DE-49D4-B17C-E29E6E8A02A0}" type="pres">
      <dgm:prSet presAssocID="{83D6F360-088D-430B-8259-C4D1E1E3D129}" presName="node" presStyleLbl="node1" presStyleIdx="2" presStyleCnt="3">
        <dgm:presLayoutVars>
          <dgm:bulletEnabled val="1"/>
        </dgm:presLayoutVars>
      </dgm:prSet>
      <dgm:spPr/>
    </dgm:pt>
  </dgm:ptLst>
  <dgm:cxnLst>
    <dgm:cxn modelId="{160EA500-7BD0-4BB0-A0D1-C5175452E8D2}" type="presOf" srcId="{83D6F360-088D-430B-8259-C4D1E1E3D129}" destId="{143DAE12-60DE-49D4-B17C-E29E6E8A02A0}" srcOrd="0" destOrd="0" presId="urn:microsoft.com/office/officeart/2005/8/layout/process1"/>
    <dgm:cxn modelId="{9B774806-E302-412F-BA8E-45383FCE5BAD}" type="presOf" srcId="{E227830C-2CA6-4FE2-937F-690A90651019}" destId="{701226F9-1DB9-4878-AAB0-607C847A892E}" srcOrd="0" destOrd="0" presId="urn:microsoft.com/office/officeart/2005/8/layout/process1"/>
    <dgm:cxn modelId="{F295390F-C4FD-4FC9-825D-D38F7771027B}" type="presOf" srcId="{C69B3261-79BB-49B8-90F9-1D255BD1B1DE}" destId="{8FC4075B-DC1B-4F1E-BD8F-DED4E2E9C8F5}" srcOrd="0" destOrd="0" presId="urn:microsoft.com/office/officeart/2005/8/layout/process1"/>
    <dgm:cxn modelId="{B61EA113-B997-4F49-8181-242314F63D14}" type="presOf" srcId="{CDADAEE6-E687-45E8-B0CE-1924E381D5B5}" destId="{1196654A-2020-4C6F-A9C5-DE716807D966}" srcOrd="0" destOrd="0" presId="urn:microsoft.com/office/officeart/2005/8/layout/process1"/>
    <dgm:cxn modelId="{7AFD821A-15D2-4245-BF18-C147BE7BA930}" type="presOf" srcId="{B43A88A9-AB7F-42BE-A6B7-2B7AC600A257}" destId="{142F7E40-D79D-44BE-9DDA-53F771FCC975}" srcOrd="1" destOrd="0" presId="urn:microsoft.com/office/officeart/2005/8/layout/process1"/>
    <dgm:cxn modelId="{8D78BC36-0E79-4EFC-A29D-DE6D5E5BAF5A}" srcId="{CDADAEE6-E687-45E8-B0CE-1924E381D5B5}" destId="{83D6F360-088D-430B-8259-C4D1E1E3D129}" srcOrd="2" destOrd="0" parTransId="{B4740830-A29C-41CC-AAE1-D48D0B1448B0}" sibTransId="{CB26B7C2-590B-47D7-8E59-490F91A9F29A}"/>
    <dgm:cxn modelId="{52C39E4B-770A-48C5-BE52-445172F41300}" srcId="{CDADAEE6-E687-45E8-B0CE-1924E381D5B5}" destId="{01F4D127-BD27-4D71-A31F-E9232B53EAEC}" srcOrd="0" destOrd="0" parTransId="{42AF5B5C-49FC-449B-94E8-CA610ABB7D77}" sibTransId="{E227830C-2CA6-4FE2-937F-690A90651019}"/>
    <dgm:cxn modelId="{2C45D959-064D-4143-86F7-424AB6498A9B}" type="presOf" srcId="{B43A88A9-AB7F-42BE-A6B7-2B7AC600A257}" destId="{F4126C27-8682-4203-B466-FD9719559965}" srcOrd="0" destOrd="0" presId="urn:microsoft.com/office/officeart/2005/8/layout/process1"/>
    <dgm:cxn modelId="{6EC78184-583C-4BE9-B9BA-B981F4C10DB4}" srcId="{CDADAEE6-E687-45E8-B0CE-1924E381D5B5}" destId="{C69B3261-79BB-49B8-90F9-1D255BD1B1DE}" srcOrd="1" destOrd="0" parTransId="{4B2269E9-2DF1-4574-9C88-D298C8BCDCA5}" sibTransId="{B43A88A9-AB7F-42BE-A6B7-2B7AC600A257}"/>
    <dgm:cxn modelId="{7EA44287-CB6D-40AE-A4CC-30ADAD127766}" type="presOf" srcId="{01F4D127-BD27-4D71-A31F-E9232B53EAEC}" destId="{62E6BD6E-2ED3-454E-9753-4DAF074C0FB3}" srcOrd="0" destOrd="0" presId="urn:microsoft.com/office/officeart/2005/8/layout/process1"/>
    <dgm:cxn modelId="{6B3752CA-C3B3-4576-88C5-AD9DC81E4BB9}" type="presOf" srcId="{E227830C-2CA6-4FE2-937F-690A90651019}" destId="{52585347-FA36-473A-B267-8EE205564885}" srcOrd="1" destOrd="0" presId="urn:microsoft.com/office/officeart/2005/8/layout/process1"/>
    <dgm:cxn modelId="{58DD9BCA-023D-4CE3-AA36-9186A34F9D7A}" type="presParOf" srcId="{1196654A-2020-4C6F-A9C5-DE716807D966}" destId="{62E6BD6E-2ED3-454E-9753-4DAF074C0FB3}" srcOrd="0" destOrd="0" presId="urn:microsoft.com/office/officeart/2005/8/layout/process1"/>
    <dgm:cxn modelId="{E7B3F928-021E-4C78-9CA0-8980A85A7E76}" type="presParOf" srcId="{1196654A-2020-4C6F-A9C5-DE716807D966}" destId="{701226F9-1DB9-4878-AAB0-607C847A892E}" srcOrd="1" destOrd="0" presId="urn:microsoft.com/office/officeart/2005/8/layout/process1"/>
    <dgm:cxn modelId="{637A116D-2F23-4008-8B8C-CDFFB23E9A49}" type="presParOf" srcId="{701226F9-1DB9-4878-AAB0-607C847A892E}" destId="{52585347-FA36-473A-B267-8EE205564885}" srcOrd="0" destOrd="0" presId="urn:microsoft.com/office/officeart/2005/8/layout/process1"/>
    <dgm:cxn modelId="{E9213DED-5140-4A4B-AC35-10FBEF36F299}" type="presParOf" srcId="{1196654A-2020-4C6F-A9C5-DE716807D966}" destId="{8FC4075B-DC1B-4F1E-BD8F-DED4E2E9C8F5}" srcOrd="2" destOrd="0" presId="urn:microsoft.com/office/officeart/2005/8/layout/process1"/>
    <dgm:cxn modelId="{4CD10AF8-BCF7-46E0-860E-BC8B949C9B60}" type="presParOf" srcId="{1196654A-2020-4C6F-A9C5-DE716807D966}" destId="{F4126C27-8682-4203-B466-FD9719559965}" srcOrd="3" destOrd="0" presId="urn:microsoft.com/office/officeart/2005/8/layout/process1"/>
    <dgm:cxn modelId="{B7121E8F-35CC-4EBF-B3D6-F24A00ADC758}" type="presParOf" srcId="{F4126C27-8682-4203-B466-FD9719559965}" destId="{142F7E40-D79D-44BE-9DDA-53F771FCC975}" srcOrd="0" destOrd="0" presId="urn:microsoft.com/office/officeart/2005/8/layout/process1"/>
    <dgm:cxn modelId="{714159A5-E4EF-4DEC-B0D7-1F5B939B06DD}" type="presParOf" srcId="{1196654A-2020-4C6F-A9C5-DE716807D966}" destId="{143DAE12-60DE-49D4-B17C-E29E6E8A02A0}"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DDDFAB2-ED76-4D7E-A282-BECDA42EBEB7}"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ID"/>
        </a:p>
      </dgm:t>
    </dgm:pt>
    <dgm:pt modelId="{8BE6DB5F-832D-4D1E-8B87-B2E27A8627D7}">
      <dgm:prSet phldrT="[Text]" custT="1"/>
      <dgm:spPr>
        <a:solidFill>
          <a:schemeClr val="accent4">
            <a:lumMod val="20000"/>
            <a:lumOff val="80000"/>
          </a:schemeClr>
        </a:solidFill>
      </dgm:spPr>
      <dgm:t>
        <a:bodyPr/>
        <a:lstStyle/>
        <a:p>
          <a:r>
            <a:rPr lang="en-US" sz="3200" b="1" dirty="0">
              <a:solidFill>
                <a:srgbClr val="FF0000"/>
              </a:solidFill>
            </a:rPr>
            <a:t>High Cost </a:t>
          </a:r>
          <a:endParaRPr lang="en-ID" sz="3200" b="1" dirty="0">
            <a:solidFill>
              <a:srgbClr val="FF0000"/>
            </a:solidFill>
          </a:endParaRPr>
        </a:p>
      </dgm:t>
    </dgm:pt>
    <dgm:pt modelId="{846B50DB-0699-4F71-8C3F-B9F1F99096B3}" type="parTrans" cxnId="{F833F328-8806-4DDE-86BB-F1B5BD26F27A}">
      <dgm:prSet/>
      <dgm:spPr/>
      <dgm:t>
        <a:bodyPr/>
        <a:lstStyle/>
        <a:p>
          <a:endParaRPr lang="en-ID"/>
        </a:p>
      </dgm:t>
    </dgm:pt>
    <dgm:pt modelId="{66A4D8B7-008A-4107-AED3-098F94ECCC4D}" type="sibTrans" cxnId="{F833F328-8806-4DDE-86BB-F1B5BD26F27A}">
      <dgm:prSet/>
      <dgm:spPr/>
      <dgm:t>
        <a:bodyPr/>
        <a:lstStyle/>
        <a:p>
          <a:endParaRPr lang="en-ID"/>
        </a:p>
      </dgm:t>
    </dgm:pt>
    <dgm:pt modelId="{FCC6D367-A5AB-4E57-81DE-BE668008FFFB}">
      <dgm:prSet phldrT="[Text]" custT="1"/>
      <dgm:spPr>
        <a:solidFill>
          <a:schemeClr val="accent4">
            <a:lumMod val="40000"/>
            <a:lumOff val="60000"/>
          </a:schemeClr>
        </a:solidFill>
      </dgm:spPr>
      <dgm:t>
        <a:bodyPr/>
        <a:lstStyle/>
        <a:p>
          <a:r>
            <a:rPr lang="en-US" sz="1600" b="1" dirty="0">
              <a:solidFill>
                <a:schemeClr val="accent5">
                  <a:lumMod val="50000"/>
                </a:schemeClr>
              </a:solidFill>
            </a:rPr>
            <a:t>Unqualified Contractor, Project delay</a:t>
          </a:r>
          <a:endParaRPr lang="en-ID" sz="1600" b="1" dirty="0">
            <a:solidFill>
              <a:schemeClr val="accent5">
                <a:lumMod val="50000"/>
              </a:schemeClr>
            </a:solidFill>
          </a:endParaRPr>
        </a:p>
      </dgm:t>
    </dgm:pt>
    <dgm:pt modelId="{9C14EA55-6754-4BDE-97A5-061E44F5F862}" type="parTrans" cxnId="{BE2AAA50-EB74-4A1F-8653-DEAE241C938D}">
      <dgm:prSet/>
      <dgm:spPr/>
      <dgm:t>
        <a:bodyPr/>
        <a:lstStyle/>
        <a:p>
          <a:endParaRPr lang="en-ID"/>
        </a:p>
      </dgm:t>
    </dgm:pt>
    <dgm:pt modelId="{5B4AFA88-68E4-465A-A652-06863BF002AF}" type="sibTrans" cxnId="{BE2AAA50-EB74-4A1F-8653-DEAE241C938D}">
      <dgm:prSet/>
      <dgm:spPr/>
      <dgm:t>
        <a:bodyPr/>
        <a:lstStyle/>
        <a:p>
          <a:endParaRPr lang="en-ID"/>
        </a:p>
      </dgm:t>
    </dgm:pt>
    <dgm:pt modelId="{BB8FF1E5-B825-4237-9295-89E59501821D}">
      <dgm:prSet phldrT="[Text]" custT="1"/>
      <dgm:spPr>
        <a:solidFill>
          <a:schemeClr val="accent4">
            <a:lumMod val="20000"/>
            <a:lumOff val="80000"/>
          </a:schemeClr>
        </a:solidFill>
      </dgm:spPr>
      <dgm:t>
        <a:bodyPr/>
        <a:lstStyle/>
        <a:p>
          <a:r>
            <a:rPr lang="en-US" sz="2000" b="1" dirty="0">
              <a:solidFill>
                <a:schemeClr val="accent5">
                  <a:lumMod val="50000"/>
                </a:schemeClr>
              </a:solidFill>
            </a:rPr>
            <a:t>Conflict of Interest</a:t>
          </a:r>
          <a:endParaRPr lang="en-ID" sz="2000" b="1" dirty="0">
            <a:solidFill>
              <a:schemeClr val="accent5">
                <a:lumMod val="50000"/>
              </a:schemeClr>
            </a:solidFill>
          </a:endParaRPr>
        </a:p>
      </dgm:t>
    </dgm:pt>
    <dgm:pt modelId="{B28C1B3E-20DB-4D16-8B0E-8B7650228FEF}" type="parTrans" cxnId="{E3200C11-7A7D-4610-A04A-9F758A79C019}">
      <dgm:prSet/>
      <dgm:spPr/>
      <dgm:t>
        <a:bodyPr/>
        <a:lstStyle/>
        <a:p>
          <a:endParaRPr lang="en-ID"/>
        </a:p>
      </dgm:t>
    </dgm:pt>
    <dgm:pt modelId="{59A9DB8F-CD36-4B47-97AC-71034BE0A650}" type="sibTrans" cxnId="{E3200C11-7A7D-4610-A04A-9F758A79C019}">
      <dgm:prSet/>
      <dgm:spPr/>
      <dgm:t>
        <a:bodyPr/>
        <a:lstStyle/>
        <a:p>
          <a:endParaRPr lang="en-ID"/>
        </a:p>
      </dgm:t>
    </dgm:pt>
    <dgm:pt modelId="{3A67DE07-809C-4E3D-A7C7-E5880556D513}">
      <dgm:prSet phldrT="[Text]" custT="1"/>
      <dgm:spPr>
        <a:solidFill>
          <a:schemeClr val="accent2"/>
        </a:solidFill>
      </dgm:spPr>
      <dgm:t>
        <a:bodyPr/>
        <a:lstStyle/>
        <a:p>
          <a:r>
            <a:rPr lang="en-US" sz="3200" b="1" dirty="0"/>
            <a:t>Tidak </a:t>
          </a:r>
          <a:r>
            <a:rPr lang="en-US" sz="3200" b="1" dirty="0" err="1"/>
            <a:t>Jujur</a:t>
          </a:r>
          <a:endParaRPr lang="en-ID" sz="3200" b="1" dirty="0"/>
        </a:p>
      </dgm:t>
    </dgm:pt>
    <dgm:pt modelId="{1605F4EA-FACC-4763-B493-93B90F51BA06}" type="parTrans" cxnId="{762A0EC8-EA47-459A-85F3-CF3A33BBD326}">
      <dgm:prSet/>
      <dgm:spPr/>
      <dgm:t>
        <a:bodyPr/>
        <a:lstStyle/>
        <a:p>
          <a:endParaRPr lang="en-ID"/>
        </a:p>
      </dgm:t>
    </dgm:pt>
    <dgm:pt modelId="{DB2BAEF1-C876-42D2-88D6-9E592831760E}" type="sibTrans" cxnId="{762A0EC8-EA47-459A-85F3-CF3A33BBD326}">
      <dgm:prSet/>
      <dgm:spPr/>
      <dgm:t>
        <a:bodyPr/>
        <a:lstStyle/>
        <a:p>
          <a:endParaRPr lang="en-ID"/>
        </a:p>
      </dgm:t>
    </dgm:pt>
    <dgm:pt modelId="{3CEE5DF5-3C98-4FA6-8C16-DFD45079CBB3}" type="pres">
      <dgm:prSet presAssocID="{7DDDFAB2-ED76-4D7E-A282-BECDA42EBEB7}" presName="Name0" presStyleCnt="0">
        <dgm:presLayoutVars>
          <dgm:chMax val="7"/>
          <dgm:resizeHandles val="exact"/>
        </dgm:presLayoutVars>
      </dgm:prSet>
      <dgm:spPr/>
    </dgm:pt>
    <dgm:pt modelId="{FDB994B9-0A49-44D0-9A4F-C57203CB85EF}" type="pres">
      <dgm:prSet presAssocID="{7DDDFAB2-ED76-4D7E-A282-BECDA42EBEB7}" presName="comp1" presStyleCnt="0"/>
      <dgm:spPr/>
    </dgm:pt>
    <dgm:pt modelId="{CA04FE75-50FA-4663-A9F5-90FB1C0061AE}" type="pres">
      <dgm:prSet presAssocID="{7DDDFAB2-ED76-4D7E-A282-BECDA42EBEB7}" presName="circle1" presStyleLbl="node1" presStyleIdx="0" presStyleCnt="4" custLinFactNeighborX="116"/>
      <dgm:spPr/>
    </dgm:pt>
    <dgm:pt modelId="{FC6C8148-2527-404D-B5B8-AEB655D84EC4}" type="pres">
      <dgm:prSet presAssocID="{7DDDFAB2-ED76-4D7E-A282-BECDA42EBEB7}" presName="c1text" presStyleLbl="node1" presStyleIdx="0" presStyleCnt="4">
        <dgm:presLayoutVars>
          <dgm:bulletEnabled val="1"/>
        </dgm:presLayoutVars>
      </dgm:prSet>
      <dgm:spPr/>
    </dgm:pt>
    <dgm:pt modelId="{20FF1ABA-A2CC-4C74-B091-19AE9BC19055}" type="pres">
      <dgm:prSet presAssocID="{7DDDFAB2-ED76-4D7E-A282-BECDA42EBEB7}" presName="comp2" presStyleCnt="0"/>
      <dgm:spPr/>
    </dgm:pt>
    <dgm:pt modelId="{92618EC8-7D45-464A-89D9-DA7C9DB0A96D}" type="pres">
      <dgm:prSet presAssocID="{7DDDFAB2-ED76-4D7E-A282-BECDA42EBEB7}" presName="circle2" presStyleLbl="node1" presStyleIdx="1" presStyleCnt="4"/>
      <dgm:spPr/>
    </dgm:pt>
    <dgm:pt modelId="{FD53340B-C8EB-4493-8D1C-D98B507B0E07}" type="pres">
      <dgm:prSet presAssocID="{7DDDFAB2-ED76-4D7E-A282-BECDA42EBEB7}" presName="c2text" presStyleLbl="node1" presStyleIdx="1" presStyleCnt="4">
        <dgm:presLayoutVars>
          <dgm:bulletEnabled val="1"/>
        </dgm:presLayoutVars>
      </dgm:prSet>
      <dgm:spPr/>
    </dgm:pt>
    <dgm:pt modelId="{1F3B90BB-60C6-4D15-BA6E-1249A06B3019}" type="pres">
      <dgm:prSet presAssocID="{7DDDFAB2-ED76-4D7E-A282-BECDA42EBEB7}" presName="comp3" presStyleCnt="0"/>
      <dgm:spPr/>
    </dgm:pt>
    <dgm:pt modelId="{F374889E-100F-4E13-A48E-EC69EC6EF0F6}" type="pres">
      <dgm:prSet presAssocID="{7DDDFAB2-ED76-4D7E-A282-BECDA42EBEB7}" presName="circle3" presStyleLbl="node1" presStyleIdx="2" presStyleCnt="4"/>
      <dgm:spPr/>
    </dgm:pt>
    <dgm:pt modelId="{21D93E94-407B-4F5D-A005-F35843499B6A}" type="pres">
      <dgm:prSet presAssocID="{7DDDFAB2-ED76-4D7E-A282-BECDA42EBEB7}" presName="c3text" presStyleLbl="node1" presStyleIdx="2" presStyleCnt="4">
        <dgm:presLayoutVars>
          <dgm:bulletEnabled val="1"/>
        </dgm:presLayoutVars>
      </dgm:prSet>
      <dgm:spPr/>
    </dgm:pt>
    <dgm:pt modelId="{AA140A78-306F-45A5-943D-A1C29AA11D80}" type="pres">
      <dgm:prSet presAssocID="{7DDDFAB2-ED76-4D7E-A282-BECDA42EBEB7}" presName="comp4" presStyleCnt="0"/>
      <dgm:spPr/>
    </dgm:pt>
    <dgm:pt modelId="{C3541D29-5150-4837-9865-2A5CFE171740}" type="pres">
      <dgm:prSet presAssocID="{7DDDFAB2-ED76-4D7E-A282-BECDA42EBEB7}" presName="circle4" presStyleLbl="node1" presStyleIdx="3" presStyleCnt="4"/>
      <dgm:spPr/>
    </dgm:pt>
    <dgm:pt modelId="{DBBDD36B-ED72-480D-86D1-D7114C2A82BD}" type="pres">
      <dgm:prSet presAssocID="{7DDDFAB2-ED76-4D7E-A282-BECDA42EBEB7}" presName="c4text" presStyleLbl="node1" presStyleIdx="3" presStyleCnt="4">
        <dgm:presLayoutVars>
          <dgm:bulletEnabled val="1"/>
        </dgm:presLayoutVars>
      </dgm:prSet>
      <dgm:spPr/>
    </dgm:pt>
  </dgm:ptLst>
  <dgm:cxnLst>
    <dgm:cxn modelId="{161AF203-1DC5-45F7-B58A-72144847BA14}" type="presOf" srcId="{3A67DE07-809C-4E3D-A7C7-E5880556D513}" destId="{DBBDD36B-ED72-480D-86D1-D7114C2A82BD}" srcOrd="1" destOrd="0" presId="urn:microsoft.com/office/officeart/2005/8/layout/venn2"/>
    <dgm:cxn modelId="{E3200C11-7A7D-4610-A04A-9F758A79C019}" srcId="{7DDDFAB2-ED76-4D7E-A282-BECDA42EBEB7}" destId="{BB8FF1E5-B825-4237-9295-89E59501821D}" srcOrd="2" destOrd="0" parTransId="{B28C1B3E-20DB-4D16-8B0E-8B7650228FEF}" sibTransId="{59A9DB8F-CD36-4B47-97AC-71034BE0A650}"/>
    <dgm:cxn modelId="{F833F328-8806-4DDE-86BB-F1B5BD26F27A}" srcId="{7DDDFAB2-ED76-4D7E-A282-BECDA42EBEB7}" destId="{8BE6DB5F-832D-4D1E-8B87-B2E27A8627D7}" srcOrd="0" destOrd="0" parTransId="{846B50DB-0699-4F71-8C3F-B9F1F99096B3}" sibTransId="{66A4D8B7-008A-4107-AED3-098F94ECCC4D}"/>
    <dgm:cxn modelId="{13F3612A-3A1B-4E75-B151-B33272B1988F}" type="presOf" srcId="{3A67DE07-809C-4E3D-A7C7-E5880556D513}" destId="{C3541D29-5150-4837-9865-2A5CFE171740}" srcOrd="0" destOrd="0" presId="urn:microsoft.com/office/officeart/2005/8/layout/venn2"/>
    <dgm:cxn modelId="{BE2AAA50-EB74-4A1F-8653-DEAE241C938D}" srcId="{7DDDFAB2-ED76-4D7E-A282-BECDA42EBEB7}" destId="{FCC6D367-A5AB-4E57-81DE-BE668008FFFB}" srcOrd="1" destOrd="0" parTransId="{9C14EA55-6754-4BDE-97A5-061E44F5F862}" sibTransId="{5B4AFA88-68E4-465A-A652-06863BF002AF}"/>
    <dgm:cxn modelId="{BFA5219F-BD55-4443-8B66-74F651BA25B8}" type="presOf" srcId="{BB8FF1E5-B825-4237-9295-89E59501821D}" destId="{F374889E-100F-4E13-A48E-EC69EC6EF0F6}" srcOrd="0" destOrd="0" presId="urn:microsoft.com/office/officeart/2005/8/layout/venn2"/>
    <dgm:cxn modelId="{8E51A19F-7C28-4867-8862-58434E7CB35D}" type="presOf" srcId="{7DDDFAB2-ED76-4D7E-A282-BECDA42EBEB7}" destId="{3CEE5DF5-3C98-4FA6-8C16-DFD45079CBB3}" srcOrd="0" destOrd="0" presId="urn:microsoft.com/office/officeart/2005/8/layout/venn2"/>
    <dgm:cxn modelId="{15F85EAB-1920-49E8-A66C-AB6488290B7D}" type="presOf" srcId="{8BE6DB5F-832D-4D1E-8B87-B2E27A8627D7}" destId="{FC6C8148-2527-404D-B5B8-AEB655D84EC4}" srcOrd="1" destOrd="0" presId="urn:microsoft.com/office/officeart/2005/8/layout/venn2"/>
    <dgm:cxn modelId="{234281C5-2171-48C3-B56C-5FAB657B8B92}" type="presOf" srcId="{FCC6D367-A5AB-4E57-81DE-BE668008FFFB}" destId="{92618EC8-7D45-464A-89D9-DA7C9DB0A96D}" srcOrd="0" destOrd="0" presId="urn:microsoft.com/office/officeart/2005/8/layout/venn2"/>
    <dgm:cxn modelId="{762A0EC8-EA47-459A-85F3-CF3A33BBD326}" srcId="{7DDDFAB2-ED76-4D7E-A282-BECDA42EBEB7}" destId="{3A67DE07-809C-4E3D-A7C7-E5880556D513}" srcOrd="3" destOrd="0" parTransId="{1605F4EA-FACC-4763-B493-93B90F51BA06}" sibTransId="{DB2BAEF1-C876-42D2-88D6-9E592831760E}"/>
    <dgm:cxn modelId="{41101EDC-DEBA-49AF-9DF8-18CA200DE392}" type="presOf" srcId="{8BE6DB5F-832D-4D1E-8B87-B2E27A8627D7}" destId="{CA04FE75-50FA-4663-A9F5-90FB1C0061AE}" srcOrd="0" destOrd="0" presId="urn:microsoft.com/office/officeart/2005/8/layout/venn2"/>
    <dgm:cxn modelId="{475C75EA-C1BD-46DE-86C9-2D364ECD7202}" type="presOf" srcId="{BB8FF1E5-B825-4237-9295-89E59501821D}" destId="{21D93E94-407B-4F5D-A005-F35843499B6A}" srcOrd="1" destOrd="0" presId="urn:microsoft.com/office/officeart/2005/8/layout/venn2"/>
    <dgm:cxn modelId="{AA3E8EF3-C25B-4D57-BD10-31E427A9CA43}" type="presOf" srcId="{FCC6D367-A5AB-4E57-81DE-BE668008FFFB}" destId="{FD53340B-C8EB-4493-8D1C-D98B507B0E07}" srcOrd="1" destOrd="0" presId="urn:microsoft.com/office/officeart/2005/8/layout/venn2"/>
    <dgm:cxn modelId="{4258367E-74CD-4D25-A281-D48F06C4CEBE}" type="presParOf" srcId="{3CEE5DF5-3C98-4FA6-8C16-DFD45079CBB3}" destId="{FDB994B9-0A49-44D0-9A4F-C57203CB85EF}" srcOrd="0" destOrd="0" presId="urn:microsoft.com/office/officeart/2005/8/layout/venn2"/>
    <dgm:cxn modelId="{79B02E69-8D7E-47F3-8831-D1BCC71C3D62}" type="presParOf" srcId="{FDB994B9-0A49-44D0-9A4F-C57203CB85EF}" destId="{CA04FE75-50FA-4663-A9F5-90FB1C0061AE}" srcOrd="0" destOrd="0" presId="urn:microsoft.com/office/officeart/2005/8/layout/venn2"/>
    <dgm:cxn modelId="{EDFE3476-851B-4309-8453-C65F83994CCA}" type="presParOf" srcId="{FDB994B9-0A49-44D0-9A4F-C57203CB85EF}" destId="{FC6C8148-2527-404D-B5B8-AEB655D84EC4}" srcOrd="1" destOrd="0" presId="urn:microsoft.com/office/officeart/2005/8/layout/venn2"/>
    <dgm:cxn modelId="{877FD322-6401-4E7E-A90A-676C45AAB065}" type="presParOf" srcId="{3CEE5DF5-3C98-4FA6-8C16-DFD45079CBB3}" destId="{20FF1ABA-A2CC-4C74-B091-19AE9BC19055}" srcOrd="1" destOrd="0" presId="urn:microsoft.com/office/officeart/2005/8/layout/venn2"/>
    <dgm:cxn modelId="{D4C33D82-4321-42A1-A217-EC10C73E8FA1}" type="presParOf" srcId="{20FF1ABA-A2CC-4C74-B091-19AE9BC19055}" destId="{92618EC8-7D45-464A-89D9-DA7C9DB0A96D}" srcOrd="0" destOrd="0" presId="urn:microsoft.com/office/officeart/2005/8/layout/venn2"/>
    <dgm:cxn modelId="{FEBEE9CC-058A-4F50-8CEB-96B52EEAA213}" type="presParOf" srcId="{20FF1ABA-A2CC-4C74-B091-19AE9BC19055}" destId="{FD53340B-C8EB-4493-8D1C-D98B507B0E07}" srcOrd="1" destOrd="0" presId="urn:microsoft.com/office/officeart/2005/8/layout/venn2"/>
    <dgm:cxn modelId="{78E1BA1B-8A3E-4FD1-8C79-E9C8AF86E69C}" type="presParOf" srcId="{3CEE5DF5-3C98-4FA6-8C16-DFD45079CBB3}" destId="{1F3B90BB-60C6-4D15-BA6E-1249A06B3019}" srcOrd="2" destOrd="0" presId="urn:microsoft.com/office/officeart/2005/8/layout/venn2"/>
    <dgm:cxn modelId="{50FB32E9-4410-4C99-9BC0-8D74B1B1BB5D}" type="presParOf" srcId="{1F3B90BB-60C6-4D15-BA6E-1249A06B3019}" destId="{F374889E-100F-4E13-A48E-EC69EC6EF0F6}" srcOrd="0" destOrd="0" presId="urn:microsoft.com/office/officeart/2005/8/layout/venn2"/>
    <dgm:cxn modelId="{FF97BD25-92B0-4FFD-B663-6D09B1D7E7E3}" type="presParOf" srcId="{1F3B90BB-60C6-4D15-BA6E-1249A06B3019}" destId="{21D93E94-407B-4F5D-A005-F35843499B6A}" srcOrd="1" destOrd="0" presId="urn:microsoft.com/office/officeart/2005/8/layout/venn2"/>
    <dgm:cxn modelId="{F08CA8F7-93A4-486E-BFBB-34A8BC75AD8F}" type="presParOf" srcId="{3CEE5DF5-3C98-4FA6-8C16-DFD45079CBB3}" destId="{AA140A78-306F-45A5-943D-A1C29AA11D80}" srcOrd="3" destOrd="0" presId="urn:microsoft.com/office/officeart/2005/8/layout/venn2"/>
    <dgm:cxn modelId="{1DD850D0-93CF-44AE-BA34-2413A5C16F05}" type="presParOf" srcId="{AA140A78-306F-45A5-943D-A1C29AA11D80}" destId="{C3541D29-5150-4837-9865-2A5CFE171740}" srcOrd="0" destOrd="0" presId="urn:microsoft.com/office/officeart/2005/8/layout/venn2"/>
    <dgm:cxn modelId="{DEE7FE41-C294-40A1-9E97-2B55ADB7FC9C}" type="presParOf" srcId="{AA140A78-306F-45A5-943D-A1C29AA11D80}" destId="{DBBDD36B-ED72-480D-86D1-D7114C2A82BD}"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C9DF862-5E53-4E21-B580-34C18AEDAA0D}" type="doc">
      <dgm:prSet loTypeId="urn:microsoft.com/office/officeart/2005/8/layout/pyramid1" loCatId="pyramid" qsTypeId="urn:microsoft.com/office/officeart/2005/8/quickstyle/simple1" qsCatId="simple" csTypeId="urn:microsoft.com/office/officeart/2005/8/colors/accent1_2" csCatId="accent1" phldr="1"/>
      <dgm:spPr/>
    </dgm:pt>
    <dgm:pt modelId="{AE962668-9CDA-452B-8962-EAF2446FB97C}">
      <dgm:prSet phldrT="[Text]" custT="1"/>
      <dgm:spPr>
        <a:solidFill>
          <a:schemeClr val="accent4">
            <a:lumMod val="20000"/>
            <a:lumOff val="80000"/>
          </a:schemeClr>
        </a:solidFill>
      </dgm:spPr>
      <dgm:t>
        <a:bodyPr/>
        <a:lstStyle/>
        <a:p>
          <a:r>
            <a:rPr lang="en-ID" sz="1600" dirty="0"/>
            <a:t>Drilling </a:t>
          </a:r>
        </a:p>
        <a:p>
          <a:r>
            <a:rPr lang="en-ID" sz="1600" dirty="0"/>
            <a:t>Manager</a:t>
          </a:r>
        </a:p>
      </dgm:t>
    </dgm:pt>
    <dgm:pt modelId="{8A3625F3-2DF6-4756-B9C1-685D7B4B05D1}" type="parTrans" cxnId="{436280D5-AC92-4DE4-BADE-2F0023DEF936}">
      <dgm:prSet/>
      <dgm:spPr/>
      <dgm:t>
        <a:bodyPr/>
        <a:lstStyle/>
        <a:p>
          <a:endParaRPr lang="en-ID"/>
        </a:p>
      </dgm:t>
    </dgm:pt>
    <dgm:pt modelId="{711BFDE5-72D1-47B4-A9F1-E0BE5A0D854E}" type="sibTrans" cxnId="{436280D5-AC92-4DE4-BADE-2F0023DEF936}">
      <dgm:prSet/>
      <dgm:spPr/>
      <dgm:t>
        <a:bodyPr/>
        <a:lstStyle/>
        <a:p>
          <a:endParaRPr lang="en-ID"/>
        </a:p>
      </dgm:t>
    </dgm:pt>
    <dgm:pt modelId="{C7E949A1-E7C7-4973-AA5D-4DB4D415AF34}">
      <dgm:prSet phldrT="[Text]" custT="1"/>
      <dgm:spPr>
        <a:solidFill>
          <a:schemeClr val="accent6">
            <a:lumMod val="40000"/>
            <a:lumOff val="60000"/>
          </a:schemeClr>
        </a:solidFill>
      </dgm:spPr>
      <dgm:t>
        <a:bodyPr/>
        <a:lstStyle/>
        <a:p>
          <a:r>
            <a:rPr lang="en-ID" sz="1600" dirty="0"/>
            <a:t>Drilling Manager</a:t>
          </a:r>
        </a:p>
        <a:p>
          <a:r>
            <a:rPr lang="en-ID" sz="1600" dirty="0"/>
            <a:t>+</a:t>
          </a:r>
        </a:p>
        <a:p>
          <a:r>
            <a:rPr lang="en-ID" sz="1600" dirty="0"/>
            <a:t>Drilling Engineering</a:t>
          </a:r>
        </a:p>
      </dgm:t>
    </dgm:pt>
    <dgm:pt modelId="{BF8459F4-E2EF-41BA-950F-DEF238EBE7E8}" type="parTrans" cxnId="{ADAF4602-FB64-431C-BE59-20B885AD2E20}">
      <dgm:prSet/>
      <dgm:spPr/>
      <dgm:t>
        <a:bodyPr/>
        <a:lstStyle/>
        <a:p>
          <a:endParaRPr lang="en-ID"/>
        </a:p>
      </dgm:t>
    </dgm:pt>
    <dgm:pt modelId="{9D5DD802-CE63-4819-A2D4-2FD58A88E33F}" type="sibTrans" cxnId="{ADAF4602-FB64-431C-BE59-20B885AD2E20}">
      <dgm:prSet/>
      <dgm:spPr/>
      <dgm:t>
        <a:bodyPr/>
        <a:lstStyle/>
        <a:p>
          <a:endParaRPr lang="en-ID"/>
        </a:p>
      </dgm:t>
    </dgm:pt>
    <dgm:pt modelId="{0CEB745B-0313-49FB-A667-9D5681FF497A}">
      <dgm:prSet phldrT="[Text]" custT="1"/>
      <dgm:spPr>
        <a:solidFill>
          <a:srgbClr val="92D050"/>
        </a:solidFill>
      </dgm:spPr>
      <dgm:t>
        <a:bodyPr/>
        <a:lstStyle/>
        <a:p>
          <a:r>
            <a:rPr lang="en-ID" sz="1600" dirty="0"/>
            <a:t>All Drilling Office Personnel: Engineering, Operation, Support and HSE</a:t>
          </a:r>
        </a:p>
      </dgm:t>
    </dgm:pt>
    <dgm:pt modelId="{63BB1A61-4300-4343-824A-65454E2356F8}" type="parTrans" cxnId="{6F4A11E6-466D-49D1-95F3-DA3AEB5A96E5}">
      <dgm:prSet/>
      <dgm:spPr/>
      <dgm:t>
        <a:bodyPr/>
        <a:lstStyle/>
        <a:p>
          <a:endParaRPr lang="en-ID"/>
        </a:p>
      </dgm:t>
    </dgm:pt>
    <dgm:pt modelId="{95E02C07-FBD7-4A5E-B17C-6E20A8B1EDDF}" type="sibTrans" cxnId="{6F4A11E6-466D-49D1-95F3-DA3AEB5A96E5}">
      <dgm:prSet/>
      <dgm:spPr/>
      <dgm:t>
        <a:bodyPr/>
        <a:lstStyle/>
        <a:p>
          <a:endParaRPr lang="en-ID"/>
        </a:p>
      </dgm:t>
    </dgm:pt>
    <dgm:pt modelId="{25DDEC1B-2635-418C-8711-0DA82017C7B2}" type="pres">
      <dgm:prSet presAssocID="{DC9DF862-5E53-4E21-B580-34C18AEDAA0D}" presName="Name0" presStyleCnt="0">
        <dgm:presLayoutVars>
          <dgm:dir/>
          <dgm:animLvl val="lvl"/>
          <dgm:resizeHandles val="exact"/>
        </dgm:presLayoutVars>
      </dgm:prSet>
      <dgm:spPr/>
    </dgm:pt>
    <dgm:pt modelId="{CBD29257-D0EF-4D7A-B9E6-9213A1A57E8A}" type="pres">
      <dgm:prSet presAssocID="{AE962668-9CDA-452B-8962-EAF2446FB97C}" presName="Name8" presStyleCnt="0"/>
      <dgm:spPr/>
    </dgm:pt>
    <dgm:pt modelId="{C2A68448-C1D1-4528-8362-12F4C2F5FC08}" type="pres">
      <dgm:prSet presAssocID="{AE962668-9CDA-452B-8962-EAF2446FB97C}" presName="level" presStyleLbl="node1" presStyleIdx="0" presStyleCnt="3">
        <dgm:presLayoutVars>
          <dgm:chMax val="1"/>
          <dgm:bulletEnabled val="1"/>
        </dgm:presLayoutVars>
      </dgm:prSet>
      <dgm:spPr/>
    </dgm:pt>
    <dgm:pt modelId="{29718EAB-1EB1-484C-AEF9-B04F2DBD127F}" type="pres">
      <dgm:prSet presAssocID="{AE962668-9CDA-452B-8962-EAF2446FB97C}" presName="levelTx" presStyleLbl="revTx" presStyleIdx="0" presStyleCnt="0">
        <dgm:presLayoutVars>
          <dgm:chMax val="1"/>
          <dgm:bulletEnabled val="1"/>
        </dgm:presLayoutVars>
      </dgm:prSet>
      <dgm:spPr/>
    </dgm:pt>
    <dgm:pt modelId="{C6BD1792-529F-45B4-81B8-45DB9E73E498}" type="pres">
      <dgm:prSet presAssocID="{C7E949A1-E7C7-4973-AA5D-4DB4D415AF34}" presName="Name8" presStyleCnt="0"/>
      <dgm:spPr/>
    </dgm:pt>
    <dgm:pt modelId="{E9740FEA-D231-424A-B48E-15A9220956DB}" type="pres">
      <dgm:prSet presAssocID="{C7E949A1-E7C7-4973-AA5D-4DB4D415AF34}" presName="level" presStyleLbl="node1" presStyleIdx="1" presStyleCnt="3">
        <dgm:presLayoutVars>
          <dgm:chMax val="1"/>
          <dgm:bulletEnabled val="1"/>
        </dgm:presLayoutVars>
      </dgm:prSet>
      <dgm:spPr/>
    </dgm:pt>
    <dgm:pt modelId="{0AFBD4FB-6FBD-44C6-AA7C-641A4D9AA229}" type="pres">
      <dgm:prSet presAssocID="{C7E949A1-E7C7-4973-AA5D-4DB4D415AF34}" presName="levelTx" presStyleLbl="revTx" presStyleIdx="0" presStyleCnt="0">
        <dgm:presLayoutVars>
          <dgm:chMax val="1"/>
          <dgm:bulletEnabled val="1"/>
        </dgm:presLayoutVars>
      </dgm:prSet>
      <dgm:spPr/>
    </dgm:pt>
    <dgm:pt modelId="{5CE9B91A-A46E-4C9F-8316-74AC6C607B35}" type="pres">
      <dgm:prSet presAssocID="{0CEB745B-0313-49FB-A667-9D5681FF497A}" presName="Name8" presStyleCnt="0"/>
      <dgm:spPr/>
    </dgm:pt>
    <dgm:pt modelId="{86196E7C-F4D1-4735-A01B-F099162D2C37}" type="pres">
      <dgm:prSet presAssocID="{0CEB745B-0313-49FB-A667-9D5681FF497A}" presName="level" presStyleLbl="node1" presStyleIdx="2" presStyleCnt="3">
        <dgm:presLayoutVars>
          <dgm:chMax val="1"/>
          <dgm:bulletEnabled val="1"/>
        </dgm:presLayoutVars>
      </dgm:prSet>
      <dgm:spPr/>
    </dgm:pt>
    <dgm:pt modelId="{D5861D9E-7CA1-4573-9E89-2482DBCA7154}" type="pres">
      <dgm:prSet presAssocID="{0CEB745B-0313-49FB-A667-9D5681FF497A}" presName="levelTx" presStyleLbl="revTx" presStyleIdx="0" presStyleCnt="0">
        <dgm:presLayoutVars>
          <dgm:chMax val="1"/>
          <dgm:bulletEnabled val="1"/>
        </dgm:presLayoutVars>
      </dgm:prSet>
      <dgm:spPr/>
    </dgm:pt>
  </dgm:ptLst>
  <dgm:cxnLst>
    <dgm:cxn modelId="{ADAF4602-FB64-431C-BE59-20B885AD2E20}" srcId="{DC9DF862-5E53-4E21-B580-34C18AEDAA0D}" destId="{C7E949A1-E7C7-4973-AA5D-4DB4D415AF34}" srcOrd="1" destOrd="0" parTransId="{BF8459F4-E2EF-41BA-950F-DEF238EBE7E8}" sibTransId="{9D5DD802-CE63-4819-A2D4-2FD58A88E33F}"/>
    <dgm:cxn modelId="{5A5F122A-E324-4AEB-B730-59776E8E3229}" type="presOf" srcId="{AE962668-9CDA-452B-8962-EAF2446FB97C}" destId="{29718EAB-1EB1-484C-AEF9-B04F2DBD127F}" srcOrd="1" destOrd="0" presId="urn:microsoft.com/office/officeart/2005/8/layout/pyramid1"/>
    <dgm:cxn modelId="{25764930-B584-4AAD-A5A3-89F39B740808}" type="presOf" srcId="{0CEB745B-0313-49FB-A667-9D5681FF497A}" destId="{D5861D9E-7CA1-4573-9E89-2482DBCA7154}" srcOrd="1" destOrd="0" presId="urn:microsoft.com/office/officeart/2005/8/layout/pyramid1"/>
    <dgm:cxn modelId="{2791AA33-E031-42B6-95E5-DEE7E5EF31F4}" type="presOf" srcId="{AE962668-9CDA-452B-8962-EAF2446FB97C}" destId="{C2A68448-C1D1-4528-8362-12F4C2F5FC08}" srcOrd="0" destOrd="0" presId="urn:microsoft.com/office/officeart/2005/8/layout/pyramid1"/>
    <dgm:cxn modelId="{086CE362-1E61-42E8-8C9A-8FC66C1552E0}" type="presOf" srcId="{C7E949A1-E7C7-4973-AA5D-4DB4D415AF34}" destId="{E9740FEA-D231-424A-B48E-15A9220956DB}" srcOrd="0" destOrd="0" presId="urn:microsoft.com/office/officeart/2005/8/layout/pyramid1"/>
    <dgm:cxn modelId="{51DFC6A3-8738-42FE-A23E-41C842F7F536}" type="presOf" srcId="{DC9DF862-5E53-4E21-B580-34C18AEDAA0D}" destId="{25DDEC1B-2635-418C-8711-0DA82017C7B2}" srcOrd="0" destOrd="0" presId="urn:microsoft.com/office/officeart/2005/8/layout/pyramid1"/>
    <dgm:cxn modelId="{5D5D76AD-5528-46E2-A6CA-326E0AB647B7}" type="presOf" srcId="{C7E949A1-E7C7-4973-AA5D-4DB4D415AF34}" destId="{0AFBD4FB-6FBD-44C6-AA7C-641A4D9AA229}" srcOrd="1" destOrd="0" presId="urn:microsoft.com/office/officeart/2005/8/layout/pyramid1"/>
    <dgm:cxn modelId="{436280D5-AC92-4DE4-BADE-2F0023DEF936}" srcId="{DC9DF862-5E53-4E21-B580-34C18AEDAA0D}" destId="{AE962668-9CDA-452B-8962-EAF2446FB97C}" srcOrd="0" destOrd="0" parTransId="{8A3625F3-2DF6-4756-B9C1-685D7B4B05D1}" sibTransId="{711BFDE5-72D1-47B4-A9F1-E0BE5A0D854E}"/>
    <dgm:cxn modelId="{1ABD16E1-7BA5-4A1E-8749-2E6909A89DA6}" type="presOf" srcId="{0CEB745B-0313-49FB-A667-9D5681FF497A}" destId="{86196E7C-F4D1-4735-A01B-F099162D2C37}" srcOrd="0" destOrd="0" presId="urn:microsoft.com/office/officeart/2005/8/layout/pyramid1"/>
    <dgm:cxn modelId="{6F4A11E6-466D-49D1-95F3-DA3AEB5A96E5}" srcId="{DC9DF862-5E53-4E21-B580-34C18AEDAA0D}" destId="{0CEB745B-0313-49FB-A667-9D5681FF497A}" srcOrd="2" destOrd="0" parTransId="{63BB1A61-4300-4343-824A-65454E2356F8}" sibTransId="{95E02C07-FBD7-4A5E-B17C-6E20A8B1EDDF}"/>
    <dgm:cxn modelId="{FE9EEED7-7BB8-4C18-95B5-91FC3046A2FD}" type="presParOf" srcId="{25DDEC1B-2635-418C-8711-0DA82017C7B2}" destId="{CBD29257-D0EF-4D7A-B9E6-9213A1A57E8A}" srcOrd="0" destOrd="0" presId="urn:microsoft.com/office/officeart/2005/8/layout/pyramid1"/>
    <dgm:cxn modelId="{AEB214E4-583A-406A-BE32-49E91A2BB0C6}" type="presParOf" srcId="{CBD29257-D0EF-4D7A-B9E6-9213A1A57E8A}" destId="{C2A68448-C1D1-4528-8362-12F4C2F5FC08}" srcOrd="0" destOrd="0" presId="urn:microsoft.com/office/officeart/2005/8/layout/pyramid1"/>
    <dgm:cxn modelId="{0C0EF21E-FC6D-4988-B537-687F914CAC1D}" type="presParOf" srcId="{CBD29257-D0EF-4D7A-B9E6-9213A1A57E8A}" destId="{29718EAB-1EB1-484C-AEF9-B04F2DBD127F}" srcOrd="1" destOrd="0" presId="urn:microsoft.com/office/officeart/2005/8/layout/pyramid1"/>
    <dgm:cxn modelId="{C6710D6B-9142-4A1F-B94A-90D8F2C1E8E2}" type="presParOf" srcId="{25DDEC1B-2635-418C-8711-0DA82017C7B2}" destId="{C6BD1792-529F-45B4-81B8-45DB9E73E498}" srcOrd="1" destOrd="0" presId="urn:microsoft.com/office/officeart/2005/8/layout/pyramid1"/>
    <dgm:cxn modelId="{08894868-2310-455B-84E0-8649667B8911}" type="presParOf" srcId="{C6BD1792-529F-45B4-81B8-45DB9E73E498}" destId="{E9740FEA-D231-424A-B48E-15A9220956DB}" srcOrd="0" destOrd="0" presId="urn:microsoft.com/office/officeart/2005/8/layout/pyramid1"/>
    <dgm:cxn modelId="{00B2B52D-FA55-45B3-A60A-80215AB80E75}" type="presParOf" srcId="{C6BD1792-529F-45B4-81B8-45DB9E73E498}" destId="{0AFBD4FB-6FBD-44C6-AA7C-641A4D9AA229}" srcOrd="1" destOrd="0" presId="urn:microsoft.com/office/officeart/2005/8/layout/pyramid1"/>
    <dgm:cxn modelId="{307D81D7-2E77-4829-AF7F-39B36BEC934B}" type="presParOf" srcId="{25DDEC1B-2635-418C-8711-0DA82017C7B2}" destId="{5CE9B91A-A46E-4C9F-8316-74AC6C607B35}" srcOrd="2" destOrd="0" presId="urn:microsoft.com/office/officeart/2005/8/layout/pyramid1"/>
    <dgm:cxn modelId="{4BBBCEB4-EFC1-48CD-95C5-45BCF1B7A672}" type="presParOf" srcId="{5CE9B91A-A46E-4C9F-8316-74AC6C607B35}" destId="{86196E7C-F4D1-4735-A01B-F099162D2C37}" srcOrd="0" destOrd="0" presId="urn:microsoft.com/office/officeart/2005/8/layout/pyramid1"/>
    <dgm:cxn modelId="{ABCB98B2-B6A7-4E93-94D3-6F410CC072E0}" type="presParOf" srcId="{5CE9B91A-A46E-4C9F-8316-74AC6C607B35}" destId="{D5861D9E-7CA1-4573-9E89-2482DBCA7154}"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C2D4932-C471-4F15-8B13-C086F1A23AE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ID"/>
        </a:p>
      </dgm:t>
    </dgm:pt>
    <dgm:pt modelId="{D484BFD8-004F-4E6D-B361-B5ECDC68AC44}">
      <dgm:prSet phldrT="[Text]"/>
      <dgm:spPr/>
      <dgm:t>
        <a:bodyPr/>
        <a:lstStyle/>
        <a:p>
          <a:r>
            <a:rPr lang="en-US" dirty="0"/>
            <a:t>Drilling </a:t>
          </a:r>
          <a:endParaRPr lang="en-ID" dirty="0"/>
        </a:p>
      </dgm:t>
    </dgm:pt>
    <dgm:pt modelId="{3D2B5A8A-2828-4E44-83E1-48DB31C205F6}" type="parTrans" cxnId="{8A44B588-3189-4DEB-9713-9CCA08986D7F}">
      <dgm:prSet/>
      <dgm:spPr/>
      <dgm:t>
        <a:bodyPr/>
        <a:lstStyle/>
        <a:p>
          <a:endParaRPr lang="en-ID"/>
        </a:p>
      </dgm:t>
    </dgm:pt>
    <dgm:pt modelId="{9FACF478-BB75-4F7C-B9CB-E6616395537C}" type="sibTrans" cxnId="{8A44B588-3189-4DEB-9713-9CCA08986D7F}">
      <dgm:prSet/>
      <dgm:spPr/>
      <dgm:t>
        <a:bodyPr/>
        <a:lstStyle/>
        <a:p>
          <a:endParaRPr lang="en-ID"/>
        </a:p>
      </dgm:t>
    </dgm:pt>
    <dgm:pt modelId="{22C70A2A-0039-47C3-A2A0-E86E58624E83}">
      <dgm:prSet phldrT="[Text]"/>
      <dgm:spPr>
        <a:solidFill>
          <a:srgbClr val="3399FF"/>
        </a:solidFill>
      </dgm:spPr>
      <dgm:t>
        <a:bodyPr/>
        <a:lstStyle/>
        <a:p>
          <a:r>
            <a:rPr lang="en-US" dirty="0"/>
            <a:t>Office</a:t>
          </a:r>
          <a:endParaRPr lang="en-ID" dirty="0"/>
        </a:p>
      </dgm:t>
    </dgm:pt>
    <dgm:pt modelId="{638D8F45-BB54-4D3D-8F5B-F3EC20038323}" type="parTrans" cxnId="{94EAF2F8-1863-4ECA-BF46-6B64A01B1EC9}">
      <dgm:prSet/>
      <dgm:spPr/>
      <dgm:t>
        <a:bodyPr/>
        <a:lstStyle/>
        <a:p>
          <a:endParaRPr lang="en-ID"/>
        </a:p>
      </dgm:t>
    </dgm:pt>
    <dgm:pt modelId="{B302DF29-F558-47DB-BF14-A4793FA1C583}" type="sibTrans" cxnId="{94EAF2F8-1863-4ECA-BF46-6B64A01B1EC9}">
      <dgm:prSet/>
      <dgm:spPr/>
      <dgm:t>
        <a:bodyPr/>
        <a:lstStyle/>
        <a:p>
          <a:endParaRPr lang="en-ID"/>
        </a:p>
      </dgm:t>
    </dgm:pt>
    <dgm:pt modelId="{50EA9BA6-FA7F-4276-8D92-9BED826B2200}">
      <dgm:prSet phldrT="[Text]"/>
      <dgm:spPr>
        <a:solidFill>
          <a:srgbClr val="FFFFCC"/>
        </a:solidFill>
      </dgm:spPr>
      <dgm:t>
        <a:bodyPr/>
        <a:lstStyle/>
        <a:p>
          <a:r>
            <a:rPr lang="en-US" dirty="0">
              <a:solidFill>
                <a:schemeClr val="tx2"/>
              </a:solidFill>
            </a:rPr>
            <a:t>Permanent Employee</a:t>
          </a:r>
          <a:endParaRPr lang="en-ID" dirty="0">
            <a:solidFill>
              <a:schemeClr val="tx2"/>
            </a:solidFill>
          </a:endParaRPr>
        </a:p>
      </dgm:t>
    </dgm:pt>
    <dgm:pt modelId="{9AF9B8BA-04DC-4EDA-8E84-CDCF379E434C}" type="parTrans" cxnId="{E4185A46-45F9-45D6-B295-89ADB8A10A97}">
      <dgm:prSet/>
      <dgm:spPr/>
      <dgm:t>
        <a:bodyPr/>
        <a:lstStyle/>
        <a:p>
          <a:endParaRPr lang="en-ID"/>
        </a:p>
      </dgm:t>
    </dgm:pt>
    <dgm:pt modelId="{FF12F62D-42F2-4180-B7E8-0829E82323B8}" type="sibTrans" cxnId="{E4185A46-45F9-45D6-B295-89ADB8A10A97}">
      <dgm:prSet/>
      <dgm:spPr/>
      <dgm:t>
        <a:bodyPr/>
        <a:lstStyle/>
        <a:p>
          <a:endParaRPr lang="en-ID"/>
        </a:p>
      </dgm:t>
    </dgm:pt>
    <dgm:pt modelId="{A8DBC95A-7DEE-4075-A39F-6916FDF55168}">
      <dgm:prSet phldrT="[Text]"/>
      <dgm:spPr>
        <a:solidFill>
          <a:srgbClr val="FFFFCC"/>
        </a:solidFill>
      </dgm:spPr>
      <dgm:t>
        <a:bodyPr/>
        <a:lstStyle/>
        <a:p>
          <a:r>
            <a:rPr lang="en-US" dirty="0">
              <a:solidFill>
                <a:schemeClr val="tx2"/>
              </a:solidFill>
            </a:rPr>
            <a:t>Consultant</a:t>
          </a:r>
          <a:endParaRPr lang="en-ID" dirty="0">
            <a:solidFill>
              <a:schemeClr val="tx2"/>
            </a:solidFill>
          </a:endParaRPr>
        </a:p>
      </dgm:t>
    </dgm:pt>
    <dgm:pt modelId="{C8F9C9F4-DBA6-4177-96CE-1C8444B41411}" type="parTrans" cxnId="{0D7D807E-5465-40BF-B50A-BAF47087FAED}">
      <dgm:prSet/>
      <dgm:spPr/>
      <dgm:t>
        <a:bodyPr/>
        <a:lstStyle/>
        <a:p>
          <a:endParaRPr lang="en-ID"/>
        </a:p>
      </dgm:t>
    </dgm:pt>
    <dgm:pt modelId="{7CE461C1-B1B6-4549-B943-C3170AD65581}" type="sibTrans" cxnId="{0D7D807E-5465-40BF-B50A-BAF47087FAED}">
      <dgm:prSet/>
      <dgm:spPr/>
      <dgm:t>
        <a:bodyPr/>
        <a:lstStyle/>
        <a:p>
          <a:endParaRPr lang="en-ID"/>
        </a:p>
      </dgm:t>
    </dgm:pt>
    <dgm:pt modelId="{53BD0588-29CB-417D-AA3A-48262EAA2A99}">
      <dgm:prSet phldrT="[Text]"/>
      <dgm:spPr>
        <a:solidFill>
          <a:srgbClr val="3399FF"/>
        </a:solidFill>
      </dgm:spPr>
      <dgm:t>
        <a:bodyPr/>
        <a:lstStyle/>
        <a:p>
          <a:r>
            <a:rPr lang="en-US" dirty="0"/>
            <a:t>Wellsite</a:t>
          </a:r>
          <a:endParaRPr lang="en-ID" dirty="0"/>
        </a:p>
      </dgm:t>
    </dgm:pt>
    <dgm:pt modelId="{DA99D127-E966-47F6-84DB-C0744A343BAC}" type="sibTrans" cxnId="{B542211F-E37B-4817-87D7-4E4552FD9CF1}">
      <dgm:prSet/>
      <dgm:spPr/>
      <dgm:t>
        <a:bodyPr/>
        <a:lstStyle/>
        <a:p>
          <a:endParaRPr lang="en-ID"/>
        </a:p>
      </dgm:t>
    </dgm:pt>
    <dgm:pt modelId="{7CF0C6CB-682D-4B50-9251-7AC9A4A4DD67}" type="parTrans" cxnId="{B542211F-E37B-4817-87D7-4E4552FD9CF1}">
      <dgm:prSet/>
      <dgm:spPr/>
      <dgm:t>
        <a:bodyPr/>
        <a:lstStyle/>
        <a:p>
          <a:endParaRPr lang="en-ID"/>
        </a:p>
      </dgm:t>
    </dgm:pt>
    <dgm:pt modelId="{7DC62975-4E0B-4196-A0A7-C9156F4F7531}">
      <dgm:prSet phldrT="[Text]"/>
      <dgm:spPr>
        <a:solidFill>
          <a:srgbClr val="FFFF99"/>
        </a:solidFill>
      </dgm:spPr>
      <dgm:t>
        <a:bodyPr/>
        <a:lstStyle/>
        <a:p>
          <a:r>
            <a:rPr lang="en-US" dirty="0">
              <a:solidFill>
                <a:schemeClr val="tx2"/>
              </a:solidFill>
            </a:rPr>
            <a:t>By HRD</a:t>
          </a:r>
          <a:endParaRPr lang="en-ID" dirty="0">
            <a:solidFill>
              <a:schemeClr val="tx2"/>
            </a:solidFill>
          </a:endParaRPr>
        </a:p>
      </dgm:t>
    </dgm:pt>
    <dgm:pt modelId="{B6777EFC-EBB5-4B00-9E48-F3416387952B}" type="parTrans" cxnId="{B9F8CF07-C142-4828-B2B3-4C28E23C45F0}">
      <dgm:prSet/>
      <dgm:spPr/>
      <dgm:t>
        <a:bodyPr/>
        <a:lstStyle/>
        <a:p>
          <a:endParaRPr lang="en-ID"/>
        </a:p>
      </dgm:t>
    </dgm:pt>
    <dgm:pt modelId="{6DE2B8F4-0441-4985-8CCE-99A799C0DB1C}" type="sibTrans" cxnId="{B9F8CF07-C142-4828-B2B3-4C28E23C45F0}">
      <dgm:prSet/>
      <dgm:spPr/>
      <dgm:t>
        <a:bodyPr/>
        <a:lstStyle/>
        <a:p>
          <a:endParaRPr lang="en-ID"/>
        </a:p>
      </dgm:t>
    </dgm:pt>
    <dgm:pt modelId="{41511519-8BA5-4286-AC99-F7ED7424DAB5}">
      <dgm:prSet phldrT="[Text]"/>
      <dgm:spPr>
        <a:solidFill>
          <a:srgbClr val="FFFF99"/>
        </a:solidFill>
      </dgm:spPr>
      <dgm:t>
        <a:bodyPr/>
        <a:lstStyle/>
        <a:p>
          <a:r>
            <a:rPr lang="en-US" dirty="0">
              <a:solidFill>
                <a:schemeClr val="tx2"/>
              </a:solidFill>
            </a:rPr>
            <a:t>Labor Supply</a:t>
          </a:r>
          <a:endParaRPr lang="en-ID" dirty="0">
            <a:solidFill>
              <a:schemeClr val="tx2"/>
            </a:solidFill>
          </a:endParaRPr>
        </a:p>
      </dgm:t>
    </dgm:pt>
    <dgm:pt modelId="{5DA2418C-01DF-4DB9-8AAB-3A80C37A29A4}" type="parTrans" cxnId="{1A097E06-0800-4784-BDB8-0AE1FC438DE6}">
      <dgm:prSet/>
      <dgm:spPr/>
      <dgm:t>
        <a:bodyPr/>
        <a:lstStyle/>
        <a:p>
          <a:endParaRPr lang="en-ID"/>
        </a:p>
      </dgm:t>
    </dgm:pt>
    <dgm:pt modelId="{862FAD90-9F9D-4FB0-A591-9202EC1E3A3B}" type="sibTrans" cxnId="{1A097E06-0800-4784-BDB8-0AE1FC438DE6}">
      <dgm:prSet/>
      <dgm:spPr/>
      <dgm:t>
        <a:bodyPr/>
        <a:lstStyle/>
        <a:p>
          <a:endParaRPr lang="en-ID"/>
        </a:p>
      </dgm:t>
    </dgm:pt>
    <dgm:pt modelId="{1917B27F-9BD7-470B-BC4E-18C2137637BA}" type="pres">
      <dgm:prSet presAssocID="{9C2D4932-C471-4F15-8B13-C086F1A23AE9}" presName="diagram" presStyleCnt="0">
        <dgm:presLayoutVars>
          <dgm:chPref val="1"/>
          <dgm:dir/>
          <dgm:animOne val="branch"/>
          <dgm:animLvl val="lvl"/>
          <dgm:resizeHandles val="exact"/>
        </dgm:presLayoutVars>
      </dgm:prSet>
      <dgm:spPr/>
    </dgm:pt>
    <dgm:pt modelId="{8125A47B-C4E0-4ED8-A180-9B26F7E848A9}" type="pres">
      <dgm:prSet presAssocID="{D484BFD8-004F-4E6D-B361-B5ECDC68AC44}" presName="root1" presStyleCnt="0"/>
      <dgm:spPr/>
    </dgm:pt>
    <dgm:pt modelId="{330D9CEA-95C4-4648-A18D-1D3F049087EE}" type="pres">
      <dgm:prSet presAssocID="{D484BFD8-004F-4E6D-B361-B5ECDC68AC44}" presName="LevelOneTextNode" presStyleLbl="node0" presStyleIdx="0" presStyleCnt="1">
        <dgm:presLayoutVars>
          <dgm:chPref val="3"/>
        </dgm:presLayoutVars>
      </dgm:prSet>
      <dgm:spPr/>
    </dgm:pt>
    <dgm:pt modelId="{020169AD-4E27-4464-AC41-4B697D043AAF}" type="pres">
      <dgm:prSet presAssocID="{D484BFD8-004F-4E6D-B361-B5ECDC68AC44}" presName="level2hierChild" presStyleCnt="0"/>
      <dgm:spPr/>
    </dgm:pt>
    <dgm:pt modelId="{AF28F2BA-E29E-4495-838D-BDADD1D5091A}" type="pres">
      <dgm:prSet presAssocID="{638D8F45-BB54-4D3D-8F5B-F3EC20038323}" presName="conn2-1" presStyleLbl="parChTrans1D2" presStyleIdx="0" presStyleCnt="2"/>
      <dgm:spPr/>
    </dgm:pt>
    <dgm:pt modelId="{FDF323D4-AE6D-4AF0-8A67-3B15249A1912}" type="pres">
      <dgm:prSet presAssocID="{638D8F45-BB54-4D3D-8F5B-F3EC20038323}" presName="connTx" presStyleLbl="parChTrans1D2" presStyleIdx="0" presStyleCnt="2"/>
      <dgm:spPr/>
    </dgm:pt>
    <dgm:pt modelId="{DE23B63C-9F7C-4759-B7A3-7B1161E8FC96}" type="pres">
      <dgm:prSet presAssocID="{22C70A2A-0039-47C3-A2A0-E86E58624E83}" presName="root2" presStyleCnt="0"/>
      <dgm:spPr/>
    </dgm:pt>
    <dgm:pt modelId="{5CA7CE79-FA12-4CE2-BA7F-0AB8C0DC44E2}" type="pres">
      <dgm:prSet presAssocID="{22C70A2A-0039-47C3-A2A0-E86E58624E83}" presName="LevelTwoTextNode" presStyleLbl="node2" presStyleIdx="0" presStyleCnt="2">
        <dgm:presLayoutVars>
          <dgm:chPref val="3"/>
        </dgm:presLayoutVars>
      </dgm:prSet>
      <dgm:spPr/>
    </dgm:pt>
    <dgm:pt modelId="{15BFAD90-536D-4CFF-9933-F58810C61E8A}" type="pres">
      <dgm:prSet presAssocID="{22C70A2A-0039-47C3-A2A0-E86E58624E83}" presName="level3hierChild" presStyleCnt="0"/>
      <dgm:spPr/>
    </dgm:pt>
    <dgm:pt modelId="{E36CF25A-8E00-4EB4-A062-BB65C50CD6C8}" type="pres">
      <dgm:prSet presAssocID="{9AF9B8BA-04DC-4EDA-8E84-CDCF379E434C}" presName="conn2-1" presStyleLbl="parChTrans1D3" presStyleIdx="0" presStyleCnt="2"/>
      <dgm:spPr/>
    </dgm:pt>
    <dgm:pt modelId="{87D8C3E0-5E5A-4AFC-B475-4D982E9F0BA0}" type="pres">
      <dgm:prSet presAssocID="{9AF9B8BA-04DC-4EDA-8E84-CDCF379E434C}" presName="connTx" presStyleLbl="parChTrans1D3" presStyleIdx="0" presStyleCnt="2"/>
      <dgm:spPr/>
    </dgm:pt>
    <dgm:pt modelId="{5DF8E8CA-613D-4D5C-9D58-21BF0AE327F7}" type="pres">
      <dgm:prSet presAssocID="{50EA9BA6-FA7F-4276-8D92-9BED826B2200}" presName="root2" presStyleCnt="0"/>
      <dgm:spPr/>
    </dgm:pt>
    <dgm:pt modelId="{9494280C-A862-4533-93CC-7943F39A5D74}" type="pres">
      <dgm:prSet presAssocID="{50EA9BA6-FA7F-4276-8D92-9BED826B2200}" presName="LevelTwoTextNode" presStyleLbl="node3" presStyleIdx="0" presStyleCnt="2">
        <dgm:presLayoutVars>
          <dgm:chPref val="3"/>
        </dgm:presLayoutVars>
      </dgm:prSet>
      <dgm:spPr/>
    </dgm:pt>
    <dgm:pt modelId="{14426DFA-2FDD-46F1-ACDF-5BF2EE3A0C0A}" type="pres">
      <dgm:prSet presAssocID="{50EA9BA6-FA7F-4276-8D92-9BED826B2200}" presName="level3hierChild" presStyleCnt="0"/>
      <dgm:spPr/>
    </dgm:pt>
    <dgm:pt modelId="{E2223655-EBA7-48F8-81B6-73705D97FCB9}" type="pres">
      <dgm:prSet presAssocID="{B6777EFC-EBB5-4B00-9E48-F3416387952B}" presName="conn2-1" presStyleLbl="parChTrans1D4" presStyleIdx="0" presStyleCnt="2"/>
      <dgm:spPr/>
    </dgm:pt>
    <dgm:pt modelId="{38EEB9CB-50F5-4085-A8F0-5C21FE24B0D8}" type="pres">
      <dgm:prSet presAssocID="{B6777EFC-EBB5-4B00-9E48-F3416387952B}" presName="connTx" presStyleLbl="parChTrans1D4" presStyleIdx="0" presStyleCnt="2"/>
      <dgm:spPr/>
    </dgm:pt>
    <dgm:pt modelId="{FB8BE5C9-4671-4A69-9DE8-9060D36B329A}" type="pres">
      <dgm:prSet presAssocID="{7DC62975-4E0B-4196-A0A7-C9156F4F7531}" presName="root2" presStyleCnt="0"/>
      <dgm:spPr/>
    </dgm:pt>
    <dgm:pt modelId="{4010CAF6-1E3D-401B-B166-641F61E6139F}" type="pres">
      <dgm:prSet presAssocID="{7DC62975-4E0B-4196-A0A7-C9156F4F7531}" presName="LevelTwoTextNode" presStyleLbl="node4" presStyleIdx="0" presStyleCnt="2">
        <dgm:presLayoutVars>
          <dgm:chPref val="3"/>
        </dgm:presLayoutVars>
      </dgm:prSet>
      <dgm:spPr/>
    </dgm:pt>
    <dgm:pt modelId="{CEB6B8FA-65B5-4878-9446-EDA84C66DBF5}" type="pres">
      <dgm:prSet presAssocID="{7DC62975-4E0B-4196-A0A7-C9156F4F7531}" presName="level3hierChild" presStyleCnt="0"/>
      <dgm:spPr/>
    </dgm:pt>
    <dgm:pt modelId="{7A5A3C8F-D9B0-4492-B707-C7015A078A9B}" type="pres">
      <dgm:prSet presAssocID="{7CF0C6CB-682D-4B50-9251-7AC9A4A4DD67}" presName="conn2-1" presStyleLbl="parChTrans1D2" presStyleIdx="1" presStyleCnt="2"/>
      <dgm:spPr/>
    </dgm:pt>
    <dgm:pt modelId="{3E8111FD-30F2-4DE2-B226-75AE2E48AB7A}" type="pres">
      <dgm:prSet presAssocID="{7CF0C6CB-682D-4B50-9251-7AC9A4A4DD67}" presName="connTx" presStyleLbl="parChTrans1D2" presStyleIdx="1" presStyleCnt="2"/>
      <dgm:spPr/>
    </dgm:pt>
    <dgm:pt modelId="{E0E97C1C-C72E-4020-9C31-F1D0A500BEC6}" type="pres">
      <dgm:prSet presAssocID="{53BD0588-29CB-417D-AA3A-48262EAA2A99}" presName="root2" presStyleCnt="0"/>
      <dgm:spPr/>
    </dgm:pt>
    <dgm:pt modelId="{4CE73C85-003A-46A6-AA32-F8E4D4A46868}" type="pres">
      <dgm:prSet presAssocID="{53BD0588-29CB-417D-AA3A-48262EAA2A99}" presName="LevelTwoTextNode" presStyleLbl="node2" presStyleIdx="1" presStyleCnt="2">
        <dgm:presLayoutVars>
          <dgm:chPref val="3"/>
        </dgm:presLayoutVars>
      </dgm:prSet>
      <dgm:spPr/>
    </dgm:pt>
    <dgm:pt modelId="{90E8F395-9E98-415E-AE9B-4545BE11FD58}" type="pres">
      <dgm:prSet presAssocID="{53BD0588-29CB-417D-AA3A-48262EAA2A99}" presName="level3hierChild" presStyleCnt="0"/>
      <dgm:spPr/>
    </dgm:pt>
    <dgm:pt modelId="{E39E62B5-E0DF-48A9-AA72-34ACCD7F6167}" type="pres">
      <dgm:prSet presAssocID="{C8F9C9F4-DBA6-4177-96CE-1C8444B41411}" presName="conn2-1" presStyleLbl="parChTrans1D3" presStyleIdx="1" presStyleCnt="2"/>
      <dgm:spPr/>
    </dgm:pt>
    <dgm:pt modelId="{73A22BAD-34A7-4F07-AEFE-7BC5DC421744}" type="pres">
      <dgm:prSet presAssocID="{C8F9C9F4-DBA6-4177-96CE-1C8444B41411}" presName="connTx" presStyleLbl="parChTrans1D3" presStyleIdx="1" presStyleCnt="2"/>
      <dgm:spPr/>
    </dgm:pt>
    <dgm:pt modelId="{5A70E67E-FD93-4E4A-9FD4-A19831C68F5E}" type="pres">
      <dgm:prSet presAssocID="{A8DBC95A-7DEE-4075-A39F-6916FDF55168}" presName="root2" presStyleCnt="0"/>
      <dgm:spPr/>
    </dgm:pt>
    <dgm:pt modelId="{110510AB-9BCF-4B0C-978F-DB10344CC076}" type="pres">
      <dgm:prSet presAssocID="{A8DBC95A-7DEE-4075-A39F-6916FDF55168}" presName="LevelTwoTextNode" presStyleLbl="node3" presStyleIdx="1" presStyleCnt="2">
        <dgm:presLayoutVars>
          <dgm:chPref val="3"/>
        </dgm:presLayoutVars>
      </dgm:prSet>
      <dgm:spPr/>
    </dgm:pt>
    <dgm:pt modelId="{B431DD14-D0EF-422F-9932-6F24D142979B}" type="pres">
      <dgm:prSet presAssocID="{A8DBC95A-7DEE-4075-A39F-6916FDF55168}" presName="level3hierChild" presStyleCnt="0"/>
      <dgm:spPr/>
    </dgm:pt>
    <dgm:pt modelId="{E9B10384-3CC5-4094-A738-3357049AED71}" type="pres">
      <dgm:prSet presAssocID="{5DA2418C-01DF-4DB9-8AAB-3A80C37A29A4}" presName="conn2-1" presStyleLbl="parChTrans1D4" presStyleIdx="1" presStyleCnt="2"/>
      <dgm:spPr/>
    </dgm:pt>
    <dgm:pt modelId="{0F5E554F-9459-4231-B67D-D6FF663924BE}" type="pres">
      <dgm:prSet presAssocID="{5DA2418C-01DF-4DB9-8AAB-3A80C37A29A4}" presName="connTx" presStyleLbl="parChTrans1D4" presStyleIdx="1" presStyleCnt="2"/>
      <dgm:spPr/>
    </dgm:pt>
    <dgm:pt modelId="{AF8D61FB-4AFC-4464-9CE3-8BA9181F7A64}" type="pres">
      <dgm:prSet presAssocID="{41511519-8BA5-4286-AC99-F7ED7424DAB5}" presName="root2" presStyleCnt="0"/>
      <dgm:spPr/>
    </dgm:pt>
    <dgm:pt modelId="{B9A3292A-EF89-4F72-AC57-61A1366D418F}" type="pres">
      <dgm:prSet presAssocID="{41511519-8BA5-4286-AC99-F7ED7424DAB5}" presName="LevelTwoTextNode" presStyleLbl="node4" presStyleIdx="1" presStyleCnt="2">
        <dgm:presLayoutVars>
          <dgm:chPref val="3"/>
        </dgm:presLayoutVars>
      </dgm:prSet>
      <dgm:spPr/>
    </dgm:pt>
    <dgm:pt modelId="{73D46CBB-35C2-4DC1-954E-C8924991BA34}" type="pres">
      <dgm:prSet presAssocID="{41511519-8BA5-4286-AC99-F7ED7424DAB5}" presName="level3hierChild" presStyleCnt="0"/>
      <dgm:spPr/>
    </dgm:pt>
  </dgm:ptLst>
  <dgm:cxnLst>
    <dgm:cxn modelId="{E15F2B02-9655-49BF-B928-4AB4E69F836F}" type="presOf" srcId="{9AF9B8BA-04DC-4EDA-8E84-CDCF379E434C}" destId="{E36CF25A-8E00-4EB4-A062-BB65C50CD6C8}" srcOrd="0" destOrd="0" presId="urn:microsoft.com/office/officeart/2005/8/layout/hierarchy2"/>
    <dgm:cxn modelId="{1A097E06-0800-4784-BDB8-0AE1FC438DE6}" srcId="{A8DBC95A-7DEE-4075-A39F-6916FDF55168}" destId="{41511519-8BA5-4286-AC99-F7ED7424DAB5}" srcOrd="0" destOrd="0" parTransId="{5DA2418C-01DF-4DB9-8AAB-3A80C37A29A4}" sibTransId="{862FAD90-9F9D-4FB0-A591-9202EC1E3A3B}"/>
    <dgm:cxn modelId="{F0D53307-DA9A-4FEA-90A9-76B6693D2860}" type="presOf" srcId="{22C70A2A-0039-47C3-A2A0-E86E58624E83}" destId="{5CA7CE79-FA12-4CE2-BA7F-0AB8C0DC44E2}" srcOrd="0" destOrd="0" presId="urn:microsoft.com/office/officeart/2005/8/layout/hierarchy2"/>
    <dgm:cxn modelId="{78706D07-1D80-4C70-A6C7-09D9E1209499}" type="presOf" srcId="{C8F9C9F4-DBA6-4177-96CE-1C8444B41411}" destId="{73A22BAD-34A7-4F07-AEFE-7BC5DC421744}" srcOrd="1" destOrd="0" presId="urn:microsoft.com/office/officeart/2005/8/layout/hierarchy2"/>
    <dgm:cxn modelId="{B9F8CF07-C142-4828-B2B3-4C28E23C45F0}" srcId="{50EA9BA6-FA7F-4276-8D92-9BED826B2200}" destId="{7DC62975-4E0B-4196-A0A7-C9156F4F7531}" srcOrd="0" destOrd="0" parTransId="{B6777EFC-EBB5-4B00-9E48-F3416387952B}" sibTransId="{6DE2B8F4-0441-4985-8CCE-99A799C0DB1C}"/>
    <dgm:cxn modelId="{F3047B0D-E579-4A9D-8BFA-AEAE658B5FAD}" type="presOf" srcId="{5DA2418C-01DF-4DB9-8AAB-3A80C37A29A4}" destId="{0F5E554F-9459-4231-B67D-D6FF663924BE}" srcOrd="1" destOrd="0" presId="urn:microsoft.com/office/officeart/2005/8/layout/hierarchy2"/>
    <dgm:cxn modelId="{1B287414-B75E-47A0-9E13-A77868A4DA5C}" type="presOf" srcId="{50EA9BA6-FA7F-4276-8D92-9BED826B2200}" destId="{9494280C-A862-4533-93CC-7943F39A5D74}" srcOrd="0" destOrd="0" presId="urn:microsoft.com/office/officeart/2005/8/layout/hierarchy2"/>
    <dgm:cxn modelId="{EADC1E19-2D41-4693-A14D-8A2C8AEC3348}" type="presOf" srcId="{9AF9B8BA-04DC-4EDA-8E84-CDCF379E434C}" destId="{87D8C3E0-5E5A-4AFC-B475-4D982E9F0BA0}" srcOrd="1" destOrd="0" presId="urn:microsoft.com/office/officeart/2005/8/layout/hierarchy2"/>
    <dgm:cxn modelId="{B542211F-E37B-4817-87D7-4E4552FD9CF1}" srcId="{D484BFD8-004F-4E6D-B361-B5ECDC68AC44}" destId="{53BD0588-29CB-417D-AA3A-48262EAA2A99}" srcOrd="1" destOrd="0" parTransId="{7CF0C6CB-682D-4B50-9251-7AC9A4A4DD67}" sibTransId="{DA99D127-E966-47F6-84DB-C0744A343BAC}"/>
    <dgm:cxn modelId="{34DD9835-E513-4514-83A9-82C9D615A882}" type="presOf" srcId="{7DC62975-4E0B-4196-A0A7-C9156F4F7531}" destId="{4010CAF6-1E3D-401B-B166-641F61E6139F}" srcOrd="0" destOrd="0" presId="urn:microsoft.com/office/officeart/2005/8/layout/hierarchy2"/>
    <dgm:cxn modelId="{E4185A46-45F9-45D6-B295-89ADB8A10A97}" srcId="{22C70A2A-0039-47C3-A2A0-E86E58624E83}" destId="{50EA9BA6-FA7F-4276-8D92-9BED826B2200}" srcOrd="0" destOrd="0" parTransId="{9AF9B8BA-04DC-4EDA-8E84-CDCF379E434C}" sibTransId="{FF12F62D-42F2-4180-B7E8-0829E82323B8}"/>
    <dgm:cxn modelId="{000D7B66-3305-486F-B52A-B84DE5F8B437}" type="presOf" srcId="{9C2D4932-C471-4F15-8B13-C086F1A23AE9}" destId="{1917B27F-9BD7-470B-BC4E-18C2137637BA}" srcOrd="0" destOrd="0" presId="urn:microsoft.com/office/officeart/2005/8/layout/hierarchy2"/>
    <dgm:cxn modelId="{D47B0A68-1F69-4681-882F-C583134F2BFA}" type="presOf" srcId="{638D8F45-BB54-4D3D-8F5B-F3EC20038323}" destId="{AF28F2BA-E29E-4495-838D-BDADD1D5091A}" srcOrd="0" destOrd="0" presId="urn:microsoft.com/office/officeart/2005/8/layout/hierarchy2"/>
    <dgm:cxn modelId="{F4ACB54C-1366-4D51-B2D5-2E1C3BED4EF0}" type="presOf" srcId="{638D8F45-BB54-4D3D-8F5B-F3EC20038323}" destId="{FDF323D4-AE6D-4AF0-8A67-3B15249A1912}" srcOrd="1" destOrd="0" presId="urn:microsoft.com/office/officeart/2005/8/layout/hierarchy2"/>
    <dgm:cxn modelId="{6EBCF674-752B-4B21-8AE5-1953B8E7273F}" type="presOf" srcId="{B6777EFC-EBB5-4B00-9E48-F3416387952B}" destId="{E2223655-EBA7-48F8-81B6-73705D97FCB9}" srcOrd="0" destOrd="0" presId="urn:microsoft.com/office/officeart/2005/8/layout/hierarchy2"/>
    <dgm:cxn modelId="{55F65A7D-E77A-41C1-B14E-E4D24DACE522}" type="presOf" srcId="{7CF0C6CB-682D-4B50-9251-7AC9A4A4DD67}" destId="{7A5A3C8F-D9B0-4492-B707-C7015A078A9B}" srcOrd="0" destOrd="0" presId="urn:microsoft.com/office/officeart/2005/8/layout/hierarchy2"/>
    <dgm:cxn modelId="{0D7D807E-5465-40BF-B50A-BAF47087FAED}" srcId="{53BD0588-29CB-417D-AA3A-48262EAA2A99}" destId="{A8DBC95A-7DEE-4075-A39F-6916FDF55168}" srcOrd="0" destOrd="0" parTransId="{C8F9C9F4-DBA6-4177-96CE-1C8444B41411}" sibTransId="{7CE461C1-B1B6-4549-B943-C3170AD65581}"/>
    <dgm:cxn modelId="{8A44B588-3189-4DEB-9713-9CCA08986D7F}" srcId="{9C2D4932-C471-4F15-8B13-C086F1A23AE9}" destId="{D484BFD8-004F-4E6D-B361-B5ECDC68AC44}" srcOrd="0" destOrd="0" parTransId="{3D2B5A8A-2828-4E44-83E1-48DB31C205F6}" sibTransId="{9FACF478-BB75-4F7C-B9CB-E6616395537C}"/>
    <dgm:cxn modelId="{37E5709D-3A15-4FB7-AA50-CB5899F99519}" type="presOf" srcId="{7CF0C6CB-682D-4B50-9251-7AC9A4A4DD67}" destId="{3E8111FD-30F2-4DE2-B226-75AE2E48AB7A}" srcOrd="1" destOrd="0" presId="urn:microsoft.com/office/officeart/2005/8/layout/hierarchy2"/>
    <dgm:cxn modelId="{B12647A6-D321-4A81-A755-6A5279CF9D2C}" type="presOf" srcId="{5DA2418C-01DF-4DB9-8AAB-3A80C37A29A4}" destId="{E9B10384-3CC5-4094-A738-3357049AED71}" srcOrd="0" destOrd="0" presId="urn:microsoft.com/office/officeart/2005/8/layout/hierarchy2"/>
    <dgm:cxn modelId="{BA2BBAC2-6693-45BC-B3DC-E5B98454EFCC}" type="presOf" srcId="{A8DBC95A-7DEE-4075-A39F-6916FDF55168}" destId="{110510AB-9BCF-4B0C-978F-DB10344CC076}" srcOrd="0" destOrd="0" presId="urn:microsoft.com/office/officeart/2005/8/layout/hierarchy2"/>
    <dgm:cxn modelId="{71305FC8-FFEE-446E-93A1-CF1C6D42729C}" type="presOf" srcId="{53BD0588-29CB-417D-AA3A-48262EAA2A99}" destId="{4CE73C85-003A-46A6-AA32-F8E4D4A46868}" srcOrd="0" destOrd="0" presId="urn:microsoft.com/office/officeart/2005/8/layout/hierarchy2"/>
    <dgm:cxn modelId="{ED5CD6CD-B0E3-4AB2-AD16-8FC98BCD1B3E}" type="presOf" srcId="{41511519-8BA5-4286-AC99-F7ED7424DAB5}" destId="{B9A3292A-EF89-4F72-AC57-61A1366D418F}" srcOrd="0" destOrd="0" presId="urn:microsoft.com/office/officeart/2005/8/layout/hierarchy2"/>
    <dgm:cxn modelId="{87F5F6D5-8886-461B-B8F8-AF61D42B2F22}" type="presOf" srcId="{B6777EFC-EBB5-4B00-9E48-F3416387952B}" destId="{38EEB9CB-50F5-4085-A8F0-5C21FE24B0D8}" srcOrd="1" destOrd="0" presId="urn:microsoft.com/office/officeart/2005/8/layout/hierarchy2"/>
    <dgm:cxn modelId="{4A8635D9-C674-43B7-9F74-E5F876E2C442}" type="presOf" srcId="{D484BFD8-004F-4E6D-B361-B5ECDC68AC44}" destId="{330D9CEA-95C4-4648-A18D-1D3F049087EE}" srcOrd="0" destOrd="0" presId="urn:microsoft.com/office/officeart/2005/8/layout/hierarchy2"/>
    <dgm:cxn modelId="{94EAF2F8-1863-4ECA-BF46-6B64A01B1EC9}" srcId="{D484BFD8-004F-4E6D-B361-B5ECDC68AC44}" destId="{22C70A2A-0039-47C3-A2A0-E86E58624E83}" srcOrd="0" destOrd="0" parTransId="{638D8F45-BB54-4D3D-8F5B-F3EC20038323}" sibTransId="{B302DF29-F558-47DB-BF14-A4793FA1C583}"/>
    <dgm:cxn modelId="{65D9A3FC-941A-4DD6-B1E0-B5EF58D23721}" type="presOf" srcId="{C8F9C9F4-DBA6-4177-96CE-1C8444B41411}" destId="{E39E62B5-E0DF-48A9-AA72-34ACCD7F6167}" srcOrd="0" destOrd="0" presId="urn:microsoft.com/office/officeart/2005/8/layout/hierarchy2"/>
    <dgm:cxn modelId="{6D67B8A6-B42C-49D0-8B45-898AF16E627F}" type="presParOf" srcId="{1917B27F-9BD7-470B-BC4E-18C2137637BA}" destId="{8125A47B-C4E0-4ED8-A180-9B26F7E848A9}" srcOrd="0" destOrd="0" presId="urn:microsoft.com/office/officeart/2005/8/layout/hierarchy2"/>
    <dgm:cxn modelId="{4294954D-DDE2-4598-9CED-3777AB4AA8A0}" type="presParOf" srcId="{8125A47B-C4E0-4ED8-A180-9B26F7E848A9}" destId="{330D9CEA-95C4-4648-A18D-1D3F049087EE}" srcOrd="0" destOrd="0" presId="urn:microsoft.com/office/officeart/2005/8/layout/hierarchy2"/>
    <dgm:cxn modelId="{BC3093FC-C560-4980-8A0E-E1BA33ECE333}" type="presParOf" srcId="{8125A47B-C4E0-4ED8-A180-9B26F7E848A9}" destId="{020169AD-4E27-4464-AC41-4B697D043AAF}" srcOrd="1" destOrd="0" presId="urn:microsoft.com/office/officeart/2005/8/layout/hierarchy2"/>
    <dgm:cxn modelId="{5948176A-09A5-4443-9766-6C647FA6B3C1}" type="presParOf" srcId="{020169AD-4E27-4464-AC41-4B697D043AAF}" destId="{AF28F2BA-E29E-4495-838D-BDADD1D5091A}" srcOrd="0" destOrd="0" presId="urn:microsoft.com/office/officeart/2005/8/layout/hierarchy2"/>
    <dgm:cxn modelId="{D539AAF5-DFB7-43C0-ADC8-CA48CDB9D795}" type="presParOf" srcId="{AF28F2BA-E29E-4495-838D-BDADD1D5091A}" destId="{FDF323D4-AE6D-4AF0-8A67-3B15249A1912}" srcOrd="0" destOrd="0" presId="urn:microsoft.com/office/officeart/2005/8/layout/hierarchy2"/>
    <dgm:cxn modelId="{E0256F61-0059-4F12-A6B3-96989FF57E43}" type="presParOf" srcId="{020169AD-4E27-4464-AC41-4B697D043AAF}" destId="{DE23B63C-9F7C-4759-B7A3-7B1161E8FC96}" srcOrd="1" destOrd="0" presId="urn:microsoft.com/office/officeart/2005/8/layout/hierarchy2"/>
    <dgm:cxn modelId="{832273CD-AE28-4C2C-B37B-3FA8E21F20BE}" type="presParOf" srcId="{DE23B63C-9F7C-4759-B7A3-7B1161E8FC96}" destId="{5CA7CE79-FA12-4CE2-BA7F-0AB8C0DC44E2}" srcOrd="0" destOrd="0" presId="urn:microsoft.com/office/officeart/2005/8/layout/hierarchy2"/>
    <dgm:cxn modelId="{985958B6-1244-4AB8-9961-6CB60944E4BC}" type="presParOf" srcId="{DE23B63C-9F7C-4759-B7A3-7B1161E8FC96}" destId="{15BFAD90-536D-4CFF-9933-F58810C61E8A}" srcOrd="1" destOrd="0" presId="urn:microsoft.com/office/officeart/2005/8/layout/hierarchy2"/>
    <dgm:cxn modelId="{67F79B7A-C642-458E-A5A1-278E61B9EF5F}" type="presParOf" srcId="{15BFAD90-536D-4CFF-9933-F58810C61E8A}" destId="{E36CF25A-8E00-4EB4-A062-BB65C50CD6C8}" srcOrd="0" destOrd="0" presId="urn:microsoft.com/office/officeart/2005/8/layout/hierarchy2"/>
    <dgm:cxn modelId="{239426C6-0B9D-4DAC-81D1-F8AD0B4087ED}" type="presParOf" srcId="{E36CF25A-8E00-4EB4-A062-BB65C50CD6C8}" destId="{87D8C3E0-5E5A-4AFC-B475-4D982E9F0BA0}" srcOrd="0" destOrd="0" presId="urn:microsoft.com/office/officeart/2005/8/layout/hierarchy2"/>
    <dgm:cxn modelId="{E06D1346-A0E3-4363-BC8D-EBBA1890B482}" type="presParOf" srcId="{15BFAD90-536D-4CFF-9933-F58810C61E8A}" destId="{5DF8E8CA-613D-4D5C-9D58-21BF0AE327F7}" srcOrd="1" destOrd="0" presId="urn:microsoft.com/office/officeart/2005/8/layout/hierarchy2"/>
    <dgm:cxn modelId="{463744C4-3A2E-4035-9E77-FD46EE9374E0}" type="presParOf" srcId="{5DF8E8CA-613D-4D5C-9D58-21BF0AE327F7}" destId="{9494280C-A862-4533-93CC-7943F39A5D74}" srcOrd="0" destOrd="0" presId="urn:microsoft.com/office/officeart/2005/8/layout/hierarchy2"/>
    <dgm:cxn modelId="{55C37F59-0EE2-47DF-A3DA-665E24E9206A}" type="presParOf" srcId="{5DF8E8CA-613D-4D5C-9D58-21BF0AE327F7}" destId="{14426DFA-2FDD-46F1-ACDF-5BF2EE3A0C0A}" srcOrd="1" destOrd="0" presId="urn:microsoft.com/office/officeart/2005/8/layout/hierarchy2"/>
    <dgm:cxn modelId="{A7436895-2821-4E24-9A8F-89FAD2EA2C10}" type="presParOf" srcId="{14426DFA-2FDD-46F1-ACDF-5BF2EE3A0C0A}" destId="{E2223655-EBA7-48F8-81B6-73705D97FCB9}" srcOrd="0" destOrd="0" presId="urn:microsoft.com/office/officeart/2005/8/layout/hierarchy2"/>
    <dgm:cxn modelId="{5DCE25F3-501C-4A5A-9D53-21044AE26C8D}" type="presParOf" srcId="{E2223655-EBA7-48F8-81B6-73705D97FCB9}" destId="{38EEB9CB-50F5-4085-A8F0-5C21FE24B0D8}" srcOrd="0" destOrd="0" presId="urn:microsoft.com/office/officeart/2005/8/layout/hierarchy2"/>
    <dgm:cxn modelId="{2C75C28D-6A4B-4E87-8749-3DEEC18F57B3}" type="presParOf" srcId="{14426DFA-2FDD-46F1-ACDF-5BF2EE3A0C0A}" destId="{FB8BE5C9-4671-4A69-9DE8-9060D36B329A}" srcOrd="1" destOrd="0" presId="urn:microsoft.com/office/officeart/2005/8/layout/hierarchy2"/>
    <dgm:cxn modelId="{63A569AE-F561-4913-9564-72C180AC3B4D}" type="presParOf" srcId="{FB8BE5C9-4671-4A69-9DE8-9060D36B329A}" destId="{4010CAF6-1E3D-401B-B166-641F61E6139F}" srcOrd="0" destOrd="0" presId="urn:microsoft.com/office/officeart/2005/8/layout/hierarchy2"/>
    <dgm:cxn modelId="{3A6B0E58-657F-4A41-ABB7-575100C5D852}" type="presParOf" srcId="{FB8BE5C9-4671-4A69-9DE8-9060D36B329A}" destId="{CEB6B8FA-65B5-4878-9446-EDA84C66DBF5}" srcOrd="1" destOrd="0" presId="urn:microsoft.com/office/officeart/2005/8/layout/hierarchy2"/>
    <dgm:cxn modelId="{86BA9909-009B-498E-B446-E6D35B1554A2}" type="presParOf" srcId="{020169AD-4E27-4464-AC41-4B697D043AAF}" destId="{7A5A3C8F-D9B0-4492-B707-C7015A078A9B}" srcOrd="2" destOrd="0" presId="urn:microsoft.com/office/officeart/2005/8/layout/hierarchy2"/>
    <dgm:cxn modelId="{20A6A85E-6353-469B-9D53-7065934F0DDE}" type="presParOf" srcId="{7A5A3C8F-D9B0-4492-B707-C7015A078A9B}" destId="{3E8111FD-30F2-4DE2-B226-75AE2E48AB7A}" srcOrd="0" destOrd="0" presId="urn:microsoft.com/office/officeart/2005/8/layout/hierarchy2"/>
    <dgm:cxn modelId="{DAF21FE8-3788-4092-A466-E9BEA28E4C3D}" type="presParOf" srcId="{020169AD-4E27-4464-AC41-4B697D043AAF}" destId="{E0E97C1C-C72E-4020-9C31-F1D0A500BEC6}" srcOrd="3" destOrd="0" presId="urn:microsoft.com/office/officeart/2005/8/layout/hierarchy2"/>
    <dgm:cxn modelId="{388F277F-25CD-4B71-ACC1-E1761D5C4C06}" type="presParOf" srcId="{E0E97C1C-C72E-4020-9C31-F1D0A500BEC6}" destId="{4CE73C85-003A-46A6-AA32-F8E4D4A46868}" srcOrd="0" destOrd="0" presId="urn:microsoft.com/office/officeart/2005/8/layout/hierarchy2"/>
    <dgm:cxn modelId="{2610254E-60C3-48CC-9D2E-101F6865FAF2}" type="presParOf" srcId="{E0E97C1C-C72E-4020-9C31-F1D0A500BEC6}" destId="{90E8F395-9E98-415E-AE9B-4545BE11FD58}" srcOrd="1" destOrd="0" presId="urn:microsoft.com/office/officeart/2005/8/layout/hierarchy2"/>
    <dgm:cxn modelId="{F36D85F9-2638-4AD1-B19D-E89F1CA79CD9}" type="presParOf" srcId="{90E8F395-9E98-415E-AE9B-4545BE11FD58}" destId="{E39E62B5-E0DF-48A9-AA72-34ACCD7F6167}" srcOrd="0" destOrd="0" presId="urn:microsoft.com/office/officeart/2005/8/layout/hierarchy2"/>
    <dgm:cxn modelId="{F535ABFA-CA5B-482C-914D-CCAE32BF5543}" type="presParOf" srcId="{E39E62B5-E0DF-48A9-AA72-34ACCD7F6167}" destId="{73A22BAD-34A7-4F07-AEFE-7BC5DC421744}" srcOrd="0" destOrd="0" presId="urn:microsoft.com/office/officeart/2005/8/layout/hierarchy2"/>
    <dgm:cxn modelId="{BD8C9E4B-B50D-4FB5-A43D-32C47E7F88D5}" type="presParOf" srcId="{90E8F395-9E98-415E-AE9B-4545BE11FD58}" destId="{5A70E67E-FD93-4E4A-9FD4-A19831C68F5E}" srcOrd="1" destOrd="0" presId="urn:microsoft.com/office/officeart/2005/8/layout/hierarchy2"/>
    <dgm:cxn modelId="{62784913-EF87-4A43-928E-3B4646B89E5B}" type="presParOf" srcId="{5A70E67E-FD93-4E4A-9FD4-A19831C68F5E}" destId="{110510AB-9BCF-4B0C-978F-DB10344CC076}" srcOrd="0" destOrd="0" presId="urn:microsoft.com/office/officeart/2005/8/layout/hierarchy2"/>
    <dgm:cxn modelId="{303E13F3-BDD7-4693-8512-27295726DCD4}" type="presParOf" srcId="{5A70E67E-FD93-4E4A-9FD4-A19831C68F5E}" destId="{B431DD14-D0EF-422F-9932-6F24D142979B}" srcOrd="1" destOrd="0" presId="urn:microsoft.com/office/officeart/2005/8/layout/hierarchy2"/>
    <dgm:cxn modelId="{BECBF7A5-8879-47AC-8DEF-22E89A0AF9A2}" type="presParOf" srcId="{B431DD14-D0EF-422F-9932-6F24D142979B}" destId="{E9B10384-3CC5-4094-A738-3357049AED71}" srcOrd="0" destOrd="0" presId="urn:microsoft.com/office/officeart/2005/8/layout/hierarchy2"/>
    <dgm:cxn modelId="{3046EF8A-F9EC-48D0-B27A-6A03D6493676}" type="presParOf" srcId="{E9B10384-3CC5-4094-A738-3357049AED71}" destId="{0F5E554F-9459-4231-B67D-D6FF663924BE}" srcOrd="0" destOrd="0" presId="urn:microsoft.com/office/officeart/2005/8/layout/hierarchy2"/>
    <dgm:cxn modelId="{2A68A6B0-42C3-47A6-A577-CB8CFF711797}" type="presParOf" srcId="{B431DD14-D0EF-422F-9932-6F24D142979B}" destId="{AF8D61FB-4AFC-4464-9CE3-8BA9181F7A64}" srcOrd="1" destOrd="0" presId="urn:microsoft.com/office/officeart/2005/8/layout/hierarchy2"/>
    <dgm:cxn modelId="{B6571882-C5BA-4FB2-84F1-4248D5C39477}" type="presParOf" srcId="{AF8D61FB-4AFC-4464-9CE3-8BA9181F7A64}" destId="{B9A3292A-EF89-4F72-AC57-61A1366D418F}" srcOrd="0" destOrd="0" presId="urn:microsoft.com/office/officeart/2005/8/layout/hierarchy2"/>
    <dgm:cxn modelId="{F1208C17-7E41-4C7A-A006-317D159AD280}" type="presParOf" srcId="{AF8D61FB-4AFC-4464-9CE3-8BA9181F7A64}" destId="{73D46CBB-35C2-4DC1-954E-C8924991BA34}"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C2D4932-C471-4F15-8B13-C086F1A23AE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ID"/>
        </a:p>
      </dgm:t>
    </dgm:pt>
    <dgm:pt modelId="{D484BFD8-004F-4E6D-B361-B5ECDC68AC44}">
      <dgm:prSet phldrT="[Text]"/>
      <dgm:spPr/>
      <dgm:t>
        <a:bodyPr/>
        <a:lstStyle/>
        <a:p>
          <a:r>
            <a:rPr lang="en-US" dirty="0"/>
            <a:t>Drilling </a:t>
          </a:r>
          <a:endParaRPr lang="en-ID" dirty="0"/>
        </a:p>
      </dgm:t>
    </dgm:pt>
    <dgm:pt modelId="{3D2B5A8A-2828-4E44-83E1-48DB31C205F6}" type="parTrans" cxnId="{8A44B588-3189-4DEB-9713-9CCA08986D7F}">
      <dgm:prSet/>
      <dgm:spPr/>
      <dgm:t>
        <a:bodyPr/>
        <a:lstStyle/>
        <a:p>
          <a:endParaRPr lang="en-ID"/>
        </a:p>
      </dgm:t>
    </dgm:pt>
    <dgm:pt modelId="{9FACF478-BB75-4F7C-B9CB-E6616395537C}" type="sibTrans" cxnId="{8A44B588-3189-4DEB-9713-9CCA08986D7F}">
      <dgm:prSet/>
      <dgm:spPr/>
      <dgm:t>
        <a:bodyPr/>
        <a:lstStyle/>
        <a:p>
          <a:endParaRPr lang="en-ID"/>
        </a:p>
      </dgm:t>
    </dgm:pt>
    <dgm:pt modelId="{22C70A2A-0039-47C3-A2A0-E86E58624E83}">
      <dgm:prSet phldrT="[Text]"/>
      <dgm:spPr/>
      <dgm:t>
        <a:bodyPr/>
        <a:lstStyle/>
        <a:p>
          <a:r>
            <a:rPr lang="en-US" dirty="0"/>
            <a:t>Office Personnel</a:t>
          </a:r>
          <a:endParaRPr lang="en-ID" dirty="0"/>
        </a:p>
      </dgm:t>
    </dgm:pt>
    <dgm:pt modelId="{638D8F45-BB54-4D3D-8F5B-F3EC20038323}" type="parTrans" cxnId="{94EAF2F8-1863-4ECA-BF46-6B64A01B1EC9}">
      <dgm:prSet/>
      <dgm:spPr/>
      <dgm:t>
        <a:bodyPr/>
        <a:lstStyle/>
        <a:p>
          <a:endParaRPr lang="en-ID"/>
        </a:p>
      </dgm:t>
    </dgm:pt>
    <dgm:pt modelId="{B302DF29-F558-47DB-BF14-A4793FA1C583}" type="sibTrans" cxnId="{94EAF2F8-1863-4ECA-BF46-6B64A01B1EC9}">
      <dgm:prSet/>
      <dgm:spPr/>
      <dgm:t>
        <a:bodyPr/>
        <a:lstStyle/>
        <a:p>
          <a:endParaRPr lang="en-ID"/>
        </a:p>
      </dgm:t>
    </dgm:pt>
    <dgm:pt modelId="{53BD0588-29CB-417D-AA3A-48262EAA2A99}">
      <dgm:prSet phldrT="[Text]"/>
      <dgm:spPr/>
      <dgm:t>
        <a:bodyPr/>
        <a:lstStyle/>
        <a:p>
          <a:r>
            <a:rPr lang="en-US" dirty="0"/>
            <a:t>Consultant</a:t>
          </a:r>
          <a:endParaRPr lang="en-ID" dirty="0"/>
        </a:p>
      </dgm:t>
    </dgm:pt>
    <dgm:pt modelId="{DA99D127-E966-47F6-84DB-C0744A343BAC}" type="sibTrans" cxnId="{B542211F-E37B-4817-87D7-4E4552FD9CF1}">
      <dgm:prSet/>
      <dgm:spPr/>
      <dgm:t>
        <a:bodyPr/>
        <a:lstStyle/>
        <a:p>
          <a:endParaRPr lang="en-ID"/>
        </a:p>
      </dgm:t>
    </dgm:pt>
    <dgm:pt modelId="{7CF0C6CB-682D-4B50-9251-7AC9A4A4DD67}" type="parTrans" cxnId="{B542211F-E37B-4817-87D7-4E4552FD9CF1}">
      <dgm:prSet/>
      <dgm:spPr/>
      <dgm:t>
        <a:bodyPr/>
        <a:lstStyle/>
        <a:p>
          <a:endParaRPr lang="en-ID"/>
        </a:p>
      </dgm:t>
    </dgm:pt>
    <dgm:pt modelId="{7DC62975-4E0B-4196-A0A7-C9156F4F7531}">
      <dgm:prSet phldrT="[Text]"/>
      <dgm:spPr>
        <a:solidFill>
          <a:srgbClr val="66FF99"/>
        </a:solidFill>
      </dgm:spPr>
      <dgm:t>
        <a:bodyPr/>
        <a:lstStyle/>
        <a:p>
          <a:r>
            <a:rPr lang="en-US" dirty="0">
              <a:solidFill>
                <a:srgbClr val="002060"/>
              </a:solidFill>
            </a:rPr>
            <a:t>Permanent</a:t>
          </a:r>
          <a:endParaRPr lang="en-ID" dirty="0">
            <a:solidFill>
              <a:srgbClr val="002060"/>
            </a:solidFill>
          </a:endParaRPr>
        </a:p>
      </dgm:t>
    </dgm:pt>
    <dgm:pt modelId="{B6777EFC-EBB5-4B00-9E48-F3416387952B}" type="parTrans" cxnId="{B9F8CF07-C142-4828-B2B3-4C28E23C45F0}">
      <dgm:prSet/>
      <dgm:spPr/>
      <dgm:t>
        <a:bodyPr/>
        <a:lstStyle/>
        <a:p>
          <a:endParaRPr lang="en-ID"/>
        </a:p>
      </dgm:t>
    </dgm:pt>
    <dgm:pt modelId="{6DE2B8F4-0441-4985-8CCE-99A799C0DB1C}" type="sibTrans" cxnId="{B9F8CF07-C142-4828-B2B3-4C28E23C45F0}">
      <dgm:prSet/>
      <dgm:spPr/>
      <dgm:t>
        <a:bodyPr/>
        <a:lstStyle/>
        <a:p>
          <a:endParaRPr lang="en-ID"/>
        </a:p>
      </dgm:t>
    </dgm:pt>
    <dgm:pt modelId="{41511519-8BA5-4286-AC99-F7ED7424DAB5}">
      <dgm:prSet phldrT="[Text]"/>
      <dgm:spPr>
        <a:solidFill>
          <a:srgbClr val="FFFF99"/>
        </a:solidFill>
      </dgm:spPr>
      <dgm:t>
        <a:bodyPr/>
        <a:lstStyle/>
        <a:p>
          <a:r>
            <a:rPr lang="en-US" dirty="0">
              <a:solidFill>
                <a:srgbClr val="002060"/>
              </a:solidFill>
            </a:rPr>
            <a:t>Labor Supply</a:t>
          </a:r>
          <a:endParaRPr lang="en-ID" dirty="0">
            <a:solidFill>
              <a:srgbClr val="002060"/>
            </a:solidFill>
          </a:endParaRPr>
        </a:p>
      </dgm:t>
    </dgm:pt>
    <dgm:pt modelId="{5DA2418C-01DF-4DB9-8AAB-3A80C37A29A4}" type="parTrans" cxnId="{1A097E06-0800-4784-BDB8-0AE1FC438DE6}">
      <dgm:prSet/>
      <dgm:spPr/>
      <dgm:t>
        <a:bodyPr/>
        <a:lstStyle/>
        <a:p>
          <a:endParaRPr lang="en-ID"/>
        </a:p>
      </dgm:t>
    </dgm:pt>
    <dgm:pt modelId="{862FAD90-9F9D-4FB0-A591-9202EC1E3A3B}" type="sibTrans" cxnId="{1A097E06-0800-4784-BDB8-0AE1FC438DE6}">
      <dgm:prSet/>
      <dgm:spPr/>
      <dgm:t>
        <a:bodyPr/>
        <a:lstStyle/>
        <a:p>
          <a:endParaRPr lang="en-ID"/>
        </a:p>
      </dgm:t>
    </dgm:pt>
    <dgm:pt modelId="{FCD28084-83C7-4A6C-B104-E968651E9D50}">
      <dgm:prSet phldrT="[Text]"/>
      <dgm:spPr>
        <a:solidFill>
          <a:srgbClr val="CCFF99"/>
        </a:solidFill>
      </dgm:spPr>
      <dgm:t>
        <a:bodyPr/>
        <a:lstStyle/>
        <a:p>
          <a:r>
            <a:rPr lang="en-US" dirty="0">
              <a:solidFill>
                <a:srgbClr val="002060"/>
              </a:solidFill>
            </a:rPr>
            <a:t>Direct Contract</a:t>
          </a:r>
          <a:endParaRPr lang="en-ID" dirty="0">
            <a:solidFill>
              <a:srgbClr val="002060"/>
            </a:solidFill>
          </a:endParaRPr>
        </a:p>
      </dgm:t>
    </dgm:pt>
    <dgm:pt modelId="{B75DBF32-7368-4D11-ACA6-B56406EE238D}" type="parTrans" cxnId="{0C814690-9417-45F3-88B2-708FDBA778EB}">
      <dgm:prSet/>
      <dgm:spPr/>
      <dgm:t>
        <a:bodyPr/>
        <a:lstStyle/>
        <a:p>
          <a:endParaRPr lang="en-ID"/>
        </a:p>
      </dgm:t>
    </dgm:pt>
    <dgm:pt modelId="{0F4741CD-EBDE-40D8-99EC-9BD69E5693A8}" type="sibTrans" cxnId="{0C814690-9417-45F3-88B2-708FDBA778EB}">
      <dgm:prSet/>
      <dgm:spPr/>
      <dgm:t>
        <a:bodyPr/>
        <a:lstStyle/>
        <a:p>
          <a:endParaRPr lang="en-ID"/>
        </a:p>
      </dgm:t>
    </dgm:pt>
    <dgm:pt modelId="{344363C8-89D1-4C8A-AF75-3FAAF18084F9}">
      <dgm:prSet phldrT="[Text]"/>
      <dgm:spPr>
        <a:solidFill>
          <a:srgbClr val="FFFFCC"/>
        </a:solidFill>
      </dgm:spPr>
      <dgm:t>
        <a:bodyPr/>
        <a:lstStyle/>
        <a:p>
          <a:r>
            <a:rPr lang="en-US" dirty="0">
              <a:solidFill>
                <a:srgbClr val="002060"/>
              </a:solidFill>
            </a:rPr>
            <a:t>Direct Contract</a:t>
          </a:r>
          <a:endParaRPr lang="en-ID" dirty="0">
            <a:solidFill>
              <a:srgbClr val="002060"/>
            </a:solidFill>
          </a:endParaRPr>
        </a:p>
      </dgm:t>
    </dgm:pt>
    <dgm:pt modelId="{7C935994-C13F-4311-A7C8-348D37121D8D}" type="parTrans" cxnId="{C5943207-1CCB-40E0-A213-33A534586D8E}">
      <dgm:prSet/>
      <dgm:spPr/>
      <dgm:t>
        <a:bodyPr/>
        <a:lstStyle/>
        <a:p>
          <a:endParaRPr lang="en-ID"/>
        </a:p>
      </dgm:t>
    </dgm:pt>
    <dgm:pt modelId="{9FB2F628-97FD-4508-90E3-1B838726F47A}" type="sibTrans" cxnId="{C5943207-1CCB-40E0-A213-33A534586D8E}">
      <dgm:prSet/>
      <dgm:spPr/>
      <dgm:t>
        <a:bodyPr/>
        <a:lstStyle/>
        <a:p>
          <a:endParaRPr lang="en-ID"/>
        </a:p>
      </dgm:t>
    </dgm:pt>
    <dgm:pt modelId="{1917B27F-9BD7-470B-BC4E-18C2137637BA}" type="pres">
      <dgm:prSet presAssocID="{9C2D4932-C471-4F15-8B13-C086F1A23AE9}" presName="diagram" presStyleCnt="0">
        <dgm:presLayoutVars>
          <dgm:chPref val="1"/>
          <dgm:dir/>
          <dgm:animOne val="branch"/>
          <dgm:animLvl val="lvl"/>
          <dgm:resizeHandles val="exact"/>
        </dgm:presLayoutVars>
      </dgm:prSet>
      <dgm:spPr/>
    </dgm:pt>
    <dgm:pt modelId="{8125A47B-C4E0-4ED8-A180-9B26F7E848A9}" type="pres">
      <dgm:prSet presAssocID="{D484BFD8-004F-4E6D-B361-B5ECDC68AC44}" presName="root1" presStyleCnt="0"/>
      <dgm:spPr/>
    </dgm:pt>
    <dgm:pt modelId="{330D9CEA-95C4-4648-A18D-1D3F049087EE}" type="pres">
      <dgm:prSet presAssocID="{D484BFD8-004F-4E6D-B361-B5ECDC68AC44}" presName="LevelOneTextNode" presStyleLbl="node0" presStyleIdx="0" presStyleCnt="1">
        <dgm:presLayoutVars>
          <dgm:chPref val="3"/>
        </dgm:presLayoutVars>
      </dgm:prSet>
      <dgm:spPr/>
    </dgm:pt>
    <dgm:pt modelId="{020169AD-4E27-4464-AC41-4B697D043AAF}" type="pres">
      <dgm:prSet presAssocID="{D484BFD8-004F-4E6D-B361-B5ECDC68AC44}" presName="level2hierChild" presStyleCnt="0"/>
      <dgm:spPr/>
    </dgm:pt>
    <dgm:pt modelId="{AF28F2BA-E29E-4495-838D-BDADD1D5091A}" type="pres">
      <dgm:prSet presAssocID="{638D8F45-BB54-4D3D-8F5B-F3EC20038323}" presName="conn2-1" presStyleLbl="parChTrans1D2" presStyleIdx="0" presStyleCnt="2"/>
      <dgm:spPr/>
    </dgm:pt>
    <dgm:pt modelId="{FDF323D4-AE6D-4AF0-8A67-3B15249A1912}" type="pres">
      <dgm:prSet presAssocID="{638D8F45-BB54-4D3D-8F5B-F3EC20038323}" presName="connTx" presStyleLbl="parChTrans1D2" presStyleIdx="0" presStyleCnt="2"/>
      <dgm:spPr/>
    </dgm:pt>
    <dgm:pt modelId="{DE23B63C-9F7C-4759-B7A3-7B1161E8FC96}" type="pres">
      <dgm:prSet presAssocID="{22C70A2A-0039-47C3-A2A0-E86E58624E83}" presName="root2" presStyleCnt="0"/>
      <dgm:spPr/>
    </dgm:pt>
    <dgm:pt modelId="{5CA7CE79-FA12-4CE2-BA7F-0AB8C0DC44E2}" type="pres">
      <dgm:prSet presAssocID="{22C70A2A-0039-47C3-A2A0-E86E58624E83}" presName="LevelTwoTextNode" presStyleLbl="node2" presStyleIdx="0" presStyleCnt="2">
        <dgm:presLayoutVars>
          <dgm:chPref val="3"/>
        </dgm:presLayoutVars>
      </dgm:prSet>
      <dgm:spPr/>
    </dgm:pt>
    <dgm:pt modelId="{15BFAD90-536D-4CFF-9933-F58810C61E8A}" type="pres">
      <dgm:prSet presAssocID="{22C70A2A-0039-47C3-A2A0-E86E58624E83}" presName="level3hierChild" presStyleCnt="0"/>
      <dgm:spPr/>
    </dgm:pt>
    <dgm:pt modelId="{E2223655-EBA7-48F8-81B6-73705D97FCB9}" type="pres">
      <dgm:prSet presAssocID="{B6777EFC-EBB5-4B00-9E48-F3416387952B}" presName="conn2-1" presStyleLbl="parChTrans1D3" presStyleIdx="0" presStyleCnt="4"/>
      <dgm:spPr/>
    </dgm:pt>
    <dgm:pt modelId="{38EEB9CB-50F5-4085-A8F0-5C21FE24B0D8}" type="pres">
      <dgm:prSet presAssocID="{B6777EFC-EBB5-4B00-9E48-F3416387952B}" presName="connTx" presStyleLbl="parChTrans1D3" presStyleIdx="0" presStyleCnt="4"/>
      <dgm:spPr/>
    </dgm:pt>
    <dgm:pt modelId="{FB8BE5C9-4671-4A69-9DE8-9060D36B329A}" type="pres">
      <dgm:prSet presAssocID="{7DC62975-4E0B-4196-A0A7-C9156F4F7531}" presName="root2" presStyleCnt="0"/>
      <dgm:spPr/>
    </dgm:pt>
    <dgm:pt modelId="{4010CAF6-1E3D-401B-B166-641F61E6139F}" type="pres">
      <dgm:prSet presAssocID="{7DC62975-4E0B-4196-A0A7-C9156F4F7531}" presName="LevelTwoTextNode" presStyleLbl="node3" presStyleIdx="0" presStyleCnt="4">
        <dgm:presLayoutVars>
          <dgm:chPref val="3"/>
        </dgm:presLayoutVars>
      </dgm:prSet>
      <dgm:spPr/>
    </dgm:pt>
    <dgm:pt modelId="{CEB6B8FA-65B5-4878-9446-EDA84C66DBF5}" type="pres">
      <dgm:prSet presAssocID="{7DC62975-4E0B-4196-A0A7-C9156F4F7531}" presName="level3hierChild" presStyleCnt="0"/>
      <dgm:spPr/>
    </dgm:pt>
    <dgm:pt modelId="{5A357E26-92C0-433E-8F2B-02892140B543}" type="pres">
      <dgm:prSet presAssocID="{B75DBF32-7368-4D11-ACA6-B56406EE238D}" presName="conn2-1" presStyleLbl="parChTrans1D3" presStyleIdx="1" presStyleCnt="4"/>
      <dgm:spPr/>
    </dgm:pt>
    <dgm:pt modelId="{A5DA3368-9082-4D76-92CC-BA9918374A07}" type="pres">
      <dgm:prSet presAssocID="{B75DBF32-7368-4D11-ACA6-B56406EE238D}" presName="connTx" presStyleLbl="parChTrans1D3" presStyleIdx="1" presStyleCnt="4"/>
      <dgm:spPr/>
    </dgm:pt>
    <dgm:pt modelId="{344DB94F-174B-4CD2-8B7D-9F1601294050}" type="pres">
      <dgm:prSet presAssocID="{FCD28084-83C7-4A6C-B104-E968651E9D50}" presName="root2" presStyleCnt="0"/>
      <dgm:spPr/>
    </dgm:pt>
    <dgm:pt modelId="{99540F2E-A3A0-4BE6-BC35-861568543784}" type="pres">
      <dgm:prSet presAssocID="{FCD28084-83C7-4A6C-B104-E968651E9D50}" presName="LevelTwoTextNode" presStyleLbl="node3" presStyleIdx="1" presStyleCnt="4">
        <dgm:presLayoutVars>
          <dgm:chPref val="3"/>
        </dgm:presLayoutVars>
      </dgm:prSet>
      <dgm:spPr/>
    </dgm:pt>
    <dgm:pt modelId="{3883A7DC-7DA7-4980-A570-DFC0F10AC065}" type="pres">
      <dgm:prSet presAssocID="{FCD28084-83C7-4A6C-B104-E968651E9D50}" presName="level3hierChild" presStyleCnt="0"/>
      <dgm:spPr/>
    </dgm:pt>
    <dgm:pt modelId="{7A5A3C8F-D9B0-4492-B707-C7015A078A9B}" type="pres">
      <dgm:prSet presAssocID="{7CF0C6CB-682D-4B50-9251-7AC9A4A4DD67}" presName="conn2-1" presStyleLbl="parChTrans1D2" presStyleIdx="1" presStyleCnt="2"/>
      <dgm:spPr/>
    </dgm:pt>
    <dgm:pt modelId="{3E8111FD-30F2-4DE2-B226-75AE2E48AB7A}" type="pres">
      <dgm:prSet presAssocID="{7CF0C6CB-682D-4B50-9251-7AC9A4A4DD67}" presName="connTx" presStyleLbl="parChTrans1D2" presStyleIdx="1" presStyleCnt="2"/>
      <dgm:spPr/>
    </dgm:pt>
    <dgm:pt modelId="{E0E97C1C-C72E-4020-9C31-F1D0A500BEC6}" type="pres">
      <dgm:prSet presAssocID="{53BD0588-29CB-417D-AA3A-48262EAA2A99}" presName="root2" presStyleCnt="0"/>
      <dgm:spPr/>
    </dgm:pt>
    <dgm:pt modelId="{4CE73C85-003A-46A6-AA32-F8E4D4A46868}" type="pres">
      <dgm:prSet presAssocID="{53BD0588-29CB-417D-AA3A-48262EAA2A99}" presName="LevelTwoTextNode" presStyleLbl="node2" presStyleIdx="1" presStyleCnt="2">
        <dgm:presLayoutVars>
          <dgm:chPref val="3"/>
        </dgm:presLayoutVars>
      </dgm:prSet>
      <dgm:spPr/>
    </dgm:pt>
    <dgm:pt modelId="{90E8F395-9E98-415E-AE9B-4545BE11FD58}" type="pres">
      <dgm:prSet presAssocID="{53BD0588-29CB-417D-AA3A-48262EAA2A99}" presName="level3hierChild" presStyleCnt="0"/>
      <dgm:spPr/>
    </dgm:pt>
    <dgm:pt modelId="{8C228C18-082A-4ECA-A14D-EF1C08B83C0F}" type="pres">
      <dgm:prSet presAssocID="{7C935994-C13F-4311-A7C8-348D37121D8D}" presName="conn2-1" presStyleLbl="parChTrans1D3" presStyleIdx="2" presStyleCnt="4"/>
      <dgm:spPr/>
    </dgm:pt>
    <dgm:pt modelId="{EFC544D0-B409-478F-AEB8-203D9206F16E}" type="pres">
      <dgm:prSet presAssocID="{7C935994-C13F-4311-A7C8-348D37121D8D}" presName="connTx" presStyleLbl="parChTrans1D3" presStyleIdx="2" presStyleCnt="4"/>
      <dgm:spPr/>
    </dgm:pt>
    <dgm:pt modelId="{A026C493-4FBE-4828-8C63-D75E4A48670C}" type="pres">
      <dgm:prSet presAssocID="{344363C8-89D1-4C8A-AF75-3FAAF18084F9}" presName="root2" presStyleCnt="0"/>
      <dgm:spPr/>
    </dgm:pt>
    <dgm:pt modelId="{D7B9C589-695C-4F22-9638-B4AB2EEB09B3}" type="pres">
      <dgm:prSet presAssocID="{344363C8-89D1-4C8A-AF75-3FAAF18084F9}" presName="LevelTwoTextNode" presStyleLbl="node3" presStyleIdx="2" presStyleCnt="4">
        <dgm:presLayoutVars>
          <dgm:chPref val="3"/>
        </dgm:presLayoutVars>
      </dgm:prSet>
      <dgm:spPr/>
    </dgm:pt>
    <dgm:pt modelId="{5C5EE5BB-292E-4D0E-9AC7-2B8F82772259}" type="pres">
      <dgm:prSet presAssocID="{344363C8-89D1-4C8A-AF75-3FAAF18084F9}" presName="level3hierChild" presStyleCnt="0"/>
      <dgm:spPr/>
    </dgm:pt>
    <dgm:pt modelId="{E9B10384-3CC5-4094-A738-3357049AED71}" type="pres">
      <dgm:prSet presAssocID="{5DA2418C-01DF-4DB9-8AAB-3A80C37A29A4}" presName="conn2-1" presStyleLbl="parChTrans1D3" presStyleIdx="3" presStyleCnt="4"/>
      <dgm:spPr/>
    </dgm:pt>
    <dgm:pt modelId="{0F5E554F-9459-4231-B67D-D6FF663924BE}" type="pres">
      <dgm:prSet presAssocID="{5DA2418C-01DF-4DB9-8AAB-3A80C37A29A4}" presName="connTx" presStyleLbl="parChTrans1D3" presStyleIdx="3" presStyleCnt="4"/>
      <dgm:spPr/>
    </dgm:pt>
    <dgm:pt modelId="{AF8D61FB-4AFC-4464-9CE3-8BA9181F7A64}" type="pres">
      <dgm:prSet presAssocID="{41511519-8BA5-4286-AC99-F7ED7424DAB5}" presName="root2" presStyleCnt="0"/>
      <dgm:spPr/>
    </dgm:pt>
    <dgm:pt modelId="{B9A3292A-EF89-4F72-AC57-61A1366D418F}" type="pres">
      <dgm:prSet presAssocID="{41511519-8BA5-4286-AC99-F7ED7424DAB5}" presName="LevelTwoTextNode" presStyleLbl="node3" presStyleIdx="3" presStyleCnt="4">
        <dgm:presLayoutVars>
          <dgm:chPref val="3"/>
        </dgm:presLayoutVars>
      </dgm:prSet>
      <dgm:spPr/>
    </dgm:pt>
    <dgm:pt modelId="{73D46CBB-35C2-4DC1-954E-C8924991BA34}" type="pres">
      <dgm:prSet presAssocID="{41511519-8BA5-4286-AC99-F7ED7424DAB5}" presName="level3hierChild" presStyleCnt="0"/>
      <dgm:spPr/>
    </dgm:pt>
  </dgm:ptLst>
  <dgm:cxnLst>
    <dgm:cxn modelId="{1A097E06-0800-4784-BDB8-0AE1FC438DE6}" srcId="{53BD0588-29CB-417D-AA3A-48262EAA2A99}" destId="{41511519-8BA5-4286-AC99-F7ED7424DAB5}" srcOrd="1" destOrd="0" parTransId="{5DA2418C-01DF-4DB9-8AAB-3A80C37A29A4}" sibTransId="{862FAD90-9F9D-4FB0-A591-9202EC1E3A3B}"/>
    <dgm:cxn modelId="{C5943207-1CCB-40E0-A213-33A534586D8E}" srcId="{53BD0588-29CB-417D-AA3A-48262EAA2A99}" destId="{344363C8-89D1-4C8A-AF75-3FAAF18084F9}" srcOrd="0" destOrd="0" parTransId="{7C935994-C13F-4311-A7C8-348D37121D8D}" sibTransId="{9FB2F628-97FD-4508-90E3-1B838726F47A}"/>
    <dgm:cxn modelId="{F0D53307-DA9A-4FEA-90A9-76B6693D2860}" type="presOf" srcId="{22C70A2A-0039-47C3-A2A0-E86E58624E83}" destId="{5CA7CE79-FA12-4CE2-BA7F-0AB8C0DC44E2}" srcOrd="0" destOrd="0" presId="urn:microsoft.com/office/officeart/2005/8/layout/hierarchy2"/>
    <dgm:cxn modelId="{B9F8CF07-C142-4828-B2B3-4C28E23C45F0}" srcId="{22C70A2A-0039-47C3-A2A0-E86E58624E83}" destId="{7DC62975-4E0B-4196-A0A7-C9156F4F7531}" srcOrd="0" destOrd="0" parTransId="{B6777EFC-EBB5-4B00-9E48-F3416387952B}" sibTransId="{6DE2B8F4-0441-4985-8CCE-99A799C0DB1C}"/>
    <dgm:cxn modelId="{7B098C1A-095B-48C0-B77C-98F13C553B71}" type="presOf" srcId="{5DA2418C-01DF-4DB9-8AAB-3A80C37A29A4}" destId="{0F5E554F-9459-4231-B67D-D6FF663924BE}" srcOrd="1" destOrd="0" presId="urn:microsoft.com/office/officeart/2005/8/layout/hierarchy2"/>
    <dgm:cxn modelId="{B542211F-E37B-4817-87D7-4E4552FD9CF1}" srcId="{D484BFD8-004F-4E6D-B361-B5ECDC68AC44}" destId="{53BD0588-29CB-417D-AA3A-48262EAA2A99}" srcOrd="1" destOrd="0" parTransId="{7CF0C6CB-682D-4B50-9251-7AC9A4A4DD67}" sibTransId="{DA99D127-E966-47F6-84DB-C0744A343BAC}"/>
    <dgm:cxn modelId="{28834F3F-B6DF-4445-8C90-D3EAB839FE25}" type="presOf" srcId="{7DC62975-4E0B-4196-A0A7-C9156F4F7531}" destId="{4010CAF6-1E3D-401B-B166-641F61E6139F}" srcOrd="0" destOrd="0" presId="urn:microsoft.com/office/officeart/2005/8/layout/hierarchy2"/>
    <dgm:cxn modelId="{000D7B66-3305-486F-B52A-B84DE5F8B437}" type="presOf" srcId="{9C2D4932-C471-4F15-8B13-C086F1A23AE9}" destId="{1917B27F-9BD7-470B-BC4E-18C2137637BA}" srcOrd="0" destOrd="0" presId="urn:microsoft.com/office/officeart/2005/8/layout/hierarchy2"/>
    <dgm:cxn modelId="{D47B0A68-1F69-4681-882F-C583134F2BFA}" type="presOf" srcId="{638D8F45-BB54-4D3D-8F5B-F3EC20038323}" destId="{AF28F2BA-E29E-4495-838D-BDADD1D5091A}" srcOrd="0" destOrd="0" presId="urn:microsoft.com/office/officeart/2005/8/layout/hierarchy2"/>
    <dgm:cxn modelId="{F4ACB54C-1366-4D51-B2D5-2E1C3BED4EF0}" type="presOf" srcId="{638D8F45-BB54-4D3D-8F5B-F3EC20038323}" destId="{FDF323D4-AE6D-4AF0-8A67-3B15249A1912}" srcOrd="1" destOrd="0" presId="urn:microsoft.com/office/officeart/2005/8/layout/hierarchy2"/>
    <dgm:cxn modelId="{528E7950-0E4E-4948-8B53-C753FB7139F7}" type="presOf" srcId="{7C935994-C13F-4311-A7C8-348D37121D8D}" destId="{8C228C18-082A-4ECA-A14D-EF1C08B83C0F}" srcOrd="0" destOrd="0" presId="urn:microsoft.com/office/officeart/2005/8/layout/hierarchy2"/>
    <dgm:cxn modelId="{760F3474-90AB-498B-AF3B-826AEAEC827E}" type="presOf" srcId="{B6777EFC-EBB5-4B00-9E48-F3416387952B}" destId="{E2223655-EBA7-48F8-81B6-73705D97FCB9}" srcOrd="0" destOrd="0" presId="urn:microsoft.com/office/officeart/2005/8/layout/hierarchy2"/>
    <dgm:cxn modelId="{45856F75-D833-4BF1-8E5D-B832E46EF3DB}" type="presOf" srcId="{344363C8-89D1-4C8A-AF75-3FAAF18084F9}" destId="{D7B9C589-695C-4F22-9638-B4AB2EEB09B3}" srcOrd="0" destOrd="0" presId="urn:microsoft.com/office/officeart/2005/8/layout/hierarchy2"/>
    <dgm:cxn modelId="{FAC93459-9657-495B-BF24-402E57F7829A}" type="presOf" srcId="{B75DBF32-7368-4D11-ACA6-B56406EE238D}" destId="{5A357E26-92C0-433E-8F2B-02892140B543}" srcOrd="0" destOrd="0" presId="urn:microsoft.com/office/officeart/2005/8/layout/hierarchy2"/>
    <dgm:cxn modelId="{55F65A7D-E77A-41C1-B14E-E4D24DACE522}" type="presOf" srcId="{7CF0C6CB-682D-4B50-9251-7AC9A4A4DD67}" destId="{7A5A3C8F-D9B0-4492-B707-C7015A078A9B}" srcOrd="0" destOrd="0" presId="urn:microsoft.com/office/officeart/2005/8/layout/hierarchy2"/>
    <dgm:cxn modelId="{1892C17D-967A-40A2-9996-70DE6D2477B2}" type="presOf" srcId="{7C935994-C13F-4311-A7C8-348D37121D8D}" destId="{EFC544D0-B409-478F-AEB8-203D9206F16E}" srcOrd="1" destOrd="0" presId="urn:microsoft.com/office/officeart/2005/8/layout/hierarchy2"/>
    <dgm:cxn modelId="{7A3B5684-228E-426D-96E1-E468799636DB}" type="presOf" srcId="{FCD28084-83C7-4A6C-B104-E968651E9D50}" destId="{99540F2E-A3A0-4BE6-BC35-861568543784}" srcOrd="0" destOrd="0" presId="urn:microsoft.com/office/officeart/2005/8/layout/hierarchy2"/>
    <dgm:cxn modelId="{8A44B588-3189-4DEB-9713-9CCA08986D7F}" srcId="{9C2D4932-C471-4F15-8B13-C086F1A23AE9}" destId="{D484BFD8-004F-4E6D-B361-B5ECDC68AC44}" srcOrd="0" destOrd="0" parTransId="{3D2B5A8A-2828-4E44-83E1-48DB31C205F6}" sibTransId="{9FACF478-BB75-4F7C-B9CB-E6616395537C}"/>
    <dgm:cxn modelId="{E499E98E-9C8D-4489-923F-0AB61D2989A6}" type="presOf" srcId="{B6777EFC-EBB5-4B00-9E48-F3416387952B}" destId="{38EEB9CB-50F5-4085-A8F0-5C21FE24B0D8}" srcOrd="1" destOrd="0" presId="urn:microsoft.com/office/officeart/2005/8/layout/hierarchy2"/>
    <dgm:cxn modelId="{0C814690-9417-45F3-88B2-708FDBA778EB}" srcId="{22C70A2A-0039-47C3-A2A0-E86E58624E83}" destId="{FCD28084-83C7-4A6C-B104-E968651E9D50}" srcOrd="1" destOrd="0" parTransId="{B75DBF32-7368-4D11-ACA6-B56406EE238D}" sibTransId="{0F4741CD-EBDE-40D8-99EC-9BD69E5693A8}"/>
    <dgm:cxn modelId="{B497B398-24EC-4FA7-9653-9AEFA4A6B69E}" type="presOf" srcId="{41511519-8BA5-4286-AC99-F7ED7424DAB5}" destId="{B9A3292A-EF89-4F72-AC57-61A1366D418F}" srcOrd="0" destOrd="0" presId="urn:microsoft.com/office/officeart/2005/8/layout/hierarchy2"/>
    <dgm:cxn modelId="{37E5709D-3A15-4FB7-AA50-CB5899F99519}" type="presOf" srcId="{7CF0C6CB-682D-4B50-9251-7AC9A4A4DD67}" destId="{3E8111FD-30F2-4DE2-B226-75AE2E48AB7A}" srcOrd="1" destOrd="0" presId="urn:microsoft.com/office/officeart/2005/8/layout/hierarchy2"/>
    <dgm:cxn modelId="{DA3724AA-4197-4759-83FF-55DD98DDF3EE}" type="presOf" srcId="{B75DBF32-7368-4D11-ACA6-B56406EE238D}" destId="{A5DA3368-9082-4D76-92CC-BA9918374A07}" srcOrd="1" destOrd="0" presId="urn:microsoft.com/office/officeart/2005/8/layout/hierarchy2"/>
    <dgm:cxn modelId="{0A648CB2-3330-4C64-BF5E-A08BD097D6A0}" type="presOf" srcId="{5DA2418C-01DF-4DB9-8AAB-3A80C37A29A4}" destId="{E9B10384-3CC5-4094-A738-3357049AED71}" srcOrd="0" destOrd="0" presId="urn:microsoft.com/office/officeart/2005/8/layout/hierarchy2"/>
    <dgm:cxn modelId="{71305FC8-FFEE-446E-93A1-CF1C6D42729C}" type="presOf" srcId="{53BD0588-29CB-417D-AA3A-48262EAA2A99}" destId="{4CE73C85-003A-46A6-AA32-F8E4D4A46868}" srcOrd="0" destOrd="0" presId="urn:microsoft.com/office/officeart/2005/8/layout/hierarchy2"/>
    <dgm:cxn modelId="{4A8635D9-C674-43B7-9F74-E5F876E2C442}" type="presOf" srcId="{D484BFD8-004F-4E6D-B361-B5ECDC68AC44}" destId="{330D9CEA-95C4-4648-A18D-1D3F049087EE}" srcOrd="0" destOrd="0" presId="urn:microsoft.com/office/officeart/2005/8/layout/hierarchy2"/>
    <dgm:cxn modelId="{94EAF2F8-1863-4ECA-BF46-6B64A01B1EC9}" srcId="{D484BFD8-004F-4E6D-B361-B5ECDC68AC44}" destId="{22C70A2A-0039-47C3-A2A0-E86E58624E83}" srcOrd="0" destOrd="0" parTransId="{638D8F45-BB54-4D3D-8F5B-F3EC20038323}" sibTransId="{B302DF29-F558-47DB-BF14-A4793FA1C583}"/>
    <dgm:cxn modelId="{6D67B8A6-B42C-49D0-8B45-898AF16E627F}" type="presParOf" srcId="{1917B27F-9BD7-470B-BC4E-18C2137637BA}" destId="{8125A47B-C4E0-4ED8-A180-9B26F7E848A9}" srcOrd="0" destOrd="0" presId="urn:microsoft.com/office/officeart/2005/8/layout/hierarchy2"/>
    <dgm:cxn modelId="{4294954D-DDE2-4598-9CED-3777AB4AA8A0}" type="presParOf" srcId="{8125A47B-C4E0-4ED8-A180-9B26F7E848A9}" destId="{330D9CEA-95C4-4648-A18D-1D3F049087EE}" srcOrd="0" destOrd="0" presId="urn:microsoft.com/office/officeart/2005/8/layout/hierarchy2"/>
    <dgm:cxn modelId="{BC3093FC-C560-4980-8A0E-E1BA33ECE333}" type="presParOf" srcId="{8125A47B-C4E0-4ED8-A180-9B26F7E848A9}" destId="{020169AD-4E27-4464-AC41-4B697D043AAF}" srcOrd="1" destOrd="0" presId="urn:microsoft.com/office/officeart/2005/8/layout/hierarchy2"/>
    <dgm:cxn modelId="{5948176A-09A5-4443-9766-6C647FA6B3C1}" type="presParOf" srcId="{020169AD-4E27-4464-AC41-4B697D043AAF}" destId="{AF28F2BA-E29E-4495-838D-BDADD1D5091A}" srcOrd="0" destOrd="0" presId="urn:microsoft.com/office/officeart/2005/8/layout/hierarchy2"/>
    <dgm:cxn modelId="{D539AAF5-DFB7-43C0-ADC8-CA48CDB9D795}" type="presParOf" srcId="{AF28F2BA-E29E-4495-838D-BDADD1D5091A}" destId="{FDF323D4-AE6D-4AF0-8A67-3B15249A1912}" srcOrd="0" destOrd="0" presId="urn:microsoft.com/office/officeart/2005/8/layout/hierarchy2"/>
    <dgm:cxn modelId="{E0256F61-0059-4F12-A6B3-96989FF57E43}" type="presParOf" srcId="{020169AD-4E27-4464-AC41-4B697D043AAF}" destId="{DE23B63C-9F7C-4759-B7A3-7B1161E8FC96}" srcOrd="1" destOrd="0" presId="urn:microsoft.com/office/officeart/2005/8/layout/hierarchy2"/>
    <dgm:cxn modelId="{832273CD-AE28-4C2C-B37B-3FA8E21F20BE}" type="presParOf" srcId="{DE23B63C-9F7C-4759-B7A3-7B1161E8FC96}" destId="{5CA7CE79-FA12-4CE2-BA7F-0AB8C0DC44E2}" srcOrd="0" destOrd="0" presId="urn:microsoft.com/office/officeart/2005/8/layout/hierarchy2"/>
    <dgm:cxn modelId="{985958B6-1244-4AB8-9961-6CB60944E4BC}" type="presParOf" srcId="{DE23B63C-9F7C-4759-B7A3-7B1161E8FC96}" destId="{15BFAD90-536D-4CFF-9933-F58810C61E8A}" srcOrd="1" destOrd="0" presId="urn:microsoft.com/office/officeart/2005/8/layout/hierarchy2"/>
    <dgm:cxn modelId="{3AB002E1-FD18-4ED5-992E-8C4857770947}" type="presParOf" srcId="{15BFAD90-536D-4CFF-9933-F58810C61E8A}" destId="{E2223655-EBA7-48F8-81B6-73705D97FCB9}" srcOrd="0" destOrd="0" presId="urn:microsoft.com/office/officeart/2005/8/layout/hierarchy2"/>
    <dgm:cxn modelId="{771028B4-6351-4AE1-AB6A-F12A349E03AA}" type="presParOf" srcId="{E2223655-EBA7-48F8-81B6-73705D97FCB9}" destId="{38EEB9CB-50F5-4085-A8F0-5C21FE24B0D8}" srcOrd="0" destOrd="0" presId="urn:microsoft.com/office/officeart/2005/8/layout/hierarchy2"/>
    <dgm:cxn modelId="{E79F2BEF-4F71-40EE-B79C-5F8F4FCB46F5}" type="presParOf" srcId="{15BFAD90-536D-4CFF-9933-F58810C61E8A}" destId="{FB8BE5C9-4671-4A69-9DE8-9060D36B329A}" srcOrd="1" destOrd="0" presId="urn:microsoft.com/office/officeart/2005/8/layout/hierarchy2"/>
    <dgm:cxn modelId="{938B148B-113F-4D69-A114-542E716ED863}" type="presParOf" srcId="{FB8BE5C9-4671-4A69-9DE8-9060D36B329A}" destId="{4010CAF6-1E3D-401B-B166-641F61E6139F}" srcOrd="0" destOrd="0" presId="urn:microsoft.com/office/officeart/2005/8/layout/hierarchy2"/>
    <dgm:cxn modelId="{9285192F-A04F-462D-BF95-B06E0571D3F6}" type="presParOf" srcId="{FB8BE5C9-4671-4A69-9DE8-9060D36B329A}" destId="{CEB6B8FA-65B5-4878-9446-EDA84C66DBF5}" srcOrd="1" destOrd="0" presId="urn:microsoft.com/office/officeart/2005/8/layout/hierarchy2"/>
    <dgm:cxn modelId="{F612E1F6-9A49-42EA-A27F-5F4F6A78ACA1}" type="presParOf" srcId="{15BFAD90-536D-4CFF-9933-F58810C61E8A}" destId="{5A357E26-92C0-433E-8F2B-02892140B543}" srcOrd="2" destOrd="0" presId="urn:microsoft.com/office/officeart/2005/8/layout/hierarchy2"/>
    <dgm:cxn modelId="{4BE09BA5-FE6B-4617-9CB0-D90D649ABEA5}" type="presParOf" srcId="{5A357E26-92C0-433E-8F2B-02892140B543}" destId="{A5DA3368-9082-4D76-92CC-BA9918374A07}" srcOrd="0" destOrd="0" presId="urn:microsoft.com/office/officeart/2005/8/layout/hierarchy2"/>
    <dgm:cxn modelId="{7711FE4A-8B04-4A2A-A243-D0E0D055A00A}" type="presParOf" srcId="{15BFAD90-536D-4CFF-9933-F58810C61E8A}" destId="{344DB94F-174B-4CD2-8B7D-9F1601294050}" srcOrd="3" destOrd="0" presId="urn:microsoft.com/office/officeart/2005/8/layout/hierarchy2"/>
    <dgm:cxn modelId="{B5F0B6A2-88CB-4296-9F6F-DBD75A096D9A}" type="presParOf" srcId="{344DB94F-174B-4CD2-8B7D-9F1601294050}" destId="{99540F2E-A3A0-4BE6-BC35-861568543784}" srcOrd="0" destOrd="0" presId="urn:microsoft.com/office/officeart/2005/8/layout/hierarchy2"/>
    <dgm:cxn modelId="{F1A4917D-E5AF-4CE0-A152-85329DEC82B6}" type="presParOf" srcId="{344DB94F-174B-4CD2-8B7D-9F1601294050}" destId="{3883A7DC-7DA7-4980-A570-DFC0F10AC065}" srcOrd="1" destOrd="0" presId="urn:microsoft.com/office/officeart/2005/8/layout/hierarchy2"/>
    <dgm:cxn modelId="{86BA9909-009B-498E-B446-E6D35B1554A2}" type="presParOf" srcId="{020169AD-4E27-4464-AC41-4B697D043AAF}" destId="{7A5A3C8F-D9B0-4492-B707-C7015A078A9B}" srcOrd="2" destOrd="0" presId="urn:microsoft.com/office/officeart/2005/8/layout/hierarchy2"/>
    <dgm:cxn modelId="{20A6A85E-6353-469B-9D53-7065934F0DDE}" type="presParOf" srcId="{7A5A3C8F-D9B0-4492-B707-C7015A078A9B}" destId="{3E8111FD-30F2-4DE2-B226-75AE2E48AB7A}" srcOrd="0" destOrd="0" presId="urn:microsoft.com/office/officeart/2005/8/layout/hierarchy2"/>
    <dgm:cxn modelId="{DAF21FE8-3788-4092-A466-E9BEA28E4C3D}" type="presParOf" srcId="{020169AD-4E27-4464-AC41-4B697D043AAF}" destId="{E0E97C1C-C72E-4020-9C31-F1D0A500BEC6}" srcOrd="3" destOrd="0" presId="urn:microsoft.com/office/officeart/2005/8/layout/hierarchy2"/>
    <dgm:cxn modelId="{388F277F-25CD-4B71-ACC1-E1761D5C4C06}" type="presParOf" srcId="{E0E97C1C-C72E-4020-9C31-F1D0A500BEC6}" destId="{4CE73C85-003A-46A6-AA32-F8E4D4A46868}" srcOrd="0" destOrd="0" presId="urn:microsoft.com/office/officeart/2005/8/layout/hierarchy2"/>
    <dgm:cxn modelId="{2610254E-60C3-48CC-9D2E-101F6865FAF2}" type="presParOf" srcId="{E0E97C1C-C72E-4020-9C31-F1D0A500BEC6}" destId="{90E8F395-9E98-415E-AE9B-4545BE11FD58}" srcOrd="1" destOrd="0" presId="urn:microsoft.com/office/officeart/2005/8/layout/hierarchy2"/>
    <dgm:cxn modelId="{51578161-C553-4BFA-9E54-3DC43508EB95}" type="presParOf" srcId="{90E8F395-9E98-415E-AE9B-4545BE11FD58}" destId="{8C228C18-082A-4ECA-A14D-EF1C08B83C0F}" srcOrd="0" destOrd="0" presId="urn:microsoft.com/office/officeart/2005/8/layout/hierarchy2"/>
    <dgm:cxn modelId="{D3BD839A-BA13-454F-B293-8F2F149AF750}" type="presParOf" srcId="{8C228C18-082A-4ECA-A14D-EF1C08B83C0F}" destId="{EFC544D0-B409-478F-AEB8-203D9206F16E}" srcOrd="0" destOrd="0" presId="urn:microsoft.com/office/officeart/2005/8/layout/hierarchy2"/>
    <dgm:cxn modelId="{EB68D743-342E-41EA-B69F-B8530D864A74}" type="presParOf" srcId="{90E8F395-9E98-415E-AE9B-4545BE11FD58}" destId="{A026C493-4FBE-4828-8C63-D75E4A48670C}" srcOrd="1" destOrd="0" presId="urn:microsoft.com/office/officeart/2005/8/layout/hierarchy2"/>
    <dgm:cxn modelId="{F359D5AE-FA18-4611-BE26-5D936076B5EF}" type="presParOf" srcId="{A026C493-4FBE-4828-8C63-D75E4A48670C}" destId="{D7B9C589-695C-4F22-9638-B4AB2EEB09B3}" srcOrd="0" destOrd="0" presId="urn:microsoft.com/office/officeart/2005/8/layout/hierarchy2"/>
    <dgm:cxn modelId="{8B715F34-C1B2-43C6-9E4E-63C387EED252}" type="presParOf" srcId="{A026C493-4FBE-4828-8C63-D75E4A48670C}" destId="{5C5EE5BB-292E-4D0E-9AC7-2B8F82772259}" srcOrd="1" destOrd="0" presId="urn:microsoft.com/office/officeart/2005/8/layout/hierarchy2"/>
    <dgm:cxn modelId="{18E03700-97F6-4CB4-A0CB-3F1652EF77E8}" type="presParOf" srcId="{90E8F395-9E98-415E-AE9B-4545BE11FD58}" destId="{E9B10384-3CC5-4094-A738-3357049AED71}" srcOrd="2" destOrd="0" presId="urn:microsoft.com/office/officeart/2005/8/layout/hierarchy2"/>
    <dgm:cxn modelId="{FFB59319-933B-4965-87F7-77CE226683B8}" type="presParOf" srcId="{E9B10384-3CC5-4094-A738-3357049AED71}" destId="{0F5E554F-9459-4231-B67D-D6FF663924BE}" srcOrd="0" destOrd="0" presId="urn:microsoft.com/office/officeart/2005/8/layout/hierarchy2"/>
    <dgm:cxn modelId="{AEE9ECBC-27C5-4A97-A6E5-F234F1450CAC}" type="presParOf" srcId="{90E8F395-9E98-415E-AE9B-4545BE11FD58}" destId="{AF8D61FB-4AFC-4464-9CE3-8BA9181F7A64}" srcOrd="3" destOrd="0" presId="urn:microsoft.com/office/officeart/2005/8/layout/hierarchy2"/>
    <dgm:cxn modelId="{7DB21D05-EC92-4164-8B3A-9760CE1349CF}" type="presParOf" srcId="{AF8D61FB-4AFC-4464-9CE3-8BA9181F7A64}" destId="{B9A3292A-EF89-4F72-AC57-61A1366D418F}" srcOrd="0" destOrd="0" presId="urn:microsoft.com/office/officeart/2005/8/layout/hierarchy2"/>
    <dgm:cxn modelId="{8C958E4B-6A16-4882-A911-F30B909B5079}" type="presParOf" srcId="{AF8D61FB-4AFC-4464-9CE3-8BA9181F7A64}" destId="{73D46CBB-35C2-4DC1-954E-C8924991BA34}"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1192B79A-B0C7-4253-B92C-52D7D7EDC8BA}"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ID"/>
        </a:p>
      </dgm:t>
    </dgm:pt>
    <dgm:pt modelId="{F634A4CD-CBCE-45A9-9D12-15C8E4FE28A2}">
      <dgm:prSet phldrT="[Text]" custT="1"/>
      <dgm:spPr>
        <a:solidFill>
          <a:schemeClr val="accent4">
            <a:lumMod val="75000"/>
          </a:schemeClr>
        </a:solidFill>
      </dgm:spPr>
      <dgm:t>
        <a:bodyPr/>
        <a:lstStyle/>
        <a:p>
          <a:r>
            <a:rPr lang="en-US" sz="2000" dirty="0"/>
            <a:t>Main Contractor Profit</a:t>
          </a:r>
          <a:endParaRPr lang="en-ID" sz="2000" dirty="0"/>
        </a:p>
      </dgm:t>
    </dgm:pt>
    <dgm:pt modelId="{EF7BDBB6-78EA-4A8E-9392-2B43BD1AE4E4}" type="parTrans" cxnId="{698F50A2-752E-46B8-A8E5-2332340F6D26}">
      <dgm:prSet/>
      <dgm:spPr/>
      <dgm:t>
        <a:bodyPr/>
        <a:lstStyle/>
        <a:p>
          <a:endParaRPr lang="en-ID"/>
        </a:p>
      </dgm:t>
    </dgm:pt>
    <dgm:pt modelId="{DD35229D-A93C-4582-B5FD-F8F45E630A7E}" type="sibTrans" cxnId="{698F50A2-752E-46B8-A8E5-2332340F6D26}">
      <dgm:prSet/>
      <dgm:spPr/>
      <dgm:t>
        <a:bodyPr/>
        <a:lstStyle/>
        <a:p>
          <a:endParaRPr lang="en-ID"/>
        </a:p>
      </dgm:t>
    </dgm:pt>
    <dgm:pt modelId="{4B5A2CF9-F645-4DC0-958C-1FFDC5891B82}">
      <dgm:prSet phldrT="[Text]" custT="1"/>
      <dgm:spPr>
        <a:solidFill>
          <a:schemeClr val="accent4">
            <a:lumMod val="60000"/>
            <a:lumOff val="40000"/>
          </a:schemeClr>
        </a:solidFill>
      </dgm:spPr>
      <dgm:t>
        <a:bodyPr/>
        <a:lstStyle/>
        <a:p>
          <a:r>
            <a:rPr lang="en-US" sz="2000" dirty="0">
              <a:solidFill>
                <a:schemeClr val="tx2">
                  <a:lumMod val="50000"/>
                </a:schemeClr>
              </a:solidFill>
            </a:rPr>
            <a:t>Labor Supply Profit</a:t>
          </a:r>
          <a:endParaRPr lang="en-ID" sz="2000" dirty="0">
            <a:solidFill>
              <a:schemeClr val="tx2">
                <a:lumMod val="50000"/>
              </a:schemeClr>
            </a:solidFill>
          </a:endParaRPr>
        </a:p>
      </dgm:t>
    </dgm:pt>
    <dgm:pt modelId="{7513A786-388B-4E1D-A266-C7E26F97C23B}" type="parTrans" cxnId="{BF70079A-3B76-4DBE-82DA-1E32DEDDCB24}">
      <dgm:prSet/>
      <dgm:spPr/>
      <dgm:t>
        <a:bodyPr/>
        <a:lstStyle/>
        <a:p>
          <a:endParaRPr lang="en-ID"/>
        </a:p>
      </dgm:t>
    </dgm:pt>
    <dgm:pt modelId="{37F4BF60-D67B-468A-9A14-ABD0A80C1833}" type="sibTrans" cxnId="{BF70079A-3B76-4DBE-82DA-1E32DEDDCB24}">
      <dgm:prSet/>
      <dgm:spPr/>
      <dgm:t>
        <a:bodyPr/>
        <a:lstStyle/>
        <a:p>
          <a:endParaRPr lang="en-ID"/>
        </a:p>
      </dgm:t>
    </dgm:pt>
    <dgm:pt modelId="{4CE1B64C-C670-41EE-BD1D-7EA006130C72}">
      <dgm:prSet phldrT="[Text]" custT="1"/>
      <dgm:spPr>
        <a:solidFill>
          <a:schemeClr val="accent4">
            <a:lumMod val="40000"/>
            <a:lumOff val="60000"/>
          </a:schemeClr>
        </a:solidFill>
      </dgm:spPr>
      <dgm:t>
        <a:bodyPr/>
        <a:lstStyle/>
        <a:p>
          <a:r>
            <a:rPr lang="en-US" sz="2000" dirty="0">
              <a:solidFill>
                <a:schemeClr val="tx2">
                  <a:lumMod val="50000"/>
                </a:schemeClr>
              </a:solidFill>
            </a:rPr>
            <a:t>Tax, Insurance, BPJS</a:t>
          </a:r>
          <a:endParaRPr lang="en-ID" sz="2000" dirty="0">
            <a:solidFill>
              <a:schemeClr val="tx2">
                <a:lumMod val="50000"/>
              </a:schemeClr>
            </a:solidFill>
          </a:endParaRPr>
        </a:p>
      </dgm:t>
    </dgm:pt>
    <dgm:pt modelId="{96CFA078-51C0-4274-AA8A-3F59B0B6B235}" type="parTrans" cxnId="{2F85B9E4-942D-4B0A-9C80-F7184DBE0A49}">
      <dgm:prSet/>
      <dgm:spPr/>
      <dgm:t>
        <a:bodyPr/>
        <a:lstStyle/>
        <a:p>
          <a:endParaRPr lang="en-ID"/>
        </a:p>
      </dgm:t>
    </dgm:pt>
    <dgm:pt modelId="{DBB8137D-E472-4889-9EE6-C9D1F2A5D84D}" type="sibTrans" cxnId="{2F85B9E4-942D-4B0A-9C80-F7184DBE0A49}">
      <dgm:prSet/>
      <dgm:spPr/>
      <dgm:t>
        <a:bodyPr/>
        <a:lstStyle/>
        <a:p>
          <a:endParaRPr lang="en-ID"/>
        </a:p>
      </dgm:t>
    </dgm:pt>
    <dgm:pt modelId="{AA3C626E-CED8-48B4-B64B-E7CD731E9F18}">
      <dgm:prSet phldrT="[Text]" custT="1"/>
      <dgm:spPr>
        <a:solidFill>
          <a:schemeClr val="accent4">
            <a:lumMod val="20000"/>
            <a:lumOff val="80000"/>
          </a:schemeClr>
        </a:solidFill>
      </dgm:spPr>
      <dgm:t>
        <a:bodyPr/>
        <a:lstStyle/>
        <a:p>
          <a:r>
            <a:rPr lang="en-US" sz="2800" dirty="0">
              <a:solidFill>
                <a:schemeClr val="tx2">
                  <a:lumMod val="50000"/>
                </a:schemeClr>
              </a:solidFill>
            </a:rPr>
            <a:t>Take Home Pay</a:t>
          </a:r>
          <a:endParaRPr lang="en-ID" sz="2800" dirty="0">
            <a:solidFill>
              <a:schemeClr val="tx2">
                <a:lumMod val="50000"/>
              </a:schemeClr>
            </a:solidFill>
          </a:endParaRPr>
        </a:p>
      </dgm:t>
    </dgm:pt>
    <dgm:pt modelId="{28865969-DF3D-4E46-8B2C-B34DF9F9A604}" type="parTrans" cxnId="{1E62000B-279A-43B7-93DB-4C6CC36BB457}">
      <dgm:prSet/>
      <dgm:spPr/>
      <dgm:t>
        <a:bodyPr/>
        <a:lstStyle/>
        <a:p>
          <a:endParaRPr lang="en-ID"/>
        </a:p>
      </dgm:t>
    </dgm:pt>
    <dgm:pt modelId="{BACA87F0-02B4-465E-8052-EAC7EDFB12DD}" type="sibTrans" cxnId="{1E62000B-279A-43B7-93DB-4C6CC36BB457}">
      <dgm:prSet/>
      <dgm:spPr/>
      <dgm:t>
        <a:bodyPr/>
        <a:lstStyle/>
        <a:p>
          <a:endParaRPr lang="en-ID"/>
        </a:p>
      </dgm:t>
    </dgm:pt>
    <dgm:pt modelId="{343C257F-F5BA-4999-BADD-DDD816739449}" type="pres">
      <dgm:prSet presAssocID="{1192B79A-B0C7-4253-B92C-52D7D7EDC8BA}" presName="Name0" presStyleCnt="0">
        <dgm:presLayoutVars>
          <dgm:chMax val="7"/>
          <dgm:resizeHandles val="exact"/>
        </dgm:presLayoutVars>
      </dgm:prSet>
      <dgm:spPr/>
    </dgm:pt>
    <dgm:pt modelId="{1F5EBC7D-49FC-48FB-882F-81916C091D9C}" type="pres">
      <dgm:prSet presAssocID="{1192B79A-B0C7-4253-B92C-52D7D7EDC8BA}" presName="comp1" presStyleCnt="0"/>
      <dgm:spPr/>
    </dgm:pt>
    <dgm:pt modelId="{7CB0D4FC-CF70-4EFB-B7F4-7819544EFBFE}" type="pres">
      <dgm:prSet presAssocID="{1192B79A-B0C7-4253-B92C-52D7D7EDC8BA}" presName="circle1" presStyleLbl="node1" presStyleIdx="0" presStyleCnt="4"/>
      <dgm:spPr/>
    </dgm:pt>
    <dgm:pt modelId="{49DA0E25-7CAB-49DF-9684-342DECA896C5}" type="pres">
      <dgm:prSet presAssocID="{1192B79A-B0C7-4253-B92C-52D7D7EDC8BA}" presName="c1text" presStyleLbl="node1" presStyleIdx="0" presStyleCnt="4">
        <dgm:presLayoutVars>
          <dgm:bulletEnabled val="1"/>
        </dgm:presLayoutVars>
      </dgm:prSet>
      <dgm:spPr/>
    </dgm:pt>
    <dgm:pt modelId="{0091CC85-41AD-41F2-9BA7-B6E4053A5623}" type="pres">
      <dgm:prSet presAssocID="{1192B79A-B0C7-4253-B92C-52D7D7EDC8BA}" presName="comp2" presStyleCnt="0"/>
      <dgm:spPr/>
    </dgm:pt>
    <dgm:pt modelId="{266578CB-9854-4043-9044-3E75B2DB6422}" type="pres">
      <dgm:prSet presAssocID="{1192B79A-B0C7-4253-B92C-52D7D7EDC8BA}" presName="circle2" presStyleLbl="node1" presStyleIdx="1" presStyleCnt="4"/>
      <dgm:spPr/>
    </dgm:pt>
    <dgm:pt modelId="{AE8AA43E-6B3A-43C2-AB6A-E13DA67F2E9C}" type="pres">
      <dgm:prSet presAssocID="{1192B79A-B0C7-4253-B92C-52D7D7EDC8BA}" presName="c2text" presStyleLbl="node1" presStyleIdx="1" presStyleCnt="4">
        <dgm:presLayoutVars>
          <dgm:bulletEnabled val="1"/>
        </dgm:presLayoutVars>
      </dgm:prSet>
      <dgm:spPr/>
    </dgm:pt>
    <dgm:pt modelId="{470998B9-AC32-4BC7-BB5C-4F44E642A36B}" type="pres">
      <dgm:prSet presAssocID="{1192B79A-B0C7-4253-B92C-52D7D7EDC8BA}" presName="comp3" presStyleCnt="0"/>
      <dgm:spPr/>
    </dgm:pt>
    <dgm:pt modelId="{F3912B76-58EF-4732-A117-A7A155157400}" type="pres">
      <dgm:prSet presAssocID="{1192B79A-B0C7-4253-B92C-52D7D7EDC8BA}" presName="circle3" presStyleLbl="node1" presStyleIdx="2" presStyleCnt="4"/>
      <dgm:spPr/>
    </dgm:pt>
    <dgm:pt modelId="{3EA448E1-B995-4237-B98C-2079A1D61780}" type="pres">
      <dgm:prSet presAssocID="{1192B79A-B0C7-4253-B92C-52D7D7EDC8BA}" presName="c3text" presStyleLbl="node1" presStyleIdx="2" presStyleCnt="4">
        <dgm:presLayoutVars>
          <dgm:bulletEnabled val="1"/>
        </dgm:presLayoutVars>
      </dgm:prSet>
      <dgm:spPr/>
    </dgm:pt>
    <dgm:pt modelId="{3F19D605-4FB2-4D7F-A39A-7ACC1BCED575}" type="pres">
      <dgm:prSet presAssocID="{1192B79A-B0C7-4253-B92C-52D7D7EDC8BA}" presName="comp4" presStyleCnt="0"/>
      <dgm:spPr/>
    </dgm:pt>
    <dgm:pt modelId="{CBC123B5-254A-46ED-B7AE-0AD3D4B91344}" type="pres">
      <dgm:prSet presAssocID="{1192B79A-B0C7-4253-B92C-52D7D7EDC8BA}" presName="circle4" presStyleLbl="node1" presStyleIdx="3" presStyleCnt="4"/>
      <dgm:spPr/>
    </dgm:pt>
    <dgm:pt modelId="{CC338E5C-6170-4169-834C-BB91304A8047}" type="pres">
      <dgm:prSet presAssocID="{1192B79A-B0C7-4253-B92C-52D7D7EDC8BA}" presName="c4text" presStyleLbl="node1" presStyleIdx="3" presStyleCnt="4">
        <dgm:presLayoutVars>
          <dgm:bulletEnabled val="1"/>
        </dgm:presLayoutVars>
      </dgm:prSet>
      <dgm:spPr/>
    </dgm:pt>
  </dgm:ptLst>
  <dgm:cxnLst>
    <dgm:cxn modelId="{1E62000B-279A-43B7-93DB-4C6CC36BB457}" srcId="{1192B79A-B0C7-4253-B92C-52D7D7EDC8BA}" destId="{AA3C626E-CED8-48B4-B64B-E7CD731E9F18}" srcOrd="3" destOrd="0" parTransId="{28865969-DF3D-4E46-8B2C-B34DF9F9A604}" sibTransId="{BACA87F0-02B4-465E-8052-EAC7EDFB12DD}"/>
    <dgm:cxn modelId="{0BEE8328-3232-4B66-864C-D33AE4C2E54A}" type="presOf" srcId="{AA3C626E-CED8-48B4-B64B-E7CD731E9F18}" destId="{CC338E5C-6170-4169-834C-BB91304A8047}" srcOrd="1" destOrd="0" presId="urn:microsoft.com/office/officeart/2005/8/layout/venn2"/>
    <dgm:cxn modelId="{95CD8A7F-7B4E-4889-A44B-378E8D46B307}" type="presOf" srcId="{F634A4CD-CBCE-45A9-9D12-15C8E4FE28A2}" destId="{7CB0D4FC-CF70-4EFB-B7F4-7819544EFBFE}" srcOrd="0" destOrd="0" presId="urn:microsoft.com/office/officeart/2005/8/layout/venn2"/>
    <dgm:cxn modelId="{A847078F-E6C8-42B1-AED6-4D3002B4E0F3}" type="presOf" srcId="{AA3C626E-CED8-48B4-B64B-E7CD731E9F18}" destId="{CBC123B5-254A-46ED-B7AE-0AD3D4B91344}" srcOrd="0" destOrd="0" presId="urn:microsoft.com/office/officeart/2005/8/layout/venn2"/>
    <dgm:cxn modelId="{BF70079A-3B76-4DBE-82DA-1E32DEDDCB24}" srcId="{1192B79A-B0C7-4253-B92C-52D7D7EDC8BA}" destId="{4B5A2CF9-F645-4DC0-958C-1FFDC5891B82}" srcOrd="1" destOrd="0" parTransId="{7513A786-388B-4E1D-A266-C7E26F97C23B}" sibTransId="{37F4BF60-D67B-468A-9A14-ABD0A80C1833}"/>
    <dgm:cxn modelId="{698F50A2-752E-46B8-A8E5-2332340F6D26}" srcId="{1192B79A-B0C7-4253-B92C-52D7D7EDC8BA}" destId="{F634A4CD-CBCE-45A9-9D12-15C8E4FE28A2}" srcOrd="0" destOrd="0" parTransId="{EF7BDBB6-78EA-4A8E-9392-2B43BD1AE4E4}" sibTransId="{DD35229D-A93C-4582-B5FD-F8F45E630A7E}"/>
    <dgm:cxn modelId="{9C9AE8AB-B0C3-4798-BB2D-BA822F0C4C96}" type="presOf" srcId="{4CE1B64C-C670-41EE-BD1D-7EA006130C72}" destId="{3EA448E1-B995-4237-B98C-2079A1D61780}" srcOrd="1" destOrd="0" presId="urn:microsoft.com/office/officeart/2005/8/layout/venn2"/>
    <dgm:cxn modelId="{E3C465C1-9BEF-4173-8C2E-49684F36853C}" type="presOf" srcId="{1192B79A-B0C7-4253-B92C-52D7D7EDC8BA}" destId="{343C257F-F5BA-4999-BADD-DDD816739449}" srcOrd="0" destOrd="0" presId="urn:microsoft.com/office/officeart/2005/8/layout/venn2"/>
    <dgm:cxn modelId="{43F984C7-5799-4B7F-8BBE-442C8C945ED8}" type="presOf" srcId="{4CE1B64C-C670-41EE-BD1D-7EA006130C72}" destId="{F3912B76-58EF-4732-A117-A7A155157400}" srcOrd="0" destOrd="0" presId="urn:microsoft.com/office/officeart/2005/8/layout/venn2"/>
    <dgm:cxn modelId="{25C897CB-12BE-4C8F-8E4D-16480F4D8ED7}" type="presOf" srcId="{4B5A2CF9-F645-4DC0-958C-1FFDC5891B82}" destId="{AE8AA43E-6B3A-43C2-AB6A-E13DA67F2E9C}" srcOrd="1" destOrd="0" presId="urn:microsoft.com/office/officeart/2005/8/layout/venn2"/>
    <dgm:cxn modelId="{979D8FDD-27EB-4202-8D2B-FC92688F4A57}" type="presOf" srcId="{F634A4CD-CBCE-45A9-9D12-15C8E4FE28A2}" destId="{49DA0E25-7CAB-49DF-9684-342DECA896C5}" srcOrd="1" destOrd="0" presId="urn:microsoft.com/office/officeart/2005/8/layout/venn2"/>
    <dgm:cxn modelId="{2F85B9E4-942D-4B0A-9C80-F7184DBE0A49}" srcId="{1192B79A-B0C7-4253-B92C-52D7D7EDC8BA}" destId="{4CE1B64C-C670-41EE-BD1D-7EA006130C72}" srcOrd="2" destOrd="0" parTransId="{96CFA078-51C0-4274-AA8A-3F59B0B6B235}" sibTransId="{DBB8137D-E472-4889-9EE6-C9D1F2A5D84D}"/>
    <dgm:cxn modelId="{60353BF7-875E-4373-89AD-4E2F061401B6}" type="presOf" srcId="{4B5A2CF9-F645-4DC0-958C-1FFDC5891B82}" destId="{266578CB-9854-4043-9044-3E75B2DB6422}" srcOrd="0" destOrd="0" presId="urn:microsoft.com/office/officeart/2005/8/layout/venn2"/>
    <dgm:cxn modelId="{4D9783D9-36CE-4400-BC15-BFEF71D93D39}" type="presParOf" srcId="{343C257F-F5BA-4999-BADD-DDD816739449}" destId="{1F5EBC7D-49FC-48FB-882F-81916C091D9C}" srcOrd="0" destOrd="0" presId="urn:microsoft.com/office/officeart/2005/8/layout/venn2"/>
    <dgm:cxn modelId="{279F069A-D770-43B2-9998-366EFE142D5A}" type="presParOf" srcId="{1F5EBC7D-49FC-48FB-882F-81916C091D9C}" destId="{7CB0D4FC-CF70-4EFB-B7F4-7819544EFBFE}" srcOrd="0" destOrd="0" presId="urn:microsoft.com/office/officeart/2005/8/layout/venn2"/>
    <dgm:cxn modelId="{E0352106-2ADD-4BF9-A5B4-D994579661B7}" type="presParOf" srcId="{1F5EBC7D-49FC-48FB-882F-81916C091D9C}" destId="{49DA0E25-7CAB-49DF-9684-342DECA896C5}" srcOrd="1" destOrd="0" presId="urn:microsoft.com/office/officeart/2005/8/layout/venn2"/>
    <dgm:cxn modelId="{6110A10D-00A5-4835-97A2-03014025DCC9}" type="presParOf" srcId="{343C257F-F5BA-4999-BADD-DDD816739449}" destId="{0091CC85-41AD-41F2-9BA7-B6E4053A5623}" srcOrd="1" destOrd="0" presId="urn:microsoft.com/office/officeart/2005/8/layout/venn2"/>
    <dgm:cxn modelId="{C28B67F1-4D46-4E9A-AE1F-0A2FC27F01F0}" type="presParOf" srcId="{0091CC85-41AD-41F2-9BA7-B6E4053A5623}" destId="{266578CB-9854-4043-9044-3E75B2DB6422}" srcOrd="0" destOrd="0" presId="urn:microsoft.com/office/officeart/2005/8/layout/venn2"/>
    <dgm:cxn modelId="{DA25CF23-62CB-4206-9130-FBBAF38EEA00}" type="presParOf" srcId="{0091CC85-41AD-41F2-9BA7-B6E4053A5623}" destId="{AE8AA43E-6B3A-43C2-AB6A-E13DA67F2E9C}" srcOrd="1" destOrd="0" presId="urn:microsoft.com/office/officeart/2005/8/layout/venn2"/>
    <dgm:cxn modelId="{B794B24A-87E0-4B5D-B4E6-655E4F1CCD05}" type="presParOf" srcId="{343C257F-F5BA-4999-BADD-DDD816739449}" destId="{470998B9-AC32-4BC7-BB5C-4F44E642A36B}" srcOrd="2" destOrd="0" presId="urn:microsoft.com/office/officeart/2005/8/layout/venn2"/>
    <dgm:cxn modelId="{AC55EE8E-FA64-4D2A-91E6-D7210874AD03}" type="presParOf" srcId="{470998B9-AC32-4BC7-BB5C-4F44E642A36B}" destId="{F3912B76-58EF-4732-A117-A7A155157400}" srcOrd="0" destOrd="0" presId="urn:microsoft.com/office/officeart/2005/8/layout/venn2"/>
    <dgm:cxn modelId="{71A27A74-B04B-4654-9ABD-EC75415E037E}" type="presParOf" srcId="{470998B9-AC32-4BC7-BB5C-4F44E642A36B}" destId="{3EA448E1-B995-4237-B98C-2079A1D61780}" srcOrd="1" destOrd="0" presId="urn:microsoft.com/office/officeart/2005/8/layout/venn2"/>
    <dgm:cxn modelId="{B8CBF99D-B6D3-43CA-81AC-0ED3CD8D4619}" type="presParOf" srcId="{343C257F-F5BA-4999-BADD-DDD816739449}" destId="{3F19D605-4FB2-4D7F-A39A-7ACC1BCED575}" srcOrd="3" destOrd="0" presId="urn:microsoft.com/office/officeart/2005/8/layout/venn2"/>
    <dgm:cxn modelId="{AB731A69-E117-4D09-9D7D-FBAB135CD89B}" type="presParOf" srcId="{3F19D605-4FB2-4D7F-A39A-7ACC1BCED575}" destId="{CBC123B5-254A-46ED-B7AE-0AD3D4B91344}" srcOrd="0" destOrd="0" presId="urn:microsoft.com/office/officeart/2005/8/layout/venn2"/>
    <dgm:cxn modelId="{8639A27E-4E95-483C-92B1-A0359124D2A1}" type="presParOf" srcId="{3F19D605-4FB2-4D7F-A39A-7ACC1BCED575}" destId="{CC338E5C-6170-4169-834C-BB91304A8047}"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31C28FA-885C-427B-849A-56CB54D5EEC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E3B16249-3BC2-4B96-BF7B-3130865F9AC6}">
      <dgm:prSet phldrT="[Text]"/>
      <dgm:spPr>
        <a:solidFill>
          <a:srgbClr val="CCFFCC"/>
        </a:solidFill>
      </dgm:spPr>
      <dgm:t>
        <a:bodyPr/>
        <a:lstStyle/>
        <a:p>
          <a:r>
            <a:rPr lang="en-US" b="1" dirty="0">
              <a:solidFill>
                <a:srgbClr val="002060"/>
              </a:solidFill>
            </a:rPr>
            <a:t>Fuel Price</a:t>
          </a:r>
        </a:p>
      </dgm:t>
    </dgm:pt>
    <dgm:pt modelId="{AA588745-BACA-458B-8683-CBE3078A61E3}" type="parTrans" cxnId="{A70EE392-08ED-4D8C-9C44-18BAC3D341FC}">
      <dgm:prSet/>
      <dgm:spPr/>
      <dgm:t>
        <a:bodyPr/>
        <a:lstStyle/>
        <a:p>
          <a:endParaRPr lang="en-US"/>
        </a:p>
      </dgm:t>
    </dgm:pt>
    <dgm:pt modelId="{6339B279-A518-474F-BA94-788C02C1EDE8}" type="sibTrans" cxnId="{A70EE392-08ED-4D8C-9C44-18BAC3D341FC}">
      <dgm:prSet/>
      <dgm:spPr/>
      <dgm:t>
        <a:bodyPr/>
        <a:lstStyle/>
        <a:p>
          <a:endParaRPr lang="en-US"/>
        </a:p>
      </dgm:t>
    </dgm:pt>
    <dgm:pt modelId="{4FC52ACC-CDD5-4123-983D-1E44D1FC8FC7}">
      <dgm:prSet phldrT="[Text]" custT="1"/>
      <dgm:spPr/>
      <dgm:t>
        <a:bodyPr/>
        <a:lstStyle/>
        <a:p>
          <a:r>
            <a:rPr lang="en-US" sz="2000" dirty="0"/>
            <a:t>Basic price + Handling</a:t>
          </a:r>
        </a:p>
      </dgm:t>
    </dgm:pt>
    <dgm:pt modelId="{3B6B22A1-C880-4F82-9FF6-3983B79FFEBD}" type="parTrans" cxnId="{34F505F1-BBBB-4FF0-8064-28338F1035EE}">
      <dgm:prSet/>
      <dgm:spPr/>
      <dgm:t>
        <a:bodyPr/>
        <a:lstStyle/>
        <a:p>
          <a:endParaRPr lang="en-US"/>
        </a:p>
      </dgm:t>
    </dgm:pt>
    <dgm:pt modelId="{8CA0668D-2B9F-4D34-BF88-52ED89E115DA}" type="sibTrans" cxnId="{34F505F1-BBBB-4FF0-8064-28338F1035EE}">
      <dgm:prSet/>
      <dgm:spPr/>
      <dgm:t>
        <a:bodyPr/>
        <a:lstStyle/>
        <a:p>
          <a:endParaRPr lang="en-US"/>
        </a:p>
      </dgm:t>
    </dgm:pt>
    <dgm:pt modelId="{9F40AAFC-1B02-43B4-BABC-FDB688A532D7}">
      <dgm:prSet phldrT="[Text]" custT="1"/>
      <dgm:spPr/>
      <dgm:t>
        <a:bodyPr/>
        <a:lstStyle/>
        <a:p>
          <a:r>
            <a:rPr lang="en-US" sz="2800" dirty="0">
              <a:solidFill>
                <a:srgbClr val="C00000"/>
              </a:solidFill>
            </a:rPr>
            <a:t>USD 0.9-1.2 per Liter</a:t>
          </a:r>
        </a:p>
      </dgm:t>
    </dgm:pt>
    <dgm:pt modelId="{99DC8BAC-92FF-4327-A74C-0D6519DFA896}" type="parTrans" cxnId="{5D128BC3-3648-411E-B272-E050B7A35B35}">
      <dgm:prSet/>
      <dgm:spPr/>
      <dgm:t>
        <a:bodyPr/>
        <a:lstStyle/>
        <a:p>
          <a:endParaRPr lang="en-US"/>
        </a:p>
      </dgm:t>
    </dgm:pt>
    <dgm:pt modelId="{DF9058B1-4666-45EB-9F01-2BA4033BDB9D}" type="sibTrans" cxnId="{5D128BC3-3648-411E-B272-E050B7A35B35}">
      <dgm:prSet/>
      <dgm:spPr/>
      <dgm:t>
        <a:bodyPr/>
        <a:lstStyle/>
        <a:p>
          <a:endParaRPr lang="en-US"/>
        </a:p>
      </dgm:t>
    </dgm:pt>
    <dgm:pt modelId="{FCB71BD6-AF4A-4900-AA1D-CDD612A0EC42}">
      <dgm:prSet phldrT="[Text]"/>
      <dgm:spPr>
        <a:solidFill>
          <a:srgbClr val="92D050"/>
        </a:solidFill>
      </dgm:spPr>
      <dgm:t>
        <a:bodyPr/>
        <a:lstStyle/>
        <a:p>
          <a:r>
            <a:rPr lang="en-US" b="1" dirty="0">
              <a:solidFill>
                <a:srgbClr val="002060"/>
              </a:solidFill>
            </a:rPr>
            <a:t>Equipment Daily Usage</a:t>
          </a:r>
        </a:p>
      </dgm:t>
    </dgm:pt>
    <dgm:pt modelId="{2B617E87-8FE3-4500-8A43-76C94A6AAB4D}" type="parTrans" cxnId="{0A7C7A66-CACC-4EFB-8F99-FE39AD81C45B}">
      <dgm:prSet/>
      <dgm:spPr/>
      <dgm:t>
        <a:bodyPr/>
        <a:lstStyle/>
        <a:p>
          <a:endParaRPr lang="en-US"/>
        </a:p>
      </dgm:t>
    </dgm:pt>
    <dgm:pt modelId="{02CF2D2E-BF96-482A-B12F-5DB657AA95CC}" type="sibTrans" cxnId="{0A7C7A66-CACC-4EFB-8F99-FE39AD81C45B}">
      <dgm:prSet/>
      <dgm:spPr/>
      <dgm:t>
        <a:bodyPr/>
        <a:lstStyle/>
        <a:p>
          <a:endParaRPr lang="en-US"/>
        </a:p>
      </dgm:t>
    </dgm:pt>
    <dgm:pt modelId="{F6D7DF58-1F02-413E-B899-65978C9BBF2A}">
      <dgm:prSet phldrT="[Text]" custT="1"/>
      <dgm:spPr/>
      <dgm:t>
        <a:bodyPr/>
        <a:lstStyle/>
        <a:p>
          <a:r>
            <a:rPr lang="en-US" sz="2000" dirty="0"/>
            <a:t>Rig: </a:t>
          </a:r>
          <a:r>
            <a:rPr lang="en-US" sz="2000" dirty="0">
              <a:solidFill>
                <a:srgbClr val="FF0000"/>
              </a:solidFill>
            </a:rPr>
            <a:t>4-12 KL</a:t>
          </a:r>
        </a:p>
      </dgm:t>
    </dgm:pt>
    <dgm:pt modelId="{5E49806F-BC0D-45C6-98AD-335AFB13A0E8}" type="parTrans" cxnId="{C7DF0C7B-2A42-4D16-9FAB-D045A7442F5B}">
      <dgm:prSet/>
      <dgm:spPr/>
      <dgm:t>
        <a:bodyPr/>
        <a:lstStyle/>
        <a:p>
          <a:endParaRPr lang="en-US"/>
        </a:p>
      </dgm:t>
    </dgm:pt>
    <dgm:pt modelId="{7D6CBAE3-8B21-49B7-99F7-4926857A72FE}" type="sibTrans" cxnId="{C7DF0C7B-2A42-4D16-9FAB-D045A7442F5B}">
      <dgm:prSet/>
      <dgm:spPr/>
      <dgm:t>
        <a:bodyPr/>
        <a:lstStyle/>
        <a:p>
          <a:endParaRPr lang="en-US"/>
        </a:p>
      </dgm:t>
    </dgm:pt>
    <dgm:pt modelId="{3C9ADB11-FA74-4059-AA6B-A1C19C11A679}">
      <dgm:prSet phldrT="[Text]" custT="1"/>
      <dgm:spPr/>
      <dgm:t>
        <a:bodyPr/>
        <a:lstStyle/>
        <a:p>
          <a:r>
            <a:rPr lang="en-US" sz="2000" dirty="0"/>
            <a:t>Heavy Equipment: 1-2 KL</a:t>
          </a:r>
        </a:p>
      </dgm:t>
    </dgm:pt>
    <dgm:pt modelId="{C669D78A-C553-47AB-B81E-9D40DC015CF0}" type="parTrans" cxnId="{190748ED-8ADC-4ABE-A9D7-150A9056AF4B}">
      <dgm:prSet/>
      <dgm:spPr/>
      <dgm:t>
        <a:bodyPr/>
        <a:lstStyle/>
        <a:p>
          <a:endParaRPr lang="en-US"/>
        </a:p>
      </dgm:t>
    </dgm:pt>
    <dgm:pt modelId="{14460630-667D-4A89-97AC-BA5D735B4E13}" type="sibTrans" cxnId="{190748ED-8ADC-4ABE-A9D7-150A9056AF4B}">
      <dgm:prSet/>
      <dgm:spPr/>
      <dgm:t>
        <a:bodyPr/>
        <a:lstStyle/>
        <a:p>
          <a:endParaRPr lang="en-US"/>
        </a:p>
      </dgm:t>
    </dgm:pt>
    <dgm:pt modelId="{D2C6F3D6-40D9-4DAC-830F-7C6C3B2F2F6E}">
      <dgm:prSet phldrT="[Text]" custT="1"/>
      <dgm:spPr>
        <a:solidFill>
          <a:srgbClr val="006600"/>
        </a:solidFill>
      </dgm:spPr>
      <dgm:t>
        <a:bodyPr/>
        <a:lstStyle/>
        <a:p>
          <a:r>
            <a:rPr lang="en-US" sz="2000" b="1" dirty="0">
              <a:solidFill>
                <a:schemeClr val="bg2">
                  <a:lumMod val="20000"/>
                  <a:lumOff val="80000"/>
                </a:schemeClr>
              </a:solidFill>
            </a:rPr>
            <a:t>How to Reduce</a:t>
          </a:r>
        </a:p>
      </dgm:t>
    </dgm:pt>
    <dgm:pt modelId="{BE8D4BE3-1CAA-43A7-8C4E-F46656193682}" type="parTrans" cxnId="{435DF311-1C16-487D-A790-C761431B334E}">
      <dgm:prSet/>
      <dgm:spPr/>
      <dgm:t>
        <a:bodyPr/>
        <a:lstStyle/>
        <a:p>
          <a:endParaRPr lang="en-US"/>
        </a:p>
      </dgm:t>
    </dgm:pt>
    <dgm:pt modelId="{3B6F6EFB-FD3C-4F7B-ADB2-38D087CF6BBC}" type="sibTrans" cxnId="{435DF311-1C16-487D-A790-C761431B334E}">
      <dgm:prSet/>
      <dgm:spPr/>
      <dgm:t>
        <a:bodyPr/>
        <a:lstStyle/>
        <a:p>
          <a:endParaRPr lang="en-US"/>
        </a:p>
      </dgm:t>
    </dgm:pt>
    <dgm:pt modelId="{43F73CFF-C01B-4E56-9BB9-48B4A6563B43}">
      <dgm:prSet phldrT="[Text]" custT="1"/>
      <dgm:spPr/>
      <dgm:t>
        <a:bodyPr/>
        <a:lstStyle/>
        <a:p>
          <a:r>
            <a:rPr lang="en-US" sz="1800" dirty="0"/>
            <a:t>Digital Measurement</a:t>
          </a:r>
        </a:p>
      </dgm:t>
    </dgm:pt>
    <dgm:pt modelId="{DD22CB5F-7085-4EAC-AD1C-3D690C5879FC}" type="parTrans" cxnId="{E046B801-E604-4286-B532-92B2313FAE3E}">
      <dgm:prSet/>
      <dgm:spPr/>
      <dgm:t>
        <a:bodyPr/>
        <a:lstStyle/>
        <a:p>
          <a:endParaRPr lang="en-US"/>
        </a:p>
      </dgm:t>
    </dgm:pt>
    <dgm:pt modelId="{D1D1F222-B03F-48F7-9D0D-B58A4756893C}" type="sibTrans" cxnId="{E046B801-E604-4286-B532-92B2313FAE3E}">
      <dgm:prSet/>
      <dgm:spPr/>
      <dgm:t>
        <a:bodyPr/>
        <a:lstStyle/>
        <a:p>
          <a:endParaRPr lang="en-US"/>
        </a:p>
      </dgm:t>
    </dgm:pt>
    <dgm:pt modelId="{E4966309-5BFF-471C-A197-46CB7C50F5F9}">
      <dgm:prSet phldrT="[Text]" custT="1"/>
      <dgm:spPr/>
      <dgm:t>
        <a:bodyPr/>
        <a:lstStyle/>
        <a:p>
          <a:r>
            <a:rPr lang="en-US" sz="1800" dirty="0"/>
            <a:t>Fuel Handling SOP</a:t>
          </a:r>
        </a:p>
      </dgm:t>
    </dgm:pt>
    <dgm:pt modelId="{0D7ED119-565E-4229-9ED7-050FA47382A1}" type="parTrans" cxnId="{E3F39D30-6244-40A2-A305-51197B2F9DC0}">
      <dgm:prSet/>
      <dgm:spPr/>
      <dgm:t>
        <a:bodyPr/>
        <a:lstStyle/>
        <a:p>
          <a:endParaRPr lang="en-US"/>
        </a:p>
      </dgm:t>
    </dgm:pt>
    <dgm:pt modelId="{408C06F0-CAD6-42B3-B153-368376F54ECB}" type="sibTrans" cxnId="{E3F39D30-6244-40A2-A305-51197B2F9DC0}">
      <dgm:prSet/>
      <dgm:spPr/>
      <dgm:t>
        <a:bodyPr/>
        <a:lstStyle/>
        <a:p>
          <a:endParaRPr lang="en-US"/>
        </a:p>
      </dgm:t>
    </dgm:pt>
    <dgm:pt modelId="{36D809D5-0B09-41BE-A67C-6ACF0A98735E}">
      <dgm:prSet phldrT="[Text]" custT="1"/>
      <dgm:spPr/>
      <dgm:t>
        <a:bodyPr/>
        <a:lstStyle/>
        <a:p>
          <a:r>
            <a:rPr lang="en-US" sz="2000" dirty="0"/>
            <a:t>Water Pump: 1 KL</a:t>
          </a:r>
        </a:p>
      </dgm:t>
    </dgm:pt>
    <dgm:pt modelId="{9EA72613-E4D3-4543-830F-2F05E56F8B1C}" type="parTrans" cxnId="{91D3997C-F388-4764-8B86-8DDC3089B2C1}">
      <dgm:prSet/>
      <dgm:spPr/>
      <dgm:t>
        <a:bodyPr/>
        <a:lstStyle/>
        <a:p>
          <a:endParaRPr lang="en-US"/>
        </a:p>
      </dgm:t>
    </dgm:pt>
    <dgm:pt modelId="{5A16A260-7921-49CC-BCFD-3521578380B4}" type="sibTrans" cxnId="{91D3997C-F388-4764-8B86-8DDC3089B2C1}">
      <dgm:prSet/>
      <dgm:spPr/>
      <dgm:t>
        <a:bodyPr/>
        <a:lstStyle/>
        <a:p>
          <a:endParaRPr lang="en-US"/>
        </a:p>
      </dgm:t>
    </dgm:pt>
    <dgm:pt modelId="{D581F944-7082-4DDC-87A3-1F65ED4E02AD}">
      <dgm:prSet phldrT="[Text]" custT="1"/>
      <dgm:spPr/>
      <dgm:t>
        <a:bodyPr/>
        <a:lstStyle/>
        <a:p>
          <a:r>
            <a:rPr lang="en-US" sz="2000" dirty="0"/>
            <a:t>Vehicles: 0.3 KL</a:t>
          </a:r>
        </a:p>
      </dgm:t>
    </dgm:pt>
    <dgm:pt modelId="{EA5E013B-344B-4BE3-B89B-B31A2B083851}" type="parTrans" cxnId="{2AC77393-40F4-4D17-9FBC-80AE4A9DA5CB}">
      <dgm:prSet/>
      <dgm:spPr/>
      <dgm:t>
        <a:bodyPr/>
        <a:lstStyle/>
        <a:p>
          <a:endParaRPr lang="en-US"/>
        </a:p>
      </dgm:t>
    </dgm:pt>
    <dgm:pt modelId="{C0ED57E8-9308-452D-A052-33C1EA5DF562}" type="sibTrans" cxnId="{2AC77393-40F4-4D17-9FBC-80AE4A9DA5CB}">
      <dgm:prSet/>
      <dgm:spPr/>
      <dgm:t>
        <a:bodyPr/>
        <a:lstStyle/>
        <a:p>
          <a:endParaRPr lang="en-US"/>
        </a:p>
      </dgm:t>
    </dgm:pt>
    <dgm:pt modelId="{A043F08F-63D9-4C82-AE15-7FDCB062143A}">
      <dgm:prSet phldrT="[Text]" custT="1"/>
      <dgm:spPr/>
      <dgm:t>
        <a:bodyPr/>
        <a:lstStyle/>
        <a:p>
          <a:r>
            <a:rPr lang="en-US" sz="2000" dirty="0"/>
            <a:t>Base Camp: 0.2 KL</a:t>
          </a:r>
        </a:p>
      </dgm:t>
    </dgm:pt>
    <dgm:pt modelId="{7A883CAB-85C3-4F27-A9C7-CC53EEDD6D80}" type="parTrans" cxnId="{7260C24E-4554-45F2-AFC3-F0F12736BF51}">
      <dgm:prSet/>
      <dgm:spPr/>
      <dgm:t>
        <a:bodyPr/>
        <a:lstStyle/>
        <a:p>
          <a:endParaRPr lang="en-US"/>
        </a:p>
      </dgm:t>
    </dgm:pt>
    <dgm:pt modelId="{455098CE-B54E-4201-9A4B-43B6AD78CA55}" type="sibTrans" cxnId="{7260C24E-4554-45F2-AFC3-F0F12736BF51}">
      <dgm:prSet/>
      <dgm:spPr/>
      <dgm:t>
        <a:bodyPr/>
        <a:lstStyle/>
        <a:p>
          <a:endParaRPr lang="en-US"/>
        </a:p>
      </dgm:t>
    </dgm:pt>
    <dgm:pt modelId="{862B21B3-ABC4-4116-81CF-6D44CB9618E7}">
      <dgm:prSet phldrT="[Text]" custT="1"/>
      <dgm:spPr/>
      <dgm:t>
        <a:bodyPr/>
        <a:lstStyle/>
        <a:p>
          <a:r>
            <a:rPr lang="en-US" sz="2000" dirty="0"/>
            <a:t>Air Drilling: </a:t>
          </a:r>
          <a:r>
            <a:rPr lang="en-US" sz="2000" dirty="0">
              <a:solidFill>
                <a:srgbClr val="FF0000"/>
              </a:solidFill>
            </a:rPr>
            <a:t>5-8KL</a:t>
          </a:r>
        </a:p>
      </dgm:t>
    </dgm:pt>
    <dgm:pt modelId="{E44ABAE5-A191-4094-B600-67CDBDE39254}" type="parTrans" cxnId="{37827917-C8BD-4874-B240-5F89ADFF1374}">
      <dgm:prSet/>
      <dgm:spPr/>
      <dgm:t>
        <a:bodyPr/>
        <a:lstStyle/>
        <a:p>
          <a:endParaRPr lang="en-US"/>
        </a:p>
      </dgm:t>
    </dgm:pt>
    <dgm:pt modelId="{21F38E24-AF3A-435E-89A9-EB08E4870EFD}" type="sibTrans" cxnId="{37827917-C8BD-4874-B240-5F89ADFF1374}">
      <dgm:prSet/>
      <dgm:spPr/>
      <dgm:t>
        <a:bodyPr/>
        <a:lstStyle/>
        <a:p>
          <a:endParaRPr lang="en-US"/>
        </a:p>
      </dgm:t>
    </dgm:pt>
    <dgm:pt modelId="{9934256C-4D40-481D-97A7-6896AE423E43}">
      <dgm:prSet phldrT="[Text]" custT="1"/>
      <dgm:spPr/>
      <dgm:t>
        <a:bodyPr/>
        <a:lstStyle/>
        <a:p>
          <a:r>
            <a:rPr lang="en-US" sz="2000" dirty="0"/>
            <a:t>Total Consumption:              </a:t>
          </a:r>
          <a:r>
            <a:rPr lang="en-US" sz="3200" dirty="0">
              <a:solidFill>
                <a:srgbClr val="C00000"/>
              </a:solidFill>
            </a:rPr>
            <a:t>11.5 – 23.5 KL/day </a:t>
          </a:r>
        </a:p>
      </dgm:t>
    </dgm:pt>
    <dgm:pt modelId="{A7B2FD7A-976D-43FB-BA65-766F76FE2FE5}" type="parTrans" cxnId="{F6073643-B959-48CB-A71E-6AFBDAF99677}">
      <dgm:prSet/>
      <dgm:spPr/>
      <dgm:t>
        <a:bodyPr/>
        <a:lstStyle/>
        <a:p>
          <a:endParaRPr lang="en-US"/>
        </a:p>
      </dgm:t>
    </dgm:pt>
    <dgm:pt modelId="{66981164-DB54-4899-9D52-44D6C38B6A74}" type="sibTrans" cxnId="{F6073643-B959-48CB-A71E-6AFBDAF99677}">
      <dgm:prSet/>
      <dgm:spPr/>
      <dgm:t>
        <a:bodyPr/>
        <a:lstStyle/>
        <a:p>
          <a:endParaRPr lang="en-US"/>
        </a:p>
      </dgm:t>
    </dgm:pt>
    <dgm:pt modelId="{F3009716-E641-40C9-AF9D-B7C94A7A6108}">
      <dgm:prSet phldrT="[Text]" custT="1"/>
      <dgm:spPr/>
      <dgm:t>
        <a:bodyPr/>
        <a:lstStyle/>
        <a:p>
          <a:r>
            <a:rPr lang="en-US" sz="1800" dirty="0"/>
            <a:t>Regular fuel sample check</a:t>
          </a:r>
        </a:p>
      </dgm:t>
    </dgm:pt>
    <dgm:pt modelId="{DE3FD054-3B31-4F8F-BBC2-FAB03816EDBA}" type="parTrans" cxnId="{5E8AE53C-0071-4FC3-A874-6007176CB11D}">
      <dgm:prSet/>
      <dgm:spPr/>
      <dgm:t>
        <a:bodyPr/>
        <a:lstStyle/>
        <a:p>
          <a:endParaRPr lang="en-US"/>
        </a:p>
      </dgm:t>
    </dgm:pt>
    <dgm:pt modelId="{E8D6FEAA-E500-40E4-B533-5B6B91E07D0E}" type="sibTrans" cxnId="{5E8AE53C-0071-4FC3-A874-6007176CB11D}">
      <dgm:prSet/>
      <dgm:spPr/>
      <dgm:t>
        <a:bodyPr/>
        <a:lstStyle/>
        <a:p>
          <a:endParaRPr lang="en-US"/>
        </a:p>
      </dgm:t>
    </dgm:pt>
    <dgm:pt modelId="{873E9D34-3900-413A-9D48-A6314D55322B}">
      <dgm:prSet phldrT="[Text]" custT="1"/>
      <dgm:spPr/>
      <dgm:t>
        <a:bodyPr/>
        <a:lstStyle/>
        <a:p>
          <a:r>
            <a:rPr lang="en-US" sz="1800" dirty="0"/>
            <a:t>Dedicated Fuel Truck</a:t>
          </a:r>
        </a:p>
      </dgm:t>
    </dgm:pt>
    <dgm:pt modelId="{6EF6146C-55F9-44D9-B904-D50204F345F7}" type="parTrans" cxnId="{049F0BFF-AF41-42EA-9B03-ED03D9D10F89}">
      <dgm:prSet/>
      <dgm:spPr/>
      <dgm:t>
        <a:bodyPr/>
        <a:lstStyle/>
        <a:p>
          <a:endParaRPr lang="en-US"/>
        </a:p>
      </dgm:t>
    </dgm:pt>
    <dgm:pt modelId="{695CD58B-9AD0-4D80-B914-BFFB152C94A6}" type="sibTrans" cxnId="{049F0BFF-AF41-42EA-9B03-ED03D9D10F89}">
      <dgm:prSet/>
      <dgm:spPr/>
      <dgm:t>
        <a:bodyPr/>
        <a:lstStyle/>
        <a:p>
          <a:endParaRPr lang="en-US"/>
        </a:p>
      </dgm:t>
    </dgm:pt>
    <dgm:pt modelId="{929F3657-37D6-4B94-9101-4FFB6CDD8663}">
      <dgm:prSet phldrT="[Text]" custT="1"/>
      <dgm:spPr/>
      <dgm:t>
        <a:bodyPr/>
        <a:lstStyle/>
        <a:p>
          <a:r>
            <a:rPr lang="en-US" sz="1800" dirty="0"/>
            <a:t>Always Lock fuel tank line</a:t>
          </a:r>
        </a:p>
      </dgm:t>
    </dgm:pt>
    <dgm:pt modelId="{B6D257B2-D8CD-4AC4-872A-DACDBFB99BB6}" type="parTrans" cxnId="{7345B4D6-961C-4A80-87E5-4C225DC8FC01}">
      <dgm:prSet/>
      <dgm:spPr/>
      <dgm:t>
        <a:bodyPr/>
        <a:lstStyle/>
        <a:p>
          <a:endParaRPr lang="en-US"/>
        </a:p>
      </dgm:t>
    </dgm:pt>
    <dgm:pt modelId="{464C2F9A-C132-4C93-9F25-882A44699583}" type="sibTrans" cxnId="{7345B4D6-961C-4A80-87E5-4C225DC8FC01}">
      <dgm:prSet/>
      <dgm:spPr/>
      <dgm:t>
        <a:bodyPr/>
        <a:lstStyle/>
        <a:p>
          <a:endParaRPr lang="en-US"/>
        </a:p>
      </dgm:t>
    </dgm:pt>
    <dgm:pt modelId="{8755B637-E662-471E-B3CF-AC0AB10DB1D7}">
      <dgm:prSet phldrT="[Text]" custT="1"/>
      <dgm:spPr/>
      <dgm:t>
        <a:bodyPr/>
        <a:lstStyle/>
        <a:p>
          <a:r>
            <a:rPr lang="en-US" sz="1800" dirty="0"/>
            <a:t>Daily Usage Report</a:t>
          </a:r>
        </a:p>
      </dgm:t>
    </dgm:pt>
    <dgm:pt modelId="{2E623921-7280-41DD-AF59-C16AD24907A9}" type="parTrans" cxnId="{E83B064D-A7B5-489A-983A-5E1958A4582B}">
      <dgm:prSet/>
      <dgm:spPr/>
      <dgm:t>
        <a:bodyPr/>
        <a:lstStyle/>
        <a:p>
          <a:endParaRPr lang="en-US"/>
        </a:p>
      </dgm:t>
    </dgm:pt>
    <dgm:pt modelId="{5EED64FF-2071-499D-B7FE-D5FFC54D91F5}" type="sibTrans" cxnId="{E83B064D-A7B5-489A-983A-5E1958A4582B}">
      <dgm:prSet/>
      <dgm:spPr/>
      <dgm:t>
        <a:bodyPr/>
        <a:lstStyle/>
        <a:p>
          <a:endParaRPr lang="en-US"/>
        </a:p>
      </dgm:t>
    </dgm:pt>
    <dgm:pt modelId="{51A0BEA2-2E0E-4839-AADA-C58C83B6529F}">
      <dgm:prSet phldrT="[Text]" custT="1"/>
      <dgm:spPr/>
      <dgm:t>
        <a:bodyPr/>
        <a:lstStyle/>
        <a:p>
          <a:r>
            <a:rPr lang="en-US" sz="1800" b="1" dirty="0">
              <a:solidFill>
                <a:srgbClr val="C00000"/>
              </a:solidFill>
            </a:rPr>
            <a:t>Use New Generation Rig.</a:t>
          </a:r>
        </a:p>
      </dgm:t>
    </dgm:pt>
    <dgm:pt modelId="{7CEF3C8D-F971-4AE9-88D9-ADA9F71C0FB4}" type="parTrans" cxnId="{E5084C6B-993F-4C2C-B51E-D34DEA47D6D2}">
      <dgm:prSet/>
      <dgm:spPr/>
      <dgm:t>
        <a:bodyPr/>
        <a:lstStyle/>
        <a:p>
          <a:endParaRPr lang="en-US"/>
        </a:p>
      </dgm:t>
    </dgm:pt>
    <dgm:pt modelId="{B28F9DC3-FFB6-4718-9EED-C8B88BECFC03}" type="sibTrans" cxnId="{E5084C6B-993F-4C2C-B51E-D34DEA47D6D2}">
      <dgm:prSet/>
      <dgm:spPr/>
      <dgm:t>
        <a:bodyPr/>
        <a:lstStyle/>
        <a:p>
          <a:endParaRPr lang="en-US"/>
        </a:p>
      </dgm:t>
    </dgm:pt>
    <dgm:pt modelId="{8D2779EF-A7EB-4A38-B4B8-C9CFF125F379}">
      <dgm:prSet phldrT="[Text]" custT="1"/>
      <dgm:spPr/>
      <dgm:t>
        <a:bodyPr/>
        <a:lstStyle/>
        <a:p>
          <a:r>
            <a:rPr lang="en-US" sz="1800" b="1" dirty="0">
              <a:solidFill>
                <a:srgbClr val="C00000"/>
              </a:solidFill>
            </a:rPr>
            <a:t>&lt; 3 years age of Heavy Equipment</a:t>
          </a:r>
        </a:p>
      </dgm:t>
    </dgm:pt>
    <dgm:pt modelId="{45C45FE8-C9BC-466A-85D5-60DE49333767}" type="parTrans" cxnId="{B4DD2F73-6247-4DBD-9C85-7BB81825718D}">
      <dgm:prSet/>
      <dgm:spPr/>
      <dgm:t>
        <a:bodyPr/>
        <a:lstStyle/>
        <a:p>
          <a:endParaRPr lang="en-US"/>
        </a:p>
      </dgm:t>
    </dgm:pt>
    <dgm:pt modelId="{D2F7E448-F2EE-4AB3-87FB-D79B8402954C}" type="sibTrans" cxnId="{B4DD2F73-6247-4DBD-9C85-7BB81825718D}">
      <dgm:prSet/>
      <dgm:spPr/>
      <dgm:t>
        <a:bodyPr/>
        <a:lstStyle/>
        <a:p>
          <a:endParaRPr lang="en-US"/>
        </a:p>
      </dgm:t>
    </dgm:pt>
    <dgm:pt modelId="{F1307775-070E-4859-B6C2-2A6EA5CDBE98}">
      <dgm:prSet phldrT="[Text]" custT="1"/>
      <dgm:spPr/>
      <dgm:t>
        <a:bodyPr/>
        <a:lstStyle/>
        <a:p>
          <a:r>
            <a:rPr lang="en-US" sz="1800" b="1" dirty="0">
              <a:solidFill>
                <a:srgbClr val="C00000"/>
              </a:solidFill>
            </a:rPr>
            <a:t>Proper Piping for water supply</a:t>
          </a:r>
        </a:p>
      </dgm:t>
    </dgm:pt>
    <dgm:pt modelId="{37400A1E-0337-4A63-B1B2-630B7A049A2E}" type="parTrans" cxnId="{2ACBC9CA-8AB1-4037-BC78-807E78BCC6C9}">
      <dgm:prSet/>
      <dgm:spPr/>
      <dgm:t>
        <a:bodyPr/>
        <a:lstStyle/>
        <a:p>
          <a:endParaRPr lang="en-US"/>
        </a:p>
      </dgm:t>
    </dgm:pt>
    <dgm:pt modelId="{41E5BB60-CCFF-4704-99D0-C88C77097D89}" type="sibTrans" cxnId="{2ACBC9CA-8AB1-4037-BC78-807E78BCC6C9}">
      <dgm:prSet/>
      <dgm:spPr/>
      <dgm:t>
        <a:bodyPr/>
        <a:lstStyle/>
        <a:p>
          <a:endParaRPr lang="en-US"/>
        </a:p>
      </dgm:t>
    </dgm:pt>
    <dgm:pt modelId="{97621D55-5191-40D8-A26A-FB48DF506D8D}">
      <dgm:prSet phldrT="[Text]" custT="1"/>
      <dgm:spPr/>
      <dgm:t>
        <a:bodyPr/>
        <a:lstStyle/>
        <a:p>
          <a:endParaRPr lang="en-US" sz="2000" dirty="0"/>
        </a:p>
      </dgm:t>
    </dgm:pt>
    <dgm:pt modelId="{99F7875B-0092-457C-B28A-80411E10CD80}" type="parTrans" cxnId="{E0282044-74B0-400D-8A9B-D7FF63D9A00A}">
      <dgm:prSet/>
      <dgm:spPr/>
      <dgm:t>
        <a:bodyPr/>
        <a:lstStyle/>
        <a:p>
          <a:endParaRPr lang="en-US"/>
        </a:p>
      </dgm:t>
    </dgm:pt>
    <dgm:pt modelId="{674E32EF-3085-472A-9D8E-ADEB9677F4C6}" type="sibTrans" cxnId="{E0282044-74B0-400D-8A9B-D7FF63D9A00A}">
      <dgm:prSet/>
      <dgm:spPr/>
      <dgm:t>
        <a:bodyPr/>
        <a:lstStyle/>
        <a:p>
          <a:endParaRPr lang="en-US"/>
        </a:p>
      </dgm:t>
    </dgm:pt>
    <dgm:pt modelId="{5C7804CE-F494-4A2B-B6F7-C63F3B16349B}">
      <dgm:prSet phldrT="[Text]" custT="1"/>
      <dgm:spPr/>
      <dgm:t>
        <a:bodyPr/>
        <a:lstStyle/>
        <a:p>
          <a:r>
            <a:rPr lang="en-US" sz="1800" b="1" dirty="0">
              <a:solidFill>
                <a:srgbClr val="C00000"/>
              </a:solidFill>
            </a:rPr>
            <a:t>Convert Electricity source from </a:t>
          </a:r>
          <a:r>
            <a:rPr lang="en-US" sz="1800" b="1" dirty="0" err="1">
              <a:solidFill>
                <a:srgbClr val="C00000"/>
              </a:solidFill>
            </a:rPr>
            <a:t>GenSet</a:t>
          </a:r>
          <a:r>
            <a:rPr lang="en-US" sz="1800" b="1" dirty="0">
              <a:solidFill>
                <a:srgbClr val="C00000"/>
              </a:solidFill>
            </a:rPr>
            <a:t> to PLN</a:t>
          </a:r>
        </a:p>
      </dgm:t>
    </dgm:pt>
    <dgm:pt modelId="{D194CFAE-C665-4651-A353-67AA45165190}" type="parTrans" cxnId="{CB5A8DC9-4815-47A2-BEBF-483B104CC7B5}">
      <dgm:prSet/>
      <dgm:spPr/>
      <dgm:t>
        <a:bodyPr/>
        <a:lstStyle/>
        <a:p>
          <a:endParaRPr lang="en-ID"/>
        </a:p>
      </dgm:t>
    </dgm:pt>
    <dgm:pt modelId="{2D4AA3D0-8C6E-405F-845F-0AB8204ED805}" type="sibTrans" cxnId="{CB5A8DC9-4815-47A2-BEBF-483B104CC7B5}">
      <dgm:prSet/>
      <dgm:spPr/>
      <dgm:t>
        <a:bodyPr/>
        <a:lstStyle/>
        <a:p>
          <a:endParaRPr lang="en-ID"/>
        </a:p>
      </dgm:t>
    </dgm:pt>
    <dgm:pt modelId="{B4ACD40E-1D1A-4AC9-A823-EDF1BF593F9C}">
      <dgm:prSet phldrT="[Text]" custT="1"/>
      <dgm:spPr/>
      <dgm:t>
        <a:bodyPr/>
        <a:lstStyle/>
        <a:p>
          <a:endParaRPr lang="en-US" sz="1800" b="1" dirty="0">
            <a:solidFill>
              <a:srgbClr val="C00000"/>
            </a:solidFill>
          </a:endParaRPr>
        </a:p>
      </dgm:t>
    </dgm:pt>
    <dgm:pt modelId="{2D0E784A-A250-4733-8BF8-F9DFDC81DDC7}" type="parTrans" cxnId="{A09432A5-1D3A-4796-9B99-3DE1CCFE6D71}">
      <dgm:prSet/>
      <dgm:spPr/>
      <dgm:t>
        <a:bodyPr/>
        <a:lstStyle/>
        <a:p>
          <a:endParaRPr lang="en-ID"/>
        </a:p>
      </dgm:t>
    </dgm:pt>
    <dgm:pt modelId="{8B5E7D2F-E2EE-4A38-8A51-8E56CAE8C5A4}" type="sibTrans" cxnId="{A09432A5-1D3A-4796-9B99-3DE1CCFE6D71}">
      <dgm:prSet/>
      <dgm:spPr/>
      <dgm:t>
        <a:bodyPr/>
        <a:lstStyle/>
        <a:p>
          <a:endParaRPr lang="en-ID"/>
        </a:p>
      </dgm:t>
    </dgm:pt>
    <dgm:pt modelId="{3D2B25C2-05BC-4E65-9CD6-E478ED9577ED}">
      <dgm:prSet phldrT="[Text]" custT="1"/>
      <dgm:spPr/>
      <dgm:t>
        <a:bodyPr/>
        <a:lstStyle/>
        <a:p>
          <a:endParaRPr lang="en-US" sz="1800" dirty="0"/>
        </a:p>
      </dgm:t>
    </dgm:pt>
    <dgm:pt modelId="{1C887917-FA79-4670-800A-55D6011427EF}" type="parTrans" cxnId="{DB904DD5-132A-420A-AB39-DBD7D3445045}">
      <dgm:prSet/>
      <dgm:spPr/>
      <dgm:t>
        <a:bodyPr/>
        <a:lstStyle/>
        <a:p>
          <a:endParaRPr lang="en-ID"/>
        </a:p>
      </dgm:t>
    </dgm:pt>
    <dgm:pt modelId="{CF39E63C-D302-4115-B6D3-B83182132C61}" type="sibTrans" cxnId="{DB904DD5-132A-420A-AB39-DBD7D3445045}">
      <dgm:prSet/>
      <dgm:spPr/>
      <dgm:t>
        <a:bodyPr/>
        <a:lstStyle/>
        <a:p>
          <a:endParaRPr lang="en-ID"/>
        </a:p>
      </dgm:t>
    </dgm:pt>
    <dgm:pt modelId="{DD735444-804C-41C9-8C06-C583356030B4}" type="pres">
      <dgm:prSet presAssocID="{031C28FA-885C-427B-849A-56CB54D5EEC6}" presName="Name0" presStyleCnt="0">
        <dgm:presLayoutVars>
          <dgm:dir/>
          <dgm:animLvl val="lvl"/>
          <dgm:resizeHandles val="exact"/>
        </dgm:presLayoutVars>
      </dgm:prSet>
      <dgm:spPr/>
    </dgm:pt>
    <dgm:pt modelId="{543A19C6-8603-4F43-961F-4D8C2C09857D}" type="pres">
      <dgm:prSet presAssocID="{E3B16249-3BC2-4B96-BF7B-3130865F9AC6}" presName="composite" presStyleCnt="0"/>
      <dgm:spPr/>
    </dgm:pt>
    <dgm:pt modelId="{9E1D4FAE-7441-4CF5-8D7C-C65F3361EC88}" type="pres">
      <dgm:prSet presAssocID="{E3B16249-3BC2-4B96-BF7B-3130865F9AC6}" presName="parTx" presStyleLbl="alignNode1" presStyleIdx="0" presStyleCnt="3">
        <dgm:presLayoutVars>
          <dgm:chMax val="0"/>
          <dgm:chPref val="0"/>
          <dgm:bulletEnabled val="1"/>
        </dgm:presLayoutVars>
      </dgm:prSet>
      <dgm:spPr/>
    </dgm:pt>
    <dgm:pt modelId="{7780C6EB-82F3-4B8C-82C4-BDF7E074BAB4}" type="pres">
      <dgm:prSet presAssocID="{E3B16249-3BC2-4B96-BF7B-3130865F9AC6}" presName="desTx" presStyleLbl="alignAccFollowNode1" presStyleIdx="0" presStyleCnt="3">
        <dgm:presLayoutVars>
          <dgm:bulletEnabled val="1"/>
        </dgm:presLayoutVars>
      </dgm:prSet>
      <dgm:spPr/>
    </dgm:pt>
    <dgm:pt modelId="{CB94B23B-1377-4B1C-90CD-69FF8F378A7E}" type="pres">
      <dgm:prSet presAssocID="{6339B279-A518-474F-BA94-788C02C1EDE8}" presName="space" presStyleCnt="0"/>
      <dgm:spPr/>
    </dgm:pt>
    <dgm:pt modelId="{D7821683-5B40-4DE5-B0E9-47104EFDE53C}" type="pres">
      <dgm:prSet presAssocID="{FCB71BD6-AF4A-4900-AA1D-CDD612A0EC42}" presName="composite" presStyleCnt="0"/>
      <dgm:spPr/>
    </dgm:pt>
    <dgm:pt modelId="{ABF0B1BD-C445-4D0F-8966-411C642DD885}" type="pres">
      <dgm:prSet presAssocID="{FCB71BD6-AF4A-4900-AA1D-CDD612A0EC42}" presName="parTx" presStyleLbl="alignNode1" presStyleIdx="1" presStyleCnt="3" custScaleX="112660" custLinFactNeighborX="-3672">
        <dgm:presLayoutVars>
          <dgm:chMax val="0"/>
          <dgm:chPref val="0"/>
          <dgm:bulletEnabled val="1"/>
        </dgm:presLayoutVars>
      </dgm:prSet>
      <dgm:spPr/>
    </dgm:pt>
    <dgm:pt modelId="{C4FA08CE-10C2-417B-9D89-6D9126C5B99F}" type="pres">
      <dgm:prSet presAssocID="{FCB71BD6-AF4A-4900-AA1D-CDD612A0EC42}" presName="desTx" presStyleLbl="alignAccFollowNode1" presStyleIdx="1" presStyleCnt="3" custScaleX="112660" custLinFactNeighborX="-3672">
        <dgm:presLayoutVars>
          <dgm:bulletEnabled val="1"/>
        </dgm:presLayoutVars>
      </dgm:prSet>
      <dgm:spPr/>
    </dgm:pt>
    <dgm:pt modelId="{9417C27C-4CAA-4330-9E04-0583DD553527}" type="pres">
      <dgm:prSet presAssocID="{02CF2D2E-BF96-482A-B12F-5DB657AA95CC}" presName="space" presStyleCnt="0"/>
      <dgm:spPr/>
    </dgm:pt>
    <dgm:pt modelId="{264E810C-D28C-4752-BFD0-382118592A3F}" type="pres">
      <dgm:prSet presAssocID="{D2C6F3D6-40D9-4DAC-830F-7C6C3B2F2F6E}" presName="composite" presStyleCnt="0"/>
      <dgm:spPr/>
    </dgm:pt>
    <dgm:pt modelId="{E2577BE7-02EE-4352-87A7-040A86170C87}" type="pres">
      <dgm:prSet presAssocID="{D2C6F3D6-40D9-4DAC-830F-7C6C3B2F2F6E}" presName="parTx" presStyleLbl="alignNode1" presStyleIdx="2" presStyleCnt="3" custScaleX="110626">
        <dgm:presLayoutVars>
          <dgm:chMax val="0"/>
          <dgm:chPref val="0"/>
          <dgm:bulletEnabled val="1"/>
        </dgm:presLayoutVars>
      </dgm:prSet>
      <dgm:spPr/>
    </dgm:pt>
    <dgm:pt modelId="{440B4C54-86EF-4C04-8F43-D206D18D54F9}" type="pres">
      <dgm:prSet presAssocID="{D2C6F3D6-40D9-4DAC-830F-7C6C3B2F2F6E}" presName="desTx" presStyleLbl="alignAccFollowNode1" presStyleIdx="2" presStyleCnt="3" custScaleX="110073">
        <dgm:presLayoutVars>
          <dgm:bulletEnabled val="1"/>
        </dgm:presLayoutVars>
      </dgm:prSet>
      <dgm:spPr/>
    </dgm:pt>
  </dgm:ptLst>
  <dgm:cxnLst>
    <dgm:cxn modelId="{E046B801-E604-4286-B532-92B2313FAE3E}" srcId="{D2C6F3D6-40D9-4DAC-830F-7C6C3B2F2F6E}" destId="{43F73CFF-C01B-4E56-9BB9-48B4A6563B43}" srcOrd="6" destOrd="0" parTransId="{DD22CB5F-7085-4EAC-AD1C-3D690C5879FC}" sibTransId="{D1D1F222-B03F-48F7-9D0D-B58A4756893C}"/>
    <dgm:cxn modelId="{35D1C307-97BA-47F1-A079-2C7029B768B2}" type="presOf" srcId="{43F73CFF-C01B-4E56-9BB9-48B4A6563B43}" destId="{440B4C54-86EF-4C04-8F43-D206D18D54F9}" srcOrd="0" destOrd="6" presId="urn:microsoft.com/office/officeart/2005/8/layout/hList1"/>
    <dgm:cxn modelId="{E1B3AB0A-0F0B-4DBD-AE63-B75E7CF1075B}" type="presOf" srcId="{8D2779EF-A7EB-4A38-B4B8-C9CFF125F379}" destId="{440B4C54-86EF-4C04-8F43-D206D18D54F9}" srcOrd="0" destOrd="1" presId="urn:microsoft.com/office/officeart/2005/8/layout/hList1"/>
    <dgm:cxn modelId="{435DF311-1C16-487D-A790-C761431B334E}" srcId="{031C28FA-885C-427B-849A-56CB54D5EEC6}" destId="{D2C6F3D6-40D9-4DAC-830F-7C6C3B2F2F6E}" srcOrd="2" destOrd="0" parTransId="{BE8D4BE3-1CAA-43A7-8C4E-F46656193682}" sibTransId="{3B6F6EFB-FD3C-4F7B-ADB2-38D087CF6BBC}"/>
    <dgm:cxn modelId="{5E2A4512-630C-434F-A72F-81F2C055BF60}" type="presOf" srcId="{E4966309-5BFF-471C-A197-46CB7C50F5F9}" destId="{440B4C54-86EF-4C04-8F43-D206D18D54F9}" srcOrd="0" destOrd="7" presId="urn:microsoft.com/office/officeart/2005/8/layout/hList1"/>
    <dgm:cxn modelId="{37827917-C8BD-4874-B240-5F89ADFF1374}" srcId="{FCB71BD6-AF4A-4900-AA1D-CDD612A0EC42}" destId="{862B21B3-ABC4-4116-81CF-6D44CB9618E7}" srcOrd="1" destOrd="0" parTransId="{E44ABAE5-A191-4094-B600-67CDBDE39254}" sibTransId="{21F38E24-AF3A-435E-89A9-EB08E4870EFD}"/>
    <dgm:cxn modelId="{FC591220-1BC4-4C90-9CF7-C126B3D7C02E}" type="presOf" srcId="{8755B637-E662-471E-B3CF-AC0AB10DB1D7}" destId="{440B4C54-86EF-4C04-8F43-D206D18D54F9}" srcOrd="0" destOrd="11" presId="urn:microsoft.com/office/officeart/2005/8/layout/hList1"/>
    <dgm:cxn modelId="{ABF65429-5D9D-410F-AE3C-42333B6EA8F0}" type="presOf" srcId="{F3009716-E641-40C9-AF9D-B7C94A7A6108}" destId="{440B4C54-86EF-4C04-8F43-D206D18D54F9}" srcOrd="0" destOrd="8" presId="urn:microsoft.com/office/officeart/2005/8/layout/hList1"/>
    <dgm:cxn modelId="{42C69A2E-079F-4329-8A27-A65271C7C3E0}" type="presOf" srcId="{3C9ADB11-FA74-4059-AA6B-A1C19C11A679}" destId="{C4FA08CE-10C2-417B-9D89-6D9126C5B99F}" srcOrd="0" destOrd="2" presId="urn:microsoft.com/office/officeart/2005/8/layout/hList1"/>
    <dgm:cxn modelId="{E3F39D30-6244-40A2-A305-51197B2F9DC0}" srcId="{D2C6F3D6-40D9-4DAC-830F-7C6C3B2F2F6E}" destId="{E4966309-5BFF-471C-A197-46CB7C50F5F9}" srcOrd="7" destOrd="0" parTransId="{0D7ED119-565E-4229-9ED7-050FA47382A1}" sibTransId="{408C06F0-CAD6-42B3-B153-368376F54ECB}"/>
    <dgm:cxn modelId="{DDEB2431-B106-46CA-A7BC-6670209E8DFE}" type="presOf" srcId="{F6D7DF58-1F02-413E-B899-65978C9BBF2A}" destId="{C4FA08CE-10C2-417B-9D89-6D9126C5B99F}" srcOrd="0" destOrd="0" presId="urn:microsoft.com/office/officeart/2005/8/layout/hList1"/>
    <dgm:cxn modelId="{5E8AE53C-0071-4FC3-A874-6007176CB11D}" srcId="{D2C6F3D6-40D9-4DAC-830F-7C6C3B2F2F6E}" destId="{F3009716-E641-40C9-AF9D-B7C94A7A6108}" srcOrd="8" destOrd="0" parTransId="{DE3FD054-3B31-4F8F-BBC2-FAB03816EDBA}" sibTransId="{E8D6FEAA-E500-40E4-B533-5B6B91E07D0E}"/>
    <dgm:cxn modelId="{DC19915C-56E6-4D75-9479-15C9C68F3694}" type="presOf" srcId="{97621D55-5191-40D8-A26A-FB48DF506D8D}" destId="{C4FA08CE-10C2-417B-9D89-6D9126C5B99F}" srcOrd="0" destOrd="6" presId="urn:microsoft.com/office/officeart/2005/8/layout/hList1"/>
    <dgm:cxn modelId="{B5B9A560-2BBE-43EB-B89C-F3640FB39B52}" type="presOf" srcId="{D581F944-7082-4DDC-87A3-1F65ED4E02AD}" destId="{C4FA08CE-10C2-417B-9D89-6D9126C5B99F}" srcOrd="0" destOrd="5" presId="urn:microsoft.com/office/officeart/2005/8/layout/hList1"/>
    <dgm:cxn modelId="{961CD062-F4E5-4BCD-9473-317BE14BEEBE}" type="presOf" srcId="{E3B16249-3BC2-4B96-BF7B-3130865F9AC6}" destId="{9E1D4FAE-7441-4CF5-8D7C-C65F3361EC88}" srcOrd="0" destOrd="0" presId="urn:microsoft.com/office/officeart/2005/8/layout/hList1"/>
    <dgm:cxn modelId="{F6073643-B959-48CB-A71E-6AFBDAF99677}" srcId="{FCB71BD6-AF4A-4900-AA1D-CDD612A0EC42}" destId="{9934256C-4D40-481D-97A7-6896AE423E43}" srcOrd="7" destOrd="0" parTransId="{A7B2FD7A-976D-43FB-BA65-766F76FE2FE5}" sibTransId="{66981164-DB54-4899-9D52-44D6C38B6A74}"/>
    <dgm:cxn modelId="{E0282044-74B0-400D-8A9B-D7FF63D9A00A}" srcId="{FCB71BD6-AF4A-4900-AA1D-CDD612A0EC42}" destId="{97621D55-5191-40D8-A26A-FB48DF506D8D}" srcOrd="6" destOrd="0" parTransId="{99F7875B-0092-457C-B28A-80411E10CD80}" sibTransId="{674E32EF-3085-472A-9D8E-ADEB9677F4C6}"/>
    <dgm:cxn modelId="{0A7C7A66-CACC-4EFB-8F99-FE39AD81C45B}" srcId="{031C28FA-885C-427B-849A-56CB54D5EEC6}" destId="{FCB71BD6-AF4A-4900-AA1D-CDD612A0EC42}" srcOrd="1" destOrd="0" parTransId="{2B617E87-8FE3-4500-8A43-76C94A6AAB4D}" sibTransId="{02CF2D2E-BF96-482A-B12F-5DB657AA95CC}"/>
    <dgm:cxn modelId="{E5084C6B-993F-4C2C-B51E-D34DEA47D6D2}" srcId="{D2C6F3D6-40D9-4DAC-830F-7C6C3B2F2F6E}" destId="{51A0BEA2-2E0E-4839-AADA-C58C83B6529F}" srcOrd="0" destOrd="0" parTransId="{7CEF3C8D-F971-4AE9-88D9-ADA9F71C0FB4}" sibTransId="{B28F9DC3-FFB6-4718-9EED-C8B88BECFC03}"/>
    <dgm:cxn modelId="{0AA1B94C-5B7A-4D3D-9EC6-F766CFBDDF37}" type="presOf" srcId="{031C28FA-885C-427B-849A-56CB54D5EEC6}" destId="{DD735444-804C-41C9-8C06-C583356030B4}" srcOrd="0" destOrd="0" presId="urn:microsoft.com/office/officeart/2005/8/layout/hList1"/>
    <dgm:cxn modelId="{E83B064D-A7B5-489A-983A-5E1958A4582B}" srcId="{D2C6F3D6-40D9-4DAC-830F-7C6C3B2F2F6E}" destId="{8755B637-E662-471E-B3CF-AC0AB10DB1D7}" srcOrd="11" destOrd="0" parTransId="{2E623921-7280-41DD-AF59-C16AD24907A9}" sibTransId="{5EED64FF-2071-499D-B7FE-D5FFC54D91F5}"/>
    <dgm:cxn modelId="{7260C24E-4554-45F2-AFC3-F0F12736BF51}" srcId="{FCB71BD6-AF4A-4900-AA1D-CDD612A0EC42}" destId="{A043F08F-63D9-4C82-AE15-7FDCB062143A}" srcOrd="4" destOrd="0" parTransId="{7A883CAB-85C3-4F27-A9C7-CC53EEDD6D80}" sibTransId="{455098CE-B54E-4201-9A4B-43B6AD78CA55}"/>
    <dgm:cxn modelId="{B4DD2F73-6247-4DBD-9C85-7BB81825718D}" srcId="{D2C6F3D6-40D9-4DAC-830F-7C6C3B2F2F6E}" destId="{8D2779EF-A7EB-4A38-B4B8-C9CFF125F379}" srcOrd="1" destOrd="0" parTransId="{45C45FE8-C9BC-466A-85D5-60DE49333767}" sibTransId="{D2F7E448-F2EE-4AB3-87FB-D79B8402954C}"/>
    <dgm:cxn modelId="{29036653-8731-4A00-A541-64AA1F216218}" type="presOf" srcId="{862B21B3-ABC4-4116-81CF-6D44CB9618E7}" destId="{C4FA08CE-10C2-417B-9D89-6D9126C5B99F}" srcOrd="0" destOrd="1" presId="urn:microsoft.com/office/officeart/2005/8/layout/hList1"/>
    <dgm:cxn modelId="{0039B958-D2B6-4F50-9C30-35480A851D08}" type="presOf" srcId="{9F40AAFC-1B02-43B4-BABC-FDB688A532D7}" destId="{7780C6EB-82F3-4B8C-82C4-BDF7E074BAB4}" srcOrd="0" destOrd="1" presId="urn:microsoft.com/office/officeart/2005/8/layout/hList1"/>
    <dgm:cxn modelId="{C7DF0C7B-2A42-4D16-9FAB-D045A7442F5B}" srcId="{FCB71BD6-AF4A-4900-AA1D-CDD612A0EC42}" destId="{F6D7DF58-1F02-413E-B899-65978C9BBF2A}" srcOrd="0" destOrd="0" parTransId="{5E49806F-BC0D-45C6-98AD-335AFB13A0E8}" sibTransId="{7D6CBAE3-8B21-49B7-99F7-4926857A72FE}"/>
    <dgm:cxn modelId="{91D3997C-F388-4764-8B86-8DDC3089B2C1}" srcId="{FCB71BD6-AF4A-4900-AA1D-CDD612A0EC42}" destId="{36D809D5-0B09-41BE-A67C-6ACF0A98735E}" srcOrd="3" destOrd="0" parTransId="{9EA72613-E4D3-4543-830F-2F05E56F8B1C}" sibTransId="{5A16A260-7921-49CC-BCFD-3521578380B4}"/>
    <dgm:cxn modelId="{EBF4D185-940C-447C-B9E7-A73A26D9BBBA}" type="presOf" srcId="{F1307775-070E-4859-B6C2-2A6EA5CDBE98}" destId="{440B4C54-86EF-4C04-8F43-D206D18D54F9}" srcOrd="0" destOrd="2" presId="urn:microsoft.com/office/officeart/2005/8/layout/hList1"/>
    <dgm:cxn modelId="{04D3C08F-62B4-4DD5-B281-BC948ABE6D54}" type="presOf" srcId="{A043F08F-63D9-4C82-AE15-7FDCB062143A}" destId="{C4FA08CE-10C2-417B-9D89-6D9126C5B99F}" srcOrd="0" destOrd="4" presId="urn:microsoft.com/office/officeart/2005/8/layout/hList1"/>
    <dgm:cxn modelId="{A70EE392-08ED-4D8C-9C44-18BAC3D341FC}" srcId="{031C28FA-885C-427B-849A-56CB54D5EEC6}" destId="{E3B16249-3BC2-4B96-BF7B-3130865F9AC6}" srcOrd="0" destOrd="0" parTransId="{AA588745-BACA-458B-8683-CBE3078A61E3}" sibTransId="{6339B279-A518-474F-BA94-788C02C1EDE8}"/>
    <dgm:cxn modelId="{2AC77393-40F4-4D17-9FBC-80AE4A9DA5CB}" srcId="{FCB71BD6-AF4A-4900-AA1D-CDD612A0EC42}" destId="{D581F944-7082-4DDC-87A3-1F65ED4E02AD}" srcOrd="5" destOrd="0" parTransId="{EA5E013B-344B-4BE3-B89B-B31A2B083851}" sibTransId="{C0ED57E8-9308-452D-A052-33C1EA5DF562}"/>
    <dgm:cxn modelId="{78C5AE96-56E5-4A27-9206-3FAA080214E5}" type="presOf" srcId="{D2C6F3D6-40D9-4DAC-830F-7C6C3B2F2F6E}" destId="{E2577BE7-02EE-4352-87A7-040A86170C87}" srcOrd="0" destOrd="0" presId="urn:microsoft.com/office/officeart/2005/8/layout/hList1"/>
    <dgm:cxn modelId="{A09432A5-1D3A-4796-9B99-3DE1CCFE6D71}" srcId="{D2C6F3D6-40D9-4DAC-830F-7C6C3B2F2F6E}" destId="{B4ACD40E-1D1A-4AC9-A823-EDF1BF593F9C}" srcOrd="3" destOrd="0" parTransId="{2D0E784A-A250-4733-8BF8-F9DFDC81DDC7}" sibTransId="{8B5E7D2F-E2EE-4A38-8A51-8E56CAE8C5A4}"/>
    <dgm:cxn modelId="{58E807AF-3212-415A-B920-CD08F747669A}" type="presOf" srcId="{9934256C-4D40-481D-97A7-6896AE423E43}" destId="{C4FA08CE-10C2-417B-9D89-6D9126C5B99F}" srcOrd="0" destOrd="7" presId="urn:microsoft.com/office/officeart/2005/8/layout/hList1"/>
    <dgm:cxn modelId="{9DC992C0-A12D-4746-8360-B9A5FCBAB909}" type="presOf" srcId="{36D809D5-0B09-41BE-A67C-6ACF0A98735E}" destId="{C4FA08CE-10C2-417B-9D89-6D9126C5B99F}" srcOrd="0" destOrd="3" presId="urn:microsoft.com/office/officeart/2005/8/layout/hList1"/>
    <dgm:cxn modelId="{5D128BC3-3648-411E-B272-E050B7A35B35}" srcId="{E3B16249-3BC2-4B96-BF7B-3130865F9AC6}" destId="{9F40AAFC-1B02-43B4-BABC-FDB688A532D7}" srcOrd="1" destOrd="0" parTransId="{99DC8BAC-92FF-4327-A74C-0D6519DFA896}" sibTransId="{DF9058B1-4666-45EB-9F01-2BA4033BDB9D}"/>
    <dgm:cxn modelId="{C00C64C7-B7C6-4AFC-A05D-831183D19598}" type="presOf" srcId="{51A0BEA2-2E0E-4839-AADA-C58C83B6529F}" destId="{440B4C54-86EF-4C04-8F43-D206D18D54F9}" srcOrd="0" destOrd="0" presId="urn:microsoft.com/office/officeart/2005/8/layout/hList1"/>
    <dgm:cxn modelId="{6F5CD8C8-C37A-47A3-8627-E695B5045C05}" type="presOf" srcId="{873E9D34-3900-413A-9D48-A6314D55322B}" destId="{440B4C54-86EF-4C04-8F43-D206D18D54F9}" srcOrd="0" destOrd="9" presId="urn:microsoft.com/office/officeart/2005/8/layout/hList1"/>
    <dgm:cxn modelId="{CB5A8DC9-4815-47A2-BEBF-483B104CC7B5}" srcId="{D2C6F3D6-40D9-4DAC-830F-7C6C3B2F2F6E}" destId="{5C7804CE-F494-4A2B-B6F7-C63F3B16349B}" srcOrd="4" destOrd="0" parTransId="{D194CFAE-C665-4651-A353-67AA45165190}" sibTransId="{2D4AA3D0-8C6E-405F-845F-0AB8204ED805}"/>
    <dgm:cxn modelId="{2ACBC9CA-8AB1-4037-BC78-807E78BCC6C9}" srcId="{D2C6F3D6-40D9-4DAC-830F-7C6C3B2F2F6E}" destId="{F1307775-070E-4859-B6C2-2A6EA5CDBE98}" srcOrd="2" destOrd="0" parTransId="{37400A1E-0337-4A63-B1B2-630B7A049A2E}" sibTransId="{41E5BB60-CCFF-4704-99D0-C88C77097D89}"/>
    <dgm:cxn modelId="{A9920CD3-80E9-48FE-9132-51486958147E}" type="presOf" srcId="{FCB71BD6-AF4A-4900-AA1D-CDD612A0EC42}" destId="{ABF0B1BD-C445-4D0F-8966-411C642DD885}" srcOrd="0" destOrd="0" presId="urn:microsoft.com/office/officeart/2005/8/layout/hList1"/>
    <dgm:cxn modelId="{DB904DD5-132A-420A-AB39-DBD7D3445045}" srcId="{D2C6F3D6-40D9-4DAC-830F-7C6C3B2F2F6E}" destId="{3D2B25C2-05BC-4E65-9CD6-E478ED9577ED}" srcOrd="5" destOrd="0" parTransId="{1C887917-FA79-4670-800A-55D6011427EF}" sibTransId="{CF39E63C-D302-4115-B6D3-B83182132C61}"/>
    <dgm:cxn modelId="{7345B4D6-961C-4A80-87E5-4C225DC8FC01}" srcId="{D2C6F3D6-40D9-4DAC-830F-7C6C3B2F2F6E}" destId="{929F3657-37D6-4B94-9101-4FFB6CDD8663}" srcOrd="10" destOrd="0" parTransId="{B6D257B2-D8CD-4AC4-872A-DACDBFB99BB6}" sibTransId="{464C2F9A-C132-4C93-9F25-882A44699583}"/>
    <dgm:cxn modelId="{02BDB8D9-4DBB-4B4C-8C17-9A41EE67587E}" type="presOf" srcId="{B4ACD40E-1D1A-4AC9-A823-EDF1BF593F9C}" destId="{440B4C54-86EF-4C04-8F43-D206D18D54F9}" srcOrd="0" destOrd="3" presId="urn:microsoft.com/office/officeart/2005/8/layout/hList1"/>
    <dgm:cxn modelId="{445435EC-887B-4BB6-BFA1-E7540C6E735D}" type="presOf" srcId="{3D2B25C2-05BC-4E65-9CD6-E478ED9577ED}" destId="{440B4C54-86EF-4C04-8F43-D206D18D54F9}" srcOrd="0" destOrd="5" presId="urn:microsoft.com/office/officeart/2005/8/layout/hList1"/>
    <dgm:cxn modelId="{190748ED-8ADC-4ABE-A9D7-150A9056AF4B}" srcId="{FCB71BD6-AF4A-4900-AA1D-CDD612A0EC42}" destId="{3C9ADB11-FA74-4059-AA6B-A1C19C11A679}" srcOrd="2" destOrd="0" parTransId="{C669D78A-C553-47AB-B81E-9D40DC015CF0}" sibTransId="{14460630-667D-4A89-97AC-BA5D735B4E13}"/>
    <dgm:cxn modelId="{34F505F1-BBBB-4FF0-8064-28338F1035EE}" srcId="{E3B16249-3BC2-4B96-BF7B-3130865F9AC6}" destId="{4FC52ACC-CDD5-4123-983D-1E44D1FC8FC7}" srcOrd="0" destOrd="0" parTransId="{3B6B22A1-C880-4F82-9FF6-3983B79FFEBD}" sibTransId="{8CA0668D-2B9F-4D34-BF88-52ED89E115DA}"/>
    <dgm:cxn modelId="{84BC8AF4-F5AC-4502-8B10-FF952BE7A2F6}" type="presOf" srcId="{4FC52ACC-CDD5-4123-983D-1E44D1FC8FC7}" destId="{7780C6EB-82F3-4B8C-82C4-BDF7E074BAB4}" srcOrd="0" destOrd="0" presId="urn:microsoft.com/office/officeart/2005/8/layout/hList1"/>
    <dgm:cxn modelId="{6D668CF9-B0EE-4E0E-AE27-27880FD72EFC}" type="presOf" srcId="{929F3657-37D6-4B94-9101-4FFB6CDD8663}" destId="{440B4C54-86EF-4C04-8F43-D206D18D54F9}" srcOrd="0" destOrd="10" presId="urn:microsoft.com/office/officeart/2005/8/layout/hList1"/>
    <dgm:cxn modelId="{FE6226FD-F8B0-4FF0-848E-6B1D2039FF2F}" type="presOf" srcId="{5C7804CE-F494-4A2B-B6F7-C63F3B16349B}" destId="{440B4C54-86EF-4C04-8F43-D206D18D54F9}" srcOrd="0" destOrd="4" presId="urn:microsoft.com/office/officeart/2005/8/layout/hList1"/>
    <dgm:cxn modelId="{049F0BFF-AF41-42EA-9B03-ED03D9D10F89}" srcId="{D2C6F3D6-40D9-4DAC-830F-7C6C3B2F2F6E}" destId="{873E9D34-3900-413A-9D48-A6314D55322B}" srcOrd="9" destOrd="0" parTransId="{6EF6146C-55F9-44D9-B904-D50204F345F7}" sibTransId="{695CD58B-9AD0-4D80-B914-BFFB152C94A6}"/>
    <dgm:cxn modelId="{A5405EC6-11FC-4A99-9047-F9F620C03CB2}" type="presParOf" srcId="{DD735444-804C-41C9-8C06-C583356030B4}" destId="{543A19C6-8603-4F43-961F-4D8C2C09857D}" srcOrd="0" destOrd="0" presId="urn:microsoft.com/office/officeart/2005/8/layout/hList1"/>
    <dgm:cxn modelId="{F20D5003-BE35-48A4-9832-3BA3B495DD7E}" type="presParOf" srcId="{543A19C6-8603-4F43-961F-4D8C2C09857D}" destId="{9E1D4FAE-7441-4CF5-8D7C-C65F3361EC88}" srcOrd="0" destOrd="0" presId="urn:microsoft.com/office/officeart/2005/8/layout/hList1"/>
    <dgm:cxn modelId="{3C3990A3-B9A1-4968-B59E-FEBB46871D21}" type="presParOf" srcId="{543A19C6-8603-4F43-961F-4D8C2C09857D}" destId="{7780C6EB-82F3-4B8C-82C4-BDF7E074BAB4}" srcOrd="1" destOrd="0" presId="urn:microsoft.com/office/officeart/2005/8/layout/hList1"/>
    <dgm:cxn modelId="{60B44A9C-2B3A-4285-8163-B5AD087C5CFE}" type="presParOf" srcId="{DD735444-804C-41C9-8C06-C583356030B4}" destId="{CB94B23B-1377-4B1C-90CD-69FF8F378A7E}" srcOrd="1" destOrd="0" presId="urn:microsoft.com/office/officeart/2005/8/layout/hList1"/>
    <dgm:cxn modelId="{AAD7132A-05A9-4641-87D6-2B9A44BBA359}" type="presParOf" srcId="{DD735444-804C-41C9-8C06-C583356030B4}" destId="{D7821683-5B40-4DE5-B0E9-47104EFDE53C}" srcOrd="2" destOrd="0" presId="urn:microsoft.com/office/officeart/2005/8/layout/hList1"/>
    <dgm:cxn modelId="{B4D97D51-AAD2-4631-940C-73056B95B4AB}" type="presParOf" srcId="{D7821683-5B40-4DE5-B0E9-47104EFDE53C}" destId="{ABF0B1BD-C445-4D0F-8966-411C642DD885}" srcOrd="0" destOrd="0" presId="urn:microsoft.com/office/officeart/2005/8/layout/hList1"/>
    <dgm:cxn modelId="{60B0CB07-591F-4F43-8044-01A075ACA2F3}" type="presParOf" srcId="{D7821683-5B40-4DE5-B0E9-47104EFDE53C}" destId="{C4FA08CE-10C2-417B-9D89-6D9126C5B99F}" srcOrd="1" destOrd="0" presId="urn:microsoft.com/office/officeart/2005/8/layout/hList1"/>
    <dgm:cxn modelId="{3A3D9620-6DB0-48E2-8A22-4A7812C9545D}" type="presParOf" srcId="{DD735444-804C-41C9-8C06-C583356030B4}" destId="{9417C27C-4CAA-4330-9E04-0583DD553527}" srcOrd="3" destOrd="0" presId="urn:microsoft.com/office/officeart/2005/8/layout/hList1"/>
    <dgm:cxn modelId="{9A3C5906-707B-429C-92D1-E17F066286A2}" type="presParOf" srcId="{DD735444-804C-41C9-8C06-C583356030B4}" destId="{264E810C-D28C-4752-BFD0-382118592A3F}" srcOrd="4" destOrd="0" presId="urn:microsoft.com/office/officeart/2005/8/layout/hList1"/>
    <dgm:cxn modelId="{AF6B27FA-D9C5-4D6D-A0E6-6D81E1D2B980}" type="presParOf" srcId="{264E810C-D28C-4752-BFD0-382118592A3F}" destId="{E2577BE7-02EE-4352-87A7-040A86170C87}" srcOrd="0" destOrd="0" presId="urn:microsoft.com/office/officeart/2005/8/layout/hList1"/>
    <dgm:cxn modelId="{D6C0B633-2311-4906-9B03-8054E36D9B5A}" type="presParOf" srcId="{264E810C-D28C-4752-BFD0-382118592A3F}" destId="{440B4C54-86EF-4C04-8F43-D206D18D54F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4DF1DBB-7D9E-4AB7-8BD4-14899CF6D18C}" type="doc">
      <dgm:prSet loTypeId="urn:microsoft.com/office/officeart/2005/8/layout/arrow5" loCatId="process" qsTypeId="urn:microsoft.com/office/officeart/2005/8/quickstyle/3d1" qsCatId="3D" csTypeId="urn:microsoft.com/office/officeart/2005/8/colors/accent1_2" csCatId="accent1" phldr="1"/>
      <dgm:spPr/>
      <dgm:t>
        <a:bodyPr/>
        <a:lstStyle/>
        <a:p>
          <a:endParaRPr lang="en-ID"/>
        </a:p>
      </dgm:t>
    </dgm:pt>
    <dgm:pt modelId="{9FF8CE5D-1270-4467-B4FC-A2F2D62415ED}">
      <dgm:prSet phldrT="[Text]"/>
      <dgm:spPr/>
      <dgm:t>
        <a:bodyPr/>
        <a:lstStyle/>
        <a:p>
          <a:r>
            <a:rPr lang="en-US" dirty="0"/>
            <a:t>Explosive</a:t>
          </a:r>
          <a:endParaRPr lang="en-ID" dirty="0"/>
        </a:p>
      </dgm:t>
    </dgm:pt>
    <dgm:pt modelId="{D39BAEA5-3C3C-417A-BF2B-EC4290400A50}" type="parTrans" cxnId="{A7272368-B953-4869-8079-2051BE6674C6}">
      <dgm:prSet/>
      <dgm:spPr/>
      <dgm:t>
        <a:bodyPr/>
        <a:lstStyle/>
        <a:p>
          <a:endParaRPr lang="en-ID"/>
        </a:p>
      </dgm:t>
    </dgm:pt>
    <dgm:pt modelId="{DBB971DB-3798-44C4-8FF1-305A5E03D179}" type="sibTrans" cxnId="{A7272368-B953-4869-8079-2051BE6674C6}">
      <dgm:prSet/>
      <dgm:spPr/>
      <dgm:t>
        <a:bodyPr/>
        <a:lstStyle/>
        <a:p>
          <a:endParaRPr lang="en-ID"/>
        </a:p>
      </dgm:t>
    </dgm:pt>
    <dgm:pt modelId="{2F5E003D-B150-42BD-BBCE-F9F38B91E614}">
      <dgm:prSet phldrT="[Text]"/>
      <dgm:spPr/>
      <dgm:t>
        <a:bodyPr/>
        <a:lstStyle/>
        <a:p>
          <a:r>
            <a:rPr lang="en-US" dirty="0"/>
            <a:t>Pipe Cutter</a:t>
          </a:r>
          <a:endParaRPr lang="en-ID" dirty="0"/>
        </a:p>
      </dgm:t>
    </dgm:pt>
    <dgm:pt modelId="{A8175A1B-3DD4-484B-93B3-69181AB3E86D}" type="parTrans" cxnId="{4BB44D89-4771-45A8-8C0F-AB78D6B54206}">
      <dgm:prSet/>
      <dgm:spPr/>
      <dgm:t>
        <a:bodyPr/>
        <a:lstStyle/>
        <a:p>
          <a:endParaRPr lang="en-ID"/>
        </a:p>
      </dgm:t>
    </dgm:pt>
    <dgm:pt modelId="{50B24FDD-EDED-4468-8474-2FDF385031DD}" type="sibTrans" cxnId="{4BB44D89-4771-45A8-8C0F-AB78D6B54206}">
      <dgm:prSet/>
      <dgm:spPr/>
      <dgm:t>
        <a:bodyPr/>
        <a:lstStyle/>
        <a:p>
          <a:endParaRPr lang="en-ID"/>
        </a:p>
      </dgm:t>
    </dgm:pt>
    <dgm:pt modelId="{44CE5F45-9069-4636-9B22-895DCDE2F861}" type="pres">
      <dgm:prSet presAssocID="{04DF1DBB-7D9E-4AB7-8BD4-14899CF6D18C}" presName="diagram" presStyleCnt="0">
        <dgm:presLayoutVars>
          <dgm:dir/>
          <dgm:resizeHandles val="exact"/>
        </dgm:presLayoutVars>
      </dgm:prSet>
      <dgm:spPr/>
    </dgm:pt>
    <dgm:pt modelId="{51C45ADB-C25F-4FDC-ACCD-FB3552E03D01}" type="pres">
      <dgm:prSet presAssocID="{9FF8CE5D-1270-4467-B4FC-A2F2D62415ED}" presName="arrow" presStyleLbl="node1" presStyleIdx="0" presStyleCnt="2">
        <dgm:presLayoutVars>
          <dgm:bulletEnabled val="1"/>
        </dgm:presLayoutVars>
      </dgm:prSet>
      <dgm:spPr/>
    </dgm:pt>
    <dgm:pt modelId="{E2850CCD-3F4F-4D01-A33C-84FB4EC51E75}" type="pres">
      <dgm:prSet presAssocID="{2F5E003D-B150-42BD-BBCE-F9F38B91E614}" presName="arrow" presStyleLbl="node1" presStyleIdx="1" presStyleCnt="2">
        <dgm:presLayoutVars>
          <dgm:bulletEnabled val="1"/>
        </dgm:presLayoutVars>
      </dgm:prSet>
      <dgm:spPr/>
    </dgm:pt>
  </dgm:ptLst>
  <dgm:cxnLst>
    <dgm:cxn modelId="{11B86D1E-02BA-4382-84AA-4B5605AE12E9}" type="presOf" srcId="{2F5E003D-B150-42BD-BBCE-F9F38B91E614}" destId="{E2850CCD-3F4F-4D01-A33C-84FB4EC51E75}" srcOrd="0" destOrd="0" presId="urn:microsoft.com/office/officeart/2005/8/layout/arrow5"/>
    <dgm:cxn modelId="{F63D3A3D-32EE-42B6-93FB-80D93326FAEA}" type="presOf" srcId="{04DF1DBB-7D9E-4AB7-8BD4-14899CF6D18C}" destId="{44CE5F45-9069-4636-9B22-895DCDE2F861}" srcOrd="0" destOrd="0" presId="urn:microsoft.com/office/officeart/2005/8/layout/arrow5"/>
    <dgm:cxn modelId="{A7272368-B953-4869-8079-2051BE6674C6}" srcId="{04DF1DBB-7D9E-4AB7-8BD4-14899CF6D18C}" destId="{9FF8CE5D-1270-4467-B4FC-A2F2D62415ED}" srcOrd="0" destOrd="0" parTransId="{D39BAEA5-3C3C-417A-BF2B-EC4290400A50}" sibTransId="{DBB971DB-3798-44C4-8FF1-305A5E03D179}"/>
    <dgm:cxn modelId="{4BB44D89-4771-45A8-8C0F-AB78D6B54206}" srcId="{04DF1DBB-7D9E-4AB7-8BD4-14899CF6D18C}" destId="{2F5E003D-B150-42BD-BBCE-F9F38B91E614}" srcOrd="1" destOrd="0" parTransId="{A8175A1B-3DD4-484B-93B3-69181AB3E86D}" sibTransId="{50B24FDD-EDED-4468-8474-2FDF385031DD}"/>
    <dgm:cxn modelId="{87900A92-F0DC-40AF-9D4E-1900580ECE69}" type="presOf" srcId="{9FF8CE5D-1270-4467-B4FC-A2F2D62415ED}" destId="{51C45ADB-C25F-4FDC-ACCD-FB3552E03D01}" srcOrd="0" destOrd="0" presId="urn:microsoft.com/office/officeart/2005/8/layout/arrow5"/>
    <dgm:cxn modelId="{21EFDE5C-B069-44D0-9348-7DF280E59A65}" type="presParOf" srcId="{44CE5F45-9069-4636-9B22-895DCDE2F861}" destId="{51C45ADB-C25F-4FDC-ACCD-FB3552E03D01}" srcOrd="0" destOrd="0" presId="urn:microsoft.com/office/officeart/2005/8/layout/arrow5"/>
    <dgm:cxn modelId="{B7B60959-60EB-4CE7-804E-D209F9FE6086}" type="presParOf" srcId="{44CE5F45-9069-4636-9B22-895DCDE2F861}" destId="{E2850CCD-3F4F-4D01-A33C-84FB4EC51E75}"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4DF1DBB-7D9E-4AB7-8BD4-14899CF6D18C}" type="doc">
      <dgm:prSet loTypeId="urn:microsoft.com/office/officeart/2005/8/layout/arrow5" loCatId="process" qsTypeId="urn:microsoft.com/office/officeart/2005/8/quickstyle/3d1" qsCatId="3D" csTypeId="urn:microsoft.com/office/officeart/2005/8/colors/accent1_2" csCatId="accent1" phldr="1"/>
      <dgm:spPr/>
      <dgm:t>
        <a:bodyPr/>
        <a:lstStyle/>
        <a:p>
          <a:endParaRPr lang="en-ID"/>
        </a:p>
      </dgm:t>
    </dgm:pt>
    <dgm:pt modelId="{9FF8CE5D-1270-4467-B4FC-A2F2D62415ED}">
      <dgm:prSet phldrT="[Text]"/>
      <dgm:spPr/>
      <dgm:t>
        <a:bodyPr/>
        <a:lstStyle/>
        <a:p>
          <a:r>
            <a:rPr lang="en-US" dirty="0"/>
            <a:t>Explosive</a:t>
          </a:r>
          <a:endParaRPr lang="en-ID" dirty="0"/>
        </a:p>
      </dgm:t>
    </dgm:pt>
    <dgm:pt modelId="{D39BAEA5-3C3C-417A-BF2B-EC4290400A50}" type="parTrans" cxnId="{A7272368-B953-4869-8079-2051BE6674C6}">
      <dgm:prSet/>
      <dgm:spPr/>
      <dgm:t>
        <a:bodyPr/>
        <a:lstStyle/>
        <a:p>
          <a:endParaRPr lang="en-ID"/>
        </a:p>
      </dgm:t>
    </dgm:pt>
    <dgm:pt modelId="{DBB971DB-3798-44C4-8FF1-305A5E03D179}" type="sibTrans" cxnId="{A7272368-B953-4869-8079-2051BE6674C6}">
      <dgm:prSet/>
      <dgm:spPr/>
      <dgm:t>
        <a:bodyPr/>
        <a:lstStyle/>
        <a:p>
          <a:endParaRPr lang="en-ID"/>
        </a:p>
      </dgm:t>
    </dgm:pt>
    <dgm:pt modelId="{2F5E003D-B150-42BD-BBCE-F9F38B91E614}">
      <dgm:prSet phldrT="[Text]"/>
      <dgm:spPr/>
      <dgm:t>
        <a:bodyPr/>
        <a:lstStyle/>
        <a:p>
          <a:r>
            <a:rPr lang="en-US" dirty="0"/>
            <a:t>Pipe Cutter</a:t>
          </a:r>
          <a:endParaRPr lang="en-ID" dirty="0"/>
        </a:p>
      </dgm:t>
    </dgm:pt>
    <dgm:pt modelId="{A8175A1B-3DD4-484B-93B3-69181AB3E86D}" type="parTrans" cxnId="{4BB44D89-4771-45A8-8C0F-AB78D6B54206}">
      <dgm:prSet/>
      <dgm:spPr/>
      <dgm:t>
        <a:bodyPr/>
        <a:lstStyle/>
        <a:p>
          <a:endParaRPr lang="en-ID"/>
        </a:p>
      </dgm:t>
    </dgm:pt>
    <dgm:pt modelId="{50B24FDD-EDED-4468-8474-2FDF385031DD}" type="sibTrans" cxnId="{4BB44D89-4771-45A8-8C0F-AB78D6B54206}">
      <dgm:prSet/>
      <dgm:spPr/>
      <dgm:t>
        <a:bodyPr/>
        <a:lstStyle/>
        <a:p>
          <a:endParaRPr lang="en-ID"/>
        </a:p>
      </dgm:t>
    </dgm:pt>
    <dgm:pt modelId="{44CE5F45-9069-4636-9B22-895DCDE2F861}" type="pres">
      <dgm:prSet presAssocID="{04DF1DBB-7D9E-4AB7-8BD4-14899CF6D18C}" presName="diagram" presStyleCnt="0">
        <dgm:presLayoutVars>
          <dgm:dir/>
          <dgm:resizeHandles val="exact"/>
        </dgm:presLayoutVars>
      </dgm:prSet>
      <dgm:spPr/>
    </dgm:pt>
    <dgm:pt modelId="{51C45ADB-C25F-4FDC-ACCD-FB3552E03D01}" type="pres">
      <dgm:prSet presAssocID="{9FF8CE5D-1270-4467-B4FC-A2F2D62415ED}" presName="arrow" presStyleLbl="node1" presStyleIdx="0" presStyleCnt="2">
        <dgm:presLayoutVars>
          <dgm:bulletEnabled val="1"/>
        </dgm:presLayoutVars>
      </dgm:prSet>
      <dgm:spPr/>
    </dgm:pt>
    <dgm:pt modelId="{E2850CCD-3F4F-4D01-A33C-84FB4EC51E75}" type="pres">
      <dgm:prSet presAssocID="{2F5E003D-B150-42BD-BBCE-F9F38B91E614}" presName="arrow" presStyleLbl="node1" presStyleIdx="1" presStyleCnt="2">
        <dgm:presLayoutVars>
          <dgm:bulletEnabled val="1"/>
        </dgm:presLayoutVars>
      </dgm:prSet>
      <dgm:spPr/>
    </dgm:pt>
  </dgm:ptLst>
  <dgm:cxnLst>
    <dgm:cxn modelId="{11B86D1E-02BA-4382-84AA-4B5605AE12E9}" type="presOf" srcId="{2F5E003D-B150-42BD-BBCE-F9F38B91E614}" destId="{E2850CCD-3F4F-4D01-A33C-84FB4EC51E75}" srcOrd="0" destOrd="0" presId="urn:microsoft.com/office/officeart/2005/8/layout/arrow5"/>
    <dgm:cxn modelId="{F63D3A3D-32EE-42B6-93FB-80D93326FAEA}" type="presOf" srcId="{04DF1DBB-7D9E-4AB7-8BD4-14899CF6D18C}" destId="{44CE5F45-9069-4636-9B22-895DCDE2F861}" srcOrd="0" destOrd="0" presId="urn:microsoft.com/office/officeart/2005/8/layout/arrow5"/>
    <dgm:cxn modelId="{A7272368-B953-4869-8079-2051BE6674C6}" srcId="{04DF1DBB-7D9E-4AB7-8BD4-14899CF6D18C}" destId="{9FF8CE5D-1270-4467-B4FC-A2F2D62415ED}" srcOrd="0" destOrd="0" parTransId="{D39BAEA5-3C3C-417A-BF2B-EC4290400A50}" sibTransId="{DBB971DB-3798-44C4-8FF1-305A5E03D179}"/>
    <dgm:cxn modelId="{4BB44D89-4771-45A8-8C0F-AB78D6B54206}" srcId="{04DF1DBB-7D9E-4AB7-8BD4-14899CF6D18C}" destId="{2F5E003D-B150-42BD-BBCE-F9F38B91E614}" srcOrd="1" destOrd="0" parTransId="{A8175A1B-3DD4-484B-93B3-69181AB3E86D}" sibTransId="{50B24FDD-EDED-4468-8474-2FDF385031DD}"/>
    <dgm:cxn modelId="{87900A92-F0DC-40AF-9D4E-1900580ECE69}" type="presOf" srcId="{9FF8CE5D-1270-4467-B4FC-A2F2D62415ED}" destId="{51C45ADB-C25F-4FDC-ACCD-FB3552E03D01}" srcOrd="0" destOrd="0" presId="urn:microsoft.com/office/officeart/2005/8/layout/arrow5"/>
    <dgm:cxn modelId="{21EFDE5C-B069-44D0-9348-7DF280E59A65}" type="presParOf" srcId="{44CE5F45-9069-4636-9B22-895DCDE2F861}" destId="{51C45ADB-C25F-4FDC-ACCD-FB3552E03D01}" srcOrd="0" destOrd="0" presId="urn:microsoft.com/office/officeart/2005/8/layout/arrow5"/>
    <dgm:cxn modelId="{B7B60959-60EB-4CE7-804E-D209F9FE6086}" type="presParOf" srcId="{44CE5F45-9069-4636-9B22-895DCDE2F861}" destId="{E2850CCD-3F4F-4D01-A33C-84FB4EC51E75}"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961E40C-58BA-4CE3-8E40-65ED5607DD38}" type="doc">
      <dgm:prSet loTypeId="urn:microsoft.com/office/officeart/2011/layout/HexagonRadial" loCatId="officeonline" qsTypeId="urn:microsoft.com/office/officeart/2005/8/quickstyle/simple1" qsCatId="simple" csTypeId="urn:microsoft.com/office/officeart/2005/8/colors/accent1_2" csCatId="accent1" phldr="1"/>
      <dgm:spPr/>
      <dgm:t>
        <a:bodyPr/>
        <a:lstStyle/>
        <a:p>
          <a:endParaRPr lang="en-US"/>
        </a:p>
      </dgm:t>
    </dgm:pt>
    <dgm:pt modelId="{BE131F6D-696F-4282-96A3-4D712D177193}">
      <dgm:prSet phldrT="[Text]" custT="1"/>
      <dgm:spPr/>
      <dgm:t>
        <a:bodyPr/>
        <a:lstStyle/>
        <a:p>
          <a:r>
            <a:rPr lang="en-US" sz="2600" b="1" dirty="0"/>
            <a:t>Drilling</a:t>
          </a:r>
        </a:p>
      </dgm:t>
    </dgm:pt>
    <dgm:pt modelId="{03C246FE-E48D-4262-B4D9-0C6020FADB90}" type="parTrans" cxnId="{069E7D08-B9D2-4CA2-B42B-DB4837CBA0EA}">
      <dgm:prSet/>
      <dgm:spPr/>
      <dgm:t>
        <a:bodyPr/>
        <a:lstStyle/>
        <a:p>
          <a:endParaRPr lang="en-US"/>
        </a:p>
      </dgm:t>
    </dgm:pt>
    <dgm:pt modelId="{4091D715-64B7-4267-A179-4292E646ABEE}" type="sibTrans" cxnId="{069E7D08-B9D2-4CA2-B42B-DB4837CBA0EA}">
      <dgm:prSet/>
      <dgm:spPr/>
      <dgm:t>
        <a:bodyPr/>
        <a:lstStyle/>
        <a:p>
          <a:endParaRPr lang="en-US"/>
        </a:p>
      </dgm:t>
    </dgm:pt>
    <dgm:pt modelId="{C1135DD4-F995-4A0D-8E66-01A9CBE984CF}">
      <dgm:prSet phldrT="[Text]" custT="1"/>
      <dgm:spPr>
        <a:blipFill rotWithShape="0">
          <a:blip xmlns:r="http://schemas.openxmlformats.org/officeDocument/2006/relationships" r:embed="rId1"/>
          <a:stretch>
            <a:fillRect/>
          </a:stretch>
        </a:blipFill>
      </dgm:spPr>
      <dgm:t>
        <a:bodyPr/>
        <a:lstStyle/>
        <a:p>
          <a:r>
            <a:rPr lang="en-US" sz="3200" b="1" dirty="0"/>
            <a:t>Rig</a:t>
          </a:r>
        </a:p>
      </dgm:t>
    </dgm:pt>
    <dgm:pt modelId="{227F28CA-945E-4D5E-A476-627EEF20DCF9}" type="parTrans" cxnId="{AD071EBD-7735-4B6F-B7A3-419D97D99EF0}">
      <dgm:prSet/>
      <dgm:spPr/>
      <dgm:t>
        <a:bodyPr/>
        <a:lstStyle/>
        <a:p>
          <a:endParaRPr lang="en-US"/>
        </a:p>
      </dgm:t>
    </dgm:pt>
    <dgm:pt modelId="{9C7A6E42-6F3E-4F8E-A482-E8F991372F09}" type="sibTrans" cxnId="{AD071EBD-7735-4B6F-B7A3-419D97D99EF0}">
      <dgm:prSet/>
      <dgm:spPr/>
      <dgm:t>
        <a:bodyPr/>
        <a:lstStyle/>
        <a:p>
          <a:endParaRPr lang="en-US"/>
        </a:p>
      </dgm:t>
    </dgm:pt>
    <dgm:pt modelId="{42C5F599-F838-4489-8783-C460516D78BA}">
      <dgm:prSet phldrT="[Text]" custT="1"/>
      <dgm:spPr>
        <a:blipFill rotWithShape="0">
          <a:blip xmlns:r="http://schemas.openxmlformats.org/officeDocument/2006/relationships" r:embed="rId2"/>
          <a:stretch>
            <a:fillRect/>
          </a:stretch>
        </a:blipFill>
      </dgm:spPr>
      <dgm:t>
        <a:bodyPr/>
        <a:lstStyle/>
        <a:p>
          <a:r>
            <a:rPr lang="en-US" sz="1600" b="1" dirty="0">
              <a:solidFill>
                <a:srgbClr val="002060"/>
              </a:solidFill>
            </a:rPr>
            <a:t>DD/MWD</a:t>
          </a:r>
        </a:p>
      </dgm:t>
    </dgm:pt>
    <dgm:pt modelId="{A63CB17B-2AD1-4D65-9090-FB691D0A4A05}" type="parTrans" cxnId="{C4B6EEEF-FE46-47D0-B8F6-86AF6976A196}">
      <dgm:prSet/>
      <dgm:spPr/>
      <dgm:t>
        <a:bodyPr/>
        <a:lstStyle/>
        <a:p>
          <a:endParaRPr lang="en-US"/>
        </a:p>
      </dgm:t>
    </dgm:pt>
    <dgm:pt modelId="{13EC63A0-963F-4FCA-889B-2E965AB39970}" type="sibTrans" cxnId="{C4B6EEEF-FE46-47D0-B8F6-86AF6976A196}">
      <dgm:prSet/>
      <dgm:spPr/>
      <dgm:t>
        <a:bodyPr/>
        <a:lstStyle/>
        <a:p>
          <a:endParaRPr lang="en-US"/>
        </a:p>
      </dgm:t>
    </dgm:pt>
    <dgm:pt modelId="{2C65E999-8AE7-4B0E-A3FE-0B5CC0A24B9D}">
      <dgm:prSet phldrT="[Text]" custT="1"/>
      <dgm:spPr>
        <a:blipFill rotWithShape="0">
          <a:blip xmlns:r="http://schemas.openxmlformats.org/officeDocument/2006/relationships" r:embed="rId3"/>
          <a:stretch>
            <a:fillRect/>
          </a:stretch>
        </a:blipFill>
      </dgm:spPr>
      <dgm:t>
        <a:bodyPr/>
        <a:lstStyle/>
        <a:p>
          <a:r>
            <a:rPr lang="en-US" sz="1400" b="1" dirty="0">
              <a:solidFill>
                <a:srgbClr val="FFFF99"/>
              </a:solidFill>
            </a:rPr>
            <a:t>Cementing</a:t>
          </a:r>
        </a:p>
      </dgm:t>
    </dgm:pt>
    <dgm:pt modelId="{FEB0FA15-BE25-41E8-AFB3-346886D8EA86}" type="parTrans" cxnId="{72B5C8FB-69C5-4ABD-B76F-A0F967D8CBEE}">
      <dgm:prSet/>
      <dgm:spPr/>
      <dgm:t>
        <a:bodyPr/>
        <a:lstStyle/>
        <a:p>
          <a:endParaRPr lang="en-US"/>
        </a:p>
      </dgm:t>
    </dgm:pt>
    <dgm:pt modelId="{3D87046A-8E16-4A73-B913-9D4634E52972}" type="sibTrans" cxnId="{72B5C8FB-69C5-4ABD-B76F-A0F967D8CBEE}">
      <dgm:prSet/>
      <dgm:spPr/>
      <dgm:t>
        <a:bodyPr/>
        <a:lstStyle/>
        <a:p>
          <a:endParaRPr lang="en-US"/>
        </a:p>
      </dgm:t>
    </dgm:pt>
    <dgm:pt modelId="{4A3C3BCB-55FB-4FC5-A62C-177A5A4ABF9F}">
      <dgm:prSet phldrT="[Text]" custT="1"/>
      <dgm:spPr>
        <a:blipFill rotWithShape="0">
          <a:blip xmlns:r="http://schemas.openxmlformats.org/officeDocument/2006/relationships" r:embed="rId4"/>
          <a:stretch>
            <a:fillRect/>
          </a:stretch>
        </a:blipFill>
      </dgm:spPr>
      <dgm:t>
        <a:bodyPr/>
        <a:lstStyle/>
        <a:p>
          <a:r>
            <a:rPr lang="en-US" sz="1800" b="1" dirty="0">
              <a:solidFill>
                <a:srgbClr val="FFFF99"/>
              </a:solidFill>
            </a:rPr>
            <a:t>Mud Logging</a:t>
          </a:r>
        </a:p>
      </dgm:t>
    </dgm:pt>
    <dgm:pt modelId="{8FD0BB3C-048A-4239-A19F-2A90A8D01315}" type="parTrans" cxnId="{D59212F8-4AA0-421D-8079-F328A9A72DF1}">
      <dgm:prSet/>
      <dgm:spPr/>
      <dgm:t>
        <a:bodyPr/>
        <a:lstStyle/>
        <a:p>
          <a:endParaRPr lang="en-US"/>
        </a:p>
      </dgm:t>
    </dgm:pt>
    <dgm:pt modelId="{6E90677A-0EFD-4D69-8DF4-115CFA2109A0}" type="sibTrans" cxnId="{D59212F8-4AA0-421D-8079-F328A9A72DF1}">
      <dgm:prSet/>
      <dgm:spPr/>
      <dgm:t>
        <a:bodyPr/>
        <a:lstStyle/>
        <a:p>
          <a:endParaRPr lang="en-US"/>
        </a:p>
      </dgm:t>
    </dgm:pt>
    <dgm:pt modelId="{7B39567B-D680-47B9-876B-64173A3E868C}">
      <dgm:prSet phldrT="[Text]" custT="1"/>
      <dgm:spPr>
        <a:blipFill rotWithShape="0">
          <a:blip xmlns:r="http://schemas.openxmlformats.org/officeDocument/2006/relationships" r:embed="rId5"/>
          <a:stretch>
            <a:fillRect/>
          </a:stretch>
        </a:blipFill>
      </dgm:spPr>
      <dgm:t>
        <a:bodyPr/>
        <a:lstStyle/>
        <a:p>
          <a:r>
            <a:rPr lang="en-US" sz="1600" b="1" dirty="0">
              <a:solidFill>
                <a:srgbClr val="FFFFFF"/>
              </a:solidFill>
            </a:rPr>
            <a:t>Casing Handling</a:t>
          </a:r>
        </a:p>
      </dgm:t>
    </dgm:pt>
    <dgm:pt modelId="{067B6512-CF11-49C2-BBE6-FA90A3AC4FE9}" type="parTrans" cxnId="{C0E72268-82DA-4B3E-80CF-60D42F7DBBAC}">
      <dgm:prSet/>
      <dgm:spPr/>
      <dgm:t>
        <a:bodyPr/>
        <a:lstStyle/>
        <a:p>
          <a:endParaRPr lang="en-US"/>
        </a:p>
      </dgm:t>
    </dgm:pt>
    <dgm:pt modelId="{81C0CE5A-28DA-45B9-8AC5-C52A82F04D64}" type="sibTrans" cxnId="{C0E72268-82DA-4B3E-80CF-60D42F7DBBAC}">
      <dgm:prSet/>
      <dgm:spPr/>
      <dgm:t>
        <a:bodyPr/>
        <a:lstStyle/>
        <a:p>
          <a:endParaRPr lang="en-US"/>
        </a:p>
      </dgm:t>
    </dgm:pt>
    <dgm:pt modelId="{9BDA2FC1-4A41-40CE-A4F4-27F9850B0D30}">
      <dgm:prSet phldrT="[Text]" custT="1"/>
      <dgm:spPr>
        <a:blipFill rotWithShape="0">
          <a:blip xmlns:r="http://schemas.openxmlformats.org/officeDocument/2006/relationships" r:embed="rId6"/>
          <a:stretch>
            <a:fillRect/>
          </a:stretch>
        </a:blipFill>
      </dgm:spPr>
      <dgm:t>
        <a:bodyPr/>
        <a:lstStyle/>
        <a:p>
          <a:r>
            <a:rPr lang="en-US" sz="3200" b="1" dirty="0">
              <a:solidFill>
                <a:srgbClr val="FFFF99"/>
              </a:solidFill>
            </a:rPr>
            <a:t>Mud</a:t>
          </a:r>
        </a:p>
      </dgm:t>
    </dgm:pt>
    <dgm:pt modelId="{EBCB06FE-F6E2-4A8D-87A7-A808D397A765}" type="parTrans" cxnId="{A42729E9-2E13-4A78-B185-4112D30D3FBE}">
      <dgm:prSet/>
      <dgm:spPr/>
      <dgm:t>
        <a:bodyPr/>
        <a:lstStyle/>
        <a:p>
          <a:endParaRPr lang="en-US"/>
        </a:p>
      </dgm:t>
    </dgm:pt>
    <dgm:pt modelId="{6AB9848F-5B09-4EC8-AF09-3554343668DC}" type="sibTrans" cxnId="{A42729E9-2E13-4A78-B185-4112D30D3FBE}">
      <dgm:prSet/>
      <dgm:spPr/>
      <dgm:t>
        <a:bodyPr/>
        <a:lstStyle/>
        <a:p>
          <a:endParaRPr lang="en-US"/>
        </a:p>
      </dgm:t>
    </dgm:pt>
    <dgm:pt modelId="{62F73C0F-12AF-4B4D-B34F-D8E787005044}">
      <dgm:prSet phldrT="[Text]"/>
      <dgm:spPr/>
      <dgm:t>
        <a:bodyPr/>
        <a:lstStyle/>
        <a:p>
          <a:endParaRPr lang="en-US"/>
        </a:p>
      </dgm:t>
    </dgm:pt>
    <dgm:pt modelId="{D0BFE204-849F-4945-BFDC-3A9E2F185418}" type="parTrans" cxnId="{5BB40118-0626-458C-9390-618237D4E94A}">
      <dgm:prSet/>
      <dgm:spPr/>
      <dgm:t>
        <a:bodyPr/>
        <a:lstStyle/>
        <a:p>
          <a:endParaRPr lang="en-US"/>
        </a:p>
      </dgm:t>
    </dgm:pt>
    <dgm:pt modelId="{869026E0-1DEF-4CBE-AE0D-3A7947C3E864}" type="sibTrans" cxnId="{5BB40118-0626-458C-9390-618237D4E94A}">
      <dgm:prSet/>
      <dgm:spPr/>
      <dgm:t>
        <a:bodyPr/>
        <a:lstStyle/>
        <a:p>
          <a:endParaRPr lang="en-US"/>
        </a:p>
      </dgm:t>
    </dgm:pt>
    <dgm:pt modelId="{2DD52112-4D28-4C1B-BAAD-F7822F1E6FA4}" type="pres">
      <dgm:prSet presAssocID="{E961E40C-58BA-4CE3-8E40-65ED5607DD38}" presName="Name0" presStyleCnt="0">
        <dgm:presLayoutVars>
          <dgm:chMax val="1"/>
          <dgm:chPref val="1"/>
          <dgm:dir/>
          <dgm:animOne val="branch"/>
          <dgm:animLvl val="lvl"/>
        </dgm:presLayoutVars>
      </dgm:prSet>
      <dgm:spPr/>
    </dgm:pt>
    <dgm:pt modelId="{134AB557-88E9-45B4-8273-002F4E305A33}" type="pres">
      <dgm:prSet presAssocID="{BE131F6D-696F-4282-96A3-4D712D177193}" presName="Parent" presStyleLbl="node0" presStyleIdx="0" presStyleCnt="1">
        <dgm:presLayoutVars>
          <dgm:chMax val="6"/>
          <dgm:chPref val="6"/>
        </dgm:presLayoutVars>
      </dgm:prSet>
      <dgm:spPr/>
    </dgm:pt>
    <dgm:pt modelId="{15CDE402-0FEC-4244-9665-F8F5C30FE7CA}" type="pres">
      <dgm:prSet presAssocID="{C1135DD4-F995-4A0D-8E66-01A9CBE984CF}" presName="Accent1" presStyleCnt="0"/>
      <dgm:spPr/>
    </dgm:pt>
    <dgm:pt modelId="{07F5DF17-32C1-44F0-8B9F-AA370E5341DE}" type="pres">
      <dgm:prSet presAssocID="{C1135DD4-F995-4A0D-8E66-01A9CBE984CF}" presName="Accent" presStyleLbl="bgShp" presStyleIdx="0" presStyleCnt="6"/>
      <dgm:spPr/>
    </dgm:pt>
    <dgm:pt modelId="{1022A565-DCC6-48FA-A4F7-0486F949C503}" type="pres">
      <dgm:prSet presAssocID="{C1135DD4-F995-4A0D-8E66-01A9CBE984CF}" presName="Child1" presStyleLbl="node1" presStyleIdx="0" presStyleCnt="6">
        <dgm:presLayoutVars>
          <dgm:chMax val="0"/>
          <dgm:chPref val="0"/>
          <dgm:bulletEnabled val="1"/>
        </dgm:presLayoutVars>
      </dgm:prSet>
      <dgm:spPr/>
    </dgm:pt>
    <dgm:pt modelId="{06701CC8-2E71-4180-A205-E39451995928}" type="pres">
      <dgm:prSet presAssocID="{42C5F599-F838-4489-8783-C460516D78BA}" presName="Accent2" presStyleCnt="0"/>
      <dgm:spPr/>
    </dgm:pt>
    <dgm:pt modelId="{0A577861-EBBA-4D5C-9770-82CE01025575}" type="pres">
      <dgm:prSet presAssocID="{42C5F599-F838-4489-8783-C460516D78BA}" presName="Accent" presStyleLbl="bgShp" presStyleIdx="1" presStyleCnt="6"/>
      <dgm:spPr/>
    </dgm:pt>
    <dgm:pt modelId="{309C0594-5D7C-4EF7-B1A5-611BFAA16812}" type="pres">
      <dgm:prSet presAssocID="{42C5F599-F838-4489-8783-C460516D78BA}" presName="Child2" presStyleLbl="node1" presStyleIdx="1" presStyleCnt="6">
        <dgm:presLayoutVars>
          <dgm:chMax val="0"/>
          <dgm:chPref val="0"/>
          <dgm:bulletEnabled val="1"/>
        </dgm:presLayoutVars>
      </dgm:prSet>
      <dgm:spPr/>
    </dgm:pt>
    <dgm:pt modelId="{F9994B9E-9F22-47B6-B543-21A2E2ADF683}" type="pres">
      <dgm:prSet presAssocID="{2C65E999-8AE7-4B0E-A3FE-0B5CC0A24B9D}" presName="Accent3" presStyleCnt="0"/>
      <dgm:spPr/>
    </dgm:pt>
    <dgm:pt modelId="{0B793F0E-5841-446A-BFA7-5FC8C2EDF076}" type="pres">
      <dgm:prSet presAssocID="{2C65E999-8AE7-4B0E-A3FE-0B5CC0A24B9D}" presName="Accent" presStyleLbl="bgShp" presStyleIdx="2" presStyleCnt="6"/>
      <dgm:spPr/>
    </dgm:pt>
    <dgm:pt modelId="{63852019-1BC1-42DC-B275-69CC05196841}" type="pres">
      <dgm:prSet presAssocID="{2C65E999-8AE7-4B0E-A3FE-0B5CC0A24B9D}" presName="Child3" presStyleLbl="node1" presStyleIdx="2" presStyleCnt="6">
        <dgm:presLayoutVars>
          <dgm:chMax val="0"/>
          <dgm:chPref val="0"/>
          <dgm:bulletEnabled val="1"/>
        </dgm:presLayoutVars>
      </dgm:prSet>
      <dgm:spPr/>
    </dgm:pt>
    <dgm:pt modelId="{03050B02-00BB-483F-9B65-B55EB13C0188}" type="pres">
      <dgm:prSet presAssocID="{9BDA2FC1-4A41-40CE-A4F4-27F9850B0D30}" presName="Accent4" presStyleCnt="0"/>
      <dgm:spPr/>
    </dgm:pt>
    <dgm:pt modelId="{8D072E40-6F87-41FE-882D-628BED7B60C4}" type="pres">
      <dgm:prSet presAssocID="{9BDA2FC1-4A41-40CE-A4F4-27F9850B0D30}" presName="Accent" presStyleLbl="bgShp" presStyleIdx="3" presStyleCnt="6"/>
      <dgm:spPr/>
    </dgm:pt>
    <dgm:pt modelId="{A2DCFC7A-B74E-4CA3-9017-93FCA8CADC86}" type="pres">
      <dgm:prSet presAssocID="{9BDA2FC1-4A41-40CE-A4F4-27F9850B0D30}" presName="Child4" presStyleLbl="node1" presStyleIdx="3" presStyleCnt="6">
        <dgm:presLayoutVars>
          <dgm:chMax val="0"/>
          <dgm:chPref val="0"/>
          <dgm:bulletEnabled val="1"/>
        </dgm:presLayoutVars>
      </dgm:prSet>
      <dgm:spPr/>
    </dgm:pt>
    <dgm:pt modelId="{158277B9-A835-4AC3-93FC-7D1947723BC2}" type="pres">
      <dgm:prSet presAssocID="{4A3C3BCB-55FB-4FC5-A62C-177A5A4ABF9F}" presName="Accent5" presStyleCnt="0"/>
      <dgm:spPr/>
    </dgm:pt>
    <dgm:pt modelId="{CF44B35B-153C-4FCD-BD1F-B3507A7B1082}" type="pres">
      <dgm:prSet presAssocID="{4A3C3BCB-55FB-4FC5-A62C-177A5A4ABF9F}" presName="Accent" presStyleLbl="bgShp" presStyleIdx="4" presStyleCnt="6"/>
      <dgm:spPr/>
    </dgm:pt>
    <dgm:pt modelId="{CE762E05-A10F-4B5E-8967-83C6C62EF1B3}" type="pres">
      <dgm:prSet presAssocID="{4A3C3BCB-55FB-4FC5-A62C-177A5A4ABF9F}" presName="Child5" presStyleLbl="node1" presStyleIdx="4" presStyleCnt="6">
        <dgm:presLayoutVars>
          <dgm:chMax val="0"/>
          <dgm:chPref val="0"/>
          <dgm:bulletEnabled val="1"/>
        </dgm:presLayoutVars>
      </dgm:prSet>
      <dgm:spPr/>
    </dgm:pt>
    <dgm:pt modelId="{ACFC9DB3-9976-4D18-B606-BD93BEC546D4}" type="pres">
      <dgm:prSet presAssocID="{7B39567B-D680-47B9-876B-64173A3E868C}" presName="Accent6" presStyleCnt="0"/>
      <dgm:spPr/>
    </dgm:pt>
    <dgm:pt modelId="{E382FD8A-0D83-4CC5-8A06-41BE905A751D}" type="pres">
      <dgm:prSet presAssocID="{7B39567B-D680-47B9-876B-64173A3E868C}" presName="Accent" presStyleLbl="bgShp" presStyleIdx="5" presStyleCnt="6"/>
      <dgm:spPr/>
    </dgm:pt>
    <dgm:pt modelId="{EE0F862D-DD6C-41AA-8CD4-F593A11B3A4B}" type="pres">
      <dgm:prSet presAssocID="{7B39567B-D680-47B9-876B-64173A3E868C}" presName="Child6" presStyleLbl="node1" presStyleIdx="5" presStyleCnt="6">
        <dgm:presLayoutVars>
          <dgm:chMax val="0"/>
          <dgm:chPref val="0"/>
          <dgm:bulletEnabled val="1"/>
        </dgm:presLayoutVars>
      </dgm:prSet>
      <dgm:spPr/>
    </dgm:pt>
  </dgm:ptLst>
  <dgm:cxnLst>
    <dgm:cxn modelId="{069E7D08-B9D2-4CA2-B42B-DB4837CBA0EA}" srcId="{E961E40C-58BA-4CE3-8E40-65ED5607DD38}" destId="{BE131F6D-696F-4282-96A3-4D712D177193}" srcOrd="0" destOrd="0" parTransId="{03C246FE-E48D-4262-B4D9-0C6020FADB90}" sibTransId="{4091D715-64B7-4267-A179-4292E646ABEE}"/>
    <dgm:cxn modelId="{B6832312-D24D-4EEB-A946-14A46C62612C}" type="presOf" srcId="{BE131F6D-696F-4282-96A3-4D712D177193}" destId="{134AB557-88E9-45B4-8273-002F4E305A33}" srcOrd="0" destOrd="0" presId="urn:microsoft.com/office/officeart/2011/layout/HexagonRadial"/>
    <dgm:cxn modelId="{5BB40118-0626-458C-9390-618237D4E94A}" srcId="{BE131F6D-696F-4282-96A3-4D712D177193}" destId="{62F73C0F-12AF-4B4D-B34F-D8E787005044}" srcOrd="6" destOrd="0" parTransId="{D0BFE204-849F-4945-BFDC-3A9E2F185418}" sibTransId="{869026E0-1DEF-4CBE-AE0D-3A7947C3E864}"/>
    <dgm:cxn modelId="{52D7A527-386D-4A2D-A5BF-7279BE68329D}" type="presOf" srcId="{2C65E999-8AE7-4B0E-A3FE-0B5CC0A24B9D}" destId="{63852019-1BC1-42DC-B275-69CC05196841}" srcOrd="0" destOrd="0" presId="urn:microsoft.com/office/officeart/2011/layout/HexagonRadial"/>
    <dgm:cxn modelId="{4B563532-1C81-4563-90D4-3361FFCF0A8D}" type="presOf" srcId="{4A3C3BCB-55FB-4FC5-A62C-177A5A4ABF9F}" destId="{CE762E05-A10F-4B5E-8967-83C6C62EF1B3}" srcOrd="0" destOrd="0" presId="urn:microsoft.com/office/officeart/2011/layout/HexagonRadial"/>
    <dgm:cxn modelId="{C0E72268-82DA-4B3E-80CF-60D42F7DBBAC}" srcId="{BE131F6D-696F-4282-96A3-4D712D177193}" destId="{7B39567B-D680-47B9-876B-64173A3E868C}" srcOrd="5" destOrd="0" parTransId="{067B6512-CF11-49C2-BBE6-FA90A3AC4FE9}" sibTransId="{81C0CE5A-28DA-45B9-8AC5-C52A82F04D64}"/>
    <dgm:cxn modelId="{1E319569-4388-4FEB-9558-59E263FD8F29}" type="presOf" srcId="{9BDA2FC1-4A41-40CE-A4F4-27F9850B0D30}" destId="{A2DCFC7A-B74E-4CA3-9017-93FCA8CADC86}" srcOrd="0" destOrd="0" presId="urn:microsoft.com/office/officeart/2011/layout/HexagonRadial"/>
    <dgm:cxn modelId="{0033CF8A-1856-4FAE-A229-626E70D69CBC}" type="presOf" srcId="{42C5F599-F838-4489-8783-C460516D78BA}" destId="{309C0594-5D7C-4EF7-B1A5-611BFAA16812}" srcOrd="0" destOrd="0" presId="urn:microsoft.com/office/officeart/2011/layout/HexagonRadial"/>
    <dgm:cxn modelId="{998F46AE-90FD-45EB-B238-95548E84D12C}" type="presOf" srcId="{7B39567B-D680-47B9-876B-64173A3E868C}" destId="{EE0F862D-DD6C-41AA-8CD4-F593A11B3A4B}" srcOrd="0" destOrd="0" presId="urn:microsoft.com/office/officeart/2011/layout/HexagonRadial"/>
    <dgm:cxn modelId="{AD071EBD-7735-4B6F-B7A3-419D97D99EF0}" srcId="{BE131F6D-696F-4282-96A3-4D712D177193}" destId="{C1135DD4-F995-4A0D-8E66-01A9CBE984CF}" srcOrd="0" destOrd="0" parTransId="{227F28CA-945E-4D5E-A476-627EEF20DCF9}" sibTransId="{9C7A6E42-6F3E-4F8E-A482-E8F991372F09}"/>
    <dgm:cxn modelId="{768E68C5-AC34-4077-AC65-00903FB45F65}" type="presOf" srcId="{C1135DD4-F995-4A0D-8E66-01A9CBE984CF}" destId="{1022A565-DCC6-48FA-A4F7-0486F949C503}" srcOrd="0" destOrd="0" presId="urn:microsoft.com/office/officeart/2011/layout/HexagonRadial"/>
    <dgm:cxn modelId="{A42729E9-2E13-4A78-B185-4112D30D3FBE}" srcId="{BE131F6D-696F-4282-96A3-4D712D177193}" destId="{9BDA2FC1-4A41-40CE-A4F4-27F9850B0D30}" srcOrd="3" destOrd="0" parTransId="{EBCB06FE-F6E2-4A8D-87A7-A808D397A765}" sibTransId="{6AB9848F-5B09-4EC8-AF09-3554343668DC}"/>
    <dgm:cxn modelId="{3D2A20EB-BCC3-43F2-A3B8-868F70EF1F3B}" type="presOf" srcId="{E961E40C-58BA-4CE3-8E40-65ED5607DD38}" destId="{2DD52112-4D28-4C1B-BAAD-F7822F1E6FA4}" srcOrd="0" destOrd="0" presId="urn:microsoft.com/office/officeart/2011/layout/HexagonRadial"/>
    <dgm:cxn modelId="{C4B6EEEF-FE46-47D0-B8F6-86AF6976A196}" srcId="{BE131F6D-696F-4282-96A3-4D712D177193}" destId="{42C5F599-F838-4489-8783-C460516D78BA}" srcOrd="1" destOrd="0" parTransId="{A63CB17B-2AD1-4D65-9090-FB691D0A4A05}" sibTransId="{13EC63A0-963F-4FCA-889B-2E965AB39970}"/>
    <dgm:cxn modelId="{D59212F8-4AA0-421D-8079-F328A9A72DF1}" srcId="{BE131F6D-696F-4282-96A3-4D712D177193}" destId="{4A3C3BCB-55FB-4FC5-A62C-177A5A4ABF9F}" srcOrd="4" destOrd="0" parTransId="{8FD0BB3C-048A-4239-A19F-2A90A8D01315}" sibTransId="{6E90677A-0EFD-4D69-8DF4-115CFA2109A0}"/>
    <dgm:cxn modelId="{72B5C8FB-69C5-4ABD-B76F-A0F967D8CBEE}" srcId="{BE131F6D-696F-4282-96A3-4D712D177193}" destId="{2C65E999-8AE7-4B0E-A3FE-0B5CC0A24B9D}" srcOrd="2" destOrd="0" parTransId="{FEB0FA15-BE25-41E8-AFB3-346886D8EA86}" sibTransId="{3D87046A-8E16-4A73-B913-9D4634E52972}"/>
    <dgm:cxn modelId="{FAFCFAA1-676F-44A4-BB59-9D51C8B96FA6}" type="presParOf" srcId="{2DD52112-4D28-4C1B-BAAD-F7822F1E6FA4}" destId="{134AB557-88E9-45B4-8273-002F4E305A33}" srcOrd="0" destOrd="0" presId="urn:microsoft.com/office/officeart/2011/layout/HexagonRadial"/>
    <dgm:cxn modelId="{F1C41D0C-E8E8-48C5-A17D-BF984E4F19A1}" type="presParOf" srcId="{2DD52112-4D28-4C1B-BAAD-F7822F1E6FA4}" destId="{15CDE402-0FEC-4244-9665-F8F5C30FE7CA}" srcOrd="1" destOrd="0" presId="urn:microsoft.com/office/officeart/2011/layout/HexagonRadial"/>
    <dgm:cxn modelId="{C64120E4-62AA-4F34-8383-5727D90674D8}" type="presParOf" srcId="{15CDE402-0FEC-4244-9665-F8F5C30FE7CA}" destId="{07F5DF17-32C1-44F0-8B9F-AA370E5341DE}" srcOrd="0" destOrd="0" presId="urn:microsoft.com/office/officeart/2011/layout/HexagonRadial"/>
    <dgm:cxn modelId="{93290FDD-6536-4E36-BDC5-EAE16C0AD676}" type="presParOf" srcId="{2DD52112-4D28-4C1B-BAAD-F7822F1E6FA4}" destId="{1022A565-DCC6-48FA-A4F7-0486F949C503}" srcOrd="2" destOrd="0" presId="urn:microsoft.com/office/officeart/2011/layout/HexagonRadial"/>
    <dgm:cxn modelId="{4F34A9B4-11DF-4C1B-BD65-09C47ACD12DB}" type="presParOf" srcId="{2DD52112-4D28-4C1B-BAAD-F7822F1E6FA4}" destId="{06701CC8-2E71-4180-A205-E39451995928}" srcOrd="3" destOrd="0" presId="urn:microsoft.com/office/officeart/2011/layout/HexagonRadial"/>
    <dgm:cxn modelId="{829FE4AC-68C9-4292-9BBB-693BD458E3BA}" type="presParOf" srcId="{06701CC8-2E71-4180-A205-E39451995928}" destId="{0A577861-EBBA-4D5C-9770-82CE01025575}" srcOrd="0" destOrd="0" presId="urn:microsoft.com/office/officeart/2011/layout/HexagonRadial"/>
    <dgm:cxn modelId="{4CBB1E2F-296B-474A-894E-78D7AB23F3C2}" type="presParOf" srcId="{2DD52112-4D28-4C1B-BAAD-F7822F1E6FA4}" destId="{309C0594-5D7C-4EF7-B1A5-611BFAA16812}" srcOrd="4" destOrd="0" presId="urn:microsoft.com/office/officeart/2011/layout/HexagonRadial"/>
    <dgm:cxn modelId="{D5F6517D-A878-421C-B66E-21C52F25555D}" type="presParOf" srcId="{2DD52112-4D28-4C1B-BAAD-F7822F1E6FA4}" destId="{F9994B9E-9F22-47B6-B543-21A2E2ADF683}" srcOrd="5" destOrd="0" presId="urn:microsoft.com/office/officeart/2011/layout/HexagonRadial"/>
    <dgm:cxn modelId="{E47AF3A3-4FDC-47B9-8472-7F9195AD9772}" type="presParOf" srcId="{F9994B9E-9F22-47B6-B543-21A2E2ADF683}" destId="{0B793F0E-5841-446A-BFA7-5FC8C2EDF076}" srcOrd="0" destOrd="0" presId="urn:microsoft.com/office/officeart/2011/layout/HexagonRadial"/>
    <dgm:cxn modelId="{3605D8C3-299F-48DF-AAAC-6405A7E7CC86}" type="presParOf" srcId="{2DD52112-4D28-4C1B-BAAD-F7822F1E6FA4}" destId="{63852019-1BC1-42DC-B275-69CC05196841}" srcOrd="6" destOrd="0" presId="urn:microsoft.com/office/officeart/2011/layout/HexagonRadial"/>
    <dgm:cxn modelId="{CF380006-411C-461D-95AE-2C2920183A53}" type="presParOf" srcId="{2DD52112-4D28-4C1B-BAAD-F7822F1E6FA4}" destId="{03050B02-00BB-483F-9B65-B55EB13C0188}" srcOrd="7" destOrd="0" presId="urn:microsoft.com/office/officeart/2011/layout/HexagonRadial"/>
    <dgm:cxn modelId="{BD9AB67B-054D-4E55-AB70-48CD1A34C059}" type="presParOf" srcId="{03050B02-00BB-483F-9B65-B55EB13C0188}" destId="{8D072E40-6F87-41FE-882D-628BED7B60C4}" srcOrd="0" destOrd="0" presId="urn:microsoft.com/office/officeart/2011/layout/HexagonRadial"/>
    <dgm:cxn modelId="{886FC672-C6F6-465F-9CDB-91820DDF7468}" type="presParOf" srcId="{2DD52112-4D28-4C1B-BAAD-F7822F1E6FA4}" destId="{A2DCFC7A-B74E-4CA3-9017-93FCA8CADC86}" srcOrd="8" destOrd="0" presId="urn:microsoft.com/office/officeart/2011/layout/HexagonRadial"/>
    <dgm:cxn modelId="{EBD5F444-9B79-4114-ACB5-5EBB94B4E514}" type="presParOf" srcId="{2DD52112-4D28-4C1B-BAAD-F7822F1E6FA4}" destId="{158277B9-A835-4AC3-93FC-7D1947723BC2}" srcOrd="9" destOrd="0" presId="urn:microsoft.com/office/officeart/2011/layout/HexagonRadial"/>
    <dgm:cxn modelId="{7F8083E4-9635-4E52-9E6D-278917362F96}" type="presParOf" srcId="{158277B9-A835-4AC3-93FC-7D1947723BC2}" destId="{CF44B35B-153C-4FCD-BD1F-B3507A7B1082}" srcOrd="0" destOrd="0" presId="urn:microsoft.com/office/officeart/2011/layout/HexagonRadial"/>
    <dgm:cxn modelId="{1883573C-01F3-48EF-8A68-53D4CEF16CCE}" type="presParOf" srcId="{2DD52112-4D28-4C1B-BAAD-F7822F1E6FA4}" destId="{CE762E05-A10F-4B5E-8967-83C6C62EF1B3}" srcOrd="10" destOrd="0" presId="urn:microsoft.com/office/officeart/2011/layout/HexagonRadial"/>
    <dgm:cxn modelId="{0F685B42-3335-42E9-920C-03059B909E37}" type="presParOf" srcId="{2DD52112-4D28-4C1B-BAAD-F7822F1E6FA4}" destId="{ACFC9DB3-9976-4D18-B606-BD93BEC546D4}" srcOrd="11" destOrd="0" presId="urn:microsoft.com/office/officeart/2011/layout/HexagonRadial"/>
    <dgm:cxn modelId="{29E45D7F-7E2A-4A06-8672-68E80A2AD5DF}" type="presParOf" srcId="{ACFC9DB3-9976-4D18-B606-BD93BEC546D4}" destId="{E382FD8A-0D83-4CC5-8A06-41BE905A751D}" srcOrd="0" destOrd="0" presId="urn:microsoft.com/office/officeart/2011/layout/HexagonRadial"/>
    <dgm:cxn modelId="{6003DA92-1AD9-4468-B9E9-C8F69EF9D37D}" type="presParOf" srcId="{2DD52112-4D28-4C1B-BAAD-F7822F1E6FA4}" destId="{EE0F862D-DD6C-41AA-8CD4-F593A11B3A4B}"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60BAABF-2E97-4461-8608-8A059B27B617}" type="doc">
      <dgm:prSet loTypeId="urn:microsoft.com/office/officeart/2005/8/layout/pyramid2" loCatId="list" qsTypeId="urn:microsoft.com/office/officeart/2005/8/quickstyle/simple1" qsCatId="simple" csTypeId="urn:microsoft.com/office/officeart/2005/8/colors/accent1_2" csCatId="accent1" phldr="1"/>
      <dgm:spPr/>
    </dgm:pt>
    <dgm:pt modelId="{BCC9BCFB-9A2A-4312-9A9A-F080F5B8BAB4}">
      <dgm:prSet phldrT="[Text]"/>
      <dgm:spPr/>
      <dgm:t>
        <a:bodyPr/>
        <a:lstStyle/>
        <a:p>
          <a:r>
            <a:rPr lang="en-US" dirty="0"/>
            <a:t>What are they offer</a:t>
          </a:r>
        </a:p>
      </dgm:t>
    </dgm:pt>
    <dgm:pt modelId="{4514F27E-0312-4D0E-9483-EC5A0289C089}" type="parTrans" cxnId="{569BFC6A-DDC9-4AD0-B8B4-285767025A74}">
      <dgm:prSet/>
      <dgm:spPr/>
      <dgm:t>
        <a:bodyPr/>
        <a:lstStyle/>
        <a:p>
          <a:endParaRPr lang="en-US"/>
        </a:p>
      </dgm:t>
    </dgm:pt>
    <dgm:pt modelId="{CFD25255-BA42-4EE6-B33D-4D4B9E563E0E}" type="sibTrans" cxnId="{569BFC6A-DDC9-4AD0-B8B4-285767025A74}">
      <dgm:prSet/>
      <dgm:spPr/>
      <dgm:t>
        <a:bodyPr/>
        <a:lstStyle/>
        <a:p>
          <a:endParaRPr lang="en-US"/>
        </a:p>
      </dgm:t>
    </dgm:pt>
    <dgm:pt modelId="{9A0CCCEB-D15F-4FAA-B259-7C0432FEA5CF}">
      <dgm:prSet phldrT="[Text]"/>
      <dgm:spPr/>
      <dgm:t>
        <a:bodyPr/>
        <a:lstStyle/>
        <a:p>
          <a:r>
            <a:rPr lang="en-US" dirty="0"/>
            <a:t>Pros and Cons</a:t>
          </a:r>
        </a:p>
      </dgm:t>
    </dgm:pt>
    <dgm:pt modelId="{8E08A595-12F3-4ABF-8856-40EC2CCD9528}" type="parTrans" cxnId="{376A9D57-E7B6-4699-BD61-D866F8E13EE5}">
      <dgm:prSet/>
      <dgm:spPr/>
      <dgm:t>
        <a:bodyPr/>
        <a:lstStyle/>
        <a:p>
          <a:endParaRPr lang="en-US"/>
        </a:p>
      </dgm:t>
    </dgm:pt>
    <dgm:pt modelId="{10ADF6AF-6C49-44EF-A053-C29D0042D6DA}" type="sibTrans" cxnId="{376A9D57-E7B6-4699-BD61-D866F8E13EE5}">
      <dgm:prSet/>
      <dgm:spPr/>
      <dgm:t>
        <a:bodyPr/>
        <a:lstStyle/>
        <a:p>
          <a:endParaRPr lang="en-US"/>
        </a:p>
      </dgm:t>
    </dgm:pt>
    <dgm:pt modelId="{6A199A68-0D7E-4B3F-BFD7-807A76B63E97}">
      <dgm:prSet phldrT="[Text]"/>
      <dgm:spPr/>
      <dgm:t>
        <a:bodyPr/>
        <a:lstStyle/>
        <a:p>
          <a:r>
            <a:rPr lang="en-US" dirty="0"/>
            <a:t>IPM Pricing &amp; Risk Sharing</a:t>
          </a:r>
        </a:p>
      </dgm:t>
    </dgm:pt>
    <dgm:pt modelId="{1E97A4E3-EB9F-4350-8BB4-38002D1E1E07}" type="parTrans" cxnId="{8692492E-CA68-431D-AFE2-1A0DBEE07096}">
      <dgm:prSet/>
      <dgm:spPr/>
      <dgm:t>
        <a:bodyPr/>
        <a:lstStyle/>
        <a:p>
          <a:endParaRPr lang="en-US"/>
        </a:p>
      </dgm:t>
    </dgm:pt>
    <dgm:pt modelId="{4BA51154-87FF-4A18-8ACA-668FA2EBC4AF}" type="sibTrans" cxnId="{8692492E-CA68-431D-AFE2-1A0DBEE07096}">
      <dgm:prSet/>
      <dgm:spPr/>
      <dgm:t>
        <a:bodyPr/>
        <a:lstStyle/>
        <a:p>
          <a:endParaRPr lang="en-US"/>
        </a:p>
      </dgm:t>
    </dgm:pt>
    <dgm:pt modelId="{25D7AF8A-F784-4A5D-984B-66A67C8F0B5A}">
      <dgm:prSet phldrT="[Text]"/>
      <dgm:spPr/>
      <dgm:t>
        <a:bodyPr/>
        <a:lstStyle/>
        <a:p>
          <a:r>
            <a:rPr lang="en-US" dirty="0"/>
            <a:t>IPM Selection &amp; Control</a:t>
          </a:r>
        </a:p>
      </dgm:t>
    </dgm:pt>
    <dgm:pt modelId="{EDE89ADA-7FD3-45C3-ACE3-625C2D36218B}" type="parTrans" cxnId="{993E7422-01AC-4983-8ECB-2A44970A901D}">
      <dgm:prSet/>
      <dgm:spPr/>
      <dgm:t>
        <a:bodyPr/>
        <a:lstStyle/>
        <a:p>
          <a:endParaRPr lang="en-US"/>
        </a:p>
      </dgm:t>
    </dgm:pt>
    <dgm:pt modelId="{C06A2CB8-4F83-49D9-8A20-7070C04977C5}" type="sibTrans" cxnId="{993E7422-01AC-4983-8ECB-2A44970A901D}">
      <dgm:prSet/>
      <dgm:spPr/>
      <dgm:t>
        <a:bodyPr/>
        <a:lstStyle/>
        <a:p>
          <a:endParaRPr lang="en-US"/>
        </a:p>
      </dgm:t>
    </dgm:pt>
    <dgm:pt modelId="{788A1141-A23F-4883-9A17-F55C413316F8}" type="pres">
      <dgm:prSet presAssocID="{C60BAABF-2E97-4461-8608-8A059B27B617}" presName="compositeShape" presStyleCnt="0">
        <dgm:presLayoutVars>
          <dgm:dir/>
          <dgm:resizeHandles/>
        </dgm:presLayoutVars>
      </dgm:prSet>
      <dgm:spPr/>
    </dgm:pt>
    <dgm:pt modelId="{FFC8C37D-B277-4EFB-BE53-A10609ABCA41}" type="pres">
      <dgm:prSet presAssocID="{C60BAABF-2E97-4461-8608-8A059B27B617}" presName="pyramid" presStyleLbl="node1" presStyleIdx="0" presStyleCnt="1"/>
      <dgm:spPr/>
    </dgm:pt>
    <dgm:pt modelId="{C2670A8B-9C18-45F8-A405-9BAA0CC632E0}" type="pres">
      <dgm:prSet presAssocID="{C60BAABF-2E97-4461-8608-8A059B27B617}" presName="theList" presStyleCnt="0"/>
      <dgm:spPr/>
    </dgm:pt>
    <dgm:pt modelId="{23BB1437-3ED3-4AF1-8F61-E6605DC2666B}" type="pres">
      <dgm:prSet presAssocID="{BCC9BCFB-9A2A-4312-9A9A-F080F5B8BAB4}" presName="aNode" presStyleLbl="fgAcc1" presStyleIdx="0" presStyleCnt="4">
        <dgm:presLayoutVars>
          <dgm:bulletEnabled val="1"/>
        </dgm:presLayoutVars>
      </dgm:prSet>
      <dgm:spPr/>
    </dgm:pt>
    <dgm:pt modelId="{ED403122-DD2F-4B63-867B-D1F2D8CF3B69}" type="pres">
      <dgm:prSet presAssocID="{BCC9BCFB-9A2A-4312-9A9A-F080F5B8BAB4}" presName="aSpace" presStyleCnt="0"/>
      <dgm:spPr/>
    </dgm:pt>
    <dgm:pt modelId="{128F5B23-50AE-48D0-AE54-4EE164373E88}" type="pres">
      <dgm:prSet presAssocID="{9A0CCCEB-D15F-4FAA-B259-7C0432FEA5CF}" presName="aNode" presStyleLbl="fgAcc1" presStyleIdx="1" presStyleCnt="4">
        <dgm:presLayoutVars>
          <dgm:bulletEnabled val="1"/>
        </dgm:presLayoutVars>
      </dgm:prSet>
      <dgm:spPr/>
    </dgm:pt>
    <dgm:pt modelId="{41F1E89E-DA3E-4D3C-A733-41FBC55AACED}" type="pres">
      <dgm:prSet presAssocID="{9A0CCCEB-D15F-4FAA-B259-7C0432FEA5CF}" presName="aSpace" presStyleCnt="0"/>
      <dgm:spPr/>
    </dgm:pt>
    <dgm:pt modelId="{21DC374C-0FD9-4135-BA46-BE3260734D43}" type="pres">
      <dgm:prSet presAssocID="{6A199A68-0D7E-4B3F-BFD7-807A76B63E97}" presName="aNode" presStyleLbl="fgAcc1" presStyleIdx="2" presStyleCnt="4">
        <dgm:presLayoutVars>
          <dgm:bulletEnabled val="1"/>
        </dgm:presLayoutVars>
      </dgm:prSet>
      <dgm:spPr/>
    </dgm:pt>
    <dgm:pt modelId="{4DF8F627-B0BD-48B5-A8C3-8C3BA1717EEC}" type="pres">
      <dgm:prSet presAssocID="{6A199A68-0D7E-4B3F-BFD7-807A76B63E97}" presName="aSpace" presStyleCnt="0"/>
      <dgm:spPr/>
    </dgm:pt>
    <dgm:pt modelId="{19346FCD-8B8B-40AC-9362-044FA2EDB52D}" type="pres">
      <dgm:prSet presAssocID="{25D7AF8A-F784-4A5D-984B-66A67C8F0B5A}" presName="aNode" presStyleLbl="fgAcc1" presStyleIdx="3" presStyleCnt="4">
        <dgm:presLayoutVars>
          <dgm:bulletEnabled val="1"/>
        </dgm:presLayoutVars>
      </dgm:prSet>
      <dgm:spPr/>
    </dgm:pt>
    <dgm:pt modelId="{3B88AA0F-BD34-41F5-BF2F-9FBC28943B44}" type="pres">
      <dgm:prSet presAssocID="{25D7AF8A-F784-4A5D-984B-66A67C8F0B5A}" presName="aSpace" presStyleCnt="0"/>
      <dgm:spPr/>
    </dgm:pt>
  </dgm:ptLst>
  <dgm:cxnLst>
    <dgm:cxn modelId="{604FB41B-8B94-46FB-8706-D5D21652A6A9}" type="presOf" srcId="{C60BAABF-2E97-4461-8608-8A059B27B617}" destId="{788A1141-A23F-4883-9A17-F55C413316F8}" srcOrd="0" destOrd="0" presId="urn:microsoft.com/office/officeart/2005/8/layout/pyramid2"/>
    <dgm:cxn modelId="{993E7422-01AC-4983-8ECB-2A44970A901D}" srcId="{C60BAABF-2E97-4461-8608-8A059B27B617}" destId="{25D7AF8A-F784-4A5D-984B-66A67C8F0B5A}" srcOrd="3" destOrd="0" parTransId="{EDE89ADA-7FD3-45C3-ACE3-625C2D36218B}" sibTransId="{C06A2CB8-4F83-49D9-8A20-7070C04977C5}"/>
    <dgm:cxn modelId="{8692492E-CA68-431D-AFE2-1A0DBEE07096}" srcId="{C60BAABF-2E97-4461-8608-8A059B27B617}" destId="{6A199A68-0D7E-4B3F-BFD7-807A76B63E97}" srcOrd="2" destOrd="0" parTransId="{1E97A4E3-EB9F-4350-8BB4-38002D1E1E07}" sibTransId="{4BA51154-87FF-4A18-8ACA-668FA2EBC4AF}"/>
    <dgm:cxn modelId="{569BFC6A-DDC9-4AD0-B8B4-285767025A74}" srcId="{C60BAABF-2E97-4461-8608-8A059B27B617}" destId="{BCC9BCFB-9A2A-4312-9A9A-F080F5B8BAB4}" srcOrd="0" destOrd="0" parTransId="{4514F27E-0312-4D0E-9483-EC5A0289C089}" sibTransId="{CFD25255-BA42-4EE6-B33D-4D4B9E563E0E}"/>
    <dgm:cxn modelId="{61E1AD6F-7DE5-46CC-B5D5-AD086741BED8}" type="presOf" srcId="{BCC9BCFB-9A2A-4312-9A9A-F080F5B8BAB4}" destId="{23BB1437-3ED3-4AF1-8F61-E6605DC2666B}" srcOrd="0" destOrd="0" presId="urn:microsoft.com/office/officeart/2005/8/layout/pyramid2"/>
    <dgm:cxn modelId="{376A9D57-E7B6-4699-BD61-D866F8E13EE5}" srcId="{C60BAABF-2E97-4461-8608-8A059B27B617}" destId="{9A0CCCEB-D15F-4FAA-B259-7C0432FEA5CF}" srcOrd="1" destOrd="0" parTransId="{8E08A595-12F3-4ABF-8856-40EC2CCD9528}" sibTransId="{10ADF6AF-6C49-44EF-A053-C29D0042D6DA}"/>
    <dgm:cxn modelId="{CD95317E-78E3-4FAF-B03D-7161BC35DD79}" type="presOf" srcId="{9A0CCCEB-D15F-4FAA-B259-7C0432FEA5CF}" destId="{128F5B23-50AE-48D0-AE54-4EE164373E88}" srcOrd="0" destOrd="0" presId="urn:microsoft.com/office/officeart/2005/8/layout/pyramid2"/>
    <dgm:cxn modelId="{7B112ED8-B7E9-4AEE-A266-EE26B5115F1A}" type="presOf" srcId="{25D7AF8A-F784-4A5D-984B-66A67C8F0B5A}" destId="{19346FCD-8B8B-40AC-9362-044FA2EDB52D}" srcOrd="0" destOrd="0" presId="urn:microsoft.com/office/officeart/2005/8/layout/pyramid2"/>
    <dgm:cxn modelId="{C24D2AEA-03D0-4462-B494-5E4325F5F56D}" type="presOf" srcId="{6A199A68-0D7E-4B3F-BFD7-807A76B63E97}" destId="{21DC374C-0FD9-4135-BA46-BE3260734D43}" srcOrd="0" destOrd="0" presId="urn:microsoft.com/office/officeart/2005/8/layout/pyramid2"/>
    <dgm:cxn modelId="{09826173-F76A-4F60-83D1-9850240755BC}" type="presParOf" srcId="{788A1141-A23F-4883-9A17-F55C413316F8}" destId="{FFC8C37D-B277-4EFB-BE53-A10609ABCA41}" srcOrd="0" destOrd="0" presId="urn:microsoft.com/office/officeart/2005/8/layout/pyramid2"/>
    <dgm:cxn modelId="{0DC312C0-1363-420E-8E28-1C0CA5FE8ADC}" type="presParOf" srcId="{788A1141-A23F-4883-9A17-F55C413316F8}" destId="{C2670A8B-9C18-45F8-A405-9BAA0CC632E0}" srcOrd="1" destOrd="0" presId="urn:microsoft.com/office/officeart/2005/8/layout/pyramid2"/>
    <dgm:cxn modelId="{6B19485A-AB23-4CDF-B60D-CF84B60D8FE6}" type="presParOf" srcId="{C2670A8B-9C18-45F8-A405-9BAA0CC632E0}" destId="{23BB1437-3ED3-4AF1-8F61-E6605DC2666B}" srcOrd="0" destOrd="0" presId="urn:microsoft.com/office/officeart/2005/8/layout/pyramid2"/>
    <dgm:cxn modelId="{8831159C-8269-455A-B94D-8F98FB213C59}" type="presParOf" srcId="{C2670A8B-9C18-45F8-A405-9BAA0CC632E0}" destId="{ED403122-DD2F-4B63-867B-D1F2D8CF3B69}" srcOrd="1" destOrd="0" presId="urn:microsoft.com/office/officeart/2005/8/layout/pyramid2"/>
    <dgm:cxn modelId="{E898EF8D-4B05-4E45-B8C7-BFF992CFA5B9}" type="presParOf" srcId="{C2670A8B-9C18-45F8-A405-9BAA0CC632E0}" destId="{128F5B23-50AE-48D0-AE54-4EE164373E88}" srcOrd="2" destOrd="0" presId="urn:microsoft.com/office/officeart/2005/8/layout/pyramid2"/>
    <dgm:cxn modelId="{3868912D-7939-4FF5-AF18-8308CCB79BC5}" type="presParOf" srcId="{C2670A8B-9C18-45F8-A405-9BAA0CC632E0}" destId="{41F1E89E-DA3E-4D3C-A733-41FBC55AACED}" srcOrd="3" destOrd="0" presId="urn:microsoft.com/office/officeart/2005/8/layout/pyramid2"/>
    <dgm:cxn modelId="{F305370F-397D-4622-94DE-88EE5520448A}" type="presParOf" srcId="{C2670A8B-9C18-45F8-A405-9BAA0CC632E0}" destId="{21DC374C-0FD9-4135-BA46-BE3260734D43}" srcOrd="4" destOrd="0" presId="urn:microsoft.com/office/officeart/2005/8/layout/pyramid2"/>
    <dgm:cxn modelId="{20F30213-C565-4D6A-95D8-99233BF5D488}" type="presParOf" srcId="{C2670A8B-9C18-45F8-A405-9BAA0CC632E0}" destId="{4DF8F627-B0BD-48B5-A8C3-8C3BA1717EEC}" srcOrd="5" destOrd="0" presId="urn:microsoft.com/office/officeart/2005/8/layout/pyramid2"/>
    <dgm:cxn modelId="{16218688-8EBF-412B-A26B-A50F4F063285}" type="presParOf" srcId="{C2670A8B-9C18-45F8-A405-9BAA0CC632E0}" destId="{19346FCD-8B8B-40AC-9362-044FA2EDB52D}" srcOrd="6" destOrd="0" presId="urn:microsoft.com/office/officeart/2005/8/layout/pyramid2"/>
    <dgm:cxn modelId="{85337B7E-778C-4CDF-A5E1-E93707399C9A}" type="presParOf" srcId="{C2670A8B-9C18-45F8-A405-9BAA0CC632E0}" destId="{3B88AA0F-BD34-41F5-BF2F-9FBC28943B44}"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60E8318-9416-40C7-ABAA-5CD3F2E93ADD}"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CA0B6A2F-E161-4F57-BEAC-923E4713C749}">
      <dgm:prSet phldrT="[Text]"/>
      <dgm:spPr>
        <a:solidFill>
          <a:srgbClr val="FFC000"/>
        </a:solidFill>
      </dgm:spPr>
      <dgm:t>
        <a:bodyPr/>
        <a:lstStyle/>
        <a:p>
          <a:r>
            <a:rPr lang="en-US" b="1" dirty="0">
              <a:solidFill>
                <a:schemeClr val="accent6">
                  <a:lumMod val="50000"/>
                </a:schemeClr>
              </a:solidFill>
            </a:rPr>
            <a:t>IPM</a:t>
          </a:r>
        </a:p>
      </dgm:t>
    </dgm:pt>
    <dgm:pt modelId="{845A82B1-F039-4FD4-917E-701397C5C652}" type="parTrans" cxnId="{E31D8F2C-9C55-40E1-8352-F49D48B44BC8}">
      <dgm:prSet/>
      <dgm:spPr/>
      <dgm:t>
        <a:bodyPr/>
        <a:lstStyle/>
        <a:p>
          <a:endParaRPr lang="en-US">
            <a:solidFill>
              <a:schemeClr val="accent6">
                <a:lumMod val="75000"/>
              </a:schemeClr>
            </a:solidFill>
          </a:endParaRPr>
        </a:p>
      </dgm:t>
    </dgm:pt>
    <dgm:pt modelId="{E908D185-EFE2-49DF-868E-529877A65A6A}" type="sibTrans" cxnId="{E31D8F2C-9C55-40E1-8352-F49D48B44BC8}">
      <dgm:prSet/>
      <dgm:spPr/>
      <dgm:t>
        <a:bodyPr/>
        <a:lstStyle/>
        <a:p>
          <a:endParaRPr lang="en-US">
            <a:solidFill>
              <a:schemeClr val="accent6">
                <a:lumMod val="75000"/>
              </a:schemeClr>
            </a:solidFill>
          </a:endParaRPr>
        </a:p>
      </dgm:t>
    </dgm:pt>
    <dgm:pt modelId="{B0180032-4F59-49FC-8D28-19B6161C99CE}">
      <dgm:prSet phldrT="[Text]"/>
      <dgm:spPr>
        <a:solidFill>
          <a:srgbClr val="FFFF99"/>
        </a:solidFill>
      </dgm:spPr>
      <dgm:t>
        <a:bodyPr/>
        <a:lstStyle/>
        <a:p>
          <a:r>
            <a:rPr lang="en-US" dirty="0">
              <a:solidFill>
                <a:srgbClr val="002060"/>
              </a:solidFill>
            </a:rPr>
            <a:t>Resources</a:t>
          </a:r>
        </a:p>
      </dgm:t>
    </dgm:pt>
    <dgm:pt modelId="{809BD4B8-ACFA-4360-B0AC-E7A4A633EC68}" type="parTrans" cxnId="{BDC6D142-3375-4EAC-B915-8C0DA1E1D687}">
      <dgm:prSet/>
      <dgm:spPr>
        <a:solidFill>
          <a:schemeClr val="accent2">
            <a:lumMod val="75000"/>
          </a:schemeClr>
        </a:solidFill>
      </dgm:spPr>
      <dgm:t>
        <a:bodyPr/>
        <a:lstStyle/>
        <a:p>
          <a:endParaRPr lang="en-US">
            <a:solidFill>
              <a:schemeClr val="accent6">
                <a:lumMod val="75000"/>
              </a:schemeClr>
            </a:solidFill>
          </a:endParaRPr>
        </a:p>
      </dgm:t>
    </dgm:pt>
    <dgm:pt modelId="{4A6753DC-89BB-4E7D-91FD-183AF5F6CB42}" type="sibTrans" cxnId="{BDC6D142-3375-4EAC-B915-8C0DA1E1D687}">
      <dgm:prSet/>
      <dgm:spPr/>
      <dgm:t>
        <a:bodyPr/>
        <a:lstStyle/>
        <a:p>
          <a:endParaRPr lang="en-US">
            <a:solidFill>
              <a:schemeClr val="accent6">
                <a:lumMod val="75000"/>
              </a:schemeClr>
            </a:solidFill>
          </a:endParaRPr>
        </a:p>
      </dgm:t>
    </dgm:pt>
    <dgm:pt modelId="{42719932-442A-4911-8C34-3F8F180F4411}">
      <dgm:prSet phldrT="[Text]"/>
      <dgm:spPr>
        <a:solidFill>
          <a:srgbClr val="FFFF66"/>
        </a:solidFill>
      </dgm:spPr>
      <dgm:t>
        <a:bodyPr/>
        <a:lstStyle/>
        <a:p>
          <a:r>
            <a:rPr lang="en-US" dirty="0">
              <a:solidFill>
                <a:srgbClr val="002060"/>
              </a:solidFill>
            </a:rPr>
            <a:t>Sharing Risk</a:t>
          </a:r>
        </a:p>
      </dgm:t>
    </dgm:pt>
    <dgm:pt modelId="{CA237D19-B106-4F56-AF49-988889103631}" type="parTrans" cxnId="{EEB94287-F3E8-44AB-ACF5-BFA3683ABDA9}">
      <dgm:prSet/>
      <dgm:spPr>
        <a:solidFill>
          <a:schemeClr val="accent2">
            <a:lumMod val="50000"/>
          </a:schemeClr>
        </a:solidFill>
      </dgm:spPr>
      <dgm:t>
        <a:bodyPr/>
        <a:lstStyle/>
        <a:p>
          <a:endParaRPr lang="en-US">
            <a:solidFill>
              <a:schemeClr val="accent6">
                <a:lumMod val="75000"/>
              </a:schemeClr>
            </a:solidFill>
          </a:endParaRPr>
        </a:p>
      </dgm:t>
    </dgm:pt>
    <dgm:pt modelId="{23111BC0-2E38-4E9B-9841-15CB659C466D}" type="sibTrans" cxnId="{EEB94287-F3E8-44AB-ACF5-BFA3683ABDA9}">
      <dgm:prSet/>
      <dgm:spPr/>
      <dgm:t>
        <a:bodyPr/>
        <a:lstStyle/>
        <a:p>
          <a:endParaRPr lang="en-US">
            <a:solidFill>
              <a:schemeClr val="accent6">
                <a:lumMod val="75000"/>
              </a:schemeClr>
            </a:solidFill>
          </a:endParaRPr>
        </a:p>
      </dgm:t>
    </dgm:pt>
    <dgm:pt modelId="{9270041B-11AC-49A4-B7A2-C45B14463BBF}">
      <dgm:prSet phldrT="[Text]"/>
      <dgm:spPr>
        <a:solidFill>
          <a:srgbClr val="FFFF00"/>
        </a:solidFill>
      </dgm:spPr>
      <dgm:t>
        <a:bodyPr/>
        <a:lstStyle/>
        <a:p>
          <a:r>
            <a:rPr lang="en-US" dirty="0">
              <a:solidFill>
                <a:srgbClr val="002060"/>
              </a:solidFill>
            </a:rPr>
            <a:t>Optimum Price</a:t>
          </a:r>
        </a:p>
      </dgm:t>
    </dgm:pt>
    <dgm:pt modelId="{302635CA-3EAF-455C-A7A0-BA4E0DDCDA23}" type="parTrans" cxnId="{FB8A24A9-F15E-469D-8DCD-AB8F93F85DE3}">
      <dgm:prSet/>
      <dgm:spPr>
        <a:solidFill>
          <a:srgbClr val="C00000"/>
        </a:solidFill>
      </dgm:spPr>
      <dgm:t>
        <a:bodyPr/>
        <a:lstStyle/>
        <a:p>
          <a:endParaRPr lang="en-US">
            <a:solidFill>
              <a:schemeClr val="accent6">
                <a:lumMod val="75000"/>
              </a:schemeClr>
            </a:solidFill>
          </a:endParaRPr>
        </a:p>
      </dgm:t>
    </dgm:pt>
    <dgm:pt modelId="{C558A519-6B9D-4691-8AED-2E5B6043CC72}" type="sibTrans" cxnId="{FB8A24A9-F15E-469D-8DCD-AB8F93F85DE3}">
      <dgm:prSet/>
      <dgm:spPr/>
      <dgm:t>
        <a:bodyPr/>
        <a:lstStyle/>
        <a:p>
          <a:endParaRPr lang="en-US">
            <a:solidFill>
              <a:schemeClr val="accent6">
                <a:lumMod val="75000"/>
              </a:schemeClr>
            </a:solidFill>
          </a:endParaRPr>
        </a:p>
      </dgm:t>
    </dgm:pt>
    <dgm:pt modelId="{E91F1417-4F1F-4258-BF9A-59ED5C95E945}" type="pres">
      <dgm:prSet presAssocID="{260E8318-9416-40C7-ABAA-5CD3F2E93ADD}" presName="cycle" presStyleCnt="0">
        <dgm:presLayoutVars>
          <dgm:chMax val="1"/>
          <dgm:dir/>
          <dgm:animLvl val="ctr"/>
          <dgm:resizeHandles val="exact"/>
        </dgm:presLayoutVars>
      </dgm:prSet>
      <dgm:spPr/>
    </dgm:pt>
    <dgm:pt modelId="{3A980E33-A959-47C3-9A2E-545DA14AD779}" type="pres">
      <dgm:prSet presAssocID="{CA0B6A2F-E161-4F57-BEAC-923E4713C749}" presName="centerShape" presStyleLbl="node0" presStyleIdx="0" presStyleCnt="1"/>
      <dgm:spPr/>
    </dgm:pt>
    <dgm:pt modelId="{5BB918D7-C712-4363-9149-3E3AB0F60EC7}" type="pres">
      <dgm:prSet presAssocID="{809BD4B8-ACFA-4360-B0AC-E7A4A633EC68}" presName="parTrans" presStyleLbl="bgSibTrans2D1" presStyleIdx="0" presStyleCnt="3"/>
      <dgm:spPr/>
    </dgm:pt>
    <dgm:pt modelId="{1185DBC6-FB89-42EA-8247-7EE7ED5C0D2B}" type="pres">
      <dgm:prSet presAssocID="{B0180032-4F59-49FC-8D28-19B6161C99CE}" presName="node" presStyleLbl="node1" presStyleIdx="0" presStyleCnt="3">
        <dgm:presLayoutVars>
          <dgm:bulletEnabled val="1"/>
        </dgm:presLayoutVars>
      </dgm:prSet>
      <dgm:spPr/>
    </dgm:pt>
    <dgm:pt modelId="{EB97647C-AF10-4B49-BDD5-262E5E6568BD}" type="pres">
      <dgm:prSet presAssocID="{CA237D19-B106-4F56-AF49-988889103631}" presName="parTrans" presStyleLbl="bgSibTrans2D1" presStyleIdx="1" presStyleCnt="3"/>
      <dgm:spPr/>
    </dgm:pt>
    <dgm:pt modelId="{38883954-356F-40BB-9D07-4CC9DE5E526C}" type="pres">
      <dgm:prSet presAssocID="{42719932-442A-4911-8C34-3F8F180F4411}" presName="node" presStyleLbl="node1" presStyleIdx="1" presStyleCnt="3">
        <dgm:presLayoutVars>
          <dgm:bulletEnabled val="1"/>
        </dgm:presLayoutVars>
      </dgm:prSet>
      <dgm:spPr/>
    </dgm:pt>
    <dgm:pt modelId="{883CBA1F-7FDF-442F-92DE-12B8FC78ECA1}" type="pres">
      <dgm:prSet presAssocID="{302635CA-3EAF-455C-A7A0-BA4E0DDCDA23}" presName="parTrans" presStyleLbl="bgSibTrans2D1" presStyleIdx="2" presStyleCnt="3"/>
      <dgm:spPr/>
    </dgm:pt>
    <dgm:pt modelId="{EF23F68E-9F27-4790-8990-B71112A0630F}" type="pres">
      <dgm:prSet presAssocID="{9270041B-11AC-49A4-B7A2-C45B14463BBF}" presName="node" presStyleLbl="node1" presStyleIdx="2" presStyleCnt="3">
        <dgm:presLayoutVars>
          <dgm:bulletEnabled val="1"/>
        </dgm:presLayoutVars>
      </dgm:prSet>
      <dgm:spPr/>
    </dgm:pt>
  </dgm:ptLst>
  <dgm:cxnLst>
    <dgm:cxn modelId="{9131692C-A533-4FE2-92C6-E46576AA17CF}" type="presOf" srcId="{CA237D19-B106-4F56-AF49-988889103631}" destId="{EB97647C-AF10-4B49-BDD5-262E5E6568BD}" srcOrd="0" destOrd="0" presId="urn:microsoft.com/office/officeart/2005/8/layout/radial4"/>
    <dgm:cxn modelId="{E31D8F2C-9C55-40E1-8352-F49D48B44BC8}" srcId="{260E8318-9416-40C7-ABAA-5CD3F2E93ADD}" destId="{CA0B6A2F-E161-4F57-BEAC-923E4713C749}" srcOrd="0" destOrd="0" parTransId="{845A82B1-F039-4FD4-917E-701397C5C652}" sibTransId="{E908D185-EFE2-49DF-868E-529877A65A6A}"/>
    <dgm:cxn modelId="{BDC6D142-3375-4EAC-B915-8C0DA1E1D687}" srcId="{CA0B6A2F-E161-4F57-BEAC-923E4713C749}" destId="{B0180032-4F59-49FC-8D28-19B6161C99CE}" srcOrd="0" destOrd="0" parTransId="{809BD4B8-ACFA-4360-B0AC-E7A4A633EC68}" sibTransId="{4A6753DC-89BB-4E7D-91FD-183AF5F6CB42}"/>
    <dgm:cxn modelId="{DE07EB54-8245-4ED7-B5EF-28C430F34490}" type="presOf" srcId="{260E8318-9416-40C7-ABAA-5CD3F2E93ADD}" destId="{E91F1417-4F1F-4258-BF9A-59ED5C95E945}" srcOrd="0" destOrd="0" presId="urn:microsoft.com/office/officeart/2005/8/layout/radial4"/>
    <dgm:cxn modelId="{EEB94287-F3E8-44AB-ACF5-BFA3683ABDA9}" srcId="{CA0B6A2F-E161-4F57-BEAC-923E4713C749}" destId="{42719932-442A-4911-8C34-3F8F180F4411}" srcOrd="1" destOrd="0" parTransId="{CA237D19-B106-4F56-AF49-988889103631}" sibTransId="{23111BC0-2E38-4E9B-9841-15CB659C466D}"/>
    <dgm:cxn modelId="{E36EB798-A571-45E3-BAD9-2807ED5A71D2}" type="presOf" srcId="{302635CA-3EAF-455C-A7A0-BA4E0DDCDA23}" destId="{883CBA1F-7FDF-442F-92DE-12B8FC78ECA1}" srcOrd="0" destOrd="0" presId="urn:microsoft.com/office/officeart/2005/8/layout/radial4"/>
    <dgm:cxn modelId="{B17B1BA0-5AE0-40DC-84B1-7AF5DA66459B}" type="presOf" srcId="{B0180032-4F59-49FC-8D28-19B6161C99CE}" destId="{1185DBC6-FB89-42EA-8247-7EE7ED5C0D2B}" srcOrd="0" destOrd="0" presId="urn:microsoft.com/office/officeart/2005/8/layout/radial4"/>
    <dgm:cxn modelId="{FB8A24A9-F15E-469D-8DCD-AB8F93F85DE3}" srcId="{CA0B6A2F-E161-4F57-BEAC-923E4713C749}" destId="{9270041B-11AC-49A4-B7A2-C45B14463BBF}" srcOrd="2" destOrd="0" parTransId="{302635CA-3EAF-455C-A7A0-BA4E0DDCDA23}" sibTransId="{C558A519-6B9D-4691-8AED-2E5B6043CC72}"/>
    <dgm:cxn modelId="{EE8CD7B5-95A7-43D6-97BB-5FE434266E3F}" type="presOf" srcId="{42719932-442A-4911-8C34-3F8F180F4411}" destId="{38883954-356F-40BB-9D07-4CC9DE5E526C}" srcOrd="0" destOrd="0" presId="urn:microsoft.com/office/officeart/2005/8/layout/radial4"/>
    <dgm:cxn modelId="{863A56C0-69A7-482A-B3BE-006A1173B4D9}" type="presOf" srcId="{809BD4B8-ACFA-4360-B0AC-E7A4A633EC68}" destId="{5BB918D7-C712-4363-9149-3E3AB0F60EC7}" srcOrd="0" destOrd="0" presId="urn:microsoft.com/office/officeart/2005/8/layout/radial4"/>
    <dgm:cxn modelId="{CA3BC3CF-6164-48EB-A279-EDE484753E1F}" type="presOf" srcId="{9270041B-11AC-49A4-B7A2-C45B14463BBF}" destId="{EF23F68E-9F27-4790-8990-B71112A0630F}" srcOrd="0" destOrd="0" presId="urn:microsoft.com/office/officeart/2005/8/layout/radial4"/>
    <dgm:cxn modelId="{A864CADE-D1BB-4B08-92B4-5D910ED43335}" type="presOf" srcId="{CA0B6A2F-E161-4F57-BEAC-923E4713C749}" destId="{3A980E33-A959-47C3-9A2E-545DA14AD779}" srcOrd="0" destOrd="0" presId="urn:microsoft.com/office/officeart/2005/8/layout/radial4"/>
    <dgm:cxn modelId="{4549DE24-8045-439C-AB18-0EC92727E6D9}" type="presParOf" srcId="{E91F1417-4F1F-4258-BF9A-59ED5C95E945}" destId="{3A980E33-A959-47C3-9A2E-545DA14AD779}" srcOrd="0" destOrd="0" presId="urn:microsoft.com/office/officeart/2005/8/layout/radial4"/>
    <dgm:cxn modelId="{D2D0169F-38C0-4E41-AC77-B3BE8AD4173A}" type="presParOf" srcId="{E91F1417-4F1F-4258-BF9A-59ED5C95E945}" destId="{5BB918D7-C712-4363-9149-3E3AB0F60EC7}" srcOrd="1" destOrd="0" presId="urn:microsoft.com/office/officeart/2005/8/layout/radial4"/>
    <dgm:cxn modelId="{A4EB62AB-8D7C-4E8B-8F41-388EEDAA4A0A}" type="presParOf" srcId="{E91F1417-4F1F-4258-BF9A-59ED5C95E945}" destId="{1185DBC6-FB89-42EA-8247-7EE7ED5C0D2B}" srcOrd="2" destOrd="0" presId="urn:microsoft.com/office/officeart/2005/8/layout/radial4"/>
    <dgm:cxn modelId="{DC3664D3-8EBF-45FF-8E0B-B43DC7BFB744}" type="presParOf" srcId="{E91F1417-4F1F-4258-BF9A-59ED5C95E945}" destId="{EB97647C-AF10-4B49-BDD5-262E5E6568BD}" srcOrd="3" destOrd="0" presId="urn:microsoft.com/office/officeart/2005/8/layout/radial4"/>
    <dgm:cxn modelId="{1799EB35-EA6D-4005-B154-7D32179C04DD}" type="presParOf" srcId="{E91F1417-4F1F-4258-BF9A-59ED5C95E945}" destId="{38883954-356F-40BB-9D07-4CC9DE5E526C}" srcOrd="4" destOrd="0" presId="urn:microsoft.com/office/officeart/2005/8/layout/radial4"/>
    <dgm:cxn modelId="{2773CBAB-9667-48DE-B82D-BA31FE21DB1D}" type="presParOf" srcId="{E91F1417-4F1F-4258-BF9A-59ED5C95E945}" destId="{883CBA1F-7FDF-442F-92DE-12B8FC78ECA1}" srcOrd="5" destOrd="0" presId="urn:microsoft.com/office/officeart/2005/8/layout/radial4"/>
    <dgm:cxn modelId="{D00331D3-2AD9-4D9A-8553-B0A22E0BCC28}" type="presParOf" srcId="{E91F1417-4F1F-4258-BF9A-59ED5C95E945}" destId="{EF23F68E-9F27-4790-8990-B71112A0630F}" srcOrd="6" destOrd="0" presId="urn:microsoft.com/office/officeart/2005/8/layout/radial4"/>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60E8318-9416-40C7-ABAA-5CD3F2E93ADD}"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CA0B6A2F-E161-4F57-BEAC-923E4713C749}">
      <dgm:prSet phldrT="[Text]"/>
      <dgm:spPr>
        <a:solidFill>
          <a:srgbClr val="FFC000"/>
        </a:solidFill>
      </dgm:spPr>
      <dgm:t>
        <a:bodyPr/>
        <a:lstStyle/>
        <a:p>
          <a:r>
            <a:rPr lang="en-US" b="1" dirty="0">
              <a:solidFill>
                <a:schemeClr val="accent6">
                  <a:lumMod val="50000"/>
                </a:schemeClr>
              </a:solidFill>
            </a:rPr>
            <a:t>IPM</a:t>
          </a:r>
        </a:p>
      </dgm:t>
    </dgm:pt>
    <dgm:pt modelId="{845A82B1-F039-4FD4-917E-701397C5C652}" type="parTrans" cxnId="{E31D8F2C-9C55-40E1-8352-F49D48B44BC8}">
      <dgm:prSet/>
      <dgm:spPr/>
      <dgm:t>
        <a:bodyPr/>
        <a:lstStyle/>
        <a:p>
          <a:endParaRPr lang="en-US">
            <a:solidFill>
              <a:schemeClr val="accent6">
                <a:lumMod val="75000"/>
              </a:schemeClr>
            </a:solidFill>
          </a:endParaRPr>
        </a:p>
      </dgm:t>
    </dgm:pt>
    <dgm:pt modelId="{E908D185-EFE2-49DF-868E-529877A65A6A}" type="sibTrans" cxnId="{E31D8F2C-9C55-40E1-8352-F49D48B44BC8}">
      <dgm:prSet/>
      <dgm:spPr/>
      <dgm:t>
        <a:bodyPr/>
        <a:lstStyle/>
        <a:p>
          <a:endParaRPr lang="en-US">
            <a:solidFill>
              <a:schemeClr val="accent6">
                <a:lumMod val="75000"/>
              </a:schemeClr>
            </a:solidFill>
          </a:endParaRPr>
        </a:p>
      </dgm:t>
    </dgm:pt>
    <dgm:pt modelId="{B0180032-4F59-49FC-8D28-19B6161C99CE}">
      <dgm:prSet phldrT="[Text]"/>
      <dgm:spPr>
        <a:solidFill>
          <a:srgbClr val="FFFF99"/>
        </a:solidFill>
      </dgm:spPr>
      <dgm:t>
        <a:bodyPr/>
        <a:lstStyle/>
        <a:p>
          <a:r>
            <a:rPr lang="en-US" dirty="0">
              <a:solidFill>
                <a:srgbClr val="002060"/>
              </a:solidFill>
            </a:rPr>
            <a:t>Turnkey </a:t>
          </a:r>
          <a:r>
            <a:rPr lang="en-US" dirty="0">
              <a:solidFill>
                <a:srgbClr val="002060"/>
              </a:solidFill>
              <a:sym typeface="Wingdings" panose="05000000000000000000" pitchFamily="2" charset="2"/>
            </a:rPr>
            <a:t> Lumpsum</a:t>
          </a:r>
          <a:endParaRPr lang="en-US" dirty="0">
            <a:solidFill>
              <a:srgbClr val="002060"/>
            </a:solidFill>
          </a:endParaRPr>
        </a:p>
      </dgm:t>
    </dgm:pt>
    <dgm:pt modelId="{809BD4B8-ACFA-4360-B0AC-E7A4A633EC68}" type="parTrans" cxnId="{BDC6D142-3375-4EAC-B915-8C0DA1E1D687}">
      <dgm:prSet/>
      <dgm:spPr>
        <a:solidFill>
          <a:schemeClr val="accent2">
            <a:lumMod val="75000"/>
          </a:schemeClr>
        </a:solidFill>
      </dgm:spPr>
      <dgm:t>
        <a:bodyPr/>
        <a:lstStyle/>
        <a:p>
          <a:endParaRPr lang="en-US">
            <a:solidFill>
              <a:schemeClr val="accent6">
                <a:lumMod val="75000"/>
              </a:schemeClr>
            </a:solidFill>
          </a:endParaRPr>
        </a:p>
      </dgm:t>
    </dgm:pt>
    <dgm:pt modelId="{4A6753DC-89BB-4E7D-91FD-183AF5F6CB42}" type="sibTrans" cxnId="{BDC6D142-3375-4EAC-B915-8C0DA1E1D687}">
      <dgm:prSet/>
      <dgm:spPr/>
      <dgm:t>
        <a:bodyPr/>
        <a:lstStyle/>
        <a:p>
          <a:endParaRPr lang="en-US">
            <a:solidFill>
              <a:schemeClr val="accent6">
                <a:lumMod val="75000"/>
              </a:schemeClr>
            </a:solidFill>
          </a:endParaRPr>
        </a:p>
      </dgm:t>
    </dgm:pt>
    <dgm:pt modelId="{42719932-442A-4911-8C34-3F8F180F4411}">
      <dgm:prSet phldrT="[Text]"/>
      <dgm:spPr>
        <a:solidFill>
          <a:srgbClr val="FFFF66"/>
        </a:solidFill>
      </dgm:spPr>
      <dgm:t>
        <a:bodyPr/>
        <a:lstStyle/>
        <a:p>
          <a:r>
            <a:rPr lang="en-US" dirty="0">
              <a:solidFill>
                <a:srgbClr val="002060"/>
              </a:solidFill>
            </a:rPr>
            <a:t>Lumpsum</a:t>
          </a:r>
        </a:p>
        <a:p>
          <a:r>
            <a:rPr lang="en-US" dirty="0">
              <a:solidFill>
                <a:srgbClr val="002060"/>
              </a:solidFill>
            </a:rPr>
            <a:t>+ Unit Price</a:t>
          </a:r>
        </a:p>
      </dgm:t>
    </dgm:pt>
    <dgm:pt modelId="{CA237D19-B106-4F56-AF49-988889103631}" type="parTrans" cxnId="{EEB94287-F3E8-44AB-ACF5-BFA3683ABDA9}">
      <dgm:prSet/>
      <dgm:spPr>
        <a:solidFill>
          <a:schemeClr val="accent2">
            <a:lumMod val="50000"/>
          </a:schemeClr>
        </a:solidFill>
      </dgm:spPr>
      <dgm:t>
        <a:bodyPr/>
        <a:lstStyle/>
        <a:p>
          <a:endParaRPr lang="en-US">
            <a:solidFill>
              <a:schemeClr val="accent6">
                <a:lumMod val="75000"/>
              </a:schemeClr>
            </a:solidFill>
          </a:endParaRPr>
        </a:p>
      </dgm:t>
    </dgm:pt>
    <dgm:pt modelId="{23111BC0-2E38-4E9B-9841-15CB659C466D}" type="sibTrans" cxnId="{EEB94287-F3E8-44AB-ACF5-BFA3683ABDA9}">
      <dgm:prSet/>
      <dgm:spPr/>
      <dgm:t>
        <a:bodyPr/>
        <a:lstStyle/>
        <a:p>
          <a:endParaRPr lang="en-US">
            <a:solidFill>
              <a:schemeClr val="accent6">
                <a:lumMod val="75000"/>
              </a:schemeClr>
            </a:solidFill>
          </a:endParaRPr>
        </a:p>
      </dgm:t>
    </dgm:pt>
    <dgm:pt modelId="{9270041B-11AC-49A4-B7A2-C45B14463BBF}">
      <dgm:prSet phldrT="[Text]"/>
      <dgm:spPr>
        <a:solidFill>
          <a:srgbClr val="FFFF00"/>
        </a:solidFill>
      </dgm:spPr>
      <dgm:t>
        <a:bodyPr/>
        <a:lstStyle/>
        <a:p>
          <a:r>
            <a:rPr lang="en-US" dirty="0">
              <a:solidFill>
                <a:srgbClr val="002060"/>
              </a:solidFill>
            </a:rPr>
            <a:t>Unit Price</a:t>
          </a:r>
        </a:p>
      </dgm:t>
    </dgm:pt>
    <dgm:pt modelId="{302635CA-3EAF-455C-A7A0-BA4E0DDCDA23}" type="parTrans" cxnId="{FB8A24A9-F15E-469D-8DCD-AB8F93F85DE3}">
      <dgm:prSet/>
      <dgm:spPr>
        <a:solidFill>
          <a:srgbClr val="C00000"/>
        </a:solidFill>
      </dgm:spPr>
      <dgm:t>
        <a:bodyPr/>
        <a:lstStyle/>
        <a:p>
          <a:endParaRPr lang="en-US">
            <a:solidFill>
              <a:schemeClr val="accent6">
                <a:lumMod val="75000"/>
              </a:schemeClr>
            </a:solidFill>
          </a:endParaRPr>
        </a:p>
      </dgm:t>
    </dgm:pt>
    <dgm:pt modelId="{C558A519-6B9D-4691-8AED-2E5B6043CC72}" type="sibTrans" cxnId="{FB8A24A9-F15E-469D-8DCD-AB8F93F85DE3}">
      <dgm:prSet/>
      <dgm:spPr/>
      <dgm:t>
        <a:bodyPr/>
        <a:lstStyle/>
        <a:p>
          <a:endParaRPr lang="en-US">
            <a:solidFill>
              <a:schemeClr val="accent6">
                <a:lumMod val="75000"/>
              </a:schemeClr>
            </a:solidFill>
          </a:endParaRPr>
        </a:p>
      </dgm:t>
    </dgm:pt>
    <dgm:pt modelId="{E91F1417-4F1F-4258-BF9A-59ED5C95E945}" type="pres">
      <dgm:prSet presAssocID="{260E8318-9416-40C7-ABAA-5CD3F2E93ADD}" presName="cycle" presStyleCnt="0">
        <dgm:presLayoutVars>
          <dgm:chMax val="1"/>
          <dgm:dir/>
          <dgm:animLvl val="ctr"/>
          <dgm:resizeHandles val="exact"/>
        </dgm:presLayoutVars>
      </dgm:prSet>
      <dgm:spPr/>
    </dgm:pt>
    <dgm:pt modelId="{3A980E33-A959-47C3-9A2E-545DA14AD779}" type="pres">
      <dgm:prSet presAssocID="{CA0B6A2F-E161-4F57-BEAC-923E4713C749}" presName="centerShape" presStyleLbl="node0" presStyleIdx="0" presStyleCnt="1"/>
      <dgm:spPr/>
    </dgm:pt>
    <dgm:pt modelId="{5BB918D7-C712-4363-9149-3E3AB0F60EC7}" type="pres">
      <dgm:prSet presAssocID="{809BD4B8-ACFA-4360-B0AC-E7A4A633EC68}" presName="parTrans" presStyleLbl="bgSibTrans2D1" presStyleIdx="0" presStyleCnt="3"/>
      <dgm:spPr/>
    </dgm:pt>
    <dgm:pt modelId="{1185DBC6-FB89-42EA-8247-7EE7ED5C0D2B}" type="pres">
      <dgm:prSet presAssocID="{B0180032-4F59-49FC-8D28-19B6161C99CE}" presName="node" presStyleLbl="node1" presStyleIdx="0" presStyleCnt="3">
        <dgm:presLayoutVars>
          <dgm:bulletEnabled val="1"/>
        </dgm:presLayoutVars>
      </dgm:prSet>
      <dgm:spPr/>
    </dgm:pt>
    <dgm:pt modelId="{EB97647C-AF10-4B49-BDD5-262E5E6568BD}" type="pres">
      <dgm:prSet presAssocID="{CA237D19-B106-4F56-AF49-988889103631}" presName="parTrans" presStyleLbl="bgSibTrans2D1" presStyleIdx="1" presStyleCnt="3"/>
      <dgm:spPr/>
    </dgm:pt>
    <dgm:pt modelId="{38883954-356F-40BB-9D07-4CC9DE5E526C}" type="pres">
      <dgm:prSet presAssocID="{42719932-442A-4911-8C34-3F8F180F4411}" presName="node" presStyleLbl="node1" presStyleIdx="1" presStyleCnt="3">
        <dgm:presLayoutVars>
          <dgm:bulletEnabled val="1"/>
        </dgm:presLayoutVars>
      </dgm:prSet>
      <dgm:spPr/>
    </dgm:pt>
    <dgm:pt modelId="{883CBA1F-7FDF-442F-92DE-12B8FC78ECA1}" type="pres">
      <dgm:prSet presAssocID="{302635CA-3EAF-455C-A7A0-BA4E0DDCDA23}" presName="parTrans" presStyleLbl="bgSibTrans2D1" presStyleIdx="2" presStyleCnt="3"/>
      <dgm:spPr/>
    </dgm:pt>
    <dgm:pt modelId="{EF23F68E-9F27-4790-8990-B71112A0630F}" type="pres">
      <dgm:prSet presAssocID="{9270041B-11AC-49A4-B7A2-C45B14463BBF}" presName="node" presStyleLbl="node1" presStyleIdx="2" presStyleCnt="3">
        <dgm:presLayoutVars>
          <dgm:bulletEnabled val="1"/>
        </dgm:presLayoutVars>
      </dgm:prSet>
      <dgm:spPr/>
    </dgm:pt>
  </dgm:ptLst>
  <dgm:cxnLst>
    <dgm:cxn modelId="{9131692C-A533-4FE2-92C6-E46576AA17CF}" type="presOf" srcId="{CA237D19-B106-4F56-AF49-988889103631}" destId="{EB97647C-AF10-4B49-BDD5-262E5E6568BD}" srcOrd="0" destOrd="0" presId="urn:microsoft.com/office/officeart/2005/8/layout/radial4"/>
    <dgm:cxn modelId="{E31D8F2C-9C55-40E1-8352-F49D48B44BC8}" srcId="{260E8318-9416-40C7-ABAA-5CD3F2E93ADD}" destId="{CA0B6A2F-E161-4F57-BEAC-923E4713C749}" srcOrd="0" destOrd="0" parTransId="{845A82B1-F039-4FD4-917E-701397C5C652}" sibTransId="{E908D185-EFE2-49DF-868E-529877A65A6A}"/>
    <dgm:cxn modelId="{BDC6D142-3375-4EAC-B915-8C0DA1E1D687}" srcId="{CA0B6A2F-E161-4F57-BEAC-923E4713C749}" destId="{B0180032-4F59-49FC-8D28-19B6161C99CE}" srcOrd="0" destOrd="0" parTransId="{809BD4B8-ACFA-4360-B0AC-E7A4A633EC68}" sibTransId="{4A6753DC-89BB-4E7D-91FD-183AF5F6CB42}"/>
    <dgm:cxn modelId="{DE07EB54-8245-4ED7-B5EF-28C430F34490}" type="presOf" srcId="{260E8318-9416-40C7-ABAA-5CD3F2E93ADD}" destId="{E91F1417-4F1F-4258-BF9A-59ED5C95E945}" srcOrd="0" destOrd="0" presId="urn:microsoft.com/office/officeart/2005/8/layout/radial4"/>
    <dgm:cxn modelId="{EEB94287-F3E8-44AB-ACF5-BFA3683ABDA9}" srcId="{CA0B6A2F-E161-4F57-BEAC-923E4713C749}" destId="{42719932-442A-4911-8C34-3F8F180F4411}" srcOrd="1" destOrd="0" parTransId="{CA237D19-B106-4F56-AF49-988889103631}" sibTransId="{23111BC0-2E38-4E9B-9841-15CB659C466D}"/>
    <dgm:cxn modelId="{E36EB798-A571-45E3-BAD9-2807ED5A71D2}" type="presOf" srcId="{302635CA-3EAF-455C-A7A0-BA4E0DDCDA23}" destId="{883CBA1F-7FDF-442F-92DE-12B8FC78ECA1}" srcOrd="0" destOrd="0" presId="urn:microsoft.com/office/officeart/2005/8/layout/radial4"/>
    <dgm:cxn modelId="{B17B1BA0-5AE0-40DC-84B1-7AF5DA66459B}" type="presOf" srcId="{B0180032-4F59-49FC-8D28-19B6161C99CE}" destId="{1185DBC6-FB89-42EA-8247-7EE7ED5C0D2B}" srcOrd="0" destOrd="0" presId="urn:microsoft.com/office/officeart/2005/8/layout/radial4"/>
    <dgm:cxn modelId="{FB8A24A9-F15E-469D-8DCD-AB8F93F85DE3}" srcId="{CA0B6A2F-E161-4F57-BEAC-923E4713C749}" destId="{9270041B-11AC-49A4-B7A2-C45B14463BBF}" srcOrd="2" destOrd="0" parTransId="{302635CA-3EAF-455C-A7A0-BA4E0DDCDA23}" sibTransId="{C558A519-6B9D-4691-8AED-2E5B6043CC72}"/>
    <dgm:cxn modelId="{EE8CD7B5-95A7-43D6-97BB-5FE434266E3F}" type="presOf" srcId="{42719932-442A-4911-8C34-3F8F180F4411}" destId="{38883954-356F-40BB-9D07-4CC9DE5E526C}" srcOrd="0" destOrd="0" presId="urn:microsoft.com/office/officeart/2005/8/layout/radial4"/>
    <dgm:cxn modelId="{863A56C0-69A7-482A-B3BE-006A1173B4D9}" type="presOf" srcId="{809BD4B8-ACFA-4360-B0AC-E7A4A633EC68}" destId="{5BB918D7-C712-4363-9149-3E3AB0F60EC7}" srcOrd="0" destOrd="0" presId="urn:microsoft.com/office/officeart/2005/8/layout/radial4"/>
    <dgm:cxn modelId="{CA3BC3CF-6164-48EB-A279-EDE484753E1F}" type="presOf" srcId="{9270041B-11AC-49A4-B7A2-C45B14463BBF}" destId="{EF23F68E-9F27-4790-8990-B71112A0630F}" srcOrd="0" destOrd="0" presId="urn:microsoft.com/office/officeart/2005/8/layout/radial4"/>
    <dgm:cxn modelId="{A864CADE-D1BB-4B08-92B4-5D910ED43335}" type="presOf" srcId="{CA0B6A2F-E161-4F57-BEAC-923E4713C749}" destId="{3A980E33-A959-47C3-9A2E-545DA14AD779}" srcOrd="0" destOrd="0" presId="urn:microsoft.com/office/officeart/2005/8/layout/radial4"/>
    <dgm:cxn modelId="{4549DE24-8045-439C-AB18-0EC92727E6D9}" type="presParOf" srcId="{E91F1417-4F1F-4258-BF9A-59ED5C95E945}" destId="{3A980E33-A959-47C3-9A2E-545DA14AD779}" srcOrd="0" destOrd="0" presId="urn:microsoft.com/office/officeart/2005/8/layout/radial4"/>
    <dgm:cxn modelId="{D2D0169F-38C0-4E41-AC77-B3BE8AD4173A}" type="presParOf" srcId="{E91F1417-4F1F-4258-BF9A-59ED5C95E945}" destId="{5BB918D7-C712-4363-9149-3E3AB0F60EC7}" srcOrd="1" destOrd="0" presId="urn:microsoft.com/office/officeart/2005/8/layout/radial4"/>
    <dgm:cxn modelId="{A4EB62AB-8D7C-4E8B-8F41-388EEDAA4A0A}" type="presParOf" srcId="{E91F1417-4F1F-4258-BF9A-59ED5C95E945}" destId="{1185DBC6-FB89-42EA-8247-7EE7ED5C0D2B}" srcOrd="2" destOrd="0" presId="urn:microsoft.com/office/officeart/2005/8/layout/radial4"/>
    <dgm:cxn modelId="{DC3664D3-8EBF-45FF-8E0B-B43DC7BFB744}" type="presParOf" srcId="{E91F1417-4F1F-4258-BF9A-59ED5C95E945}" destId="{EB97647C-AF10-4B49-BDD5-262E5E6568BD}" srcOrd="3" destOrd="0" presId="urn:microsoft.com/office/officeart/2005/8/layout/radial4"/>
    <dgm:cxn modelId="{1799EB35-EA6D-4005-B154-7D32179C04DD}" type="presParOf" srcId="{E91F1417-4F1F-4258-BF9A-59ED5C95E945}" destId="{38883954-356F-40BB-9D07-4CC9DE5E526C}" srcOrd="4" destOrd="0" presId="urn:microsoft.com/office/officeart/2005/8/layout/radial4"/>
    <dgm:cxn modelId="{2773CBAB-9667-48DE-B82D-BA31FE21DB1D}" type="presParOf" srcId="{E91F1417-4F1F-4258-BF9A-59ED5C95E945}" destId="{883CBA1F-7FDF-442F-92DE-12B8FC78ECA1}" srcOrd="5" destOrd="0" presId="urn:microsoft.com/office/officeart/2005/8/layout/radial4"/>
    <dgm:cxn modelId="{D00331D3-2AD9-4D9A-8553-B0A22E0BCC28}" type="presParOf" srcId="{E91F1417-4F1F-4258-BF9A-59ED5C95E945}" destId="{EF23F68E-9F27-4790-8990-B71112A0630F}"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06A872F-9300-4451-B2BC-7A9B841F26F1}" type="doc">
      <dgm:prSet loTypeId="urn:microsoft.com/office/officeart/2005/8/layout/equation2" loCatId="process" qsTypeId="urn:microsoft.com/office/officeart/2005/8/quickstyle/simple1" qsCatId="simple" csTypeId="urn:microsoft.com/office/officeart/2005/8/colors/accent1_2" csCatId="accent1" phldr="1"/>
      <dgm:spPr/>
    </dgm:pt>
    <dgm:pt modelId="{A784AD97-EA76-4E9A-852C-4807CC31843B}">
      <dgm:prSet phldrT="[Text]"/>
      <dgm:spPr>
        <a:solidFill>
          <a:schemeClr val="accent4">
            <a:lumMod val="40000"/>
            <a:lumOff val="60000"/>
          </a:schemeClr>
        </a:solidFill>
      </dgm:spPr>
      <dgm:t>
        <a:bodyPr/>
        <a:lstStyle/>
        <a:p>
          <a:r>
            <a:rPr lang="en-US" dirty="0">
              <a:solidFill>
                <a:schemeClr val="accent5">
                  <a:lumMod val="50000"/>
                </a:schemeClr>
              </a:solidFill>
            </a:rPr>
            <a:t>Best Unit Price</a:t>
          </a:r>
        </a:p>
      </dgm:t>
    </dgm:pt>
    <dgm:pt modelId="{42834D25-34BA-4C1B-8465-33F1F0A5727F}" type="parTrans" cxnId="{8E6536FC-07AF-4059-8AF3-4E509406E228}">
      <dgm:prSet/>
      <dgm:spPr/>
      <dgm:t>
        <a:bodyPr/>
        <a:lstStyle/>
        <a:p>
          <a:endParaRPr lang="en-US"/>
        </a:p>
      </dgm:t>
    </dgm:pt>
    <dgm:pt modelId="{AEE74DA1-EAEA-483E-A956-6579C76A2018}" type="sibTrans" cxnId="{8E6536FC-07AF-4059-8AF3-4E509406E228}">
      <dgm:prSet/>
      <dgm:spPr>
        <a:solidFill>
          <a:schemeClr val="accent4">
            <a:lumMod val="75000"/>
          </a:schemeClr>
        </a:solidFill>
      </dgm:spPr>
      <dgm:t>
        <a:bodyPr/>
        <a:lstStyle/>
        <a:p>
          <a:endParaRPr lang="en-US"/>
        </a:p>
      </dgm:t>
    </dgm:pt>
    <dgm:pt modelId="{E5CD513B-FC47-40D5-93DB-04CA13CBE614}">
      <dgm:prSet phldrT="[Text]" custT="1"/>
      <dgm:spPr>
        <a:solidFill>
          <a:schemeClr val="accent6">
            <a:lumMod val="75000"/>
          </a:schemeClr>
        </a:solidFill>
      </dgm:spPr>
      <dgm:t>
        <a:bodyPr/>
        <a:lstStyle/>
        <a:p>
          <a:r>
            <a:rPr lang="en-US" sz="2000" b="1" dirty="0">
              <a:solidFill>
                <a:srgbClr val="FFFF00"/>
              </a:solidFill>
            </a:rPr>
            <a:t>Risk Basket</a:t>
          </a:r>
        </a:p>
      </dgm:t>
    </dgm:pt>
    <dgm:pt modelId="{9CFCECAA-86F4-46F1-9626-B43E4808696C}" type="parTrans" cxnId="{71C724E0-47F6-464B-BA4D-E936137FD155}">
      <dgm:prSet/>
      <dgm:spPr/>
      <dgm:t>
        <a:bodyPr/>
        <a:lstStyle/>
        <a:p>
          <a:endParaRPr lang="en-US"/>
        </a:p>
      </dgm:t>
    </dgm:pt>
    <dgm:pt modelId="{4D037B7D-4AAD-4611-9E83-ABBECE2B699D}" type="sibTrans" cxnId="{71C724E0-47F6-464B-BA4D-E936137FD155}">
      <dgm:prSet/>
      <dgm:spPr>
        <a:solidFill>
          <a:schemeClr val="accent6">
            <a:lumMod val="50000"/>
          </a:schemeClr>
        </a:solidFill>
      </dgm:spPr>
      <dgm:t>
        <a:bodyPr/>
        <a:lstStyle/>
        <a:p>
          <a:endParaRPr lang="en-US"/>
        </a:p>
      </dgm:t>
    </dgm:pt>
    <dgm:pt modelId="{78428A2C-0B7A-4049-9D9C-4397BCEA8310}">
      <dgm:prSet phldrT="[Text]"/>
      <dgm:spPr/>
      <dgm:t>
        <a:bodyPr/>
        <a:lstStyle/>
        <a:p>
          <a:r>
            <a:rPr lang="en-US" dirty="0"/>
            <a:t>Total Cost</a:t>
          </a:r>
        </a:p>
      </dgm:t>
    </dgm:pt>
    <dgm:pt modelId="{5582EC97-9F7F-4308-A3AF-18B59ACF10E0}" type="parTrans" cxnId="{654D3980-BCFF-40BF-A86C-818D438B92F1}">
      <dgm:prSet/>
      <dgm:spPr/>
      <dgm:t>
        <a:bodyPr/>
        <a:lstStyle/>
        <a:p>
          <a:endParaRPr lang="en-US"/>
        </a:p>
      </dgm:t>
    </dgm:pt>
    <dgm:pt modelId="{E7F82372-4168-4644-A994-029BDC59440C}" type="sibTrans" cxnId="{654D3980-BCFF-40BF-A86C-818D438B92F1}">
      <dgm:prSet/>
      <dgm:spPr/>
      <dgm:t>
        <a:bodyPr/>
        <a:lstStyle/>
        <a:p>
          <a:endParaRPr lang="en-US"/>
        </a:p>
      </dgm:t>
    </dgm:pt>
    <dgm:pt modelId="{A3D18B45-8444-4724-ADA2-53A32A60FC0F}">
      <dgm:prSet phldrT="[Text]" custT="1"/>
      <dgm:spPr>
        <a:solidFill>
          <a:schemeClr val="accent5">
            <a:lumMod val="75000"/>
          </a:schemeClr>
        </a:solidFill>
      </dgm:spPr>
      <dgm:t>
        <a:bodyPr/>
        <a:lstStyle/>
        <a:p>
          <a:r>
            <a:rPr lang="en-US" sz="2400" dirty="0"/>
            <a:t>Profit</a:t>
          </a:r>
        </a:p>
      </dgm:t>
    </dgm:pt>
    <dgm:pt modelId="{CAB163F1-E767-4F9E-A20D-952EC02C78D5}" type="parTrans" cxnId="{11A9A3CB-0DAA-4390-B9B8-03960C991EB7}">
      <dgm:prSet/>
      <dgm:spPr/>
      <dgm:t>
        <a:bodyPr/>
        <a:lstStyle/>
        <a:p>
          <a:endParaRPr lang="en-US"/>
        </a:p>
      </dgm:t>
    </dgm:pt>
    <dgm:pt modelId="{50CED8AA-DD2A-40BF-8EEE-13ED54D4498F}" type="sibTrans" cxnId="{11A9A3CB-0DAA-4390-B9B8-03960C991EB7}">
      <dgm:prSet/>
      <dgm:spPr>
        <a:solidFill>
          <a:srgbClr val="FFC000"/>
        </a:solidFill>
      </dgm:spPr>
      <dgm:t>
        <a:bodyPr/>
        <a:lstStyle/>
        <a:p>
          <a:endParaRPr lang="en-US"/>
        </a:p>
      </dgm:t>
    </dgm:pt>
    <dgm:pt modelId="{0F16E574-3B6E-4F67-8B8B-E720FE521178}" type="pres">
      <dgm:prSet presAssocID="{E06A872F-9300-4451-B2BC-7A9B841F26F1}" presName="Name0" presStyleCnt="0">
        <dgm:presLayoutVars>
          <dgm:dir/>
          <dgm:resizeHandles val="exact"/>
        </dgm:presLayoutVars>
      </dgm:prSet>
      <dgm:spPr/>
    </dgm:pt>
    <dgm:pt modelId="{30B7CB21-3986-42DA-A5D3-E84473C11DC7}" type="pres">
      <dgm:prSet presAssocID="{E06A872F-9300-4451-B2BC-7A9B841F26F1}" presName="vNodes" presStyleCnt="0"/>
      <dgm:spPr/>
    </dgm:pt>
    <dgm:pt modelId="{6BFBCE3C-C1A1-49C0-84E9-B42CB59F34C9}" type="pres">
      <dgm:prSet presAssocID="{A784AD97-EA76-4E9A-852C-4807CC31843B}" presName="node" presStyleLbl="node1" presStyleIdx="0" presStyleCnt="4">
        <dgm:presLayoutVars>
          <dgm:bulletEnabled val="1"/>
        </dgm:presLayoutVars>
      </dgm:prSet>
      <dgm:spPr/>
    </dgm:pt>
    <dgm:pt modelId="{E4130E72-3000-4EB9-870D-061069D31DA1}" type="pres">
      <dgm:prSet presAssocID="{AEE74DA1-EAEA-483E-A956-6579C76A2018}" presName="spacerT" presStyleCnt="0"/>
      <dgm:spPr/>
    </dgm:pt>
    <dgm:pt modelId="{41C3230F-E73A-47DE-9794-26549B874E87}" type="pres">
      <dgm:prSet presAssocID="{AEE74DA1-EAEA-483E-A956-6579C76A2018}" presName="sibTrans" presStyleLbl="sibTrans2D1" presStyleIdx="0" presStyleCnt="3"/>
      <dgm:spPr/>
    </dgm:pt>
    <dgm:pt modelId="{77DEE083-8BBC-4A2E-9E87-A41F6DBCBCB1}" type="pres">
      <dgm:prSet presAssocID="{AEE74DA1-EAEA-483E-A956-6579C76A2018}" presName="spacerB" presStyleCnt="0"/>
      <dgm:spPr/>
    </dgm:pt>
    <dgm:pt modelId="{666DC3BA-364E-44FD-B96A-DB93D1BF2BB7}" type="pres">
      <dgm:prSet presAssocID="{E5CD513B-FC47-40D5-93DB-04CA13CBE614}" presName="node" presStyleLbl="node1" presStyleIdx="1" presStyleCnt="4">
        <dgm:presLayoutVars>
          <dgm:bulletEnabled val="1"/>
        </dgm:presLayoutVars>
      </dgm:prSet>
      <dgm:spPr/>
    </dgm:pt>
    <dgm:pt modelId="{F5BAD1E1-4481-496D-A027-9A872CF47CFD}" type="pres">
      <dgm:prSet presAssocID="{4D037B7D-4AAD-4611-9E83-ABBECE2B699D}" presName="spacerT" presStyleCnt="0"/>
      <dgm:spPr/>
    </dgm:pt>
    <dgm:pt modelId="{F55212DF-5238-4195-B037-32DD8C381D3E}" type="pres">
      <dgm:prSet presAssocID="{4D037B7D-4AAD-4611-9E83-ABBECE2B699D}" presName="sibTrans" presStyleLbl="sibTrans2D1" presStyleIdx="1" presStyleCnt="3"/>
      <dgm:spPr/>
    </dgm:pt>
    <dgm:pt modelId="{54F38813-F9CE-4121-98DD-75FE9A207120}" type="pres">
      <dgm:prSet presAssocID="{4D037B7D-4AAD-4611-9E83-ABBECE2B699D}" presName="spacerB" presStyleCnt="0"/>
      <dgm:spPr/>
    </dgm:pt>
    <dgm:pt modelId="{BB78A9BA-B5C3-4DB5-AF4C-E7B608D7DDFE}" type="pres">
      <dgm:prSet presAssocID="{A3D18B45-8444-4724-ADA2-53A32A60FC0F}" presName="node" presStyleLbl="node1" presStyleIdx="2" presStyleCnt="4">
        <dgm:presLayoutVars>
          <dgm:bulletEnabled val="1"/>
        </dgm:presLayoutVars>
      </dgm:prSet>
      <dgm:spPr/>
    </dgm:pt>
    <dgm:pt modelId="{266EA3D5-663E-4396-B701-3E7073C73DA0}" type="pres">
      <dgm:prSet presAssocID="{E06A872F-9300-4451-B2BC-7A9B841F26F1}" presName="sibTransLast" presStyleLbl="sibTrans2D1" presStyleIdx="2" presStyleCnt="3" custScaleY="247082"/>
      <dgm:spPr/>
    </dgm:pt>
    <dgm:pt modelId="{B239DA18-5B69-416C-B410-17D6EC8D2A59}" type="pres">
      <dgm:prSet presAssocID="{E06A872F-9300-4451-B2BC-7A9B841F26F1}" presName="connectorText" presStyleLbl="sibTrans2D1" presStyleIdx="2" presStyleCnt="3"/>
      <dgm:spPr/>
    </dgm:pt>
    <dgm:pt modelId="{B2A36BDD-0C23-48CD-9206-0D901A82E950}" type="pres">
      <dgm:prSet presAssocID="{E06A872F-9300-4451-B2BC-7A9B841F26F1}" presName="lastNode" presStyleLbl="node1" presStyleIdx="3" presStyleCnt="4" custLinFactNeighborX="93002" custLinFactNeighborY="-2822">
        <dgm:presLayoutVars>
          <dgm:bulletEnabled val="1"/>
        </dgm:presLayoutVars>
      </dgm:prSet>
      <dgm:spPr/>
    </dgm:pt>
  </dgm:ptLst>
  <dgm:cxnLst>
    <dgm:cxn modelId="{FEA52A01-1A19-4DF3-9554-A1D1535232D5}" type="presOf" srcId="{78428A2C-0B7A-4049-9D9C-4397BCEA8310}" destId="{B2A36BDD-0C23-48CD-9206-0D901A82E950}" srcOrd="0" destOrd="0" presId="urn:microsoft.com/office/officeart/2005/8/layout/equation2"/>
    <dgm:cxn modelId="{07795B6A-8251-4F75-8A5E-7BE019F10861}" type="presOf" srcId="{AEE74DA1-EAEA-483E-A956-6579C76A2018}" destId="{41C3230F-E73A-47DE-9794-26549B874E87}" srcOrd="0" destOrd="0" presId="urn:microsoft.com/office/officeart/2005/8/layout/equation2"/>
    <dgm:cxn modelId="{2E48644C-3AAC-4774-B976-C48C3DD25A85}" type="presOf" srcId="{A784AD97-EA76-4E9A-852C-4807CC31843B}" destId="{6BFBCE3C-C1A1-49C0-84E9-B42CB59F34C9}" srcOrd="0" destOrd="0" presId="urn:microsoft.com/office/officeart/2005/8/layout/equation2"/>
    <dgm:cxn modelId="{DC6C4659-C34D-45C6-ADF0-ACC3B7BD43EC}" type="presOf" srcId="{E06A872F-9300-4451-B2BC-7A9B841F26F1}" destId="{0F16E574-3B6E-4F67-8B8B-E720FE521178}" srcOrd="0" destOrd="0" presId="urn:microsoft.com/office/officeart/2005/8/layout/equation2"/>
    <dgm:cxn modelId="{6D206F7B-1467-47D7-8DE9-77094D3138DE}" type="presOf" srcId="{50CED8AA-DD2A-40BF-8EEE-13ED54D4498F}" destId="{B239DA18-5B69-416C-B410-17D6EC8D2A59}" srcOrd="1" destOrd="0" presId="urn:microsoft.com/office/officeart/2005/8/layout/equation2"/>
    <dgm:cxn modelId="{654D3980-BCFF-40BF-A86C-818D438B92F1}" srcId="{E06A872F-9300-4451-B2BC-7A9B841F26F1}" destId="{78428A2C-0B7A-4049-9D9C-4397BCEA8310}" srcOrd="3" destOrd="0" parTransId="{5582EC97-9F7F-4308-A3AF-18B59ACF10E0}" sibTransId="{E7F82372-4168-4644-A994-029BDC59440C}"/>
    <dgm:cxn modelId="{9DA25FB2-5A38-480A-B233-A3A6862FCC6C}" type="presOf" srcId="{50CED8AA-DD2A-40BF-8EEE-13ED54D4498F}" destId="{266EA3D5-663E-4396-B701-3E7073C73DA0}" srcOrd="0" destOrd="0" presId="urn:microsoft.com/office/officeart/2005/8/layout/equation2"/>
    <dgm:cxn modelId="{9374F7C3-AA5C-4201-9A82-3C8A29AE5A97}" type="presOf" srcId="{A3D18B45-8444-4724-ADA2-53A32A60FC0F}" destId="{BB78A9BA-B5C3-4DB5-AF4C-E7B608D7DDFE}" srcOrd="0" destOrd="0" presId="urn:microsoft.com/office/officeart/2005/8/layout/equation2"/>
    <dgm:cxn modelId="{11A9A3CB-0DAA-4390-B9B8-03960C991EB7}" srcId="{E06A872F-9300-4451-B2BC-7A9B841F26F1}" destId="{A3D18B45-8444-4724-ADA2-53A32A60FC0F}" srcOrd="2" destOrd="0" parTransId="{CAB163F1-E767-4F9E-A20D-952EC02C78D5}" sibTransId="{50CED8AA-DD2A-40BF-8EEE-13ED54D4498F}"/>
    <dgm:cxn modelId="{71C724E0-47F6-464B-BA4D-E936137FD155}" srcId="{E06A872F-9300-4451-B2BC-7A9B841F26F1}" destId="{E5CD513B-FC47-40D5-93DB-04CA13CBE614}" srcOrd="1" destOrd="0" parTransId="{9CFCECAA-86F4-46F1-9626-B43E4808696C}" sibTransId="{4D037B7D-4AAD-4611-9E83-ABBECE2B699D}"/>
    <dgm:cxn modelId="{ED0582E0-7B6B-412B-ABA6-35F23EA9290F}" type="presOf" srcId="{4D037B7D-4AAD-4611-9E83-ABBECE2B699D}" destId="{F55212DF-5238-4195-B037-32DD8C381D3E}" srcOrd="0" destOrd="0" presId="urn:microsoft.com/office/officeart/2005/8/layout/equation2"/>
    <dgm:cxn modelId="{D2E39FE3-849A-4C34-932F-8C31C0C66651}" type="presOf" srcId="{E5CD513B-FC47-40D5-93DB-04CA13CBE614}" destId="{666DC3BA-364E-44FD-B96A-DB93D1BF2BB7}" srcOrd="0" destOrd="0" presId="urn:microsoft.com/office/officeart/2005/8/layout/equation2"/>
    <dgm:cxn modelId="{8E6536FC-07AF-4059-8AF3-4E509406E228}" srcId="{E06A872F-9300-4451-B2BC-7A9B841F26F1}" destId="{A784AD97-EA76-4E9A-852C-4807CC31843B}" srcOrd="0" destOrd="0" parTransId="{42834D25-34BA-4C1B-8465-33F1F0A5727F}" sibTransId="{AEE74DA1-EAEA-483E-A956-6579C76A2018}"/>
    <dgm:cxn modelId="{C70FF8F4-D5CA-44E3-9143-F5A21F24F2F9}" type="presParOf" srcId="{0F16E574-3B6E-4F67-8B8B-E720FE521178}" destId="{30B7CB21-3986-42DA-A5D3-E84473C11DC7}" srcOrd="0" destOrd="0" presId="urn:microsoft.com/office/officeart/2005/8/layout/equation2"/>
    <dgm:cxn modelId="{73DE78C1-EDA8-452A-8D01-A9C8EE1CFD1D}" type="presParOf" srcId="{30B7CB21-3986-42DA-A5D3-E84473C11DC7}" destId="{6BFBCE3C-C1A1-49C0-84E9-B42CB59F34C9}" srcOrd="0" destOrd="0" presId="urn:microsoft.com/office/officeart/2005/8/layout/equation2"/>
    <dgm:cxn modelId="{95B33BEE-960B-440B-A812-B2AD2E8FCDE0}" type="presParOf" srcId="{30B7CB21-3986-42DA-A5D3-E84473C11DC7}" destId="{E4130E72-3000-4EB9-870D-061069D31DA1}" srcOrd="1" destOrd="0" presId="urn:microsoft.com/office/officeart/2005/8/layout/equation2"/>
    <dgm:cxn modelId="{5E04A82E-BD8C-49F4-ADDD-66A2BFC0C046}" type="presParOf" srcId="{30B7CB21-3986-42DA-A5D3-E84473C11DC7}" destId="{41C3230F-E73A-47DE-9794-26549B874E87}" srcOrd="2" destOrd="0" presId="urn:microsoft.com/office/officeart/2005/8/layout/equation2"/>
    <dgm:cxn modelId="{1FA4EFA1-23CC-4A84-B8E4-073EE4DDDE9C}" type="presParOf" srcId="{30B7CB21-3986-42DA-A5D3-E84473C11DC7}" destId="{77DEE083-8BBC-4A2E-9E87-A41F6DBCBCB1}" srcOrd="3" destOrd="0" presId="urn:microsoft.com/office/officeart/2005/8/layout/equation2"/>
    <dgm:cxn modelId="{3EAD6900-7626-4589-B86F-DB2DB9E081DB}" type="presParOf" srcId="{30B7CB21-3986-42DA-A5D3-E84473C11DC7}" destId="{666DC3BA-364E-44FD-B96A-DB93D1BF2BB7}" srcOrd="4" destOrd="0" presId="urn:microsoft.com/office/officeart/2005/8/layout/equation2"/>
    <dgm:cxn modelId="{5CEFA430-94A5-4291-B06B-0C8430F0A553}" type="presParOf" srcId="{30B7CB21-3986-42DA-A5D3-E84473C11DC7}" destId="{F5BAD1E1-4481-496D-A027-9A872CF47CFD}" srcOrd="5" destOrd="0" presId="urn:microsoft.com/office/officeart/2005/8/layout/equation2"/>
    <dgm:cxn modelId="{6FBF406A-10C8-489D-B28C-71692A6B145C}" type="presParOf" srcId="{30B7CB21-3986-42DA-A5D3-E84473C11DC7}" destId="{F55212DF-5238-4195-B037-32DD8C381D3E}" srcOrd="6" destOrd="0" presId="urn:microsoft.com/office/officeart/2005/8/layout/equation2"/>
    <dgm:cxn modelId="{D0DFEA85-447F-4444-BE8E-5DDC51C2CD09}" type="presParOf" srcId="{30B7CB21-3986-42DA-A5D3-E84473C11DC7}" destId="{54F38813-F9CE-4121-98DD-75FE9A207120}" srcOrd="7" destOrd="0" presId="urn:microsoft.com/office/officeart/2005/8/layout/equation2"/>
    <dgm:cxn modelId="{E3E5C2B6-BB54-4A07-8E5B-872074B98C61}" type="presParOf" srcId="{30B7CB21-3986-42DA-A5D3-E84473C11DC7}" destId="{BB78A9BA-B5C3-4DB5-AF4C-E7B608D7DDFE}" srcOrd="8" destOrd="0" presId="urn:microsoft.com/office/officeart/2005/8/layout/equation2"/>
    <dgm:cxn modelId="{8DC2EACE-5FC0-48A1-B692-97526F6F07DA}" type="presParOf" srcId="{0F16E574-3B6E-4F67-8B8B-E720FE521178}" destId="{266EA3D5-663E-4396-B701-3E7073C73DA0}" srcOrd="1" destOrd="0" presId="urn:microsoft.com/office/officeart/2005/8/layout/equation2"/>
    <dgm:cxn modelId="{A9D6B4E4-EF03-48C5-B644-595EA9D832E5}" type="presParOf" srcId="{266EA3D5-663E-4396-B701-3E7073C73DA0}" destId="{B239DA18-5B69-416C-B410-17D6EC8D2A59}" srcOrd="0" destOrd="0" presId="urn:microsoft.com/office/officeart/2005/8/layout/equation2"/>
    <dgm:cxn modelId="{B1044AF0-6ADC-43E1-9F6B-AA2F3FA9A3FD}" type="presParOf" srcId="{0F16E574-3B6E-4F67-8B8B-E720FE521178}" destId="{B2A36BDD-0C23-48CD-9206-0D901A82E950}"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D9233EC0-E678-4064-98AD-DC939828AF6B}"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ADC817CD-4098-464C-8BA9-9CD33AFD8D4A}">
      <dgm:prSet phldrT="[Text]" custT="1"/>
      <dgm:spPr>
        <a:solidFill>
          <a:srgbClr val="FFFF00"/>
        </a:solidFill>
      </dgm:spPr>
      <dgm:t>
        <a:bodyPr/>
        <a:lstStyle/>
        <a:p>
          <a:r>
            <a:rPr lang="en-US" sz="4000" dirty="0">
              <a:solidFill>
                <a:srgbClr val="002060"/>
              </a:solidFill>
            </a:rPr>
            <a:t>Drilling Manager</a:t>
          </a:r>
        </a:p>
      </dgm:t>
    </dgm:pt>
    <dgm:pt modelId="{7F015D4F-86AB-4785-A22B-229F4BCB2612}" type="parTrans" cxnId="{129CF61C-BE01-4246-B794-6DB08F383414}">
      <dgm:prSet/>
      <dgm:spPr/>
      <dgm:t>
        <a:bodyPr/>
        <a:lstStyle/>
        <a:p>
          <a:endParaRPr lang="en-US"/>
        </a:p>
      </dgm:t>
    </dgm:pt>
    <dgm:pt modelId="{49D42CEA-CF40-4B2E-96EC-4208451E50D7}" type="sibTrans" cxnId="{129CF61C-BE01-4246-B794-6DB08F383414}">
      <dgm:prSet/>
      <dgm:spPr/>
      <dgm:t>
        <a:bodyPr/>
        <a:lstStyle/>
        <a:p>
          <a:endParaRPr lang="en-US"/>
        </a:p>
      </dgm:t>
    </dgm:pt>
    <dgm:pt modelId="{A1EEBB5C-44C3-4ED9-91BF-6BF4EABE2424}" type="asst">
      <dgm:prSet phldrT="[Text]" custT="1"/>
      <dgm:spPr>
        <a:solidFill>
          <a:srgbClr val="CCFF66"/>
        </a:solidFill>
      </dgm:spPr>
      <dgm:t>
        <a:bodyPr/>
        <a:lstStyle/>
        <a:p>
          <a:r>
            <a:rPr lang="en-US" sz="6000" dirty="0">
              <a:solidFill>
                <a:srgbClr val="002060"/>
              </a:solidFill>
            </a:rPr>
            <a:t>Legal</a:t>
          </a:r>
        </a:p>
      </dgm:t>
    </dgm:pt>
    <dgm:pt modelId="{401F82E5-345A-4CD5-9EBB-1D419732D4E0}" type="parTrans" cxnId="{8DD665BF-74D6-44B4-ABFD-BE67F6F6117F}">
      <dgm:prSet/>
      <dgm:spPr/>
      <dgm:t>
        <a:bodyPr/>
        <a:lstStyle/>
        <a:p>
          <a:endParaRPr lang="en-US"/>
        </a:p>
      </dgm:t>
    </dgm:pt>
    <dgm:pt modelId="{47114277-5958-4DE3-AD32-F4755B6B9C04}" type="sibTrans" cxnId="{8DD665BF-74D6-44B4-ABFD-BE67F6F6117F}">
      <dgm:prSet/>
      <dgm:spPr/>
      <dgm:t>
        <a:bodyPr/>
        <a:lstStyle/>
        <a:p>
          <a:endParaRPr lang="en-US"/>
        </a:p>
      </dgm:t>
    </dgm:pt>
    <dgm:pt modelId="{1945C6CB-AA55-438D-82C3-3597EB08B2EE}">
      <dgm:prSet phldrT="[Text]"/>
      <dgm:spPr>
        <a:noFill/>
        <a:ln>
          <a:solidFill>
            <a:srgbClr val="0070C0"/>
          </a:solidFill>
        </a:ln>
      </dgm:spPr>
      <dgm:t>
        <a:bodyPr/>
        <a:lstStyle/>
        <a:p>
          <a:r>
            <a:rPr lang="en-US" dirty="0">
              <a:solidFill>
                <a:schemeClr val="accent2">
                  <a:lumMod val="75000"/>
                </a:schemeClr>
              </a:solidFill>
            </a:rPr>
            <a:t>Drilling Engineer</a:t>
          </a:r>
        </a:p>
      </dgm:t>
    </dgm:pt>
    <dgm:pt modelId="{3FB889BC-AC3E-46AC-9D33-AA4F54B32D30}" type="parTrans" cxnId="{45BC990C-6FC8-4B77-98A4-48F2A0AA5153}">
      <dgm:prSet/>
      <dgm:spPr/>
      <dgm:t>
        <a:bodyPr/>
        <a:lstStyle/>
        <a:p>
          <a:endParaRPr lang="en-US"/>
        </a:p>
      </dgm:t>
    </dgm:pt>
    <dgm:pt modelId="{B56FFE54-C8C7-469F-9A27-DE4F63833EDD}" type="sibTrans" cxnId="{45BC990C-6FC8-4B77-98A4-48F2A0AA5153}">
      <dgm:prSet/>
      <dgm:spPr/>
      <dgm:t>
        <a:bodyPr/>
        <a:lstStyle/>
        <a:p>
          <a:endParaRPr lang="en-US"/>
        </a:p>
      </dgm:t>
    </dgm:pt>
    <dgm:pt modelId="{4691D39C-0EF2-469A-BFA1-58AD90E0ADED}">
      <dgm:prSet phldrT="[Text]"/>
      <dgm:spPr>
        <a:noFill/>
        <a:ln>
          <a:solidFill>
            <a:srgbClr val="0070C0"/>
          </a:solidFill>
        </a:ln>
      </dgm:spPr>
      <dgm:t>
        <a:bodyPr/>
        <a:lstStyle/>
        <a:p>
          <a:r>
            <a:rPr lang="en-US" dirty="0">
              <a:solidFill>
                <a:schemeClr val="accent2">
                  <a:lumMod val="75000"/>
                </a:schemeClr>
              </a:solidFill>
            </a:rPr>
            <a:t>Procurement &amp; Logistic</a:t>
          </a:r>
        </a:p>
      </dgm:t>
    </dgm:pt>
    <dgm:pt modelId="{FD77A293-6928-4C29-9985-2BBE866884A3}" type="parTrans" cxnId="{3BB50EF3-96E8-4257-9A99-E0CE365999DD}">
      <dgm:prSet/>
      <dgm:spPr/>
      <dgm:t>
        <a:bodyPr/>
        <a:lstStyle/>
        <a:p>
          <a:endParaRPr lang="en-US"/>
        </a:p>
      </dgm:t>
    </dgm:pt>
    <dgm:pt modelId="{93BBD434-F82A-4DD0-B767-E30257BBE7B7}" type="sibTrans" cxnId="{3BB50EF3-96E8-4257-9A99-E0CE365999DD}">
      <dgm:prSet/>
      <dgm:spPr/>
      <dgm:t>
        <a:bodyPr/>
        <a:lstStyle/>
        <a:p>
          <a:endParaRPr lang="en-US"/>
        </a:p>
      </dgm:t>
    </dgm:pt>
    <dgm:pt modelId="{047BC765-B44C-4999-913D-7D53FDE72467}">
      <dgm:prSet phldrT="[Text]"/>
      <dgm:spPr>
        <a:noFill/>
        <a:ln>
          <a:solidFill>
            <a:srgbClr val="0070C0"/>
          </a:solidFill>
        </a:ln>
      </dgm:spPr>
      <dgm:t>
        <a:bodyPr/>
        <a:lstStyle/>
        <a:p>
          <a:r>
            <a:rPr lang="en-US" dirty="0">
              <a:solidFill>
                <a:schemeClr val="accent2">
                  <a:lumMod val="75000"/>
                </a:schemeClr>
              </a:solidFill>
            </a:rPr>
            <a:t>Cost Control</a:t>
          </a:r>
        </a:p>
      </dgm:t>
    </dgm:pt>
    <dgm:pt modelId="{42C180FE-9E1D-4B53-91BA-ACC70317520E}" type="parTrans" cxnId="{CDE520A7-094F-4844-99B5-93558582E508}">
      <dgm:prSet/>
      <dgm:spPr/>
      <dgm:t>
        <a:bodyPr/>
        <a:lstStyle/>
        <a:p>
          <a:endParaRPr lang="en-US"/>
        </a:p>
      </dgm:t>
    </dgm:pt>
    <dgm:pt modelId="{5325A003-9823-4187-9478-904FB058D55E}" type="sibTrans" cxnId="{CDE520A7-094F-4844-99B5-93558582E508}">
      <dgm:prSet/>
      <dgm:spPr/>
      <dgm:t>
        <a:bodyPr/>
        <a:lstStyle/>
        <a:p>
          <a:endParaRPr lang="en-US"/>
        </a:p>
      </dgm:t>
    </dgm:pt>
    <dgm:pt modelId="{801757B2-919E-42C0-8D27-FE6B55073B44}" type="pres">
      <dgm:prSet presAssocID="{D9233EC0-E678-4064-98AD-DC939828AF6B}" presName="hierChild1" presStyleCnt="0">
        <dgm:presLayoutVars>
          <dgm:orgChart val="1"/>
          <dgm:chPref val="1"/>
          <dgm:dir/>
          <dgm:animOne val="branch"/>
          <dgm:animLvl val="lvl"/>
          <dgm:resizeHandles/>
        </dgm:presLayoutVars>
      </dgm:prSet>
      <dgm:spPr/>
    </dgm:pt>
    <dgm:pt modelId="{32C2B675-DA5C-4978-A456-A4BBC18C9888}" type="pres">
      <dgm:prSet presAssocID="{ADC817CD-4098-464C-8BA9-9CD33AFD8D4A}" presName="hierRoot1" presStyleCnt="0">
        <dgm:presLayoutVars>
          <dgm:hierBranch val="init"/>
        </dgm:presLayoutVars>
      </dgm:prSet>
      <dgm:spPr/>
    </dgm:pt>
    <dgm:pt modelId="{723348D3-F2D3-4035-BCAC-BF61255063A3}" type="pres">
      <dgm:prSet presAssocID="{ADC817CD-4098-464C-8BA9-9CD33AFD8D4A}" presName="rootComposite1" presStyleCnt="0"/>
      <dgm:spPr/>
    </dgm:pt>
    <dgm:pt modelId="{DE99CF82-DDBC-42A5-8FB4-26F226CFA6D5}" type="pres">
      <dgm:prSet presAssocID="{ADC817CD-4098-464C-8BA9-9CD33AFD8D4A}" presName="rootText1" presStyleLbl="node0" presStyleIdx="0" presStyleCnt="1">
        <dgm:presLayoutVars>
          <dgm:chPref val="3"/>
        </dgm:presLayoutVars>
      </dgm:prSet>
      <dgm:spPr/>
    </dgm:pt>
    <dgm:pt modelId="{820750E2-70CA-4783-BB65-5657D0270CC0}" type="pres">
      <dgm:prSet presAssocID="{ADC817CD-4098-464C-8BA9-9CD33AFD8D4A}" presName="rootConnector1" presStyleLbl="node1" presStyleIdx="0" presStyleCnt="0"/>
      <dgm:spPr/>
    </dgm:pt>
    <dgm:pt modelId="{EBE9FAFE-C67E-44A9-A18E-83F2ADB4175B}" type="pres">
      <dgm:prSet presAssocID="{ADC817CD-4098-464C-8BA9-9CD33AFD8D4A}" presName="hierChild2" presStyleCnt="0"/>
      <dgm:spPr/>
    </dgm:pt>
    <dgm:pt modelId="{D6EBFD12-FF00-44DD-A0CD-9425AC0A16EB}" type="pres">
      <dgm:prSet presAssocID="{3FB889BC-AC3E-46AC-9D33-AA4F54B32D30}" presName="Name37" presStyleLbl="parChTrans1D2" presStyleIdx="0" presStyleCnt="4"/>
      <dgm:spPr/>
    </dgm:pt>
    <dgm:pt modelId="{4B24F199-185D-4C5B-A5BC-F3C414C68E42}" type="pres">
      <dgm:prSet presAssocID="{1945C6CB-AA55-438D-82C3-3597EB08B2EE}" presName="hierRoot2" presStyleCnt="0">
        <dgm:presLayoutVars>
          <dgm:hierBranch val="init"/>
        </dgm:presLayoutVars>
      </dgm:prSet>
      <dgm:spPr/>
    </dgm:pt>
    <dgm:pt modelId="{58962D3B-7A88-44E9-B57E-FA50BE05C2F7}" type="pres">
      <dgm:prSet presAssocID="{1945C6CB-AA55-438D-82C3-3597EB08B2EE}" presName="rootComposite" presStyleCnt="0"/>
      <dgm:spPr/>
    </dgm:pt>
    <dgm:pt modelId="{B2E813E5-299C-4A2F-BF6B-60BA8B2484FD}" type="pres">
      <dgm:prSet presAssocID="{1945C6CB-AA55-438D-82C3-3597EB08B2EE}" presName="rootText" presStyleLbl="node2" presStyleIdx="0" presStyleCnt="3">
        <dgm:presLayoutVars>
          <dgm:chPref val="3"/>
        </dgm:presLayoutVars>
      </dgm:prSet>
      <dgm:spPr/>
    </dgm:pt>
    <dgm:pt modelId="{9854613E-3EFA-4355-B21E-60C50B33DB28}" type="pres">
      <dgm:prSet presAssocID="{1945C6CB-AA55-438D-82C3-3597EB08B2EE}" presName="rootConnector" presStyleLbl="node2" presStyleIdx="0" presStyleCnt="3"/>
      <dgm:spPr/>
    </dgm:pt>
    <dgm:pt modelId="{26AE6FAA-190A-4757-8206-B3FDFB255833}" type="pres">
      <dgm:prSet presAssocID="{1945C6CB-AA55-438D-82C3-3597EB08B2EE}" presName="hierChild4" presStyleCnt="0"/>
      <dgm:spPr/>
    </dgm:pt>
    <dgm:pt modelId="{F37850CB-11E6-4DF4-B3BC-DDAE8F6E48D1}" type="pres">
      <dgm:prSet presAssocID="{1945C6CB-AA55-438D-82C3-3597EB08B2EE}" presName="hierChild5" presStyleCnt="0"/>
      <dgm:spPr/>
    </dgm:pt>
    <dgm:pt modelId="{9FB66AF1-2072-4D31-B508-A5FCEFC1FFF9}" type="pres">
      <dgm:prSet presAssocID="{FD77A293-6928-4C29-9985-2BBE866884A3}" presName="Name37" presStyleLbl="parChTrans1D2" presStyleIdx="1" presStyleCnt="4"/>
      <dgm:spPr/>
    </dgm:pt>
    <dgm:pt modelId="{E99556A1-F75A-4732-B2D7-377644458AC3}" type="pres">
      <dgm:prSet presAssocID="{4691D39C-0EF2-469A-BFA1-58AD90E0ADED}" presName="hierRoot2" presStyleCnt="0">
        <dgm:presLayoutVars>
          <dgm:hierBranch val="init"/>
        </dgm:presLayoutVars>
      </dgm:prSet>
      <dgm:spPr/>
    </dgm:pt>
    <dgm:pt modelId="{99734784-ED69-4620-957A-576F30032032}" type="pres">
      <dgm:prSet presAssocID="{4691D39C-0EF2-469A-BFA1-58AD90E0ADED}" presName="rootComposite" presStyleCnt="0"/>
      <dgm:spPr/>
    </dgm:pt>
    <dgm:pt modelId="{7C5ABE72-DBAF-48D0-B25C-D18A0F545903}" type="pres">
      <dgm:prSet presAssocID="{4691D39C-0EF2-469A-BFA1-58AD90E0ADED}" presName="rootText" presStyleLbl="node2" presStyleIdx="1" presStyleCnt="3">
        <dgm:presLayoutVars>
          <dgm:chPref val="3"/>
        </dgm:presLayoutVars>
      </dgm:prSet>
      <dgm:spPr/>
    </dgm:pt>
    <dgm:pt modelId="{C5B0D667-0FDA-4FFE-BEEC-F7F208E46626}" type="pres">
      <dgm:prSet presAssocID="{4691D39C-0EF2-469A-BFA1-58AD90E0ADED}" presName="rootConnector" presStyleLbl="node2" presStyleIdx="1" presStyleCnt="3"/>
      <dgm:spPr/>
    </dgm:pt>
    <dgm:pt modelId="{2E590218-AF3C-4254-A376-3821FF14440E}" type="pres">
      <dgm:prSet presAssocID="{4691D39C-0EF2-469A-BFA1-58AD90E0ADED}" presName="hierChild4" presStyleCnt="0"/>
      <dgm:spPr/>
    </dgm:pt>
    <dgm:pt modelId="{4A5A20DC-3E89-4B64-97FE-3A97EB1FB251}" type="pres">
      <dgm:prSet presAssocID="{4691D39C-0EF2-469A-BFA1-58AD90E0ADED}" presName="hierChild5" presStyleCnt="0"/>
      <dgm:spPr/>
    </dgm:pt>
    <dgm:pt modelId="{11308795-6199-42B5-A53A-CC5DF3DA9C13}" type="pres">
      <dgm:prSet presAssocID="{42C180FE-9E1D-4B53-91BA-ACC70317520E}" presName="Name37" presStyleLbl="parChTrans1D2" presStyleIdx="2" presStyleCnt="4"/>
      <dgm:spPr/>
    </dgm:pt>
    <dgm:pt modelId="{E6509FE6-6F29-4EA9-AE51-C6CCF087AC38}" type="pres">
      <dgm:prSet presAssocID="{047BC765-B44C-4999-913D-7D53FDE72467}" presName="hierRoot2" presStyleCnt="0">
        <dgm:presLayoutVars>
          <dgm:hierBranch val="init"/>
        </dgm:presLayoutVars>
      </dgm:prSet>
      <dgm:spPr/>
    </dgm:pt>
    <dgm:pt modelId="{530B0203-3C58-4C53-B8B8-64E6CF2369FD}" type="pres">
      <dgm:prSet presAssocID="{047BC765-B44C-4999-913D-7D53FDE72467}" presName="rootComposite" presStyleCnt="0"/>
      <dgm:spPr/>
    </dgm:pt>
    <dgm:pt modelId="{F8F9F97E-9814-406B-A159-D64574AA8258}" type="pres">
      <dgm:prSet presAssocID="{047BC765-B44C-4999-913D-7D53FDE72467}" presName="rootText" presStyleLbl="node2" presStyleIdx="2" presStyleCnt="3">
        <dgm:presLayoutVars>
          <dgm:chPref val="3"/>
        </dgm:presLayoutVars>
      </dgm:prSet>
      <dgm:spPr/>
    </dgm:pt>
    <dgm:pt modelId="{9E61C524-C574-429A-84D9-D9CB1DD06174}" type="pres">
      <dgm:prSet presAssocID="{047BC765-B44C-4999-913D-7D53FDE72467}" presName="rootConnector" presStyleLbl="node2" presStyleIdx="2" presStyleCnt="3"/>
      <dgm:spPr/>
    </dgm:pt>
    <dgm:pt modelId="{CD014CC7-5BD9-4A6B-A50F-8E39598B4CFE}" type="pres">
      <dgm:prSet presAssocID="{047BC765-B44C-4999-913D-7D53FDE72467}" presName="hierChild4" presStyleCnt="0"/>
      <dgm:spPr/>
    </dgm:pt>
    <dgm:pt modelId="{18C08861-4306-4C49-9D57-87A0C5D4BFAD}" type="pres">
      <dgm:prSet presAssocID="{047BC765-B44C-4999-913D-7D53FDE72467}" presName="hierChild5" presStyleCnt="0"/>
      <dgm:spPr/>
    </dgm:pt>
    <dgm:pt modelId="{C5893F18-2A37-4FEC-B4AD-D4E70A3F43AC}" type="pres">
      <dgm:prSet presAssocID="{ADC817CD-4098-464C-8BA9-9CD33AFD8D4A}" presName="hierChild3" presStyleCnt="0"/>
      <dgm:spPr/>
    </dgm:pt>
    <dgm:pt modelId="{941C85A0-71D1-4F7A-8ADB-57D882CA6CFE}" type="pres">
      <dgm:prSet presAssocID="{401F82E5-345A-4CD5-9EBB-1D419732D4E0}" presName="Name111" presStyleLbl="parChTrans1D2" presStyleIdx="3" presStyleCnt="4"/>
      <dgm:spPr/>
    </dgm:pt>
    <dgm:pt modelId="{DC171076-496A-4EEC-92AB-4157618779E4}" type="pres">
      <dgm:prSet presAssocID="{A1EEBB5C-44C3-4ED9-91BF-6BF4EABE2424}" presName="hierRoot3" presStyleCnt="0">
        <dgm:presLayoutVars>
          <dgm:hierBranch val="init"/>
        </dgm:presLayoutVars>
      </dgm:prSet>
      <dgm:spPr/>
    </dgm:pt>
    <dgm:pt modelId="{01FBD73B-27FB-42FA-8196-3DC0FFFBF819}" type="pres">
      <dgm:prSet presAssocID="{A1EEBB5C-44C3-4ED9-91BF-6BF4EABE2424}" presName="rootComposite3" presStyleCnt="0"/>
      <dgm:spPr/>
    </dgm:pt>
    <dgm:pt modelId="{0A88551A-5BE9-41FD-870A-F473E5F28647}" type="pres">
      <dgm:prSet presAssocID="{A1EEBB5C-44C3-4ED9-91BF-6BF4EABE2424}" presName="rootText3" presStyleLbl="asst1" presStyleIdx="0" presStyleCnt="1">
        <dgm:presLayoutVars>
          <dgm:chPref val="3"/>
        </dgm:presLayoutVars>
      </dgm:prSet>
      <dgm:spPr/>
    </dgm:pt>
    <dgm:pt modelId="{AF916568-92C2-4EC0-934A-3F06A1E1182A}" type="pres">
      <dgm:prSet presAssocID="{A1EEBB5C-44C3-4ED9-91BF-6BF4EABE2424}" presName="rootConnector3" presStyleLbl="asst1" presStyleIdx="0" presStyleCnt="1"/>
      <dgm:spPr/>
    </dgm:pt>
    <dgm:pt modelId="{2F026B84-ACC0-4EEC-A58A-FC8D8E7F03E5}" type="pres">
      <dgm:prSet presAssocID="{A1EEBB5C-44C3-4ED9-91BF-6BF4EABE2424}" presName="hierChild6" presStyleCnt="0"/>
      <dgm:spPr/>
    </dgm:pt>
    <dgm:pt modelId="{010D1294-9980-44C3-A08B-0383E0B2293C}" type="pres">
      <dgm:prSet presAssocID="{A1EEBB5C-44C3-4ED9-91BF-6BF4EABE2424}" presName="hierChild7" presStyleCnt="0"/>
      <dgm:spPr/>
    </dgm:pt>
  </dgm:ptLst>
  <dgm:cxnLst>
    <dgm:cxn modelId="{1AB07F05-F50D-491C-8E3D-124ECB455359}" type="presOf" srcId="{1945C6CB-AA55-438D-82C3-3597EB08B2EE}" destId="{B2E813E5-299C-4A2F-BF6B-60BA8B2484FD}" srcOrd="0" destOrd="0" presId="urn:microsoft.com/office/officeart/2005/8/layout/orgChart1"/>
    <dgm:cxn modelId="{45BC990C-6FC8-4B77-98A4-48F2A0AA5153}" srcId="{ADC817CD-4098-464C-8BA9-9CD33AFD8D4A}" destId="{1945C6CB-AA55-438D-82C3-3597EB08B2EE}" srcOrd="1" destOrd="0" parTransId="{3FB889BC-AC3E-46AC-9D33-AA4F54B32D30}" sibTransId="{B56FFE54-C8C7-469F-9A27-DE4F63833EDD}"/>
    <dgm:cxn modelId="{DBB3A912-FEC0-4399-BC1D-FF360E6D6B38}" type="presOf" srcId="{ADC817CD-4098-464C-8BA9-9CD33AFD8D4A}" destId="{DE99CF82-DDBC-42A5-8FB4-26F226CFA6D5}" srcOrd="0" destOrd="0" presId="urn:microsoft.com/office/officeart/2005/8/layout/orgChart1"/>
    <dgm:cxn modelId="{129CF61C-BE01-4246-B794-6DB08F383414}" srcId="{D9233EC0-E678-4064-98AD-DC939828AF6B}" destId="{ADC817CD-4098-464C-8BA9-9CD33AFD8D4A}" srcOrd="0" destOrd="0" parTransId="{7F015D4F-86AB-4785-A22B-229F4BCB2612}" sibTransId="{49D42CEA-CF40-4B2E-96EC-4208451E50D7}"/>
    <dgm:cxn modelId="{E411261E-6C87-4A55-AE38-9B9B63692006}" type="presOf" srcId="{047BC765-B44C-4999-913D-7D53FDE72467}" destId="{9E61C524-C574-429A-84D9-D9CB1DD06174}" srcOrd="1" destOrd="0" presId="urn:microsoft.com/office/officeart/2005/8/layout/orgChart1"/>
    <dgm:cxn modelId="{A3605320-E89C-46CC-B3B1-C329649225C0}" type="presOf" srcId="{FD77A293-6928-4C29-9985-2BBE866884A3}" destId="{9FB66AF1-2072-4D31-B508-A5FCEFC1FFF9}" srcOrd="0" destOrd="0" presId="urn:microsoft.com/office/officeart/2005/8/layout/orgChart1"/>
    <dgm:cxn modelId="{5EA54260-8146-4206-A40E-7D0C9F4AD2CD}" type="presOf" srcId="{1945C6CB-AA55-438D-82C3-3597EB08B2EE}" destId="{9854613E-3EFA-4355-B21E-60C50B33DB28}" srcOrd="1" destOrd="0" presId="urn:microsoft.com/office/officeart/2005/8/layout/orgChart1"/>
    <dgm:cxn modelId="{7EE98A42-43F0-42BF-8C58-88FCF78B9491}" type="presOf" srcId="{4691D39C-0EF2-469A-BFA1-58AD90E0ADED}" destId="{C5B0D667-0FDA-4FFE-BEEC-F7F208E46626}" srcOrd="1" destOrd="0" presId="urn:microsoft.com/office/officeart/2005/8/layout/orgChart1"/>
    <dgm:cxn modelId="{DD1B2953-3469-4180-9A59-9AD3AA09D9ED}" type="presOf" srcId="{3FB889BC-AC3E-46AC-9D33-AA4F54B32D30}" destId="{D6EBFD12-FF00-44DD-A0CD-9425AC0A16EB}" srcOrd="0" destOrd="0" presId="urn:microsoft.com/office/officeart/2005/8/layout/orgChart1"/>
    <dgm:cxn modelId="{9BC0C07C-F294-4A62-996F-58AA7D4159DA}" type="presOf" srcId="{D9233EC0-E678-4064-98AD-DC939828AF6B}" destId="{801757B2-919E-42C0-8D27-FE6B55073B44}" srcOrd="0" destOrd="0" presId="urn:microsoft.com/office/officeart/2005/8/layout/orgChart1"/>
    <dgm:cxn modelId="{E47B4081-8B3E-43FC-8B3C-16A1E9056E6D}" type="presOf" srcId="{A1EEBB5C-44C3-4ED9-91BF-6BF4EABE2424}" destId="{0A88551A-5BE9-41FD-870A-F473E5F28647}" srcOrd="0" destOrd="0" presId="urn:microsoft.com/office/officeart/2005/8/layout/orgChart1"/>
    <dgm:cxn modelId="{8F87AA9C-51C1-42F3-A783-D74DC62A05A1}" type="presOf" srcId="{42C180FE-9E1D-4B53-91BA-ACC70317520E}" destId="{11308795-6199-42B5-A53A-CC5DF3DA9C13}" srcOrd="0" destOrd="0" presId="urn:microsoft.com/office/officeart/2005/8/layout/orgChart1"/>
    <dgm:cxn modelId="{CDE520A7-094F-4844-99B5-93558582E508}" srcId="{ADC817CD-4098-464C-8BA9-9CD33AFD8D4A}" destId="{047BC765-B44C-4999-913D-7D53FDE72467}" srcOrd="3" destOrd="0" parTransId="{42C180FE-9E1D-4B53-91BA-ACC70317520E}" sibTransId="{5325A003-9823-4187-9478-904FB058D55E}"/>
    <dgm:cxn modelId="{4B5D9EA8-ADA8-4737-B6B4-9AD6CE367681}" type="presOf" srcId="{047BC765-B44C-4999-913D-7D53FDE72467}" destId="{F8F9F97E-9814-406B-A159-D64574AA8258}" srcOrd="0" destOrd="0" presId="urn:microsoft.com/office/officeart/2005/8/layout/orgChart1"/>
    <dgm:cxn modelId="{64A34CBB-D8C3-4D7A-BC75-6C942804FA76}" type="presOf" srcId="{ADC817CD-4098-464C-8BA9-9CD33AFD8D4A}" destId="{820750E2-70CA-4783-BB65-5657D0270CC0}" srcOrd="1" destOrd="0" presId="urn:microsoft.com/office/officeart/2005/8/layout/orgChart1"/>
    <dgm:cxn modelId="{8DD665BF-74D6-44B4-ABFD-BE67F6F6117F}" srcId="{ADC817CD-4098-464C-8BA9-9CD33AFD8D4A}" destId="{A1EEBB5C-44C3-4ED9-91BF-6BF4EABE2424}" srcOrd="0" destOrd="0" parTransId="{401F82E5-345A-4CD5-9EBB-1D419732D4E0}" sibTransId="{47114277-5958-4DE3-AD32-F4755B6B9C04}"/>
    <dgm:cxn modelId="{85898FD3-B6EC-4876-B3A4-9D4F47373294}" type="presOf" srcId="{A1EEBB5C-44C3-4ED9-91BF-6BF4EABE2424}" destId="{AF916568-92C2-4EC0-934A-3F06A1E1182A}" srcOrd="1" destOrd="0" presId="urn:microsoft.com/office/officeart/2005/8/layout/orgChart1"/>
    <dgm:cxn modelId="{40EF55D7-0530-4208-A3CB-8B04C3F15611}" type="presOf" srcId="{4691D39C-0EF2-469A-BFA1-58AD90E0ADED}" destId="{7C5ABE72-DBAF-48D0-B25C-D18A0F545903}" srcOrd="0" destOrd="0" presId="urn:microsoft.com/office/officeart/2005/8/layout/orgChart1"/>
    <dgm:cxn modelId="{33627EE3-7B11-4CE9-BC96-DCF7D3BFAAB9}" type="presOf" srcId="{401F82E5-345A-4CD5-9EBB-1D419732D4E0}" destId="{941C85A0-71D1-4F7A-8ADB-57D882CA6CFE}" srcOrd="0" destOrd="0" presId="urn:microsoft.com/office/officeart/2005/8/layout/orgChart1"/>
    <dgm:cxn modelId="{3BB50EF3-96E8-4257-9A99-E0CE365999DD}" srcId="{ADC817CD-4098-464C-8BA9-9CD33AFD8D4A}" destId="{4691D39C-0EF2-469A-BFA1-58AD90E0ADED}" srcOrd="2" destOrd="0" parTransId="{FD77A293-6928-4C29-9985-2BBE866884A3}" sibTransId="{93BBD434-F82A-4DD0-B767-E30257BBE7B7}"/>
    <dgm:cxn modelId="{4D65BA0E-7F67-46D5-A25E-E2F58C9C03E7}" type="presParOf" srcId="{801757B2-919E-42C0-8D27-FE6B55073B44}" destId="{32C2B675-DA5C-4978-A456-A4BBC18C9888}" srcOrd="0" destOrd="0" presId="urn:microsoft.com/office/officeart/2005/8/layout/orgChart1"/>
    <dgm:cxn modelId="{B8C3B5A8-54FC-4489-B29F-460BF1D728A6}" type="presParOf" srcId="{32C2B675-DA5C-4978-A456-A4BBC18C9888}" destId="{723348D3-F2D3-4035-BCAC-BF61255063A3}" srcOrd="0" destOrd="0" presId="urn:microsoft.com/office/officeart/2005/8/layout/orgChart1"/>
    <dgm:cxn modelId="{D85AB22F-FB54-4A18-9FA0-792E0A268272}" type="presParOf" srcId="{723348D3-F2D3-4035-BCAC-BF61255063A3}" destId="{DE99CF82-DDBC-42A5-8FB4-26F226CFA6D5}" srcOrd="0" destOrd="0" presId="urn:microsoft.com/office/officeart/2005/8/layout/orgChart1"/>
    <dgm:cxn modelId="{8A51E58F-F3AA-4023-BFB9-C677F65779C1}" type="presParOf" srcId="{723348D3-F2D3-4035-BCAC-BF61255063A3}" destId="{820750E2-70CA-4783-BB65-5657D0270CC0}" srcOrd="1" destOrd="0" presId="urn:microsoft.com/office/officeart/2005/8/layout/orgChart1"/>
    <dgm:cxn modelId="{833C0579-6B51-4B17-9739-37C07856E53A}" type="presParOf" srcId="{32C2B675-DA5C-4978-A456-A4BBC18C9888}" destId="{EBE9FAFE-C67E-44A9-A18E-83F2ADB4175B}" srcOrd="1" destOrd="0" presId="urn:microsoft.com/office/officeart/2005/8/layout/orgChart1"/>
    <dgm:cxn modelId="{1D93EFC0-0174-4B87-BC6F-17D7E43DEE87}" type="presParOf" srcId="{EBE9FAFE-C67E-44A9-A18E-83F2ADB4175B}" destId="{D6EBFD12-FF00-44DD-A0CD-9425AC0A16EB}" srcOrd="0" destOrd="0" presId="urn:microsoft.com/office/officeart/2005/8/layout/orgChart1"/>
    <dgm:cxn modelId="{697CAD40-E9FB-41FA-B788-BCACEC895DC7}" type="presParOf" srcId="{EBE9FAFE-C67E-44A9-A18E-83F2ADB4175B}" destId="{4B24F199-185D-4C5B-A5BC-F3C414C68E42}" srcOrd="1" destOrd="0" presId="urn:microsoft.com/office/officeart/2005/8/layout/orgChart1"/>
    <dgm:cxn modelId="{27D7B841-1C63-40C8-A677-51B2E9A64A96}" type="presParOf" srcId="{4B24F199-185D-4C5B-A5BC-F3C414C68E42}" destId="{58962D3B-7A88-44E9-B57E-FA50BE05C2F7}" srcOrd="0" destOrd="0" presId="urn:microsoft.com/office/officeart/2005/8/layout/orgChart1"/>
    <dgm:cxn modelId="{54822693-5803-4347-BCAA-546BEB225401}" type="presParOf" srcId="{58962D3B-7A88-44E9-B57E-FA50BE05C2F7}" destId="{B2E813E5-299C-4A2F-BF6B-60BA8B2484FD}" srcOrd="0" destOrd="0" presId="urn:microsoft.com/office/officeart/2005/8/layout/orgChart1"/>
    <dgm:cxn modelId="{CFDC3BA7-3F2F-436A-A4C1-B3B51016359F}" type="presParOf" srcId="{58962D3B-7A88-44E9-B57E-FA50BE05C2F7}" destId="{9854613E-3EFA-4355-B21E-60C50B33DB28}" srcOrd="1" destOrd="0" presId="urn:microsoft.com/office/officeart/2005/8/layout/orgChart1"/>
    <dgm:cxn modelId="{624CC631-1387-4D4F-A3E3-07E2B676D82B}" type="presParOf" srcId="{4B24F199-185D-4C5B-A5BC-F3C414C68E42}" destId="{26AE6FAA-190A-4757-8206-B3FDFB255833}" srcOrd="1" destOrd="0" presId="urn:microsoft.com/office/officeart/2005/8/layout/orgChart1"/>
    <dgm:cxn modelId="{1BE33ACE-65AD-4D88-BF82-AD6779F4FAC6}" type="presParOf" srcId="{4B24F199-185D-4C5B-A5BC-F3C414C68E42}" destId="{F37850CB-11E6-4DF4-B3BC-DDAE8F6E48D1}" srcOrd="2" destOrd="0" presId="urn:microsoft.com/office/officeart/2005/8/layout/orgChart1"/>
    <dgm:cxn modelId="{C7FA10B8-F0AE-49FA-A9A6-C559FF0892F3}" type="presParOf" srcId="{EBE9FAFE-C67E-44A9-A18E-83F2ADB4175B}" destId="{9FB66AF1-2072-4D31-B508-A5FCEFC1FFF9}" srcOrd="2" destOrd="0" presId="urn:microsoft.com/office/officeart/2005/8/layout/orgChart1"/>
    <dgm:cxn modelId="{A6606210-22B3-4EB6-8C6A-F11DE960A98F}" type="presParOf" srcId="{EBE9FAFE-C67E-44A9-A18E-83F2ADB4175B}" destId="{E99556A1-F75A-4732-B2D7-377644458AC3}" srcOrd="3" destOrd="0" presId="urn:microsoft.com/office/officeart/2005/8/layout/orgChart1"/>
    <dgm:cxn modelId="{CD5D45C8-0080-45B1-A176-9F0CA6D63743}" type="presParOf" srcId="{E99556A1-F75A-4732-B2D7-377644458AC3}" destId="{99734784-ED69-4620-957A-576F30032032}" srcOrd="0" destOrd="0" presId="urn:microsoft.com/office/officeart/2005/8/layout/orgChart1"/>
    <dgm:cxn modelId="{DD0CE1B2-1315-44AA-A718-4E0F412C1DA9}" type="presParOf" srcId="{99734784-ED69-4620-957A-576F30032032}" destId="{7C5ABE72-DBAF-48D0-B25C-D18A0F545903}" srcOrd="0" destOrd="0" presId="urn:microsoft.com/office/officeart/2005/8/layout/orgChart1"/>
    <dgm:cxn modelId="{1CACD855-E6FC-4CA7-97B3-6CAA49437B98}" type="presParOf" srcId="{99734784-ED69-4620-957A-576F30032032}" destId="{C5B0D667-0FDA-4FFE-BEEC-F7F208E46626}" srcOrd="1" destOrd="0" presId="urn:microsoft.com/office/officeart/2005/8/layout/orgChart1"/>
    <dgm:cxn modelId="{A3F96020-2374-4009-8D5D-07039126B24F}" type="presParOf" srcId="{E99556A1-F75A-4732-B2D7-377644458AC3}" destId="{2E590218-AF3C-4254-A376-3821FF14440E}" srcOrd="1" destOrd="0" presId="urn:microsoft.com/office/officeart/2005/8/layout/orgChart1"/>
    <dgm:cxn modelId="{548CA006-9D65-4BC6-B545-E519C7BB75DE}" type="presParOf" srcId="{E99556A1-F75A-4732-B2D7-377644458AC3}" destId="{4A5A20DC-3E89-4B64-97FE-3A97EB1FB251}" srcOrd="2" destOrd="0" presId="urn:microsoft.com/office/officeart/2005/8/layout/orgChart1"/>
    <dgm:cxn modelId="{FA4DA53A-8BF1-41CC-B8C7-1C69D8D4772B}" type="presParOf" srcId="{EBE9FAFE-C67E-44A9-A18E-83F2ADB4175B}" destId="{11308795-6199-42B5-A53A-CC5DF3DA9C13}" srcOrd="4" destOrd="0" presId="urn:microsoft.com/office/officeart/2005/8/layout/orgChart1"/>
    <dgm:cxn modelId="{22EBF2BC-526C-4794-9CF4-FBCDAD9F6D94}" type="presParOf" srcId="{EBE9FAFE-C67E-44A9-A18E-83F2ADB4175B}" destId="{E6509FE6-6F29-4EA9-AE51-C6CCF087AC38}" srcOrd="5" destOrd="0" presId="urn:microsoft.com/office/officeart/2005/8/layout/orgChart1"/>
    <dgm:cxn modelId="{A2EB7915-26DB-42C2-A309-6F707642D876}" type="presParOf" srcId="{E6509FE6-6F29-4EA9-AE51-C6CCF087AC38}" destId="{530B0203-3C58-4C53-B8B8-64E6CF2369FD}" srcOrd="0" destOrd="0" presId="urn:microsoft.com/office/officeart/2005/8/layout/orgChart1"/>
    <dgm:cxn modelId="{CD68A9D9-692C-4552-A734-8E7841286DEC}" type="presParOf" srcId="{530B0203-3C58-4C53-B8B8-64E6CF2369FD}" destId="{F8F9F97E-9814-406B-A159-D64574AA8258}" srcOrd="0" destOrd="0" presId="urn:microsoft.com/office/officeart/2005/8/layout/orgChart1"/>
    <dgm:cxn modelId="{A6722E40-9548-467B-9AC3-67E5F0FAAE40}" type="presParOf" srcId="{530B0203-3C58-4C53-B8B8-64E6CF2369FD}" destId="{9E61C524-C574-429A-84D9-D9CB1DD06174}" srcOrd="1" destOrd="0" presId="urn:microsoft.com/office/officeart/2005/8/layout/orgChart1"/>
    <dgm:cxn modelId="{B3891D1A-91EA-4756-83B0-17525CF3DFA4}" type="presParOf" srcId="{E6509FE6-6F29-4EA9-AE51-C6CCF087AC38}" destId="{CD014CC7-5BD9-4A6B-A50F-8E39598B4CFE}" srcOrd="1" destOrd="0" presId="urn:microsoft.com/office/officeart/2005/8/layout/orgChart1"/>
    <dgm:cxn modelId="{75AF2010-40D2-46E8-ACB9-2BF1EE285620}" type="presParOf" srcId="{E6509FE6-6F29-4EA9-AE51-C6CCF087AC38}" destId="{18C08861-4306-4C49-9D57-87A0C5D4BFAD}" srcOrd="2" destOrd="0" presId="urn:microsoft.com/office/officeart/2005/8/layout/orgChart1"/>
    <dgm:cxn modelId="{62F09634-C265-4ADD-B07A-789E2DB354CA}" type="presParOf" srcId="{32C2B675-DA5C-4978-A456-A4BBC18C9888}" destId="{C5893F18-2A37-4FEC-B4AD-D4E70A3F43AC}" srcOrd="2" destOrd="0" presId="urn:microsoft.com/office/officeart/2005/8/layout/orgChart1"/>
    <dgm:cxn modelId="{DE1F948E-EA2A-4C4D-8E0F-860F483C4578}" type="presParOf" srcId="{C5893F18-2A37-4FEC-B4AD-D4E70A3F43AC}" destId="{941C85A0-71D1-4F7A-8ADB-57D882CA6CFE}" srcOrd="0" destOrd="0" presId="urn:microsoft.com/office/officeart/2005/8/layout/orgChart1"/>
    <dgm:cxn modelId="{90AF1EBE-F7EC-440E-AF83-E89BF321D1A6}" type="presParOf" srcId="{C5893F18-2A37-4FEC-B4AD-D4E70A3F43AC}" destId="{DC171076-496A-4EEC-92AB-4157618779E4}" srcOrd="1" destOrd="0" presId="urn:microsoft.com/office/officeart/2005/8/layout/orgChart1"/>
    <dgm:cxn modelId="{3A59C510-A566-44A1-A71E-AAC17C923037}" type="presParOf" srcId="{DC171076-496A-4EEC-92AB-4157618779E4}" destId="{01FBD73B-27FB-42FA-8196-3DC0FFFBF819}" srcOrd="0" destOrd="0" presId="urn:microsoft.com/office/officeart/2005/8/layout/orgChart1"/>
    <dgm:cxn modelId="{3F1C49D9-8064-4625-85DF-65B329343CD9}" type="presParOf" srcId="{01FBD73B-27FB-42FA-8196-3DC0FFFBF819}" destId="{0A88551A-5BE9-41FD-870A-F473E5F28647}" srcOrd="0" destOrd="0" presId="urn:microsoft.com/office/officeart/2005/8/layout/orgChart1"/>
    <dgm:cxn modelId="{A1C3CD28-82BE-4678-B10E-4593674E86AB}" type="presParOf" srcId="{01FBD73B-27FB-42FA-8196-3DC0FFFBF819}" destId="{AF916568-92C2-4EC0-934A-3F06A1E1182A}" srcOrd="1" destOrd="0" presId="urn:microsoft.com/office/officeart/2005/8/layout/orgChart1"/>
    <dgm:cxn modelId="{24DB06D3-CB57-44BD-AC6D-2174573EBCC1}" type="presParOf" srcId="{DC171076-496A-4EEC-92AB-4157618779E4}" destId="{2F026B84-ACC0-4EEC-A58A-FC8D8E7F03E5}" srcOrd="1" destOrd="0" presId="urn:microsoft.com/office/officeart/2005/8/layout/orgChart1"/>
    <dgm:cxn modelId="{D88B5F77-69BA-4C14-94FF-38BA5D2D4A0F}" type="presParOf" srcId="{DC171076-496A-4EEC-92AB-4157618779E4}" destId="{010D1294-9980-44C3-A08B-0383E0B2293C}"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376747E-8949-4FCB-84AE-A3D0F6E34917}" type="doc">
      <dgm:prSet loTypeId="urn:microsoft.com/office/officeart/2008/layout/RadialCluster" loCatId="relationship" qsTypeId="urn:microsoft.com/office/officeart/2005/8/quickstyle/simple1" qsCatId="simple" csTypeId="urn:microsoft.com/office/officeart/2005/8/colors/accent1_2" csCatId="accent1" phldr="1"/>
      <dgm:spPr/>
      <dgm:t>
        <a:bodyPr/>
        <a:lstStyle/>
        <a:p>
          <a:endParaRPr lang="id-ID"/>
        </a:p>
      </dgm:t>
    </dgm:pt>
    <dgm:pt modelId="{BE9760D9-D44E-44CB-845C-4FA61A60B882}">
      <dgm:prSet phldrT="[Text]" custT="1"/>
      <dgm:spPr>
        <a:noFill/>
      </dgm:spPr>
      <dgm:t>
        <a:bodyPr/>
        <a:lstStyle/>
        <a:p>
          <a:r>
            <a:rPr lang="id-ID" sz="3200" dirty="0">
              <a:solidFill>
                <a:schemeClr val="accent6">
                  <a:lumMod val="50000"/>
                </a:schemeClr>
              </a:solidFill>
            </a:rPr>
            <a:t>Contract Coordinator</a:t>
          </a:r>
        </a:p>
      </dgm:t>
    </dgm:pt>
    <dgm:pt modelId="{D40EF3DC-F97D-4169-B330-CE359351897E}" type="parTrans" cxnId="{C0F64FD6-510F-42EE-8B11-A7F931B1A886}">
      <dgm:prSet/>
      <dgm:spPr/>
      <dgm:t>
        <a:bodyPr/>
        <a:lstStyle/>
        <a:p>
          <a:endParaRPr lang="id-ID"/>
        </a:p>
      </dgm:t>
    </dgm:pt>
    <dgm:pt modelId="{421AF5FA-AB96-4405-9C22-A70E33B87045}" type="sibTrans" cxnId="{C0F64FD6-510F-42EE-8B11-A7F931B1A886}">
      <dgm:prSet/>
      <dgm:spPr/>
      <dgm:t>
        <a:bodyPr/>
        <a:lstStyle/>
        <a:p>
          <a:endParaRPr lang="id-ID"/>
        </a:p>
      </dgm:t>
    </dgm:pt>
    <dgm:pt modelId="{FEEAB5DA-DFE8-4F9A-9221-FFF82737FFEA}">
      <dgm:prSet phldrT="[Text]"/>
      <dgm:spPr>
        <a:solidFill>
          <a:srgbClr val="808000"/>
        </a:solidFill>
      </dgm:spPr>
      <dgm:t>
        <a:bodyPr/>
        <a:lstStyle/>
        <a:p>
          <a:r>
            <a:rPr lang="id-ID" dirty="0">
              <a:solidFill>
                <a:srgbClr val="FFC000"/>
              </a:solidFill>
            </a:rPr>
            <a:t>DE</a:t>
          </a:r>
        </a:p>
      </dgm:t>
    </dgm:pt>
    <dgm:pt modelId="{F0F81AD1-3F2C-4B7D-ADCB-925BAFD7BC25}" type="parTrans" cxnId="{D4B3DBA4-D808-4DC7-ACD8-844FF9481222}">
      <dgm:prSet/>
      <dgm:spPr/>
      <dgm:t>
        <a:bodyPr/>
        <a:lstStyle/>
        <a:p>
          <a:endParaRPr lang="id-ID"/>
        </a:p>
      </dgm:t>
    </dgm:pt>
    <dgm:pt modelId="{1397B7FA-FAF3-44B7-9053-53FE6651856A}" type="sibTrans" cxnId="{D4B3DBA4-D808-4DC7-ACD8-844FF9481222}">
      <dgm:prSet/>
      <dgm:spPr/>
      <dgm:t>
        <a:bodyPr/>
        <a:lstStyle/>
        <a:p>
          <a:endParaRPr lang="id-ID"/>
        </a:p>
      </dgm:t>
    </dgm:pt>
    <dgm:pt modelId="{28140400-AE92-4B6C-91A1-23CF290322B8}">
      <dgm:prSet phldrT="[Text]"/>
      <dgm:spPr>
        <a:solidFill>
          <a:srgbClr val="FFFFCC"/>
        </a:solidFill>
      </dgm:spPr>
      <dgm:t>
        <a:bodyPr/>
        <a:lstStyle/>
        <a:p>
          <a:r>
            <a:rPr lang="id-ID" dirty="0">
              <a:solidFill>
                <a:srgbClr val="006600"/>
              </a:solidFill>
            </a:rPr>
            <a:t>HSE</a:t>
          </a:r>
        </a:p>
      </dgm:t>
    </dgm:pt>
    <dgm:pt modelId="{13924D7C-A378-4869-A90D-4EF50D782617}" type="parTrans" cxnId="{8A65F817-198E-4A90-B27C-0AE916FE5A96}">
      <dgm:prSet/>
      <dgm:spPr/>
      <dgm:t>
        <a:bodyPr/>
        <a:lstStyle/>
        <a:p>
          <a:endParaRPr lang="id-ID"/>
        </a:p>
      </dgm:t>
    </dgm:pt>
    <dgm:pt modelId="{28763F8C-2D90-45D8-BFF8-D6097BFA3E3E}" type="sibTrans" cxnId="{8A65F817-198E-4A90-B27C-0AE916FE5A96}">
      <dgm:prSet/>
      <dgm:spPr/>
      <dgm:t>
        <a:bodyPr/>
        <a:lstStyle/>
        <a:p>
          <a:endParaRPr lang="id-ID"/>
        </a:p>
      </dgm:t>
    </dgm:pt>
    <dgm:pt modelId="{DD82A014-313A-4AB7-991D-CFBB09697D5E}">
      <dgm:prSet phldrT="[Text]"/>
      <dgm:spPr>
        <a:solidFill>
          <a:schemeClr val="accent4">
            <a:lumMod val="20000"/>
            <a:lumOff val="80000"/>
          </a:schemeClr>
        </a:solidFill>
      </dgm:spPr>
      <dgm:t>
        <a:bodyPr/>
        <a:lstStyle/>
        <a:p>
          <a:r>
            <a:rPr lang="id-ID" dirty="0">
              <a:solidFill>
                <a:srgbClr val="006600"/>
              </a:solidFill>
            </a:rPr>
            <a:t>Proc</a:t>
          </a:r>
          <a:r>
            <a:rPr lang="en-US" dirty="0" err="1">
              <a:solidFill>
                <a:srgbClr val="006600"/>
              </a:solidFill>
            </a:rPr>
            <a:t>urement</a:t>
          </a:r>
          <a:endParaRPr lang="id-ID" dirty="0">
            <a:solidFill>
              <a:srgbClr val="006600"/>
            </a:solidFill>
          </a:endParaRPr>
        </a:p>
      </dgm:t>
    </dgm:pt>
    <dgm:pt modelId="{C4DBEBBB-4FF8-4EF9-B61B-3C9CE716BBF7}" type="parTrans" cxnId="{341EE5D6-2F93-45CE-9DB9-957682727EE8}">
      <dgm:prSet/>
      <dgm:spPr/>
      <dgm:t>
        <a:bodyPr/>
        <a:lstStyle/>
        <a:p>
          <a:endParaRPr lang="id-ID"/>
        </a:p>
      </dgm:t>
    </dgm:pt>
    <dgm:pt modelId="{8B4AEB6F-4DEC-47DC-BEB6-D7F52DD2932C}" type="sibTrans" cxnId="{341EE5D6-2F93-45CE-9DB9-957682727EE8}">
      <dgm:prSet/>
      <dgm:spPr/>
      <dgm:t>
        <a:bodyPr/>
        <a:lstStyle/>
        <a:p>
          <a:endParaRPr lang="id-ID"/>
        </a:p>
      </dgm:t>
    </dgm:pt>
    <dgm:pt modelId="{F58D2AAF-E3C0-4A38-A32F-916ECC58909B}">
      <dgm:prSet phldrT="[Text]"/>
      <dgm:spPr>
        <a:solidFill>
          <a:srgbClr val="CCFF33"/>
        </a:solidFill>
      </dgm:spPr>
      <dgm:t>
        <a:bodyPr/>
        <a:lstStyle/>
        <a:p>
          <a:r>
            <a:rPr lang="id-ID" dirty="0">
              <a:solidFill>
                <a:srgbClr val="006600"/>
              </a:solidFill>
            </a:rPr>
            <a:t>HRD</a:t>
          </a:r>
        </a:p>
      </dgm:t>
    </dgm:pt>
    <dgm:pt modelId="{0244CBFB-7F7E-4672-82FC-053B09D1DF10}" type="parTrans" cxnId="{9B69C7BA-00B0-42DD-BCE4-F082AACA21AF}">
      <dgm:prSet/>
      <dgm:spPr/>
      <dgm:t>
        <a:bodyPr/>
        <a:lstStyle/>
        <a:p>
          <a:endParaRPr lang="id-ID"/>
        </a:p>
      </dgm:t>
    </dgm:pt>
    <dgm:pt modelId="{F2130EC5-8A03-4F17-AD3A-07D61A7213EE}" type="sibTrans" cxnId="{9B69C7BA-00B0-42DD-BCE4-F082AACA21AF}">
      <dgm:prSet/>
      <dgm:spPr/>
      <dgm:t>
        <a:bodyPr/>
        <a:lstStyle/>
        <a:p>
          <a:endParaRPr lang="id-ID"/>
        </a:p>
      </dgm:t>
    </dgm:pt>
    <dgm:pt modelId="{43C9C3E7-232C-4662-AC87-B05160F0ED67}">
      <dgm:prSet phldrT="[Text]"/>
      <dgm:spPr>
        <a:solidFill>
          <a:srgbClr val="CCCC00"/>
        </a:solidFill>
      </dgm:spPr>
      <dgm:t>
        <a:bodyPr/>
        <a:lstStyle/>
        <a:p>
          <a:r>
            <a:rPr lang="id-ID" dirty="0">
              <a:solidFill>
                <a:srgbClr val="006600"/>
              </a:solidFill>
            </a:rPr>
            <a:t>Log</a:t>
          </a:r>
          <a:r>
            <a:rPr lang="en-US" dirty="0" err="1">
              <a:solidFill>
                <a:srgbClr val="006600"/>
              </a:solidFill>
            </a:rPr>
            <a:t>istic</a:t>
          </a:r>
          <a:endParaRPr lang="id-ID" dirty="0">
            <a:solidFill>
              <a:srgbClr val="006600"/>
            </a:solidFill>
          </a:endParaRPr>
        </a:p>
      </dgm:t>
    </dgm:pt>
    <dgm:pt modelId="{6DE91534-7317-4FB4-A2CA-B34DE7FBCB36}" type="parTrans" cxnId="{CF3DFFE1-B6E1-4AA8-89AA-27F9E1D9EF5B}">
      <dgm:prSet/>
      <dgm:spPr/>
      <dgm:t>
        <a:bodyPr/>
        <a:lstStyle/>
        <a:p>
          <a:endParaRPr lang="id-ID"/>
        </a:p>
      </dgm:t>
    </dgm:pt>
    <dgm:pt modelId="{EDC22E14-1664-4BCB-B0BC-877351A66A7A}" type="sibTrans" cxnId="{CF3DFFE1-B6E1-4AA8-89AA-27F9E1D9EF5B}">
      <dgm:prSet/>
      <dgm:spPr/>
      <dgm:t>
        <a:bodyPr/>
        <a:lstStyle/>
        <a:p>
          <a:endParaRPr lang="id-ID"/>
        </a:p>
      </dgm:t>
    </dgm:pt>
    <dgm:pt modelId="{AE43633B-A32C-4879-82E4-4C4D5C7822EE}">
      <dgm:prSet phldrT="[Text]"/>
      <dgm:spPr>
        <a:solidFill>
          <a:srgbClr val="FFFF99"/>
        </a:solidFill>
      </dgm:spPr>
      <dgm:t>
        <a:bodyPr/>
        <a:lstStyle/>
        <a:p>
          <a:r>
            <a:rPr lang="id-ID" dirty="0">
              <a:solidFill>
                <a:srgbClr val="006600"/>
              </a:solidFill>
            </a:rPr>
            <a:t>Facility</a:t>
          </a:r>
        </a:p>
      </dgm:t>
    </dgm:pt>
    <dgm:pt modelId="{813B16B8-133B-45A4-B150-410C1CC7CE1B}" type="parTrans" cxnId="{4FA765D0-85E5-4A3B-B003-A48C6B4B5454}">
      <dgm:prSet/>
      <dgm:spPr/>
      <dgm:t>
        <a:bodyPr/>
        <a:lstStyle/>
        <a:p>
          <a:endParaRPr lang="id-ID"/>
        </a:p>
      </dgm:t>
    </dgm:pt>
    <dgm:pt modelId="{7F62BECE-E3D4-4611-A145-6C9A5AE80D39}" type="sibTrans" cxnId="{4FA765D0-85E5-4A3B-B003-A48C6B4B5454}">
      <dgm:prSet/>
      <dgm:spPr/>
      <dgm:t>
        <a:bodyPr/>
        <a:lstStyle/>
        <a:p>
          <a:endParaRPr lang="id-ID"/>
        </a:p>
      </dgm:t>
    </dgm:pt>
    <dgm:pt modelId="{427467F9-4E79-4E35-8BB2-90795DE479C0}">
      <dgm:prSet phldrT="[Text]"/>
      <dgm:spPr>
        <a:solidFill>
          <a:srgbClr val="FFFF66"/>
        </a:solidFill>
      </dgm:spPr>
      <dgm:t>
        <a:bodyPr/>
        <a:lstStyle/>
        <a:p>
          <a:r>
            <a:rPr lang="id-ID" dirty="0">
              <a:solidFill>
                <a:srgbClr val="006600"/>
              </a:solidFill>
            </a:rPr>
            <a:t>G&amp;G</a:t>
          </a:r>
        </a:p>
      </dgm:t>
    </dgm:pt>
    <dgm:pt modelId="{CA2A69B7-6C1C-4E20-9F73-9AD7C9F1BA31}" type="parTrans" cxnId="{8022E0F6-D5FB-400B-AF9E-1124FB3D1C59}">
      <dgm:prSet/>
      <dgm:spPr/>
      <dgm:t>
        <a:bodyPr/>
        <a:lstStyle/>
        <a:p>
          <a:endParaRPr lang="id-ID"/>
        </a:p>
      </dgm:t>
    </dgm:pt>
    <dgm:pt modelId="{3636F1C9-52C4-4519-95CE-CEE9AD47FCE9}" type="sibTrans" cxnId="{8022E0F6-D5FB-400B-AF9E-1124FB3D1C59}">
      <dgm:prSet/>
      <dgm:spPr/>
      <dgm:t>
        <a:bodyPr/>
        <a:lstStyle/>
        <a:p>
          <a:endParaRPr lang="id-ID"/>
        </a:p>
      </dgm:t>
    </dgm:pt>
    <dgm:pt modelId="{E25700D7-8E30-4C3A-8D3D-1A796DDA55D1}" type="pres">
      <dgm:prSet presAssocID="{F376747E-8949-4FCB-84AE-A3D0F6E34917}" presName="Name0" presStyleCnt="0">
        <dgm:presLayoutVars>
          <dgm:chMax val="1"/>
          <dgm:chPref val="1"/>
          <dgm:dir/>
          <dgm:animOne val="branch"/>
          <dgm:animLvl val="lvl"/>
        </dgm:presLayoutVars>
      </dgm:prSet>
      <dgm:spPr/>
    </dgm:pt>
    <dgm:pt modelId="{0BA10809-E072-4D94-9390-18579447B31C}" type="pres">
      <dgm:prSet presAssocID="{BE9760D9-D44E-44CB-845C-4FA61A60B882}" presName="singleCycle" presStyleCnt="0"/>
      <dgm:spPr/>
    </dgm:pt>
    <dgm:pt modelId="{91A8818D-20FD-4956-807C-772673DF5296}" type="pres">
      <dgm:prSet presAssocID="{BE9760D9-D44E-44CB-845C-4FA61A60B882}" presName="singleCenter" presStyleLbl="node1" presStyleIdx="0" presStyleCnt="8" custScaleX="153846" custLinFactNeighborY="5817">
        <dgm:presLayoutVars>
          <dgm:chMax val="7"/>
          <dgm:chPref val="7"/>
        </dgm:presLayoutVars>
      </dgm:prSet>
      <dgm:spPr/>
    </dgm:pt>
    <dgm:pt modelId="{269E0BFA-569B-42ED-8175-6ACE94233610}" type="pres">
      <dgm:prSet presAssocID="{F0F81AD1-3F2C-4B7D-ADCB-925BAFD7BC25}" presName="Name56" presStyleLbl="parChTrans1D2" presStyleIdx="0" presStyleCnt="7"/>
      <dgm:spPr/>
    </dgm:pt>
    <dgm:pt modelId="{069C6267-F9F5-48A3-872B-215DD73FD4CF}" type="pres">
      <dgm:prSet presAssocID="{FEEAB5DA-DFE8-4F9A-9221-FFF82737FFEA}" presName="text0" presStyleLbl="node1" presStyleIdx="1" presStyleCnt="8">
        <dgm:presLayoutVars>
          <dgm:bulletEnabled val="1"/>
        </dgm:presLayoutVars>
      </dgm:prSet>
      <dgm:spPr/>
    </dgm:pt>
    <dgm:pt modelId="{99F340ED-3598-45C6-84AA-1CE294426495}" type="pres">
      <dgm:prSet presAssocID="{6DE91534-7317-4FB4-A2CA-B34DE7FBCB36}" presName="Name56" presStyleLbl="parChTrans1D2" presStyleIdx="1" presStyleCnt="7"/>
      <dgm:spPr/>
    </dgm:pt>
    <dgm:pt modelId="{58C14864-8158-434C-86E6-D9D670D9459E}" type="pres">
      <dgm:prSet presAssocID="{43C9C3E7-232C-4662-AC87-B05160F0ED67}" presName="text0" presStyleLbl="node1" presStyleIdx="2" presStyleCnt="8" custScaleX="178763">
        <dgm:presLayoutVars>
          <dgm:bulletEnabled val="1"/>
        </dgm:presLayoutVars>
      </dgm:prSet>
      <dgm:spPr/>
    </dgm:pt>
    <dgm:pt modelId="{03B7E082-2943-45CF-855F-460294759268}" type="pres">
      <dgm:prSet presAssocID="{0244CBFB-7F7E-4672-82FC-053B09D1DF10}" presName="Name56" presStyleLbl="parChTrans1D2" presStyleIdx="2" presStyleCnt="7"/>
      <dgm:spPr/>
    </dgm:pt>
    <dgm:pt modelId="{5A91D3CA-7980-4A51-9844-291358034668}" type="pres">
      <dgm:prSet presAssocID="{F58D2AAF-E3C0-4A38-A32F-916ECC58909B}" presName="text0" presStyleLbl="node1" presStyleIdx="3" presStyleCnt="8">
        <dgm:presLayoutVars>
          <dgm:bulletEnabled val="1"/>
        </dgm:presLayoutVars>
      </dgm:prSet>
      <dgm:spPr/>
    </dgm:pt>
    <dgm:pt modelId="{CF54E068-CDA4-4B1F-86FA-3EEB6BE463E3}" type="pres">
      <dgm:prSet presAssocID="{CA2A69B7-6C1C-4E20-9F73-9AD7C9F1BA31}" presName="Name56" presStyleLbl="parChTrans1D2" presStyleIdx="3" presStyleCnt="7"/>
      <dgm:spPr/>
    </dgm:pt>
    <dgm:pt modelId="{5EDA406C-3701-4E8B-8554-3284F17B9418}" type="pres">
      <dgm:prSet presAssocID="{427467F9-4E79-4E35-8BB2-90795DE479C0}" presName="text0" presStyleLbl="node1" presStyleIdx="4" presStyleCnt="8">
        <dgm:presLayoutVars>
          <dgm:bulletEnabled val="1"/>
        </dgm:presLayoutVars>
      </dgm:prSet>
      <dgm:spPr/>
    </dgm:pt>
    <dgm:pt modelId="{5221283E-7556-4637-B8C8-0E850B8636E7}" type="pres">
      <dgm:prSet presAssocID="{813B16B8-133B-45A4-B150-410C1CC7CE1B}" presName="Name56" presStyleLbl="parChTrans1D2" presStyleIdx="4" presStyleCnt="7"/>
      <dgm:spPr/>
    </dgm:pt>
    <dgm:pt modelId="{023534C5-4272-40AF-8DE0-811F2243368A}" type="pres">
      <dgm:prSet presAssocID="{AE43633B-A32C-4879-82E4-4C4D5C7822EE}" presName="text0" presStyleLbl="node1" presStyleIdx="5" presStyleCnt="8">
        <dgm:presLayoutVars>
          <dgm:bulletEnabled val="1"/>
        </dgm:presLayoutVars>
      </dgm:prSet>
      <dgm:spPr/>
    </dgm:pt>
    <dgm:pt modelId="{F00144A7-9C55-40FB-9F0B-9C502FFB9F3B}" type="pres">
      <dgm:prSet presAssocID="{13924D7C-A378-4869-A90D-4EF50D782617}" presName="Name56" presStyleLbl="parChTrans1D2" presStyleIdx="5" presStyleCnt="7"/>
      <dgm:spPr/>
    </dgm:pt>
    <dgm:pt modelId="{0BDD38B4-1B02-40C9-87B0-3CAE3023FB19}" type="pres">
      <dgm:prSet presAssocID="{28140400-AE92-4B6C-91A1-23CF290322B8}" presName="text0" presStyleLbl="node1" presStyleIdx="6" presStyleCnt="8">
        <dgm:presLayoutVars>
          <dgm:bulletEnabled val="1"/>
        </dgm:presLayoutVars>
      </dgm:prSet>
      <dgm:spPr/>
    </dgm:pt>
    <dgm:pt modelId="{1A28821A-5856-44EE-9844-58083A81A2C9}" type="pres">
      <dgm:prSet presAssocID="{C4DBEBBB-4FF8-4EF9-B61B-3C9CE716BBF7}" presName="Name56" presStyleLbl="parChTrans1D2" presStyleIdx="6" presStyleCnt="7"/>
      <dgm:spPr/>
    </dgm:pt>
    <dgm:pt modelId="{D5FA5F01-CEEA-4CA1-BE08-A8DF9193FA9C}" type="pres">
      <dgm:prSet presAssocID="{DD82A014-313A-4AB7-991D-CFBB09697D5E}" presName="text0" presStyleLbl="node1" presStyleIdx="7" presStyleCnt="8" custScaleX="178815">
        <dgm:presLayoutVars>
          <dgm:bulletEnabled val="1"/>
        </dgm:presLayoutVars>
      </dgm:prSet>
      <dgm:spPr/>
    </dgm:pt>
  </dgm:ptLst>
  <dgm:cxnLst>
    <dgm:cxn modelId="{23920C02-A055-46A0-875C-34A825CB3A86}" type="presOf" srcId="{13924D7C-A378-4869-A90D-4EF50D782617}" destId="{F00144A7-9C55-40FB-9F0B-9C502FFB9F3B}" srcOrd="0" destOrd="0" presId="urn:microsoft.com/office/officeart/2008/layout/RadialCluster"/>
    <dgm:cxn modelId="{CDB6BC0A-A5A7-4983-B64C-FF994CE0FC9B}" type="presOf" srcId="{427467F9-4E79-4E35-8BB2-90795DE479C0}" destId="{5EDA406C-3701-4E8B-8554-3284F17B9418}" srcOrd="0" destOrd="0" presId="urn:microsoft.com/office/officeart/2008/layout/RadialCluster"/>
    <dgm:cxn modelId="{F7647517-F5A9-4C2E-A445-2FE9CA7E4DE2}" type="presOf" srcId="{813B16B8-133B-45A4-B150-410C1CC7CE1B}" destId="{5221283E-7556-4637-B8C8-0E850B8636E7}" srcOrd="0" destOrd="0" presId="urn:microsoft.com/office/officeart/2008/layout/RadialCluster"/>
    <dgm:cxn modelId="{215C8917-C9CA-44E3-A311-B3B9FCE98EE9}" type="presOf" srcId="{CA2A69B7-6C1C-4E20-9F73-9AD7C9F1BA31}" destId="{CF54E068-CDA4-4B1F-86FA-3EEB6BE463E3}" srcOrd="0" destOrd="0" presId="urn:microsoft.com/office/officeart/2008/layout/RadialCluster"/>
    <dgm:cxn modelId="{8A65F817-198E-4A90-B27C-0AE916FE5A96}" srcId="{BE9760D9-D44E-44CB-845C-4FA61A60B882}" destId="{28140400-AE92-4B6C-91A1-23CF290322B8}" srcOrd="5" destOrd="0" parTransId="{13924D7C-A378-4869-A90D-4EF50D782617}" sibTransId="{28763F8C-2D90-45D8-BFF8-D6097BFA3E3E}"/>
    <dgm:cxn modelId="{2FCD5B35-4AB6-4620-ADEB-CA97ED323530}" type="presOf" srcId="{F0F81AD1-3F2C-4B7D-ADCB-925BAFD7BC25}" destId="{269E0BFA-569B-42ED-8175-6ACE94233610}" srcOrd="0" destOrd="0" presId="urn:microsoft.com/office/officeart/2008/layout/RadialCluster"/>
    <dgm:cxn modelId="{A2246443-B88B-405D-B61C-41372B92E230}" type="presOf" srcId="{6DE91534-7317-4FB4-A2CA-B34DE7FBCB36}" destId="{99F340ED-3598-45C6-84AA-1CE294426495}" srcOrd="0" destOrd="0" presId="urn:microsoft.com/office/officeart/2008/layout/RadialCluster"/>
    <dgm:cxn modelId="{DCBFFC44-6E95-4FD4-B1B6-8468415B2961}" type="presOf" srcId="{28140400-AE92-4B6C-91A1-23CF290322B8}" destId="{0BDD38B4-1B02-40C9-87B0-3CAE3023FB19}" srcOrd="0" destOrd="0" presId="urn:microsoft.com/office/officeart/2008/layout/RadialCluster"/>
    <dgm:cxn modelId="{83BC766A-BF43-4668-A4BE-382D964C6E63}" type="presOf" srcId="{0244CBFB-7F7E-4672-82FC-053B09D1DF10}" destId="{03B7E082-2943-45CF-855F-460294759268}" srcOrd="0" destOrd="0" presId="urn:microsoft.com/office/officeart/2008/layout/RadialCluster"/>
    <dgm:cxn modelId="{43AF0A57-92D6-43E6-90D5-B0137150BE5B}" type="presOf" srcId="{BE9760D9-D44E-44CB-845C-4FA61A60B882}" destId="{91A8818D-20FD-4956-807C-772673DF5296}" srcOrd="0" destOrd="0" presId="urn:microsoft.com/office/officeart/2008/layout/RadialCluster"/>
    <dgm:cxn modelId="{53FFAE7F-2FBF-4F22-AE91-4E4A944CBA1D}" type="presOf" srcId="{DD82A014-313A-4AB7-991D-CFBB09697D5E}" destId="{D5FA5F01-CEEA-4CA1-BE08-A8DF9193FA9C}" srcOrd="0" destOrd="0" presId="urn:microsoft.com/office/officeart/2008/layout/RadialCluster"/>
    <dgm:cxn modelId="{42D3C781-B746-4EDE-8AF8-058FD79C113A}" type="presOf" srcId="{43C9C3E7-232C-4662-AC87-B05160F0ED67}" destId="{58C14864-8158-434C-86E6-D9D670D9459E}" srcOrd="0" destOrd="0" presId="urn:microsoft.com/office/officeart/2008/layout/RadialCluster"/>
    <dgm:cxn modelId="{65584394-4DEC-4D68-8B59-CCE0EC41A9EC}" type="presOf" srcId="{C4DBEBBB-4FF8-4EF9-B61B-3C9CE716BBF7}" destId="{1A28821A-5856-44EE-9844-58083A81A2C9}" srcOrd="0" destOrd="0" presId="urn:microsoft.com/office/officeart/2008/layout/RadialCluster"/>
    <dgm:cxn modelId="{E073E699-3312-4181-AE57-7DA30B421B3D}" type="presOf" srcId="{AE43633B-A32C-4879-82E4-4C4D5C7822EE}" destId="{023534C5-4272-40AF-8DE0-811F2243368A}" srcOrd="0" destOrd="0" presId="urn:microsoft.com/office/officeart/2008/layout/RadialCluster"/>
    <dgm:cxn modelId="{D4B3DBA4-D808-4DC7-ACD8-844FF9481222}" srcId="{BE9760D9-D44E-44CB-845C-4FA61A60B882}" destId="{FEEAB5DA-DFE8-4F9A-9221-FFF82737FFEA}" srcOrd="0" destOrd="0" parTransId="{F0F81AD1-3F2C-4B7D-ADCB-925BAFD7BC25}" sibTransId="{1397B7FA-FAF3-44B7-9053-53FE6651856A}"/>
    <dgm:cxn modelId="{FB15F7A4-3E15-4FE5-AF6B-C5A3365AF5A4}" type="presOf" srcId="{F58D2AAF-E3C0-4A38-A32F-916ECC58909B}" destId="{5A91D3CA-7980-4A51-9844-291358034668}" srcOrd="0" destOrd="0" presId="urn:microsoft.com/office/officeart/2008/layout/RadialCluster"/>
    <dgm:cxn modelId="{9B69C7BA-00B0-42DD-BCE4-F082AACA21AF}" srcId="{BE9760D9-D44E-44CB-845C-4FA61A60B882}" destId="{F58D2AAF-E3C0-4A38-A32F-916ECC58909B}" srcOrd="2" destOrd="0" parTransId="{0244CBFB-7F7E-4672-82FC-053B09D1DF10}" sibTransId="{F2130EC5-8A03-4F17-AD3A-07D61A7213EE}"/>
    <dgm:cxn modelId="{6E87FCBD-511D-4FF2-9BBF-8D32A6B68B3A}" type="presOf" srcId="{FEEAB5DA-DFE8-4F9A-9221-FFF82737FFEA}" destId="{069C6267-F9F5-48A3-872B-215DD73FD4CF}" srcOrd="0" destOrd="0" presId="urn:microsoft.com/office/officeart/2008/layout/RadialCluster"/>
    <dgm:cxn modelId="{4FA765D0-85E5-4A3B-B003-A48C6B4B5454}" srcId="{BE9760D9-D44E-44CB-845C-4FA61A60B882}" destId="{AE43633B-A32C-4879-82E4-4C4D5C7822EE}" srcOrd="4" destOrd="0" parTransId="{813B16B8-133B-45A4-B150-410C1CC7CE1B}" sibTransId="{7F62BECE-E3D4-4611-A145-6C9A5AE80D39}"/>
    <dgm:cxn modelId="{C0F64FD6-510F-42EE-8B11-A7F931B1A886}" srcId="{F376747E-8949-4FCB-84AE-A3D0F6E34917}" destId="{BE9760D9-D44E-44CB-845C-4FA61A60B882}" srcOrd="0" destOrd="0" parTransId="{D40EF3DC-F97D-4169-B330-CE359351897E}" sibTransId="{421AF5FA-AB96-4405-9C22-A70E33B87045}"/>
    <dgm:cxn modelId="{341EE5D6-2F93-45CE-9DB9-957682727EE8}" srcId="{BE9760D9-D44E-44CB-845C-4FA61A60B882}" destId="{DD82A014-313A-4AB7-991D-CFBB09697D5E}" srcOrd="6" destOrd="0" parTransId="{C4DBEBBB-4FF8-4EF9-B61B-3C9CE716BBF7}" sibTransId="{8B4AEB6F-4DEC-47DC-BEB6-D7F52DD2932C}"/>
    <dgm:cxn modelId="{CF3DFFE1-B6E1-4AA8-89AA-27F9E1D9EF5B}" srcId="{BE9760D9-D44E-44CB-845C-4FA61A60B882}" destId="{43C9C3E7-232C-4662-AC87-B05160F0ED67}" srcOrd="1" destOrd="0" parTransId="{6DE91534-7317-4FB4-A2CA-B34DE7FBCB36}" sibTransId="{EDC22E14-1664-4BCB-B0BC-877351A66A7A}"/>
    <dgm:cxn modelId="{1C70FBEF-9DE6-4C17-AA1B-092C3AC3ECBC}" type="presOf" srcId="{F376747E-8949-4FCB-84AE-A3D0F6E34917}" destId="{E25700D7-8E30-4C3A-8D3D-1A796DDA55D1}" srcOrd="0" destOrd="0" presId="urn:microsoft.com/office/officeart/2008/layout/RadialCluster"/>
    <dgm:cxn modelId="{8022E0F6-D5FB-400B-AF9E-1124FB3D1C59}" srcId="{BE9760D9-D44E-44CB-845C-4FA61A60B882}" destId="{427467F9-4E79-4E35-8BB2-90795DE479C0}" srcOrd="3" destOrd="0" parTransId="{CA2A69B7-6C1C-4E20-9F73-9AD7C9F1BA31}" sibTransId="{3636F1C9-52C4-4519-95CE-CEE9AD47FCE9}"/>
    <dgm:cxn modelId="{71EFAB1C-FF99-45A0-9FE9-D997A01A0066}" type="presParOf" srcId="{E25700D7-8E30-4C3A-8D3D-1A796DDA55D1}" destId="{0BA10809-E072-4D94-9390-18579447B31C}" srcOrd="0" destOrd="0" presId="urn:microsoft.com/office/officeart/2008/layout/RadialCluster"/>
    <dgm:cxn modelId="{44168514-2E64-4071-9DD7-ACEC14AC65F1}" type="presParOf" srcId="{0BA10809-E072-4D94-9390-18579447B31C}" destId="{91A8818D-20FD-4956-807C-772673DF5296}" srcOrd="0" destOrd="0" presId="urn:microsoft.com/office/officeart/2008/layout/RadialCluster"/>
    <dgm:cxn modelId="{0483EB1B-A7FE-4E34-A662-6A6EEB081BB5}" type="presParOf" srcId="{0BA10809-E072-4D94-9390-18579447B31C}" destId="{269E0BFA-569B-42ED-8175-6ACE94233610}" srcOrd="1" destOrd="0" presId="urn:microsoft.com/office/officeart/2008/layout/RadialCluster"/>
    <dgm:cxn modelId="{5290BC41-3C67-4880-8819-645EF76816CD}" type="presParOf" srcId="{0BA10809-E072-4D94-9390-18579447B31C}" destId="{069C6267-F9F5-48A3-872B-215DD73FD4CF}" srcOrd="2" destOrd="0" presId="urn:microsoft.com/office/officeart/2008/layout/RadialCluster"/>
    <dgm:cxn modelId="{CFD26DE2-66F9-4E94-A283-AF1BDFD6008A}" type="presParOf" srcId="{0BA10809-E072-4D94-9390-18579447B31C}" destId="{99F340ED-3598-45C6-84AA-1CE294426495}" srcOrd="3" destOrd="0" presId="urn:microsoft.com/office/officeart/2008/layout/RadialCluster"/>
    <dgm:cxn modelId="{06178176-8137-4B3E-B09F-6BECBEF08B35}" type="presParOf" srcId="{0BA10809-E072-4D94-9390-18579447B31C}" destId="{58C14864-8158-434C-86E6-D9D670D9459E}" srcOrd="4" destOrd="0" presId="urn:microsoft.com/office/officeart/2008/layout/RadialCluster"/>
    <dgm:cxn modelId="{3F3527A3-7550-47BC-A837-4E14B1E28A33}" type="presParOf" srcId="{0BA10809-E072-4D94-9390-18579447B31C}" destId="{03B7E082-2943-45CF-855F-460294759268}" srcOrd="5" destOrd="0" presId="urn:microsoft.com/office/officeart/2008/layout/RadialCluster"/>
    <dgm:cxn modelId="{8ADC90DE-38A6-4E75-8CC5-85DBF6B9BDF9}" type="presParOf" srcId="{0BA10809-E072-4D94-9390-18579447B31C}" destId="{5A91D3CA-7980-4A51-9844-291358034668}" srcOrd="6" destOrd="0" presId="urn:microsoft.com/office/officeart/2008/layout/RadialCluster"/>
    <dgm:cxn modelId="{4EB62C5E-2042-46E4-BFA1-883CE857AD5C}" type="presParOf" srcId="{0BA10809-E072-4D94-9390-18579447B31C}" destId="{CF54E068-CDA4-4B1F-86FA-3EEB6BE463E3}" srcOrd="7" destOrd="0" presId="urn:microsoft.com/office/officeart/2008/layout/RadialCluster"/>
    <dgm:cxn modelId="{0189DCDD-4DF6-4304-A636-516CB3EF5EB3}" type="presParOf" srcId="{0BA10809-E072-4D94-9390-18579447B31C}" destId="{5EDA406C-3701-4E8B-8554-3284F17B9418}" srcOrd="8" destOrd="0" presId="urn:microsoft.com/office/officeart/2008/layout/RadialCluster"/>
    <dgm:cxn modelId="{113A9EAA-70D2-4F6B-B052-3E6691EDAD50}" type="presParOf" srcId="{0BA10809-E072-4D94-9390-18579447B31C}" destId="{5221283E-7556-4637-B8C8-0E850B8636E7}" srcOrd="9" destOrd="0" presId="urn:microsoft.com/office/officeart/2008/layout/RadialCluster"/>
    <dgm:cxn modelId="{5F8C7381-AC94-411E-A813-B51D3BF95701}" type="presParOf" srcId="{0BA10809-E072-4D94-9390-18579447B31C}" destId="{023534C5-4272-40AF-8DE0-811F2243368A}" srcOrd="10" destOrd="0" presId="urn:microsoft.com/office/officeart/2008/layout/RadialCluster"/>
    <dgm:cxn modelId="{751D624C-BC38-4DA5-99D2-EC18F95E28B5}" type="presParOf" srcId="{0BA10809-E072-4D94-9390-18579447B31C}" destId="{F00144A7-9C55-40FB-9F0B-9C502FFB9F3B}" srcOrd="11" destOrd="0" presId="urn:microsoft.com/office/officeart/2008/layout/RadialCluster"/>
    <dgm:cxn modelId="{FBFF6E39-0426-4578-9ECB-082C97E0A3B5}" type="presParOf" srcId="{0BA10809-E072-4D94-9390-18579447B31C}" destId="{0BDD38B4-1B02-40C9-87B0-3CAE3023FB19}" srcOrd="12" destOrd="0" presId="urn:microsoft.com/office/officeart/2008/layout/RadialCluster"/>
    <dgm:cxn modelId="{8F28BAAE-23D9-4FE8-9F70-C1ED0438748E}" type="presParOf" srcId="{0BA10809-E072-4D94-9390-18579447B31C}" destId="{1A28821A-5856-44EE-9844-58083A81A2C9}" srcOrd="13" destOrd="0" presId="urn:microsoft.com/office/officeart/2008/layout/RadialCluster"/>
    <dgm:cxn modelId="{A35618E5-2C1D-4CB1-9216-3151338275B2}" type="presParOf" srcId="{0BA10809-E072-4D94-9390-18579447B31C}" destId="{D5FA5F01-CEEA-4CA1-BE08-A8DF9193FA9C}" srcOrd="14"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8D226-49D7-4C30-90DC-CA1755D98829}">
      <dsp:nvSpPr>
        <dsp:cNvPr id="0" name=""/>
        <dsp:cNvSpPr/>
      </dsp:nvSpPr>
      <dsp:spPr>
        <a:xfrm rot="16200000">
          <a:off x="1187291" y="1158160"/>
          <a:ext cx="397986" cy="1663541"/>
        </a:xfrm>
        <a:prstGeom prst="round2Same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1">
          <a:noAutofit/>
        </a:bodyPr>
        <a:lstStyle/>
        <a:p>
          <a:pPr marL="0" lvl="0" indent="0" algn="ctr" defTabSz="800100">
            <a:lnSpc>
              <a:spcPct val="90000"/>
            </a:lnSpc>
            <a:spcBef>
              <a:spcPct val="0"/>
            </a:spcBef>
            <a:spcAft>
              <a:spcPct val="35000"/>
            </a:spcAft>
            <a:buNone/>
          </a:pPr>
          <a:r>
            <a:rPr lang="en-US" sz="1800" kern="1200" dirty="0">
              <a:latin typeface="+mn-lt"/>
            </a:rPr>
            <a:t>Aug 2017</a:t>
          </a:r>
        </a:p>
      </dsp:txBody>
      <dsp:txXfrm rot="5400000">
        <a:off x="573942" y="1810365"/>
        <a:ext cx="1644113" cy="359130"/>
      </dsp:txXfrm>
    </dsp:sp>
    <dsp:sp modelId="{45A02F84-C6CB-43F5-AEE4-3EA66C2BD25F}">
      <dsp:nvSpPr>
        <dsp:cNvPr id="0" name=""/>
        <dsp:cNvSpPr/>
      </dsp:nvSpPr>
      <dsp:spPr>
        <a:xfrm>
          <a:off x="0" y="0"/>
          <a:ext cx="2772568"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anchor="b" anchorCtr="1">
          <a:noAutofit/>
        </a:bodyPr>
        <a:lstStyle/>
        <a:p>
          <a:pPr marL="0" lvl="0" indent="0" algn="ctr" defTabSz="800100">
            <a:lnSpc>
              <a:spcPct val="90000"/>
            </a:lnSpc>
            <a:spcBef>
              <a:spcPct val="0"/>
            </a:spcBef>
            <a:spcAft>
              <a:spcPct val="35000"/>
            </a:spcAft>
            <a:buFont typeface="Symbol" panose="05050102010706020507" pitchFamily="18" charset="2"/>
            <a:buNone/>
          </a:pPr>
          <a:r>
            <a:rPr lang="en-US" sz="1800" kern="1200" dirty="0">
              <a:latin typeface="+mn-lt"/>
            </a:rPr>
            <a:t>A non IPM Contract for Exploration Drilling in PT. SMGP, IIGCE Aug 2017</a:t>
          </a:r>
        </a:p>
      </dsp:txBody>
      <dsp:txXfrm>
        <a:off x="0" y="0"/>
        <a:ext cx="2772568" cy="1392951"/>
      </dsp:txXfrm>
    </dsp:sp>
    <dsp:sp modelId="{6BA46904-CB7C-4538-BD49-D3891EF19552}">
      <dsp:nvSpPr>
        <dsp:cNvPr id="0" name=""/>
        <dsp:cNvSpPr/>
      </dsp:nvSpPr>
      <dsp:spPr>
        <a:xfrm>
          <a:off x="1386284" y="1472548"/>
          <a:ext cx="0" cy="318388"/>
        </a:xfrm>
        <a:prstGeom prst="line">
          <a:avLst/>
        </a:prstGeom>
        <a:noFill/>
        <a:ln w="635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49FDBD0-77FE-49D1-A275-A272C8C5E426}">
      <dsp:nvSpPr>
        <dsp:cNvPr id="0" name=""/>
        <dsp:cNvSpPr/>
      </dsp:nvSpPr>
      <dsp:spPr>
        <a:xfrm>
          <a:off x="1346485" y="1392951"/>
          <a:ext cx="79597" cy="79597"/>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65F714-1083-4BD1-B33E-DC9BB7709CBF}">
      <dsp:nvSpPr>
        <dsp:cNvPr id="0" name=""/>
        <dsp:cNvSpPr/>
      </dsp:nvSpPr>
      <dsp:spPr>
        <a:xfrm>
          <a:off x="2218054" y="1790937"/>
          <a:ext cx="1663541" cy="397986"/>
        </a:xfrm>
        <a:prstGeom prst="rect">
          <a:avLst/>
        </a:prstGeom>
        <a:solidFill>
          <a:schemeClr val="accent5">
            <a:hueOff val="-1470669"/>
            <a:satOff val="-2046"/>
            <a:lumOff val="-784"/>
            <a:alphaOff val="0"/>
          </a:schemeClr>
        </a:solidFill>
        <a:ln w="12700" cap="flat" cmpd="sng" algn="ctr">
          <a:solidFill>
            <a:schemeClr val="accent5">
              <a:hueOff val="-1470669"/>
              <a:satOff val="-2046"/>
              <a:lumOff val="-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1">
          <a:noAutofit/>
        </a:bodyPr>
        <a:lstStyle/>
        <a:p>
          <a:pPr marL="0" lvl="0" indent="0" algn="ctr" defTabSz="800100">
            <a:lnSpc>
              <a:spcPct val="90000"/>
            </a:lnSpc>
            <a:spcBef>
              <a:spcPct val="0"/>
            </a:spcBef>
            <a:spcAft>
              <a:spcPct val="35000"/>
            </a:spcAft>
            <a:buNone/>
          </a:pPr>
          <a:r>
            <a:rPr lang="en-US" sz="1800" kern="1200" dirty="0">
              <a:latin typeface="+mn-lt"/>
            </a:rPr>
            <a:t>2018-2019</a:t>
          </a:r>
        </a:p>
      </dsp:txBody>
      <dsp:txXfrm>
        <a:off x="2218054" y="1790937"/>
        <a:ext cx="1663541" cy="397986"/>
      </dsp:txXfrm>
    </dsp:sp>
    <dsp:sp modelId="{51985C07-7287-4596-8CF3-F855F319F5A0}">
      <dsp:nvSpPr>
        <dsp:cNvPr id="0" name=""/>
        <dsp:cNvSpPr/>
      </dsp:nvSpPr>
      <dsp:spPr>
        <a:xfrm>
          <a:off x="1663541" y="2586910"/>
          <a:ext cx="2772568"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7160" rIns="0" bIns="0" numCol="1" spcCol="1270" anchor="t" anchorCtr="1">
          <a:noAutofit/>
        </a:bodyPr>
        <a:lstStyle/>
        <a:p>
          <a:pPr marL="0" lvl="0" indent="0" algn="ctr" defTabSz="800100">
            <a:lnSpc>
              <a:spcPct val="90000"/>
            </a:lnSpc>
            <a:spcBef>
              <a:spcPct val="0"/>
            </a:spcBef>
            <a:spcAft>
              <a:spcPct val="35000"/>
            </a:spcAft>
            <a:buNone/>
          </a:pPr>
          <a:r>
            <a:rPr lang="en-US" sz="1800" kern="1200" dirty="0">
              <a:latin typeface="+mn-lt"/>
            </a:rPr>
            <a:t>ITB International Geothermal Workshop (IIGW), presented in pre-workshop session, topic: Drilling Procurement Strategy </a:t>
          </a:r>
        </a:p>
      </dsp:txBody>
      <dsp:txXfrm>
        <a:off x="1663541" y="2586910"/>
        <a:ext cx="2772568" cy="1392951"/>
      </dsp:txXfrm>
    </dsp:sp>
    <dsp:sp modelId="{58840F26-0DC6-4BB6-A361-507CD0422F49}">
      <dsp:nvSpPr>
        <dsp:cNvPr id="0" name=""/>
        <dsp:cNvSpPr/>
      </dsp:nvSpPr>
      <dsp:spPr>
        <a:xfrm>
          <a:off x="3049825" y="2188924"/>
          <a:ext cx="0" cy="318388"/>
        </a:xfrm>
        <a:prstGeom prst="line">
          <a:avLst/>
        </a:prstGeom>
        <a:noFill/>
        <a:ln w="6350" cap="flat" cmpd="sng" algn="ctr">
          <a:solidFill>
            <a:schemeClr val="accent5">
              <a:hueOff val="-1470669"/>
              <a:satOff val="-2046"/>
              <a:lumOff val="-784"/>
              <a:alphaOff val="0"/>
            </a:schemeClr>
          </a:solidFill>
          <a:prstDash val="dash"/>
          <a:miter lim="800000"/>
        </a:ln>
        <a:effectLst/>
      </dsp:spPr>
      <dsp:style>
        <a:lnRef idx="1">
          <a:scrgbClr r="0" g="0" b="0"/>
        </a:lnRef>
        <a:fillRef idx="0">
          <a:scrgbClr r="0" g="0" b="0"/>
        </a:fillRef>
        <a:effectRef idx="0">
          <a:scrgbClr r="0" g="0" b="0"/>
        </a:effectRef>
        <a:fontRef idx="minor"/>
      </dsp:style>
    </dsp:sp>
    <dsp:sp modelId="{3BBBA9E1-5588-4526-8C06-EF2D8917D171}">
      <dsp:nvSpPr>
        <dsp:cNvPr id="0" name=""/>
        <dsp:cNvSpPr/>
      </dsp:nvSpPr>
      <dsp:spPr>
        <a:xfrm>
          <a:off x="3010027" y="2507313"/>
          <a:ext cx="79597" cy="79597"/>
        </a:xfrm>
        <a:prstGeom prst="ellipse">
          <a:avLst/>
        </a:prstGeom>
        <a:solidFill>
          <a:schemeClr val="accent5">
            <a:hueOff val="-1470669"/>
            <a:satOff val="-2046"/>
            <a:lumOff val="-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9615E2-3277-4D8E-8484-FF5088C8BF01}">
      <dsp:nvSpPr>
        <dsp:cNvPr id="0" name=""/>
        <dsp:cNvSpPr/>
      </dsp:nvSpPr>
      <dsp:spPr>
        <a:xfrm>
          <a:off x="3881596" y="1790937"/>
          <a:ext cx="1663541" cy="397986"/>
        </a:xfrm>
        <a:prstGeom prst="rect">
          <a:avLst/>
        </a:prstGeom>
        <a:solidFill>
          <a:schemeClr val="accent5">
            <a:hueOff val="-2941338"/>
            <a:satOff val="-4091"/>
            <a:lumOff val="-1569"/>
            <a:alphaOff val="0"/>
          </a:schemeClr>
        </a:solidFill>
        <a:ln w="12700" cap="flat" cmpd="sng" algn="ctr">
          <a:solidFill>
            <a:schemeClr val="accent5">
              <a:hueOff val="-2941338"/>
              <a:satOff val="-4091"/>
              <a:lumOff val="-15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1">
          <a:noAutofit/>
        </a:bodyPr>
        <a:lstStyle/>
        <a:p>
          <a:pPr marL="0" lvl="0" indent="0" algn="ctr" defTabSz="800100">
            <a:lnSpc>
              <a:spcPct val="90000"/>
            </a:lnSpc>
            <a:spcBef>
              <a:spcPct val="0"/>
            </a:spcBef>
            <a:spcAft>
              <a:spcPct val="35000"/>
            </a:spcAft>
            <a:buNone/>
          </a:pPr>
          <a:r>
            <a:rPr lang="en-US" sz="1800" kern="1200" dirty="0">
              <a:latin typeface="+mn-lt"/>
            </a:rPr>
            <a:t>23 Dec 2020</a:t>
          </a:r>
        </a:p>
      </dsp:txBody>
      <dsp:txXfrm>
        <a:off x="3881596" y="1790937"/>
        <a:ext cx="1663541" cy="397986"/>
      </dsp:txXfrm>
    </dsp:sp>
    <dsp:sp modelId="{FEBD3C2A-A340-470A-A475-AE614EA07678}">
      <dsp:nvSpPr>
        <dsp:cNvPr id="0" name=""/>
        <dsp:cNvSpPr/>
      </dsp:nvSpPr>
      <dsp:spPr>
        <a:xfrm>
          <a:off x="3327082" y="0"/>
          <a:ext cx="2772568"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anchor="b" anchorCtr="1">
          <a:noAutofit/>
        </a:bodyPr>
        <a:lstStyle/>
        <a:p>
          <a:pPr marL="0" lvl="0" indent="0" algn="ctr" defTabSz="800100">
            <a:lnSpc>
              <a:spcPct val="90000"/>
            </a:lnSpc>
            <a:spcBef>
              <a:spcPct val="0"/>
            </a:spcBef>
            <a:spcAft>
              <a:spcPct val="35000"/>
            </a:spcAft>
            <a:buFont typeface="Symbol" panose="05050102010706020507" pitchFamily="18" charset="2"/>
            <a:buNone/>
          </a:pPr>
          <a:r>
            <a:rPr lang="en-US" sz="1800" kern="1200" dirty="0">
              <a:latin typeface="+mn-lt"/>
            </a:rPr>
            <a:t>Collaboration between JDS and </a:t>
          </a:r>
          <a:r>
            <a:rPr lang="en-US" sz="1800" kern="1200" dirty="0" err="1">
              <a:latin typeface="+mn-lt"/>
            </a:rPr>
            <a:t>Enerka</a:t>
          </a:r>
          <a:r>
            <a:rPr lang="en-US" sz="1800" kern="1200" dirty="0">
              <a:latin typeface="+mn-lt"/>
            </a:rPr>
            <a:t> to conduct online seminar with the title “The Economic Way To Drill Geothermal Well”.</a:t>
          </a:r>
        </a:p>
      </dsp:txBody>
      <dsp:txXfrm>
        <a:off x="3327082" y="0"/>
        <a:ext cx="2772568" cy="1392951"/>
      </dsp:txXfrm>
    </dsp:sp>
    <dsp:sp modelId="{080474C8-0FEA-4FD1-97F1-0978CFB4A37F}">
      <dsp:nvSpPr>
        <dsp:cNvPr id="0" name=""/>
        <dsp:cNvSpPr/>
      </dsp:nvSpPr>
      <dsp:spPr>
        <a:xfrm>
          <a:off x="4713366" y="1472548"/>
          <a:ext cx="0" cy="318388"/>
        </a:xfrm>
        <a:prstGeom prst="line">
          <a:avLst/>
        </a:prstGeom>
        <a:noFill/>
        <a:ln w="6350" cap="flat" cmpd="sng" algn="ctr">
          <a:solidFill>
            <a:schemeClr val="accent5">
              <a:hueOff val="90002"/>
              <a:satOff val="2173"/>
              <a:lumOff val="-10490"/>
              <a:alphaOff val="0"/>
            </a:schemeClr>
          </a:solidFill>
          <a:prstDash val="dash"/>
          <a:miter lim="800000"/>
        </a:ln>
        <a:effectLst/>
      </dsp:spPr>
      <dsp:style>
        <a:lnRef idx="1">
          <a:scrgbClr r="0" g="0" b="0"/>
        </a:lnRef>
        <a:fillRef idx="0">
          <a:scrgbClr r="0" g="0" b="0"/>
        </a:fillRef>
        <a:effectRef idx="0">
          <a:scrgbClr r="0" g="0" b="0"/>
        </a:effectRef>
        <a:fontRef idx="minor"/>
      </dsp:style>
    </dsp:sp>
    <dsp:sp modelId="{4797FB61-2602-4A58-81E6-6F133DB1E419}">
      <dsp:nvSpPr>
        <dsp:cNvPr id="0" name=""/>
        <dsp:cNvSpPr/>
      </dsp:nvSpPr>
      <dsp:spPr>
        <a:xfrm>
          <a:off x="4673568" y="1392951"/>
          <a:ext cx="79597" cy="79597"/>
        </a:xfrm>
        <a:prstGeom prst="ellipse">
          <a:avLst/>
        </a:prstGeom>
        <a:solidFill>
          <a:schemeClr val="accent5">
            <a:hueOff val="-2941338"/>
            <a:satOff val="-4091"/>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2041D-873A-4600-A9C7-C0A0ADFB138B}">
      <dsp:nvSpPr>
        <dsp:cNvPr id="0" name=""/>
        <dsp:cNvSpPr/>
      </dsp:nvSpPr>
      <dsp:spPr>
        <a:xfrm>
          <a:off x="5545137" y="1790937"/>
          <a:ext cx="1663541" cy="397986"/>
        </a:xfrm>
        <a:prstGeom prst="rect">
          <a:avLst/>
        </a:prstGeom>
        <a:solidFill>
          <a:schemeClr val="accent5">
            <a:hueOff val="-4412007"/>
            <a:satOff val="-6137"/>
            <a:lumOff val="-2353"/>
            <a:alphaOff val="0"/>
          </a:schemeClr>
        </a:solidFill>
        <a:ln w="12700" cap="flat" cmpd="sng" algn="ctr">
          <a:solidFill>
            <a:schemeClr val="accent5">
              <a:hueOff val="-4412007"/>
              <a:satOff val="-6137"/>
              <a:lumOff val="-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1">
          <a:noAutofit/>
        </a:bodyPr>
        <a:lstStyle/>
        <a:p>
          <a:pPr marL="0" lvl="0" indent="0" algn="ctr" defTabSz="800100">
            <a:lnSpc>
              <a:spcPct val="90000"/>
            </a:lnSpc>
            <a:spcBef>
              <a:spcPct val="0"/>
            </a:spcBef>
            <a:spcAft>
              <a:spcPct val="35000"/>
            </a:spcAft>
            <a:buNone/>
          </a:pPr>
          <a:r>
            <a:rPr lang="en-US" sz="1800" kern="1200" dirty="0">
              <a:latin typeface="+mn-lt"/>
            </a:rPr>
            <a:t>July 2021</a:t>
          </a:r>
        </a:p>
      </dsp:txBody>
      <dsp:txXfrm>
        <a:off x="5545137" y="1790937"/>
        <a:ext cx="1663541" cy="397986"/>
      </dsp:txXfrm>
    </dsp:sp>
    <dsp:sp modelId="{80CDBBF8-C6B4-4166-87C1-DC9120CC7586}">
      <dsp:nvSpPr>
        <dsp:cNvPr id="0" name=""/>
        <dsp:cNvSpPr/>
      </dsp:nvSpPr>
      <dsp:spPr>
        <a:xfrm>
          <a:off x="4990623" y="2586910"/>
          <a:ext cx="2772568"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7160" rIns="0" bIns="0" numCol="1" spcCol="1270" anchor="t" anchorCtr="1">
          <a:noAutofit/>
        </a:bodyPr>
        <a:lstStyle/>
        <a:p>
          <a:pPr marL="0" lvl="0" indent="0" algn="ctr" defTabSz="800100">
            <a:lnSpc>
              <a:spcPct val="90000"/>
            </a:lnSpc>
            <a:spcBef>
              <a:spcPct val="0"/>
            </a:spcBef>
            <a:spcAft>
              <a:spcPct val="35000"/>
            </a:spcAft>
            <a:buFont typeface="Symbol" panose="05050102010706020507" pitchFamily="18" charset="2"/>
            <a:buNone/>
          </a:pPr>
          <a:r>
            <a:rPr lang="en-US" sz="1800" kern="1200" dirty="0"/>
            <a:t>JDS and EBTKE agreement to translate this seminar to become a book.</a:t>
          </a:r>
          <a:endParaRPr lang="en-US" sz="1800" kern="1200" dirty="0">
            <a:latin typeface="+mn-lt"/>
          </a:endParaRPr>
        </a:p>
      </dsp:txBody>
      <dsp:txXfrm>
        <a:off x="4990623" y="2586910"/>
        <a:ext cx="2772568" cy="1392951"/>
      </dsp:txXfrm>
    </dsp:sp>
    <dsp:sp modelId="{89759DE5-9F8A-470E-A6D8-F13BB4DEE93D}">
      <dsp:nvSpPr>
        <dsp:cNvPr id="0" name=""/>
        <dsp:cNvSpPr/>
      </dsp:nvSpPr>
      <dsp:spPr>
        <a:xfrm>
          <a:off x="6376908" y="2188924"/>
          <a:ext cx="0" cy="318388"/>
        </a:xfrm>
        <a:prstGeom prst="line">
          <a:avLst/>
        </a:prstGeom>
        <a:noFill/>
        <a:ln w="6350" cap="flat" cmpd="sng" algn="ctr">
          <a:solidFill>
            <a:schemeClr val="accent5">
              <a:hueOff val="180003"/>
              <a:satOff val="4346"/>
              <a:lumOff val="-20980"/>
              <a:alphaOff val="0"/>
            </a:schemeClr>
          </a:solidFill>
          <a:prstDash val="dash"/>
          <a:miter lim="800000"/>
        </a:ln>
        <a:effectLst/>
      </dsp:spPr>
      <dsp:style>
        <a:lnRef idx="1">
          <a:scrgbClr r="0" g="0" b="0"/>
        </a:lnRef>
        <a:fillRef idx="0">
          <a:scrgbClr r="0" g="0" b="0"/>
        </a:fillRef>
        <a:effectRef idx="0">
          <a:scrgbClr r="0" g="0" b="0"/>
        </a:effectRef>
        <a:fontRef idx="minor"/>
      </dsp:style>
    </dsp:sp>
    <dsp:sp modelId="{07CCF286-8B46-4A20-ACAC-84BA2D6EFBBC}">
      <dsp:nvSpPr>
        <dsp:cNvPr id="0" name=""/>
        <dsp:cNvSpPr/>
      </dsp:nvSpPr>
      <dsp:spPr>
        <a:xfrm>
          <a:off x="6337109" y="2507313"/>
          <a:ext cx="79597" cy="79597"/>
        </a:xfrm>
        <a:prstGeom prst="ellipse">
          <a:avLst/>
        </a:prstGeom>
        <a:solidFill>
          <a:schemeClr val="accent5">
            <a:hueOff val="-4412007"/>
            <a:satOff val="-6137"/>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CD3FF2-195B-429B-BC6F-5B5A7FED2BE2}">
      <dsp:nvSpPr>
        <dsp:cNvPr id="0" name=""/>
        <dsp:cNvSpPr/>
      </dsp:nvSpPr>
      <dsp:spPr>
        <a:xfrm>
          <a:off x="7208678" y="1790937"/>
          <a:ext cx="1663541" cy="397986"/>
        </a:xfrm>
        <a:prstGeom prst="rect">
          <a:avLst/>
        </a:prstGeom>
        <a:solidFill>
          <a:schemeClr val="accent5">
            <a:hueOff val="-5882676"/>
            <a:satOff val="-8182"/>
            <a:lumOff val="-3138"/>
            <a:alphaOff val="0"/>
          </a:schemeClr>
        </a:solidFill>
        <a:ln w="12700" cap="flat" cmpd="sng" algn="ctr">
          <a:solidFill>
            <a:schemeClr val="accent5">
              <a:hueOff val="-5882676"/>
              <a:satOff val="-8182"/>
              <a:lumOff val="-313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1">
          <a:noAutofit/>
        </a:bodyPr>
        <a:lstStyle/>
        <a:p>
          <a:pPr marL="0" lvl="0" indent="0" algn="ctr" defTabSz="800100">
            <a:lnSpc>
              <a:spcPct val="90000"/>
            </a:lnSpc>
            <a:spcBef>
              <a:spcPct val="0"/>
            </a:spcBef>
            <a:spcAft>
              <a:spcPct val="35000"/>
            </a:spcAft>
            <a:buFont typeface="Symbol" panose="05050102010706020507" pitchFamily="18" charset="2"/>
            <a:buNone/>
          </a:pPr>
          <a:r>
            <a:rPr lang="en-US" sz="1800" kern="1200" dirty="0">
              <a:latin typeface="+mn-lt"/>
            </a:rPr>
            <a:t>9 Dec 2022</a:t>
          </a:r>
        </a:p>
      </dsp:txBody>
      <dsp:txXfrm>
        <a:off x="7208678" y="1790937"/>
        <a:ext cx="1663541" cy="397986"/>
      </dsp:txXfrm>
    </dsp:sp>
    <dsp:sp modelId="{1BB5FD64-47F9-47A3-911F-535BFE17A3B9}">
      <dsp:nvSpPr>
        <dsp:cNvPr id="0" name=""/>
        <dsp:cNvSpPr/>
      </dsp:nvSpPr>
      <dsp:spPr>
        <a:xfrm>
          <a:off x="6654165" y="0"/>
          <a:ext cx="2772568"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anchor="b" anchorCtr="1">
          <a:noAutofit/>
        </a:bodyPr>
        <a:lstStyle/>
        <a:p>
          <a:pPr marL="0" lvl="0" indent="0" algn="ctr" defTabSz="800100">
            <a:lnSpc>
              <a:spcPct val="90000"/>
            </a:lnSpc>
            <a:spcBef>
              <a:spcPct val="0"/>
            </a:spcBef>
            <a:spcAft>
              <a:spcPct val="35000"/>
            </a:spcAft>
            <a:buFont typeface="Symbol" panose="05050102010706020507" pitchFamily="18" charset="2"/>
            <a:buNone/>
          </a:pPr>
          <a:r>
            <a:rPr lang="en-US" sz="1800" kern="1200" dirty="0"/>
            <a:t>The book of “</a:t>
          </a:r>
          <a:r>
            <a:rPr lang="en-US" sz="1800" kern="1200" dirty="0" err="1"/>
            <a:t>Pedoman</a:t>
          </a:r>
          <a:r>
            <a:rPr lang="en-US" sz="1800" kern="1200" dirty="0"/>
            <a:t> </a:t>
          </a:r>
          <a:r>
            <a:rPr lang="en-US" sz="1800" kern="1200" dirty="0" err="1"/>
            <a:t>Efisiensi</a:t>
          </a:r>
          <a:r>
            <a:rPr lang="en-US" sz="1800" kern="1200" dirty="0"/>
            <a:t> </a:t>
          </a:r>
          <a:r>
            <a:rPr lang="en-US" sz="1800" kern="1200" dirty="0" err="1"/>
            <a:t>Biaya</a:t>
          </a:r>
          <a:r>
            <a:rPr lang="en-US" sz="1800" kern="1200" dirty="0"/>
            <a:t> </a:t>
          </a:r>
          <a:r>
            <a:rPr lang="en-US" sz="1800" kern="1200" dirty="0" err="1"/>
            <a:t>Pemboran</a:t>
          </a:r>
          <a:r>
            <a:rPr lang="en-US" sz="1800" kern="1200" dirty="0"/>
            <a:t> </a:t>
          </a:r>
          <a:r>
            <a:rPr lang="en-US" sz="1800" kern="1200" dirty="0" err="1"/>
            <a:t>sumur</a:t>
          </a:r>
          <a:r>
            <a:rPr lang="en-US" sz="1800" kern="1200" dirty="0"/>
            <a:t> </a:t>
          </a:r>
          <a:r>
            <a:rPr lang="en-US" sz="1800" kern="1200" dirty="0" err="1"/>
            <a:t>panas</a:t>
          </a:r>
          <a:r>
            <a:rPr lang="en-US" sz="1800" kern="1200" dirty="0"/>
            <a:t> </a:t>
          </a:r>
          <a:r>
            <a:rPr lang="en-US" sz="1800" kern="1200" dirty="0" err="1"/>
            <a:t>bumi</a:t>
          </a:r>
          <a:r>
            <a:rPr lang="en-US" sz="1800" kern="1200" dirty="0"/>
            <a:t>” was launched by EBTKE and ESDM.</a:t>
          </a:r>
          <a:endParaRPr lang="en-US" sz="1800" kern="1200" dirty="0">
            <a:latin typeface="+mn-lt"/>
          </a:endParaRPr>
        </a:p>
      </dsp:txBody>
      <dsp:txXfrm>
        <a:off x="6654165" y="0"/>
        <a:ext cx="2772568" cy="1392951"/>
      </dsp:txXfrm>
    </dsp:sp>
    <dsp:sp modelId="{FE9B27EB-7AC7-485A-9A55-41E8118F9EAF}">
      <dsp:nvSpPr>
        <dsp:cNvPr id="0" name=""/>
        <dsp:cNvSpPr/>
      </dsp:nvSpPr>
      <dsp:spPr>
        <a:xfrm>
          <a:off x="8040449" y="1472548"/>
          <a:ext cx="0" cy="318388"/>
        </a:xfrm>
        <a:prstGeom prst="line">
          <a:avLst/>
        </a:prstGeom>
        <a:noFill/>
        <a:ln w="6350" cap="flat" cmpd="sng" algn="ctr">
          <a:solidFill>
            <a:schemeClr val="accent5">
              <a:hueOff val="270005"/>
              <a:satOff val="6519"/>
              <a:lumOff val="-31471"/>
              <a:alphaOff val="0"/>
            </a:schemeClr>
          </a:solidFill>
          <a:prstDash val="dash"/>
          <a:miter lim="800000"/>
        </a:ln>
        <a:effectLst/>
      </dsp:spPr>
      <dsp:style>
        <a:lnRef idx="1">
          <a:scrgbClr r="0" g="0" b="0"/>
        </a:lnRef>
        <a:fillRef idx="0">
          <a:scrgbClr r="0" g="0" b="0"/>
        </a:fillRef>
        <a:effectRef idx="0">
          <a:scrgbClr r="0" g="0" b="0"/>
        </a:effectRef>
        <a:fontRef idx="minor"/>
      </dsp:style>
    </dsp:sp>
    <dsp:sp modelId="{46BD4721-4664-4AD0-9F11-DBE7E0B207D5}">
      <dsp:nvSpPr>
        <dsp:cNvPr id="0" name=""/>
        <dsp:cNvSpPr/>
      </dsp:nvSpPr>
      <dsp:spPr>
        <a:xfrm>
          <a:off x="8000650" y="1392951"/>
          <a:ext cx="79597" cy="79597"/>
        </a:xfrm>
        <a:prstGeom prst="ellipse">
          <a:avLst/>
        </a:prstGeom>
        <a:solidFill>
          <a:schemeClr val="accent5">
            <a:hueOff val="-5882676"/>
            <a:satOff val="-8182"/>
            <a:lumOff val="-31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3E7832-9872-48C4-8E65-DCB39D4CDBDF}">
      <dsp:nvSpPr>
        <dsp:cNvPr id="0" name=""/>
        <dsp:cNvSpPr/>
      </dsp:nvSpPr>
      <dsp:spPr>
        <a:xfrm rot="5400000">
          <a:off x="9504997" y="1158160"/>
          <a:ext cx="397986" cy="1663541"/>
        </a:xfrm>
        <a:prstGeom prst="round2SameRect">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1">
          <a:noAutofit/>
        </a:bodyPr>
        <a:lstStyle/>
        <a:p>
          <a:pPr marL="0" lvl="0" indent="0" algn="ctr" defTabSz="800100">
            <a:lnSpc>
              <a:spcPct val="90000"/>
            </a:lnSpc>
            <a:spcBef>
              <a:spcPct val="0"/>
            </a:spcBef>
            <a:spcAft>
              <a:spcPct val="35000"/>
            </a:spcAft>
            <a:buFont typeface="Symbol" panose="05050102010706020507" pitchFamily="18" charset="2"/>
            <a:buNone/>
          </a:pPr>
          <a:r>
            <a:rPr lang="en-US" sz="1800" kern="1200" dirty="0">
              <a:latin typeface="+mn-lt"/>
            </a:rPr>
            <a:t>May 2023</a:t>
          </a:r>
        </a:p>
      </dsp:txBody>
      <dsp:txXfrm rot="-5400000">
        <a:off x="8872220" y="1810365"/>
        <a:ext cx="1644113" cy="359130"/>
      </dsp:txXfrm>
    </dsp:sp>
    <dsp:sp modelId="{1FA3C236-5719-4A33-A6BB-80FA85F940E3}">
      <dsp:nvSpPr>
        <dsp:cNvPr id="0" name=""/>
        <dsp:cNvSpPr/>
      </dsp:nvSpPr>
      <dsp:spPr>
        <a:xfrm>
          <a:off x="8317706" y="2586910"/>
          <a:ext cx="2772568" cy="1392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7160" rIns="0" bIns="0" numCol="1" spcCol="1270" anchor="t" anchorCtr="1">
          <a:noAutofit/>
        </a:bodyPr>
        <a:lstStyle/>
        <a:p>
          <a:pPr marL="0" lvl="0" indent="0" algn="ctr" defTabSz="800100">
            <a:lnSpc>
              <a:spcPct val="90000"/>
            </a:lnSpc>
            <a:spcBef>
              <a:spcPct val="0"/>
            </a:spcBef>
            <a:spcAft>
              <a:spcPct val="35000"/>
            </a:spcAft>
            <a:buFont typeface="Symbol" panose="05050102010706020507" pitchFamily="18" charset="2"/>
            <a:buNone/>
          </a:pPr>
          <a:r>
            <a:rPr lang="en-US" sz="1800" kern="1200" dirty="0"/>
            <a:t>Book Revision: Re-structure the book content refer to the drilling campaign flow process.</a:t>
          </a:r>
          <a:endParaRPr lang="en-US" sz="1800" kern="1200" dirty="0">
            <a:latin typeface="+mn-lt"/>
          </a:endParaRPr>
        </a:p>
      </dsp:txBody>
      <dsp:txXfrm>
        <a:off x="8317706" y="2586910"/>
        <a:ext cx="2772568" cy="1392951"/>
      </dsp:txXfrm>
    </dsp:sp>
    <dsp:sp modelId="{18F1C823-9ACD-4FCD-8102-F468DCE57A45}">
      <dsp:nvSpPr>
        <dsp:cNvPr id="0" name=""/>
        <dsp:cNvSpPr/>
      </dsp:nvSpPr>
      <dsp:spPr>
        <a:xfrm>
          <a:off x="9703990" y="2188924"/>
          <a:ext cx="0" cy="318388"/>
        </a:xfrm>
        <a:prstGeom prst="line">
          <a:avLst/>
        </a:prstGeom>
        <a:noFill/>
        <a:ln w="6350" cap="flat" cmpd="sng" algn="ctr">
          <a:solidFill>
            <a:schemeClr val="accent5">
              <a:hueOff val="360006"/>
              <a:satOff val="8692"/>
              <a:lumOff val="-41961"/>
              <a:alphaOff val="0"/>
            </a:schemeClr>
          </a:solidFill>
          <a:prstDash val="dash"/>
          <a:miter lim="800000"/>
        </a:ln>
        <a:effectLst/>
      </dsp:spPr>
      <dsp:style>
        <a:lnRef idx="1">
          <a:scrgbClr r="0" g="0" b="0"/>
        </a:lnRef>
        <a:fillRef idx="0">
          <a:scrgbClr r="0" g="0" b="0"/>
        </a:fillRef>
        <a:effectRef idx="0">
          <a:scrgbClr r="0" g="0" b="0"/>
        </a:effectRef>
        <a:fontRef idx="minor"/>
      </dsp:style>
    </dsp:sp>
    <dsp:sp modelId="{F8AD0AB8-BBDF-4F0A-A6A0-850E289DD521}">
      <dsp:nvSpPr>
        <dsp:cNvPr id="0" name=""/>
        <dsp:cNvSpPr/>
      </dsp:nvSpPr>
      <dsp:spPr>
        <a:xfrm>
          <a:off x="9664192" y="2507313"/>
          <a:ext cx="79597" cy="79597"/>
        </a:xfrm>
        <a:prstGeom prst="ellipse">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23E68A-7B4F-49AE-85A1-4BE494C10151}">
      <dsp:nvSpPr>
        <dsp:cNvPr id="0" name=""/>
        <dsp:cNvSpPr/>
      </dsp:nvSpPr>
      <dsp:spPr>
        <a:xfrm rot="10800000">
          <a:off x="1612871" y="1001"/>
          <a:ext cx="5791780" cy="616157"/>
        </a:xfrm>
        <a:prstGeom prst="homePlate">
          <a:avLst/>
        </a:prstGeom>
        <a:gradFill rotWithShape="0">
          <a:gsLst>
            <a:gs pos="0">
              <a:schemeClr val="accent4">
                <a:shade val="80000"/>
                <a:hueOff val="0"/>
                <a:satOff val="0"/>
                <a:lumOff val="0"/>
                <a:alphaOff val="0"/>
                <a:satMod val="103000"/>
                <a:lumMod val="102000"/>
                <a:tint val="94000"/>
              </a:schemeClr>
            </a:gs>
            <a:gs pos="50000">
              <a:schemeClr val="accent4">
                <a:shade val="80000"/>
                <a:hueOff val="0"/>
                <a:satOff val="0"/>
                <a:lumOff val="0"/>
                <a:alphaOff val="0"/>
                <a:satMod val="110000"/>
                <a:lumMod val="100000"/>
                <a:shade val="100000"/>
              </a:schemeClr>
            </a:gs>
            <a:gs pos="100000">
              <a:schemeClr val="accent4">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1708" tIns="64770" rIns="120904" bIns="64770" numCol="1" spcCol="1270" anchor="ctr" anchorCtr="0">
          <a:noAutofit/>
        </a:bodyPr>
        <a:lstStyle/>
        <a:p>
          <a:pPr marL="0" lvl="0" indent="0" algn="l" defTabSz="755650">
            <a:lnSpc>
              <a:spcPct val="90000"/>
            </a:lnSpc>
            <a:spcBef>
              <a:spcPct val="0"/>
            </a:spcBef>
            <a:spcAft>
              <a:spcPct val="35000"/>
            </a:spcAft>
            <a:buNone/>
          </a:pPr>
          <a:r>
            <a:rPr lang="en-ID" sz="1700" b="1" kern="1200" dirty="0" err="1">
              <a:solidFill>
                <a:schemeClr val="accent6">
                  <a:lumMod val="50000"/>
                </a:schemeClr>
              </a:solidFill>
            </a:rPr>
            <a:t>Pendahuluan</a:t>
          </a:r>
          <a:endParaRPr lang="en-ID" sz="1700" b="1" kern="1200" dirty="0">
            <a:solidFill>
              <a:schemeClr val="accent6">
                <a:lumMod val="50000"/>
              </a:schemeClr>
            </a:solidFill>
          </a:endParaRPr>
        </a:p>
      </dsp:txBody>
      <dsp:txXfrm rot="10800000">
        <a:off x="1766910" y="1001"/>
        <a:ext cx="5637741" cy="616157"/>
      </dsp:txXfrm>
    </dsp:sp>
    <dsp:sp modelId="{13289350-2592-4329-A9F3-5D471ED095DF}">
      <dsp:nvSpPr>
        <dsp:cNvPr id="0" name=""/>
        <dsp:cNvSpPr/>
      </dsp:nvSpPr>
      <dsp:spPr>
        <a:xfrm>
          <a:off x="1304792" y="1001"/>
          <a:ext cx="616157" cy="616157"/>
        </a:xfrm>
        <a:prstGeom prst="ellipse">
          <a:avLst/>
        </a:prstGeom>
        <a:blipFill rotWithShape="1">
          <a:blip xmlns:r="http://schemas.openxmlformats.org/officeDocument/2006/relationships" r:embed="rId1"/>
          <a:srcRect/>
          <a:stretch>
            <a:fillRect l="-27000" r="-27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A6514698-6CD4-4506-AE12-1CA1A6A95C86}">
      <dsp:nvSpPr>
        <dsp:cNvPr id="0" name=""/>
        <dsp:cNvSpPr/>
      </dsp:nvSpPr>
      <dsp:spPr>
        <a:xfrm rot="10800000">
          <a:off x="1612871" y="801085"/>
          <a:ext cx="5791780" cy="616157"/>
        </a:xfrm>
        <a:prstGeom prst="homePlate">
          <a:avLst/>
        </a:prstGeom>
        <a:gradFill rotWithShape="0">
          <a:gsLst>
            <a:gs pos="0">
              <a:schemeClr val="accent4">
                <a:shade val="80000"/>
                <a:hueOff val="-85547"/>
                <a:satOff val="0"/>
                <a:lumOff val="5646"/>
                <a:alphaOff val="0"/>
                <a:satMod val="103000"/>
                <a:lumMod val="102000"/>
                <a:tint val="94000"/>
              </a:schemeClr>
            </a:gs>
            <a:gs pos="50000">
              <a:schemeClr val="accent4">
                <a:shade val="80000"/>
                <a:hueOff val="-85547"/>
                <a:satOff val="0"/>
                <a:lumOff val="5646"/>
                <a:alphaOff val="0"/>
                <a:satMod val="110000"/>
                <a:lumMod val="100000"/>
                <a:shade val="100000"/>
              </a:schemeClr>
            </a:gs>
            <a:gs pos="100000">
              <a:schemeClr val="accent4">
                <a:shade val="80000"/>
                <a:hueOff val="-85547"/>
                <a:satOff val="0"/>
                <a:lumOff val="564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1708" tIns="64770" rIns="120904" bIns="64770" numCol="1" spcCol="1270" anchor="ctr" anchorCtr="0">
          <a:noAutofit/>
        </a:bodyPr>
        <a:lstStyle/>
        <a:p>
          <a:pPr marL="0" lvl="0" indent="0" algn="l" defTabSz="755650">
            <a:lnSpc>
              <a:spcPct val="90000"/>
            </a:lnSpc>
            <a:spcBef>
              <a:spcPct val="0"/>
            </a:spcBef>
            <a:spcAft>
              <a:spcPct val="35000"/>
            </a:spcAft>
            <a:buNone/>
          </a:pPr>
          <a:r>
            <a:rPr lang="en-ID" sz="1700" b="1" kern="1200" dirty="0" err="1">
              <a:solidFill>
                <a:schemeClr val="accent6">
                  <a:lumMod val="50000"/>
                </a:schemeClr>
              </a:solidFill>
            </a:rPr>
            <a:t>Efisiensi</a:t>
          </a:r>
          <a:r>
            <a:rPr lang="en-ID" sz="1700" b="1" kern="1200" dirty="0">
              <a:solidFill>
                <a:schemeClr val="accent6">
                  <a:lumMod val="50000"/>
                </a:schemeClr>
              </a:solidFill>
            </a:rPr>
            <a:t> </a:t>
          </a:r>
          <a:r>
            <a:rPr lang="en-ID" sz="1700" b="1" kern="1200" dirty="0" err="1">
              <a:solidFill>
                <a:schemeClr val="accent6">
                  <a:lumMod val="50000"/>
                </a:schemeClr>
              </a:solidFill>
            </a:rPr>
            <a:t>Biaya</a:t>
          </a:r>
          <a:r>
            <a:rPr lang="en-ID" sz="1700" b="1" kern="1200" dirty="0">
              <a:solidFill>
                <a:schemeClr val="accent6">
                  <a:lumMod val="50000"/>
                </a:schemeClr>
              </a:solidFill>
            </a:rPr>
            <a:t> </a:t>
          </a:r>
          <a:r>
            <a:rPr lang="en-ID" sz="1700" b="1" kern="1200" dirty="0" err="1">
              <a:solidFill>
                <a:schemeClr val="accent6">
                  <a:lumMod val="50000"/>
                </a:schemeClr>
              </a:solidFill>
            </a:rPr>
            <a:t>Pengeboran</a:t>
          </a:r>
          <a:r>
            <a:rPr lang="en-ID" sz="1700" b="1" kern="1200" dirty="0">
              <a:solidFill>
                <a:schemeClr val="accent6">
                  <a:lumMod val="50000"/>
                </a:schemeClr>
              </a:solidFill>
            </a:rPr>
            <a:t> </a:t>
          </a:r>
          <a:r>
            <a:rPr lang="en-ID" sz="1700" b="1" kern="1200" dirty="0" err="1">
              <a:solidFill>
                <a:schemeClr val="accent6">
                  <a:lumMod val="50000"/>
                </a:schemeClr>
              </a:solidFill>
            </a:rPr>
            <a:t>Sumur</a:t>
          </a:r>
          <a:r>
            <a:rPr lang="en-ID" sz="1700" b="1" kern="1200" dirty="0">
              <a:solidFill>
                <a:schemeClr val="accent6">
                  <a:lumMod val="50000"/>
                </a:schemeClr>
              </a:solidFill>
            </a:rPr>
            <a:t> </a:t>
          </a:r>
          <a:r>
            <a:rPr lang="en-ID" sz="1700" b="1" kern="1200" dirty="0" err="1">
              <a:solidFill>
                <a:schemeClr val="accent6">
                  <a:lumMod val="50000"/>
                </a:schemeClr>
              </a:solidFill>
            </a:rPr>
            <a:t>Panas</a:t>
          </a:r>
          <a:r>
            <a:rPr lang="en-ID" sz="1700" b="1" kern="1200" dirty="0">
              <a:solidFill>
                <a:schemeClr val="accent6">
                  <a:lumMod val="50000"/>
                </a:schemeClr>
              </a:solidFill>
            </a:rPr>
            <a:t> </a:t>
          </a:r>
          <a:r>
            <a:rPr lang="en-ID" sz="1700" b="1" kern="1200" dirty="0" err="1">
              <a:solidFill>
                <a:schemeClr val="accent6">
                  <a:lumMod val="50000"/>
                </a:schemeClr>
              </a:solidFill>
            </a:rPr>
            <a:t>Bumi</a:t>
          </a:r>
          <a:endParaRPr lang="en-ID" sz="1700" b="1" kern="1200" dirty="0">
            <a:solidFill>
              <a:schemeClr val="accent6">
                <a:lumMod val="50000"/>
              </a:schemeClr>
            </a:solidFill>
          </a:endParaRPr>
        </a:p>
      </dsp:txBody>
      <dsp:txXfrm rot="10800000">
        <a:off x="1766910" y="801085"/>
        <a:ext cx="5637741" cy="616157"/>
      </dsp:txXfrm>
    </dsp:sp>
    <dsp:sp modelId="{90318AE3-7E66-4CC2-B500-BFBF7AAEBB5D}">
      <dsp:nvSpPr>
        <dsp:cNvPr id="0" name=""/>
        <dsp:cNvSpPr/>
      </dsp:nvSpPr>
      <dsp:spPr>
        <a:xfrm>
          <a:off x="1304792" y="801085"/>
          <a:ext cx="616157" cy="616157"/>
        </a:xfrm>
        <a:prstGeom prst="ellipse">
          <a:avLst/>
        </a:prstGeom>
        <a:blipFill rotWithShape="1">
          <a:blip xmlns:r="http://schemas.openxmlformats.org/officeDocument/2006/relationships" r:embed="rId2"/>
          <a:srcRect/>
          <a:stretch>
            <a:fillRect l="-11000" r="-11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0566B5D7-98FC-4DB8-8B1B-7B6F815FBAD7}">
      <dsp:nvSpPr>
        <dsp:cNvPr id="0" name=""/>
        <dsp:cNvSpPr/>
      </dsp:nvSpPr>
      <dsp:spPr>
        <a:xfrm rot="10800000">
          <a:off x="1612871" y="1601170"/>
          <a:ext cx="5791780" cy="616157"/>
        </a:xfrm>
        <a:prstGeom prst="homePlate">
          <a:avLst/>
        </a:prstGeom>
        <a:gradFill rotWithShape="0">
          <a:gsLst>
            <a:gs pos="0">
              <a:schemeClr val="accent4">
                <a:shade val="80000"/>
                <a:hueOff val="-171094"/>
                <a:satOff val="0"/>
                <a:lumOff val="11292"/>
                <a:alphaOff val="0"/>
                <a:satMod val="103000"/>
                <a:lumMod val="102000"/>
                <a:tint val="94000"/>
              </a:schemeClr>
            </a:gs>
            <a:gs pos="50000">
              <a:schemeClr val="accent4">
                <a:shade val="80000"/>
                <a:hueOff val="-171094"/>
                <a:satOff val="0"/>
                <a:lumOff val="11292"/>
                <a:alphaOff val="0"/>
                <a:satMod val="110000"/>
                <a:lumMod val="100000"/>
                <a:shade val="100000"/>
              </a:schemeClr>
            </a:gs>
            <a:gs pos="100000">
              <a:schemeClr val="accent4">
                <a:shade val="80000"/>
                <a:hueOff val="-171094"/>
                <a:satOff val="0"/>
                <a:lumOff val="1129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1708" tIns="64770" rIns="120904" bIns="64770" numCol="1" spcCol="1270" anchor="ctr" anchorCtr="0">
          <a:noAutofit/>
        </a:bodyPr>
        <a:lstStyle/>
        <a:p>
          <a:pPr marL="0" lvl="0" indent="0" algn="l" defTabSz="755650">
            <a:lnSpc>
              <a:spcPct val="90000"/>
            </a:lnSpc>
            <a:spcBef>
              <a:spcPct val="0"/>
            </a:spcBef>
            <a:spcAft>
              <a:spcPct val="35000"/>
            </a:spcAft>
            <a:buNone/>
          </a:pPr>
          <a:r>
            <a:rPr lang="en-ID" sz="1700" b="1" kern="1200" dirty="0" err="1">
              <a:solidFill>
                <a:schemeClr val="accent6">
                  <a:lumMod val="50000"/>
                </a:schemeClr>
              </a:solidFill>
            </a:rPr>
            <a:t>Persiapan</a:t>
          </a:r>
          <a:r>
            <a:rPr lang="en-ID" sz="1700" b="1" kern="1200" dirty="0">
              <a:solidFill>
                <a:schemeClr val="accent6">
                  <a:lumMod val="50000"/>
                </a:schemeClr>
              </a:solidFill>
            </a:rPr>
            <a:t> </a:t>
          </a:r>
          <a:r>
            <a:rPr lang="en-ID" sz="1700" b="1" kern="1200" dirty="0" err="1">
              <a:solidFill>
                <a:schemeClr val="accent6">
                  <a:lumMod val="50000"/>
                </a:schemeClr>
              </a:solidFill>
            </a:rPr>
            <a:t>Umum</a:t>
          </a:r>
          <a:r>
            <a:rPr lang="en-ID" sz="1700" b="1" kern="1200" dirty="0">
              <a:solidFill>
                <a:schemeClr val="accent6">
                  <a:lumMod val="50000"/>
                </a:schemeClr>
              </a:solidFill>
            </a:rPr>
            <a:t> </a:t>
          </a:r>
          <a:r>
            <a:rPr lang="en-ID" sz="1700" b="1" kern="1200" dirty="0" err="1">
              <a:solidFill>
                <a:schemeClr val="accent6">
                  <a:lumMod val="50000"/>
                </a:schemeClr>
              </a:solidFill>
            </a:rPr>
            <a:t>Sebelum</a:t>
          </a:r>
          <a:r>
            <a:rPr lang="en-ID" sz="1700" b="1" kern="1200" dirty="0">
              <a:solidFill>
                <a:schemeClr val="accent6">
                  <a:lumMod val="50000"/>
                </a:schemeClr>
              </a:solidFill>
            </a:rPr>
            <a:t> </a:t>
          </a:r>
          <a:r>
            <a:rPr lang="en-ID" sz="1700" b="1" kern="1200" dirty="0" err="1">
              <a:solidFill>
                <a:schemeClr val="accent6">
                  <a:lumMod val="50000"/>
                </a:schemeClr>
              </a:solidFill>
            </a:rPr>
            <a:t>Dimulainya</a:t>
          </a:r>
          <a:r>
            <a:rPr lang="en-ID" sz="1700" b="1" kern="1200" dirty="0">
              <a:solidFill>
                <a:schemeClr val="accent6">
                  <a:lumMod val="50000"/>
                </a:schemeClr>
              </a:solidFill>
            </a:rPr>
            <a:t> </a:t>
          </a:r>
          <a:r>
            <a:rPr lang="en-ID" sz="1700" b="1" kern="1200" dirty="0" err="1">
              <a:solidFill>
                <a:schemeClr val="accent6">
                  <a:lumMod val="50000"/>
                </a:schemeClr>
              </a:solidFill>
            </a:rPr>
            <a:t>Pengeboran</a:t>
          </a:r>
          <a:endParaRPr lang="en-ID" sz="1700" b="1" kern="1200" dirty="0">
            <a:solidFill>
              <a:schemeClr val="accent6">
                <a:lumMod val="50000"/>
              </a:schemeClr>
            </a:solidFill>
          </a:endParaRPr>
        </a:p>
      </dsp:txBody>
      <dsp:txXfrm rot="10800000">
        <a:off x="1766910" y="1601170"/>
        <a:ext cx="5637741" cy="616157"/>
      </dsp:txXfrm>
    </dsp:sp>
    <dsp:sp modelId="{5354FB36-9309-4DE7-B7C6-1B1B41663645}">
      <dsp:nvSpPr>
        <dsp:cNvPr id="0" name=""/>
        <dsp:cNvSpPr/>
      </dsp:nvSpPr>
      <dsp:spPr>
        <a:xfrm>
          <a:off x="1304792" y="1601170"/>
          <a:ext cx="616157" cy="616157"/>
        </a:xfrm>
        <a:prstGeom prst="ellipse">
          <a:avLst/>
        </a:prstGeom>
        <a:blipFill rotWithShape="1">
          <a:blip xmlns:r="http://schemas.openxmlformats.org/officeDocument/2006/relationships" r:embed="rId3"/>
          <a:srcRect/>
          <a:stretch>
            <a:fillRect l="-8000" r="-8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A7BA4CA4-CB83-45D1-BA26-CBABFEE6E809}">
      <dsp:nvSpPr>
        <dsp:cNvPr id="0" name=""/>
        <dsp:cNvSpPr/>
      </dsp:nvSpPr>
      <dsp:spPr>
        <a:xfrm rot="10800000">
          <a:off x="1612871" y="2401254"/>
          <a:ext cx="5791780" cy="616157"/>
        </a:xfrm>
        <a:prstGeom prst="homePlate">
          <a:avLst/>
        </a:prstGeom>
        <a:gradFill rotWithShape="0">
          <a:gsLst>
            <a:gs pos="0">
              <a:schemeClr val="accent4">
                <a:shade val="80000"/>
                <a:hueOff val="-256642"/>
                <a:satOff val="0"/>
                <a:lumOff val="16938"/>
                <a:alphaOff val="0"/>
                <a:satMod val="103000"/>
                <a:lumMod val="102000"/>
                <a:tint val="94000"/>
              </a:schemeClr>
            </a:gs>
            <a:gs pos="50000">
              <a:schemeClr val="accent4">
                <a:shade val="80000"/>
                <a:hueOff val="-256642"/>
                <a:satOff val="0"/>
                <a:lumOff val="16938"/>
                <a:alphaOff val="0"/>
                <a:satMod val="110000"/>
                <a:lumMod val="100000"/>
                <a:shade val="100000"/>
              </a:schemeClr>
            </a:gs>
            <a:gs pos="100000">
              <a:schemeClr val="accent4">
                <a:shade val="80000"/>
                <a:hueOff val="-256642"/>
                <a:satOff val="0"/>
                <a:lumOff val="169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1708" tIns="64770" rIns="120904" bIns="64770" numCol="1" spcCol="1270" anchor="ctr" anchorCtr="0">
          <a:noAutofit/>
        </a:bodyPr>
        <a:lstStyle/>
        <a:p>
          <a:pPr marL="0" lvl="0" indent="0" algn="l" defTabSz="755650">
            <a:lnSpc>
              <a:spcPct val="90000"/>
            </a:lnSpc>
            <a:spcBef>
              <a:spcPct val="0"/>
            </a:spcBef>
            <a:spcAft>
              <a:spcPct val="35000"/>
            </a:spcAft>
            <a:buNone/>
          </a:pPr>
          <a:r>
            <a:rPr lang="en-ID" sz="1700" b="1" kern="1200" dirty="0" err="1">
              <a:solidFill>
                <a:schemeClr val="accent6">
                  <a:lumMod val="50000"/>
                </a:schemeClr>
              </a:solidFill>
            </a:rPr>
            <a:t>Optimasi</a:t>
          </a:r>
          <a:r>
            <a:rPr lang="en-ID" sz="1700" b="1" kern="1200" dirty="0">
              <a:solidFill>
                <a:schemeClr val="accent6">
                  <a:lumMod val="50000"/>
                </a:schemeClr>
              </a:solidFill>
            </a:rPr>
            <a:t> Desain </a:t>
          </a:r>
          <a:r>
            <a:rPr lang="en-ID" sz="1700" b="1" kern="1200" dirty="0" err="1">
              <a:solidFill>
                <a:schemeClr val="accent6">
                  <a:lumMod val="50000"/>
                </a:schemeClr>
              </a:solidFill>
            </a:rPr>
            <a:t>Sumur</a:t>
          </a:r>
          <a:r>
            <a:rPr lang="en-ID" sz="1700" b="1" kern="1200" dirty="0">
              <a:solidFill>
                <a:schemeClr val="accent6">
                  <a:lumMod val="50000"/>
                </a:schemeClr>
              </a:solidFill>
            </a:rPr>
            <a:t> </a:t>
          </a:r>
          <a:r>
            <a:rPr lang="en-ID" sz="1700" b="1" kern="1200" dirty="0" err="1">
              <a:solidFill>
                <a:schemeClr val="accent6">
                  <a:lumMod val="50000"/>
                </a:schemeClr>
              </a:solidFill>
            </a:rPr>
            <a:t>Pengeboran</a:t>
          </a:r>
          <a:endParaRPr lang="en-ID" sz="1700" b="1" kern="1200" dirty="0">
            <a:solidFill>
              <a:schemeClr val="accent6">
                <a:lumMod val="50000"/>
              </a:schemeClr>
            </a:solidFill>
          </a:endParaRPr>
        </a:p>
      </dsp:txBody>
      <dsp:txXfrm rot="10800000">
        <a:off x="1766910" y="2401254"/>
        <a:ext cx="5637741" cy="616157"/>
      </dsp:txXfrm>
    </dsp:sp>
    <dsp:sp modelId="{F97C736C-F0C5-4F7F-8367-81FE22A6E8A3}">
      <dsp:nvSpPr>
        <dsp:cNvPr id="0" name=""/>
        <dsp:cNvSpPr/>
      </dsp:nvSpPr>
      <dsp:spPr>
        <a:xfrm>
          <a:off x="1304792" y="2401254"/>
          <a:ext cx="616157" cy="616157"/>
        </a:xfrm>
        <a:prstGeom prst="ellipse">
          <a:avLst/>
        </a:prstGeom>
        <a:blipFill rotWithShape="1">
          <a:blip xmlns:r="http://schemas.openxmlformats.org/officeDocument/2006/relationships" r:embed="rId4"/>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0AA8237C-F9CB-4362-BFA9-41E49531DBEE}">
      <dsp:nvSpPr>
        <dsp:cNvPr id="0" name=""/>
        <dsp:cNvSpPr/>
      </dsp:nvSpPr>
      <dsp:spPr>
        <a:xfrm rot="10800000">
          <a:off x="1612871" y="3201339"/>
          <a:ext cx="5791780" cy="616157"/>
        </a:xfrm>
        <a:prstGeom prst="homePlate">
          <a:avLst/>
        </a:prstGeom>
        <a:gradFill rotWithShape="0">
          <a:gsLst>
            <a:gs pos="0">
              <a:schemeClr val="accent4">
                <a:shade val="80000"/>
                <a:hueOff val="-342189"/>
                <a:satOff val="0"/>
                <a:lumOff val="22583"/>
                <a:alphaOff val="0"/>
                <a:satMod val="103000"/>
                <a:lumMod val="102000"/>
                <a:tint val="94000"/>
              </a:schemeClr>
            </a:gs>
            <a:gs pos="50000">
              <a:schemeClr val="accent4">
                <a:shade val="80000"/>
                <a:hueOff val="-342189"/>
                <a:satOff val="0"/>
                <a:lumOff val="22583"/>
                <a:alphaOff val="0"/>
                <a:satMod val="110000"/>
                <a:lumMod val="100000"/>
                <a:shade val="100000"/>
              </a:schemeClr>
            </a:gs>
            <a:gs pos="100000">
              <a:schemeClr val="accent4">
                <a:shade val="80000"/>
                <a:hueOff val="-342189"/>
                <a:satOff val="0"/>
                <a:lumOff val="2258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1708" tIns="64770" rIns="120904" bIns="64770" numCol="1" spcCol="1270" anchor="ctr" anchorCtr="0">
          <a:noAutofit/>
        </a:bodyPr>
        <a:lstStyle/>
        <a:p>
          <a:pPr marL="0" lvl="0" indent="0" algn="l" defTabSz="755650">
            <a:lnSpc>
              <a:spcPct val="90000"/>
            </a:lnSpc>
            <a:spcBef>
              <a:spcPct val="0"/>
            </a:spcBef>
            <a:spcAft>
              <a:spcPct val="35000"/>
            </a:spcAft>
            <a:buNone/>
          </a:pPr>
          <a:r>
            <a:rPr lang="en-ID" sz="1700" b="1" kern="1200" dirty="0" err="1">
              <a:solidFill>
                <a:schemeClr val="accent6">
                  <a:lumMod val="50000"/>
                </a:schemeClr>
              </a:solidFill>
            </a:rPr>
            <a:t>Effesiensi</a:t>
          </a:r>
          <a:r>
            <a:rPr lang="en-ID" sz="1700" b="1" kern="1200" dirty="0">
              <a:solidFill>
                <a:schemeClr val="accent6">
                  <a:lumMod val="50000"/>
                </a:schemeClr>
              </a:solidFill>
            </a:rPr>
            <a:t> </a:t>
          </a:r>
          <a:r>
            <a:rPr lang="en-ID" sz="1700" b="1" kern="1200" dirty="0" err="1">
              <a:solidFill>
                <a:schemeClr val="accent6">
                  <a:lumMod val="50000"/>
                </a:schemeClr>
              </a:solidFill>
            </a:rPr>
            <a:t>Operasi</a:t>
          </a:r>
          <a:r>
            <a:rPr lang="en-ID" sz="1700" b="1" kern="1200" dirty="0">
              <a:solidFill>
                <a:schemeClr val="accent6">
                  <a:lumMod val="50000"/>
                </a:schemeClr>
              </a:solidFill>
            </a:rPr>
            <a:t> </a:t>
          </a:r>
          <a:r>
            <a:rPr lang="en-ID" sz="1700" b="1" kern="1200" dirty="0" err="1">
              <a:solidFill>
                <a:schemeClr val="accent6">
                  <a:lumMod val="50000"/>
                </a:schemeClr>
              </a:solidFill>
            </a:rPr>
            <a:t>Pengeboran</a:t>
          </a:r>
          <a:endParaRPr lang="en-ID" sz="1700" b="1" kern="1200" dirty="0">
            <a:solidFill>
              <a:schemeClr val="accent6">
                <a:lumMod val="50000"/>
              </a:schemeClr>
            </a:solidFill>
          </a:endParaRPr>
        </a:p>
      </dsp:txBody>
      <dsp:txXfrm rot="10800000">
        <a:off x="1766910" y="3201339"/>
        <a:ext cx="5637741" cy="616157"/>
      </dsp:txXfrm>
    </dsp:sp>
    <dsp:sp modelId="{E084E869-7746-45AA-A87E-92E3B1EB78A0}">
      <dsp:nvSpPr>
        <dsp:cNvPr id="0" name=""/>
        <dsp:cNvSpPr/>
      </dsp:nvSpPr>
      <dsp:spPr>
        <a:xfrm>
          <a:off x="1304792" y="3201339"/>
          <a:ext cx="616157" cy="616157"/>
        </a:xfrm>
        <a:prstGeom prst="ellipse">
          <a:avLst/>
        </a:prstGeom>
        <a:blipFill rotWithShape="1">
          <a:blip xmlns:r="http://schemas.openxmlformats.org/officeDocument/2006/relationships" r:embed="rId5"/>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75F3E704-4E75-484B-9089-D7BE913FC0F6}">
      <dsp:nvSpPr>
        <dsp:cNvPr id="0" name=""/>
        <dsp:cNvSpPr/>
      </dsp:nvSpPr>
      <dsp:spPr>
        <a:xfrm rot="10800000">
          <a:off x="1612871" y="4001424"/>
          <a:ext cx="5791780" cy="616157"/>
        </a:xfrm>
        <a:prstGeom prst="homePlate">
          <a:avLst/>
        </a:prstGeom>
        <a:gradFill rotWithShape="0">
          <a:gsLst>
            <a:gs pos="0">
              <a:schemeClr val="accent4">
                <a:shade val="80000"/>
                <a:hueOff val="-427736"/>
                <a:satOff val="0"/>
                <a:lumOff val="28229"/>
                <a:alphaOff val="0"/>
                <a:satMod val="103000"/>
                <a:lumMod val="102000"/>
                <a:tint val="94000"/>
              </a:schemeClr>
            </a:gs>
            <a:gs pos="50000">
              <a:schemeClr val="accent4">
                <a:shade val="80000"/>
                <a:hueOff val="-427736"/>
                <a:satOff val="0"/>
                <a:lumOff val="28229"/>
                <a:alphaOff val="0"/>
                <a:satMod val="110000"/>
                <a:lumMod val="100000"/>
                <a:shade val="100000"/>
              </a:schemeClr>
            </a:gs>
            <a:gs pos="100000">
              <a:schemeClr val="accent4">
                <a:shade val="80000"/>
                <a:hueOff val="-427736"/>
                <a:satOff val="0"/>
                <a:lumOff val="2822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1708" tIns="64770" rIns="120904" bIns="64770" numCol="1" spcCol="1270" anchor="ctr" anchorCtr="0">
          <a:noAutofit/>
        </a:bodyPr>
        <a:lstStyle/>
        <a:p>
          <a:pPr marL="0" lvl="0" indent="0" algn="l" defTabSz="755650">
            <a:lnSpc>
              <a:spcPct val="90000"/>
            </a:lnSpc>
            <a:spcBef>
              <a:spcPct val="0"/>
            </a:spcBef>
            <a:spcAft>
              <a:spcPct val="35000"/>
            </a:spcAft>
            <a:buNone/>
          </a:pPr>
          <a:r>
            <a:rPr lang="en-ID" sz="1700" b="1" kern="1200" dirty="0">
              <a:solidFill>
                <a:schemeClr val="accent6">
                  <a:lumMod val="50000"/>
                </a:schemeClr>
              </a:solidFill>
            </a:rPr>
            <a:t>Strategi </a:t>
          </a:r>
          <a:r>
            <a:rPr lang="en-ID" sz="1700" b="1" kern="1200" dirty="0" err="1">
              <a:solidFill>
                <a:schemeClr val="accent6">
                  <a:lumMod val="50000"/>
                </a:schemeClr>
              </a:solidFill>
            </a:rPr>
            <a:t>Pengadaan</a:t>
          </a:r>
          <a:r>
            <a:rPr lang="en-ID" sz="1700" b="1" kern="1200" dirty="0">
              <a:solidFill>
                <a:schemeClr val="accent6">
                  <a:lumMod val="50000"/>
                </a:schemeClr>
              </a:solidFill>
            </a:rPr>
            <a:t> </a:t>
          </a:r>
          <a:r>
            <a:rPr lang="en-ID" sz="1700" b="1" kern="1200" dirty="0" err="1">
              <a:solidFill>
                <a:schemeClr val="accent6">
                  <a:lumMod val="50000"/>
                </a:schemeClr>
              </a:solidFill>
            </a:rPr>
            <a:t>Barang</a:t>
          </a:r>
          <a:r>
            <a:rPr lang="en-ID" sz="1700" b="1" kern="1200" dirty="0">
              <a:solidFill>
                <a:schemeClr val="accent6">
                  <a:lumMod val="50000"/>
                </a:schemeClr>
              </a:solidFill>
            </a:rPr>
            <a:t> dan Jasa </a:t>
          </a:r>
          <a:r>
            <a:rPr lang="en-ID" sz="1700" b="1" kern="1200" dirty="0" err="1">
              <a:solidFill>
                <a:schemeClr val="accent6">
                  <a:lumMod val="50000"/>
                </a:schemeClr>
              </a:solidFill>
            </a:rPr>
            <a:t>Pemboran</a:t>
          </a:r>
          <a:endParaRPr lang="en-ID" sz="1700" b="1" kern="1200" dirty="0">
            <a:solidFill>
              <a:schemeClr val="accent6">
                <a:lumMod val="50000"/>
              </a:schemeClr>
            </a:solidFill>
          </a:endParaRPr>
        </a:p>
      </dsp:txBody>
      <dsp:txXfrm rot="10800000">
        <a:off x="1766910" y="4001424"/>
        <a:ext cx="5637741" cy="616157"/>
      </dsp:txXfrm>
    </dsp:sp>
    <dsp:sp modelId="{2866615D-2676-453A-8759-C7D14E5DB558}">
      <dsp:nvSpPr>
        <dsp:cNvPr id="0" name=""/>
        <dsp:cNvSpPr/>
      </dsp:nvSpPr>
      <dsp:spPr>
        <a:xfrm>
          <a:off x="1304792" y="4001424"/>
          <a:ext cx="616157" cy="616157"/>
        </a:xfrm>
        <a:prstGeom prst="ellipse">
          <a:avLst/>
        </a:prstGeom>
        <a:blipFill rotWithShape="1">
          <a:blip xmlns:r="http://schemas.openxmlformats.org/officeDocument/2006/relationships" r:embed="rId6"/>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ACBCF323-59B8-4DA9-8696-1C481F11716C}">
      <dsp:nvSpPr>
        <dsp:cNvPr id="0" name=""/>
        <dsp:cNvSpPr/>
      </dsp:nvSpPr>
      <dsp:spPr>
        <a:xfrm rot="10800000">
          <a:off x="1612871" y="4801508"/>
          <a:ext cx="5791780" cy="616157"/>
        </a:xfrm>
        <a:prstGeom prst="homePlate">
          <a:avLst/>
        </a:prstGeom>
        <a:gradFill rotWithShape="0">
          <a:gsLst>
            <a:gs pos="0">
              <a:schemeClr val="accent4">
                <a:shade val="80000"/>
                <a:hueOff val="-513283"/>
                <a:satOff val="0"/>
                <a:lumOff val="33875"/>
                <a:alphaOff val="0"/>
                <a:satMod val="103000"/>
                <a:lumMod val="102000"/>
                <a:tint val="94000"/>
              </a:schemeClr>
            </a:gs>
            <a:gs pos="50000">
              <a:schemeClr val="accent4">
                <a:shade val="80000"/>
                <a:hueOff val="-513283"/>
                <a:satOff val="0"/>
                <a:lumOff val="33875"/>
                <a:alphaOff val="0"/>
                <a:satMod val="110000"/>
                <a:lumMod val="100000"/>
                <a:shade val="100000"/>
              </a:schemeClr>
            </a:gs>
            <a:gs pos="100000">
              <a:schemeClr val="accent4">
                <a:shade val="80000"/>
                <a:hueOff val="-513283"/>
                <a:satOff val="0"/>
                <a:lumOff val="3387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1708" tIns="64770" rIns="120904" bIns="64770" numCol="1" spcCol="1270" anchor="ctr" anchorCtr="0">
          <a:noAutofit/>
        </a:bodyPr>
        <a:lstStyle/>
        <a:p>
          <a:pPr marL="0" lvl="0" indent="0" algn="l" defTabSz="755650">
            <a:lnSpc>
              <a:spcPct val="90000"/>
            </a:lnSpc>
            <a:spcBef>
              <a:spcPct val="0"/>
            </a:spcBef>
            <a:spcAft>
              <a:spcPct val="35000"/>
            </a:spcAft>
            <a:buNone/>
          </a:pPr>
          <a:r>
            <a:rPr lang="en-ID" sz="1700" b="1" kern="1200" dirty="0">
              <a:solidFill>
                <a:schemeClr val="accent6">
                  <a:lumMod val="50000"/>
                </a:schemeClr>
              </a:solidFill>
            </a:rPr>
            <a:t>Kesimpulan dan </a:t>
          </a:r>
          <a:r>
            <a:rPr lang="en-ID" sz="1700" b="1" kern="1200" dirty="0" err="1">
              <a:solidFill>
                <a:schemeClr val="accent6">
                  <a:lumMod val="50000"/>
                </a:schemeClr>
              </a:solidFill>
            </a:rPr>
            <a:t>Penutup</a:t>
          </a:r>
          <a:endParaRPr lang="en-ID" sz="1700" b="1" kern="1200" dirty="0">
            <a:solidFill>
              <a:schemeClr val="accent6">
                <a:lumMod val="50000"/>
              </a:schemeClr>
            </a:solidFill>
          </a:endParaRPr>
        </a:p>
      </dsp:txBody>
      <dsp:txXfrm rot="10800000">
        <a:off x="1766910" y="4801508"/>
        <a:ext cx="5637741" cy="616157"/>
      </dsp:txXfrm>
    </dsp:sp>
    <dsp:sp modelId="{7997477C-AB3F-4102-810D-AB4926ECBE17}">
      <dsp:nvSpPr>
        <dsp:cNvPr id="0" name=""/>
        <dsp:cNvSpPr/>
      </dsp:nvSpPr>
      <dsp:spPr>
        <a:xfrm>
          <a:off x="1304792" y="4801508"/>
          <a:ext cx="616157" cy="616157"/>
        </a:xfrm>
        <a:prstGeom prst="ellipse">
          <a:avLst/>
        </a:prstGeom>
        <a:blipFill rotWithShape="1">
          <a:blip xmlns:r="http://schemas.openxmlformats.org/officeDocument/2006/relationships" r:embed="rId7"/>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E39C6-065E-4C99-9AC2-567A731D5D59}">
      <dsp:nvSpPr>
        <dsp:cNvPr id="0" name=""/>
        <dsp:cNvSpPr/>
      </dsp:nvSpPr>
      <dsp:spPr>
        <a:xfrm>
          <a:off x="6296" y="2332017"/>
          <a:ext cx="1986694" cy="1127164"/>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en-US" sz="3400" b="1" kern="1200" dirty="0">
              <a:latin typeface="Avenir Next LT Pro" panose="020B0504020202020204" pitchFamily="34" charset="0"/>
            </a:rPr>
            <a:t>WELL COST</a:t>
          </a:r>
        </a:p>
      </dsp:txBody>
      <dsp:txXfrm>
        <a:off x="39310" y="2365031"/>
        <a:ext cx="1920666" cy="1061136"/>
      </dsp:txXfrm>
    </dsp:sp>
    <dsp:sp modelId="{0B280DB8-6B4A-479E-8211-7C9BE50B96A5}">
      <dsp:nvSpPr>
        <dsp:cNvPr id="0" name=""/>
        <dsp:cNvSpPr/>
      </dsp:nvSpPr>
      <dsp:spPr>
        <a:xfrm rot="17516277">
          <a:off x="1237050" y="1758662"/>
          <a:ext cx="2413613" cy="35034"/>
        </a:xfrm>
        <a:custGeom>
          <a:avLst/>
          <a:gdLst/>
          <a:ahLst/>
          <a:cxnLst/>
          <a:rect l="0" t="0" r="0" b="0"/>
          <a:pathLst>
            <a:path>
              <a:moveTo>
                <a:pt x="0" y="17517"/>
              </a:moveTo>
              <a:lnTo>
                <a:pt x="2413613" y="1751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latin typeface="Avenir Next LT Pro" panose="020B0504020202020204" pitchFamily="34" charset="0"/>
          </a:endParaRPr>
        </a:p>
      </dsp:txBody>
      <dsp:txXfrm>
        <a:off x="2383516" y="1715839"/>
        <a:ext cx="120680" cy="120680"/>
      </dsp:txXfrm>
    </dsp:sp>
    <dsp:sp modelId="{DFC761C9-BCAE-42C0-8D6B-071EFE4285AC}">
      <dsp:nvSpPr>
        <dsp:cNvPr id="0" name=""/>
        <dsp:cNvSpPr/>
      </dsp:nvSpPr>
      <dsp:spPr>
        <a:xfrm>
          <a:off x="2894722" y="76201"/>
          <a:ext cx="2966380" cy="1161114"/>
        </a:xfrm>
        <a:prstGeom prst="roundRect">
          <a:avLst>
            <a:gd name="adj" fmla="val 10000"/>
          </a:avLst>
        </a:prstGeom>
        <a:solidFill>
          <a:schemeClr val="tx1">
            <a:lumMod val="50000"/>
            <a:lumOff val="50000"/>
          </a:schemeClr>
        </a:solid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chemeClr val="bg1"/>
              </a:solidFill>
              <a:latin typeface="Avenir Next LT Pro" panose="020B0504020202020204" pitchFamily="34" charset="0"/>
            </a:rPr>
            <a:t>Drilling Cost</a:t>
          </a:r>
        </a:p>
      </dsp:txBody>
      <dsp:txXfrm>
        <a:off x="2928730" y="110209"/>
        <a:ext cx="2898364" cy="1093098"/>
      </dsp:txXfrm>
    </dsp:sp>
    <dsp:sp modelId="{28D824FA-2DBD-44F0-8B5C-C98FF6FD0123}">
      <dsp:nvSpPr>
        <dsp:cNvPr id="0" name=""/>
        <dsp:cNvSpPr/>
      </dsp:nvSpPr>
      <dsp:spPr>
        <a:xfrm rot="19896527">
          <a:off x="1931347" y="2634390"/>
          <a:ext cx="1025019" cy="35034"/>
        </a:xfrm>
        <a:custGeom>
          <a:avLst/>
          <a:gdLst/>
          <a:ahLst/>
          <a:cxnLst/>
          <a:rect l="0" t="0" r="0" b="0"/>
          <a:pathLst>
            <a:path>
              <a:moveTo>
                <a:pt x="0" y="17517"/>
              </a:moveTo>
              <a:lnTo>
                <a:pt x="1025019" y="1751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venir Next LT Pro" panose="020B0504020202020204" pitchFamily="34" charset="0"/>
          </a:endParaRPr>
        </a:p>
      </dsp:txBody>
      <dsp:txXfrm>
        <a:off x="2418231" y="2626281"/>
        <a:ext cx="51250" cy="51250"/>
      </dsp:txXfrm>
    </dsp:sp>
    <dsp:sp modelId="{B0A1AE98-042C-49FF-B92D-0C30CFCC9A2C}">
      <dsp:nvSpPr>
        <dsp:cNvPr id="0" name=""/>
        <dsp:cNvSpPr/>
      </dsp:nvSpPr>
      <dsp:spPr>
        <a:xfrm>
          <a:off x="2894722" y="1406390"/>
          <a:ext cx="2966380" cy="2003647"/>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i="1" kern="1200" dirty="0">
              <a:latin typeface="Avenir Next LT Pro" panose="020B0504020202020204" pitchFamily="34" charset="0"/>
            </a:rPr>
            <a:t>Infrastructure, Well pad construction, Explosive, Permit, Post Drilling, Hook up</a:t>
          </a:r>
        </a:p>
      </dsp:txBody>
      <dsp:txXfrm>
        <a:off x="2953407" y="1465075"/>
        <a:ext cx="2849010" cy="1886277"/>
      </dsp:txXfrm>
    </dsp:sp>
    <dsp:sp modelId="{660BD6D7-B3C6-4557-9A96-6B0192345F05}">
      <dsp:nvSpPr>
        <dsp:cNvPr id="0" name=""/>
        <dsp:cNvSpPr/>
      </dsp:nvSpPr>
      <dsp:spPr>
        <a:xfrm rot="3344700">
          <a:off x="1640410" y="3544766"/>
          <a:ext cx="1613190" cy="35034"/>
        </a:xfrm>
        <a:custGeom>
          <a:avLst/>
          <a:gdLst/>
          <a:ahLst/>
          <a:cxnLst/>
          <a:rect l="0" t="0" r="0" b="0"/>
          <a:pathLst>
            <a:path>
              <a:moveTo>
                <a:pt x="0" y="17517"/>
              </a:moveTo>
              <a:lnTo>
                <a:pt x="1613190" y="1751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venir Next LT Pro" panose="020B0504020202020204" pitchFamily="34" charset="0"/>
          </a:endParaRPr>
        </a:p>
      </dsp:txBody>
      <dsp:txXfrm>
        <a:off x="2406675" y="3521954"/>
        <a:ext cx="80659" cy="80659"/>
      </dsp:txXfrm>
    </dsp:sp>
    <dsp:sp modelId="{2D346C31-B313-4889-B06E-9DADE4739FEC}">
      <dsp:nvSpPr>
        <dsp:cNvPr id="0" name=""/>
        <dsp:cNvSpPr/>
      </dsp:nvSpPr>
      <dsp:spPr>
        <a:xfrm>
          <a:off x="2901019" y="3665385"/>
          <a:ext cx="2966380" cy="1127164"/>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venir Next LT Pro" panose="020B0504020202020204" pitchFamily="34" charset="0"/>
            </a:rPr>
            <a:t>Supporting cost (</a:t>
          </a:r>
          <a:r>
            <a:rPr lang="en-US" sz="2400" i="1" kern="1200" dirty="0">
              <a:latin typeface="Avenir Next LT Pro" panose="020B0504020202020204" pitchFamily="34" charset="0"/>
            </a:rPr>
            <a:t>overhead</a:t>
          </a:r>
          <a:r>
            <a:rPr lang="en-US" sz="2400" kern="1200" dirty="0">
              <a:latin typeface="Avenir Next LT Pro" panose="020B0504020202020204" pitchFamily="34" charset="0"/>
            </a:rPr>
            <a:t>)</a:t>
          </a:r>
        </a:p>
      </dsp:txBody>
      <dsp:txXfrm>
        <a:off x="2934033" y="3698399"/>
        <a:ext cx="2900352" cy="1061136"/>
      </dsp:txXfrm>
    </dsp:sp>
    <dsp:sp modelId="{FFED5DF9-822E-4D09-B131-A13B825FCCD1}">
      <dsp:nvSpPr>
        <dsp:cNvPr id="0" name=""/>
        <dsp:cNvSpPr/>
      </dsp:nvSpPr>
      <dsp:spPr>
        <a:xfrm rot="4191524">
          <a:off x="1128484" y="4115971"/>
          <a:ext cx="2637040" cy="35034"/>
        </a:xfrm>
        <a:custGeom>
          <a:avLst/>
          <a:gdLst/>
          <a:ahLst/>
          <a:cxnLst/>
          <a:rect l="0" t="0" r="0" b="0"/>
          <a:pathLst>
            <a:path>
              <a:moveTo>
                <a:pt x="0" y="17517"/>
              </a:moveTo>
              <a:lnTo>
                <a:pt x="2637040" y="1751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latin typeface="Avenir Next LT Pro" panose="020B0504020202020204" pitchFamily="34" charset="0"/>
          </a:endParaRPr>
        </a:p>
      </dsp:txBody>
      <dsp:txXfrm>
        <a:off x="2381079" y="4067562"/>
        <a:ext cx="131852" cy="131852"/>
      </dsp:txXfrm>
    </dsp:sp>
    <dsp:sp modelId="{827BE06A-4DE3-40DE-B8FD-B11F2C4ED6E1}">
      <dsp:nvSpPr>
        <dsp:cNvPr id="0" name=""/>
        <dsp:cNvSpPr/>
      </dsp:nvSpPr>
      <dsp:spPr>
        <a:xfrm>
          <a:off x="2901019" y="4951552"/>
          <a:ext cx="2966380" cy="839647"/>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venir Next LT Pro" panose="020B0504020202020204" pitchFamily="34" charset="0"/>
            </a:rPr>
            <a:t>Well test</a:t>
          </a:r>
        </a:p>
      </dsp:txBody>
      <dsp:txXfrm>
        <a:off x="2925611" y="4976144"/>
        <a:ext cx="2917196" cy="7904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E84B-8D19-4F78-8237-A39CD018823C}">
      <dsp:nvSpPr>
        <dsp:cNvPr id="0" name=""/>
        <dsp:cNvSpPr/>
      </dsp:nvSpPr>
      <dsp:spPr>
        <a:xfrm>
          <a:off x="2874010" y="3036805"/>
          <a:ext cx="2379980" cy="2379980"/>
        </a:xfrm>
        <a:prstGeom prst="ellipse">
          <a:avLst/>
        </a:prstGeom>
        <a:solidFill>
          <a:srgbClr val="CCFF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100000"/>
            </a:lnSpc>
            <a:spcBef>
              <a:spcPct val="0"/>
            </a:spcBef>
            <a:spcAft>
              <a:spcPts val="0"/>
            </a:spcAft>
            <a:buNone/>
          </a:pPr>
          <a:r>
            <a:rPr lang="en-US" sz="4400" b="1" kern="1200" dirty="0">
              <a:solidFill>
                <a:schemeClr val="accent6">
                  <a:lumMod val="75000"/>
                </a:schemeClr>
              </a:solidFill>
            </a:rPr>
            <a:t>Cut Cost</a:t>
          </a:r>
        </a:p>
        <a:p>
          <a:pPr marL="0" lvl="0" indent="0" algn="ctr" defTabSz="1955800">
            <a:lnSpc>
              <a:spcPct val="100000"/>
            </a:lnSpc>
            <a:spcBef>
              <a:spcPct val="0"/>
            </a:spcBef>
            <a:spcAft>
              <a:spcPts val="0"/>
            </a:spcAft>
            <a:buNone/>
          </a:pPr>
          <a:r>
            <a:rPr lang="en-US" sz="4400" b="1" kern="1200" dirty="0">
              <a:solidFill>
                <a:schemeClr val="accent6">
                  <a:lumMod val="75000"/>
                </a:schemeClr>
              </a:solidFill>
            </a:rPr>
            <a:t>$</a:t>
          </a:r>
        </a:p>
      </dsp:txBody>
      <dsp:txXfrm>
        <a:off x="3222550" y="3385345"/>
        <a:ext cx="1682900" cy="1682900"/>
      </dsp:txXfrm>
    </dsp:sp>
    <dsp:sp modelId="{4478CD83-07D8-48B2-865A-1BB7431B5E54}">
      <dsp:nvSpPr>
        <dsp:cNvPr id="0" name=""/>
        <dsp:cNvSpPr/>
      </dsp:nvSpPr>
      <dsp:spPr>
        <a:xfrm rot="12900000">
          <a:off x="1161933" y="2560481"/>
          <a:ext cx="2013351" cy="67829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614708C-3D5B-484D-A628-04001560B075}">
      <dsp:nvSpPr>
        <dsp:cNvPr id="0" name=""/>
        <dsp:cNvSpPr/>
      </dsp:nvSpPr>
      <dsp:spPr>
        <a:xfrm>
          <a:off x="213498" y="1417830"/>
          <a:ext cx="2260981" cy="1808784"/>
        </a:xfrm>
        <a:prstGeom prst="roundRect">
          <a:avLst>
            <a:gd name="adj" fmla="val 10000"/>
          </a:avLst>
        </a:prstGeom>
        <a:blipFill dpi="0" rotWithShape="0">
          <a:blip xmlns:r="http://schemas.openxmlformats.org/officeDocument/2006/relationships" r:embed="rId1" cstate="email">
            <a:alphaModFix amt="40000"/>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rgbClr val="002060"/>
              </a:solidFill>
            </a:rPr>
            <a:t>Drilling Resources</a:t>
          </a:r>
        </a:p>
      </dsp:txBody>
      <dsp:txXfrm>
        <a:off x="266475" y="1470807"/>
        <a:ext cx="2155027" cy="1702830"/>
      </dsp:txXfrm>
    </dsp:sp>
    <dsp:sp modelId="{3B99CCA3-B7EB-4427-B85E-8611AEC9A5A6}">
      <dsp:nvSpPr>
        <dsp:cNvPr id="0" name=""/>
        <dsp:cNvSpPr/>
      </dsp:nvSpPr>
      <dsp:spPr>
        <a:xfrm rot="16200000">
          <a:off x="3057324" y="1573802"/>
          <a:ext cx="2013351" cy="67829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4F29E67-038A-4074-804F-16EB4DFE47F3}">
      <dsp:nvSpPr>
        <dsp:cNvPr id="0" name=""/>
        <dsp:cNvSpPr/>
      </dsp:nvSpPr>
      <dsp:spPr>
        <a:xfrm>
          <a:off x="2933509" y="1881"/>
          <a:ext cx="2260981" cy="1808784"/>
        </a:xfrm>
        <a:prstGeom prst="roundRect">
          <a:avLst>
            <a:gd name="adj" fmla="val 10000"/>
          </a:avLst>
        </a:prstGeom>
        <a:blipFill dpi="0" rotWithShape="0">
          <a:blip xmlns:r="http://schemas.openxmlformats.org/officeDocument/2006/relationships" r:embed="rId2" cstate="email">
            <a:alphaModFix amt="41000"/>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rgbClr val="002060"/>
              </a:solidFill>
            </a:rPr>
            <a:t>Drilling Cost Saving Initiative</a:t>
          </a:r>
        </a:p>
      </dsp:txBody>
      <dsp:txXfrm>
        <a:off x="2986486" y="54858"/>
        <a:ext cx="2155027" cy="1702830"/>
      </dsp:txXfrm>
    </dsp:sp>
    <dsp:sp modelId="{03F3DC10-817B-4BA4-A329-DACFEC27DD63}">
      <dsp:nvSpPr>
        <dsp:cNvPr id="0" name=""/>
        <dsp:cNvSpPr/>
      </dsp:nvSpPr>
      <dsp:spPr>
        <a:xfrm rot="19500000">
          <a:off x="4952715" y="2560481"/>
          <a:ext cx="2013351" cy="67829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2350E09-4BB4-4028-B2EF-A1423E3C2A01}">
      <dsp:nvSpPr>
        <dsp:cNvPr id="0" name=""/>
        <dsp:cNvSpPr/>
      </dsp:nvSpPr>
      <dsp:spPr>
        <a:xfrm>
          <a:off x="5653520" y="1417830"/>
          <a:ext cx="2260981" cy="1808784"/>
        </a:xfrm>
        <a:prstGeom prst="roundRect">
          <a:avLst>
            <a:gd name="adj" fmla="val 10000"/>
          </a:avLst>
        </a:prstGeom>
        <a:blipFill dpi="0" rotWithShape="0">
          <a:blip xmlns:r="http://schemas.openxmlformats.org/officeDocument/2006/relationships" r:embed="rId3" cstate="email">
            <a:alphaModFix amt="32000"/>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rgbClr val="002060"/>
              </a:solidFill>
            </a:rPr>
            <a:t>Drilling Optimization</a:t>
          </a:r>
        </a:p>
      </dsp:txBody>
      <dsp:txXfrm>
        <a:off x="5706497" y="1470807"/>
        <a:ext cx="2155027" cy="17028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874492-943E-4D24-9CA5-54B7C41E4871}">
      <dsp:nvSpPr>
        <dsp:cNvPr id="0" name=""/>
        <dsp:cNvSpPr/>
      </dsp:nvSpPr>
      <dsp:spPr>
        <a:xfrm>
          <a:off x="0" y="14515"/>
          <a:ext cx="3729790" cy="1149263"/>
        </a:xfrm>
        <a:prstGeom prst="roundRect">
          <a:avLst>
            <a:gd name="adj" fmla="val 10000"/>
          </a:avLst>
        </a:prstGeom>
        <a:solidFill>
          <a:srgbClr val="CCCC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solidFill>
                <a:schemeClr val="accent6">
                  <a:lumMod val="75000"/>
                </a:schemeClr>
              </a:solidFill>
            </a:rPr>
            <a:t>Mud and Cementing</a:t>
          </a:r>
        </a:p>
      </dsp:txBody>
      <dsp:txXfrm>
        <a:off x="860884" y="14515"/>
        <a:ext cx="2868905" cy="1149263"/>
      </dsp:txXfrm>
    </dsp:sp>
    <dsp:sp modelId="{DDDFBA2F-753E-4867-B4CC-4A2E8A51555B}">
      <dsp:nvSpPr>
        <dsp:cNvPr id="0" name=""/>
        <dsp:cNvSpPr/>
      </dsp:nvSpPr>
      <dsp:spPr>
        <a:xfrm>
          <a:off x="114926" y="114926"/>
          <a:ext cx="745958" cy="919410"/>
        </a:xfrm>
        <a:prstGeom prst="roundRect">
          <a:avLst>
            <a:gd name="adj" fmla="val 10000"/>
          </a:avLst>
        </a:prstGeom>
        <a:blipFill rotWithShape="1">
          <a:blip xmlns:r="http://schemas.openxmlformats.org/officeDocument/2006/relationships" r:embed="rId1"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210AF5-885E-418B-84D6-FDC883EF68AD}">
      <dsp:nvSpPr>
        <dsp:cNvPr id="0" name=""/>
        <dsp:cNvSpPr/>
      </dsp:nvSpPr>
      <dsp:spPr>
        <a:xfrm>
          <a:off x="0" y="1264189"/>
          <a:ext cx="3729790" cy="1149263"/>
        </a:xfrm>
        <a:prstGeom prst="roundRect">
          <a:avLst>
            <a:gd name="adj" fmla="val 10000"/>
          </a:avLst>
        </a:prstGeom>
        <a:solidFill>
          <a:srgbClr val="CCFF3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solidFill>
                <a:schemeClr val="accent6">
                  <a:lumMod val="75000"/>
                </a:schemeClr>
              </a:solidFill>
            </a:rPr>
            <a:t>Drilling Bit</a:t>
          </a:r>
        </a:p>
      </dsp:txBody>
      <dsp:txXfrm>
        <a:off x="860884" y="1264189"/>
        <a:ext cx="2868905" cy="1149263"/>
      </dsp:txXfrm>
    </dsp:sp>
    <dsp:sp modelId="{AEE8B268-C3C3-45EF-82C5-3E4F8DEA1D22}">
      <dsp:nvSpPr>
        <dsp:cNvPr id="0" name=""/>
        <dsp:cNvSpPr/>
      </dsp:nvSpPr>
      <dsp:spPr>
        <a:xfrm>
          <a:off x="114926" y="1379115"/>
          <a:ext cx="745958" cy="919410"/>
        </a:xfrm>
        <a:prstGeom prst="roundRect">
          <a:avLst>
            <a:gd name="adj" fmla="val 10000"/>
          </a:avLst>
        </a:prstGeom>
        <a:blipFill rotWithShape="1">
          <a:blip xmlns:r="http://schemas.openxmlformats.org/officeDocument/2006/relationships" r:embed="rId2"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FDDDBB-72AC-4F7A-9341-ABB19FEBD88B}">
      <dsp:nvSpPr>
        <dsp:cNvPr id="0" name=""/>
        <dsp:cNvSpPr/>
      </dsp:nvSpPr>
      <dsp:spPr>
        <a:xfrm>
          <a:off x="0" y="2528379"/>
          <a:ext cx="3729790" cy="1149263"/>
        </a:xfrm>
        <a:prstGeom prst="roundRect">
          <a:avLst>
            <a:gd name="adj" fmla="val 10000"/>
          </a:avLst>
        </a:prstGeom>
        <a:solidFill>
          <a:srgbClr val="CCFF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solidFill>
                <a:schemeClr val="accent6">
                  <a:lumMod val="75000"/>
                </a:schemeClr>
              </a:solidFill>
            </a:rPr>
            <a:t>Fuel Consumption</a:t>
          </a:r>
        </a:p>
      </dsp:txBody>
      <dsp:txXfrm>
        <a:off x="860884" y="2528379"/>
        <a:ext cx="2868905" cy="1149263"/>
      </dsp:txXfrm>
    </dsp:sp>
    <dsp:sp modelId="{9B111DCB-E249-4F0E-A2BE-96FBA4F45769}">
      <dsp:nvSpPr>
        <dsp:cNvPr id="0" name=""/>
        <dsp:cNvSpPr/>
      </dsp:nvSpPr>
      <dsp:spPr>
        <a:xfrm>
          <a:off x="114926" y="2643305"/>
          <a:ext cx="745958" cy="919410"/>
        </a:xfrm>
        <a:prstGeom prst="roundRect">
          <a:avLst>
            <a:gd name="adj" fmla="val 10000"/>
          </a:avLst>
        </a:prstGeom>
        <a:blipFill rotWithShape="1">
          <a:blip xmlns:r="http://schemas.openxmlformats.org/officeDocument/2006/relationships" r:embed="rId3"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C5284D-DAD1-4D49-BB4B-7E716E3EB89B}">
      <dsp:nvSpPr>
        <dsp:cNvPr id="0" name=""/>
        <dsp:cNvSpPr/>
      </dsp:nvSpPr>
      <dsp:spPr>
        <a:xfrm>
          <a:off x="0" y="3771031"/>
          <a:ext cx="3729790" cy="1149263"/>
        </a:xfrm>
        <a:prstGeom prst="roundRect">
          <a:avLst>
            <a:gd name="adj" fmla="val 10000"/>
          </a:avLst>
        </a:prstGeom>
        <a:solidFill>
          <a:srgbClr val="CC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solidFill>
                <a:srgbClr val="C00000"/>
              </a:solidFill>
            </a:rPr>
            <a:t>Stuck Pipe</a:t>
          </a:r>
        </a:p>
      </dsp:txBody>
      <dsp:txXfrm>
        <a:off x="860884" y="3771031"/>
        <a:ext cx="2868905" cy="1149263"/>
      </dsp:txXfrm>
    </dsp:sp>
    <dsp:sp modelId="{5D7F2ED6-243E-4909-938D-1DBD13351968}">
      <dsp:nvSpPr>
        <dsp:cNvPr id="0" name=""/>
        <dsp:cNvSpPr/>
      </dsp:nvSpPr>
      <dsp:spPr>
        <a:xfrm>
          <a:off x="114926" y="3907494"/>
          <a:ext cx="745958" cy="919410"/>
        </a:xfrm>
        <a:prstGeom prst="roundRect">
          <a:avLst>
            <a:gd name="adj" fmla="val 10000"/>
          </a:avLst>
        </a:prstGeom>
        <a:blipFill rotWithShape="1">
          <a:blip xmlns:r="http://schemas.openxmlformats.org/officeDocument/2006/relationships" r:embed="rId4"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E412BE-5EEE-4951-B2F7-53E10F60FDB9}">
      <dsp:nvSpPr>
        <dsp:cNvPr id="0" name=""/>
        <dsp:cNvSpPr/>
      </dsp:nvSpPr>
      <dsp:spPr>
        <a:xfrm>
          <a:off x="0" y="0"/>
          <a:ext cx="4038600" cy="929166"/>
        </a:xfrm>
        <a:prstGeom prst="roundRect">
          <a:avLst>
            <a:gd name="adj" fmla="val 10000"/>
          </a:avLst>
        </a:prstGeom>
        <a:solidFill>
          <a:srgbClr val="CC99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solidFill>
                <a:schemeClr val="accent6">
                  <a:lumMod val="75000"/>
                </a:schemeClr>
              </a:solidFill>
            </a:rPr>
            <a:t>Heavy Equipment</a:t>
          </a:r>
        </a:p>
      </dsp:txBody>
      <dsp:txXfrm>
        <a:off x="900636" y="0"/>
        <a:ext cx="3137963" cy="929166"/>
      </dsp:txXfrm>
    </dsp:sp>
    <dsp:sp modelId="{C6ADFD21-97F7-4F5A-8C14-2E0D2E695998}">
      <dsp:nvSpPr>
        <dsp:cNvPr id="0" name=""/>
        <dsp:cNvSpPr/>
      </dsp:nvSpPr>
      <dsp:spPr>
        <a:xfrm>
          <a:off x="92916" y="92916"/>
          <a:ext cx="807720" cy="743332"/>
        </a:xfrm>
        <a:prstGeom prst="roundRect">
          <a:avLst>
            <a:gd name="adj" fmla="val 10000"/>
          </a:avLst>
        </a:prstGeom>
        <a:blipFill rotWithShape="1">
          <a:blip xmlns:r="http://schemas.openxmlformats.org/officeDocument/2006/relationships" r:embed="rId1"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F84909-D618-4CA9-A577-D85FEE5931F9}">
      <dsp:nvSpPr>
        <dsp:cNvPr id="0" name=""/>
        <dsp:cNvSpPr/>
      </dsp:nvSpPr>
      <dsp:spPr>
        <a:xfrm>
          <a:off x="0" y="1090320"/>
          <a:ext cx="4038600" cy="929166"/>
        </a:xfrm>
        <a:prstGeom prst="roundRect">
          <a:avLst>
            <a:gd name="adj" fmla="val 10000"/>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solidFill>
                <a:schemeClr val="accent6">
                  <a:lumMod val="75000"/>
                </a:schemeClr>
              </a:solidFill>
            </a:rPr>
            <a:t>Drilling Rig</a:t>
          </a:r>
        </a:p>
      </dsp:txBody>
      <dsp:txXfrm>
        <a:off x="900636" y="1090320"/>
        <a:ext cx="3137963" cy="929166"/>
      </dsp:txXfrm>
    </dsp:sp>
    <dsp:sp modelId="{593927D4-CBC8-416E-9CD8-076834F202D5}">
      <dsp:nvSpPr>
        <dsp:cNvPr id="0" name=""/>
        <dsp:cNvSpPr/>
      </dsp:nvSpPr>
      <dsp:spPr>
        <a:xfrm>
          <a:off x="92916" y="1114999"/>
          <a:ext cx="807720" cy="743332"/>
        </a:xfrm>
        <a:prstGeom prst="roundRect">
          <a:avLst>
            <a:gd name="adj" fmla="val 10000"/>
          </a:avLst>
        </a:prstGeom>
        <a:blipFill rotWithShape="1">
          <a:blip xmlns:r="http://schemas.openxmlformats.org/officeDocument/2006/relationships" r:embed="rId2"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AE6B41-48E0-4C1E-A012-0101F699FCF2}">
      <dsp:nvSpPr>
        <dsp:cNvPr id="0" name=""/>
        <dsp:cNvSpPr/>
      </dsp:nvSpPr>
      <dsp:spPr>
        <a:xfrm>
          <a:off x="0" y="2044165"/>
          <a:ext cx="4038600" cy="929166"/>
        </a:xfrm>
        <a:prstGeom prst="roundRect">
          <a:avLst>
            <a:gd name="adj" fmla="val 10000"/>
          </a:avLst>
        </a:prstGeom>
        <a:solidFill>
          <a:srgbClr val="FFFF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solidFill>
                <a:schemeClr val="accent6">
                  <a:lumMod val="75000"/>
                </a:schemeClr>
              </a:solidFill>
            </a:rPr>
            <a:t>Casing &amp; Installation</a:t>
          </a:r>
        </a:p>
      </dsp:txBody>
      <dsp:txXfrm>
        <a:off x="900636" y="2044165"/>
        <a:ext cx="3137963" cy="929166"/>
      </dsp:txXfrm>
    </dsp:sp>
    <dsp:sp modelId="{670191DE-729F-4D29-AA50-CE49813DFF21}">
      <dsp:nvSpPr>
        <dsp:cNvPr id="0" name=""/>
        <dsp:cNvSpPr/>
      </dsp:nvSpPr>
      <dsp:spPr>
        <a:xfrm>
          <a:off x="92916" y="2137081"/>
          <a:ext cx="807720" cy="743332"/>
        </a:xfrm>
        <a:prstGeom prst="roundRect">
          <a:avLst>
            <a:gd name="adj" fmla="val 10000"/>
          </a:avLst>
        </a:prstGeom>
        <a:blipFill rotWithShape="1">
          <a:blip xmlns:r="http://schemas.openxmlformats.org/officeDocument/2006/relationships" r:embed="rId3"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C5284D-DAD1-4D49-BB4B-7E716E3EB89B}">
      <dsp:nvSpPr>
        <dsp:cNvPr id="0" name=""/>
        <dsp:cNvSpPr/>
      </dsp:nvSpPr>
      <dsp:spPr>
        <a:xfrm>
          <a:off x="0" y="3066247"/>
          <a:ext cx="4038600" cy="929166"/>
        </a:xfrm>
        <a:prstGeom prst="roundRect">
          <a:avLst>
            <a:gd name="adj" fmla="val 10000"/>
          </a:avLst>
        </a:prstGeom>
        <a:solidFill>
          <a:srgbClr val="FF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solidFill>
                <a:schemeClr val="accent2">
                  <a:lumMod val="75000"/>
                </a:schemeClr>
              </a:solidFill>
            </a:rPr>
            <a:t>Directional Drilling</a:t>
          </a:r>
        </a:p>
      </dsp:txBody>
      <dsp:txXfrm>
        <a:off x="900636" y="3066247"/>
        <a:ext cx="3137963" cy="929166"/>
      </dsp:txXfrm>
    </dsp:sp>
    <dsp:sp modelId="{5D7F2ED6-243E-4909-938D-1DBD13351968}">
      <dsp:nvSpPr>
        <dsp:cNvPr id="0" name=""/>
        <dsp:cNvSpPr/>
      </dsp:nvSpPr>
      <dsp:spPr>
        <a:xfrm>
          <a:off x="92916" y="3159164"/>
          <a:ext cx="807720" cy="743332"/>
        </a:xfrm>
        <a:prstGeom prst="roundRect">
          <a:avLst>
            <a:gd name="adj" fmla="val 10000"/>
          </a:avLst>
        </a:prstGeom>
        <a:blipFill rotWithShape="1">
          <a:blip xmlns:r="http://schemas.openxmlformats.org/officeDocument/2006/relationships" r:embed="rId4"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B942E4-A997-4F3C-A7A2-9AE2CAC92EEC}">
      <dsp:nvSpPr>
        <dsp:cNvPr id="0" name=""/>
        <dsp:cNvSpPr/>
      </dsp:nvSpPr>
      <dsp:spPr>
        <a:xfrm>
          <a:off x="0" y="4088330"/>
          <a:ext cx="4038600" cy="929166"/>
        </a:xfrm>
        <a:prstGeom prst="roundRect">
          <a:avLst>
            <a:gd name="adj" fmla="val 10000"/>
          </a:avLst>
        </a:prstGeom>
        <a:solidFill>
          <a:srgbClr val="FFFF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solidFill>
                <a:schemeClr val="accent2">
                  <a:lumMod val="75000"/>
                </a:schemeClr>
              </a:solidFill>
            </a:rPr>
            <a:t>Aerated Drilling</a:t>
          </a:r>
        </a:p>
      </dsp:txBody>
      <dsp:txXfrm>
        <a:off x="900636" y="4088330"/>
        <a:ext cx="3137963" cy="929166"/>
      </dsp:txXfrm>
    </dsp:sp>
    <dsp:sp modelId="{4774F5EB-71A4-4FCC-ABC0-AB4C913FE58C}">
      <dsp:nvSpPr>
        <dsp:cNvPr id="0" name=""/>
        <dsp:cNvSpPr/>
      </dsp:nvSpPr>
      <dsp:spPr>
        <a:xfrm>
          <a:off x="92916" y="4181247"/>
          <a:ext cx="807720" cy="743332"/>
        </a:xfrm>
        <a:prstGeom prst="roundRect">
          <a:avLst>
            <a:gd name="adj" fmla="val 10000"/>
          </a:avLst>
        </a:prstGeom>
        <a:blipFill rotWithShape="1">
          <a:blip xmlns:r="http://schemas.openxmlformats.org/officeDocument/2006/relationships" r:embed="rId5" cstate="email">
            <a:extLst>
              <a:ext uri="{28A0092B-C50C-407E-A947-70E740481C1C}">
                <a14:useLocalDpi xmlns:a14="http://schemas.microsoft.com/office/drawing/2010/main"/>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D5D29E-5CB2-46C3-80A6-0A696CBDBC30}">
      <dsp:nvSpPr>
        <dsp:cNvPr id="0" name=""/>
        <dsp:cNvSpPr/>
      </dsp:nvSpPr>
      <dsp:spPr>
        <a:xfrm>
          <a:off x="4469567" y="1997552"/>
          <a:ext cx="1423562" cy="1423562"/>
        </a:xfrm>
        <a:prstGeom prst="ellipse">
          <a:avLst/>
        </a:prstGeom>
        <a:gradFill rotWithShape="0">
          <a:gsLst>
            <a:gs pos="0">
              <a:srgbClr val="CCFF99"/>
            </a:gs>
            <a:gs pos="50000">
              <a:srgbClr val="CCFF99"/>
            </a:gs>
            <a:gs pos="100000">
              <a:srgbClr val="FFFF00"/>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C00000"/>
              </a:solidFill>
            </a:rPr>
            <a:t>Low Drilling Cost</a:t>
          </a:r>
        </a:p>
      </dsp:txBody>
      <dsp:txXfrm>
        <a:off x="4678043" y="2206028"/>
        <a:ext cx="1006610" cy="1006610"/>
      </dsp:txXfrm>
    </dsp:sp>
    <dsp:sp modelId="{DBF2EF6E-61E2-474E-A76B-0E996086892B}">
      <dsp:nvSpPr>
        <dsp:cNvPr id="0" name=""/>
        <dsp:cNvSpPr/>
      </dsp:nvSpPr>
      <dsp:spPr>
        <a:xfrm rot="5400000" flipV="1">
          <a:off x="5030398" y="1479279"/>
          <a:ext cx="301900" cy="484011"/>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5075683" y="1530796"/>
        <a:ext cx="211330" cy="290407"/>
      </dsp:txXfrm>
    </dsp:sp>
    <dsp:sp modelId="{AC158ED0-DB9A-4A98-B9F0-85406F407931}">
      <dsp:nvSpPr>
        <dsp:cNvPr id="0" name=""/>
        <dsp:cNvSpPr/>
      </dsp:nvSpPr>
      <dsp:spPr>
        <a:xfrm>
          <a:off x="4469567" y="4365"/>
          <a:ext cx="1423562" cy="1423562"/>
        </a:xfrm>
        <a:prstGeom prst="ellipse">
          <a:avLst/>
        </a:prstGeom>
        <a:gradFill rotWithShape="0">
          <a:gsLst>
            <a:gs pos="0">
              <a:schemeClr val="accent6">
                <a:lumMod val="60000"/>
                <a:lumOff val="40000"/>
              </a:schemeClr>
            </a:gs>
            <a:gs pos="50000">
              <a:schemeClr val="accent6">
                <a:lumMod val="75000"/>
              </a:schemeClr>
            </a:gs>
            <a:gs pos="100000">
              <a:schemeClr val="accent6">
                <a:lumMod val="5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Well Design Study</a:t>
          </a:r>
        </a:p>
      </dsp:txBody>
      <dsp:txXfrm>
        <a:off x="4678043" y="212841"/>
        <a:ext cx="1006610" cy="1006610"/>
      </dsp:txXfrm>
    </dsp:sp>
    <dsp:sp modelId="{FB81C519-65FF-465B-AD46-A9218BB5AAD6}">
      <dsp:nvSpPr>
        <dsp:cNvPr id="0" name=""/>
        <dsp:cNvSpPr/>
      </dsp:nvSpPr>
      <dsp:spPr>
        <a:xfrm rot="38907">
          <a:off x="6127321" y="2030066"/>
          <a:ext cx="843647" cy="1389494"/>
        </a:xfrm>
        <a:prstGeom prst="rightArrow">
          <a:avLst>
            <a:gd name="adj1" fmla="val 60000"/>
            <a:gd name="adj2" fmla="val 50000"/>
          </a:avLst>
        </a:prstGeom>
        <a:solidFill>
          <a:schemeClr val="accent4"/>
        </a:solidFill>
        <a:ln w="19050" cap="flat" cmpd="sng" algn="ctr">
          <a:solidFill>
            <a:schemeClr val="lt1"/>
          </a:solidFill>
          <a:prstDash val="solid"/>
          <a:miter lim="800000"/>
        </a:ln>
        <a:effectLst>
          <a:outerShdw blurRad="63500" sx="102000" sy="102000" algn="ctr" rotWithShape="0">
            <a:prstClr val="black">
              <a:alpha val="40000"/>
            </a:prstClr>
          </a:outerShdw>
        </a:effectLst>
      </dsp:spPr>
      <dsp:style>
        <a:lnRef idx="3">
          <a:schemeClr val="lt1"/>
        </a:lnRef>
        <a:fillRef idx="1">
          <a:schemeClr val="accent4"/>
        </a:fillRef>
        <a:effectRef idx="1">
          <a:schemeClr val="accent4"/>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6127329" y="2306533"/>
        <a:ext cx="590553" cy="833696"/>
      </dsp:txXfrm>
    </dsp:sp>
    <dsp:sp modelId="{1C549977-4DFD-4271-A65A-848F7E7C7EEF}">
      <dsp:nvSpPr>
        <dsp:cNvPr id="0" name=""/>
        <dsp:cNvSpPr/>
      </dsp:nvSpPr>
      <dsp:spPr>
        <a:xfrm>
          <a:off x="7245699" y="1376619"/>
          <a:ext cx="2743205" cy="2743205"/>
        </a:xfrm>
        <a:prstGeom prst="ellipse">
          <a:avLst/>
        </a:prstGeom>
        <a:gradFill rotWithShape="0">
          <a:gsLst>
            <a:gs pos="0">
              <a:srgbClr val="FFFF66"/>
            </a:gs>
            <a:gs pos="50000">
              <a:schemeClr val="accent6">
                <a:lumMod val="75000"/>
              </a:schemeClr>
            </a:gs>
            <a:gs pos="100000">
              <a:srgbClr val="FFFFCC"/>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accent5">
                  <a:lumMod val="50000"/>
                </a:schemeClr>
              </a:solidFill>
            </a:rPr>
            <a:t>Drilling Procurement Strategy</a:t>
          </a:r>
        </a:p>
      </dsp:txBody>
      <dsp:txXfrm>
        <a:off x="7647432" y="1778352"/>
        <a:ext cx="1939739" cy="1939739"/>
      </dsp:txXfrm>
    </dsp:sp>
    <dsp:sp modelId="{91C7A6C3-6308-4250-AB64-D22EF893C8B8}">
      <dsp:nvSpPr>
        <dsp:cNvPr id="0" name=""/>
        <dsp:cNvSpPr/>
      </dsp:nvSpPr>
      <dsp:spPr>
        <a:xfrm rot="16200000" flipV="1">
          <a:off x="5030398" y="3455376"/>
          <a:ext cx="301900" cy="484011"/>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5075683" y="3597463"/>
        <a:ext cx="211330" cy="290407"/>
      </dsp:txXfrm>
    </dsp:sp>
    <dsp:sp modelId="{20A3061D-0085-48EE-B108-ADD2FD3C299D}">
      <dsp:nvSpPr>
        <dsp:cNvPr id="0" name=""/>
        <dsp:cNvSpPr/>
      </dsp:nvSpPr>
      <dsp:spPr>
        <a:xfrm>
          <a:off x="4469567" y="3990738"/>
          <a:ext cx="1423562" cy="1423562"/>
        </a:xfrm>
        <a:prstGeom prst="ellipse">
          <a:avLst/>
        </a:prstGeom>
        <a:gradFill rotWithShape="0">
          <a:gsLst>
            <a:gs pos="0">
              <a:schemeClr val="accent4">
                <a:lumMod val="60000"/>
                <a:lumOff val="40000"/>
              </a:schemeClr>
            </a:gs>
            <a:gs pos="50000">
              <a:schemeClr val="accent4">
                <a:lumMod val="75000"/>
              </a:schemeClr>
            </a:gs>
            <a:gs pos="100000">
              <a:schemeClr val="accent4">
                <a:lumMod val="5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t>Most Efficient Drilling Operation</a:t>
          </a:r>
        </a:p>
      </dsp:txBody>
      <dsp:txXfrm>
        <a:off x="4678043" y="4199214"/>
        <a:ext cx="1006610" cy="1006610"/>
      </dsp:txXfrm>
    </dsp:sp>
    <dsp:sp modelId="{029549BF-33CD-429E-AEB8-D5DC55C64F93}">
      <dsp:nvSpPr>
        <dsp:cNvPr id="0" name=""/>
        <dsp:cNvSpPr/>
      </dsp:nvSpPr>
      <dsp:spPr>
        <a:xfrm rot="10800000" flipH="1">
          <a:off x="4042349" y="2467327"/>
          <a:ext cx="301900" cy="484011"/>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4042349" y="2564129"/>
        <a:ext cx="211330" cy="290407"/>
      </dsp:txXfrm>
    </dsp:sp>
    <dsp:sp modelId="{05ED72A3-6C32-4F92-AAEC-7B968005CF45}">
      <dsp:nvSpPr>
        <dsp:cNvPr id="0" name=""/>
        <dsp:cNvSpPr/>
      </dsp:nvSpPr>
      <dsp:spPr>
        <a:xfrm>
          <a:off x="2476381" y="1997552"/>
          <a:ext cx="1423562" cy="1423562"/>
        </a:xfrm>
        <a:prstGeom prst="ellipse">
          <a:avLst/>
        </a:prstGeom>
        <a:gradFill rotWithShape="0">
          <a:gsLst>
            <a:gs pos="0">
              <a:schemeClr val="accent5">
                <a:lumMod val="40000"/>
                <a:lumOff val="60000"/>
              </a:schemeClr>
            </a:gs>
            <a:gs pos="50000">
              <a:schemeClr val="accent5">
                <a:lumMod val="75000"/>
              </a:schemeClr>
            </a:gs>
            <a:gs pos="100000">
              <a:schemeClr val="accent5">
                <a:lumMod val="5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Rig Sizing</a:t>
          </a:r>
        </a:p>
      </dsp:txBody>
      <dsp:txXfrm>
        <a:off x="2684857" y="2206028"/>
        <a:ext cx="1006610" cy="10066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829E38-8095-420C-9325-082840F1AE90}">
      <dsp:nvSpPr>
        <dsp:cNvPr id="0" name=""/>
        <dsp:cNvSpPr/>
      </dsp:nvSpPr>
      <dsp:spPr>
        <a:xfrm>
          <a:off x="6692236" y="1741905"/>
          <a:ext cx="2002838" cy="200294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79DD02-2289-45FA-85D6-87B43C4493E3}">
      <dsp:nvSpPr>
        <dsp:cNvPr id="0" name=""/>
        <dsp:cNvSpPr/>
      </dsp:nvSpPr>
      <dsp:spPr>
        <a:xfrm>
          <a:off x="6759226" y="1808681"/>
          <a:ext cx="1869716" cy="1869388"/>
        </a:xfrm>
        <a:prstGeom prst="ellipse">
          <a:avLst/>
        </a:prstGeom>
        <a:solidFill>
          <a:srgbClr val="CCFF99"/>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rgbClr val="7030A0"/>
              </a:solidFill>
            </a:rPr>
            <a:t>Well Cost</a:t>
          </a:r>
        </a:p>
      </dsp:txBody>
      <dsp:txXfrm>
        <a:off x="7026329" y="2075787"/>
        <a:ext cx="1335512" cy="1335176"/>
      </dsp:txXfrm>
    </dsp:sp>
    <dsp:sp modelId="{92C44062-60E7-4618-8F1B-421E18F0AD80}">
      <dsp:nvSpPr>
        <dsp:cNvPr id="0" name=""/>
        <dsp:cNvSpPr/>
      </dsp:nvSpPr>
      <dsp:spPr>
        <a:xfrm rot="2700000">
          <a:off x="4613802" y="1741764"/>
          <a:ext cx="2002871" cy="2002871"/>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B3FB92-2C82-4815-A6E5-5DC4A920491E}">
      <dsp:nvSpPr>
        <dsp:cNvPr id="0" name=""/>
        <dsp:cNvSpPr/>
      </dsp:nvSpPr>
      <dsp:spPr>
        <a:xfrm>
          <a:off x="4689397" y="1808681"/>
          <a:ext cx="1869716" cy="1869388"/>
        </a:xfrm>
        <a:prstGeom prst="ellipse">
          <a:avLst/>
        </a:prstGeom>
        <a:solidFill>
          <a:srgbClr val="FFFFFF"/>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Drilling Operation</a:t>
          </a:r>
        </a:p>
      </dsp:txBody>
      <dsp:txXfrm>
        <a:off x="4956500" y="2075787"/>
        <a:ext cx="1335512" cy="1335176"/>
      </dsp:txXfrm>
    </dsp:sp>
    <dsp:sp modelId="{9E1C4520-8FE5-4DD8-ABE4-86ED9F98665B}">
      <dsp:nvSpPr>
        <dsp:cNvPr id="0" name=""/>
        <dsp:cNvSpPr/>
      </dsp:nvSpPr>
      <dsp:spPr>
        <a:xfrm rot="2700000">
          <a:off x="2552562" y="1741764"/>
          <a:ext cx="2002871" cy="2002871"/>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573667-E93C-4493-8C39-2FC7CEA6A590}">
      <dsp:nvSpPr>
        <dsp:cNvPr id="0" name=""/>
        <dsp:cNvSpPr/>
      </dsp:nvSpPr>
      <dsp:spPr>
        <a:xfrm>
          <a:off x="2619568" y="1808681"/>
          <a:ext cx="1869716" cy="1869388"/>
        </a:xfrm>
        <a:prstGeom prst="ellipse">
          <a:avLst/>
        </a:prstGeom>
        <a:solidFill>
          <a:srgbClr val="FFFF99">
            <a:alpha val="89804"/>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rgbClr val="00B050"/>
              </a:solidFill>
            </a:rPr>
            <a:t>Procurement Process</a:t>
          </a:r>
        </a:p>
      </dsp:txBody>
      <dsp:txXfrm>
        <a:off x="2886671" y="2075787"/>
        <a:ext cx="1335512" cy="1335176"/>
      </dsp:txXfrm>
    </dsp:sp>
    <dsp:sp modelId="{ED0E750E-131D-4BCB-9A45-3130AF9567C8}">
      <dsp:nvSpPr>
        <dsp:cNvPr id="0" name=""/>
        <dsp:cNvSpPr/>
      </dsp:nvSpPr>
      <dsp:spPr>
        <a:xfrm rot="2700000">
          <a:off x="482733" y="1741764"/>
          <a:ext cx="2002871" cy="2002871"/>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FCE92C-C896-4495-9C3A-D9724C26B732}">
      <dsp:nvSpPr>
        <dsp:cNvPr id="0" name=""/>
        <dsp:cNvSpPr/>
      </dsp:nvSpPr>
      <dsp:spPr>
        <a:xfrm>
          <a:off x="549740" y="1808681"/>
          <a:ext cx="1869716" cy="1869388"/>
        </a:xfrm>
        <a:prstGeom prst="ellipse">
          <a:avLst/>
        </a:prstGeom>
        <a:solidFill>
          <a:srgbClr val="CCFF33"/>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0000"/>
              </a:solidFill>
            </a:rPr>
            <a:t>Well Design &amp; Planning </a:t>
          </a:r>
        </a:p>
      </dsp:txBody>
      <dsp:txXfrm>
        <a:off x="816842" y="2075787"/>
        <a:ext cx="1335512" cy="13351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E6BD6E-2ED3-454E-9753-4DAF074C0FB3}">
      <dsp:nvSpPr>
        <dsp:cNvPr id="0" name=""/>
        <dsp:cNvSpPr/>
      </dsp:nvSpPr>
      <dsp:spPr>
        <a:xfrm>
          <a:off x="10179" y="0"/>
          <a:ext cx="3042642" cy="160020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solidFill>
                <a:srgbClr val="002060"/>
              </a:solidFill>
            </a:rPr>
            <a:t>Pre Drilling</a:t>
          </a:r>
        </a:p>
        <a:p>
          <a:pPr marL="0" lvl="0" indent="0" algn="ctr" defTabSz="1511300">
            <a:lnSpc>
              <a:spcPct val="90000"/>
            </a:lnSpc>
            <a:spcBef>
              <a:spcPct val="0"/>
            </a:spcBef>
            <a:spcAft>
              <a:spcPct val="35000"/>
            </a:spcAft>
            <a:buNone/>
          </a:pPr>
          <a:endParaRPr lang="en-US" sz="3400" kern="1200" dirty="0">
            <a:solidFill>
              <a:schemeClr val="accent6">
                <a:lumMod val="75000"/>
              </a:schemeClr>
            </a:solidFill>
          </a:endParaRPr>
        </a:p>
      </dsp:txBody>
      <dsp:txXfrm>
        <a:off x="57047" y="46868"/>
        <a:ext cx="2948906" cy="1506464"/>
      </dsp:txXfrm>
    </dsp:sp>
    <dsp:sp modelId="{701226F9-1DB9-4878-AAB0-607C847A892E}">
      <dsp:nvSpPr>
        <dsp:cNvPr id="0" name=""/>
        <dsp:cNvSpPr/>
      </dsp:nvSpPr>
      <dsp:spPr>
        <a:xfrm>
          <a:off x="3357086" y="422812"/>
          <a:ext cx="645040" cy="754575"/>
        </a:xfrm>
        <a:prstGeom prst="rightArrow">
          <a:avLst>
            <a:gd name="adj1" fmla="val 60000"/>
            <a:gd name="adj2" fmla="val 50000"/>
          </a:avLst>
        </a:prstGeom>
        <a:solidFill>
          <a:schemeClr val="accent2">
            <a:lumMod val="7500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solidFill>
              <a:schemeClr val="accent6">
                <a:lumMod val="75000"/>
              </a:schemeClr>
            </a:solidFill>
          </a:endParaRPr>
        </a:p>
      </dsp:txBody>
      <dsp:txXfrm>
        <a:off x="3357086" y="573727"/>
        <a:ext cx="451528" cy="452745"/>
      </dsp:txXfrm>
    </dsp:sp>
    <dsp:sp modelId="{8FC4075B-DC1B-4F1E-BD8F-DED4E2E9C8F5}">
      <dsp:nvSpPr>
        <dsp:cNvPr id="0" name=""/>
        <dsp:cNvSpPr/>
      </dsp:nvSpPr>
      <dsp:spPr>
        <a:xfrm>
          <a:off x="4269878" y="0"/>
          <a:ext cx="3042642" cy="1600200"/>
        </a:xfrm>
        <a:prstGeom prst="roundRect">
          <a:avLst>
            <a:gd name="adj" fmla="val 10000"/>
          </a:avLst>
        </a:prstGeom>
        <a:solidFill>
          <a:srgbClr val="FFC0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solidFill>
                <a:schemeClr val="accent6">
                  <a:lumMod val="75000"/>
                </a:schemeClr>
              </a:solidFill>
            </a:rPr>
            <a:t>Drilling Execution</a:t>
          </a:r>
        </a:p>
      </dsp:txBody>
      <dsp:txXfrm>
        <a:off x="4316746" y="46868"/>
        <a:ext cx="2948906" cy="1506464"/>
      </dsp:txXfrm>
    </dsp:sp>
    <dsp:sp modelId="{F4126C27-8682-4203-B466-FD9719559965}">
      <dsp:nvSpPr>
        <dsp:cNvPr id="0" name=""/>
        <dsp:cNvSpPr/>
      </dsp:nvSpPr>
      <dsp:spPr>
        <a:xfrm>
          <a:off x="7616785" y="422812"/>
          <a:ext cx="645040" cy="754575"/>
        </a:xfrm>
        <a:prstGeom prst="rightArrow">
          <a:avLst>
            <a:gd name="adj1" fmla="val 60000"/>
            <a:gd name="adj2" fmla="val 50000"/>
          </a:avLst>
        </a:prstGeom>
        <a:solidFill>
          <a:schemeClr val="accent4">
            <a:lumMod val="7500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solidFill>
              <a:schemeClr val="accent6">
                <a:lumMod val="75000"/>
              </a:schemeClr>
            </a:solidFill>
          </a:endParaRPr>
        </a:p>
      </dsp:txBody>
      <dsp:txXfrm>
        <a:off x="7616785" y="573727"/>
        <a:ext cx="451528" cy="452745"/>
      </dsp:txXfrm>
    </dsp:sp>
    <dsp:sp modelId="{143DAE12-60DE-49D4-B17C-E29E6E8A02A0}">
      <dsp:nvSpPr>
        <dsp:cNvPr id="0" name=""/>
        <dsp:cNvSpPr/>
      </dsp:nvSpPr>
      <dsp:spPr>
        <a:xfrm>
          <a:off x="8529577" y="0"/>
          <a:ext cx="3042642" cy="1600200"/>
        </a:xfrm>
        <a:prstGeom prst="roundRect">
          <a:avLst>
            <a:gd name="adj" fmla="val 10000"/>
          </a:avLst>
        </a:prstGeom>
        <a:solidFill>
          <a:srgbClr val="FFFF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solidFill>
                <a:schemeClr val="accent6">
                  <a:lumMod val="75000"/>
                </a:schemeClr>
              </a:solidFill>
            </a:rPr>
            <a:t>Post Drilling</a:t>
          </a:r>
        </a:p>
      </dsp:txBody>
      <dsp:txXfrm>
        <a:off x="8576445" y="46868"/>
        <a:ext cx="2948906" cy="15064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04FE75-50FA-4663-A9F5-90FB1C0061AE}">
      <dsp:nvSpPr>
        <dsp:cNvPr id="0" name=""/>
        <dsp:cNvSpPr/>
      </dsp:nvSpPr>
      <dsp:spPr>
        <a:xfrm>
          <a:off x="2277715" y="0"/>
          <a:ext cx="5418667" cy="5418667"/>
        </a:xfrm>
        <a:prstGeom prst="ellipse">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rgbClr val="FF0000"/>
              </a:solidFill>
            </a:rPr>
            <a:t>High Cost </a:t>
          </a:r>
          <a:endParaRPr lang="en-ID" sz="3200" b="1" kern="1200" dirty="0">
            <a:solidFill>
              <a:srgbClr val="FF0000"/>
            </a:solidFill>
          </a:endParaRPr>
        </a:p>
      </dsp:txBody>
      <dsp:txXfrm>
        <a:off x="4229519" y="270933"/>
        <a:ext cx="1515059" cy="812800"/>
      </dsp:txXfrm>
    </dsp:sp>
    <dsp:sp modelId="{92618EC8-7D45-464A-89D9-DA7C9DB0A96D}">
      <dsp:nvSpPr>
        <dsp:cNvPr id="0" name=""/>
        <dsp:cNvSpPr/>
      </dsp:nvSpPr>
      <dsp:spPr>
        <a:xfrm>
          <a:off x="2813296" y="1083733"/>
          <a:ext cx="4334933" cy="4334933"/>
        </a:xfrm>
        <a:prstGeom prst="ellipse">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accent5">
                  <a:lumMod val="50000"/>
                </a:schemeClr>
              </a:solidFill>
            </a:rPr>
            <a:t>Unqualified Contractor, Project delay</a:t>
          </a:r>
          <a:endParaRPr lang="en-ID" sz="1600" b="1" kern="1200" dirty="0">
            <a:solidFill>
              <a:schemeClr val="accent5">
                <a:lumMod val="50000"/>
              </a:schemeClr>
            </a:solidFill>
          </a:endParaRPr>
        </a:p>
      </dsp:txBody>
      <dsp:txXfrm>
        <a:off x="4223233" y="1343829"/>
        <a:ext cx="1515059" cy="780288"/>
      </dsp:txXfrm>
    </dsp:sp>
    <dsp:sp modelId="{F374889E-100F-4E13-A48E-EC69EC6EF0F6}">
      <dsp:nvSpPr>
        <dsp:cNvPr id="0" name=""/>
        <dsp:cNvSpPr/>
      </dsp:nvSpPr>
      <dsp:spPr>
        <a:xfrm>
          <a:off x="3355162" y="2167466"/>
          <a:ext cx="3251200" cy="3251200"/>
        </a:xfrm>
        <a:prstGeom prst="ellipse">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accent5">
                  <a:lumMod val="50000"/>
                </a:schemeClr>
              </a:solidFill>
            </a:rPr>
            <a:t>Conflict of Interest</a:t>
          </a:r>
          <a:endParaRPr lang="en-ID" sz="2000" b="1" kern="1200" dirty="0">
            <a:solidFill>
              <a:schemeClr val="accent5">
                <a:lumMod val="50000"/>
              </a:schemeClr>
            </a:solidFill>
          </a:endParaRPr>
        </a:p>
      </dsp:txBody>
      <dsp:txXfrm>
        <a:off x="4223233" y="2411306"/>
        <a:ext cx="1515059" cy="731520"/>
      </dsp:txXfrm>
    </dsp:sp>
    <dsp:sp modelId="{C3541D29-5150-4837-9865-2A5CFE171740}">
      <dsp:nvSpPr>
        <dsp:cNvPr id="0" name=""/>
        <dsp:cNvSpPr/>
      </dsp:nvSpPr>
      <dsp:spPr>
        <a:xfrm>
          <a:off x="3897029" y="3251200"/>
          <a:ext cx="2167466" cy="2167466"/>
        </a:xfrm>
        <a:prstGeom prst="ellipse">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b="1" kern="1200" dirty="0"/>
            <a:t>Tidak </a:t>
          </a:r>
          <a:r>
            <a:rPr lang="en-US" sz="3200" b="1" kern="1200" dirty="0" err="1"/>
            <a:t>Jujur</a:t>
          </a:r>
          <a:endParaRPr lang="en-ID" sz="3200" b="1" kern="1200" dirty="0"/>
        </a:p>
      </dsp:txBody>
      <dsp:txXfrm>
        <a:off x="4214447" y="3793066"/>
        <a:ext cx="1532630" cy="108373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68448-C1D1-4528-8362-12F4C2F5FC08}">
      <dsp:nvSpPr>
        <dsp:cNvPr id="0" name=""/>
        <dsp:cNvSpPr/>
      </dsp:nvSpPr>
      <dsp:spPr>
        <a:xfrm>
          <a:off x="1511816" y="0"/>
          <a:ext cx="1511816" cy="1410483"/>
        </a:xfrm>
        <a:prstGeom prst="trapezoid">
          <a:avLst>
            <a:gd name="adj" fmla="val 53592"/>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D" sz="1600" kern="1200" dirty="0"/>
            <a:t>Drilling </a:t>
          </a:r>
        </a:p>
        <a:p>
          <a:pPr marL="0" lvl="0" indent="0" algn="ctr" defTabSz="711200">
            <a:lnSpc>
              <a:spcPct val="90000"/>
            </a:lnSpc>
            <a:spcBef>
              <a:spcPct val="0"/>
            </a:spcBef>
            <a:spcAft>
              <a:spcPct val="35000"/>
            </a:spcAft>
            <a:buNone/>
          </a:pPr>
          <a:r>
            <a:rPr lang="en-ID" sz="1600" kern="1200" dirty="0"/>
            <a:t>Manager</a:t>
          </a:r>
        </a:p>
      </dsp:txBody>
      <dsp:txXfrm>
        <a:off x="1511816" y="0"/>
        <a:ext cx="1511816" cy="1410483"/>
      </dsp:txXfrm>
    </dsp:sp>
    <dsp:sp modelId="{E9740FEA-D231-424A-B48E-15A9220956DB}">
      <dsp:nvSpPr>
        <dsp:cNvPr id="0" name=""/>
        <dsp:cNvSpPr/>
      </dsp:nvSpPr>
      <dsp:spPr>
        <a:xfrm>
          <a:off x="755908" y="1410483"/>
          <a:ext cx="3023633" cy="1410483"/>
        </a:xfrm>
        <a:prstGeom prst="trapezoid">
          <a:avLst>
            <a:gd name="adj" fmla="val 53592"/>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D" sz="1600" kern="1200" dirty="0"/>
            <a:t>Drilling Manager</a:t>
          </a:r>
        </a:p>
        <a:p>
          <a:pPr marL="0" lvl="0" indent="0" algn="ctr" defTabSz="711200">
            <a:lnSpc>
              <a:spcPct val="90000"/>
            </a:lnSpc>
            <a:spcBef>
              <a:spcPct val="0"/>
            </a:spcBef>
            <a:spcAft>
              <a:spcPct val="35000"/>
            </a:spcAft>
            <a:buNone/>
          </a:pPr>
          <a:r>
            <a:rPr lang="en-ID" sz="1600" kern="1200" dirty="0"/>
            <a:t>+</a:t>
          </a:r>
        </a:p>
        <a:p>
          <a:pPr marL="0" lvl="0" indent="0" algn="ctr" defTabSz="711200">
            <a:lnSpc>
              <a:spcPct val="90000"/>
            </a:lnSpc>
            <a:spcBef>
              <a:spcPct val="0"/>
            </a:spcBef>
            <a:spcAft>
              <a:spcPct val="35000"/>
            </a:spcAft>
            <a:buNone/>
          </a:pPr>
          <a:r>
            <a:rPr lang="en-ID" sz="1600" kern="1200" dirty="0"/>
            <a:t>Drilling Engineering</a:t>
          </a:r>
        </a:p>
      </dsp:txBody>
      <dsp:txXfrm>
        <a:off x="1285044" y="1410483"/>
        <a:ext cx="1965361" cy="1410483"/>
      </dsp:txXfrm>
    </dsp:sp>
    <dsp:sp modelId="{86196E7C-F4D1-4735-A01B-F099162D2C37}">
      <dsp:nvSpPr>
        <dsp:cNvPr id="0" name=""/>
        <dsp:cNvSpPr/>
      </dsp:nvSpPr>
      <dsp:spPr>
        <a:xfrm>
          <a:off x="0" y="2820967"/>
          <a:ext cx="4535450" cy="1410483"/>
        </a:xfrm>
        <a:prstGeom prst="trapezoid">
          <a:avLst>
            <a:gd name="adj" fmla="val 53592"/>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D" sz="1600" kern="1200" dirty="0"/>
            <a:t>All Drilling Office Personnel: Engineering, Operation, Support and HSE</a:t>
          </a:r>
        </a:p>
      </dsp:txBody>
      <dsp:txXfrm>
        <a:off x="793703" y="2820967"/>
        <a:ext cx="2948042" cy="141048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D9CEA-95C4-4648-A18D-1D3F049087EE}">
      <dsp:nvSpPr>
        <dsp:cNvPr id="0" name=""/>
        <dsp:cNvSpPr/>
      </dsp:nvSpPr>
      <dsp:spPr>
        <a:xfrm>
          <a:off x="878" y="1477125"/>
          <a:ext cx="1828462" cy="91423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Drilling </a:t>
          </a:r>
          <a:endParaRPr lang="en-ID" sz="2700" kern="1200" dirty="0"/>
        </a:p>
      </dsp:txBody>
      <dsp:txXfrm>
        <a:off x="27655" y="1503902"/>
        <a:ext cx="1774908" cy="860677"/>
      </dsp:txXfrm>
    </dsp:sp>
    <dsp:sp modelId="{AF28F2BA-E29E-4495-838D-BDADD1D5091A}">
      <dsp:nvSpPr>
        <dsp:cNvPr id="0" name=""/>
        <dsp:cNvSpPr/>
      </dsp:nvSpPr>
      <dsp:spPr>
        <a:xfrm rot="19457599">
          <a:off x="1744681" y="1650130"/>
          <a:ext cx="900703" cy="42539"/>
        </a:xfrm>
        <a:custGeom>
          <a:avLst/>
          <a:gdLst/>
          <a:ahLst/>
          <a:cxnLst/>
          <a:rect l="0" t="0" r="0" b="0"/>
          <a:pathLst>
            <a:path>
              <a:moveTo>
                <a:pt x="0" y="21269"/>
              </a:moveTo>
              <a:lnTo>
                <a:pt x="900703" y="212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2172515" y="1648881"/>
        <a:ext cx="45035" cy="45035"/>
      </dsp:txXfrm>
    </dsp:sp>
    <dsp:sp modelId="{5CA7CE79-FA12-4CE2-BA7F-0AB8C0DC44E2}">
      <dsp:nvSpPr>
        <dsp:cNvPr id="0" name=""/>
        <dsp:cNvSpPr/>
      </dsp:nvSpPr>
      <dsp:spPr>
        <a:xfrm>
          <a:off x="2560725" y="951442"/>
          <a:ext cx="1828462" cy="914231"/>
        </a:xfrm>
        <a:prstGeom prst="roundRect">
          <a:avLst>
            <a:gd name="adj" fmla="val 10000"/>
          </a:avLst>
        </a:prstGeom>
        <a:solidFill>
          <a:srgbClr val="339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Office</a:t>
          </a:r>
          <a:endParaRPr lang="en-ID" sz="2700" kern="1200" dirty="0"/>
        </a:p>
      </dsp:txBody>
      <dsp:txXfrm>
        <a:off x="2587502" y="978219"/>
        <a:ext cx="1774908" cy="860677"/>
      </dsp:txXfrm>
    </dsp:sp>
    <dsp:sp modelId="{E36CF25A-8E00-4EB4-A062-BB65C50CD6C8}">
      <dsp:nvSpPr>
        <dsp:cNvPr id="0" name=""/>
        <dsp:cNvSpPr/>
      </dsp:nvSpPr>
      <dsp:spPr>
        <a:xfrm>
          <a:off x="4389187" y="1387288"/>
          <a:ext cx="731384" cy="42539"/>
        </a:xfrm>
        <a:custGeom>
          <a:avLst/>
          <a:gdLst/>
          <a:ahLst/>
          <a:cxnLst/>
          <a:rect l="0" t="0" r="0" b="0"/>
          <a:pathLst>
            <a:path>
              <a:moveTo>
                <a:pt x="0" y="21269"/>
              </a:moveTo>
              <a:lnTo>
                <a:pt x="731384" y="21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4736595" y="1390273"/>
        <a:ext cx="36569" cy="36569"/>
      </dsp:txXfrm>
    </dsp:sp>
    <dsp:sp modelId="{9494280C-A862-4533-93CC-7943F39A5D74}">
      <dsp:nvSpPr>
        <dsp:cNvPr id="0" name=""/>
        <dsp:cNvSpPr/>
      </dsp:nvSpPr>
      <dsp:spPr>
        <a:xfrm>
          <a:off x="5120572" y="951442"/>
          <a:ext cx="1828462" cy="914231"/>
        </a:xfrm>
        <a:prstGeom prst="roundRect">
          <a:avLst>
            <a:gd name="adj" fmla="val 10000"/>
          </a:avLst>
        </a:prstGeom>
        <a:solidFill>
          <a:srgbClr val="FFFF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chemeClr val="tx2"/>
              </a:solidFill>
            </a:rPr>
            <a:t>Permanent Employee</a:t>
          </a:r>
          <a:endParaRPr lang="en-ID" sz="2700" kern="1200" dirty="0">
            <a:solidFill>
              <a:schemeClr val="tx2"/>
            </a:solidFill>
          </a:endParaRPr>
        </a:p>
      </dsp:txBody>
      <dsp:txXfrm>
        <a:off x="5147349" y="978219"/>
        <a:ext cx="1774908" cy="860677"/>
      </dsp:txXfrm>
    </dsp:sp>
    <dsp:sp modelId="{E2223655-EBA7-48F8-81B6-73705D97FCB9}">
      <dsp:nvSpPr>
        <dsp:cNvPr id="0" name=""/>
        <dsp:cNvSpPr/>
      </dsp:nvSpPr>
      <dsp:spPr>
        <a:xfrm>
          <a:off x="6949034" y="1387288"/>
          <a:ext cx="731384" cy="42539"/>
        </a:xfrm>
        <a:custGeom>
          <a:avLst/>
          <a:gdLst/>
          <a:ahLst/>
          <a:cxnLst/>
          <a:rect l="0" t="0" r="0" b="0"/>
          <a:pathLst>
            <a:path>
              <a:moveTo>
                <a:pt x="0" y="21269"/>
              </a:moveTo>
              <a:lnTo>
                <a:pt x="731384" y="21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7296442" y="1390273"/>
        <a:ext cx="36569" cy="36569"/>
      </dsp:txXfrm>
    </dsp:sp>
    <dsp:sp modelId="{4010CAF6-1E3D-401B-B166-641F61E6139F}">
      <dsp:nvSpPr>
        <dsp:cNvPr id="0" name=""/>
        <dsp:cNvSpPr/>
      </dsp:nvSpPr>
      <dsp:spPr>
        <a:xfrm>
          <a:off x="7680419" y="951442"/>
          <a:ext cx="1828462" cy="914231"/>
        </a:xfrm>
        <a:prstGeom prst="roundRect">
          <a:avLst>
            <a:gd name="adj" fmla="val 10000"/>
          </a:avLst>
        </a:prstGeom>
        <a:solidFill>
          <a:srgbClr val="FF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chemeClr val="tx2"/>
              </a:solidFill>
            </a:rPr>
            <a:t>By HRD</a:t>
          </a:r>
          <a:endParaRPr lang="en-ID" sz="2700" kern="1200" dirty="0">
            <a:solidFill>
              <a:schemeClr val="tx2"/>
            </a:solidFill>
          </a:endParaRPr>
        </a:p>
      </dsp:txBody>
      <dsp:txXfrm>
        <a:off x="7707196" y="978219"/>
        <a:ext cx="1774908" cy="860677"/>
      </dsp:txXfrm>
    </dsp:sp>
    <dsp:sp modelId="{7A5A3C8F-D9B0-4492-B707-C7015A078A9B}">
      <dsp:nvSpPr>
        <dsp:cNvPr id="0" name=""/>
        <dsp:cNvSpPr/>
      </dsp:nvSpPr>
      <dsp:spPr>
        <a:xfrm rot="2142401">
          <a:off x="1744681" y="2175812"/>
          <a:ext cx="900703" cy="42539"/>
        </a:xfrm>
        <a:custGeom>
          <a:avLst/>
          <a:gdLst/>
          <a:ahLst/>
          <a:cxnLst/>
          <a:rect l="0" t="0" r="0" b="0"/>
          <a:pathLst>
            <a:path>
              <a:moveTo>
                <a:pt x="0" y="21269"/>
              </a:moveTo>
              <a:lnTo>
                <a:pt x="900703" y="212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2172515" y="2174564"/>
        <a:ext cx="45035" cy="45035"/>
      </dsp:txXfrm>
    </dsp:sp>
    <dsp:sp modelId="{4CE73C85-003A-46A6-AA32-F8E4D4A46868}">
      <dsp:nvSpPr>
        <dsp:cNvPr id="0" name=""/>
        <dsp:cNvSpPr/>
      </dsp:nvSpPr>
      <dsp:spPr>
        <a:xfrm>
          <a:off x="2560725" y="2002808"/>
          <a:ext cx="1828462" cy="914231"/>
        </a:xfrm>
        <a:prstGeom prst="roundRect">
          <a:avLst>
            <a:gd name="adj" fmla="val 10000"/>
          </a:avLst>
        </a:prstGeom>
        <a:solidFill>
          <a:srgbClr val="339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Wellsite</a:t>
          </a:r>
          <a:endParaRPr lang="en-ID" sz="2700" kern="1200" dirty="0"/>
        </a:p>
      </dsp:txBody>
      <dsp:txXfrm>
        <a:off x="2587502" y="2029585"/>
        <a:ext cx="1774908" cy="860677"/>
      </dsp:txXfrm>
    </dsp:sp>
    <dsp:sp modelId="{E39E62B5-E0DF-48A9-AA72-34ACCD7F6167}">
      <dsp:nvSpPr>
        <dsp:cNvPr id="0" name=""/>
        <dsp:cNvSpPr/>
      </dsp:nvSpPr>
      <dsp:spPr>
        <a:xfrm>
          <a:off x="4389187" y="2438654"/>
          <a:ext cx="731384" cy="42539"/>
        </a:xfrm>
        <a:custGeom>
          <a:avLst/>
          <a:gdLst/>
          <a:ahLst/>
          <a:cxnLst/>
          <a:rect l="0" t="0" r="0" b="0"/>
          <a:pathLst>
            <a:path>
              <a:moveTo>
                <a:pt x="0" y="21269"/>
              </a:moveTo>
              <a:lnTo>
                <a:pt x="731384" y="21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4736595" y="2441639"/>
        <a:ext cx="36569" cy="36569"/>
      </dsp:txXfrm>
    </dsp:sp>
    <dsp:sp modelId="{110510AB-9BCF-4B0C-978F-DB10344CC076}">
      <dsp:nvSpPr>
        <dsp:cNvPr id="0" name=""/>
        <dsp:cNvSpPr/>
      </dsp:nvSpPr>
      <dsp:spPr>
        <a:xfrm>
          <a:off x="5120572" y="2002808"/>
          <a:ext cx="1828462" cy="914231"/>
        </a:xfrm>
        <a:prstGeom prst="roundRect">
          <a:avLst>
            <a:gd name="adj" fmla="val 10000"/>
          </a:avLst>
        </a:prstGeom>
        <a:solidFill>
          <a:srgbClr val="FFFF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chemeClr val="tx2"/>
              </a:solidFill>
            </a:rPr>
            <a:t>Consultant</a:t>
          </a:r>
          <a:endParaRPr lang="en-ID" sz="2700" kern="1200" dirty="0">
            <a:solidFill>
              <a:schemeClr val="tx2"/>
            </a:solidFill>
          </a:endParaRPr>
        </a:p>
      </dsp:txBody>
      <dsp:txXfrm>
        <a:off x="5147349" y="2029585"/>
        <a:ext cx="1774908" cy="860677"/>
      </dsp:txXfrm>
    </dsp:sp>
    <dsp:sp modelId="{E9B10384-3CC5-4094-A738-3357049AED71}">
      <dsp:nvSpPr>
        <dsp:cNvPr id="0" name=""/>
        <dsp:cNvSpPr/>
      </dsp:nvSpPr>
      <dsp:spPr>
        <a:xfrm>
          <a:off x="6949034" y="2438654"/>
          <a:ext cx="731384" cy="42539"/>
        </a:xfrm>
        <a:custGeom>
          <a:avLst/>
          <a:gdLst/>
          <a:ahLst/>
          <a:cxnLst/>
          <a:rect l="0" t="0" r="0" b="0"/>
          <a:pathLst>
            <a:path>
              <a:moveTo>
                <a:pt x="0" y="21269"/>
              </a:moveTo>
              <a:lnTo>
                <a:pt x="731384" y="21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7296442" y="2441639"/>
        <a:ext cx="36569" cy="36569"/>
      </dsp:txXfrm>
    </dsp:sp>
    <dsp:sp modelId="{B9A3292A-EF89-4F72-AC57-61A1366D418F}">
      <dsp:nvSpPr>
        <dsp:cNvPr id="0" name=""/>
        <dsp:cNvSpPr/>
      </dsp:nvSpPr>
      <dsp:spPr>
        <a:xfrm>
          <a:off x="7680419" y="2002808"/>
          <a:ext cx="1828462" cy="914231"/>
        </a:xfrm>
        <a:prstGeom prst="roundRect">
          <a:avLst>
            <a:gd name="adj" fmla="val 10000"/>
          </a:avLst>
        </a:prstGeom>
        <a:solidFill>
          <a:srgbClr val="FF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chemeClr val="tx2"/>
              </a:solidFill>
            </a:rPr>
            <a:t>Labor Supply</a:t>
          </a:r>
          <a:endParaRPr lang="en-ID" sz="2700" kern="1200" dirty="0">
            <a:solidFill>
              <a:schemeClr val="tx2"/>
            </a:solidFill>
          </a:endParaRPr>
        </a:p>
      </dsp:txBody>
      <dsp:txXfrm>
        <a:off x="7707196" y="2029585"/>
        <a:ext cx="1774908" cy="86067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D9CEA-95C4-4648-A18D-1D3F049087EE}">
      <dsp:nvSpPr>
        <dsp:cNvPr id="0" name=""/>
        <dsp:cNvSpPr/>
      </dsp:nvSpPr>
      <dsp:spPr>
        <a:xfrm>
          <a:off x="463246" y="1949403"/>
          <a:ext cx="2258754" cy="11293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dirty="0"/>
            <a:t>Drilling </a:t>
          </a:r>
          <a:endParaRPr lang="en-ID" sz="3300" kern="1200" dirty="0"/>
        </a:p>
      </dsp:txBody>
      <dsp:txXfrm>
        <a:off x="496324" y="1982481"/>
        <a:ext cx="2192598" cy="1063221"/>
      </dsp:txXfrm>
    </dsp:sp>
    <dsp:sp modelId="{AF28F2BA-E29E-4495-838D-BDADD1D5091A}">
      <dsp:nvSpPr>
        <dsp:cNvPr id="0" name=""/>
        <dsp:cNvSpPr/>
      </dsp:nvSpPr>
      <dsp:spPr>
        <a:xfrm rot="18289469">
          <a:off x="2382683" y="1844485"/>
          <a:ext cx="1582136" cy="40429"/>
        </a:xfrm>
        <a:custGeom>
          <a:avLst/>
          <a:gdLst/>
          <a:ahLst/>
          <a:cxnLst/>
          <a:rect l="0" t="0" r="0" b="0"/>
          <a:pathLst>
            <a:path>
              <a:moveTo>
                <a:pt x="0" y="20214"/>
              </a:moveTo>
              <a:lnTo>
                <a:pt x="1582136"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3134198" y="1825146"/>
        <a:ext cx="79106" cy="79106"/>
      </dsp:txXfrm>
    </dsp:sp>
    <dsp:sp modelId="{5CA7CE79-FA12-4CE2-BA7F-0AB8C0DC44E2}">
      <dsp:nvSpPr>
        <dsp:cNvPr id="0" name=""/>
        <dsp:cNvSpPr/>
      </dsp:nvSpPr>
      <dsp:spPr>
        <a:xfrm>
          <a:off x="3625502" y="650619"/>
          <a:ext cx="2258754" cy="11293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dirty="0"/>
            <a:t>Office Personnel</a:t>
          </a:r>
          <a:endParaRPr lang="en-ID" sz="3300" kern="1200" dirty="0"/>
        </a:p>
      </dsp:txBody>
      <dsp:txXfrm>
        <a:off x="3658580" y="683697"/>
        <a:ext cx="2192598" cy="1063221"/>
      </dsp:txXfrm>
    </dsp:sp>
    <dsp:sp modelId="{E2223655-EBA7-48F8-81B6-73705D97FCB9}">
      <dsp:nvSpPr>
        <dsp:cNvPr id="0" name=""/>
        <dsp:cNvSpPr/>
      </dsp:nvSpPr>
      <dsp:spPr>
        <a:xfrm rot="19457599">
          <a:off x="5779675" y="870397"/>
          <a:ext cx="1112665" cy="40429"/>
        </a:xfrm>
        <a:custGeom>
          <a:avLst/>
          <a:gdLst/>
          <a:ahLst/>
          <a:cxnLst/>
          <a:rect l="0" t="0" r="0" b="0"/>
          <a:pathLst>
            <a:path>
              <a:moveTo>
                <a:pt x="0" y="20214"/>
              </a:moveTo>
              <a:lnTo>
                <a:pt x="1112665" y="202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6308191" y="862795"/>
        <a:ext cx="55633" cy="55633"/>
      </dsp:txXfrm>
    </dsp:sp>
    <dsp:sp modelId="{4010CAF6-1E3D-401B-B166-641F61E6139F}">
      <dsp:nvSpPr>
        <dsp:cNvPr id="0" name=""/>
        <dsp:cNvSpPr/>
      </dsp:nvSpPr>
      <dsp:spPr>
        <a:xfrm>
          <a:off x="6787759" y="1227"/>
          <a:ext cx="2258754" cy="1129377"/>
        </a:xfrm>
        <a:prstGeom prst="roundRect">
          <a:avLst>
            <a:gd name="adj" fmla="val 10000"/>
          </a:avLst>
        </a:prstGeom>
        <a:solidFill>
          <a:srgbClr val="66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dirty="0">
              <a:solidFill>
                <a:srgbClr val="002060"/>
              </a:solidFill>
            </a:rPr>
            <a:t>Permanent</a:t>
          </a:r>
          <a:endParaRPr lang="en-ID" sz="3300" kern="1200" dirty="0">
            <a:solidFill>
              <a:srgbClr val="002060"/>
            </a:solidFill>
          </a:endParaRPr>
        </a:p>
      </dsp:txBody>
      <dsp:txXfrm>
        <a:off x="6820837" y="34305"/>
        <a:ext cx="2192598" cy="1063221"/>
      </dsp:txXfrm>
    </dsp:sp>
    <dsp:sp modelId="{5A357E26-92C0-433E-8F2B-02892140B543}">
      <dsp:nvSpPr>
        <dsp:cNvPr id="0" name=""/>
        <dsp:cNvSpPr/>
      </dsp:nvSpPr>
      <dsp:spPr>
        <a:xfrm rot="2142401">
          <a:off x="5779675" y="1519789"/>
          <a:ext cx="1112665" cy="40429"/>
        </a:xfrm>
        <a:custGeom>
          <a:avLst/>
          <a:gdLst/>
          <a:ahLst/>
          <a:cxnLst/>
          <a:rect l="0" t="0" r="0" b="0"/>
          <a:pathLst>
            <a:path>
              <a:moveTo>
                <a:pt x="0" y="20214"/>
              </a:moveTo>
              <a:lnTo>
                <a:pt x="1112665" y="202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6308191" y="1512187"/>
        <a:ext cx="55633" cy="55633"/>
      </dsp:txXfrm>
    </dsp:sp>
    <dsp:sp modelId="{99540F2E-A3A0-4BE6-BC35-861568543784}">
      <dsp:nvSpPr>
        <dsp:cNvPr id="0" name=""/>
        <dsp:cNvSpPr/>
      </dsp:nvSpPr>
      <dsp:spPr>
        <a:xfrm>
          <a:off x="6787759" y="1300011"/>
          <a:ext cx="2258754" cy="1129377"/>
        </a:xfrm>
        <a:prstGeom prst="roundRect">
          <a:avLst>
            <a:gd name="adj" fmla="val 10000"/>
          </a:avLst>
        </a:prstGeom>
        <a:solidFill>
          <a:srgbClr val="CC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dirty="0">
              <a:solidFill>
                <a:srgbClr val="002060"/>
              </a:solidFill>
            </a:rPr>
            <a:t>Direct Contract</a:t>
          </a:r>
          <a:endParaRPr lang="en-ID" sz="3300" kern="1200" dirty="0">
            <a:solidFill>
              <a:srgbClr val="002060"/>
            </a:solidFill>
          </a:endParaRPr>
        </a:p>
      </dsp:txBody>
      <dsp:txXfrm>
        <a:off x="6820837" y="1333089"/>
        <a:ext cx="2192598" cy="1063221"/>
      </dsp:txXfrm>
    </dsp:sp>
    <dsp:sp modelId="{7A5A3C8F-D9B0-4492-B707-C7015A078A9B}">
      <dsp:nvSpPr>
        <dsp:cNvPr id="0" name=""/>
        <dsp:cNvSpPr/>
      </dsp:nvSpPr>
      <dsp:spPr>
        <a:xfrm rot="3310531">
          <a:off x="2382683" y="3143269"/>
          <a:ext cx="1582136" cy="40429"/>
        </a:xfrm>
        <a:custGeom>
          <a:avLst/>
          <a:gdLst/>
          <a:ahLst/>
          <a:cxnLst/>
          <a:rect l="0" t="0" r="0" b="0"/>
          <a:pathLst>
            <a:path>
              <a:moveTo>
                <a:pt x="0" y="20214"/>
              </a:moveTo>
              <a:lnTo>
                <a:pt x="1582136"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3134198" y="3123930"/>
        <a:ext cx="79106" cy="79106"/>
      </dsp:txXfrm>
    </dsp:sp>
    <dsp:sp modelId="{4CE73C85-003A-46A6-AA32-F8E4D4A46868}">
      <dsp:nvSpPr>
        <dsp:cNvPr id="0" name=""/>
        <dsp:cNvSpPr/>
      </dsp:nvSpPr>
      <dsp:spPr>
        <a:xfrm>
          <a:off x="3625502" y="3248187"/>
          <a:ext cx="2258754" cy="11293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dirty="0"/>
            <a:t>Consultant</a:t>
          </a:r>
          <a:endParaRPr lang="en-ID" sz="3300" kern="1200" dirty="0"/>
        </a:p>
      </dsp:txBody>
      <dsp:txXfrm>
        <a:off x="3658580" y="3281265"/>
        <a:ext cx="2192598" cy="1063221"/>
      </dsp:txXfrm>
    </dsp:sp>
    <dsp:sp modelId="{8C228C18-082A-4ECA-A14D-EF1C08B83C0F}">
      <dsp:nvSpPr>
        <dsp:cNvPr id="0" name=""/>
        <dsp:cNvSpPr/>
      </dsp:nvSpPr>
      <dsp:spPr>
        <a:xfrm rot="19457599">
          <a:off x="5779675" y="3467965"/>
          <a:ext cx="1112665" cy="40429"/>
        </a:xfrm>
        <a:custGeom>
          <a:avLst/>
          <a:gdLst/>
          <a:ahLst/>
          <a:cxnLst/>
          <a:rect l="0" t="0" r="0" b="0"/>
          <a:pathLst>
            <a:path>
              <a:moveTo>
                <a:pt x="0" y="20214"/>
              </a:moveTo>
              <a:lnTo>
                <a:pt x="1112665" y="202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6308191" y="3460363"/>
        <a:ext cx="55633" cy="55633"/>
      </dsp:txXfrm>
    </dsp:sp>
    <dsp:sp modelId="{D7B9C589-695C-4F22-9638-B4AB2EEB09B3}">
      <dsp:nvSpPr>
        <dsp:cNvPr id="0" name=""/>
        <dsp:cNvSpPr/>
      </dsp:nvSpPr>
      <dsp:spPr>
        <a:xfrm>
          <a:off x="6787759" y="2598795"/>
          <a:ext cx="2258754" cy="1129377"/>
        </a:xfrm>
        <a:prstGeom prst="roundRect">
          <a:avLst>
            <a:gd name="adj" fmla="val 10000"/>
          </a:avLst>
        </a:prstGeom>
        <a:solidFill>
          <a:srgbClr val="FFFF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dirty="0">
              <a:solidFill>
                <a:srgbClr val="002060"/>
              </a:solidFill>
            </a:rPr>
            <a:t>Direct Contract</a:t>
          </a:r>
          <a:endParaRPr lang="en-ID" sz="3300" kern="1200" dirty="0">
            <a:solidFill>
              <a:srgbClr val="002060"/>
            </a:solidFill>
          </a:endParaRPr>
        </a:p>
      </dsp:txBody>
      <dsp:txXfrm>
        <a:off x="6820837" y="2631873"/>
        <a:ext cx="2192598" cy="1063221"/>
      </dsp:txXfrm>
    </dsp:sp>
    <dsp:sp modelId="{E9B10384-3CC5-4094-A738-3357049AED71}">
      <dsp:nvSpPr>
        <dsp:cNvPr id="0" name=""/>
        <dsp:cNvSpPr/>
      </dsp:nvSpPr>
      <dsp:spPr>
        <a:xfrm rot="2142401">
          <a:off x="5779675" y="4117356"/>
          <a:ext cx="1112665" cy="40429"/>
        </a:xfrm>
        <a:custGeom>
          <a:avLst/>
          <a:gdLst/>
          <a:ahLst/>
          <a:cxnLst/>
          <a:rect l="0" t="0" r="0" b="0"/>
          <a:pathLst>
            <a:path>
              <a:moveTo>
                <a:pt x="0" y="20214"/>
              </a:moveTo>
              <a:lnTo>
                <a:pt x="1112665" y="202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D" sz="500" kern="1200"/>
        </a:p>
      </dsp:txBody>
      <dsp:txXfrm>
        <a:off x="6308191" y="4109755"/>
        <a:ext cx="55633" cy="55633"/>
      </dsp:txXfrm>
    </dsp:sp>
    <dsp:sp modelId="{B9A3292A-EF89-4F72-AC57-61A1366D418F}">
      <dsp:nvSpPr>
        <dsp:cNvPr id="0" name=""/>
        <dsp:cNvSpPr/>
      </dsp:nvSpPr>
      <dsp:spPr>
        <a:xfrm>
          <a:off x="6787759" y="3897579"/>
          <a:ext cx="2258754" cy="1129377"/>
        </a:xfrm>
        <a:prstGeom prst="roundRect">
          <a:avLst>
            <a:gd name="adj" fmla="val 10000"/>
          </a:avLst>
        </a:prstGeom>
        <a:solidFill>
          <a:srgbClr val="FF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dirty="0">
              <a:solidFill>
                <a:srgbClr val="002060"/>
              </a:solidFill>
            </a:rPr>
            <a:t>Labor Supply</a:t>
          </a:r>
          <a:endParaRPr lang="en-ID" sz="3300" kern="1200" dirty="0">
            <a:solidFill>
              <a:srgbClr val="002060"/>
            </a:solidFill>
          </a:endParaRPr>
        </a:p>
      </dsp:txBody>
      <dsp:txXfrm>
        <a:off x="6820837" y="3930657"/>
        <a:ext cx="2192598" cy="106322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B0D4FC-CF70-4EFB-B7F4-7819544EFBFE}">
      <dsp:nvSpPr>
        <dsp:cNvPr id="0" name=""/>
        <dsp:cNvSpPr/>
      </dsp:nvSpPr>
      <dsp:spPr>
        <a:xfrm>
          <a:off x="1354666" y="0"/>
          <a:ext cx="5418667" cy="5418667"/>
        </a:xfrm>
        <a:prstGeom prst="ellips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Main Contractor Profit</a:t>
          </a:r>
          <a:endParaRPr lang="en-ID" sz="2000" kern="1200" dirty="0"/>
        </a:p>
      </dsp:txBody>
      <dsp:txXfrm>
        <a:off x="3306470" y="270933"/>
        <a:ext cx="1515059" cy="812800"/>
      </dsp:txXfrm>
    </dsp:sp>
    <dsp:sp modelId="{266578CB-9854-4043-9044-3E75B2DB6422}">
      <dsp:nvSpPr>
        <dsp:cNvPr id="0" name=""/>
        <dsp:cNvSpPr/>
      </dsp:nvSpPr>
      <dsp:spPr>
        <a:xfrm>
          <a:off x="1896533" y="1083733"/>
          <a:ext cx="4334933" cy="4334933"/>
        </a:xfrm>
        <a:prstGeom prst="ellipse">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2">
                  <a:lumMod val="50000"/>
                </a:schemeClr>
              </a:solidFill>
            </a:rPr>
            <a:t>Labor Supply Profit</a:t>
          </a:r>
          <a:endParaRPr lang="en-ID" sz="2000" kern="1200" dirty="0">
            <a:solidFill>
              <a:schemeClr val="tx2">
                <a:lumMod val="50000"/>
              </a:schemeClr>
            </a:solidFill>
          </a:endParaRPr>
        </a:p>
      </dsp:txBody>
      <dsp:txXfrm>
        <a:off x="3306470" y="1343829"/>
        <a:ext cx="1515059" cy="780288"/>
      </dsp:txXfrm>
    </dsp:sp>
    <dsp:sp modelId="{F3912B76-58EF-4732-A117-A7A155157400}">
      <dsp:nvSpPr>
        <dsp:cNvPr id="0" name=""/>
        <dsp:cNvSpPr/>
      </dsp:nvSpPr>
      <dsp:spPr>
        <a:xfrm>
          <a:off x="2438399" y="2167466"/>
          <a:ext cx="3251200" cy="3251200"/>
        </a:xfrm>
        <a:prstGeom prst="ellipse">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2">
                  <a:lumMod val="50000"/>
                </a:schemeClr>
              </a:solidFill>
            </a:rPr>
            <a:t>Tax, Insurance, BPJS</a:t>
          </a:r>
          <a:endParaRPr lang="en-ID" sz="2000" kern="1200" dirty="0">
            <a:solidFill>
              <a:schemeClr val="tx2">
                <a:lumMod val="50000"/>
              </a:schemeClr>
            </a:solidFill>
          </a:endParaRPr>
        </a:p>
      </dsp:txBody>
      <dsp:txXfrm>
        <a:off x="3306470" y="2411306"/>
        <a:ext cx="1515059" cy="731520"/>
      </dsp:txXfrm>
    </dsp:sp>
    <dsp:sp modelId="{CBC123B5-254A-46ED-B7AE-0AD3D4B91344}">
      <dsp:nvSpPr>
        <dsp:cNvPr id="0" name=""/>
        <dsp:cNvSpPr/>
      </dsp:nvSpPr>
      <dsp:spPr>
        <a:xfrm>
          <a:off x="2980266" y="3251200"/>
          <a:ext cx="2167466" cy="2167466"/>
        </a:xfrm>
        <a:prstGeom prst="ellipse">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2">
                  <a:lumMod val="50000"/>
                </a:schemeClr>
              </a:solidFill>
            </a:rPr>
            <a:t>Take Home Pay</a:t>
          </a:r>
          <a:endParaRPr lang="en-ID" sz="2800" kern="1200" dirty="0">
            <a:solidFill>
              <a:schemeClr val="tx2">
                <a:lumMod val="50000"/>
              </a:schemeClr>
            </a:solidFill>
          </a:endParaRPr>
        </a:p>
      </dsp:txBody>
      <dsp:txXfrm>
        <a:off x="3297684" y="3793066"/>
        <a:ext cx="1532630" cy="108373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D4FAE-7441-4CF5-8D7C-C65F3361EC88}">
      <dsp:nvSpPr>
        <dsp:cNvPr id="0" name=""/>
        <dsp:cNvSpPr/>
      </dsp:nvSpPr>
      <dsp:spPr>
        <a:xfrm>
          <a:off x="7" y="19490"/>
          <a:ext cx="3215866" cy="518400"/>
        </a:xfrm>
        <a:prstGeom prst="rect">
          <a:avLst/>
        </a:prstGeom>
        <a:solidFill>
          <a:srgbClr val="CCFFCC"/>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002060"/>
              </a:solidFill>
            </a:rPr>
            <a:t>Fuel Price</a:t>
          </a:r>
        </a:p>
      </dsp:txBody>
      <dsp:txXfrm>
        <a:off x="7" y="19490"/>
        <a:ext cx="3215866" cy="518400"/>
      </dsp:txXfrm>
    </dsp:sp>
    <dsp:sp modelId="{7780C6EB-82F3-4B8C-82C4-BDF7E074BAB4}">
      <dsp:nvSpPr>
        <dsp:cNvPr id="0" name=""/>
        <dsp:cNvSpPr/>
      </dsp:nvSpPr>
      <dsp:spPr>
        <a:xfrm>
          <a:off x="7" y="537890"/>
          <a:ext cx="3215866" cy="489853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Basic price + Handling</a:t>
          </a:r>
        </a:p>
        <a:p>
          <a:pPr marL="285750" lvl="1" indent="-285750" algn="l" defTabSz="1244600">
            <a:lnSpc>
              <a:spcPct val="90000"/>
            </a:lnSpc>
            <a:spcBef>
              <a:spcPct val="0"/>
            </a:spcBef>
            <a:spcAft>
              <a:spcPct val="15000"/>
            </a:spcAft>
            <a:buChar char="•"/>
          </a:pPr>
          <a:r>
            <a:rPr lang="en-US" sz="2800" kern="1200" dirty="0">
              <a:solidFill>
                <a:srgbClr val="C00000"/>
              </a:solidFill>
            </a:rPr>
            <a:t>USD 0.9-1.2 per Liter</a:t>
          </a:r>
        </a:p>
      </dsp:txBody>
      <dsp:txXfrm>
        <a:off x="7" y="537890"/>
        <a:ext cx="3215866" cy="4898538"/>
      </dsp:txXfrm>
    </dsp:sp>
    <dsp:sp modelId="{ABF0B1BD-C445-4D0F-8966-411C642DD885}">
      <dsp:nvSpPr>
        <dsp:cNvPr id="0" name=""/>
        <dsp:cNvSpPr/>
      </dsp:nvSpPr>
      <dsp:spPr>
        <a:xfrm>
          <a:off x="3548008" y="19490"/>
          <a:ext cx="3622995" cy="518400"/>
        </a:xfrm>
        <a:prstGeom prst="rect">
          <a:avLst/>
        </a:prstGeom>
        <a:solidFill>
          <a:srgbClr val="92D05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002060"/>
              </a:solidFill>
            </a:rPr>
            <a:t>Equipment Daily Usage</a:t>
          </a:r>
        </a:p>
      </dsp:txBody>
      <dsp:txXfrm>
        <a:off x="3548008" y="19490"/>
        <a:ext cx="3622995" cy="518400"/>
      </dsp:txXfrm>
    </dsp:sp>
    <dsp:sp modelId="{C4FA08CE-10C2-417B-9D89-6D9126C5B99F}">
      <dsp:nvSpPr>
        <dsp:cNvPr id="0" name=""/>
        <dsp:cNvSpPr/>
      </dsp:nvSpPr>
      <dsp:spPr>
        <a:xfrm>
          <a:off x="3548008" y="537890"/>
          <a:ext cx="3622995" cy="489853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Rig: </a:t>
          </a:r>
          <a:r>
            <a:rPr lang="en-US" sz="2000" kern="1200" dirty="0">
              <a:solidFill>
                <a:srgbClr val="FF0000"/>
              </a:solidFill>
            </a:rPr>
            <a:t>4-12 KL</a:t>
          </a:r>
        </a:p>
        <a:p>
          <a:pPr marL="228600" lvl="1" indent="-228600" algn="l" defTabSz="889000">
            <a:lnSpc>
              <a:spcPct val="90000"/>
            </a:lnSpc>
            <a:spcBef>
              <a:spcPct val="0"/>
            </a:spcBef>
            <a:spcAft>
              <a:spcPct val="15000"/>
            </a:spcAft>
            <a:buChar char="•"/>
          </a:pPr>
          <a:r>
            <a:rPr lang="en-US" sz="2000" kern="1200" dirty="0"/>
            <a:t>Air Drilling: </a:t>
          </a:r>
          <a:r>
            <a:rPr lang="en-US" sz="2000" kern="1200" dirty="0">
              <a:solidFill>
                <a:srgbClr val="FF0000"/>
              </a:solidFill>
            </a:rPr>
            <a:t>5-8KL</a:t>
          </a:r>
        </a:p>
        <a:p>
          <a:pPr marL="228600" lvl="1" indent="-228600" algn="l" defTabSz="889000">
            <a:lnSpc>
              <a:spcPct val="90000"/>
            </a:lnSpc>
            <a:spcBef>
              <a:spcPct val="0"/>
            </a:spcBef>
            <a:spcAft>
              <a:spcPct val="15000"/>
            </a:spcAft>
            <a:buChar char="•"/>
          </a:pPr>
          <a:r>
            <a:rPr lang="en-US" sz="2000" kern="1200" dirty="0"/>
            <a:t>Heavy Equipment: 1-2 KL</a:t>
          </a:r>
        </a:p>
        <a:p>
          <a:pPr marL="228600" lvl="1" indent="-228600" algn="l" defTabSz="889000">
            <a:lnSpc>
              <a:spcPct val="90000"/>
            </a:lnSpc>
            <a:spcBef>
              <a:spcPct val="0"/>
            </a:spcBef>
            <a:spcAft>
              <a:spcPct val="15000"/>
            </a:spcAft>
            <a:buChar char="•"/>
          </a:pPr>
          <a:r>
            <a:rPr lang="en-US" sz="2000" kern="1200" dirty="0"/>
            <a:t>Water Pump: 1 KL</a:t>
          </a:r>
        </a:p>
        <a:p>
          <a:pPr marL="228600" lvl="1" indent="-228600" algn="l" defTabSz="889000">
            <a:lnSpc>
              <a:spcPct val="90000"/>
            </a:lnSpc>
            <a:spcBef>
              <a:spcPct val="0"/>
            </a:spcBef>
            <a:spcAft>
              <a:spcPct val="15000"/>
            </a:spcAft>
            <a:buChar char="•"/>
          </a:pPr>
          <a:r>
            <a:rPr lang="en-US" sz="2000" kern="1200" dirty="0"/>
            <a:t>Base Camp: 0.2 KL</a:t>
          </a:r>
        </a:p>
        <a:p>
          <a:pPr marL="228600" lvl="1" indent="-228600" algn="l" defTabSz="889000">
            <a:lnSpc>
              <a:spcPct val="90000"/>
            </a:lnSpc>
            <a:spcBef>
              <a:spcPct val="0"/>
            </a:spcBef>
            <a:spcAft>
              <a:spcPct val="15000"/>
            </a:spcAft>
            <a:buChar char="•"/>
          </a:pPr>
          <a:r>
            <a:rPr lang="en-US" sz="2000" kern="1200" dirty="0"/>
            <a:t>Vehicles: 0.3 KL</a:t>
          </a:r>
        </a:p>
        <a:p>
          <a:pPr marL="228600" lvl="1" indent="-228600" algn="l" defTabSz="889000">
            <a:lnSpc>
              <a:spcPct val="90000"/>
            </a:lnSpc>
            <a:spcBef>
              <a:spcPct val="0"/>
            </a:spcBef>
            <a:spcAft>
              <a:spcPct val="15000"/>
            </a:spcAft>
            <a:buChar char="•"/>
          </a:pPr>
          <a:endParaRPr lang="en-US" sz="2000" kern="1200" dirty="0"/>
        </a:p>
        <a:p>
          <a:pPr marL="228600" lvl="1" indent="-228600" algn="l" defTabSz="889000">
            <a:lnSpc>
              <a:spcPct val="90000"/>
            </a:lnSpc>
            <a:spcBef>
              <a:spcPct val="0"/>
            </a:spcBef>
            <a:spcAft>
              <a:spcPct val="15000"/>
            </a:spcAft>
            <a:buChar char="•"/>
          </a:pPr>
          <a:r>
            <a:rPr lang="en-US" sz="2000" kern="1200" dirty="0"/>
            <a:t>Total Consumption:              </a:t>
          </a:r>
          <a:r>
            <a:rPr lang="en-US" sz="3200" kern="1200" dirty="0">
              <a:solidFill>
                <a:srgbClr val="C00000"/>
              </a:solidFill>
            </a:rPr>
            <a:t>11.5 – 23.5 KL/day </a:t>
          </a:r>
        </a:p>
      </dsp:txBody>
      <dsp:txXfrm>
        <a:off x="3548008" y="537890"/>
        <a:ext cx="3622995" cy="4898538"/>
      </dsp:txXfrm>
    </dsp:sp>
    <dsp:sp modelId="{E2577BE7-02EE-4352-87A7-040A86170C87}">
      <dsp:nvSpPr>
        <dsp:cNvPr id="0" name=""/>
        <dsp:cNvSpPr/>
      </dsp:nvSpPr>
      <dsp:spPr>
        <a:xfrm>
          <a:off x="7739312" y="19490"/>
          <a:ext cx="3557584" cy="518400"/>
        </a:xfrm>
        <a:prstGeom prst="rect">
          <a:avLst/>
        </a:prstGeom>
        <a:solidFill>
          <a:srgbClr val="0066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2">
                  <a:lumMod val="20000"/>
                  <a:lumOff val="80000"/>
                </a:schemeClr>
              </a:solidFill>
            </a:rPr>
            <a:t>How to Reduce</a:t>
          </a:r>
        </a:p>
      </dsp:txBody>
      <dsp:txXfrm>
        <a:off x="7739312" y="19490"/>
        <a:ext cx="3557584" cy="518400"/>
      </dsp:txXfrm>
    </dsp:sp>
    <dsp:sp modelId="{440B4C54-86EF-4C04-8F43-D206D18D54F9}">
      <dsp:nvSpPr>
        <dsp:cNvPr id="0" name=""/>
        <dsp:cNvSpPr/>
      </dsp:nvSpPr>
      <dsp:spPr>
        <a:xfrm>
          <a:off x="7748203" y="537890"/>
          <a:ext cx="3539800" cy="489853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1" kern="1200" dirty="0">
              <a:solidFill>
                <a:srgbClr val="C00000"/>
              </a:solidFill>
            </a:rPr>
            <a:t>Use New Generation Rig.</a:t>
          </a:r>
        </a:p>
        <a:p>
          <a:pPr marL="171450" lvl="1" indent="-171450" algn="l" defTabSz="800100">
            <a:lnSpc>
              <a:spcPct val="90000"/>
            </a:lnSpc>
            <a:spcBef>
              <a:spcPct val="0"/>
            </a:spcBef>
            <a:spcAft>
              <a:spcPct val="15000"/>
            </a:spcAft>
            <a:buChar char="•"/>
          </a:pPr>
          <a:r>
            <a:rPr lang="en-US" sz="1800" b="1" kern="1200" dirty="0">
              <a:solidFill>
                <a:srgbClr val="C00000"/>
              </a:solidFill>
            </a:rPr>
            <a:t>&lt; 3 years age of Heavy Equipment</a:t>
          </a:r>
        </a:p>
        <a:p>
          <a:pPr marL="171450" lvl="1" indent="-171450" algn="l" defTabSz="800100">
            <a:lnSpc>
              <a:spcPct val="90000"/>
            </a:lnSpc>
            <a:spcBef>
              <a:spcPct val="0"/>
            </a:spcBef>
            <a:spcAft>
              <a:spcPct val="15000"/>
            </a:spcAft>
            <a:buChar char="•"/>
          </a:pPr>
          <a:r>
            <a:rPr lang="en-US" sz="1800" b="1" kern="1200" dirty="0">
              <a:solidFill>
                <a:srgbClr val="C00000"/>
              </a:solidFill>
            </a:rPr>
            <a:t>Proper Piping for water supply</a:t>
          </a:r>
        </a:p>
        <a:p>
          <a:pPr marL="171450" lvl="1" indent="-171450" algn="l" defTabSz="800100">
            <a:lnSpc>
              <a:spcPct val="90000"/>
            </a:lnSpc>
            <a:spcBef>
              <a:spcPct val="0"/>
            </a:spcBef>
            <a:spcAft>
              <a:spcPct val="15000"/>
            </a:spcAft>
            <a:buChar char="•"/>
          </a:pPr>
          <a:endParaRPr lang="en-US" sz="1800" b="1" kern="1200" dirty="0">
            <a:solidFill>
              <a:srgbClr val="C00000"/>
            </a:solidFill>
          </a:endParaRPr>
        </a:p>
        <a:p>
          <a:pPr marL="171450" lvl="1" indent="-171450" algn="l" defTabSz="800100">
            <a:lnSpc>
              <a:spcPct val="90000"/>
            </a:lnSpc>
            <a:spcBef>
              <a:spcPct val="0"/>
            </a:spcBef>
            <a:spcAft>
              <a:spcPct val="15000"/>
            </a:spcAft>
            <a:buChar char="•"/>
          </a:pPr>
          <a:r>
            <a:rPr lang="en-US" sz="1800" b="1" kern="1200" dirty="0">
              <a:solidFill>
                <a:srgbClr val="C00000"/>
              </a:solidFill>
            </a:rPr>
            <a:t>Convert Electricity source from </a:t>
          </a:r>
          <a:r>
            <a:rPr lang="en-US" sz="1800" b="1" kern="1200" dirty="0" err="1">
              <a:solidFill>
                <a:srgbClr val="C00000"/>
              </a:solidFill>
            </a:rPr>
            <a:t>GenSet</a:t>
          </a:r>
          <a:r>
            <a:rPr lang="en-US" sz="1800" b="1" kern="1200" dirty="0">
              <a:solidFill>
                <a:srgbClr val="C00000"/>
              </a:solidFill>
            </a:rPr>
            <a:t> to PLN</a:t>
          </a:r>
        </a:p>
        <a:p>
          <a:pPr marL="171450" lvl="1" indent="-171450" algn="l" defTabSz="800100">
            <a:lnSpc>
              <a:spcPct val="90000"/>
            </a:lnSpc>
            <a:spcBef>
              <a:spcPct val="0"/>
            </a:spcBef>
            <a:spcAft>
              <a:spcPct val="15000"/>
            </a:spcAft>
            <a:buChar char="•"/>
          </a:pPr>
          <a:endParaRPr lang="en-US" sz="1800" kern="1200" dirty="0"/>
        </a:p>
        <a:p>
          <a:pPr marL="171450" lvl="1" indent="-171450" algn="l" defTabSz="800100">
            <a:lnSpc>
              <a:spcPct val="90000"/>
            </a:lnSpc>
            <a:spcBef>
              <a:spcPct val="0"/>
            </a:spcBef>
            <a:spcAft>
              <a:spcPct val="15000"/>
            </a:spcAft>
            <a:buChar char="•"/>
          </a:pPr>
          <a:r>
            <a:rPr lang="en-US" sz="1800" kern="1200" dirty="0"/>
            <a:t>Digital Measurement</a:t>
          </a:r>
        </a:p>
        <a:p>
          <a:pPr marL="171450" lvl="1" indent="-171450" algn="l" defTabSz="800100">
            <a:lnSpc>
              <a:spcPct val="90000"/>
            </a:lnSpc>
            <a:spcBef>
              <a:spcPct val="0"/>
            </a:spcBef>
            <a:spcAft>
              <a:spcPct val="15000"/>
            </a:spcAft>
            <a:buChar char="•"/>
          </a:pPr>
          <a:r>
            <a:rPr lang="en-US" sz="1800" kern="1200" dirty="0"/>
            <a:t>Fuel Handling SOP</a:t>
          </a:r>
        </a:p>
        <a:p>
          <a:pPr marL="171450" lvl="1" indent="-171450" algn="l" defTabSz="800100">
            <a:lnSpc>
              <a:spcPct val="90000"/>
            </a:lnSpc>
            <a:spcBef>
              <a:spcPct val="0"/>
            </a:spcBef>
            <a:spcAft>
              <a:spcPct val="15000"/>
            </a:spcAft>
            <a:buChar char="•"/>
          </a:pPr>
          <a:r>
            <a:rPr lang="en-US" sz="1800" kern="1200" dirty="0"/>
            <a:t>Regular fuel sample check</a:t>
          </a:r>
        </a:p>
        <a:p>
          <a:pPr marL="171450" lvl="1" indent="-171450" algn="l" defTabSz="800100">
            <a:lnSpc>
              <a:spcPct val="90000"/>
            </a:lnSpc>
            <a:spcBef>
              <a:spcPct val="0"/>
            </a:spcBef>
            <a:spcAft>
              <a:spcPct val="15000"/>
            </a:spcAft>
            <a:buChar char="•"/>
          </a:pPr>
          <a:r>
            <a:rPr lang="en-US" sz="1800" kern="1200" dirty="0"/>
            <a:t>Dedicated Fuel Truck</a:t>
          </a:r>
        </a:p>
        <a:p>
          <a:pPr marL="171450" lvl="1" indent="-171450" algn="l" defTabSz="800100">
            <a:lnSpc>
              <a:spcPct val="90000"/>
            </a:lnSpc>
            <a:spcBef>
              <a:spcPct val="0"/>
            </a:spcBef>
            <a:spcAft>
              <a:spcPct val="15000"/>
            </a:spcAft>
            <a:buChar char="•"/>
          </a:pPr>
          <a:r>
            <a:rPr lang="en-US" sz="1800" kern="1200" dirty="0"/>
            <a:t>Always Lock fuel tank line</a:t>
          </a:r>
        </a:p>
        <a:p>
          <a:pPr marL="171450" lvl="1" indent="-171450" algn="l" defTabSz="800100">
            <a:lnSpc>
              <a:spcPct val="90000"/>
            </a:lnSpc>
            <a:spcBef>
              <a:spcPct val="0"/>
            </a:spcBef>
            <a:spcAft>
              <a:spcPct val="15000"/>
            </a:spcAft>
            <a:buChar char="•"/>
          </a:pPr>
          <a:r>
            <a:rPr lang="en-US" sz="1800" kern="1200" dirty="0"/>
            <a:t>Daily Usage Report</a:t>
          </a:r>
        </a:p>
      </dsp:txBody>
      <dsp:txXfrm>
        <a:off x="7748203" y="537890"/>
        <a:ext cx="3539800" cy="489853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C45ADB-C25F-4FDC-ACCD-FB3552E03D01}">
      <dsp:nvSpPr>
        <dsp:cNvPr id="0" name=""/>
        <dsp:cNvSpPr/>
      </dsp:nvSpPr>
      <dsp:spPr>
        <a:xfrm rot="16200000">
          <a:off x="1763" y="744802"/>
          <a:ext cx="3929062" cy="3929062"/>
        </a:xfrm>
        <a:prstGeom prst="downArrow">
          <a:avLst>
            <a:gd name="adj1" fmla="val 50000"/>
            <a:gd name="adj2" fmla="val 35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2928" tIns="312928" rIns="312928" bIns="312928" numCol="1" spcCol="1270" anchor="ctr" anchorCtr="0">
          <a:noAutofit/>
        </a:bodyPr>
        <a:lstStyle/>
        <a:p>
          <a:pPr marL="0" lvl="0" indent="0" algn="ctr" defTabSz="1955800">
            <a:lnSpc>
              <a:spcPct val="90000"/>
            </a:lnSpc>
            <a:spcBef>
              <a:spcPct val="0"/>
            </a:spcBef>
            <a:spcAft>
              <a:spcPct val="35000"/>
            </a:spcAft>
            <a:buNone/>
          </a:pPr>
          <a:r>
            <a:rPr lang="en-US" sz="4400" kern="1200" dirty="0"/>
            <a:t>Explosive</a:t>
          </a:r>
          <a:endParaRPr lang="en-ID" sz="4400" kern="1200" dirty="0"/>
        </a:p>
      </dsp:txBody>
      <dsp:txXfrm rot="5400000">
        <a:off x="1764" y="1727067"/>
        <a:ext cx="3241476" cy="1964531"/>
      </dsp:txXfrm>
    </dsp:sp>
    <dsp:sp modelId="{E2850CCD-3F4F-4D01-A33C-84FB4EC51E75}">
      <dsp:nvSpPr>
        <dsp:cNvPr id="0" name=""/>
        <dsp:cNvSpPr/>
      </dsp:nvSpPr>
      <dsp:spPr>
        <a:xfrm rot="5400000">
          <a:off x="4197174" y="744802"/>
          <a:ext cx="3929062" cy="3929062"/>
        </a:xfrm>
        <a:prstGeom prst="downArrow">
          <a:avLst>
            <a:gd name="adj1" fmla="val 50000"/>
            <a:gd name="adj2" fmla="val 35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2928" tIns="312928" rIns="312928" bIns="312928" numCol="1" spcCol="1270" anchor="ctr" anchorCtr="0">
          <a:noAutofit/>
        </a:bodyPr>
        <a:lstStyle/>
        <a:p>
          <a:pPr marL="0" lvl="0" indent="0" algn="ctr" defTabSz="1955800">
            <a:lnSpc>
              <a:spcPct val="90000"/>
            </a:lnSpc>
            <a:spcBef>
              <a:spcPct val="0"/>
            </a:spcBef>
            <a:spcAft>
              <a:spcPct val="35000"/>
            </a:spcAft>
            <a:buNone/>
          </a:pPr>
          <a:r>
            <a:rPr lang="en-US" sz="4400" kern="1200" dirty="0"/>
            <a:t>Pipe Cutter</a:t>
          </a:r>
          <a:endParaRPr lang="en-ID" sz="4400" kern="1200" dirty="0"/>
        </a:p>
      </dsp:txBody>
      <dsp:txXfrm rot="-5400000">
        <a:off x="4884761" y="1727068"/>
        <a:ext cx="3241476" cy="196453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C45ADB-C25F-4FDC-ACCD-FB3552E03D01}">
      <dsp:nvSpPr>
        <dsp:cNvPr id="0" name=""/>
        <dsp:cNvSpPr/>
      </dsp:nvSpPr>
      <dsp:spPr>
        <a:xfrm rot="16200000">
          <a:off x="4635" y="510"/>
          <a:ext cx="2467858" cy="2467858"/>
        </a:xfrm>
        <a:prstGeom prst="downArrow">
          <a:avLst>
            <a:gd name="adj1" fmla="val 50000"/>
            <a:gd name="adj2" fmla="val 35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dirty="0"/>
            <a:t>Explosive</a:t>
          </a:r>
          <a:endParaRPr lang="en-ID" sz="2700" kern="1200" dirty="0"/>
        </a:p>
      </dsp:txBody>
      <dsp:txXfrm rot="5400000">
        <a:off x="4635" y="617474"/>
        <a:ext cx="2035983" cy="1233929"/>
      </dsp:txXfrm>
    </dsp:sp>
    <dsp:sp modelId="{E2850CCD-3F4F-4D01-A33C-84FB4EC51E75}">
      <dsp:nvSpPr>
        <dsp:cNvPr id="0" name=""/>
        <dsp:cNvSpPr/>
      </dsp:nvSpPr>
      <dsp:spPr>
        <a:xfrm rot="5400000">
          <a:off x="7565587" y="510"/>
          <a:ext cx="2467858" cy="2467858"/>
        </a:xfrm>
        <a:prstGeom prst="downArrow">
          <a:avLst>
            <a:gd name="adj1" fmla="val 50000"/>
            <a:gd name="adj2" fmla="val 35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dirty="0"/>
            <a:t>Pipe Cutter</a:t>
          </a:r>
          <a:endParaRPr lang="en-ID" sz="2700" kern="1200" dirty="0"/>
        </a:p>
      </dsp:txBody>
      <dsp:txXfrm rot="-5400000">
        <a:off x="7997462" y="617475"/>
        <a:ext cx="2035983" cy="123392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AB557-88E9-45B4-8273-002F4E305A33}">
      <dsp:nvSpPr>
        <dsp:cNvPr id="0" name=""/>
        <dsp:cNvSpPr/>
      </dsp:nvSpPr>
      <dsp:spPr>
        <a:xfrm>
          <a:off x="2466426" y="1508559"/>
          <a:ext cx="1917444" cy="1658666"/>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t>Drilling</a:t>
          </a:r>
        </a:p>
      </dsp:txBody>
      <dsp:txXfrm>
        <a:off x="2784173" y="1783423"/>
        <a:ext cx="1281950" cy="1108938"/>
      </dsp:txXfrm>
    </dsp:sp>
    <dsp:sp modelId="{0A577861-EBBA-4D5C-9770-82CE01025575}">
      <dsp:nvSpPr>
        <dsp:cNvPr id="0" name=""/>
        <dsp:cNvSpPr/>
      </dsp:nvSpPr>
      <dsp:spPr>
        <a:xfrm>
          <a:off x="3667114" y="714999"/>
          <a:ext cx="723446" cy="62334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22A565-DCC6-48FA-A4F7-0486F949C503}">
      <dsp:nvSpPr>
        <dsp:cNvPr id="0" name=""/>
        <dsp:cNvSpPr/>
      </dsp:nvSpPr>
      <dsp:spPr>
        <a:xfrm>
          <a:off x="2643050" y="0"/>
          <a:ext cx="1571332" cy="1359386"/>
        </a:xfrm>
        <a:prstGeom prst="hexagon">
          <a:avLst>
            <a:gd name="adj" fmla="val 28570"/>
            <a:gd name="vf" fmla="val 115470"/>
          </a:avLst>
        </a:prstGeom>
        <a:blipFill rotWithShape="0">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b="1" kern="1200" dirty="0"/>
            <a:t>Rig</a:t>
          </a:r>
        </a:p>
      </dsp:txBody>
      <dsp:txXfrm>
        <a:off x="2903453" y="225279"/>
        <a:ext cx="1050526" cy="908828"/>
      </dsp:txXfrm>
    </dsp:sp>
    <dsp:sp modelId="{0B793F0E-5841-446A-BFA7-5FC8C2EDF076}">
      <dsp:nvSpPr>
        <dsp:cNvPr id="0" name=""/>
        <dsp:cNvSpPr/>
      </dsp:nvSpPr>
      <dsp:spPr>
        <a:xfrm>
          <a:off x="4511432" y="1880321"/>
          <a:ext cx="723446" cy="62334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9C0594-5D7C-4EF7-B1A5-611BFAA16812}">
      <dsp:nvSpPr>
        <dsp:cNvPr id="0" name=""/>
        <dsp:cNvSpPr/>
      </dsp:nvSpPr>
      <dsp:spPr>
        <a:xfrm>
          <a:off x="4084144" y="836114"/>
          <a:ext cx="1571332" cy="1359386"/>
        </a:xfrm>
        <a:prstGeom prst="hexagon">
          <a:avLst>
            <a:gd name="adj" fmla="val 28570"/>
            <a:gd name="vf" fmla="val 115470"/>
          </a:avLst>
        </a:prstGeom>
        <a:blipFill rotWithShape="0">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002060"/>
              </a:solidFill>
            </a:rPr>
            <a:t>DD/MWD</a:t>
          </a:r>
        </a:p>
      </dsp:txBody>
      <dsp:txXfrm>
        <a:off x="4344547" y="1061393"/>
        <a:ext cx="1050526" cy="908828"/>
      </dsp:txXfrm>
    </dsp:sp>
    <dsp:sp modelId="{8D072E40-6F87-41FE-882D-628BED7B60C4}">
      <dsp:nvSpPr>
        <dsp:cNvPr id="0" name=""/>
        <dsp:cNvSpPr/>
      </dsp:nvSpPr>
      <dsp:spPr>
        <a:xfrm>
          <a:off x="3924915" y="3195751"/>
          <a:ext cx="723446" cy="62334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852019-1BC1-42DC-B275-69CC05196841}">
      <dsp:nvSpPr>
        <dsp:cNvPr id="0" name=""/>
        <dsp:cNvSpPr/>
      </dsp:nvSpPr>
      <dsp:spPr>
        <a:xfrm>
          <a:off x="4084144" y="2479816"/>
          <a:ext cx="1571332" cy="1359386"/>
        </a:xfrm>
        <a:prstGeom prst="hexagon">
          <a:avLst>
            <a:gd name="adj" fmla="val 28570"/>
            <a:gd name="vf" fmla="val 115470"/>
          </a:avLst>
        </a:prstGeom>
        <a:blipFill rotWithShape="0">
          <a:blip xmlns:r="http://schemas.openxmlformats.org/officeDocument/2006/relationships" r:embed="rId3"/>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FFFF99"/>
              </a:solidFill>
            </a:rPr>
            <a:t>Cementing</a:t>
          </a:r>
        </a:p>
      </dsp:txBody>
      <dsp:txXfrm>
        <a:off x="4344547" y="2705095"/>
        <a:ext cx="1050526" cy="908828"/>
      </dsp:txXfrm>
    </dsp:sp>
    <dsp:sp modelId="{CF44B35B-153C-4FCD-BD1F-B3507A7B1082}">
      <dsp:nvSpPr>
        <dsp:cNvPr id="0" name=""/>
        <dsp:cNvSpPr/>
      </dsp:nvSpPr>
      <dsp:spPr>
        <a:xfrm>
          <a:off x="2469994" y="3332297"/>
          <a:ext cx="723446" cy="62334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DCFC7A-B74E-4CA3-9017-93FCA8CADC86}">
      <dsp:nvSpPr>
        <dsp:cNvPr id="0" name=""/>
        <dsp:cNvSpPr/>
      </dsp:nvSpPr>
      <dsp:spPr>
        <a:xfrm>
          <a:off x="2643050" y="3316866"/>
          <a:ext cx="1571332" cy="1359386"/>
        </a:xfrm>
        <a:prstGeom prst="hexagon">
          <a:avLst>
            <a:gd name="adj" fmla="val 28570"/>
            <a:gd name="vf" fmla="val 115470"/>
          </a:avLst>
        </a:prstGeom>
        <a:blipFill rotWithShape="0">
          <a:blip xmlns:r="http://schemas.openxmlformats.org/officeDocument/2006/relationships" r:embed="rId4"/>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rgbClr val="FFFF99"/>
              </a:solidFill>
            </a:rPr>
            <a:t>Mud</a:t>
          </a:r>
        </a:p>
      </dsp:txBody>
      <dsp:txXfrm>
        <a:off x="2903453" y="3542145"/>
        <a:ext cx="1050526" cy="908828"/>
      </dsp:txXfrm>
    </dsp:sp>
    <dsp:sp modelId="{E382FD8A-0D83-4CC5-8A06-41BE905A751D}">
      <dsp:nvSpPr>
        <dsp:cNvPr id="0" name=""/>
        <dsp:cNvSpPr/>
      </dsp:nvSpPr>
      <dsp:spPr>
        <a:xfrm>
          <a:off x="1611850" y="2167443"/>
          <a:ext cx="723446" cy="62334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762E05-A10F-4B5E-8967-83C6C62EF1B3}">
      <dsp:nvSpPr>
        <dsp:cNvPr id="0" name=""/>
        <dsp:cNvSpPr/>
      </dsp:nvSpPr>
      <dsp:spPr>
        <a:xfrm>
          <a:off x="1195266" y="2480752"/>
          <a:ext cx="1571332" cy="1359386"/>
        </a:xfrm>
        <a:prstGeom prst="hexagon">
          <a:avLst>
            <a:gd name="adj" fmla="val 28570"/>
            <a:gd name="vf" fmla="val 115470"/>
          </a:avLst>
        </a:prstGeom>
        <a:blipFill rotWithShape="0">
          <a:blip xmlns:r="http://schemas.openxmlformats.org/officeDocument/2006/relationships" r:embed="rId5"/>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FFF99"/>
              </a:solidFill>
            </a:rPr>
            <a:t>Mud Logging</a:t>
          </a:r>
        </a:p>
      </dsp:txBody>
      <dsp:txXfrm>
        <a:off x="1455669" y="2706031"/>
        <a:ext cx="1050526" cy="908828"/>
      </dsp:txXfrm>
    </dsp:sp>
    <dsp:sp modelId="{EE0F862D-DD6C-41AA-8CD4-F593A11B3A4B}">
      <dsp:nvSpPr>
        <dsp:cNvPr id="0" name=""/>
        <dsp:cNvSpPr/>
      </dsp:nvSpPr>
      <dsp:spPr>
        <a:xfrm>
          <a:off x="1195266" y="834243"/>
          <a:ext cx="1571332" cy="1359386"/>
        </a:xfrm>
        <a:prstGeom prst="hexagon">
          <a:avLst>
            <a:gd name="adj" fmla="val 28570"/>
            <a:gd name="vf" fmla="val 115470"/>
          </a:avLst>
        </a:prstGeom>
        <a:blipFill rotWithShape="0">
          <a:blip xmlns:r="http://schemas.openxmlformats.org/officeDocument/2006/relationships" r:embed="rId6"/>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FFFF"/>
              </a:solidFill>
            </a:rPr>
            <a:t>Casing Handling</a:t>
          </a:r>
        </a:p>
      </dsp:txBody>
      <dsp:txXfrm>
        <a:off x="1455669" y="1059522"/>
        <a:ext cx="1050526" cy="90882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C8C37D-B277-4EFB-BE53-A10609ABCA41}">
      <dsp:nvSpPr>
        <dsp:cNvPr id="0" name=""/>
        <dsp:cNvSpPr/>
      </dsp:nvSpPr>
      <dsp:spPr>
        <a:xfrm>
          <a:off x="948266" y="0"/>
          <a:ext cx="5418667" cy="5418667"/>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BB1437-3ED3-4AF1-8F61-E6605DC2666B}">
      <dsp:nvSpPr>
        <dsp:cNvPr id="0" name=""/>
        <dsp:cNvSpPr/>
      </dsp:nvSpPr>
      <dsp:spPr>
        <a:xfrm>
          <a:off x="3657599" y="542395"/>
          <a:ext cx="3522133" cy="96308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What are they offer</a:t>
          </a:r>
        </a:p>
      </dsp:txBody>
      <dsp:txXfrm>
        <a:off x="3704613" y="589409"/>
        <a:ext cx="3428105" cy="869055"/>
      </dsp:txXfrm>
    </dsp:sp>
    <dsp:sp modelId="{128F5B23-50AE-48D0-AE54-4EE164373E88}">
      <dsp:nvSpPr>
        <dsp:cNvPr id="0" name=""/>
        <dsp:cNvSpPr/>
      </dsp:nvSpPr>
      <dsp:spPr>
        <a:xfrm>
          <a:off x="3657599" y="1625864"/>
          <a:ext cx="3522133" cy="96308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Pros and Cons</a:t>
          </a:r>
        </a:p>
      </dsp:txBody>
      <dsp:txXfrm>
        <a:off x="3704613" y="1672878"/>
        <a:ext cx="3428105" cy="869055"/>
      </dsp:txXfrm>
    </dsp:sp>
    <dsp:sp modelId="{21DC374C-0FD9-4135-BA46-BE3260734D43}">
      <dsp:nvSpPr>
        <dsp:cNvPr id="0" name=""/>
        <dsp:cNvSpPr/>
      </dsp:nvSpPr>
      <dsp:spPr>
        <a:xfrm>
          <a:off x="3657599" y="2709333"/>
          <a:ext cx="3522133" cy="96308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IPM Pricing &amp; Risk Sharing</a:t>
          </a:r>
        </a:p>
      </dsp:txBody>
      <dsp:txXfrm>
        <a:off x="3704613" y="2756347"/>
        <a:ext cx="3428105" cy="869055"/>
      </dsp:txXfrm>
    </dsp:sp>
    <dsp:sp modelId="{19346FCD-8B8B-40AC-9362-044FA2EDB52D}">
      <dsp:nvSpPr>
        <dsp:cNvPr id="0" name=""/>
        <dsp:cNvSpPr/>
      </dsp:nvSpPr>
      <dsp:spPr>
        <a:xfrm>
          <a:off x="3657599" y="3792802"/>
          <a:ext cx="3522133" cy="96308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IPM Selection &amp; Control</a:t>
          </a:r>
        </a:p>
      </dsp:txBody>
      <dsp:txXfrm>
        <a:off x="3704613" y="3839816"/>
        <a:ext cx="3428105" cy="86905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80E33-A959-47C3-9A2E-545DA14AD779}">
      <dsp:nvSpPr>
        <dsp:cNvPr id="0" name=""/>
        <dsp:cNvSpPr/>
      </dsp:nvSpPr>
      <dsp:spPr>
        <a:xfrm>
          <a:off x="4453520" y="2460109"/>
          <a:ext cx="2065758" cy="2065758"/>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marL="0" lvl="0" indent="0" algn="ctr" defTabSz="2533650">
            <a:lnSpc>
              <a:spcPct val="90000"/>
            </a:lnSpc>
            <a:spcBef>
              <a:spcPct val="0"/>
            </a:spcBef>
            <a:spcAft>
              <a:spcPct val="35000"/>
            </a:spcAft>
            <a:buNone/>
          </a:pPr>
          <a:r>
            <a:rPr lang="en-US" sz="5700" b="1" kern="1200" dirty="0">
              <a:solidFill>
                <a:schemeClr val="accent6">
                  <a:lumMod val="50000"/>
                </a:schemeClr>
              </a:solidFill>
            </a:rPr>
            <a:t>IPM</a:t>
          </a:r>
        </a:p>
      </dsp:txBody>
      <dsp:txXfrm>
        <a:off x="4756043" y="2762632"/>
        <a:ext cx="1460712" cy="1460712"/>
      </dsp:txXfrm>
    </dsp:sp>
    <dsp:sp modelId="{5BB918D7-C712-4363-9149-3E3AB0F60EC7}">
      <dsp:nvSpPr>
        <dsp:cNvPr id="0" name=""/>
        <dsp:cNvSpPr/>
      </dsp:nvSpPr>
      <dsp:spPr>
        <a:xfrm rot="12900000">
          <a:off x="3125081" y="2099384"/>
          <a:ext cx="1582900" cy="588741"/>
        </a:xfrm>
        <a:prstGeom prst="leftArrow">
          <a:avLst>
            <a:gd name="adj1" fmla="val 60000"/>
            <a:gd name="adj2" fmla="val 5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a:schemeClr val="lt1"/>
        </a:fontRef>
      </dsp:style>
    </dsp:sp>
    <dsp:sp modelId="{1185DBC6-FB89-42EA-8247-7EE7ED5C0D2B}">
      <dsp:nvSpPr>
        <dsp:cNvPr id="0" name=""/>
        <dsp:cNvSpPr/>
      </dsp:nvSpPr>
      <dsp:spPr>
        <a:xfrm>
          <a:off x="2286978" y="1154809"/>
          <a:ext cx="1962470" cy="1569976"/>
        </a:xfrm>
        <a:prstGeom prst="roundRect">
          <a:avLst>
            <a:gd name="adj" fmla="val 10000"/>
          </a:avLst>
        </a:prstGeom>
        <a:solidFill>
          <a:srgbClr val="FF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59055" rIns="59055" bIns="59055" numCol="1" spcCol="1270" anchor="ctr" anchorCtr="0">
          <a:noAutofit/>
        </a:bodyPr>
        <a:lstStyle/>
        <a:p>
          <a:pPr marL="0" lvl="0" indent="0" algn="ctr" defTabSz="1377950">
            <a:lnSpc>
              <a:spcPct val="90000"/>
            </a:lnSpc>
            <a:spcBef>
              <a:spcPct val="0"/>
            </a:spcBef>
            <a:spcAft>
              <a:spcPct val="35000"/>
            </a:spcAft>
            <a:buNone/>
          </a:pPr>
          <a:r>
            <a:rPr lang="en-US" sz="3100" kern="1200" dirty="0">
              <a:solidFill>
                <a:srgbClr val="002060"/>
              </a:solidFill>
            </a:rPr>
            <a:t>Resources</a:t>
          </a:r>
        </a:p>
      </dsp:txBody>
      <dsp:txXfrm>
        <a:off x="2332961" y="1200792"/>
        <a:ext cx="1870504" cy="1478010"/>
      </dsp:txXfrm>
    </dsp:sp>
    <dsp:sp modelId="{EB97647C-AF10-4B49-BDD5-262E5E6568BD}">
      <dsp:nvSpPr>
        <dsp:cNvPr id="0" name=""/>
        <dsp:cNvSpPr/>
      </dsp:nvSpPr>
      <dsp:spPr>
        <a:xfrm rot="16200000">
          <a:off x="4694949" y="1282162"/>
          <a:ext cx="1582900" cy="588741"/>
        </a:xfrm>
        <a:prstGeom prst="leftArrow">
          <a:avLst>
            <a:gd name="adj1" fmla="val 60000"/>
            <a:gd name="adj2" fmla="val 50000"/>
          </a:avLst>
        </a:prstGeom>
        <a:solidFill>
          <a:schemeClr val="accent2">
            <a:lumMod val="50000"/>
          </a:schemeClr>
        </a:solidFill>
        <a:ln>
          <a:noFill/>
        </a:ln>
        <a:effectLst/>
      </dsp:spPr>
      <dsp:style>
        <a:lnRef idx="0">
          <a:scrgbClr r="0" g="0" b="0"/>
        </a:lnRef>
        <a:fillRef idx="1">
          <a:scrgbClr r="0" g="0" b="0"/>
        </a:fillRef>
        <a:effectRef idx="0">
          <a:scrgbClr r="0" g="0" b="0"/>
        </a:effectRef>
        <a:fontRef idx="minor">
          <a:schemeClr val="lt1"/>
        </a:fontRef>
      </dsp:style>
    </dsp:sp>
    <dsp:sp modelId="{38883954-356F-40BB-9D07-4CC9DE5E526C}">
      <dsp:nvSpPr>
        <dsp:cNvPr id="0" name=""/>
        <dsp:cNvSpPr/>
      </dsp:nvSpPr>
      <dsp:spPr>
        <a:xfrm>
          <a:off x="4505164" y="94"/>
          <a:ext cx="1962470" cy="1569976"/>
        </a:xfrm>
        <a:prstGeom prst="roundRect">
          <a:avLst>
            <a:gd name="adj" fmla="val 10000"/>
          </a:avLst>
        </a:prstGeom>
        <a:solidFill>
          <a:srgbClr val="FFFF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59055" rIns="59055" bIns="59055" numCol="1" spcCol="1270" anchor="ctr" anchorCtr="0">
          <a:noAutofit/>
        </a:bodyPr>
        <a:lstStyle/>
        <a:p>
          <a:pPr marL="0" lvl="0" indent="0" algn="ctr" defTabSz="1377950">
            <a:lnSpc>
              <a:spcPct val="90000"/>
            </a:lnSpc>
            <a:spcBef>
              <a:spcPct val="0"/>
            </a:spcBef>
            <a:spcAft>
              <a:spcPct val="35000"/>
            </a:spcAft>
            <a:buNone/>
          </a:pPr>
          <a:r>
            <a:rPr lang="en-US" sz="3100" kern="1200" dirty="0">
              <a:solidFill>
                <a:srgbClr val="002060"/>
              </a:solidFill>
            </a:rPr>
            <a:t>Sharing Risk</a:t>
          </a:r>
        </a:p>
      </dsp:txBody>
      <dsp:txXfrm>
        <a:off x="4551147" y="46077"/>
        <a:ext cx="1870504" cy="1478010"/>
      </dsp:txXfrm>
    </dsp:sp>
    <dsp:sp modelId="{883CBA1F-7FDF-442F-92DE-12B8FC78ECA1}">
      <dsp:nvSpPr>
        <dsp:cNvPr id="0" name=""/>
        <dsp:cNvSpPr/>
      </dsp:nvSpPr>
      <dsp:spPr>
        <a:xfrm rot="19500000">
          <a:off x="6264818" y="2099384"/>
          <a:ext cx="1582900" cy="588741"/>
        </a:xfrm>
        <a:prstGeom prst="leftArrow">
          <a:avLst>
            <a:gd name="adj1" fmla="val 60000"/>
            <a:gd name="adj2" fmla="val 50000"/>
          </a:avLst>
        </a:prstGeom>
        <a:solidFill>
          <a:srgbClr val="C00000"/>
        </a:solidFill>
        <a:ln>
          <a:noFill/>
        </a:ln>
        <a:effectLst/>
      </dsp:spPr>
      <dsp:style>
        <a:lnRef idx="0">
          <a:scrgbClr r="0" g="0" b="0"/>
        </a:lnRef>
        <a:fillRef idx="1">
          <a:scrgbClr r="0" g="0" b="0"/>
        </a:fillRef>
        <a:effectRef idx="0">
          <a:scrgbClr r="0" g="0" b="0"/>
        </a:effectRef>
        <a:fontRef idx="minor">
          <a:schemeClr val="lt1"/>
        </a:fontRef>
      </dsp:style>
    </dsp:sp>
    <dsp:sp modelId="{EF23F68E-9F27-4790-8990-B71112A0630F}">
      <dsp:nvSpPr>
        <dsp:cNvPr id="0" name=""/>
        <dsp:cNvSpPr/>
      </dsp:nvSpPr>
      <dsp:spPr>
        <a:xfrm>
          <a:off x="6723351" y="1154809"/>
          <a:ext cx="1962470" cy="1569976"/>
        </a:xfrm>
        <a:prstGeom prst="roundRect">
          <a:avLst>
            <a:gd name="adj" fmla="val 10000"/>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59055" rIns="59055" bIns="59055" numCol="1" spcCol="1270" anchor="ctr" anchorCtr="0">
          <a:noAutofit/>
        </a:bodyPr>
        <a:lstStyle/>
        <a:p>
          <a:pPr marL="0" lvl="0" indent="0" algn="ctr" defTabSz="1377950">
            <a:lnSpc>
              <a:spcPct val="90000"/>
            </a:lnSpc>
            <a:spcBef>
              <a:spcPct val="0"/>
            </a:spcBef>
            <a:spcAft>
              <a:spcPct val="35000"/>
            </a:spcAft>
            <a:buNone/>
          </a:pPr>
          <a:r>
            <a:rPr lang="en-US" sz="3100" kern="1200" dirty="0">
              <a:solidFill>
                <a:srgbClr val="002060"/>
              </a:solidFill>
            </a:rPr>
            <a:t>Optimum Price</a:t>
          </a:r>
        </a:p>
      </dsp:txBody>
      <dsp:txXfrm>
        <a:off x="6769334" y="1200792"/>
        <a:ext cx="1870504" cy="147801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80E33-A959-47C3-9A2E-545DA14AD779}">
      <dsp:nvSpPr>
        <dsp:cNvPr id="0" name=""/>
        <dsp:cNvSpPr/>
      </dsp:nvSpPr>
      <dsp:spPr>
        <a:xfrm>
          <a:off x="4453520" y="2460109"/>
          <a:ext cx="2065758" cy="2065758"/>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marL="0" lvl="0" indent="0" algn="ctr" defTabSz="2533650">
            <a:lnSpc>
              <a:spcPct val="90000"/>
            </a:lnSpc>
            <a:spcBef>
              <a:spcPct val="0"/>
            </a:spcBef>
            <a:spcAft>
              <a:spcPct val="35000"/>
            </a:spcAft>
            <a:buNone/>
          </a:pPr>
          <a:r>
            <a:rPr lang="en-US" sz="5700" b="1" kern="1200" dirty="0">
              <a:solidFill>
                <a:schemeClr val="accent6">
                  <a:lumMod val="50000"/>
                </a:schemeClr>
              </a:solidFill>
            </a:rPr>
            <a:t>IPM</a:t>
          </a:r>
        </a:p>
      </dsp:txBody>
      <dsp:txXfrm>
        <a:off x="4756043" y="2762632"/>
        <a:ext cx="1460712" cy="1460712"/>
      </dsp:txXfrm>
    </dsp:sp>
    <dsp:sp modelId="{5BB918D7-C712-4363-9149-3E3AB0F60EC7}">
      <dsp:nvSpPr>
        <dsp:cNvPr id="0" name=""/>
        <dsp:cNvSpPr/>
      </dsp:nvSpPr>
      <dsp:spPr>
        <a:xfrm rot="12900000">
          <a:off x="3125081" y="2099384"/>
          <a:ext cx="1582900" cy="588741"/>
        </a:xfrm>
        <a:prstGeom prst="leftArrow">
          <a:avLst>
            <a:gd name="adj1" fmla="val 60000"/>
            <a:gd name="adj2" fmla="val 5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a:schemeClr val="lt1"/>
        </a:fontRef>
      </dsp:style>
    </dsp:sp>
    <dsp:sp modelId="{1185DBC6-FB89-42EA-8247-7EE7ED5C0D2B}">
      <dsp:nvSpPr>
        <dsp:cNvPr id="0" name=""/>
        <dsp:cNvSpPr/>
      </dsp:nvSpPr>
      <dsp:spPr>
        <a:xfrm>
          <a:off x="2286978" y="1154809"/>
          <a:ext cx="1962470" cy="1569976"/>
        </a:xfrm>
        <a:prstGeom prst="roundRect">
          <a:avLst>
            <a:gd name="adj" fmla="val 10000"/>
          </a:avLst>
        </a:prstGeom>
        <a:solidFill>
          <a:srgbClr val="FF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rgbClr val="002060"/>
              </a:solidFill>
            </a:rPr>
            <a:t>Turnkey </a:t>
          </a:r>
          <a:r>
            <a:rPr lang="en-US" sz="2600" kern="1200" dirty="0">
              <a:solidFill>
                <a:srgbClr val="002060"/>
              </a:solidFill>
              <a:sym typeface="Wingdings" panose="05000000000000000000" pitchFamily="2" charset="2"/>
            </a:rPr>
            <a:t> Lumpsum</a:t>
          </a:r>
          <a:endParaRPr lang="en-US" sz="2600" kern="1200" dirty="0">
            <a:solidFill>
              <a:srgbClr val="002060"/>
            </a:solidFill>
          </a:endParaRPr>
        </a:p>
      </dsp:txBody>
      <dsp:txXfrm>
        <a:off x="2332961" y="1200792"/>
        <a:ext cx="1870504" cy="1478010"/>
      </dsp:txXfrm>
    </dsp:sp>
    <dsp:sp modelId="{EB97647C-AF10-4B49-BDD5-262E5E6568BD}">
      <dsp:nvSpPr>
        <dsp:cNvPr id="0" name=""/>
        <dsp:cNvSpPr/>
      </dsp:nvSpPr>
      <dsp:spPr>
        <a:xfrm rot="16200000">
          <a:off x="4694949" y="1282162"/>
          <a:ext cx="1582900" cy="588741"/>
        </a:xfrm>
        <a:prstGeom prst="leftArrow">
          <a:avLst>
            <a:gd name="adj1" fmla="val 60000"/>
            <a:gd name="adj2" fmla="val 50000"/>
          </a:avLst>
        </a:prstGeom>
        <a:solidFill>
          <a:schemeClr val="accent2">
            <a:lumMod val="50000"/>
          </a:schemeClr>
        </a:solidFill>
        <a:ln>
          <a:noFill/>
        </a:ln>
        <a:effectLst/>
      </dsp:spPr>
      <dsp:style>
        <a:lnRef idx="0">
          <a:scrgbClr r="0" g="0" b="0"/>
        </a:lnRef>
        <a:fillRef idx="1">
          <a:scrgbClr r="0" g="0" b="0"/>
        </a:fillRef>
        <a:effectRef idx="0">
          <a:scrgbClr r="0" g="0" b="0"/>
        </a:effectRef>
        <a:fontRef idx="minor">
          <a:schemeClr val="lt1"/>
        </a:fontRef>
      </dsp:style>
    </dsp:sp>
    <dsp:sp modelId="{38883954-356F-40BB-9D07-4CC9DE5E526C}">
      <dsp:nvSpPr>
        <dsp:cNvPr id="0" name=""/>
        <dsp:cNvSpPr/>
      </dsp:nvSpPr>
      <dsp:spPr>
        <a:xfrm>
          <a:off x="4505164" y="94"/>
          <a:ext cx="1962470" cy="1569976"/>
        </a:xfrm>
        <a:prstGeom prst="roundRect">
          <a:avLst>
            <a:gd name="adj" fmla="val 10000"/>
          </a:avLst>
        </a:prstGeom>
        <a:solidFill>
          <a:srgbClr val="FFFF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rgbClr val="002060"/>
              </a:solidFill>
            </a:rPr>
            <a:t>Lumpsum</a:t>
          </a:r>
        </a:p>
        <a:p>
          <a:pPr marL="0" lvl="0" indent="0" algn="ctr" defTabSz="1155700">
            <a:lnSpc>
              <a:spcPct val="90000"/>
            </a:lnSpc>
            <a:spcBef>
              <a:spcPct val="0"/>
            </a:spcBef>
            <a:spcAft>
              <a:spcPct val="35000"/>
            </a:spcAft>
            <a:buNone/>
          </a:pPr>
          <a:r>
            <a:rPr lang="en-US" sz="2600" kern="1200" dirty="0">
              <a:solidFill>
                <a:srgbClr val="002060"/>
              </a:solidFill>
            </a:rPr>
            <a:t>+ Unit Price</a:t>
          </a:r>
        </a:p>
      </dsp:txBody>
      <dsp:txXfrm>
        <a:off x="4551147" y="46077"/>
        <a:ext cx="1870504" cy="1478010"/>
      </dsp:txXfrm>
    </dsp:sp>
    <dsp:sp modelId="{883CBA1F-7FDF-442F-92DE-12B8FC78ECA1}">
      <dsp:nvSpPr>
        <dsp:cNvPr id="0" name=""/>
        <dsp:cNvSpPr/>
      </dsp:nvSpPr>
      <dsp:spPr>
        <a:xfrm rot="19500000">
          <a:off x="6264818" y="2099384"/>
          <a:ext cx="1582900" cy="588741"/>
        </a:xfrm>
        <a:prstGeom prst="leftArrow">
          <a:avLst>
            <a:gd name="adj1" fmla="val 60000"/>
            <a:gd name="adj2" fmla="val 50000"/>
          </a:avLst>
        </a:prstGeom>
        <a:solidFill>
          <a:srgbClr val="C00000"/>
        </a:solidFill>
        <a:ln>
          <a:noFill/>
        </a:ln>
        <a:effectLst/>
      </dsp:spPr>
      <dsp:style>
        <a:lnRef idx="0">
          <a:scrgbClr r="0" g="0" b="0"/>
        </a:lnRef>
        <a:fillRef idx="1">
          <a:scrgbClr r="0" g="0" b="0"/>
        </a:fillRef>
        <a:effectRef idx="0">
          <a:scrgbClr r="0" g="0" b="0"/>
        </a:effectRef>
        <a:fontRef idx="minor">
          <a:schemeClr val="lt1"/>
        </a:fontRef>
      </dsp:style>
    </dsp:sp>
    <dsp:sp modelId="{EF23F68E-9F27-4790-8990-B71112A0630F}">
      <dsp:nvSpPr>
        <dsp:cNvPr id="0" name=""/>
        <dsp:cNvSpPr/>
      </dsp:nvSpPr>
      <dsp:spPr>
        <a:xfrm>
          <a:off x="6723351" y="1154809"/>
          <a:ext cx="1962470" cy="1569976"/>
        </a:xfrm>
        <a:prstGeom prst="roundRect">
          <a:avLst>
            <a:gd name="adj" fmla="val 10000"/>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rgbClr val="002060"/>
              </a:solidFill>
            </a:rPr>
            <a:t>Unit Price</a:t>
          </a:r>
        </a:p>
      </dsp:txBody>
      <dsp:txXfrm>
        <a:off x="6769334" y="1200792"/>
        <a:ext cx="1870504" cy="147801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FBCE3C-C1A1-49C0-84E9-B42CB59F34C9}">
      <dsp:nvSpPr>
        <dsp:cNvPr id="0" name=""/>
        <dsp:cNvSpPr/>
      </dsp:nvSpPr>
      <dsp:spPr>
        <a:xfrm>
          <a:off x="1892300" y="3877"/>
          <a:ext cx="1206499" cy="1206499"/>
        </a:xfrm>
        <a:prstGeom prst="ellipse">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chemeClr val="accent5">
                  <a:lumMod val="50000"/>
                </a:schemeClr>
              </a:solidFill>
            </a:rPr>
            <a:t>Best Unit Price</a:t>
          </a:r>
        </a:p>
      </dsp:txBody>
      <dsp:txXfrm>
        <a:off x="2068988" y="180565"/>
        <a:ext cx="853123" cy="853123"/>
      </dsp:txXfrm>
    </dsp:sp>
    <dsp:sp modelId="{41C3230F-E73A-47DE-9794-26549B874E87}">
      <dsp:nvSpPr>
        <dsp:cNvPr id="0" name=""/>
        <dsp:cNvSpPr/>
      </dsp:nvSpPr>
      <dsp:spPr>
        <a:xfrm>
          <a:off x="2145665" y="1308345"/>
          <a:ext cx="699769" cy="699769"/>
        </a:xfrm>
        <a:prstGeom prst="mathPlus">
          <a:avLst/>
        </a:prstGeom>
        <a:solidFill>
          <a:schemeClr val="accent4">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238419" y="1575937"/>
        <a:ext cx="514261" cy="164585"/>
      </dsp:txXfrm>
    </dsp:sp>
    <dsp:sp modelId="{666DC3BA-364E-44FD-B96A-DB93D1BF2BB7}">
      <dsp:nvSpPr>
        <dsp:cNvPr id="0" name=""/>
        <dsp:cNvSpPr/>
      </dsp:nvSpPr>
      <dsp:spPr>
        <a:xfrm>
          <a:off x="1892300" y="2106083"/>
          <a:ext cx="1206499" cy="1206499"/>
        </a:xfrm>
        <a:prstGeom prst="ellipse">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FF00"/>
              </a:solidFill>
            </a:rPr>
            <a:t>Risk Basket</a:t>
          </a:r>
        </a:p>
      </dsp:txBody>
      <dsp:txXfrm>
        <a:off x="2068988" y="2282771"/>
        <a:ext cx="853123" cy="853123"/>
      </dsp:txXfrm>
    </dsp:sp>
    <dsp:sp modelId="{F55212DF-5238-4195-B037-32DD8C381D3E}">
      <dsp:nvSpPr>
        <dsp:cNvPr id="0" name=""/>
        <dsp:cNvSpPr/>
      </dsp:nvSpPr>
      <dsp:spPr>
        <a:xfrm>
          <a:off x="2145665" y="3410551"/>
          <a:ext cx="699769" cy="699769"/>
        </a:xfrm>
        <a:prstGeom prst="mathPlus">
          <a:avLst/>
        </a:prstGeom>
        <a:solidFill>
          <a:schemeClr val="accent6">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238419" y="3678143"/>
        <a:ext cx="514261" cy="164585"/>
      </dsp:txXfrm>
    </dsp:sp>
    <dsp:sp modelId="{BB78A9BA-B5C3-4DB5-AF4C-E7B608D7DDFE}">
      <dsp:nvSpPr>
        <dsp:cNvPr id="0" name=""/>
        <dsp:cNvSpPr/>
      </dsp:nvSpPr>
      <dsp:spPr>
        <a:xfrm>
          <a:off x="1892300" y="4208289"/>
          <a:ext cx="1206499" cy="1206499"/>
        </a:xfrm>
        <a:prstGeom prst="ellipse">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Profit</a:t>
          </a:r>
        </a:p>
      </dsp:txBody>
      <dsp:txXfrm>
        <a:off x="2068988" y="4384977"/>
        <a:ext cx="853123" cy="853123"/>
      </dsp:txXfrm>
    </dsp:sp>
    <dsp:sp modelId="{266EA3D5-663E-4396-B701-3E7073C73DA0}">
      <dsp:nvSpPr>
        <dsp:cNvPr id="0" name=""/>
        <dsp:cNvSpPr/>
      </dsp:nvSpPr>
      <dsp:spPr>
        <a:xfrm rot="21527014">
          <a:off x="3448069" y="2126768"/>
          <a:ext cx="740796" cy="1108948"/>
        </a:xfrm>
        <a:prstGeom prst="rightArrow">
          <a:avLst>
            <a:gd name="adj1" fmla="val 60000"/>
            <a:gd name="adj2" fmla="val 50000"/>
          </a:avLst>
        </a:prstGeom>
        <a:solidFill>
          <a:srgbClr val="FFC00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448094" y="2350917"/>
        <a:ext cx="518557" cy="665368"/>
      </dsp:txXfrm>
    </dsp:sp>
    <dsp:sp modelId="{B2A36BDD-0C23-48CD-9206-0D901A82E950}">
      <dsp:nvSpPr>
        <dsp:cNvPr id="0" name=""/>
        <dsp:cNvSpPr/>
      </dsp:nvSpPr>
      <dsp:spPr>
        <a:xfrm>
          <a:off x="4495941" y="1434738"/>
          <a:ext cx="2412999" cy="241299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r>
            <a:rPr lang="en-US" sz="5100" kern="1200" dirty="0"/>
            <a:t>Total Cost</a:t>
          </a:r>
        </a:p>
      </dsp:txBody>
      <dsp:txXfrm>
        <a:off x="4849317" y="1788114"/>
        <a:ext cx="1706247" cy="170624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1C85A0-71D1-4F7A-8ADB-57D882CA6CFE}">
      <dsp:nvSpPr>
        <dsp:cNvPr id="0" name=""/>
        <dsp:cNvSpPr/>
      </dsp:nvSpPr>
      <dsp:spPr>
        <a:xfrm>
          <a:off x="4362453" y="1513191"/>
          <a:ext cx="285353" cy="1250119"/>
        </a:xfrm>
        <a:custGeom>
          <a:avLst/>
          <a:gdLst/>
          <a:ahLst/>
          <a:cxnLst/>
          <a:rect l="0" t="0" r="0" b="0"/>
          <a:pathLst>
            <a:path>
              <a:moveTo>
                <a:pt x="285353" y="0"/>
              </a:moveTo>
              <a:lnTo>
                <a:pt x="285353" y="1250119"/>
              </a:lnTo>
              <a:lnTo>
                <a:pt x="0" y="12501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308795-6199-42B5-A53A-CC5DF3DA9C13}">
      <dsp:nvSpPr>
        <dsp:cNvPr id="0" name=""/>
        <dsp:cNvSpPr/>
      </dsp:nvSpPr>
      <dsp:spPr>
        <a:xfrm>
          <a:off x="4647807" y="1513191"/>
          <a:ext cx="3288357" cy="2500238"/>
        </a:xfrm>
        <a:custGeom>
          <a:avLst/>
          <a:gdLst/>
          <a:ahLst/>
          <a:cxnLst/>
          <a:rect l="0" t="0" r="0" b="0"/>
          <a:pathLst>
            <a:path>
              <a:moveTo>
                <a:pt x="0" y="0"/>
              </a:moveTo>
              <a:lnTo>
                <a:pt x="0" y="2214885"/>
              </a:lnTo>
              <a:lnTo>
                <a:pt x="3288357" y="2214885"/>
              </a:lnTo>
              <a:lnTo>
                <a:pt x="3288357" y="25002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B66AF1-2072-4D31-B508-A5FCEFC1FFF9}">
      <dsp:nvSpPr>
        <dsp:cNvPr id="0" name=""/>
        <dsp:cNvSpPr/>
      </dsp:nvSpPr>
      <dsp:spPr>
        <a:xfrm>
          <a:off x="4602087" y="1513191"/>
          <a:ext cx="91440" cy="2500238"/>
        </a:xfrm>
        <a:custGeom>
          <a:avLst/>
          <a:gdLst/>
          <a:ahLst/>
          <a:cxnLst/>
          <a:rect l="0" t="0" r="0" b="0"/>
          <a:pathLst>
            <a:path>
              <a:moveTo>
                <a:pt x="45720" y="0"/>
              </a:moveTo>
              <a:lnTo>
                <a:pt x="45720" y="25002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EBFD12-FF00-44DD-A0CD-9425AC0A16EB}">
      <dsp:nvSpPr>
        <dsp:cNvPr id="0" name=""/>
        <dsp:cNvSpPr/>
      </dsp:nvSpPr>
      <dsp:spPr>
        <a:xfrm>
          <a:off x="1359449" y="1513191"/>
          <a:ext cx="3288357" cy="2500238"/>
        </a:xfrm>
        <a:custGeom>
          <a:avLst/>
          <a:gdLst/>
          <a:ahLst/>
          <a:cxnLst/>
          <a:rect l="0" t="0" r="0" b="0"/>
          <a:pathLst>
            <a:path>
              <a:moveTo>
                <a:pt x="3288357" y="0"/>
              </a:moveTo>
              <a:lnTo>
                <a:pt x="3288357" y="2214885"/>
              </a:lnTo>
              <a:lnTo>
                <a:pt x="0" y="2214885"/>
              </a:lnTo>
              <a:lnTo>
                <a:pt x="0" y="25002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99CF82-DDBC-42A5-8FB4-26F226CFA6D5}">
      <dsp:nvSpPr>
        <dsp:cNvPr id="0" name=""/>
        <dsp:cNvSpPr/>
      </dsp:nvSpPr>
      <dsp:spPr>
        <a:xfrm>
          <a:off x="3288981" y="154365"/>
          <a:ext cx="2717650" cy="1358825"/>
        </a:xfrm>
        <a:prstGeom prst="rect">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rgbClr val="002060"/>
              </a:solidFill>
            </a:rPr>
            <a:t>Drilling Manager</a:t>
          </a:r>
        </a:p>
      </dsp:txBody>
      <dsp:txXfrm>
        <a:off x="3288981" y="154365"/>
        <a:ext cx="2717650" cy="1358825"/>
      </dsp:txXfrm>
    </dsp:sp>
    <dsp:sp modelId="{B2E813E5-299C-4A2F-BF6B-60BA8B2484FD}">
      <dsp:nvSpPr>
        <dsp:cNvPr id="0" name=""/>
        <dsp:cNvSpPr/>
      </dsp:nvSpPr>
      <dsp:spPr>
        <a:xfrm>
          <a:off x="624" y="4013429"/>
          <a:ext cx="2717650" cy="1358825"/>
        </a:xfrm>
        <a:prstGeom prst="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kern="1200" dirty="0">
              <a:solidFill>
                <a:schemeClr val="accent2">
                  <a:lumMod val="75000"/>
                </a:schemeClr>
              </a:solidFill>
            </a:rPr>
            <a:t>Drilling Engineer</a:t>
          </a:r>
        </a:p>
      </dsp:txBody>
      <dsp:txXfrm>
        <a:off x="624" y="4013429"/>
        <a:ext cx="2717650" cy="1358825"/>
      </dsp:txXfrm>
    </dsp:sp>
    <dsp:sp modelId="{7C5ABE72-DBAF-48D0-B25C-D18A0F545903}">
      <dsp:nvSpPr>
        <dsp:cNvPr id="0" name=""/>
        <dsp:cNvSpPr/>
      </dsp:nvSpPr>
      <dsp:spPr>
        <a:xfrm>
          <a:off x="3288981" y="4013429"/>
          <a:ext cx="2717650" cy="1358825"/>
        </a:xfrm>
        <a:prstGeom prst="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kern="1200" dirty="0">
              <a:solidFill>
                <a:schemeClr val="accent2">
                  <a:lumMod val="75000"/>
                </a:schemeClr>
              </a:solidFill>
            </a:rPr>
            <a:t>Procurement &amp; Logistic</a:t>
          </a:r>
        </a:p>
      </dsp:txBody>
      <dsp:txXfrm>
        <a:off x="3288981" y="4013429"/>
        <a:ext cx="2717650" cy="1358825"/>
      </dsp:txXfrm>
    </dsp:sp>
    <dsp:sp modelId="{F8F9F97E-9814-406B-A159-D64574AA8258}">
      <dsp:nvSpPr>
        <dsp:cNvPr id="0" name=""/>
        <dsp:cNvSpPr/>
      </dsp:nvSpPr>
      <dsp:spPr>
        <a:xfrm>
          <a:off x="6577339" y="4013429"/>
          <a:ext cx="2717650" cy="1358825"/>
        </a:xfrm>
        <a:prstGeom prst="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kern="1200" dirty="0">
              <a:solidFill>
                <a:schemeClr val="accent2">
                  <a:lumMod val="75000"/>
                </a:schemeClr>
              </a:solidFill>
            </a:rPr>
            <a:t>Cost Control</a:t>
          </a:r>
        </a:p>
      </dsp:txBody>
      <dsp:txXfrm>
        <a:off x="6577339" y="4013429"/>
        <a:ext cx="2717650" cy="1358825"/>
      </dsp:txXfrm>
    </dsp:sp>
    <dsp:sp modelId="{0A88551A-5BE9-41FD-870A-F473E5F28647}">
      <dsp:nvSpPr>
        <dsp:cNvPr id="0" name=""/>
        <dsp:cNvSpPr/>
      </dsp:nvSpPr>
      <dsp:spPr>
        <a:xfrm>
          <a:off x="1644802" y="2083897"/>
          <a:ext cx="2717650" cy="1358825"/>
        </a:xfrm>
        <a:prstGeom prst="rect">
          <a:avLst/>
        </a:prstGeom>
        <a:solidFill>
          <a:srgbClr val="CCFF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2667000">
            <a:lnSpc>
              <a:spcPct val="90000"/>
            </a:lnSpc>
            <a:spcBef>
              <a:spcPct val="0"/>
            </a:spcBef>
            <a:spcAft>
              <a:spcPct val="35000"/>
            </a:spcAft>
            <a:buNone/>
          </a:pPr>
          <a:r>
            <a:rPr lang="en-US" sz="6000" kern="1200" dirty="0">
              <a:solidFill>
                <a:srgbClr val="002060"/>
              </a:solidFill>
            </a:rPr>
            <a:t>Legal</a:t>
          </a:r>
        </a:p>
      </dsp:txBody>
      <dsp:txXfrm>
        <a:off x="1644802" y="2083897"/>
        <a:ext cx="2717650" cy="135882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A8818D-20FD-4956-807C-772673DF5296}">
      <dsp:nvSpPr>
        <dsp:cNvPr id="0" name=""/>
        <dsp:cNvSpPr/>
      </dsp:nvSpPr>
      <dsp:spPr>
        <a:xfrm>
          <a:off x="3657756" y="2484102"/>
          <a:ext cx="2743197" cy="1783080"/>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id-ID" sz="3200" kern="1200" dirty="0">
              <a:solidFill>
                <a:schemeClr val="accent6">
                  <a:lumMod val="50000"/>
                </a:schemeClr>
              </a:solidFill>
            </a:rPr>
            <a:t>Contract Coordinator</a:t>
          </a:r>
        </a:p>
      </dsp:txBody>
      <dsp:txXfrm>
        <a:off x="3744799" y="2571145"/>
        <a:ext cx="2569111" cy="1608994"/>
      </dsp:txXfrm>
    </dsp:sp>
    <dsp:sp modelId="{269E0BFA-569B-42ED-8175-6ACE94233610}">
      <dsp:nvSpPr>
        <dsp:cNvPr id="0" name=""/>
        <dsp:cNvSpPr/>
      </dsp:nvSpPr>
      <dsp:spPr>
        <a:xfrm rot="16200000">
          <a:off x="4414701" y="1869448"/>
          <a:ext cx="1229307" cy="0"/>
        </a:xfrm>
        <a:custGeom>
          <a:avLst/>
          <a:gdLst/>
          <a:ahLst/>
          <a:cxnLst/>
          <a:rect l="0" t="0" r="0" b="0"/>
          <a:pathLst>
            <a:path>
              <a:moveTo>
                <a:pt x="0" y="0"/>
              </a:moveTo>
              <a:lnTo>
                <a:pt x="122930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9C6267-F9F5-48A3-872B-215DD73FD4CF}">
      <dsp:nvSpPr>
        <dsp:cNvPr id="0" name=""/>
        <dsp:cNvSpPr/>
      </dsp:nvSpPr>
      <dsp:spPr>
        <a:xfrm>
          <a:off x="4432023" y="60131"/>
          <a:ext cx="1194663" cy="1194663"/>
        </a:xfrm>
        <a:prstGeom prst="roundRect">
          <a:avLst/>
        </a:prstGeom>
        <a:solidFill>
          <a:srgbClr val="808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600200">
            <a:lnSpc>
              <a:spcPct val="90000"/>
            </a:lnSpc>
            <a:spcBef>
              <a:spcPct val="0"/>
            </a:spcBef>
            <a:spcAft>
              <a:spcPct val="35000"/>
            </a:spcAft>
            <a:buNone/>
          </a:pPr>
          <a:r>
            <a:rPr lang="id-ID" sz="3600" kern="1200" dirty="0">
              <a:solidFill>
                <a:srgbClr val="FFC000"/>
              </a:solidFill>
            </a:rPr>
            <a:t>DE</a:t>
          </a:r>
        </a:p>
      </dsp:txBody>
      <dsp:txXfrm>
        <a:off x="4490342" y="118450"/>
        <a:ext cx="1078025" cy="1078025"/>
      </dsp:txXfrm>
    </dsp:sp>
    <dsp:sp modelId="{99F340ED-3598-45C6-84AA-1CE294426495}">
      <dsp:nvSpPr>
        <dsp:cNvPr id="0" name=""/>
        <dsp:cNvSpPr/>
      </dsp:nvSpPr>
      <dsp:spPr>
        <a:xfrm rot="18994866">
          <a:off x="5909292" y="2327831"/>
          <a:ext cx="454720" cy="0"/>
        </a:xfrm>
        <a:custGeom>
          <a:avLst/>
          <a:gdLst/>
          <a:ahLst/>
          <a:cxnLst/>
          <a:rect l="0" t="0" r="0" b="0"/>
          <a:pathLst>
            <a:path>
              <a:moveTo>
                <a:pt x="0" y="0"/>
              </a:moveTo>
              <a:lnTo>
                <a:pt x="45472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C14864-8158-434C-86E6-D9D670D9459E}">
      <dsp:nvSpPr>
        <dsp:cNvPr id="0" name=""/>
        <dsp:cNvSpPr/>
      </dsp:nvSpPr>
      <dsp:spPr>
        <a:xfrm>
          <a:off x="5865230" y="976896"/>
          <a:ext cx="2135616" cy="1194663"/>
        </a:xfrm>
        <a:prstGeom prst="roundRect">
          <a:avLst/>
        </a:prstGeom>
        <a:solidFill>
          <a:srgbClr val="CCCC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360" tIns="86360" rIns="86360" bIns="86360" numCol="1" spcCol="1270" anchor="ctr" anchorCtr="0">
          <a:noAutofit/>
        </a:bodyPr>
        <a:lstStyle/>
        <a:p>
          <a:pPr marL="0" lvl="0" indent="0" algn="ctr" defTabSz="1511300">
            <a:lnSpc>
              <a:spcPct val="90000"/>
            </a:lnSpc>
            <a:spcBef>
              <a:spcPct val="0"/>
            </a:spcBef>
            <a:spcAft>
              <a:spcPct val="35000"/>
            </a:spcAft>
            <a:buNone/>
          </a:pPr>
          <a:r>
            <a:rPr lang="id-ID" sz="3400" kern="1200" dirty="0">
              <a:solidFill>
                <a:srgbClr val="006600"/>
              </a:solidFill>
            </a:rPr>
            <a:t>Log</a:t>
          </a:r>
          <a:r>
            <a:rPr lang="en-US" sz="3400" kern="1200" dirty="0" err="1">
              <a:solidFill>
                <a:srgbClr val="006600"/>
              </a:solidFill>
            </a:rPr>
            <a:t>istic</a:t>
          </a:r>
          <a:endParaRPr lang="id-ID" sz="3400" kern="1200" dirty="0">
            <a:solidFill>
              <a:srgbClr val="006600"/>
            </a:solidFill>
          </a:endParaRPr>
        </a:p>
      </dsp:txBody>
      <dsp:txXfrm>
        <a:off x="5923549" y="1035215"/>
        <a:ext cx="2018978" cy="1078025"/>
      </dsp:txXfrm>
    </dsp:sp>
    <dsp:sp modelId="{03B7E082-2943-45CF-855F-460294759268}">
      <dsp:nvSpPr>
        <dsp:cNvPr id="0" name=""/>
        <dsp:cNvSpPr/>
      </dsp:nvSpPr>
      <dsp:spPr>
        <a:xfrm rot="372940">
          <a:off x="6399756" y="3547075"/>
          <a:ext cx="407318" cy="0"/>
        </a:xfrm>
        <a:custGeom>
          <a:avLst/>
          <a:gdLst/>
          <a:ahLst/>
          <a:cxnLst/>
          <a:rect l="0" t="0" r="0" b="0"/>
          <a:pathLst>
            <a:path>
              <a:moveTo>
                <a:pt x="0" y="0"/>
              </a:moveTo>
              <a:lnTo>
                <a:pt x="407318"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91D3CA-7980-4A51-9844-291358034668}">
      <dsp:nvSpPr>
        <dsp:cNvPr id="0" name=""/>
        <dsp:cNvSpPr/>
      </dsp:nvSpPr>
      <dsp:spPr>
        <a:xfrm>
          <a:off x="6805877" y="3036850"/>
          <a:ext cx="1194663" cy="1194663"/>
        </a:xfrm>
        <a:prstGeom prst="roundRect">
          <a:avLst/>
        </a:prstGeom>
        <a:solidFill>
          <a:srgbClr val="CCFF3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88900" rIns="88900" bIns="88900" numCol="1" spcCol="1270" anchor="ctr" anchorCtr="0">
          <a:noAutofit/>
        </a:bodyPr>
        <a:lstStyle/>
        <a:p>
          <a:pPr marL="0" lvl="0" indent="0" algn="ctr" defTabSz="1555750">
            <a:lnSpc>
              <a:spcPct val="90000"/>
            </a:lnSpc>
            <a:spcBef>
              <a:spcPct val="0"/>
            </a:spcBef>
            <a:spcAft>
              <a:spcPct val="35000"/>
            </a:spcAft>
            <a:buNone/>
          </a:pPr>
          <a:r>
            <a:rPr lang="id-ID" sz="3500" kern="1200" dirty="0">
              <a:solidFill>
                <a:srgbClr val="006600"/>
              </a:solidFill>
            </a:rPr>
            <a:t>HRD</a:t>
          </a:r>
        </a:p>
      </dsp:txBody>
      <dsp:txXfrm>
        <a:off x="6864196" y="3095169"/>
        <a:ext cx="1078025" cy="1078025"/>
      </dsp:txXfrm>
    </dsp:sp>
    <dsp:sp modelId="{CF54E068-CDA4-4B1F-86FA-3EEB6BE463E3}">
      <dsp:nvSpPr>
        <dsp:cNvPr id="0" name=""/>
        <dsp:cNvSpPr/>
      </dsp:nvSpPr>
      <dsp:spPr>
        <a:xfrm rot="3663498">
          <a:off x="5398036" y="4477993"/>
          <a:ext cx="481792" cy="0"/>
        </a:xfrm>
        <a:custGeom>
          <a:avLst/>
          <a:gdLst/>
          <a:ahLst/>
          <a:cxnLst/>
          <a:rect l="0" t="0" r="0" b="0"/>
          <a:pathLst>
            <a:path>
              <a:moveTo>
                <a:pt x="0" y="0"/>
              </a:moveTo>
              <a:lnTo>
                <a:pt x="48179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DA406C-3701-4E8B-8554-3284F17B9418}">
      <dsp:nvSpPr>
        <dsp:cNvPr id="0" name=""/>
        <dsp:cNvSpPr/>
      </dsp:nvSpPr>
      <dsp:spPr>
        <a:xfrm>
          <a:off x="5488488" y="4688805"/>
          <a:ext cx="1194663" cy="1194663"/>
        </a:xfrm>
        <a:prstGeom prst="roundRect">
          <a:avLst/>
        </a:prstGeom>
        <a:solidFill>
          <a:srgbClr val="FFFF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id-ID" sz="3200" kern="1200" dirty="0">
              <a:solidFill>
                <a:srgbClr val="006600"/>
              </a:solidFill>
            </a:rPr>
            <a:t>G&amp;G</a:t>
          </a:r>
        </a:p>
      </dsp:txBody>
      <dsp:txXfrm>
        <a:off x="5546807" y="4747124"/>
        <a:ext cx="1078025" cy="1078025"/>
      </dsp:txXfrm>
    </dsp:sp>
    <dsp:sp modelId="{5221283E-7556-4637-B8C8-0E850B8636E7}">
      <dsp:nvSpPr>
        <dsp:cNvPr id="0" name=""/>
        <dsp:cNvSpPr/>
      </dsp:nvSpPr>
      <dsp:spPr>
        <a:xfrm rot="7136502">
          <a:off x="4178880" y="4477993"/>
          <a:ext cx="481792" cy="0"/>
        </a:xfrm>
        <a:custGeom>
          <a:avLst/>
          <a:gdLst/>
          <a:ahLst/>
          <a:cxnLst/>
          <a:rect l="0" t="0" r="0" b="0"/>
          <a:pathLst>
            <a:path>
              <a:moveTo>
                <a:pt x="0" y="0"/>
              </a:moveTo>
              <a:lnTo>
                <a:pt x="48179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3534C5-4272-40AF-8DE0-811F2243368A}">
      <dsp:nvSpPr>
        <dsp:cNvPr id="0" name=""/>
        <dsp:cNvSpPr/>
      </dsp:nvSpPr>
      <dsp:spPr>
        <a:xfrm>
          <a:off x="3375558" y="4688805"/>
          <a:ext cx="1194663" cy="1194663"/>
        </a:xfrm>
        <a:prstGeom prst="roundRect">
          <a:avLst/>
        </a:prstGeom>
        <a:solidFill>
          <a:srgbClr val="FF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id-ID" sz="2500" kern="1200" dirty="0">
              <a:solidFill>
                <a:srgbClr val="006600"/>
              </a:solidFill>
            </a:rPr>
            <a:t>Facility</a:t>
          </a:r>
        </a:p>
      </dsp:txBody>
      <dsp:txXfrm>
        <a:off x="3433877" y="4747124"/>
        <a:ext cx="1078025" cy="1078025"/>
      </dsp:txXfrm>
    </dsp:sp>
    <dsp:sp modelId="{F00144A7-9C55-40FB-9F0B-9C502FFB9F3B}">
      <dsp:nvSpPr>
        <dsp:cNvPr id="0" name=""/>
        <dsp:cNvSpPr/>
      </dsp:nvSpPr>
      <dsp:spPr>
        <a:xfrm rot="10427060">
          <a:off x="3251635" y="3547075"/>
          <a:ext cx="407318" cy="0"/>
        </a:xfrm>
        <a:custGeom>
          <a:avLst/>
          <a:gdLst/>
          <a:ahLst/>
          <a:cxnLst/>
          <a:rect l="0" t="0" r="0" b="0"/>
          <a:pathLst>
            <a:path>
              <a:moveTo>
                <a:pt x="0" y="0"/>
              </a:moveTo>
              <a:lnTo>
                <a:pt x="407318"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DD38B4-1B02-40C9-87B0-3CAE3023FB19}">
      <dsp:nvSpPr>
        <dsp:cNvPr id="0" name=""/>
        <dsp:cNvSpPr/>
      </dsp:nvSpPr>
      <dsp:spPr>
        <a:xfrm>
          <a:off x="2058169" y="3036850"/>
          <a:ext cx="1194663" cy="1194663"/>
        </a:xfrm>
        <a:prstGeom prst="roundRect">
          <a:avLst/>
        </a:prstGeom>
        <a:solidFill>
          <a:srgbClr val="FFFF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600200">
            <a:lnSpc>
              <a:spcPct val="90000"/>
            </a:lnSpc>
            <a:spcBef>
              <a:spcPct val="0"/>
            </a:spcBef>
            <a:spcAft>
              <a:spcPct val="35000"/>
            </a:spcAft>
            <a:buNone/>
          </a:pPr>
          <a:r>
            <a:rPr lang="id-ID" sz="3600" kern="1200" dirty="0">
              <a:solidFill>
                <a:srgbClr val="006600"/>
              </a:solidFill>
            </a:rPr>
            <a:t>HSE</a:t>
          </a:r>
        </a:p>
      </dsp:txBody>
      <dsp:txXfrm>
        <a:off x="2116488" y="3095169"/>
        <a:ext cx="1078025" cy="1078025"/>
      </dsp:txXfrm>
    </dsp:sp>
    <dsp:sp modelId="{1A28821A-5856-44EE-9844-58083A81A2C9}">
      <dsp:nvSpPr>
        <dsp:cNvPr id="0" name=""/>
        <dsp:cNvSpPr/>
      </dsp:nvSpPr>
      <dsp:spPr>
        <a:xfrm rot="13405134">
          <a:off x="3694697" y="2327831"/>
          <a:ext cx="454720" cy="0"/>
        </a:xfrm>
        <a:custGeom>
          <a:avLst/>
          <a:gdLst/>
          <a:ahLst/>
          <a:cxnLst/>
          <a:rect l="0" t="0" r="0" b="0"/>
          <a:pathLst>
            <a:path>
              <a:moveTo>
                <a:pt x="0" y="0"/>
              </a:moveTo>
              <a:lnTo>
                <a:pt x="45472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FA5F01-CEEA-4CA1-BE08-A8DF9193FA9C}">
      <dsp:nvSpPr>
        <dsp:cNvPr id="0" name=""/>
        <dsp:cNvSpPr/>
      </dsp:nvSpPr>
      <dsp:spPr>
        <a:xfrm>
          <a:off x="2057552" y="976896"/>
          <a:ext cx="2136237" cy="1194663"/>
        </a:xfrm>
        <a:prstGeom prst="roundRect">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040" tIns="66040" rIns="66040" bIns="66040" numCol="1" spcCol="1270" anchor="ctr" anchorCtr="0">
          <a:noAutofit/>
        </a:bodyPr>
        <a:lstStyle/>
        <a:p>
          <a:pPr marL="0" lvl="0" indent="0" algn="ctr" defTabSz="1155700">
            <a:lnSpc>
              <a:spcPct val="90000"/>
            </a:lnSpc>
            <a:spcBef>
              <a:spcPct val="0"/>
            </a:spcBef>
            <a:spcAft>
              <a:spcPct val="35000"/>
            </a:spcAft>
            <a:buNone/>
          </a:pPr>
          <a:r>
            <a:rPr lang="id-ID" sz="2600" kern="1200" dirty="0">
              <a:solidFill>
                <a:srgbClr val="006600"/>
              </a:solidFill>
            </a:rPr>
            <a:t>Proc</a:t>
          </a:r>
          <a:r>
            <a:rPr lang="en-US" sz="2600" kern="1200" dirty="0" err="1">
              <a:solidFill>
                <a:srgbClr val="006600"/>
              </a:solidFill>
            </a:rPr>
            <a:t>urement</a:t>
          </a:r>
          <a:endParaRPr lang="id-ID" sz="2600" kern="1200" dirty="0">
            <a:solidFill>
              <a:srgbClr val="006600"/>
            </a:solidFill>
          </a:endParaRPr>
        </a:p>
      </dsp:txBody>
      <dsp:txXfrm>
        <a:off x="2115871" y="1035215"/>
        <a:ext cx="2019599" cy="1078025"/>
      </dsp:txXfrm>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11/layout/CircleProcess#1">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1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18.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0.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2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0.46704</cdr:x>
      <cdr:y>0.10083</cdr:y>
    </cdr:from>
    <cdr:to>
      <cdr:x>0.94529</cdr:x>
      <cdr:y>0.37451</cdr:y>
    </cdr:to>
    <cdr:sp macro="" textlink="">
      <cdr:nvSpPr>
        <cdr:cNvPr id="2" name="TextBox 40"/>
        <cdr:cNvSpPr txBox="1"/>
      </cdr:nvSpPr>
      <cdr:spPr>
        <a:xfrm xmlns:a="http://schemas.openxmlformats.org/drawingml/2006/main">
          <a:off x="3125442" y="411595"/>
          <a:ext cx="3200534" cy="1117201"/>
        </a:xfrm>
        <a:prstGeom xmlns:a="http://schemas.openxmlformats.org/drawingml/2006/main" prst="rect">
          <a:avLst/>
        </a:prstGeom>
        <a:solidFill xmlns:a="http://schemas.openxmlformats.org/drawingml/2006/main">
          <a:sysClr val="window" lastClr="FFFFFF"/>
        </a:solidFill>
        <a:ln xmlns:a="http://schemas.openxmlformats.org/drawingml/2006/main">
          <a:solidFill>
            <a:sysClr val="windowText" lastClr="000000"/>
          </a:solidFill>
        </a:ln>
      </cdr:spPr>
      <cdr:txBody>
        <a:bodyPr xmlns:a="http://schemas.openxmlformats.org/drawingml/2006/main" wrap="square" rtlCol="0">
          <a:noAutofit/>
        </a:bodyPr>
        <a:lstStyle xmlns:a="http://schemas.openxmlformats.org/drawingml/2006/main">
          <a:defPPr>
            <a:defRPr lang="en-US"/>
          </a:defPPr>
          <a:lvl1pPr marL="0" algn="l" defTabSz="1263884" rtl="0" eaLnBrk="1" latinLnBrk="0" hangingPunct="1">
            <a:defRPr sz="2500" kern="1200">
              <a:solidFill>
                <a:sysClr val="windowText" lastClr="000000"/>
              </a:solidFill>
              <a:latin typeface="Calibri"/>
            </a:defRPr>
          </a:lvl1pPr>
          <a:lvl2pPr marL="631942" algn="l" defTabSz="1263884" rtl="0" eaLnBrk="1" latinLnBrk="0" hangingPunct="1">
            <a:defRPr sz="2500" kern="1200">
              <a:solidFill>
                <a:sysClr val="windowText" lastClr="000000"/>
              </a:solidFill>
              <a:latin typeface="Calibri"/>
            </a:defRPr>
          </a:lvl2pPr>
          <a:lvl3pPr marL="1263884" algn="l" defTabSz="1263884" rtl="0" eaLnBrk="1" latinLnBrk="0" hangingPunct="1">
            <a:defRPr sz="2500" kern="1200">
              <a:solidFill>
                <a:sysClr val="windowText" lastClr="000000"/>
              </a:solidFill>
              <a:latin typeface="Calibri"/>
            </a:defRPr>
          </a:lvl3pPr>
          <a:lvl4pPr marL="1895826" algn="l" defTabSz="1263884" rtl="0" eaLnBrk="1" latinLnBrk="0" hangingPunct="1">
            <a:defRPr sz="2500" kern="1200">
              <a:solidFill>
                <a:sysClr val="windowText" lastClr="000000"/>
              </a:solidFill>
              <a:latin typeface="Calibri"/>
            </a:defRPr>
          </a:lvl4pPr>
          <a:lvl5pPr marL="2527767" algn="l" defTabSz="1263884" rtl="0" eaLnBrk="1" latinLnBrk="0" hangingPunct="1">
            <a:defRPr sz="2500" kern="1200">
              <a:solidFill>
                <a:sysClr val="windowText" lastClr="000000"/>
              </a:solidFill>
              <a:latin typeface="Calibri"/>
            </a:defRPr>
          </a:lvl5pPr>
          <a:lvl6pPr marL="3159709" algn="l" defTabSz="1263884" rtl="0" eaLnBrk="1" latinLnBrk="0" hangingPunct="1">
            <a:defRPr sz="2500" kern="1200">
              <a:solidFill>
                <a:sysClr val="windowText" lastClr="000000"/>
              </a:solidFill>
              <a:latin typeface="Calibri"/>
            </a:defRPr>
          </a:lvl6pPr>
          <a:lvl7pPr marL="3791651" algn="l" defTabSz="1263884" rtl="0" eaLnBrk="1" latinLnBrk="0" hangingPunct="1">
            <a:defRPr sz="2500" kern="1200">
              <a:solidFill>
                <a:sysClr val="windowText" lastClr="000000"/>
              </a:solidFill>
              <a:latin typeface="Calibri"/>
            </a:defRPr>
          </a:lvl7pPr>
          <a:lvl8pPr marL="4423593" algn="l" defTabSz="1263884" rtl="0" eaLnBrk="1" latinLnBrk="0" hangingPunct="1">
            <a:defRPr sz="2500" kern="1200">
              <a:solidFill>
                <a:sysClr val="windowText" lastClr="000000"/>
              </a:solidFill>
              <a:latin typeface="Calibri"/>
            </a:defRPr>
          </a:lvl8pPr>
          <a:lvl9pPr marL="5055535" algn="l" defTabSz="1263884" rtl="0" eaLnBrk="1" latinLnBrk="0" hangingPunct="1">
            <a:defRPr sz="2500" kern="1200">
              <a:solidFill>
                <a:sysClr val="windowText" lastClr="000000"/>
              </a:solidFill>
              <a:latin typeface="Calibri"/>
            </a:defRPr>
          </a:lvl9pPr>
        </a:lstStyle>
        <a:p xmlns:a="http://schemas.openxmlformats.org/drawingml/2006/main">
          <a:r>
            <a:rPr lang="en-US" sz="1400" b="1" dirty="0">
              <a:solidFill>
                <a:schemeClr val="tx1"/>
              </a:solidFill>
              <a:latin typeface="Avenir Next LT Pro Light" panose="020B0304020202020204" pitchFamily="34" charset="0"/>
              <a:cs typeface="Times New Roman" pitchFamily="18" charset="0"/>
            </a:rPr>
            <a:t>Mean</a:t>
          </a:r>
          <a:r>
            <a:rPr lang="en-US" sz="1400" b="1" baseline="0" dirty="0">
              <a:solidFill>
                <a:schemeClr val="tx1"/>
              </a:solidFill>
              <a:latin typeface="Avenir Next LT Pro Light" panose="020B0304020202020204" pitchFamily="34" charset="0"/>
              <a:cs typeface="Times New Roman" pitchFamily="18" charset="0"/>
            </a:rPr>
            <a:t> d</a:t>
          </a:r>
          <a:r>
            <a:rPr lang="en-US" sz="1400" b="1" dirty="0">
              <a:solidFill>
                <a:schemeClr val="tx1"/>
              </a:solidFill>
              <a:latin typeface="Avenir Next LT Pro Light" panose="020B0304020202020204" pitchFamily="34" charset="0"/>
              <a:cs typeface="Times New Roman" pitchFamily="18" charset="0"/>
            </a:rPr>
            <a:t>rilling cost</a:t>
          </a:r>
        </a:p>
        <a:p xmlns:a="http://schemas.openxmlformats.org/drawingml/2006/main">
          <a:r>
            <a:rPr lang="en-US" sz="1400" b="0" dirty="0">
              <a:solidFill>
                <a:schemeClr val="tx1"/>
              </a:solidFill>
              <a:latin typeface="Avenir Next LT Pro Light" panose="020B0304020202020204" pitchFamily="34" charset="0"/>
              <a:cs typeface="Times New Roman" pitchFamily="18" charset="0"/>
            </a:rPr>
            <a:t>Total wells    	              : 6.9 MUSD</a:t>
          </a:r>
        </a:p>
        <a:p xmlns:a="http://schemas.openxmlformats.org/drawingml/2006/main">
          <a:r>
            <a:rPr lang="en-US" sz="1400" b="0" dirty="0">
              <a:solidFill>
                <a:schemeClr val="tx1"/>
              </a:solidFill>
              <a:latin typeface="Avenir Next LT Pro Light" panose="020B0304020202020204" pitchFamily="34" charset="0"/>
              <a:cs typeface="Times New Roman" pitchFamily="18" charset="0"/>
            </a:rPr>
            <a:t>Exploration wells </a:t>
          </a:r>
          <a:r>
            <a:rPr lang="en-US" sz="1400" b="0" baseline="0" dirty="0">
              <a:solidFill>
                <a:schemeClr val="tx1"/>
              </a:solidFill>
              <a:latin typeface="Avenir Next LT Pro Light" panose="020B0304020202020204" pitchFamily="34" charset="0"/>
              <a:cs typeface="Times New Roman" pitchFamily="18" charset="0"/>
            </a:rPr>
            <a:t>           </a:t>
          </a:r>
          <a:r>
            <a:rPr lang="en-US" sz="1400" b="0" dirty="0">
              <a:solidFill>
                <a:schemeClr val="tx1"/>
              </a:solidFill>
              <a:latin typeface="Avenir Next LT Pro Light" panose="020B0304020202020204" pitchFamily="34" charset="0"/>
              <a:cs typeface="Times New Roman" pitchFamily="18" charset="0"/>
            </a:rPr>
            <a:t>: 7.6 MUSD</a:t>
          </a:r>
        </a:p>
        <a:p xmlns:a="http://schemas.openxmlformats.org/drawingml/2006/main">
          <a:r>
            <a:rPr lang="en-US" sz="1400" b="0" dirty="0">
              <a:solidFill>
                <a:schemeClr val="tx1"/>
              </a:solidFill>
              <a:latin typeface="Avenir Next LT Pro Light" panose="020B0304020202020204" pitchFamily="34" charset="0"/>
              <a:cs typeface="Times New Roman" pitchFamily="18" charset="0"/>
            </a:rPr>
            <a:t>Development wells</a:t>
          </a:r>
          <a:r>
            <a:rPr lang="en-US" sz="1400" b="0" baseline="0" dirty="0">
              <a:solidFill>
                <a:schemeClr val="tx1"/>
              </a:solidFill>
              <a:latin typeface="Avenir Next LT Pro Light" panose="020B0304020202020204" pitchFamily="34" charset="0"/>
              <a:cs typeface="Times New Roman" pitchFamily="18" charset="0"/>
            </a:rPr>
            <a:t>        </a:t>
          </a:r>
          <a:r>
            <a:rPr lang="en-US" sz="1400" b="0" dirty="0">
              <a:solidFill>
                <a:schemeClr val="tx1"/>
              </a:solidFill>
              <a:latin typeface="Avenir Next LT Pro Light" panose="020B0304020202020204" pitchFamily="34" charset="0"/>
              <a:cs typeface="Times New Roman" pitchFamily="18" charset="0"/>
            </a:rPr>
            <a:t>: 6.6 MUSD</a:t>
          </a:r>
        </a:p>
        <a:p xmlns:a="http://schemas.openxmlformats.org/drawingml/2006/main">
          <a:r>
            <a:rPr lang="en-US" sz="1400" b="0" dirty="0">
              <a:solidFill>
                <a:schemeClr val="tx1"/>
              </a:solidFill>
              <a:latin typeface="Avenir Next LT Pro Light" panose="020B0304020202020204" pitchFamily="34" charset="0"/>
              <a:cs typeface="Times New Roman" pitchFamily="18" charset="0"/>
            </a:rPr>
            <a:t>Operation (M/U wells)  : 6.5 MUSD</a:t>
          </a:r>
        </a:p>
      </cdr:txBody>
    </cdr:sp>
  </cdr:relSizeAnchor>
</c:userShapes>
</file>

<file path=ppt/drawings/drawing2.xml><?xml version="1.0" encoding="utf-8"?>
<c:userShapes xmlns:c="http://schemas.openxmlformats.org/drawingml/2006/chart">
  <cdr:relSizeAnchor xmlns:cdr="http://schemas.openxmlformats.org/drawingml/2006/chartDrawing">
    <cdr:from>
      <cdr:x>0.42608</cdr:x>
      <cdr:y>0.04918</cdr:y>
    </cdr:from>
    <cdr:to>
      <cdr:x>0.96184</cdr:x>
      <cdr:y>0.28267</cdr:y>
    </cdr:to>
    <cdr:sp macro="" textlink="">
      <cdr:nvSpPr>
        <cdr:cNvPr id="2" name="TextBox 40"/>
        <cdr:cNvSpPr txBox="1"/>
      </cdr:nvSpPr>
      <cdr:spPr>
        <a:xfrm xmlns:a="http://schemas.openxmlformats.org/drawingml/2006/main">
          <a:off x="2725887" y="235785"/>
          <a:ext cx="3427602" cy="1119409"/>
        </a:xfrm>
        <a:prstGeom xmlns:a="http://schemas.openxmlformats.org/drawingml/2006/main" prst="rect">
          <a:avLst/>
        </a:prstGeom>
        <a:solidFill xmlns:a="http://schemas.openxmlformats.org/drawingml/2006/main">
          <a:sysClr val="window" lastClr="FFFFFF"/>
        </a:solidFill>
        <a:ln xmlns:a="http://schemas.openxmlformats.org/drawingml/2006/main">
          <a:solidFill>
            <a:sysClr val="windowText" lastClr="000000"/>
          </a:solidFill>
        </a:ln>
      </cdr:spPr>
      <cdr:txBody>
        <a:bodyPr xmlns:a="http://schemas.openxmlformats.org/drawingml/2006/main" wrap="square" rtlCol="0">
          <a:noAutofit/>
        </a:bodyPr>
        <a:lstStyle xmlns:a="http://schemas.openxmlformats.org/drawingml/2006/main">
          <a:lvl1pPr marL="0" indent="0">
            <a:defRPr sz="1100">
              <a:latin typeface="Calibri"/>
            </a:defRPr>
          </a:lvl1pPr>
          <a:lvl2pPr marL="457200" indent="0">
            <a:defRPr sz="1100">
              <a:latin typeface="Calibri"/>
            </a:defRPr>
          </a:lvl2pPr>
          <a:lvl3pPr marL="914400" indent="0">
            <a:defRPr sz="1100">
              <a:latin typeface="Calibri"/>
            </a:defRPr>
          </a:lvl3pPr>
          <a:lvl4pPr marL="1371600" indent="0">
            <a:defRPr sz="1100">
              <a:latin typeface="Calibri"/>
            </a:defRPr>
          </a:lvl4pPr>
          <a:lvl5pPr marL="1828800" indent="0">
            <a:defRPr sz="1100">
              <a:latin typeface="Calibri"/>
            </a:defRPr>
          </a:lvl5pPr>
          <a:lvl6pPr marL="2286000" indent="0">
            <a:defRPr sz="1100">
              <a:latin typeface="Calibri"/>
            </a:defRPr>
          </a:lvl6pPr>
          <a:lvl7pPr marL="2743200" indent="0">
            <a:defRPr sz="1100">
              <a:latin typeface="Calibri"/>
            </a:defRPr>
          </a:lvl7pPr>
          <a:lvl8pPr marL="3200400" indent="0">
            <a:defRPr sz="1100">
              <a:latin typeface="Calibri"/>
            </a:defRPr>
          </a:lvl8pPr>
          <a:lvl9pPr marL="3657600" indent="0">
            <a:defRPr sz="1100">
              <a:latin typeface="Calibri"/>
            </a:defRPr>
          </a:lvl9pPr>
        </a:lstStyle>
        <a:p xmlns:a="http://schemas.openxmlformats.org/drawingml/2006/main">
          <a:r>
            <a:rPr lang="en-US" sz="1400" b="1" dirty="0">
              <a:solidFill>
                <a:schemeClr val="tx1"/>
              </a:solidFill>
              <a:latin typeface="Avenir Next LT Pro" panose="020B0504020202020204" pitchFamily="34" charset="0"/>
              <a:cs typeface="Times New Roman" pitchFamily="18" charset="0"/>
            </a:rPr>
            <a:t>Mean</a:t>
          </a:r>
          <a:r>
            <a:rPr lang="en-US" sz="1400" b="1" baseline="0" dirty="0">
              <a:solidFill>
                <a:schemeClr val="tx1"/>
              </a:solidFill>
              <a:latin typeface="Avenir Next LT Pro" panose="020B0504020202020204" pitchFamily="34" charset="0"/>
              <a:cs typeface="Times New Roman" pitchFamily="18" charset="0"/>
            </a:rPr>
            <a:t> drilling unit cost</a:t>
          </a:r>
          <a:r>
            <a:rPr lang="en-US" sz="1400" b="1" dirty="0">
              <a:solidFill>
                <a:schemeClr val="tx1"/>
              </a:solidFill>
              <a:latin typeface="Avenir Next LT Pro" panose="020B0504020202020204" pitchFamily="34" charset="0"/>
              <a:cs typeface="Times New Roman" pitchFamily="18" charset="0"/>
            </a:rPr>
            <a:t>            </a:t>
          </a:r>
        </a:p>
        <a:p xmlns:a="http://schemas.openxmlformats.org/drawingml/2006/main">
          <a:r>
            <a:rPr lang="en-US" sz="1400" b="0" dirty="0">
              <a:solidFill>
                <a:schemeClr val="tx1"/>
              </a:solidFill>
              <a:latin typeface="Avenir Next LT Pro" panose="020B0504020202020204" pitchFamily="34" charset="0"/>
              <a:cs typeface="Times New Roman" pitchFamily="18" charset="0"/>
            </a:rPr>
            <a:t>Total wells                    	: 3.258 USD/m</a:t>
          </a:r>
        </a:p>
        <a:p xmlns:a="http://schemas.openxmlformats.org/drawingml/2006/main">
          <a:r>
            <a:rPr lang="en-US" sz="1400" b="0" dirty="0">
              <a:solidFill>
                <a:schemeClr val="tx1"/>
              </a:solidFill>
              <a:latin typeface="Avenir Next LT Pro" panose="020B0504020202020204" pitchFamily="34" charset="0"/>
              <a:cs typeface="Times New Roman" pitchFamily="18" charset="0"/>
            </a:rPr>
            <a:t>Exploration  wells	: 3.853 USD/m</a:t>
          </a:r>
        </a:p>
        <a:p xmlns:a="http://schemas.openxmlformats.org/drawingml/2006/main">
          <a:r>
            <a:rPr lang="en-US" sz="1400" b="0" dirty="0">
              <a:solidFill>
                <a:schemeClr val="tx1"/>
              </a:solidFill>
              <a:latin typeface="Avenir Next LT Pro" panose="020B0504020202020204" pitchFamily="34" charset="0"/>
              <a:cs typeface="Times New Roman" pitchFamily="18" charset="0"/>
            </a:rPr>
            <a:t>Development wells      : 3.243 USD/m</a:t>
          </a:r>
        </a:p>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400" b="0" dirty="0">
              <a:solidFill>
                <a:schemeClr val="tx1"/>
              </a:solidFill>
              <a:latin typeface="Avenir Next LT Pro" panose="020B0504020202020204" pitchFamily="34" charset="0"/>
              <a:cs typeface="Times New Roman" pitchFamily="18" charset="0"/>
            </a:rPr>
            <a:t>Operation</a:t>
          </a:r>
          <a:r>
            <a:rPr lang="en-US" sz="1400" b="0" baseline="0" dirty="0">
              <a:solidFill>
                <a:schemeClr val="tx1"/>
              </a:solidFill>
              <a:latin typeface="Avenir Next LT Pro" panose="020B0504020202020204" pitchFamily="34" charset="0"/>
              <a:cs typeface="Times New Roman" pitchFamily="18" charset="0"/>
            </a:rPr>
            <a:t> </a:t>
          </a:r>
          <a:r>
            <a:rPr lang="en-US" sz="1400" b="0" dirty="0">
              <a:solidFill>
                <a:schemeClr val="tx1"/>
              </a:solidFill>
              <a:latin typeface="Avenir Next LT Pro" panose="020B0504020202020204" pitchFamily="34" charset="0"/>
              <a:cs typeface="Times New Roman" pitchFamily="18" charset="0"/>
            </a:rPr>
            <a:t>(M/U wells) : 3.072 USD/m</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10/17/2026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id-ID" altLang="en-US"/>
          </a:p>
        </p:txBody>
      </p:sp>
      <p:sp>
        <p:nvSpPr>
          <p:cNvPr id="60420" name="Slide Number Placeholder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916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916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916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916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D554E71-CFD0-4FAC-BB80-12AF38FBFE7D}" type="slidenum">
              <a:rPr lang="en-US" altLang="en-US" sz="1300" smtClean="0"/>
              <a:pPr>
                <a:spcBef>
                  <a:spcPct val="0"/>
                </a:spcBef>
              </a:pPr>
              <a:t>107</a:t>
            </a:fld>
            <a:endParaRPr lang="en-US" altLang="en-US" sz="1300"/>
          </a:p>
        </p:txBody>
      </p:sp>
    </p:spTree>
    <p:extLst>
      <p:ext uri="{BB962C8B-B14F-4D97-AF65-F5344CB8AC3E}">
        <p14:creationId xmlns:p14="http://schemas.microsoft.com/office/powerpoint/2010/main" val="142669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id-ID" altLang="en-US"/>
          </a:p>
        </p:txBody>
      </p:sp>
      <p:sp>
        <p:nvSpPr>
          <p:cNvPr id="62468" name="Slide Number Placeholder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1916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1916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1916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1916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1916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54588A4-353D-49E2-BAB0-5577B90F591D}" type="slidenum">
              <a:rPr lang="en-US" altLang="en-US" sz="1300" smtClean="0"/>
              <a:pPr>
                <a:spcBef>
                  <a:spcPct val="0"/>
                </a:spcBef>
              </a:pPr>
              <a:t>108</a:t>
            </a:fld>
            <a:endParaRPr lang="en-US" altLang="en-US" sz="1300"/>
          </a:p>
        </p:txBody>
      </p:sp>
    </p:spTree>
    <p:extLst>
      <p:ext uri="{BB962C8B-B14F-4D97-AF65-F5344CB8AC3E}">
        <p14:creationId xmlns:p14="http://schemas.microsoft.com/office/powerpoint/2010/main" val="3352135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DF61EA0F-A667-4B49-8422-0062BC55E249}" type="slidenum">
              <a:rPr lang="en-US" smtClean="0"/>
              <a:t>129</a:t>
            </a:fld>
            <a:endParaRPr lang="en-US"/>
          </a:p>
        </p:txBody>
      </p:sp>
    </p:spTree>
    <p:extLst>
      <p:ext uri="{BB962C8B-B14F-4D97-AF65-F5344CB8AC3E}">
        <p14:creationId xmlns:p14="http://schemas.microsoft.com/office/powerpoint/2010/main" val="7220576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pic>
        <p:nvPicPr>
          <p:cNvPr id="4" name="Picture 3">
            <a:extLst>
              <a:ext uri="{FF2B5EF4-FFF2-40B4-BE49-F238E27FC236}">
                <a16:creationId xmlns:a16="http://schemas.microsoft.com/office/drawing/2014/main" id="{8392DF2B-E09F-B749-CB7C-04164CEA2AEA}"/>
              </a:ext>
            </a:extLst>
          </p:cNvPr>
          <p:cNvPicPr>
            <a:picLocks noChangeAspect="1"/>
          </p:cNvPicPr>
          <p:nvPr userDrawn="1"/>
        </p:nvPicPr>
        <p:blipFill rotWithShape="1">
          <a:blip r:embed="rId2"/>
          <a:srcRect t="15469" b="11775"/>
          <a:stretch/>
        </p:blipFill>
        <p:spPr>
          <a:xfrm>
            <a:off x="279989" y="255180"/>
            <a:ext cx="11652030" cy="6368903"/>
          </a:xfrm>
          <a:prstGeom prst="rect">
            <a:avLst/>
          </a:prstGeom>
        </p:spPr>
      </p:pic>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10/17/2026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a:lvl1pPr>
          </a:lstStyle>
          <a:p>
            <a:pPr>
              <a:defRPr/>
            </a:pPr>
            <a:fld id="{011FC494-F0FB-4817-B609-280CB6383CB5}" type="datetime1">
              <a:rPr lang="en-US"/>
              <a:pPr>
                <a:defRPr/>
              </a:pPr>
              <a:t>10/17/2026</a:t>
            </a:fld>
            <a:endParaRPr lang="en-US"/>
          </a:p>
        </p:txBody>
      </p:sp>
      <p:sp>
        <p:nvSpPr>
          <p:cNvPr id="6" name="Footer Placeholder 5"/>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p:txBody>
          <a:bodyPr/>
          <a:lstStyle>
            <a:lvl1pPr>
              <a:defRPr/>
            </a:lvl1pPr>
          </a:lstStyle>
          <a:p>
            <a:pPr>
              <a:defRPr/>
            </a:pPr>
            <a:fld id="{019F5F98-BF79-4720-BA4F-B18A00A5AFE0}" type="slidenum">
              <a:rPr lang="en-US" altLang="en-US"/>
              <a:pPr>
                <a:defRPr/>
              </a:pPr>
              <a:t>‹#›</a:t>
            </a:fld>
            <a:endParaRPr lang="en-US" altLang="en-US"/>
          </a:p>
        </p:txBody>
      </p:sp>
    </p:spTree>
    <p:extLst>
      <p:ext uri="{BB962C8B-B14F-4D97-AF65-F5344CB8AC3E}">
        <p14:creationId xmlns:p14="http://schemas.microsoft.com/office/powerpoint/2010/main" val="2481023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9076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960A27-755C-45F1-BC06-689D232BA368}"/>
              </a:ext>
            </a:extLst>
          </p:cNvPr>
          <p:cNvPicPr>
            <a:picLocks noChangeAspect="1"/>
          </p:cNvPicPr>
          <p:nvPr userDrawn="1"/>
        </p:nvPicPr>
        <p:blipFill>
          <a:blip r:embed="rId2"/>
          <a:stretch>
            <a:fillRect/>
          </a:stretch>
        </p:blipFill>
        <p:spPr>
          <a:xfrm>
            <a:off x="0" y="7104026"/>
            <a:ext cx="5425245" cy="261974"/>
          </a:xfrm>
          <a:prstGeom prst="rect">
            <a:avLst/>
          </a:prstGeom>
        </p:spPr>
      </p:pic>
    </p:spTree>
    <p:extLst>
      <p:ext uri="{BB962C8B-B14F-4D97-AF65-F5344CB8AC3E}">
        <p14:creationId xmlns:p14="http://schemas.microsoft.com/office/powerpoint/2010/main" val="123980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62342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dirty="0"/>
              <a:t>Edit Master text styles</a:t>
            </a:r>
          </a:p>
          <a:p>
            <a:pPr marL="228600" lvl="0" indent="-228600" algn="l" defTabSz="914400" rtl="0" eaLnBrk="1" latinLnBrk="0" hangingPunct="1">
              <a:lnSpc>
                <a:spcPct val="90000"/>
              </a:lnSpc>
              <a:spcBef>
                <a:spcPct val="30000"/>
              </a:spcBef>
              <a:buFont typeface="Arial" panose="020B0604020202020204" pitchFamily="34" charset="0"/>
              <a:buChar char="•"/>
            </a:pPr>
            <a:r>
              <a:rPr lang="en-US" dirty="0"/>
              <a:t>Second level</a:t>
            </a:r>
          </a:p>
          <a:p>
            <a:pPr marL="685800" lvl="1" indent="-228600" algn="l" defTabSz="914400" rtl="0" eaLnBrk="1" latinLnBrk="0" hangingPunct="1">
              <a:lnSpc>
                <a:spcPct val="90000"/>
              </a:lnSpc>
              <a:spcBef>
                <a:spcPct val="30000"/>
              </a:spcBef>
              <a:buFont typeface="Arial" panose="020B0604020202020204" pitchFamily="34" charset="0"/>
              <a:buChar char="•"/>
            </a:pPr>
            <a:r>
              <a:rPr lang="en-US" dirty="0"/>
              <a:t>Third level</a:t>
            </a:r>
          </a:p>
          <a:p>
            <a:pPr marL="1143000" lvl="2" indent="-228600" algn="l" defTabSz="914400" rtl="0" eaLnBrk="1" latinLnBrk="0" hangingPunct="1">
              <a:lnSpc>
                <a:spcPct val="90000"/>
              </a:lnSpc>
              <a:spcBef>
                <a:spcPct val="30000"/>
              </a:spcBef>
              <a:buFont typeface="Arial" panose="020B0604020202020204" pitchFamily="34" charset="0"/>
              <a:buChar char="•"/>
            </a:pPr>
            <a:r>
              <a:rPr lang="en-US" dirty="0"/>
              <a:t>Fourth level</a:t>
            </a:r>
          </a:p>
          <a:p>
            <a:pPr marL="1600200" lvl="3" indent="-228600" algn="l" defTabSz="914400" rtl="0" eaLnBrk="1" latinLnBrk="0" hangingPunct="1">
              <a:lnSpc>
                <a:spcPct val="90000"/>
              </a:lnSpc>
              <a:spcBef>
                <a:spcPct val="30000"/>
              </a:spcBef>
              <a:buFont typeface="Arial" panose="020B0604020202020204" pitchFamily="34" charset="0"/>
              <a:buChar char="•"/>
            </a:pPr>
            <a:r>
              <a:rPr lang="en-US" dirty="0"/>
              <a:t>Fifth level</a:t>
            </a:r>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10/17/2026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Layout" Target="../diagrams/layout2.xml"/><Relationship Id="rId7" Type="http://schemas.openxmlformats.org/officeDocument/2006/relationships/image" Target="../media/image4.jpeg"/><Relationship Id="rId12" Type="http://schemas.openxmlformats.org/officeDocument/2006/relationships/image" Target="../media/image16.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openxmlformats.org/officeDocument/2006/relationships/image" Target="../media/image1.png"/><Relationship Id="rId5" Type="http://schemas.openxmlformats.org/officeDocument/2006/relationships/diagramColors" Target="../diagrams/colors2.xml"/><Relationship Id="rId10" Type="http://schemas.openxmlformats.org/officeDocument/2006/relationships/image" Target="../media/image5.png"/><Relationship Id="rId4" Type="http://schemas.openxmlformats.org/officeDocument/2006/relationships/diagramQuickStyle" Target="../diagrams/quickStyle2.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7" Type="http://schemas.microsoft.com/office/2007/relationships/hdphoto" Target="../media/hdphoto3.wdp"/><Relationship Id="rId2" Type="http://schemas.openxmlformats.org/officeDocument/2006/relationships/image" Target="../media/image19.svg"/><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gif"/></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4.emf"/><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47.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diagramLayout" Target="../diagrams/layout8.xml"/><Relationship Id="rId7" Type="http://schemas.openxmlformats.org/officeDocument/2006/relationships/image" Target="../media/image48.jpe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 Id="rId9" Type="http://schemas.openxmlformats.org/officeDocument/2006/relationships/image" Target="../media/image50.png"/></Relationships>
</file>

<file path=ppt/slides/_rels/slide2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diagramLayout" Target="../diagrams/layout9.xml"/><Relationship Id="rId7" Type="http://schemas.openxmlformats.org/officeDocument/2006/relationships/image" Target="../media/image51.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jpe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59.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5.jpeg"/><Relationship Id="rId7" Type="http://schemas.openxmlformats.org/officeDocument/2006/relationships/image" Target="../media/image69.jpeg"/><Relationship Id="rId2" Type="http://schemas.openxmlformats.org/officeDocument/2006/relationships/image" Target="../media/image64.jpe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jpeg"/><Relationship Id="rId10" Type="http://schemas.openxmlformats.org/officeDocument/2006/relationships/image" Target="../media/image72.jpeg"/><Relationship Id="rId4" Type="http://schemas.openxmlformats.org/officeDocument/2006/relationships/image" Target="../media/image66.png"/><Relationship Id="rId9" Type="http://schemas.openxmlformats.org/officeDocument/2006/relationships/image" Target="../media/image71.jpeg"/></Relationships>
</file>

<file path=ppt/slides/_rels/slide4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e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74.jpe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e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e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5.png"/><Relationship Id="rId7" Type="http://schemas.openxmlformats.org/officeDocument/2006/relationships/image" Target="../media/image83.jpeg"/><Relationship Id="rId2" Type="http://schemas.openxmlformats.org/officeDocument/2006/relationships/image" Target="../media/image74.jpeg"/><Relationship Id="rId1" Type="http://schemas.openxmlformats.org/officeDocument/2006/relationships/slideLayout" Target="../slideLayouts/slideLayout2.xml"/><Relationship Id="rId6" Type="http://schemas.openxmlformats.org/officeDocument/2006/relationships/image" Target="../media/image82.jpeg"/><Relationship Id="rId5" Type="http://schemas.openxmlformats.org/officeDocument/2006/relationships/image" Target="../media/image81.jpeg"/><Relationship Id="rId4" Type="http://schemas.openxmlformats.org/officeDocument/2006/relationships/image" Target="../media/image80.jpeg"/><Relationship Id="rId9" Type="http://schemas.openxmlformats.org/officeDocument/2006/relationships/image" Target="../media/image85.png"/></Relationships>
</file>

<file path=ppt/slides/_rels/slide4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jpe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5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6.jpeg"/></Relationships>
</file>

<file path=ppt/slides/_rels/slide5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jpeg"/></Relationships>
</file>

<file path=ppt/slides/_rels/slide5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5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5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106.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png"/><Relationship Id="rId1" Type="http://schemas.openxmlformats.org/officeDocument/2006/relationships/slideLayout" Target="../slideLayouts/slideLayout2.xml"/><Relationship Id="rId4" Type="http://schemas.openxmlformats.org/officeDocument/2006/relationships/image" Target="../media/image111.jpeg"/></Relationships>
</file>

<file path=ppt/slides/_rels/slide64.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6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image" Target="../media/image124.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image" Target="../media/image126.png"/><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28.png"/></Relationships>
</file>

<file path=ppt/slides/_rels/slide7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image" Target="../media/image132.jpeg"/><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4.png"/><Relationship Id="rId1" Type="http://schemas.openxmlformats.org/officeDocument/2006/relationships/slideLayout" Target="../slideLayouts/slideLayout2.xml"/><Relationship Id="rId4" Type="http://schemas.openxmlformats.org/officeDocument/2006/relationships/image" Target="../media/image147.jpeg"/></Relationships>
</file>

<file path=ppt/slides/_rels/slide94.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52.jpeg"/><Relationship Id="rId5" Type="http://schemas.openxmlformats.org/officeDocument/2006/relationships/image" Target="../media/image151.jpeg"/><Relationship Id="rId4" Type="http://schemas.openxmlformats.org/officeDocument/2006/relationships/image" Target="../media/image150.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8.jpeg"/><Relationship Id="rId5" Type="http://schemas.openxmlformats.org/officeDocument/2006/relationships/image" Target="../media/image167.png"/><Relationship Id="rId4" Type="http://schemas.openxmlformats.org/officeDocument/2006/relationships/image" Target="../media/image166.jpeg"/></Relationships>
</file>

<file path=ppt/slides/_rels/slide10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71.png"/><Relationship Id="rId4" Type="http://schemas.openxmlformats.org/officeDocument/2006/relationships/image" Target="../media/image170.jpeg"/></Relationships>
</file>

<file path=ppt/slides/_rels/slide109.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image" Target="../media/image184.jpeg"/><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89.png"/><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image" Target="../media/image192.png"/><Relationship Id="rId7" Type="http://schemas.openxmlformats.org/officeDocument/2006/relationships/image" Target="../media/image19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95.png"/><Relationship Id="rId11" Type="http://schemas.openxmlformats.org/officeDocument/2006/relationships/image" Target="../media/image200.png"/><Relationship Id="rId5" Type="http://schemas.openxmlformats.org/officeDocument/2006/relationships/image" Target="../media/image194.png"/><Relationship Id="rId10" Type="http://schemas.openxmlformats.org/officeDocument/2006/relationships/image" Target="../media/image199.png"/><Relationship Id="rId4" Type="http://schemas.openxmlformats.org/officeDocument/2006/relationships/image" Target="../media/image193.png"/><Relationship Id="rId9" Type="http://schemas.openxmlformats.org/officeDocument/2006/relationships/image" Target="../media/image198.png"/></Relationships>
</file>

<file path=ppt/slides/_rels/slide130.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image" Target="../media/image193.png"/><Relationship Id="rId1" Type="http://schemas.openxmlformats.org/officeDocument/2006/relationships/slideLayout" Target="../slideLayouts/slideLayout4.xml"/><Relationship Id="rId4" Type="http://schemas.openxmlformats.org/officeDocument/2006/relationships/image" Target="../media/image201.jpeg"/></Relationships>
</file>

<file path=ppt/slides/_rels/slide131.xml.rels><?xml version="1.0" encoding="UTF-8" standalone="yes"?>
<Relationships xmlns="http://schemas.openxmlformats.org/package/2006/relationships"><Relationship Id="rId3" Type="http://schemas.openxmlformats.org/officeDocument/2006/relationships/image" Target="../media/image193.png"/><Relationship Id="rId7" Type="http://schemas.openxmlformats.org/officeDocument/2006/relationships/image" Target="../media/image202.png"/><Relationship Id="rId2" Type="http://schemas.openxmlformats.org/officeDocument/2006/relationships/image" Target="../media/image192.png"/><Relationship Id="rId1" Type="http://schemas.openxmlformats.org/officeDocument/2006/relationships/slideLayout" Target="../slideLayouts/slideLayout4.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image" Target="../media/image205.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chart" Target="../charts/chart10.xml"/><Relationship Id="rId7" Type="http://schemas.openxmlformats.org/officeDocument/2006/relationships/image" Target="../media/image209.png"/><Relationship Id="rId2" Type="http://schemas.openxmlformats.org/officeDocument/2006/relationships/chart" Target="../charts/chart9.xml"/><Relationship Id="rId1" Type="http://schemas.openxmlformats.org/officeDocument/2006/relationships/slideLayout" Target="../slideLayouts/slideLayout2.xml"/><Relationship Id="rId6" Type="http://schemas.openxmlformats.org/officeDocument/2006/relationships/image" Target="../media/image208.jpeg"/><Relationship Id="rId5" Type="http://schemas.openxmlformats.org/officeDocument/2006/relationships/image" Target="../media/image207.jpeg"/><Relationship Id="rId4" Type="http://schemas.openxmlformats.org/officeDocument/2006/relationships/chart" Target="../charts/chart11.xml"/></Relationships>
</file>

<file path=ppt/slides/_rels/slide138.xml.rels><?xml version="1.0" encoding="UTF-8" standalone="yes"?>
<Relationships xmlns="http://schemas.openxmlformats.org/package/2006/relationships"><Relationship Id="rId3" Type="http://schemas.openxmlformats.org/officeDocument/2006/relationships/image" Target="../media/image212.jpeg"/><Relationship Id="rId7" Type="http://schemas.openxmlformats.org/officeDocument/2006/relationships/image" Target="../media/image216.jpeg"/><Relationship Id="rId2" Type="http://schemas.openxmlformats.org/officeDocument/2006/relationships/image" Target="../media/image211.png"/><Relationship Id="rId1" Type="http://schemas.openxmlformats.org/officeDocument/2006/relationships/slideLayout" Target="../slideLayouts/slideLayout4.xml"/><Relationship Id="rId6" Type="http://schemas.openxmlformats.org/officeDocument/2006/relationships/image" Target="../media/image215.jpeg"/><Relationship Id="rId5" Type="http://schemas.openxmlformats.org/officeDocument/2006/relationships/image" Target="../media/image214.jpeg"/><Relationship Id="rId4" Type="http://schemas.openxmlformats.org/officeDocument/2006/relationships/image" Target="../media/image213.jpeg"/></Relationships>
</file>

<file path=ppt/slides/_rels/slide139.xml.rels><?xml version="1.0" encoding="UTF-8" standalone="yes"?>
<Relationships xmlns="http://schemas.openxmlformats.org/package/2006/relationships"><Relationship Id="rId3" Type="http://schemas.openxmlformats.org/officeDocument/2006/relationships/image" Target="../media/image211.png"/><Relationship Id="rId7" Type="http://schemas.openxmlformats.org/officeDocument/2006/relationships/image" Target="../media/image220.jpeg"/><Relationship Id="rId2" Type="http://schemas.openxmlformats.org/officeDocument/2006/relationships/image" Target="../media/image217.jpeg"/><Relationship Id="rId1" Type="http://schemas.openxmlformats.org/officeDocument/2006/relationships/slideLayout" Target="../slideLayouts/slideLayout4.xml"/><Relationship Id="rId6" Type="http://schemas.openxmlformats.org/officeDocument/2006/relationships/image" Target="../media/image219.jpeg"/><Relationship Id="rId5" Type="http://schemas.openxmlformats.org/officeDocument/2006/relationships/image" Target="../media/image218.jpeg"/><Relationship Id="rId4" Type="http://schemas.openxmlformats.org/officeDocument/2006/relationships/image" Target="../media/image212.jpeg"/></Relationships>
</file>

<file path=ppt/slides/_rels/slide140.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4.xml"/><Relationship Id="rId6" Type="http://schemas.openxmlformats.org/officeDocument/2006/relationships/image" Target="../media/image226.png"/><Relationship Id="rId5" Type="http://schemas.openxmlformats.org/officeDocument/2006/relationships/image" Target="../media/image225.jpeg"/><Relationship Id="rId4" Type="http://schemas.openxmlformats.org/officeDocument/2006/relationships/image" Target="../media/image224.png"/></Relationships>
</file>

<file path=ppt/slides/_rels/slide143.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image" Target="../media/image227.png"/><Relationship Id="rId1" Type="http://schemas.openxmlformats.org/officeDocument/2006/relationships/slideLayout" Target="../slideLayouts/slideLayout4.xml"/><Relationship Id="rId4" Type="http://schemas.openxmlformats.org/officeDocument/2006/relationships/image" Target="../media/image177.png"/></Relationships>
</file>

<file path=ppt/slides/_rels/slide144.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image" Target="../media/image227.png"/><Relationship Id="rId1" Type="http://schemas.openxmlformats.org/officeDocument/2006/relationships/slideLayout" Target="../slideLayouts/slideLayout4.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177.png"/></Relationships>
</file>

<file path=ppt/slides/_rels/slide145.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image" Target="../media/image231.png"/><Relationship Id="rId1" Type="http://schemas.openxmlformats.org/officeDocument/2006/relationships/slideLayout" Target="../slideLayouts/slideLayout4.xml"/><Relationship Id="rId6" Type="http://schemas.openxmlformats.org/officeDocument/2006/relationships/image" Target="../media/image235.png"/><Relationship Id="rId5" Type="http://schemas.openxmlformats.org/officeDocument/2006/relationships/image" Target="../media/image234.png"/><Relationship Id="rId4" Type="http://schemas.openxmlformats.org/officeDocument/2006/relationships/image" Target="../media/image233.png"/></Relationships>
</file>

<file path=ppt/slides/_rels/slide146.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image" Target="../media/image236.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slideLayout" Target="../slideLayouts/slideLayout2.xml"/><Relationship Id="rId4" Type="http://schemas.openxmlformats.org/officeDocument/2006/relationships/image" Target="../media/image242.svg"/></Relationships>
</file>

<file path=ppt/slides/_rels/slide149.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244.jpeg"/><Relationship Id="rId2" Type="http://schemas.openxmlformats.org/officeDocument/2006/relationships/image" Target="../media/image243.png"/><Relationship Id="rId1" Type="http://schemas.openxmlformats.org/officeDocument/2006/relationships/slideLayout" Target="../slideLayouts/slideLayout4.xml"/><Relationship Id="rId4" Type="http://schemas.openxmlformats.org/officeDocument/2006/relationships/image" Target="../media/image24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246.e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248.jpeg"/><Relationship Id="rId4" Type="http://schemas.openxmlformats.org/officeDocument/2006/relationships/image" Target="../media/image247.jpeg"/></Relationships>
</file>

<file path=ppt/slides/_rels/slide153.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9.png"/><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254.png"/><Relationship Id="rId5" Type="http://schemas.openxmlformats.org/officeDocument/2006/relationships/image" Target="../media/image253.jpeg"/><Relationship Id="rId4" Type="http://schemas.openxmlformats.org/officeDocument/2006/relationships/image" Target="../media/image201.jpeg"/></Relationships>
</file>

<file path=ppt/slides/_rels/slide155.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257.jpeg"/><Relationship Id="rId2" Type="http://schemas.openxmlformats.org/officeDocument/2006/relationships/image" Target="../media/image25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59.jpeg"/><Relationship Id="rId2" Type="http://schemas.openxmlformats.org/officeDocument/2006/relationships/image" Target="../media/image258.jpeg"/><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0.png"/><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3" Type="http://schemas.openxmlformats.org/officeDocument/2006/relationships/image" Target="../media/image263.jpeg"/><Relationship Id="rId2" Type="http://schemas.openxmlformats.org/officeDocument/2006/relationships/image" Target="../media/image262.png"/><Relationship Id="rId1" Type="http://schemas.openxmlformats.org/officeDocument/2006/relationships/slideLayout" Target="../slideLayouts/slideLayout4.xml"/><Relationship Id="rId4" Type="http://schemas.openxmlformats.org/officeDocument/2006/relationships/image" Target="../media/image210.png"/></Relationships>
</file>

<file path=ppt/slides/_rels/slide166.xml.rels><?xml version="1.0" encoding="UTF-8" standalone="yes"?>
<Relationships xmlns="http://schemas.openxmlformats.org/package/2006/relationships"><Relationship Id="rId3" Type="http://schemas.openxmlformats.org/officeDocument/2006/relationships/image" Target="../media/image265.jpeg"/><Relationship Id="rId2" Type="http://schemas.openxmlformats.org/officeDocument/2006/relationships/image" Target="../media/image264.jpeg"/><Relationship Id="rId1" Type="http://schemas.openxmlformats.org/officeDocument/2006/relationships/slideLayout" Target="../slideLayouts/slideLayout2.xml"/><Relationship Id="rId4" Type="http://schemas.openxmlformats.org/officeDocument/2006/relationships/image" Target="../media/image266.jpeg"/></Relationships>
</file>

<file path=ppt/slides/_rels/slide167.xml.rels><?xml version="1.0" encoding="UTF-8" standalone="yes"?>
<Relationships xmlns="http://schemas.openxmlformats.org/package/2006/relationships"><Relationship Id="rId3" Type="http://schemas.openxmlformats.org/officeDocument/2006/relationships/image" Target="../media/image263.jpeg"/><Relationship Id="rId2" Type="http://schemas.openxmlformats.org/officeDocument/2006/relationships/image" Target="../media/image267.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269.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image" Target="../media/image271.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image" Target="../media/image272.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image" Target="../media/image273.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275.png"/><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2" Type="http://schemas.openxmlformats.org/officeDocument/2006/relationships/image" Target="../media/image276.png"/><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2" Type="http://schemas.openxmlformats.org/officeDocument/2006/relationships/image" Target="../media/image277.png"/><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2" Type="http://schemas.openxmlformats.org/officeDocument/2006/relationships/image" Target="../media/image278.png"/><Relationship Id="rId1" Type="http://schemas.openxmlformats.org/officeDocument/2006/relationships/slideLayout" Target="../slideLayouts/slideLayout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9.png"/><Relationship Id="rId1" Type="http://schemas.openxmlformats.org/officeDocument/2006/relationships/slideLayout" Target="../slideLayouts/slideLayout2.xml"/><Relationship Id="rId5" Type="http://schemas.openxmlformats.org/officeDocument/2006/relationships/image" Target="../media/image282.png"/><Relationship Id="rId4" Type="http://schemas.openxmlformats.org/officeDocument/2006/relationships/image" Target="../media/image281.png"/></Relationships>
</file>

<file path=ppt/slides/_rels/slide18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9.png"/><Relationship Id="rId1" Type="http://schemas.openxmlformats.org/officeDocument/2006/relationships/slideLayout" Target="../slideLayouts/slideLayout2.xml"/><Relationship Id="rId6" Type="http://schemas.openxmlformats.org/officeDocument/2006/relationships/image" Target="../media/image283.png"/><Relationship Id="rId5" Type="http://schemas.openxmlformats.org/officeDocument/2006/relationships/image" Target="../media/image282.png"/><Relationship Id="rId4" Type="http://schemas.openxmlformats.org/officeDocument/2006/relationships/image" Target="../media/image281.png"/></Relationships>
</file>

<file path=ppt/slides/_rels/slide185.xml.rels><?xml version="1.0" encoding="UTF-8" standalone="yes"?>
<Relationships xmlns="http://schemas.openxmlformats.org/package/2006/relationships"><Relationship Id="rId2" Type="http://schemas.openxmlformats.org/officeDocument/2006/relationships/image" Target="../media/image28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image" Target="../media/image285.png"/><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image" Target="../media/image287.png"/><Relationship Id="rId1" Type="http://schemas.openxmlformats.org/officeDocument/2006/relationships/slideLayout" Target="../slideLayouts/slideLayout4.xml"/><Relationship Id="rId4" Type="http://schemas.openxmlformats.org/officeDocument/2006/relationships/image" Target="../media/image289.jpeg"/></Relationships>
</file>

<file path=ppt/slides/_rels/slide189.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2" Type="http://schemas.openxmlformats.org/officeDocument/2006/relationships/image" Target="../media/image284.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92.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93.xml.rels><?xml version="1.0" encoding="UTF-8" standalone="yes"?>
<Relationships xmlns="http://schemas.openxmlformats.org/package/2006/relationships"><Relationship Id="rId2" Type="http://schemas.openxmlformats.org/officeDocument/2006/relationships/image" Target="../media/image291.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292.png"/><Relationship Id="rId1" Type="http://schemas.openxmlformats.org/officeDocument/2006/relationships/slideLayout" Target="../slideLayouts/slideLayout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7.xml.rels><?xml version="1.0" encoding="UTF-8" standalone="yes"?>
<Relationships xmlns="http://schemas.openxmlformats.org/package/2006/relationships"><Relationship Id="rId2" Type="http://schemas.openxmlformats.org/officeDocument/2006/relationships/image" Target="../media/image299.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301.svg"/><Relationship Id="rId2" Type="http://schemas.openxmlformats.org/officeDocument/2006/relationships/image" Target="../media/image300.svg"/><Relationship Id="rId1" Type="http://schemas.openxmlformats.org/officeDocument/2006/relationships/slideLayout" Target="../slideLayouts/slideLayout2.xml"/><Relationship Id="rId5" Type="http://schemas.openxmlformats.org/officeDocument/2006/relationships/image" Target="../media/image303.svg"/><Relationship Id="rId4" Type="http://schemas.openxmlformats.org/officeDocument/2006/relationships/image" Target="../media/image302.svg"/></Relationships>
</file>

<file path=ppt/slides/_rels/slide199.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304.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8" Type="http://schemas.openxmlformats.org/officeDocument/2006/relationships/image" Target="../media/image312.svg"/><Relationship Id="rId13" Type="http://schemas.openxmlformats.org/officeDocument/2006/relationships/image" Target="../media/image317.svg"/><Relationship Id="rId3" Type="http://schemas.openxmlformats.org/officeDocument/2006/relationships/image" Target="../media/image307.png"/><Relationship Id="rId7" Type="http://schemas.openxmlformats.org/officeDocument/2006/relationships/image" Target="../media/image311.svg"/><Relationship Id="rId12" Type="http://schemas.openxmlformats.org/officeDocument/2006/relationships/image" Target="../media/image316.svg"/><Relationship Id="rId17" Type="http://schemas.openxmlformats.org/officeDocument/2006/relationships/image" Target="../media/image321.jpeg"/><Relationship Id="rId2" Type="http://schemas.openxmlformats.org/officeDocument/2006/relationships/image" Target="../media/image306.jpeg"/><Relationship Id="rId16" Type="http://schemas.openxmlformats.org/officeDocument/2006/relationships/image" Target="../media/image320.svg"/><Relationship Id="rId1" Type="http://schemas.openxmlformats.org/officeDocument/2006/relationships/slideLayout" Target="../slideLayouts/slideLayout2.xml"/><Relationship Id="rId6" Type="http://schemas.openxmlformats.org/officeDocument/2006/relationships/image" Target="../media/image310.svg"/><Relationship Id="rId11" Type="http://schemas.openxmlformats.org/officeDocument/2006/relationships/image" Target="../media/image315.svg"/><Relationship Id="rId5" Type="http://schemas.openxmlformats.org/officeDocument/2006/relationships/image" Target="../media/image309.svg"/><Relationship Id="rId15" Type="http://schemas.openxmlformats.org/officeDocument/2006/relationships/image" Target="../media/image319.svg"/><Relationship Id="rId10" Type="http://schemas.openxmlformats.org/officeDocument/2006/relationships/image" Target="../media/image314.svg"/><Relationship Id="rId4" Type="http://schemas.openxmlformats.org/officeDocument/2006/relationships/image" Target="../media/image308.jpeg"/><Relationship Id="rId9" Type="http://schemas.openxmlformats.org/officeDocument/2006/relationships/image" Target="../media/image313.svg"/><Relationship Id="rId14" Type="http://schemas.openxmlformats.org/officeDocument/2006/relationships/image" Target="../media/image318.svg"/></Relationships>
</file>

<file path=ppt/slides/_rels/slide201.xml.rels><?xml version="1.0" encoding="UTF-8" standalone="yes"?>
<Relationships xmlns="http://schemas.openxmlformats.org/package/2006/relationships"><Relationship Id="rId3" Type="http://schemas.openxmlformats.org/officeDocument/2006/relationships/image" Target="../media/image323.png"/><Relationship Id="rId2" Type="http://schemas.openxmlformats.org/officeDocument/2006/relationships/image" Target="../media/image322.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324.png"/><Relationship Id="rId2" Type="http://schemas.openxmlformats.org/officeDocument/2006/relationships/image" Target="../media/image323.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326.png"/><Relationship Id="rId2" Type="http://schemas.openxmlformats.org/officeDocument/2006/relationships/image" Target="../media/image325.jpeg"/><Relationship Id="rId1" Type="http://schemas.openxmlformats.org/officeDocument/2006/relationships/slideLayout" Target="../slideLayouts/slideLayout4.xml"/><Relationship Id="rId4" Type="http://schemas.openxmlformats.org/officeDocument/2006/relationships/image" Target="../media/image327.gif"/></Relationships>
</file>

<file path=ppt/slides/_rels/slide204.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328.png"/><Relationship Id="rId1" Type="http://schemas.openxmlformats.org/officeDocument/2006/relationships/slideLayout" Target="../slideLayouts/slideLayout4.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05.xml.rels><?xml version="1.0" encoding="UTF-8" standalone="yes"?>
<Relationships xmlns="http://schemas.openxmlformats.org/package/2006/relationships"><Relationship Id="rId2" Type="http://schemas.openxmlformats.org/officeDocument/2006/relationships/image" Target="../media/image305.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329.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331.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20.xml"/><Relationship Id="rId7" Type="http://schemas.openxmlformats.org/officeDocument/2006/relationships/image" Target="../media/image332.jpeg"/><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 Id="rId9" Type="http://schemas.openxmlformats.org/officeDocument/2006/relationships/image" Target="../media/image333.png"/></Relationships>
</file>

<file path=ppt/slides/_rels/slide210.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11.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3.xml.rels><?xml version="1.0" encoding="UTF-8" standalone="yes"?>
<Relationships xmlns="http://schemas.openxmlformats.org/package/2006/relationships"><Relationship Id="rId8" Type="http://schemas.openxmlformats.org/officeDocument/2006/relationships/image" Target="../media/image335.jpeg"/><Relationship Id="rId3" Type="http://schemas.openxmlformats.org/officeDocument/2006/relationships/diagramLayout" Target="../diagrams/layout23.xml"/><Relationship Id="rId7" Type="http://schemas.openxmlformats.org/officeDocument/2006/relationships/image" Target="../media/image334.png"/><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 Id="rId9" Type="http://schemas.openxmlformats.org/officeDocument/2006/relationships/image" Target="../media/image210.png"/></Relationships>
</file>

<file path=ppt/slides/_rels/slide214.xml.rels><?xml version="1.0" encoding="UTF-8" standalone="yes"?>
<Relationships xmlns="http://schemas.openxmlformats.org/package/2006/relationships"><Relationship Id="rId2" Type="http://schemas.openxmlformats.org/officeDocument/2006/relationships/image" Target="../media/image336.jpe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338.wmf"/><Relationship Id="rId2" Type="http://schemas.openxmlformats.org/officeDocument/2006/relationships/image" Target="../media/image337.png"/><Relationship Id="rId1" Type="http://schemas.openxmlformats.org/officeDocument/2006/relationships/slideLayout" Target="../slideLayouts/slideLayout2.xml"/><Relationship Id="rId4" Type="http://schemas.openxmlformats.org/officeDocument/2006/relationships/image" Target="../media/image339.wmf"/></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4.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342.jpe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344.jpeg"/><Relationship Id="rId2" Type="http://schemas.openxmlformats.org/officeDocument/2006/relationships/image" Target="../media/image3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5393363" cy="6858000"/>
          </a:xfrm>
          <a:custGeom>
            <a:avLst/>
            <a:gdLst/>
            <a:ahLst/>
            <a:cxnLst/>
            <a:rect l="l" t="t" r="r" b="b"/>
            <a:pathLst>
              <a:path w="8090044" h="10287000">
                <a:moveTo>
                  <a:pt x="0" y="0"/>
                </a:moveTo>
                <a:lnTo>
                  <a:pt x="8090044" y="0"/>
                </a:lnTo>
                <a:lnTo>
                  <a:pt x="8090044" y="10287000"/>
                </a:lnTo>
                <a:lnTo>
                  <a:pt x="0" y="10287000"/>
                </a:lnTo>
                <a:lnTo>
                  <a:pt x="0" y="0"/>
                </a:lnTo>
                <a:close/>
              </a:path>
            </a:pathLst>
          </a:custGeom>
          <a:blipFill>
            <a:blip r:embed="rId2"/>
            <a:stretch>
              <a:fillRect l="-30158" r="-60695"/>
            </a:stretch>
          </a:blipFill>
        </p:spPr>
        <p:txBody>
          <a:bodyPr/>
          <a:lstStyle/>
          <a:p>
            <a:endParaRPr lang="en-ID"/>
          </a:p>
        </p:txBody>
      </p:sp>
      <p:sp>
        <p:nvSpPr>
          <p:cNvPr id="9" name="TextBox 9"/>
          <p:cNvSpPr txBox="1"/>
          <p:nvPr/>
        </p:nvSpPr>
        <p:spPr>
          <a:xfrm>
            <a:off x="2828260" y="2286370"/>
            <a:ext cx="8332509" cy="1640321"/>
          </a:xfrm>
          <a:prstGeom prst="rect">
            <a:avLst/>
          </a:prstGeom>
        </p:spPr>
        <p:txBody>
          <a:bodyPr wrap="square" lIns="0" tIns="0" rIns="0" bIns="0" rtlCol="0" anchor="t">
            <a:spAutoFit/>
          </a:bodyPr>
          <a:lstStyle/>
          <a:p>
            <a:pPr algn="ctr">
              <a:lnSpc>
                <a:spcPts val="6583"/>
              </a:lnSpc>
            </a:pPr>
            <a:r>
              <a:rPr lang="en-US" sz="4702" dirty="0">
                <a:solidFill>
                  <a:schemeClr val="accent5">
                    <a:lumMod val="50000"/>
                  </a:schemeClr>
                </a:solidFill>
                <a:latin typeface="Arimo Bold"/>
              </a:rPr>
              <a:t>The Economic Way to Drill Geothermal Well in Indonesia</a:t>
            </a:r>
          </a:p>
        </p:txBody>
      </p:sp>
      <p:sp>
        <p:nvSpPr>
          <p:cNvPr id="13" name="TextBox 13"/>
          <p:cNvSpPr txBox="1"/>
          <p:nvPr/>
        </p:nvSpPr>
        <p:spPr>
          <a:xfrm>
            <a:off x="5753234" y="4030839"/>
            <a:ext cx="2523831" cy="304571"/>
          </a:xfrm>
          <a:prstGeom prst="rect">
            <a:avLst/>
          </a:prstGeom>
        </p:spPr>
        <p:txBody>
          <a:bodyPr lIns="0" tIns="0" rIns="0" bIns="0" rtlCol="0" anchor="t">
            <a:spAutoFit/>
          </a:bodyPr>
          <a:lstStyle/>
          <a:p>
            <a:pPr algn="ctr">
              <a:lnSpc>
                <a:spcPts val="2613"/>
              </a:lnSpc>
            </a:pPr>
            <a:r>
              <a:rPr lang="en-US" sz="1866" dirty="0">
                <a:solidFill>
                  <a:srgbClr val="000000"/>
                </a:solidFill>
                <a:latin typeface="Arimo Italics"/>
              </a:rPr>
              <a:t>By: Yudi Hartono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1043" y="379817"/>
            <a:ext cx="6406158" cy="640080"/>
          </a:xfrm>
        </p:spPr>
        <p:txBody>
          <a:bodyPr>
            <a:noAutofit/>
          </a:bodyPr>
          <a:lstStyle/>
          <a:p>
            <a:r>
              <a:rPr lang="en-US" sz="4000" b="1" dirty="0"/>
              <a:t>Objectives</a:t>
            </a:r>
          </a:p>
        </p:txBody>
      </p:sp>
      <p:sp>
        <p:nvSpPr>
          <p:cNvPr id="3" name="TextBox 2"/>
          <p:cNvSpPr txBox="1"/>
          <p:nvPr/>
        </p:nvSpPr>
        <p:spPr>
          <a:xfrm>
            <a:off x="774280" y="1337839"/>
            <a:ext cx="10643439" cy="2893100"/>
          </a:xfrm>
          <a:prstGeom prst="rect">
            <a:avLst/>
          </a:prstGeom>
          <a:noFill/>
        </p:spPr>
        <p:txBody>
          <a:bodyPr wrap="square" rtlCol="0">
            <a:spAutoFit/>
          </a:bodyPr>
          <a:lstStyle/>
          <a:p>
            <a:pPr marL="285750" indent="-285750">
              <a:buFont typeface="Arial" panose="020B0604020202020204" pitchFamily="34" charset="0"/>
              <a:buChar char="•"/>
            </a:pPr>
            <a:r>
              <a:rPr lang="en-US" sz="2600" dirty="0">
                <a:solidFill>
                  <a:schemeClr val="accent6">
                    <a:lumMod val="50000"/>
                  </a:schemeClr>
                </a:solidFill>
              </a:rPr>
              <a:t>Cost Evaluation in Drilling Geothermal Well </a:t>
            </a:r>
          </a:p>
          <a:p>
            <a:pPr marL="285750" indent="-285750">
              <a:buFont typeface="Arial" panose="020B0604020202020204" pitchFamily="34" charset="0"/>
              <a:buChar char="•"/>
            </a:pPr>
            <a:endParaRPr lang="en-US" sz="2600" dirty="0">
              <a:solidFill>
                <a:schemeClr val="accent6">
                  <a:lumMod val="50000"/>
                </a:schemeClr>
              </a:solidFill>
            </a:endParaRPr>
          </a:p>
          <a:p>
            <a:pPr marL="285750" indent="-285750">
              <a:buFont typeface="Arial" panose="020B0604020202020204" pitchFamily="34" charset="0"/>
              <a:buChar char="•"/>
            </a:pPr>
            <a:r>
              <a:rPr lang="en-US" sz="2600" dirty="0">
                <a:solidFill>
                  <a:schemeClr val="accent6">
                    <a:lumMod val="50000"/>
                  </a:schemeClr>
                </a:solidFill>
              </a:rPr>
              <a:t>Sharing knowledge for cost saving initiative to provide significant well cost reduction. </a:t>
            </a:r>
          </a:p>
          <a:p>
            <a:pPr marL="285750" indent="-285750">
              <a:buFont typeface="Arial" panose="020B0604020202020204" pitchFamily="34" charset="0"/>
              <a:buChar char="•"/>
            </a:pPr>
            <a:endParaRPr lang="en-US" sz="2600" dirty="0">
              <a:solidFill>
                <a:schemeClr val="accent6">
                  <a:lumMod val="50000"/>
                </a:schemeClr>
              </a:solidFill>
            </a:endParaRPr>
          </a:p>
          <a:p>
            <a:pPr marL="285750" indent="-285750">
              <a:buFont typeface="Arial" panose="020B0604020202020204" pitchFamily="34" charset="0"/>
              <a:buChar char="•"/>
            </a:pPr>
            <a:r>
              <a:rPr lang="en-US" sz="2600" dirty="0">
                <a:solidFill>
                  <a:schemeClr val="accent6">
                    <a:lumMod val="50000"/>
                  </a:schemeClr>
                </a:solidFill>
              </a:rPr>
              <a:t>Manage database all good drilling method and practice to achieve drilling cost effective  </a:t>
            </a:r>
          </a:p>
        </p:txBody>
      </p:sp>
      <p:pic>
        <p:nvPicPr>
          <p:cNvPr id="2050" name="Picture 2" descr="See the source image">
            <a:extLst>
              <a:ext uri="{FF2B5EF4-FFF2-40B4-BE49-F238E27FC236}">
                <a16:creationId xmlns:a16="http://schemas.microsoft.com/office/drawing/2014/main" id="{6B344FF8-2930-4F5F-978F-DD72FBD092B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09880" y="4127326"/>
            <a:ext cx="2286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ee the source image">
            <a:extLst>
              <a:ext uri="{FF2B5EF4-FFF2-40B4-BE49-F238E27FC236}">
                <a16:creationId xmlns:a16="http://schemas.microsoft.com/office/drawing/2014/main" id="{A35D462D-4D8F-48BC-9216-EFC27817597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834640" y="4148958"/>
            <a:ext cx="2540000" cy="22643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A3C403B-A4D6-4255-B163-BB94550CDE9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81043" y="4230939"/>
            <a:ext cx="2266003" cy="2264368"/>
          </a:xfrm>
          <a:prstGeom prst="rect">
            <a:avLst/>
          </a:prstGeom>
        </p:spPr>
      </p:pic>
      <p:pic>
        <p:nvPicPr>
          <p:cNvPr id="6" name="Picture 5">
            <a:extLst>
              <a:ext uri="{FF2B5EF4-FFF2-40B4-BE49-F238E27FC236}">
                <a16:creationId xmlns:a16="http://schemas.microsoft.com/office/drawing/2014/main" id="{021048EE-CB9F-45CB-AF5A-74E18AE4DE9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007774" y="4164122"/>
            <a:ext cx="3019635" cy="2322796"/>
          </a:xfrm>
          <a:prstGeom prst="rect">
            <a:avLst/>
          </a:prstGeom>
        </p:spPr>
      </p:pic>
    </p:spTree>
    <p:extLst>
      <p:ext uri="{BB962C8B-B14F-4D97-AF65-F5344CB8AC3E}">
        <p14:creationId xmlns:p14="http://schemas.microsoft.com/office/powerpoint/2010/main" val="3856931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00C51-7F7B-99BA-C20A-A7046CB72C80}"/>
              </a:ext>
            </a:extLst>
          </p:cNvPr>
          <p:cNvSpPr>
            <a:spLocks noGrp="1"/>
          </p:cNvSpPr>
          <p:nvPr>
            <p:ph type="title"/>
          </p:nvPr>
        </p:nvSpPr>
        <p:spPr>
          <a:xfrm>
            <a:off x="2577829" y="379829"/>
            <a:ext cx="5272391" cy="640080"/>
          </a:xfrm>
        </p:spPr>
        <p:txBody>
          <a:bodyPr>
            <a:normAutofit fontScale="90000"/>
          </a:bodyPr>
          <a:lstStyle/>
          <a:p>
            <a:r>
              <a:rPr lang="en-US" sz="3600" b="1" dirty="0">
                <a:solidFill>
                  <a:srgbClr val="C00000"/>
                </a:solidFill>
              </a:rPr>
              <a:t>Introduction …book history..</a:t>
            </a:r>
            <a:endParaRPr lang="en-ID" sz="3600" b="1" dirty="0">
              <a:solidFill>
                <a:srgbClr val="C00000"/>
              </a:solidFill>
            </a:endParaRPr>
          </a:p>
        </p:txBody>
      </p:sp>
      <p:pic>
        <p:nvPicPr>
          <p:cNvPr id="4" name="Picture 3" descr="Website&#10;&#10;Description automatically generated">
            <a:extLst>
              <a:ext uri="{FF2B5EF4-FFF2-40B4-BE49-F238E27FC236}">
                <a16:creationId xmlns:a16="http://schemas.microsoft.com/office/drawing/2014/main" id="{64A8AAD2-CE52-C33E-9AB9-E4FD3F4F2B5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02886" y="341713"/>
            <a:ext cx="1413965" cy="1891123"/>
          </a:xfrm>
          <a:prstGeom prst="rect">
            <a:avLst/>
          </a:prstGeom>
          <a:noFill/>
          <a:ln>
            <a:noFill/>
          </a:ln>
        </p:spPr>
      </p:pic>
      <p:graphicFrame>
        <p:nvGraphicFramePr>
          <p:cNvPr id="6" name="Content Placeholder 3" descr="Timeline Smart Art Placeholder ">
            <a:extLst>
              <a:ext uri="{FF2B5EF4-FFF2-40B4-BE49-F238E27FC236}">
                <a16:creationId xmlns:a16="http://schemas.microsoft.com/office/drawing/2014/main" id="{5D94D2DC-22E7-46D5-1E6E-185D23569A55}"/>
              </a:ext>
            </a:extLst>
          </p:cNvPr>
          <p:cNvGraphicFramePr>
            <a:graphicFrameLocks/>
          </p:cNvGraphicFramePr>
          <p:nvPr>
            <p:extLst>
              <p:ext uri="{D42A27DB-BD31-4B8C-83A1-F6EECF244321}">
                <p14:modId xmlns:p14="http://schemas.microsoft.com/office/powerpoint/2010/main" val="2016363591"/>
              </p:ext>
            </p:extLst>
          </p:nvPr>
        </p:nvGraphicFramePr>
        <p:xfrm>
          <a:off x="359476" y="2430082"/>
          <a:ext cx="11090275" cy="39798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35540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55791-0907-E089-34E7-A248EEE3367C}"/>
              </a:ext>
            </a:extLst>
          </p:cNvPr>
          <p:cNvSpPr>
            <a:spLocks noGrp="1"/>
          </p:cNvSpPr>
          <p:nvPr>
            <p:ph type="title"/>
          </p:nvPr>
        </p:nvSpPr>
        <p:spPr>
          <a:xfrm>
            <a:off x="2996119" y="171637"/>
            <a:ext cx="4402207" cy="916499"/>
          </a:xfrm>
        </p:spPr>
        <p:txBody>
          <a:bodyPr>
            <a:normAutofit/>
          </a:bodyPr>
          <a:lstStyle/>
          <a:p>
            <a:r>
              <a:rPr lang="en-US" sz="4800" dirty="0">
                <a:solidFill>
                  <a:srgbClr val="C00000"/>
                </a:solidFill>
                <a:latin typeface="Cavolini" panose="03000502040302020204" pitchFamily="66" charset="0"/>
                <a:cs typeface="Cavolini" panose="03000502040302020204" pitchFamily="66" charset="0"/>
              </a:rPr>
              <a:t>Content …</a:t>
            </a:r>
            <a:endParaRPr lang="en-ID" sz="4800" b="1" dirty="0">
              <a:solidFill>
                <a:srgbClr val="C00000"/>
              </a:solidFill>
              <a:latin typeface="Cavolini" panose="03000502040302020204" pitchFamily="66" charset="0"/>
              <a:cs typeface="Cavolini" panose="03000502040302020204" pitchFamily="66" charset="0"/>
            </a:endParaRPr>
          </a:p>
        </p:txBody>
      </p:sp>
      <p:graphicFrame>
        <p:nvGraphicFramePr>
          <p:cNvPr id="6" name="Diagram 5">
            <a:extLst>
              <a:ext uri="{FF2B5EF4-FFF2-40B4-BE49-F238E27FC236}">
                <a16:creationId xmlns:a16="http://schemas.microsoft.com/office/drawing/2014/main" id="{E94A9A28-3F22-88EE-7CB4-5D33E927F512}"/>
              </a:ext>
            </a:extLst>
          </p:cNvPr>
          <p:cNvGraphicFramePr/>
          <p:nvPr>
            <p:extLst>
              <p:ext uri="{D42A27DB-BD31-4B8C-83A1-F6EECF244321}">
                <p14:modId xmlns:p14="http://schemas.microsoft.com/office/powerpoint/2010/main" val="4066720780"/>
              </p:ext>
            </p:extLst>
          </p:nvPr>
        </p:nvGraphicFramePr>
        <p:xfrm>
          <a:off x="1352152" y="1267696"/>
          <a:ext cx="8709445"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2" descr="See the source image">
            <a:extLst>
              <a:ext uri="{FF2B5EF4-FFF2-40B4-BE49-F238E27FC236}">
                <a16:creationId xmlns:a16="http://schemas.microsoft.com/office/drawing/2014/main" id="{A4E38E6A-3544-C279-2212-46F46639880D}"/>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578523" y="1267696"/>
            <a:ext cx="1481631" cy="14816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BF25A43-EEF8-C128-42E2-E809A1EB9155}"/>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11337" y="3800580"/>
            <a:ext cx="1481631" cy="1480562"/>
          </a:xfrm>
          <a:prstGeom prst="rect">
            <a:avLst/>
          </a:prstGeom>
        </p:spPr>
      </p:pic>
      <p:pic>
        <p:nvPicPr>
          <p:cNvPr id="10" name="Picture 9">
            <a:extLst>
              <a:ext uri="{FF2B5EF4-FFF2-40B4-BE49-F238E27FC236}">
                <a16:creationId xmlns:a16="http://schemas.microsoft.com/office/drawing/2014/main" id="{50266548-FE21-DC5A-2343-2B04920B836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11337" y="5421186"/>
            <a:ext cx="1481631" cy="1139716"/>
          </a:xfrm>
          <a:prstGeom prst="rect">
            <a:avLst/>
          </a:prstGeom>
        </p:spPr>
      </p:pic>
      <p:pic>
        <p:nvPicPr>
          <p:cNvPr id="12" name="Picture 4" descr="See the source image">
            <a:extLst>
              <a:ext uri="{FF2B5EF4-FFF2-40B4-BE49-F238E27FC236}">
                <a16:creationId xmlns:a16="http://schemas.microsoft.com/office/drawing/2014/main" id="{E9F54174-9772-F4F1-6EFE-C473E78FF0AD}"/>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570115" y="2607034"/>
            <a:ext cx="1498446" cy="133584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person wearing a helmet&#10;&#10;Description automatically generated with low confidence">
            <a:extLst>
              <a:ext uri="{FF2B5EF4-FFF2-40B4-BE49-F238E27FC236}">
                <a16:creationId xmlns:a16="http://schemas.microsoft.com/office/drawing/2014/main" id="{F26A93FA-4956-E190-9630-80E0498B1021}"/>
              </a:ext>
            </a:extLst>
          </p:cNvPr>
          <p:cNvPicPr>
            <a:picLocks noChangeAspect="1"/>
          </p:cNvPicPr>
          <p:nvPr/>
        </p:nvPicPr>
        <p:blipFill>
          <a:blip r:embed="rId11"/>
          <a:stretch>
            <a:fillRect/>
          </a:stretch>
        </p:blipFill>
        <p:spPr>
          <a:xfrm>
            <a:off x="9014233" y="4562516"/>
            <a:ext cx="2740766" cy="2055575"/>
          </a:xfrm>
          <a:prstGeom prst="rect">
            <a:avLst/>
          </a:prstGeom>
        </p:spPr>
      </p:pic>
      <p:pic>
        <p:nvPicPr>
          <p:cNvPr id="17" name="Picture 16">
            <a:extLst>
              <a:ext uri="{FF2B5EF4-FFF2-40B4-BE49-F238E27FC236}">
                <a16:creationId xmlns:a16="http://schemas.microsoft.com/office/drawing/2014/main" id="{5BB92E55-EF23-89DC-A973-90E83DD2E847}"/>
              </a:ext>
            </a:extLst>
          </p:cNvPr>
          <p:cNvPicPr>
            <a:picLocks noChangeAspect="1"/>
          </p:cNvPicPr>
          <p:nvPr/>
        </p:nvPicPr>
        <p:blipFill rotWithShape="1">
          <a:blip r:embed="rId12"/>
          <a:srcRect l="5591" r="6376" b="23542"/>
          <a:stretch/>
        </p:blipFill>
        <p:spPr>
          <a:xfrm>
            <a:off x="9014233" y="1311279"/>
            <a:ext cx="2740766" cy="3173920"/>
          </a:xfrm>
          <a:prstGeom prst="rect">
            <a:avLst/>
          </a:prstGeom>
        </p:spPr>
      </p:pic>
    </p:spTree>
    <p:extLst>
      <p:ext uri="{BB962C8B-B14F-4D97-AF65-F5344CB8AC3E}">
        <p14:creationId xmlns:p14="http://schemas.microsoft.com/office/powerpoint/2010/main" val="621667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7" y="397468"/>
            <a:ext cx="8111954" cy="6397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n-US" altLang="en-US" sz="3600" b="1" dirty="0" err="1">
                <a:solidFill>
                  <a:schemeClr val="accent6">
                    <a:lumMod val="50000"/>
                  </a:schemeClr>
                </a:solidFill>
                <a:latin typeface="Cavolini" panose="03000502040302020204" pitchFamily="66" charset="0"/>
                <a:cs typeface="Cavolini" panose="03000502040302020204" pitchFamily="66" charset="0"/>
              </a:rPr>
              <a:t>Pendahuluan</a:t>
            </a:r>
            <a:r>
              <a:rPr lang="en-US" altLang="en-US" sz="3600" b="1" dirty="0">
                <a:solidFill>
                  <a:schemeClr val="accent6">
                    <a:lumMod val="50000"/>
                  </a:schemeClr>
                </a:solidFill>
                <a:latin typeface="Cavolini" panose="03000502040302020204" pitchFamily="66" charset="0"/>
                <a:cs typeface="Cavolini" panose="03000502040302020204" pitchFamily="66" charset="0"/>
              </a:rPr>
              <a:t> …</a:t>
            </a:r>
          </a:p>
        </p:txBody>
      </p:sp>
      <p:sp>
        <p:nvSpPr>
          <p:cNvPr id="2" name="Rectangle 1">
            <a:extLst>
              <a:ext uri="{FF2B5EF4-FFF2-40B4-BE49-F238E27FC236}">
                <a16:creationId xmlns:a16="http://schemas.microsoft.com/office/drawing/2014/main" id="{DA7BD951-32F0-EBB7-4734-9615E2BDA736}"/>
              </a:ext>
            </a:extLst>
          </p:cNvPr>
          <p:cNvSpPr/>
          <p:nvPr/>
        </p:nvSpPr>
        <p:spPr>
          <a:xfrm>
            <a:off x="2668772" y="1480511"/>
            <a:ext cx="8389088" cy="765544"/>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ea typeface="Verdana" panose="020B0604030504040204" pitchFamily="34" charset="0"/>
                <a:cs typeface="Cavolini" panose="03000502040302020204" pitchFamily="66" charset="0"/>
              </a:rPr>
              <a:t>Kapasitas</a:t>
            </a:r>
            <a:r>
              <a:rPr lang="en-US" altLang="en-US" sz="2400" b="1" dirty="0">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Terpasang</a:t>
            </a:r>
            <a:r>
              <a:rPr lang="en-US" altLang="en-US" sz="2400" b="1" dirty="0">
                <a:latin typeface="Cavolini" panose="03000502040302020204" pitchFamily="66" charset="0"/>
                <a:ea typeface="Verdana" panose="020B0604030504040204" pitchFamily="34" charset="0"/>
                <a:cs typeface="Cavolini" panose="03000502040302020204" pitchFamily="66" charset="0"/>
              </a:rPr>
              <a:t> Energi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Panas</a:t>
            </a:r>
            <a:r>
              <a:rPr lang="en-US" altLang="en-US" sz="2400" b="1" dirty="0">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Bumi</a:t>
            </a:r>
            <a:r>
              <a:rPr lang="en-US" altLang="en-US" sz="2400" b="1" dirty="0">
                <a:latin typeface="Cavolini" panose="03000502040302020204" pitchFamily="66" charset="0"/>
                <a:ea typeface="Verdana" panose="020B0604030504040204" pitchFamily="34" charset="0"/>
                <a:cs typeface="Cavolini" panose="03000502040302020204" pitchFamily="66" charset="0"/>
              </a:rPr>
              <a:t> dan target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Pemerintah</a:t>
            </a:r>
            <a:endParaRPr lang="en-ID" sz="2400" b="1" dirty="0">
              <a:latin typeface="Cavolini" panose="03000502040302020204" pitchFamily="66" charset="0"/>
              <a:ea typeface="Verdana" panose="020B0604030504040204" pitchFamily="34" charset="0"/>
              <a:cs typeface="Cavolini" panose="03000502040302020204" pitchFamily="66"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1535717" y="1480511"/>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1.1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2668772" y="2398455"/>
            <a:ext cx="8389088" cy="748783"/>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Tipikal</a:t>
            </a:r>
            <a:r>
              <a:rPr lang="en-US" altLang="en-US" sz="2400" b="1" dirty="0">
                <a:latin typeface="Cavolini" panose="03000502040302020204" pitchFamily="66" charset="0"/>
                <a:cs typeface="Cavolini" panose="03000502040302020204" pitchFamily="66" charset="0"/>
              </a:rPr>
              <a:t> Desain </a:t>
            </a:r>
            <a:r>
              <a:rPr lang="en-US" altLang="en-US" sz="2400" b="1" dirty="0" err="1">
                <a:latin typeface="Cavolini" panose="03000502040302020204" pitchFamily="66" charset="0"/>
                <a:cs typeface="Cavolini" panose="03000502040302020204" pitchFamily="66" charset="0"/>
              </a:rPr>
              <a:t>Sumur</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Panas</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Bumi</a:t>
            </a:r>
            <a:endParaRPr lang="en-ID" sz="2400" b="1" dirty="0">
              <a:latin typeface="Cavolini" panose="03000502040302020204" pitchFamily="66" charset="0"/>
              <a:cs typeface="Cavolini" panose="03000502040302020204" pitchFamily="66" charset="0"/>
            </a:endParaRPr>
          </a:p>
        </p:txBody>
      </p:sp>
      <p:sp>
        <p:nvSpPr>
          <p:cNvPr id="5" name="Rectangle 4">
            <a:extLst>
              <a:ext uri="{FF2B5EF4-FFF2-40B4-BE49-F238E27FC236}">
                <a16:creationId xmlns:a16="http://schemas.microsoft.com/office/drawing/2014/main" id="{FEA18FA2-826B-D284-53B8-B37906FB6BBA}"/>
              </a:ext>
            </a:extLst>
          </p:cNvPr>
          <p:cNvSpPr/>
          <p:nvPr/>
        </p:nvSpPr>
        <p:spPr>
          <a:xfrm>
            <a:off x="2668772" y="3351322"/>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Stastistik</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Biaya</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Pengeboran</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Sumur</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Panas</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Bumi</a:t>
            </a:r>
            <a:r>
              <a:rPr lang="en-US" altLang="en-US" sz="2400" b="1" dirty="0">
                <a:latin typeface="Cavolini" panose="03000502040302020204" pitchFamily="66" charset="0"/>
                <a:cs typeface="Cavolini" panose="03000502040302020204" pitchFamily="66" charset="0"/>
              </a:rPr>
              <a:t> di Indonesia</a:t>
            </a:r>
            <a:endParaRPr lang="en-ID" sz="2400" b="1" dirty="0">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1535716" y="2398455"/>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1.2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7" name="Rectangle 6">
            <a:extLst>
              <a:ext uri="{FF2B5EF4-FFF2-40B4-BE49-F238E27FC236}">
                <a16:creationId xmlns:a16="http://schemas.microsoft.com/office/drawing/2014/main" id="{EEC3DBDE-A9D3-E986-BC78-CB0BDA109893}"/>
              </a:ext>
            </a:extLst>
          </p:cNvPr>
          <p:cNvSpPr/>
          <p:nvPr/>
        </p:nvSpPr>
        <p:spPr>
          <a:xfrm>
            <a:off x="1535716" y="3317946"/>
            <a:ext cx="891363" cy="765544"/>
          </a:xfrm>
          <a:prstGeom prst="rect">
            <a:avLst/>
          </a:prstGeom>
          <a:solidFill>
            <a:srgbClr val="FFCC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1.3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769291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316005"/>
            <a:ext cx="8229600" cy="639763"/>
          </a:xfrm>
        </p:spPr>
        <p:txBody>
          <a:bodyPr anchor="t">
            <a:normAutofit fontScale="90000"/>
          </a:bodyPr>
          <a:lstStyle/>
          <a:p>
            <a:pPr eaLnBrk="1" hangingPunct="1"/>
            <a:r>
              <a:rPr lang="en-US" altLang="en-US" sz="3600" b="1" dirty="0">
                <a:solidFill>
                  <a:srgbClr val="C00000"/>
                </a:solidFill>
              </a:rPr>
              <a:t>DRILLING IS CRITICAL PART, Why?.</a:t>
            </a:r>
          </a:p>
        </p:txBody>
      </p:sp>
      <p:sp>
        <p:nvSpPr>
          <p:cNvPr id="5" name="Content Placeholder 4"/>
          <p:cNvSpPr txBox="1">
            <a:spLocks/>
          </p:cNvSpPr>
          <p:nvPr/>
        </p:nvSpPr>
        <p:spPr bwMode="auto">
          <a:xfrm>
            <a:off x="274320" y="1228290"/>
            <a:ext cx="7691120" cy="4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FF6600"/>
                </a:solidFill>
                <a:latin typeface="Arial" charset="0"/>
              </a:defRPr>
            </a:lvl1pPr>
            <a:lvl2pPr marL="742950" indent="-285750">
              <a:defRPr b="1">
                <a:solidFill>
                  <a:srgbClr val="FF6600"/>
                </a:solidFill>
                <a:latin typeface="Arial" charset="0"/>
              </a:defRPr>
            </a:lvl2pPr>
            <a:lvl3pPr marL="1143000" indent="-228600">
              <a:defRPr b="1">
                <a:solidFill>
                  <a:srgbClr val="FF6600"/>
                </a:solidFill>
                <a:latin typeface="Arial" charset="0"/>
              </a:defRPr>
            </a:lvl3pPr>
            <a:lvl4pPr marL="1600200" indent="-228600">
              <a:defRPr b="1">
                <a:solidFill>
                  <a:srgbClr val="FF6600"/>
                </a:solidFill>
                <a:latin typeface="Arial" charset="0"/>
              </a:defRPr>
            </a:lvl4pPr>
            <a:lvl5pPr marL="2057400" indent="-228600">
              <a:defRPr b="1">
                <a:solidFill>
                  <a:srgbClr val="FF6600"/>
                </a:solidFill>
                <a:latin typeface="Arial" charset="0"/>
              </a:defRPr>
            </a:lvl5pPr>
            <a:lvl6pPr marL="25146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6pPr>
            <a:lvl7pPr marL="29718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7pPr>
            <a:lvl8pPr marL="34290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8pPr>
            <a:lvl9pPr marL="38862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9pPr>
          </a:lstStyle>
          <a:p>
            <a:pPr eaLnBrk="1" fontAlgn="auto" hangingPunct="1">
              <a:spcBef>
                <a:spcPts val="0"/>
              </a:spcBef>
              <a:spcAft>
                <a:spcPts val="0"/>
              </a:spcAft>
              <a:buFont typeface="Wingdings" pitchFamily="2" charset="2"/>
              <a:buChar char="v"/>
              <a:defRPr/>
            </a:pPr>
            <a:r>
              <a:rPr lang="en-US" sz="2800" b="0" kern="0" dirty="0">
                <a:solidFill>
                  <a:schemeClr val="accent1">
                    <a:lumMod val="50000"/>
                  </a:schemeClr>
                </a:solidFill>
              </a:rPr>
              <a:t>Drilling cost from exploration to development phase: USD 3210 – 3947 per meter</a:t>
            </a:r>
          </a:p>
          <a:p>
            <a:pPr eaLnBrk="1" fontAlgn="auto" hangingPunct="1">
              <a:spcBef>
                <a:spcPts val="0"/>
              </a:spcBef>
              <a:spcAft>
                <a:spcPts val="0"/>
              </a:spcAft>
              <a:buFont typeface="Wingdings" pitchFamily="2" charset="2"/>
              <a:buChar char="v"/>
              <a:defRPr/>
            </a:pPr>
            <a:r>
              <a:rPr lang="en-US" sz="2800" b="0" kern="0" dirty="0">
                <a:solidFill>
                  <a:schemeClr val="accent1">
                    <a:lumMod val="50000"/>
                  </a:schemeClr>
                </a:solidFill>
              </a:rPr>
              <a:t>Drilling Cost = </a:t>
            </a:r>
            <a:r>
              <a:rPr lang="en-US" sz="4000" kern="0" dirty="0">
                <a:solidFill>
                  <a:srgbClr val="FF9933"/>
                </a:solidFill>
              </a:rPr>
              <a:t>30-35%</a:t>
            </a:r>
            <a:r>
              <a:rPr lang="en-US" sz="4000" kern="0" dirty="0">
                <a:solidFill>
                  <a:schemeClr val="accent1">
                    <a:lumMod val="50000"/>
                  </a:schemeClr>
                </a:solidFill>
              </a:rPr>
              <a:t> </a:t>
            </a:r>
            <a:r>
              <a:rPr lang="en-US" sz="2800" b="0" kern="0" dirty="0">
                <a:solidFill>
                  <a:schemeClr val="accent1">
                    <a:lumMod val="50000"/>
                  </a:schemeClr>
                </a:solidFill>
              </a:rPr>
              <a:t>of Geothermal Project Cost.</a:t>
            </a:r>
          </a:p>
          <a:p>
            <a:pPr eaLnBrk="1" fontAlgn="auto" hangingPunct="1">
              <a:spcBef>
                <a:spcPts val="0"/>
              </a:spcBef>
              <a:spcAft>
                <a:spcPts val="0"/>
              </a:spcAft>
              <a:buFont typeface="Wingdings" pitchFamily="2" charset="2"/>
              <a:buChar char="v"/>
              <a:defRPr/>
            </a:pPr>
            <a:r>
              <a:rPr lang="en-US" sz="2800" b="0" kern="0" dirty="0">
                <a:solidFill>
                  <a:schemeClr val="accent1">
                    <a:lumMod val="50000"/>
                  </a:schemeClr>
                </a:solidFill>
              </a:rPr>
              <a:t>Successfully Drilling Campaign may lead Development of the Geothermal Project.</a:t>
            </a:r>
          </a:p>
          <a:p>
            <a:pPr eaLnBrk="1" fontAlgn="auto" hangingPunct="1">
              <a:spcBef>
                <a:spcPts val="0"/>
              </a:spcBef>
              <a:spcAft>
                <a:spcPts val="0"/>
              </a:spcAft>
              <a:buFont typeface="Wingdings" pitchFamily="2" charset="2"/>
              <a:buChar char="v"/>
              <a:defRPr/>
            </a:pPr>
            <a:r>
              <a:rPr lang="en-US" sz="2800" b="0" kern="0" dirty="0">
                <a:solidFill>
                  <a:schemeClr val="accent1">
                    <a:lumMod val="50000"/>
                  </a:schemeClr>
                </a:solidFill>
              </a:rPr>
              <a:t>Drilling will exist from beginning geothermal project until life of the field. </a:t>
            </a:r>
            <a:endParaRPr lang="id-ID" sz="2800" b="0" kern="0" dirty="0">
              <a:solidFill>
                <a:schemeClr val="accent1">
                  <a:lumMod val="50000"/>
                </a:schemeClr>
              </a:solidFill>
            </a:endParaRPr>
          </a:p>
        </p:txBody>
      </p:sp>
      <p:sp>
        <p:nvSpPr>
          <p:cNvPr id="6" name="TextBox 5"/>
          <p:cNvSpPr txBox="1"/>
          <p:nvPr/>
        </p:nvSpPr>
        <p:spPr>
          <a:xfrm>
            <a:off x="0" y="5281428"/>
            <a:ext cx="12192000" cy="1200329"/>
          </a:xfrm>
          <a:prstGeom prst="rect">
            <a:avLst/>
          </a:prstGeom>
          <a:solidFill>
            <a:srgbClr val="002060">
              <a:alpha val="47000"/>
            </a:srgbClr>
          </a:solidFill>
        </p:spPr>
        <p:txBody>
          <a:bodyPr wrap="square" rtlCol="0">
            <a:spAutoFit/>
          </a:bodyPr>
          <a:lstStyle/>
          <a:p>
            <a:pPr algn="ctr"/>
            <a:r>
              <a:rPr lang="en-US" sz="3600" dirty="0">
                <a:solidFill>
                  <a:srgbClr val="FFFF00"/>
                </a:solidFill>
              </a:rPr>
              <a:t>  Reducing Drilling Cost  </a:t>
            </a:r>
            <a:r>
              <a:rPr lang="en-US" sz="3600" dirty="0">
                <a:solidFill>
                  <a:srgbClr val="FFFF00"/>
                </a:solidFill>
                <a:sym typeface="Wingdings" panose="05000000000000000000" pitchFamily="2" charset="2"/>
              </a:rPr>
              <a:t></a:t>
            </a:r>
            <a:r>
              <a:rPr lang="en-US" sz="3600" dirty="0">
                <a:solidFill>
                  <a:srgbClr val="FFFF00"/>
                </a:solidFill>
              </a:rPr>
              <a:t> Significant improve Economic of Field Development</a:t>
            </a:r>
          </a:p>
        </p:txBody>
      </p:sp>
      <p:sp>
        <p:nvSpPr>
          <p:cNvPr id="2" name="Arrow: Down 1">
            <a:extLst>
              <a:ext uri="{FF2B5EF4-FFF2-40B4-BE49-F238E27FC236}">
                <a16:creationId xmlns:a16="http://schemas.microsoft.com/office/drawing/2014/main" id="{B04AD18C-803C-4CDD-82CE-36F73C85BEF9}"/>
              </a:ext>
            </a:extLst>
          </p:cNvPr>
          <p:cNvSpPr/>
          <p:nvPr/>
        </p:nvSpPr>
        <p:spPr>
          <a:xfrm>
            <a:off x="6353551" y="1817597"/>
            <a:ext cx="762000" cy="397283"/>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7" name="Group 6">
            <a:extLst>
              <a:ext uri="{FF2B5EF4-FFF2-40B4-BE49-F238E27FC236}">
                <a16:creationId xmlns:a16="http://schemas.microsoft.com/office/drawing/2014/main" id="{54C007AF-25FC-4DF3-8FC2-12252654308C}"/>
              </a:ext>
            </a:extLst>
          </p:cNvPr>
          <p:cNvGrpSpPr/>
          <p:nvPr/>
        </p:nvGrpSpPr>
        <p:grpSpPr>
          <a:xfrm>
            <a:off x="7863840" y="1328847"/>
            <a:ext cx="4053840" cy="2774749"/>
            <a:chOff x="163394" y="2444338"/>
            <a:chExt cx="5642321" cy="3761547"/>
          </a:xfrm>
        </p:grpSpPr>
        <p:pic>
          <p:nvPicPr>
            <p:cNvPr id="8" name="Picture 7">
              <a:extLst>
                <a:ext uri="{FF2B5EF4-FFF2-40B4-BE49-F238E27FC236}">
                  <a16:creationId xmlns:a16="http://schemas.microsoft.com/office/drawing/2014/main" id="{D1AD1386-C99F-44F1-B46F-6D04674FD57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63394" y="2444338"/>
              <a:ext cx="5642321" cy="3761547"/>
            </a:xfrm>
            <a:prstGeom prst="rect">
              <a:avLst/>
            </a:prstGeom>
          </p:spPr>
        </p:pic>
        <p:pic>
          <p:nvPicPr>
            <p:cNvPr id="9" name="Picture 8">
              <a:extLst>
                <a:ext uri="{FF2B5EF4-FFF2-40B4-BE49-F238E27FC236}">
                  <a16:creationId xmlns:a16="http://schemas.microsoft.com/office/drawing/2014/main" id="{E030C5CC-EB70-46C1-88A7-0CCEEE04426B}"/>
                </a:ext>
              </a:extLst>
            </p:cNvPr>
            <p:cNvPicPr>
              <a:picLocks noChangeAspect="1"/>
            </p:cNvPicPr>
            <p:nvPr/>
          </p:nvPicPr>
          <p:blipFill rotWithShape="1">
            <a:blip r:embed="rId4" cstate="email">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rcRect/>
            <a:stretch/>
          </p:blipFill>
          <p:spPr>
            <a:xfrm>
              <a:off x="163394" y="5660570"/>
              <a:ext cx="1182915" cy="545315"/>
            </a:xfrm>
            <a:prstGeom prst="rect">
              <a:avLst/>
            </a:prstGeom>
          </p:spPr>
        </p:pic>
      </p:grpSp>
    </p:spTree>
    <p:extLst>
      <p:ext uri="{BB962C8B-B14F-4D97-AF65-F5344CB8AC3E}">
        <p14:creationId xmlns:p14="http://schemas.microsoft.com/office/powerpoint/2010/main" val="3625492918"/>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1384075-6E81-4200-A0C9-958E52239F57}"/>
              </a:ext>
            </a:extLst>
          </p:cNvPr>
          <p:cNvSpPr txBox="1">
            <a:spLocks/>
          </p:cNvSpPr>
          <p:nvPr/>
        </p:nvSpPr>
        <p:spPr>
          <a:xfrm>
            <a:off x="11763560" y="6566614"/>
            <a:ext cx="455736" cy="310564"/>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Cera Pro" panose="00000500000000000000" pitchFamily="2" charset="0"/>
                <a:ea typeface="Roboto" panose="02000000000000000000" pitchFamily="2" charset="0"/>
                <a:cs typeface="Cera Pro" panose="000005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a:t> </a:t>
            </a:r>
            <a:fld id="{AEDF8F18-11F1-433E-90CF-9D1BA7D9C3BD}" type="slidenum">
              <a:rPr lang="id-ID" sz="1000" smtClean="0"/>
              <a:pPr/>
              <a:t>7</a:t>
            </a:fld>
            <a:endParaRPr lang="id-ID" sz="1000" dirty="0"/>
          </a:p>
        </p:txBody>
      </p:sp>
      <p:sp>
        <p:nvSpPr>
          <p:cNvPr id="5" name="TextBox 4">
            <a:extLst>
              <a:ext uri="{FF2B5EF4-FFF2-40B4-BE49-F238E27FC236}">
                <a16:creationId xmlns:a16="http://schemas.microsoft.com/office/drawing/2014/main" id="{200DD212-57B9-4079-844B-C4379372864A}"/>
              </a:ext>
            </a:extLst>
          </p:cNvPr>
          <p:cNvSpPr txBox="1"/>
          <p:nvPr/>
        </p:nvSpPr>
        <p:spPr>
          <a:xfrm>
            <a:off x="180479" y="6559258"/>
            <a:ext cx="933269" cy="246221"/>
          </a:xfrm>
          <a:prstGeom prst="rect">
            <a:avLst/>
          </a:prstGeom>
          <a:noFill/>
        </p:spPr>
        <p:txBody>
          <a:bodyPr wrap="none" rtlCol="0">
            <a:spAutoFit/>
          </a:bodyPr>
          <a:lstStyle/>
          <a:p>
            <a:r>
              <a:rPr lang="en-US" sz="1000" b="0" dirty="0">
                <a:latin typeface="Cera Pro" panose="00000500000000000000" pitchFamily="2" charset="0"/>
                <a:ea typeface="Roboto" panose="02000000000000000000" pitchFamily="2" charset="0"/>
              </a:rPr>
              <a:t>esdm.go.id |</a:t>
            </a:r>
          </a:p>
        </p:txBody>
      </p:sp>
      <p:sp>
        <p:nvSpPr>
          <p:cNvPr id="6" name="TextBox 5">
            <a:extLst>
              <a:ext uri="{FF2B5EF4-FFF2-40B4-BE49-F238E27FC236}">
                <a16:creationId xmlns:a16="http://schemas.microsoft.com/office/drawing/2014/main" id="{543AC6C5-5CC5-476E-8F11-BB8E5B1F4B31}"/>
              </a:ext>
            </a:extLst>
          </p:cNvPr>
          <p:cNvSpPr txBox="1"/>
          <p:nvPr/>
        </p:nvSpPr>
        <p:spPr>
          <a:xfrm>
            <a:off x="1165329" y="6559258"/>
            <a:ext cx="692818" cy="246221"/>
          </a:xfrm>
          <a:prstGeom prst="rect">
            <a:avLst/>
          </a:prstGeom>
          <a:noFill/>
        </p:spPr>
        <p:txBody>
          <a:bodyPr wrap="none" rtlCol="0">
            <a:spAutoFit/>
          </a:bodyPr>
          <a:lstStyle/>
          <a:p>
            <a:r>
              <a:rPr lang="en-US" sz="1000" b="0" dirty="0">
                <a:latin typeface="Cera Pro" panose="00000500000000000000" pitchFamily="2" charset="0"/>
                <a:ea typeface="Roboto" panose="02000000000000000000" pitchFamily="2" charset="0"/>
              </a:rPr>
              <a:t>@kesdm</a:t>
            </a:r>
          </a:p>
        </p:txBody>
      </p:sp>
      <p:pic>
        <p:nvPicPr>
          <p:cNvPr id="7" name="Graphic 6">
            <a:extLst>
              <a:ext uri="{FF2B5EF4-FFF2-40B4-BE49-F238E27FC236}">
                <a16:creationId xmlns:a16="http://schemas.microsoft.com/office/drawing/2014/main" id="{CCD9823E-7D8A-41AC-BF06-50B6653DD1A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342" y="6616435"/>
            <a:ext cx="149642" cy="149642"/>
          </a:xfrm>
          <a:prstGeom prst="rect">
            <a:avLst/>
          </a:prstGeom>
        </p:spPr>
      </p:pic>
      <p:pic>
        <p:nvPicPr>
          <p:cNvPr id="8" name="Graphic 7">
            <a:extLst>
              <a:ext uri="{FF2B5EF4-FFF2-40B4-BE49-F238E27FC236}">
                <a16:creationId xmlns:a16="http://schemas.microsoft.com/office/drawing/2014/main" id="{FA558BED-724E-4D70-8DBF-B1FEB8ABFAA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3416" y="6612434"/>
            <a:ext cx="149642" cy="149642"/>
          </a:xfrm>
          <a:prstGeom prst="rect">
            <a:avLst/>
          </a:prstGeom>
        </p:spPr>
      </p:pic>
      <p:sp>
        <p:nvSpPr>
          <p:cNvPr id="9" name="Rectangle 8">
            <a:extLst>
              <a:ext uri="{FF2B5EF4-FFF2-40B4-BE49-F238E27FC236}">
                <a16:creationId xmlns:a16="http://schemas.microsoft.com/office/drawing/2014/main" id="{D033A462-4C77-46FF-9534-35D13BFD328E}"/>
              </a:ext>
            </a:extLst>
          </p:cNvPr>
          <p:cNvSpPr/>
          <p:nvPr/>
        </p:nvSpPr>
        <p:spPr>
          <a:xfrm>
            <a:off x="1000054" y="6819715"/>
            <a:ext cx="866186" cy="57463"/>
          </a:xfrm>
          <a:prstGeom prst="rect">
            <a:avLst/>
          </a:prstGeom>
          <a:solidFill>
            <a:srgbClr val="FFD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80151F9-3758-40FC-B4DB-6DC5A5001B4A}"/>
              </a:ext>
            </a:extLst>
          </p:cNvPr>
          <p:cNvSpPr/>
          <p:nvPr/>
        </p:nvSpPr>
        <p:spPr>
          <a:xfrm>
            <a:off x="-32369" y="6819715"/>
            <a:ext cx="1030007" cy="5746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32C5DFC5-5FA5-4725-BD03-EB2D347F9597}"/>
              </a:ext>
            </a:extLst>
          </p:cNvPr>
          <p:cNvSpPr txBox="1"/>
          <p:nvPr/>
        </p:nvSpPr>
        <p:spPr>
          <a:xfrm>
            <a:off x="9358156" y="6598785"/>
            <a:ext cx="2675732" cy="246221"/>
          </a:xfrm>
          <a:prstGeom prst="rect">
            <a:avLst/>
          </a:prstGeom>
          <a:noFill/>
        </p:spPr>
        <p:txBody>
          <a:bodyPr wrap="none" rtlCol="0">
            <a:spAutoFit/>
          </a:bodyPr>
          <a:lstStyle/>
          <a:p>
            <a:r>
              <a:rPr lang="en-US" sz="1000" b="0" dirty="0">
                <a:latin typeface="Cera Pro" panose="00000500000000000000" pitchFamily="2" charset="0"/>
                <a:ea typeface="Roboto" panose="02000000000000000000" pitchFamily="2" charset="0"/>
              </a:rPr>
              <a:t>Ministry of Energy and Mineral Resources|</a:t>
            </a:r>
          </a:p>
        </p:txBody>
      </p:sp>
      <p:pic>
        <p:nvPicPr>
          <p:cNvPr id="16" name="Picture 15" descr="Logo_ESDM.gif">
            <a:extLst>
              <a:ext uri="{FF2B5EF4-FFF2-40B4-BE49-F238E27FC236}">
                <a16:creationId xmlns:a16="http://schemas.microsoft.com/office/drawing/2014/main" id="{96EB8DE2-EA1E-409B-BFE6-2C607AAD3501}"/>
              </a:ext>
            </a:extLst>
          </p:cNvPr>
          <p:cNvPicPr>
            <a:picLocks noChangeAspect="1"/>
          </p:cNvPicPr>
          <p:nvPr/>
        </p:nvPicPr>
        <p:blipFill>
          <a:blip r:embed="rId4" cstate="print"/>
          <a:stretch>
            <a:fillRect/>
          </a:stretch>
        </p:blipFill>
        <p:spPr>
          <a:xfrm>
            <a:off x="263820" y="468829"/>
            <a:ext cx="452460" cy="430887"/>
          </a:xfrm>
          <a:prstGeom prst="rect">
            <a:avLst/>
          </a:prstGeom>
        </p:spPr>
      </p:pic>
      <p:cxnSp>
        <p:nvCxnSpPr>
          <p:cNvPr id="18" name="Straight Connector 17">
            <a:extLst>
              <a:ext uri="{FF2B5EF4-FFF2-40B4-BE49-F238E27FC236}">
                <a16:creationId xmlns:a16="http://schemas.microsoft.com/office/drawing/2014/main" id="{9A29EEB0-57F6-48C8-B4D1-F509A81230CD}"/>
              </a:ext>
            </a:extLst>
          </p:cNvPr>
          <p:cNvCxnSpPr/>
          <p:nvPr/>
        </p:nvCxnSpPr>
        <p:spPr>
          <a:xfrm>
            <a:off x="838200" y="450272"/>
            <a:ext cx="0" cy="468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Rectangle 11">
            <a:extLst>
              <a:ext uri="{FF2B5EF4-FFF2-40B4-BE49-F238E27FC236}">
                <a16:creationId xmlns:a16="http://schemas.microsoft.com/office/drawing/2014/main" id="{CA09CCCA-35D7-4409-A4EF-4901D4E08C15}"/>
              </a:ext>
            </a:extLst>
          </p:cNvPr>
          <p:cNvSpPr/>
          <p:nvPr/>
        </p:nvSpPr>
        <p:spPr>
          <a:xfrm>
            <a:off x="960121" y="404281"/>
            <a:ext cx="4242535" cy="5539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Segoe UI Light" panose="020B0502040204020203" pitchFamily="34" charset="0"/>
                <a:ea typeface="+mn-ea"/>
                <a:cs typeface="Segoe UI Light" panose="020B0502040204020203" pitchFamily="34" charset="0"/>
              </a:rPr>
              <a:t>Ministry of Energy and Mineral Resources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Light" panose="020B0502040204020203" pitchFamily="34" charset="0"/>
                <a:ea typeface="+mn-ea"/>
                <a:cs typeface="Segoe UI Light" panose="020B0502040204020203" pitchFamily="34" charset="0"/>
              </a:rPr>
              <a:t>Republic of Indonesia</a:t>
            </a:r>
          </a:p>
        </p:txBody>
      </p:sp>
      <p:pic>
        <p:nvPicPr>
          <p:cNvPr id="25" name="Picture 2" descr="Tema HUT Ke-76 RI: Indonesia Tangguh Indonesia Tumbuh">
            <a:extLst>
              <a:ext uri="{FF2B5EF4-FFF2-40B4-BE49-F238E27FC236}">
                <a16:creationId xmlns:a16="http://schemas.microsoft.com/office/drawing/2014/main" id="{1572905C-8606-4A2F-9B2B-A5C6420F73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833533" y="148840"/>
            <a:ext cx="1269823" cy="8978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3A54EEA1-484B-4876-A63F-F5181335B4C8}"/>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t="5839" b="210"/>
          <a:stretch/>
        </p:blipFill>
        <p:spPr>
          <a:xfrm>
            <a:off x="0" y="1078824"/>
            <a:ext cx="12192000" cy="5446872"/>
          </a:xfrm>
          <a:prstGeom prst="rect">
            <a:avLst/>
          </a:prstGeom>
        </p:spPr>
      </p:pic>
      <p:sp>
        <p:nvSpPr>
          <p:cNvPr id="19" name="TextBox 18">
            <a:extLst>
              <a:ext uri="{FF2B5EF4-FFF2-40B4-BE49-F238E27FC236}">
                <a16:creationId xmlns:a16="http://schemas.microsoft.com/office/drawing/2014/main" id="{26D59C2A-8596-411C-B6A7-F7F35B195367}"/>
              </a:ext>
            </a:extLst>
          </p:cNvPr>
          <p:cNvSpPr txBox="1"/>
          <p:nvPr/>
        </p:nvSpPr>
        <p:spPr>
          <a:xfrm>
            <a:off x="6042675" y="1751094"/>
            <a:ext cx="6089853" cy="1089802"/>
          </a:xfrm>
          <a:prstGeom prst="rect">
            <a:avLst/>
          </a:prstGeom>
          <a:noFill/>
        </p:spPr>
        <p:txBody>
          <a:bodyPr wrap="square" lIns="103900" tIns="51951" rIns="103900" bIns="51951"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err="1">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Evaluasi</a:t>
            </a:r>
            <a:r>
              <a:rPr lang="en-US" sz="3200" b="1" dirty="0">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 </a:t>
            </a:r>
            <a:r>
              <a:rPr lang="en-US" sz="3200" b="1" dirty="0" err="1">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Biaya</a:t>
            </a:r>
            <a:r>
              <a:rPr lang="en-US" sz="3200" b="1" dirty="0">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 </a:t>
            </a:r>
            <a:r>
              <a:rPr lang="en-US" sz="3200" b="1" dirty="0" err="1">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Pengeboran</a:t>
            </a:r>
            <a:r>
              <a:rPr lang="en-US" sz="3200" b="1" dirty="0">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 </a:t>
            </a:r>
            <a:r>
              <a:rPr lang="en-US" sz="3200" b="1" dirty="0" err="1">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Panas</a:t>
            </a:r>
            <a:r>
              <a:rPr lang="en-US" sz="3200" b="1" dirty="0">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 </a:t>
            </a:r>
            <a:r>
              <a:rPr lang="en-US" sz="3200" b="1" dirty="0" err="1">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Bumi</a:t>
            </a:r>
            <a:r>
              <a:rPr lang="en-US" sz="3200" b="1" dirty="0">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latin typeface="Avenir Next LT Pro" panose="020B0504020202020204" pitchFamily="34" charset="0"/>
                <a:ea typeface="Times New Roman" panose="02020603050405020304" pitchFamily="18" charset="0"/>
                <a:cs typeface="Palanquin" panose="020B0004020203020204" pitchFamily="34" charset="77"/>
              </a:rPr>
              <a:t> 2011 - 2021</a:t>
            </a:r>
            <a:endParaRPr kumimoji="0" lang="en-US" sz="3200" b="1" i="0" u="none" strike="noStrike" kern="1200" normalizeH="0" baseline="0" noProof="0" dirty="0">
              <a:ln w="9525">
                <a:solidFill>
                  <a:schemeClr val="bg2">
                    <a:lumMod val="10000"/>
                  </a:schemeClr>
                </a:solidFill>
                <a:prstDash val="solid"/>
              </a:ln>
              <a:solidFill>
                <a:srgbClr val="FFC000"/>
              </a:solidFill>
              <a:effectLst>
                <a:outerShdw blurRad="12700" dist="38100" dir="2700000" algn="tl" rotWithShape="0">
                  <a:schemeClr val="bg1">
                    <a:lumMod val="50000"/>
                  </a:schemeClr>
                </a:outerShdw>
              </a:effectLst>
              <a:uLnTx/>
              <a:uFillTx/>
              <a:latin typeface="Avenir Next LT Pro" panose="020B0504020202020204" pitchFamily="34" charset="0"/>
              <a:ea typeface="Times New Roman" panose="02020603050405020304" pitchFamily="18" charset="0"/>
              <a:cs typeface="Palanquin" panose="020B0004020203020204" pitchFamily="34" charset="77"/>
            </a:endParaRPr>
          </a:p>
        </p:txBody>
      </p:sp>
      <p:cxnSp>
        <p:nvCxnSpPr>
          <p:cNvPr id="20" name="Straight Connector 19">
            <a:extLst>
              <a:ext uri="{FF2B5EF4-FFF2-40B4-BE49-F238E27FC236}">
                <a16:creationId xmlns:a16="http://schemas.microsoft.com/office/drawing/2014/main" id="{D6E43DD4-032E-4C52-9F0E-9B26436FA692}"/>
              </a:ext>
            </a:extLst>
          </p:cNvPr>
          <p:cNvCxnSpPr>
            <a:cxnSpLocks/>
          </p:cNvCxnSpPr>
          <p:nvPr/>
        </p:nvCxnSpPr>
        <p:spPr>
          <a:xfrm>
            <a:off x="8301792" y="5494331"/>
            <a:ext cx="1872000" cy="0"/>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E5DC610-D28D-4274-8D86-8FB8FCF86012}"/>
              </a:ext>
            </a:extLst>
          </p:cNvPr>
          <p:cNvSpPr txBox="1"/>
          <p:nvPr/>
        </p:nvSpPr>
        <p:spPr>
          <a:xfrm>
            <a:off x="6059487" y="4528471"/>
            <a:ext cx="6159809" cy="677108"/>
          </a:xfrm>
          <a:prstGeom prst="rect">
            <a:avLst/>
          </a:prstGeom>
          <a:noFill/>
        </p:spPr>
        <p:txBody>
          <a:bodyPr wrap="square">
            <a:spAutoFit/>
          </a:bodyPr>
          <a:lstStyle/>
          <a:p>
            <a:pPr lvl="0" algn="ctr">
              <a:defRPr/>
            </a:pPr>
            <a:r>
              <a:rPr lang="en-US" sz="2200" dirty="0">
                <a:solidFill>
                  <a:schemeClr val="bg1"/>
                </a:solidFill>
                <a:latin typeface="Avenir Next LT Pro" panose="020B0504020202020204" pitchFamily="34" charset="0"/>
              </a:rPr>
              <a:t>DIREKTORAT PANAS BUMI</a:t>
            </a:r>
          </a:p>
          <a:p>
            <a:pPr lvl="0" algn="ctr">
              <a:defRPr/>
            </a:pPr>
            <a:r>
              <a:rPr lang="en-US" sz="1600" dirty="0">
                <a:solidFill>
                  <a:schemeClr val="bg1"/>
                </a:solidFill>
                <a:latin typeface="Avenir Next LT Pro" panose="020B0504020202020204" pitchFamily="34" charset="0"/>
              </a:rPr>
              <a:t>DITJEN EBTKE, KESDM</a:t>
            </a:r>
            <a:endParaRPr lang="id-ID" sz="1600" dirty="0">
              <a:solidFill>
                <a:schemeClr val="bg1"/>
              </a:solidFill>
              <a:latin typeface="Avenir Next LT Pro" panose="020B0504020202020204" pitchFamily="34" charset="0"/>
            </a:endParaRPr>
          </a:p>
        </p:txBody>
      </p:sp>
      <p:cxnSp>
        <p:nvCxnSpPr>
          <p:cNvPr id="22" name="Straight Connector 21">
            <a:extLst>
              <a:ext uri="{FF2B5EF4-FFF2-40B4-BE49-F238E27FC236}">
                <a16:creationId xmlns:a16="http://schemas.microsoft.com/office/drawing/2014/main" id="{49FC8C0E-28CA-4206-8EAA-68A5D8F6288A}"/>
              </a:ext>
            </a:extLst>
          </p:cNvPr>
          <p:cNvCxnSpPr>
            <a:cxnSpLocks/>
          </p:cNvCxnSpPr>
          <p:nvPr/>
        </p:nvCxnSpPr>
        <p:spPr>
          <a:xfrm>
            <a:off x="8031107" y="5545131"/>
            <a:ext cx="2448000"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29" name="TextBox 1">
            <a:extLst>
              <a:ext uri="{FF2B5EF4-FFF2-40B4-BE49-F238E27FC236}">
                <a16:creationId xmlns:a16="http://schemas.microsoft.com/office/drawing/2014/main" id="{E569E942-E2C2-430B-B3BB-80AF6ECEAD3B}"/>
              </a:ext>
            </a:extLst>
          </p:cNvPr>
          <p:cNvSpPr txBox="1">
            <a:spLocks noChangeArrowheads="1"/>
          </p:cNvSpPr>
          <p:nvPr/>
        </p:nvSpPr>
        <p:spPr bwMode="auto">
          <a:xfrm>
            <a:off x="6053243" y="5941562"/>
            <a:ext cx="613261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3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altLang="id-ID" sz="1400" dirty="0">
                <a:solidFill>
                  <a:schemeClr val="bg1"/>
                </a:solidFill>
                <a:latin typeface="Avenir Next LT Pro" panose="020B0504020202020204" pitchFamily="34" charset="0"/>
                <a:cs typeface="Palanquin" panose="020B0004020203020204" pitchFamily="34" charset="77"/>
              </a:rPr>
              <a:t>Update 11 </a:t>
            </a:r>
            <a:r>
              <a:rPr lang="en-US" altLang="id-ID" sz="1400" dirty="0" err="1">
                <a:solidFill>
                  <a:schemeClr val="bg1"/>
                </a:solidFill>
                <a:latin typeface="Avenir Next LT Pro" panose="020B0504020202020204" pitchFamily="34" charset="0"/>
                <a:cs typeface="Palanquin" panose="020B0004020203020204" pitchFamily="34" charset="77"/>
              </a:rPr>
              <a:t>Oktober</a:t>
            </a:r>
            <a:r>
              <a:rPr lang="en-US" altLang="id-ID" sz="1400" dirty="0">
                <a:solidFill>
                  <a:schemeClr val="bg1"/>
                </a:solidFill>
                <a:latin typeface="Avenir Next LT Pro" panose="020B0504020202020204" pitchFamily="34" charset="0"/>
                <a:cs typeface="Palanquin" panose="020B0004020203020204" pitchFamily="34" charset="77"/>
              </a:rPr>
              <a:t> 2021</a:t>
            </a:r>
            <a:endParaRPr kumimoji="0" lang="id-ID" altLang="id-ID" sz="1400" b="0" i="0" u="none" strike="noStrike" kern="1200" cap="none" spc="0" normalizeH="0" baseline="0" noProof="0" dirty="0">
              <a:ln>
                <a:noFill/>
              </a:ln>
              <a:solidFill>
                <a:schemeClr val="bg1"/>
              </a:solidFill>
              <a:effectLst/>
              <a:uLnTx/>
              <a:uFillTx/>
              <a:latin typeface="Avenir Next LT Pro" panose="020B0504020202020204" pitchFamily="34" charset="0"/>
              <a:cs typeface="Palanquin" panose="020B0004020203020204" pitchFamily="34" charset="77"/>
            </a:endParaRPr>
          </a:p>
        </p:txBody>
      </p:sp>
    </p:spTree>
    <p:extLst>
      <p:ext uri="{BB962C8B-B14F-4D97-AF65-F5344CB8AC3E}">
        <p14:creationId xmlns:p14="http://schemas.microsoft.com/office/powerpoint/2010/main" val="3777222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4493DB-256E-40EB-819A-2BB4CBC77516}"/>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TERMINOLOGI BIAYA SUMUR DAN BIAYA PENGEBORAN</a:t>
            </a:r>
          </a:p>
          <a:p>
            <a:pPr marL="0" marR="0" lvl="0" indent="0" defTabSz="914400" rtl="0" eaLnBrk="1" fontAlgn="auto" latinLnBrk="0" hangingPunct="1">
              <a:lnSpc>
                <a:spcPct val="100000"/>
              </a:lnSpc>
              <a:spcBef>
                <a:spcPts val="0"/>
              </a:spcBef>
              <a:spcAft>
                <a:spcPts val="0"/>
              </a:spcAft>
              <a:buClrTx/>
              <a:buSzTx/>
              <a:buFontTx/>
              <a:buNone/>
              <a:tabLst/>
              <a:defRPr/>
            </a:pPr>
            <a:r>
              <a:rPr lang="fi-FI" dirty="0">
                <a:solidFill>
                  <a:prstClr val="white"/>
                </a:solidFill>
                <a:latin typeface="Avenir Next LT Pro" panose="020B0504020202020204" pitchFamily="34" charset="0"/>
                <a:cs typeface="Arial" panose="020B0604020202020204" pitchFamily="34" charset="0"/>
              </a:rPr>
              <a:t>Struktur biaya sumur dan pengeboran di panas bumi</a:t>
            </a:r>
            <a:endParaRPr kumimoji="0" lang="en-US"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endParaRPr>
          </a:p>
        </p:txBody>
      </p:sp>
      <p:graphicFrame>
        <p:nvGraphicFramePr>
          <p:cNvPr id="6" name="Content Placeholder 3">
            <a:extLst>
              <a:ext uri="{FF2B5EF4-FFF2-40B4-BE49-F238E27FC236}">
                <a16:creationId xmlns:a16="http://schemas.microsoft.com/office/drawing/2014/main" id="{293E6B2A-4997-4E1D-AD27-60CC4B4EF284}"/>
              </a:ext>
            </a:extLst>
          </p:cNvPr>
          <p:cNvGraphicFramePr>
            <a:graphicFrameLocks/>
          </p:cNvGraphicFramePr>
          <p:nvPr/>
        </p:nvGraphicFramePr>
        <p:xfrm>
          <a:off x="227012" y="762000"/>
          <a:ext cx="5867400" cy="579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3">
            <a:extLst>
              <a:ext uri="{FF2B5EF4-FFF2-40B4-BE49-F238E27FC236}">
                <a16:creationId xmlns:a16="http://schemas.microsoft.com/office/drawing/2014/main" id="{0C0E8835-666E-4BED-8790-FD28BBC97710}"/>
              </a:ext>
            </a:extLst>
          </p:cNvPr>
          <p:cNvPicPr>
            <a:picLocks noChangeAspect="1" noChangeArrowheads="1"/>
          </p:cNvPicPr>
          <p:nvPr/>
        </p:nvPicPr>
        <p:blipFill>
          <a:blip r:embed="rId7" cstate="print"/>
          <a:srcRect/>
          <a:stretch>
            <a:fillRect/>
          </a:stretch>
        </p:blipFill>
        <p:spPr bwMode="auto">
          <a:xfrm>
            <a:off x="7847012" y="609600"/>
            <a:ext cx="4038600" cy="6254291"/>
          </a:xfrm>
          <a:prstGeom prst="rect">
            <a:avLst/>
          </a:prstGeom>
          <a:noFill/>
          <a:ln w="9525">
            <a:noFill/>
            <a:miter lim="800000"/>
            <a:headEnd/>
            <a:tailEnd/>
          </a:ln>
          <a:effectLst/>
        </p:spPr>
      </p:pic>
      <p:sp>
        <p:nvSpPr>
          <p:cNvPr id="8" name="Right Arrow 8">
            <a:extLst>
              <a:ext uri="{FF2B5EF4-FFF2-40B4-BE49-F238E27FC236}">
                <a16:creationId xmlns:a16="http://schemas.microsoft.com/office/drawing/2014/main" id="{B2363103-D554-4DD4-BCF6-1015169466A5}"/>
              </a:ext>
            </a:extLst>
          </p:cNvPr>
          <p:cNvSpPr/>
          <p:nvPr/>
        </p:nvSpPr>
        <p:spPr>
          <a:xfrm>
            <a:off x="6323012" y="1524000"/>
            <a:ext cx="762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Left Brace 8">
            <a:extLst>
              <a:ext uri="{FF2B5EF4-FFF2-40B4-BE49-F238E27FC236}">
                <a16:creationId xmlns:a16="http://schemas.microsoft.com/office/drawing/2014/main" id="{EE0AF7A7-4897-4F22-B585-8F0D94797C16}"/>
              </a:ext>
            </a:extLst>
          </p:cNvPr>
          <p:cNvSpPr/>
          <p:nvPr/>
        </p:nvSpPr>
        <p:spPr>
          <a:xfrm>
            <a:off x="7313612" y="838200"/>
            <a:ext cx="304800" cy="5867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93225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Chart 28">
            <a:extLst>
              <a:ext uri="{FF2B5EF4-FFF2-40B4-BE49-F238E27FC236}">
                <a16:creationId xmlns:a16="http://schemas.microsoft.com/office/drawing/2014/main" id="{F114B0F4-9830-4EFB-A4C1-9076EE95D8D3}"/>
              </a:ext>
            </a:extLst>
          </p:cNvPr>
          <p:cNvGraphicFramePr>
            <a:graphicFrameLocks/>
          </p:cNvGraphicFramePr>
          <p:nvPr/>
        </p:nvGraphicFramePr>
        <p:xfrm>
          <a:off x="-187755" y="2507101"/>
          <a:ext cx="6692071" cy="4082143"/>
        </p:xfrm>
        <a:graphic>
          <a:graphicData uri="http://schemas.openxmlformats.org/drawingml/2006/chart">
            <c:chart xmlns:c="http://schemas.openxmlformats.org/drawingml/2006/chart" xmlns:r="http://schemas.openxmlformats.org/officeDocument/2006/relationships" r:id="rId2"/>
          </a:graphicData>
        </a:graphic>
      </p:graphicFrame>
      <p:sp>
        <p:nvSpPr>
          <p:cNvPr id="2" name="Rectangle 1">
            <a:extLst>
              <a:ext uri="{FF2B5EF4-FFF2-40B4-BE49-F238E27FC236}">
                <a16:creationId xmlns:a16="http://schemas.microsoft.com/office/drawing/2014/main" id="{452EF0EC-BCF8-4E0B-A717-49BE0AC23190}"/>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STATUS BIAYA PENGEBORAN PANAS BUMI (2018-2021)</a:t>
            </a:r>
          </a:p>
          <a:p>
            <a:pPr marL="0" marR="0" lvl="0" indent="0" defTabSz="914400" rtl="0" eaLnBrk="1" fontAlgn="auto" latinLnBrk="0" hangingPunct="1">
              <a:lnSpc>
                <a:spcPct val="100000"/>
              </a:lnSpc>
              <a:spcBef>
                <a:spcPts val="0"/>
              </a:spcBef>
              <a:spcAft>
                <a:spcPts val="0"/>
              </a:spcAft>
              <a:buClrTx/>
              <a:buSzTx/>
              <a:buFontTx/>
              <a:buNone/>
              <a:tabLst/>
              <a:defRPr/>
            </a:pPr>
            <a:r>
              <a:rPr lang="fi-FI" dirty="0">
                <a:solidFill>
                  <a:prstClr val="white"/>
                </a:solidFill>
                <a:latin typeface="Avenir Next LT Pro" panose="020B0504020202020204" pitchFamily="34" charset="0"/>
                <a:cs typeface="Arial" panose="020B0604020202020204" pitchFamily="34" charset="0"/>
              </a:rPr>
              <a:t>Update evaluasi biaya pengeboran panas bumi</a:t>
            </a:r>
            <a:endParaRPr kumimoji="0" lang="en-US"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endParaRPr>
          </a:p>
        </p:txBody>
      </p:sp>
      <p:sp>
        <p:nvSpPr>
          <p:cNvPr id="3" name="Content Placeholder 2">
            <a:extLst>
              <a:ext uri="{FF2B5EF4-FFF2-40B4-BE49-F238E27FC236}">
                <a16:creationId xmlns:a16="http://schemas.microsoft.com/office/drawing/2014/main" id="{D09A5C14-5708-4F56-AAFF-E1CA06A4015C}"/>
              </a:ext>
            </a:extLst>
          </p:cNvPr>
          <p:cNvSpPr txBox="1">
            <a:spLocks/>
          </p:cNvSpPr>
          <p:nvPr/>
        </p:nvSpPr>
        <p:spPr>
          <a:xfrm>
            <a:off x="6451240" y="769188"/>
            <a:ext cx="5539478" cy="5820056"/>
          </a:xfrm>
          <a:prstGeom prst="rect">
            <a:avLst/>
          </a:prstGeom>
          <a:solidFill>
            <a:schemeClr val="bg1">
              <a:lumMod val="95000"/>
            </a:schemeClr>
          </a:solidFill>
        </p:spPr>
        <p:txBody>
          <a:bodyPr>
            <a:noAutofit/>
          </a:bodyPr>
          <a:lstStyle/>
          <a:p>
            <a:pPr marL="277813" lvl="0" indent="-277813">
              <a:spcBef>
                <a:spcPct val="20000"/>
              </a:spcBef>
              <a:defRPr/>
            </a:pPr>
            <a:r>
              <a:rPr kumimoji="0" lang="en-US" sz="1900" b="1" i="0" u="none" strike="noStrike" kern="1200" cap="none" spc="0" normalizeH="0" baseline="0" noProof="0" dirty="0">
                <a:ln>
                  <a:noFill/>
                </a:ln>
                <a:solidFill>
                  <a:schemeClr val="tx1"/>
                </a:solidFill>
                <a:effectLst/>
                <a:uLnTx/>
                <a:uFillTx/>
                <a:latin typeface="Avenir Next LT Pro" panose="020B0504020202020204" pitchFamily="34" charset="0"/>
              </a:rPr>
              <a:t>BIAYA PENGEBORAN</a:t>
            </a:r>
          </a:p>
          <a:p>
            <a:pPr marL="277813" lvl="0" indent="-277813">
              <a:spcBef>
                <a:spcPts val="600"/>
              </a:spcBef>
              <a:buFont typeface="Arial" pitchFamily="34" charset="0"/>
              <a:buChar char="•"/>
              <a:defRPr/>
            </a:pPr>
            <a:r>
              <a:rPr kumimoji="0" lang="en-US" sz="1900" b="0" i="0" u="none" strike="noStrike" kern="1200" cap="none" spc="0" normalizeH="0" baseline="0" noProof="0" dirty="0" err="1">
                <a:ln>
                  <a:noFill/>
                </a:ln>
                <a:solidFill>
                  <a:schemeClr val="tx1"/>
                </a:solidFill>
                <a:effectLst/>
                <a:uLnTx/>
                <a:uFillTx/>
                <a:latin typeface="Avenir Next LT Pro" panose="020B0504020202020204" pitchFamily="34" charset="0"/>
              </a:rPr>
              <a:t>Biaya</a:t>
            </a:r>
            <a:r>
              <a:rPr kumimoji="0" lang="en-US" sz="1900" b="0" i="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0" i="0" u="none" strike="noStrike" kern="1200" cap="none" spc="0" normalizeH="0" baseline="0" noProof="0" dirty="0" err="1">
                <a:ln>
                  <a:noFill/>
                </a:ln>
                <a:solidFill>
                  <a:schemeClr val="tx1"/>
                </a:solidFill>
                <a:effectLst/>
                <a:uLnTx/>
                <a:uFillTx/>
                <a:latin typeface="Avenir Next LT Pro" panose="020B0504020202020204" pitchFamily="34" charset="0"/>
              </a:rPr>
              <a:t>pengeboran</a:t>
            </a:r>
            <a:r>
              <a:rPr kumimoji="0" lang="en-US" sz="1900" b="0" i="0" u="none" strike="noStrike" kern="1200" cap="none" spc="0" normalizeH="0" baseline="0" noProof="0" dirty="0">
                <a:ln>
                  <a:noFill/>
                </a:ln>
                <a:solidFill>
                  <a:schemeClr val="tx1"/>
                </a:solidFill>
                <a:effectLst/>
                <a:uLnTx/>
                <a:uFillTx/>
                <a:latin typeface="Avenir Next LT Pro" panose="020B0504020202020204" pitchFamily="34" charset="0"/>
              </a:rPr>
              <a:t> </a:t>
            </a:r>
            <a:r>
              <a:rPr lang="en-US" sz="1900" dirty="0" err="1">
                <a:latin typeface="Avenir Next LT Pro" panose="020B0504020202020204" pitchFamily="34" charset="0"/>
              </a:rPr>
              <a:t>merupakan</a:t>
            </a:r>
            <a:r>
              <a:rPr lang="en-US" sz="1900" dirty="0">
                <a:latin typeface="Avenir Next LT Pro" panose="020B0504020202020204" pitchFamily="34" charset="0"/>
              </a:rPr>
              <a:t> </a:t>
            </a:r>
            <a:r>
              <a:rPr lang="en-US" sz="1900" dirty="0" err="1">
                <a:latin typeface="Avenir Next LT Pro" panose="020B0504020202020204" pitchFamily="34" charset="0"/>
              </a:rPr>
              <a:t>salah</a:t>
            </a:r>
            <a:r>
              <a:rPr lang="en-US" sz="1900" dirty="0">
                <a:latin typeface="Avenir Next LT Pro" panose="020B0504020202020204" pitchFamily="34" charset="0"/>
              </a:rPr>
              <a:t> </a:t>
            </a:r>
            <a:r>
              <a:rPr lang="en-US" sz="1900" dirty="0" err="1">
                <a:latin typeface="Avenir Next LT Pro" panose="020B0504020202020204" pitchFamily="34" charset="0"/>
              </a:rPr>
              <a:t>satu</a:t>
            </a:r>
            <a:r>
              <a:rPr lang="en-US" sz="1900" dirty="0">
                <a:latin typeface="Avenir Next LT Pro" panose="020B0504020202020204" pitchFamily="34" charset="0"/>
              </a:rPr>
              <a:t> performance </a:t>
            </a:r>
            <a:r>
              <a:rPr lang="en-US" sz="1900" dirty="0" err="1">
                <a:latin typeface="Avenir Next LT Pro" panose="020B0504020202020204" pitchFamily="34" charset="0"/>
              </a:rPr>
              <a:t>indikator</a:t>
            </a:r>
            <a:r>
              <a:rPr lang="en-US" sz="1900" dirty="0">
                <a:latin typeface="Avenir Next LT Pro" panose="020B0504020202020204" pitchFamily="34" charset="0"/>
              </a:rPr>
              <a:t> (KPI) </a:t>
            </a:r>
            <a:r>
              <a:rPr lang="en-US" sz="1900" dirty="0" err="1">
                <a:latin typeface="Avenir Next LT Pro" panose="020B0504020202020204" pitchFamily="34" charset="0"/>
              </a:rPr>
              <a:t>dalam</a:t>
            </a:r>
            <a:r>
              <a:rPr lang="en-US" sz="1900" dirty="0">
                <a:latin typeface="Avenir Next LT Pro" panose="020B0504020202020204" pitchFamily="34" charset="0"/>
              </a:rPr>
              <a:t> </a:t>
            </a:r>
            <a:r>
              <a:rPr lang="en-US" sz="1900" dirty="0" err="1">
                <a:latin typeface="Avenir Next LT Pro" panose="020B0504020202020204" pitchFamily="34" charset="0"/>
              </a:rPr>
              <a:t>kegiatan</a:t>
            </a:r>
            <a:r>
              <a:rPr lang="en-US" sz="1900" dirty="0">
                <a:latin typeface="Avenir Next LT Pro" panose="020B0504020202020204" pitchFamily="34" charset="0"/>
              </a:rPr>
              <a:t> </a:t>
            </a:r>
            <a:r>
              <a:rPr lang="en-US" sz="1900" dirty="0" err="1">
                <a:latin typeface="Avenir Next LT Pro" panose="020B0504020202020204" pitchFamily="34" charset="0"/>
              </a:rPr>
              <a:t>pengeboran</a:t>
            </a:r>
            <a:r>
              <a:rPr lang="en-US" sz="1900" dirty="0">
                <a:latin typeface="Avenir Next LT Pro" panose="020B0504020202020204" pitchFamily="34" charset="0"/>
              </a:rPr>
              <a:t> </a:t>
            </a:r>
            <a:r>
              <a:rPr lang="en-US" sz="1900" dirty="0" err="1">
                <a:latin typeface="Avenir Next LT Pro" panose="020B0504020202020204" pitchFamily="34" charset="0"/>
              </a:rPr>
              <a:t>a.l</a:t>
            </a:r>
            <a:r>
              <a:rPr lang="en-US" sz="1900" dirty="0">
                <a:latin typeface="Avenir Next LT Pro" panose="020B0504020202020204" pitchFamily="34" charset="0"/>
              </a:rPr>
              <a:t>. </a:t>
            </a:r>
            <a:r>
              <a:rPr kumimoji="0" lang="en-US" sz="1900" b="0" i="1" u="none" strike="noStrike" kern="1200" cap="none" spc="0" normalizeH="0" baseline="0" noProof="0" dirty="0">
                <a:ln>
                  <a:noFill/>
                </a:ln>
                <a:solidFill>
                  <a:schemeClr val="tx1"/>
                </a:solidFill>
                <a:effectLst/>
                <a:uLnTx/>
                <a:uFillTx/>
                <a:latin typeface="Avenir Next LT Pro" panose="020B0504020202020204" pitchFamily="34" charset="0"/>
              </a:rPr>
              <a:t>drilling unit cost</a:t>
            </a:r>
            <a:r>
              <a:rPr kumimoji="0" lang="en-US" sz="1900" b="0" i="0" u="none" strike="noStrike" kern="1200" cap="none" spc="0" normalizeH="0" baseline="0" noProof="0" dirty="0">
                <a:ln>
                  <a:noFill/>
                </a:ln>
                <a:solidFill>
                  <a:schemeClr val="tx1"/>
                </a:solidFill>
                <a:effectLst/>
                <a:uLnTx/>
                <a:uFillTx/>
                <a:latin typeface="Avenir Next LT Pro" panose="020B0504020202020204" pitchFamily="34" charset="0"/>
              </a:rPr>
              <a:t>  (USD/m),</a:t>
            </a:r>
            <a:r>
              <a:rPr lang="en-US" sz="1900" i="1" dirty="0">
                <a:latin typeface="Avenir Next LT Pro" panose="020B0504020202020204" pitchFamily="34" charset="0"/>
              </a:rPr>
              <a:t> well completion</a:t>
            </a:r>
            <a:r>
              <a:rPr kumimoji="0" lang="en-US" sz="1900" b="0" i="0" u="none" strike="noStrike" kern="1200" cap="none" spc="0" normalizeH="0" baseline="0" noProof="0" dirty="0">
                <a:ln>
                  <a:noFill/>
                </a:ln>
                <a:solidFill>
                  <a:schemeClr val="tx1"/>
                </a:solidFill>
                <a:effectLst/>
                <a:uLnTx/>
                <a:uFillTx/>
                <a:latin typeface="Avenir Next LT Pro" panose="020B0504020202020204" pitchFamily="34" charset="0"/>
              </a:rPr>
              <a:t> (m/day), </a:t>
            </a:r>
            <a:r>
              <a:rPr lang="en-US" sz="1900" i="1" dirty="0">
                <a:latin typeface="Avenir Next LT Pro" panose="020B0504020202020204" pitchFamily="34" charset="0"/>
              </a:rPr>
              <a:t>well output </a:t>
            </a:r>
            <a:r>
              <a:rPr lang="en-US" sz="1900" dirty="0">
                <a:latin typeface="Avenir Next LT Pro" panose="020B0504020202020204" pitchFamily="34" charset="0"/>
              </a:rPr>
              <a:t>(MW).</a:t>
            </a:r>
            <a:endParaRPr kumimoji="0" lang="en-US" sz="1900" b="0" i="0" u="none" strike="noStrike" kern="1200" cap="none" spc="0" normalizeH="0" baseline="0" noProof="0" dirty="0">
              <a:ln>
                <a:noFill/>
              </a:ln>
              <a:solidFill>
                <a:schemeClr val="tx1"/>
              </a:solidFill>
              <a:effectLst/>
              <a:uLnTx/>
              <a:uFillTx/>
              <a:latin typeface="Avenir Next LT Pro" panose="020B0504020202020204" pitchFamily="34" charset="0"/>
            </a:endParaRPr>
          </a:p>
          <a:p>
            <a:pPr marL="277813" marR="0" lvl="0" indent="-277813" algn="l" defTabSz="1263884" rtl="0" eaLnBrk="1" fontAlgn="auto" latinLnBrk="0" hangingPunct="1">
              <a:lnSpc>
                <a:spcPct val="100000"/>
              </a:lnSpc>
              <a:spcBef>
                <a:spcPts val="600"/>
              </a:spcBef>
              <a:spcAft>
                <a:spcPts val="0"/>
              </a:spcAft>
              <a:buClrTx/>
              <a:buSzTx/>
              <a:buFont typeface="Arial" pitchFamily="34" charset="0"/>
              <a:buChar char="•"/>
              <a:tabLst/>
              <a:defRPr/>
            </a:pP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Parameter yang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dipertimbangkan</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berupa</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a:t>
            </a:r>
            <a:r>
              <a:rPr lang="en-US" sz="1900" dirty="0" err="1">
                <a:latin typeface="Avenir Next LT Pro" panose="020B0504020202020204" pitchFamily="34" charset="0"/>
              </a:rPr>
              <a:t>biaya</a:t>
            </a:r>
            <a:r>
              <a:rPr lang="en-US" sz="1900" dirty="0">
                <a:latin typeface="Avenir Next LT Pro" panose="020B0504020202020204" pitchFamily="34" charset="0"/>
              </a:rPr>
              <a:t> </a:t>
            </a:r>
            <a:r>
              <a:rPr lang="en-US" sz="1900" dirty="0" err="1">
                <a:latin typeface="Avenir Next LT Pro" panose="020B0504020202020204" pitchFamily="34" charset="0"/>
              </a:rPr>
              <a:t>pengeboran</a:t>
            </a:r>
            <a:r>
              <a:rPr lang="en-US" sz="1900" dirty="0">
                <a:latin typeface="Avenir Next LT Pro" panose="020B0504020202020204" pitchFamily="34" charset="0"/>
              </a:rPr>
              <a:t> </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dinormalisasi</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kedalaman</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tipe</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kontrak</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jenis</a:t>
            </a:r>
            <a:r>
              <a:rPr kumimoji="0" lang="en-US" sz="1900" b="0" u="none" strike="noStrike" kern="1200" cap="none" spc="0" normalizeH="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noProof="0" dirty="0" err="1">
                <a:ln>
                  <a:noFill/>
                </a:ln>
                <a:solidFill>
                  <a:schemeClr val="tx1"/>
                </a:solidFill>
                <a:effectLst/>
                <a:uLnTx/>
                <a:uFillTx/>
                <a:latin typeface="Avenir Next LT Pro" panose="020B0504020202020204" pitchFamily="34" charset="0"/>
              </a:rPr>
              <a:t>perusahaan</a:t>
            </a:r>
            <a:r>
              <a:rPr kumimoji="0" lang="en-US" sz="1900" b="0" u="none" strike="noStrike" kern="1200" cap="none" spc="0" normalizeH="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noProof="0" dirty="0" err="1">
                <a:ln>
                  <a:noFill/>
                </a:ln>
                <a:solidFill>
                  <a:schemeClr val="tx1"/>
                </a:solidFill>
                <a:effectLst/>
                <a:uLnTx/>
                <a:uFillTx/>
                <a:latin typeface="Avenir Next LT Pro" panose="020B0504020202020204" pitchFamily="34" charset="0"/>
              </a:rPr>
              <a:t>tahapan</a:t>
            </a:r>
            <a:r>
              <a:rPr kumimoji="0" lang="en-US" sz="1900" b="0" u="none" strike="noStrike" kern="1200" cap="none" spc="0" normalizeH="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noProof="0" dirty="0" err="1">
                <a:ln>
                  <a:noFill/>
                </a:ln>
                <a:solidFill>
                  <a:schemeClr val="tx1"/>
                </a:solidFill>
                <a:effectLst/>
                <a:uLnTx/>
                <a:uFillTx/>
                <a:latin typeface="Avenir Next LT Pro" panose="020B0504020202020204" pitchFamily="34" charset="0"/>
              </a:rPr>
              <a:t>kegiatan</a:t>
            </a:r>
            <a:r>
              <a:rPr kumimoji="0" lang="en-US" sz="1900" b="0" u="none" strike="noStrike" kern="1200" cap="none" spc="0" normalizeH="0" noProof="0" dirty="0">
                <a:ln>
                  <a:noFill/>
                </a:ln>
                <a:solidFill>
                  <a:schemeClr val="tx1"/>
                </a:solidFill>
                <a:effectLst/>
                <a:uLnTx/>
                <a:uFillTx/>
                <a:latin typeface="Avenir Next LT Pro" panose="020B0504020202020204" pitchFamily="34" charset="0"/>
              </a:rPr>
              <a:t>.</a:t>
            </a:r>
          </a:p>
          <a:p>
            <a:pPr marL="277813" marR="0" lvl="0" indent="-277813" algn="l" defTabSz="1263884" rtl="0" eaLnBrk="1" fontAlgn="auto" latinLnBrk="0" hangingPunct="1">
              <a:lnSpc>
                <a:spcPct val="100000"/>
              </a:lnSpc>
              <a:spcBef>
                <a:spcPts val="600"/>
              </a:spcBef>
              <a:spcAft>
                <a:spcPts val="0"/>
              </a:spcAft>
              <a:buClrTx/>
              <a:buSzTx/>
              <a:buFont typeface="Arial" pitchFamily="34" charset="0"/>
              <a:buChar char="•"/>
              <a:tabLst/>
              <a:defRPr/>
            </a:pPr>
            <a:r>
              <a:rPr lang="en-US" sz="1900" i="1" baseline="0" dirty="0">
                <a:latin typeface="Avenir Next LT Pro" panose="020B0504020202020204" pitchFamily="34" charset="0"/>
              </a:rPr>
              <a:t>Range</a:t>
            </a:r>
            <a:r>
              <a:rPr lang="en-US" sz="1900" baseline="0" dirty="0">
                <a:latin typeface="Avenir Next LT Pro" panose="020B0504020202020204" pitchFamily="34" charset="0"/>
              </a:rPr>
              <a:t> </a:t>
            </a:r>
            <a:r>
              <a:rPr lang="en-US" sz="1900" baseline="0" dirty="0" err="1">
                <a:latin typeface="Avenir Next LT Pro" panose="020B0504020202020204" pitchFamily="34" charset="0"/>
              </a:rPr>
              <a:t>biaya</a:t>
            </a:r>
            <a:r>
              <a:rPr lang="en-US" sz="1900" baseline="0" dirty="0">
                <a:latin typeface="Avenir Next LT Pro" panose="020B0504020202020204" pitchFamily="34" charset="0"/>
              </a:rPr>
              <a:t> </a:t>
            </a:r>
            <a:r>
              <a:rPr lang="en-US" sz="1900" baseline="0" dirty="0" err="1">
                <a:latin typeface="Avenir Next LT Pro" panose="020B0504020202020204" pitchFamily="34" charset="0"/>
              </a:rPr>
              <a:t>pengeboran</a:t>
            </a:r>
            <a:r>
              <a:rPr lang="en-US" sz="1900" baseline="0" dirty="0">
                <a:latin typeface="Avenir Next LT Pro" panose="020B0504020202020204" pitchFamily="34" charset="0"/>
              </a:rPr>
              <a:t> </a:t>
            </a:r>
            <a:r>
              <a:rPr lang="en-US" sz="1900" baseline="0" dirty="0" err="1">
                <a:latin typeface="Avenir Next LT Pro" panose="020B0504020202020204" pitchFamily="34" charset="0"/>
              </a:rPr>
              <a:t>panas</a:t>
            </a:r>
            <a:r>
              <a:rPr lang="en-US" sz="1900" baseline="0" dirty="0">
                <a:latin typeface="Avenir Next LT Pro" panose="020B0504020202020204" pitchFamily="34" charset="0"/>
              </a:rPr>
              <a:t> </a:t>
            </a:r>
            <a:r>
              <a:rPr lang="en-US" sz="1900" baseline="0" dirty="0" err="1">
                <a:latin typeface="Avenir Next LT Pro" panose="020B0504020202020204" pitchFamily="34" charset="0"/>
              </a:rPr>
              <a:t>bumi</a:t>
            </a:r>
            <a:r>
              <a:rPr lang="en-US" sz="1900" baseline="0" dirty="0">
                <a:latin typeface="Avenir Next LT Pro" panose="020B0504020202020204" pitchFamily="34" charset="0"/>
              </a:rPr>
              <a:t> </a:t>
            </a:r>
            <a:r>
              <a:rPr lang="en-US" sz="1900" baseline="0" dirty="0" err="1">
                <a:latin typeface="Avenir Next LT Pro" panose="020B0504020202020204" pitchFamily="34" charset="0"/>
              </a:rPr>
              <a:t>di</a:t>
            </a:r>
            <a:r>
              <a:rPr lang="en-US" sz="1900" baseline="0" dirty="0">
                <a:latin typeface="Avenir Next LT Pro" panose="020B0504020202020204" pitchFamily="34" charset="0"/>
              </a:rPr>
              <a:t> Indonesia </a:t>
            </a:r>
            <a:r>
              <a:rPr lang="en-US" sz="1900" baseline="0" dirty="0" err="1">
                <a:latin typeface="Avenir Next LT Pro" panose="020B0504020202020204" pitchFamily="34" charset="0"/>
              </a:rPr>
              <a:t>sebesar</a:t>
            </a:r>
            <a:r>
              <a:rPr lang="en-US" sz="1900" baseline="0" dirty="0">
                <a:latin typeface="Avenir Next LT Pro" panose="020B0504020202020204" pitchFamily="34" charset="0"/>
              </a:rPr>
              <a:t> 1,3 </a:t>
            </a:r>
            <a:r>
              <a:rPr lang="en-US" sz="1900" baseline="0" dirty="0" err="1">
                <a:latin typeface="Avenir Next LT Pro" panose="020B0504020202020204" pitchFamily="34" charset="0"/>
              </a:rPr>
              <a:t>juta</a:t>
            </a:r>
            <a:r>
              <a:rPr lang="en-US" sz="1900" baseline="0" dirty="0">
                <a:latin typeface="Avenir Next LT Pro" panose="020B0504020202020204" pitchFamily="34" charset="0"/>
              </a:rPr>
              <a:t> USD</a:t>
            </a:r>
            <a:r>
              <a:rPr lang="en-US" sz="1900" dirty="0">
                <a:latin typeface="Avenir Next LT Pro" panose="020B0504020202020204" pitchFamily="34" charset="0"/>
              </a:rPr>
              <a:t> (</a:t>
            </a:r>
            <a:r>
              <a:rPr lang="en-US" sz="1900" dirty="0" err="1">
                <a:latin typeface="Avenir Next LT Pro" panose="020B0504020202020204" pitchFamily="34" charset="0"/>
              </a:rPr>
              <a:t>kedalaman</a:t>
            </a:r>
            <a:r>
              <a:rPr lang="en-US" sz="1900" dirty="0">
                <a:latin typeface="Avenir Next LT Pro" panose="020B0504020202020204" pitchFamily="34" charset="0"/>
              </a:rPr>
              <a:t> 498 m) </a:t>
            </a:r>
            <a:r>
              <a:rPr lang="en-US" sz="1900" dirty="0" err="1">
                <a:latin typeface="Avenir Next LT Pro" panose="020B0504020202020204" pitchFamily="34" charset="0"/>
              </a:rPr>
              <a:t>hingga</a:t>
            </a:r>
            <a:r>
              <a:rPr lang="en-US" sz="1900" dirty="0">
                <a:latin typeface="Avenir Next LT Pro" panose="020B0504020202020204" pitchFamily="34" charset="0"/>
              </a:rPr>
              <a:t> 18 </a:t>
            </a:r>
            <a:r>
              <a:rPr lang="en-US" sz="1900" dirty="0" err="1">
                <a:latin typeface="Avenir Next LT Pro" panose="020B0504020202020204" pitchFamily="34" charset="0"/>
              </a:rPr>
              <a:t>juta</a:t>
            </a:r>
            <a:r>
              <a:rPr lang="en-US" sz="1900" dirty="0">
                <a:latin typeface="Avenir Next LT Pro" panose="020B0504020202020204" pitchFamily="34" charset="0"/>
              </a:rPr>
              <a:t> USD (</a:t>
            </a:r>
            <a:r>
              <a:rPr lang="en-US" sz="1900" dirty="0" err="1">
                <a:latin typeface="Avenir Next LT Pro" panose="020B0504020202020204" pitchFamily="34" charset="0"/>
              </a:rPr>
              <a:t>kedalaman</a:t>
            </a:r>
            <a:r>
              <a:rPr lang="en-US" sz="1900" dirty="0">
                <a:latin typeface="Avenir Next LT Pro" panose="020B0504020202020204" pitchFamily="34" charset="0"/>
              </a:rPr>
              <a:t> 2900 m). </a:t>
            </a:r>
          </a:p>
          <a:p>
            <a:pPr marL="277813" marR="0" lvl="0" indent="-277813" algn="l" defTabSz="1263884" rtl="0" eaLnBrk="1" fontAlgn="auto" latinLnBrk="0" hangingPunct="1">
              <a:lnSpc>
                <a:spcPct val="100000"/>
              </a:lnSpc>
              <a:spcBef>
                <a:spcPts val="600"/>
              </a:spcBef>
              <a:spcAft>
                <a:spcPts val="0"/>
              </a:spcAft>
              <a:buClrTx/>
              <a:buSzTx/>
              <a:buFont typeface="Arial" pitchFamily="34" charset="0"/>
              <a:buChar char="•"/>
              <a:tabLst/>
              <a:defRPr/>
            </a:pPr>
            <a:r>
              <a:rPr lang="en-US" sz="1900" dirty="0">
                <a:latin typeface="Avenir Next LT Pro" panose="020B0504020202020204" pitchFamily="34" charset="0"/>
              </a:rPr>
              <a:t>Rata-rata </a:t>
            </a:r>
            <a:r>
              <a:rPr lang="en-US" sz="1900" dirty="0" err="1">
                <a:latin typeface="Avenir Next LT Pro" panose="020B0504020202020204" pitchFamily="34" charset="0"/>
              </a:rPr>
              <a:t>biaya</a:t>
            </a:r>
            <a:r>
              <a:rPr lang="en-US" sz="1900" dirty="0">
                <a:latin typeface="Avenir Next LT Pro" panose="020B0504020202020204" pitchFamily="34" charset="0"/>
              </a:rPr>
              <a:t> </a:t>
            </a:r>
            <a:r>
              <a:rPr lang="en-US" sz="1900" dirty="0" err="1">
                <a:latin typeface="Avenir Next LT Pro" panose="020B0504020202020204" pitchFamily="34" charset="0"/>
              </a:rPr>
              <a:t>pengeboran</a:t>
            </a:r>
            <a:r>
              <a:rPr lang="en-US" sz="1900" dirty="0">
                <a:latin typeface="Avenir Next LT Pro" panose="020B0504020202020204" pitchFamily="34" charset="0"/>
              </a:rPr>
              <a:t> 6,9 </a:t>
            </a:r>
            <a:r>
              <a:rPr lang="en-US" sz="1900" dirty="0" err="1">
                <a:latin typeface="Avenir Next LT Pro" panose="020B0504020202020204" pitchFamily="34" charset="0"/>
              </a:rPr>
              <a:t>juta</a:t>
            </a:r>
            <a:r>
              <a:rPr lang="en-US" sz="1900" dirty="0">
                <a:latin typeface="Avenir Next LT Pro" panose="020B0504020202020204" pitchFamily="34" charset="0"/>
              </a:rPr>
              <a:t> USD/</a:t>
            </a:r>
            <a:r>
              <a:rPr lang="en-US" sz="1900" dirty="0" err="1">
                <a:latin typeface="Avenir Next LT Pro" panose="020B0504020202020204" pitchFamily="34" charset="0"/>
              </a:rPr>
              <a:t>sumur</a:t>
            </a:r>
            <a:r>
              <a:rPr lang="en-US" sz="1900" dirty="0">
                <a:latin typeface="Avenir Next LT Pro" panose="020B0504020202020204" pitchFamily="34" charset="0"/>
              </a:rPr>
              <a:t> pada </a:t>
            </a:r>
            <a:r>
              <a:rPr lang="en-US" sz="1900" dirty="0" err="1">
                <a:latin typeface="Avenir Next LT Pro" panose="020B0504020202020204" pitchFamily="34" charset="0"/>
              </a:rPr>
              <a:t>akhir</a:t>
            </a:r>
            <a:r>
              <a:rPr lang="en-US" sz="1900" dirty="0">
                <a:latin typeface="Avenir Next LT Pro" panose="020B0504020202020204" pitchFamily="34" charset="0"/>
              </a:rPr>
              <a:t> 2021 </a:t>
            </a:r>
            <a:r>
              <a:rPr lang="en-US" sz="1900" dirty="0" err="1">
                <a:latin typeface="Avenir Next LT Pro" panose="020B0504020202020204" pitchFamily="34" charset="0"/>
              </a:rPr>
              <a:t>dengan</a:t>
            </a:r>
            <a:r>
              <a:rPr lang="en-US" sz="1900" dirty="0">
                <a:latin typeface="Avenir Next LT Pro" panose="020B0504020202020204" pitchFamily="34" charset="0"/>
              </a:rPr>
              <a:t> </a:t>
            </a:r>
            <a:r>
              <a:rPr lang="en-US" sz="1900" dirty="0" err="1">
                <a:latin typeface="Avenir Next LT Pro" panose="020B0504020202020204" pitchFamily="34" charset="0"/>
              </a:rPr>
              <a:t>rincian</a:t>
            </a:r>
            <a:r>
              <a:rPr lang="en-US" sz="1900" dirty="0">
                <a:latin typeface="Avenir Next LT Pro" panose="020B0504020202020204" pitchFamily="34" charset="0"/>
              </a:rPr>
              <a:t>:</a:t>
            </a:r>
          </a:p>
          <a:p>
            <a:pPr marL="574675" lvl="1" indent="-284163">
              <a:spcBef>
                <a:spcPts val="600"/>
              </a:spcBef>
              <a:buFont typeface="Wingdings" pitchFamily="2" charset="2"/>
              <a:buChar char="ü"/>
              <a:defRPr/>
            </a:pP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Sumur</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eksplorasi</a:t>
            </a:r>
            <a:r>
              <a:rPr lang="en-US" sz="1900" dirty="0">
                <a:latin typeface="Avenir Next LT Pro" panose="020B0504020202020204" pitchFamily="34" charset="0"/>
              </a:rPr>
              <a:t>		</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7,6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juta</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USD</a:t>
            </a:r>
          </a:p>
          <a:p>
            <a:pPr marL="574675" lvl="1" indent="-284163">
              <a:spcBef>
                <a:spcPts val="600"/>
              </a:spcBef>
              <a:buFont typeface="Wingdings" pitchFamily="2" charset="2"/>
              <a:buChar char="ü"/>
              <a:defRPr/>
            </a:pPr>
            <a:r>
              <a:rPr lang="en-US" sz="1900" dirty="0" err="1">
                <a:latin typeface="Avenir Next LT Pro" panose="020B0504020202020204" pitchFamily="34" charset="0"/>
              </a:rPr>
              <a:t>Sumur</a:t>
            </a:r>
            <a:r>
              <a:rPr lang="en-US" sz="1900" dirty="0">
                <a:latin typeface="Avenir Next LT Pro" panose="020B0504020202020204" pitchFamily="34" charset="0"/>
              </a:rPr>
              <a:t> </a:t>
            </a:r>
            <a:r>
              <a:rPr lang="en-US" sz="1900" dirty="0" err="1">
                <a:latin typeface="Avenir Next LT Pro" panose="020B0504020202020204" pitchFamily="34" charset="0"/>
              </a:rPr>
              <a:t>pengembangan</a:t>
            </a:r>
            <a:r>
              <a:rPr lang="en-US" sz="1900" dirty="0">
                <a:latin typeface="Avenir Next LT Pro" panose="020B0504020202020204" pitchFamily="34" charset="0"/>
              </a:rPr>
              <a:t>	: 6,6 </a:t>
            </a:r>
            <a:r>
              <a:rPr lang="en-US" sz="1900" dirty="0" err="1">
                <a:latin typeface="Avenir Next LT Pro" panose="020B0504020202020204" pitchFamily="34" charset="0"/>
              </a:rPr>
              <a:t>juta</a:t>
            </a:r>
            <a:r>
              <a:rPr lang="en-US" sz="1900" dirty="0">
                <a:latin typeface="Avenir Next LT Pro" panose="020B0504020202020204" pitchFamily="34" charset="0"/>
              </a:rPr>
              <a:t> USD</a:t>
            </a:r>
          </a:p>
          <a:p>
            <a:pPr marL="574675" lvl="1" indent="-284163">
              <a:spcBef>
                <a:spcPct val="20000"/>
              </a:spcBef>
              <a:buFont typeface="Wingdings" pitchFamily="2" charset="2"/>
              <a:buChar char="ü"/>
              <a:defRPr/>
            </a:pPr>
            <a:r>
              <a:rPr lang="en-US" sz="1900" dirty="0" err="1">
                <a:latin typeface="Avenir Next LT Pro" panose="020B0504020202020204" pitchFamily="34" charset="0"/>
              </a:rPr>
              <a:t>Sumur</a:t>
            </a:r>
            <a:r>
              <a:rPr lang="en-US" sz="1900" dirty="0">
                <a:latin typeface="Avenir Next LT Pro" panose="020B0504020202020204" pitchFamily="34" charset="0"/>
              </a:rPr>
              <a:t> </a:t>
            </a:r>
            <a:r>
              <a:rPr lang="en-US" sz="1900" dirty="0" err="1">
                <a:latin typeface="Avenir Next LT Pro" panose="020B0504020202020204" pitchFamily="34" charset="0"/>
              </a:rPr>
              <a:t>operasi</a:t>
            </a:r>
            <a:r>
              <a:rPr lang="en-US" sz="1900" dirty="0">
                <a:latin typeface="Avenir Next LT Pro" panose="020B0504020202020204" pitchFamily="34" charset="0"/>
              </a:rPr>
              <a:t> (M/U)	: 6,5 </a:t>
            </a:r>
            <a:r>
              <a:rPr lang="en-US" sz="1900" dirty="0" err="1">
                <a:latin typeface="Avenir Next LT Pro" panose="020B0504020202020204" pitchFamily="34" charset="0"/>
              </a:rPr>
              <a:t>juta</a:t>
            </a:r>
            <a:r>
              <a:rPr lang="en-US" sz="1900" dirty="0">
                <a:latin typeface="Avenir Next LT Pro" panose="020B0504020202020204" pitchFamily="34" charset="0"/>
              </a:rPr>
              <a:t> USD</a:t>
            </a:r>
          </a:p>
          <a:p>
            <a:pPr marL="0" lvl="1">
              <a:spcBef>
                <a:spcPct val="20000"/>
              </a:spcBef>
              <a:defRPr/>
            </a:pPr>
            <a:endParaRPr lang="en-US" sz="1900" dirty="0">
              <a:latin typeface="Avenir Next LT Pro" panose="020B0504020202020204" pitchFamily="34" charset="0"/>
            </a:endParaRPr>
          </a:p>
        </p:txBody>
      </p:sp>
      <p:sp>
        <p:nvSpPr>
          <p:cNvPr id="4" name="TextBox 3">
            <a:extLst>
              <a:ext uri="{FF2B5EF4-FFF2-40B4-BE49-F238E27FC236}">
                <a16:creationId xmlns:a16="http://schemas.microsoft.com/office/drawing/2014/main" id="{0A73DE4D-D699-4307-84FE-79E4287ABA3B}"/>
              </a:ext>
            </a:extLst>
          </p:cNvPr>
          <p:cNvSpPr txBox="1"/>
          <p:nvPr/>
        </p:nvSpPr>
        <p:spPr>
          <a:xfrm>
            <a:off x="102683" y="1350857"/>
            <a:ext cx="1166410" cy="400110"/>
          </a:xfrm>
          <a:prstGeom prst="rect">
            <a:avLst/>
          </a:prstGeom>
          <a:solidFill>
            <a:schemeClr val="tx1">
              <a:lumMod val="65000"/>
              <a:lumOff val="35000"/>
            </a:schemeClr>
          </a:solidFill>
          <a:ln>
            <a:noFill/>
          </a:ln>
        </p:spPr>
        <p:style>
          <a:lnRef idx="1">
            <a:schemeClr val="accent5"/>
          </a:lnRef>
          <a:fillRef idx="3">
            <a:schemeClr val="accent5"/>
          </a:fillRef>
          <a:effectRef idx="2">
            <a:schemeClr val="accent5"/>
          </a:effectRef>
          <a:fontRef idx="minor">
            <a:schemeClr val="lt1"/>
          </a:fontRef>
        </p:style>
        <p:txBody>
          <a:bodyPr wrap="none" rtlCol="0">
            <a:spAutoFit/>
          </a:bodyPr>
          <a:lstStyle/>
          <a:p>
            <a:r>
              <a:rPr lang="en-US" sz="2000" dirty="0">
                <a:latin typeface="Avenir Next LT Pro" panose="020B0504020202020204" pitchFamily="34" charset="0"/>
              </a:rPr>
              <a:t>Data Set</a:t>
            </a:r>
          </a:p>
        </p:txBody>
      </p:sp>
      <p:sp>
        <p:nvSpPr>
          <p:cNvPr id="5" name="TextBox 4">
            <a:extLst>
              <a:ext uri="{FF2B5EF4-FFF2-40B4-BE49-F238E27FC236}">
                <a16:creationId xmlns:a16="http://schemas.microsoft.com/office/drawing/2014/main" id="{0976CD53-276C-4E51-B62C-609239AB7D3C}"/>
              </a:ext>
            </a:extLst>
          </p:cNvPr>
          <p:cNvSpPr txBox="1"/>
          <p:nvPr/>
        </p:nvSpPr>
        <p:spPr>
          <a:xfrm>
            <a:off x="1815290" y="1355322"/>
            <a:ext cx="780983" cy="400110"/>
          </a:xfrm>
          <a:prstGeom prst="rect">
            <a:avLst/>
          </a:prstGeom>
          <a:solidFill>
            <a:schemeClr val="tx1">
              <a:lumMod val="65000"/>
              <a:lumOff val="35000"/>
            </a:schemeClr>
          </a:solidFill>
          <a:ln>
            <a:noFill/>
          </a:ln>
        </p:spPr>
        <p:style>
          <a:lnRef idx="1">
            <a:schemeClr val="accent5"/>
          </a:lnRef>
          <a:fillRef idx="3">
            <a:schemeClr val="accent5"/>
          </a:fillRef>
          <a:effectRef idx="2">
            <a:schemeClr val="accent5"/>
          </a:effectRef>
          <a:fontRef idx="minor">
            <a:schemeClr val="lt1"/>
          </a:fontRef>
        </p:style>
        <p:txBody>
          <a:bodyPr wrap="none" rtlCol="0">
            <a:spAutoFit/>
          </a:bodyPr>
          <a:lstStyle/>
          <a:p>
            <a:r>
              <a:rPr lang="en-US" sz="2000" dirty="0">
                <a:latin typeface="Avenir Next LT Pro" panose="020B0504020202020204" pitchFamily="34" charset="0"/>
              </a:rPr>
              <a:t>2020</a:t>
            </a:r>
          </a:p>
        </p:txBody>
      </p:sp>
      <p:sp>
        <p:nvSpPr>
          <p:cNvPr id="6" name="TextBox 5">
            <a:extLst>
              <a:ext uri="{FF2B5EF4-FFF2-40B4-BE49-F238E27FC236}">
                <a16:creationId xmlns:a16="http://schemas.microsoft.com/office/drawing/2014/main" id="{A6FB98CD-C722-4EF8-9A53-3F0EE14E81B7}"/>
              </a:ext>
            </a:extLst>
          </p:cNvPr>
          <p:cNvSpPr txBox="1"/>
          <p:nvPr/>
        </p:nvSpPr>
        <p:spPr>
          <a:xfrm>
            <a:off x="1815290" y="772035"/>
            <a:ext cx="780983" cy="400110"/>
          </a:xfrm>
          <a:prstGeom prst="rect">
            <a:avLst/>
          </a:prstGeom>
          <a:solidFill>
            <a:schemeClr val="tx1">
              <a:lumMod val="65000"/>
              <a:lumOff val="35000"/>
            </a:schemeClr>
          </a:solidFill>
          <a:ln>
            <a:noFill/>
          </a:ln>
        </p:spPr>
        <p:style>
          <a:lnRef idx="1">
            <a:schemeClr val="accent5"/>
          </a:lnRef>
          <a:fillRef idx="3">
            <a:schemeClr val="accent5"/>
          </a:fillRef>
          <a:effectRef idx="2">
            <a:schemeClr val="accent5"/>
          </a:effectRef>
          <a:fontRef idx="minor">
            <a:schemeClr val="lt1"/>
          </a:fontRef>
        </p:style>
        <p:txBody>
          <a:bodyPr wrap="none" rtlCol="0">
            <a:spAutoFit/>
          </a:bodyPr>
          <a:lstStyle/>
          <a:p>
            <a:r>
              <a:rPr lang="en-US" sz="2000" dirty="0">
                <a:latin typeface="Avenir Next LT Pro" panose="020B0504020202020204" pitchFamily="34" charset="0"/>
              </a:rPr>
              <a:t>2018</a:t>
            </a:r>
          </a:p>
        </p:txBody>
      </p:sp>
      <p:sp>
        <p:nvSpPr>
          <p:cNvPr id="7" name="TextBox 6">
            <a:extLst>
              <a:ext uri="{FF2B5EF4-FFF2-40B4-BE49-F238E27FC236}">
                <a16:creationId xmlns:a16="http://schemas.microsoft.com/office/drawing/2014/main" id="{E8CA5CDF-A097-42A8-A013-4D25136BCD8D}"/>
              </a:ext>
            </a:extLst>
          </p:cNvPr>
          <p:cNvSpPr txBox="1"/>
          <p:nvPr/>
        </p:nvSpPr>
        <p:spPr>
          <a:xfrm>
            <a:off x="2934401" y="772034"/>
            <a:ext cx="3348000" cy="400110"/>
          </a:xfrm>
          <a:prstGeom prst="rect">
            <a:avLst/>
          </a:prstGeom>
          <a:solidFill>
            <a:schemeClr val="tx1">
              <a:lumMod val="65000"/>
              <a:lumOff val="35000"/>
            </a:schemeClr>
          </a:solidFill>
          <a:ln>
            <a:noFill/>
          </a:ln>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sz="2000" dirty="0">
                <a:latin typeface="Avenir Next LT Pro" panose="020B0504020202020204" pitchFamily="34" charset="0"/>
              </a:rPr>
              <a:t>120 </a:t>
            </a:r>
            <a:r>
              <a:rPr lang="en-US" sz="2000" dirty="0" err="1">
                <a:latin typeface="Avenir Next LT Pro" panose="020B0504020202020204" pitchFamily="34" charset="0"/>
              </a:rPr>
              <a:t>sumur</a:t>
            </a:r>
            <a:r>
              <a:rPr lang="en-US" sz="2000" dirty="0">
                <a:latin typeface="Avenir Next LT Pro" panose="020B0504020202020204" pitchFamily="34" charset="0"/>
              </a:rPr>
              <a:t> (2011-Q2 2018)</a:t>
            </a:r>
          </a:p>
        </p:txBody>
      </p:sp>
      <p:sp>
        <p:nvSpPr>
          <p:cNvPr id="8" name="TextBox 7">
            <a:extLst>
              <a:ext uri="{FF2B5EF4-FFF2-40B4-BE49-F238E27FC236}">
                <a16:creationId xmlns:a16="http://schemas.microsoft.com/office/drawing/2014/main" id="{4612DA03-2BEA-4269-974B-A570DB5437C2}"/>
              </a:ext>
            </a:extLst>
          </p:cNvPr>
          <p:cNvSpPr txBox="1"/>
          <p:nvPr/>
        </p:nvSpPr>
        <p:spPr>
          <a:xfrm>
            <a:off x="2934402" y="1355322"/>
            <a:ext cx="3348000" cy="400110"/>
          </a:xfrm>
          <a:prstGeom prst="rect">
            <a:avLst/>
          </a:prstGeom>
          <a:solidFill>
            <a:schemeClr val="tx1">
              <a:lumMod val="65000"/>
              <a:lumOff val="35000"/>
            </a:schemeClr>
          </a:solidFill>
          <a:ln>
            <a:noFill/>
          </a:ln>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sz="2000" dirty="0">
                <a:latin typeface="Avenir Next LT Pro" panose="020B0504020202020204" pitchFamily="34" charset="0"/>
              </a:rPr>
              <a:t>187 </a:t>
            </a:r>
            <a:r>
              <a:rPr lang="en-US" sz="2000" dirty="0" err="1">
                <a:latin typeface="Avenir Next LT Pro" panose="020B0504020202020204" pitchFamily="34" charset="0"/>
              </a:rPr>
              <a:t>sumur</a:t>
            </a:r>
            <a:r>
              <a:rPr lang="en-US" sz="2000" dirty="0">
                <a:latin typeface="Avenir Next LT Pro" panose="020B0504020202020204" pitchFamily="34" charset="0"/>
              </a:rPr>
              <a:t> (2011--2019)</a:t>
            </a:r>
          </a:p>
        </p:txBody>
      </p:sp>
      <p:cxnSp>
        <p:nvCxnSpPr>
          <p:cNvPr id="9" name="Straight Arrow Connector 8">
            <a:extLst>
              <a:ext uri="{FF2B5EF4-FFF2-40B4-BE49-F238E27FC236}">
                <a16:creationId xmlns:a16="http://schemas.microsoft.com/office/drawing/2014/main" id="{7E169C3D-C818-427C-A07B-E3956DB58EC4}"/>
              </a:ext>
            </a:extLst>
          </p:cNvPr>
          <p:cNvCxnSpPr>
            <a:stCxn id="4" idx="3"/>
            <a:endCxn id="6" idx="1"/>
          </p:cNvCxnSpPr>
          <p:nvPr/>
        </p:nvCxnSpPr>
        <p:spPr>
          <a:xfrm flipV="1">
            <a:off x="1269093" y="972090"/>
            <a:ext cx="546197" cy="578822"/>
          </a:xfrm>
          <a:prstGeom prst="straightConnector1">
            <a:avLst/>
          </a:prstGeom>
          <a:ln>
            <a:solidFill>
              <a:schemeClr val="tx1"/>
            </a:solidFill>
            <a:tailEnd type="arrow"/>
          </a:ln>
        </p:spPr>
        <p:style>
          <a:lnRef idx="1">
            <a:schemeClr val="accent5"/>
          </a:lnRef>
          <a:fillRef idx="3">
            <a:schemeClr val="accent5"/>
          </a:fillRef>
          <a:effectRef idx="2">
            <a:schemeClr val="accent5"/>
          </a:effectRef>
          <a:fontRef idx="minor">
            <a:schemeClr val="lt1"/>
          </a:fontRef>
        </p:style>
      </p:cxnSp>
      <p:cxnSp>
        <p:nvCxnSpPr>
          <p:cNvPr id="10" name="Straight Arrow Connector 9">
            <a:extLst>
              <a:ext uri="{FF2B5EF4-FFF2-40B4-BE49-F238E27FC236}">
                <a16:creationId xmlns:a16="http://schemas.microsoft.com/office/drawing/2014/main" id="{2D8A41C0-F7B3-431D-B5C8-ABEAB3ADE26A}"/>
              </a:ext>
            </a:extLst>
          </p:cNvPr>
          <p:cNvCxnSpPr>
            <a:stCxn id="4" idx="3"/>
            <a:endCxn id="5" idx="1"/>
          </p:cNvCxnSpPr>
          <p:nvPr/>
        </p:nvCxnSpPr>
        <p:spPr>
          <a:xfrm>
            <a:off x="1269093" y="1550912"/>
            <a:ext cx="546197" cy="4465"/>
          </a:xfrm>
          <a:prstGeom prst="straightConnector1">
            <a:avLst/>
          </a:prstGeom>
          <a:ln>
            <a:solidFill>
              <a:schemeClr val="tx1"/>
            </a:solidFill>
            <a:tailEnd type="arrow"/>
          </a:ln>
        </p:spPr>
        <p:style>
          <a:lnRef idx="1">
            <a:schemeClr val="accent5"/>
          </a:lnRef>
          <a:fillRef idx="3">
            <a:schemeClr val="accent5"/>
          </a:fillRef>
          <a:effectRef idx="2">
            <a:schemeClr val="accent5"/>
          </a:effectRef>
          <a:fontRef idx="minor">
            <a:schemeClr val="lt1"/>
          </a:fontRef>
        </p:style>
      </p:cxnSp>
      <p:cxnSp>
        <p:nvCxnSpPr>
          <p:cNvPr id="11" name="Straight Arrow Connector 10">
            <a:extLst>
              <a:ext uri="{FF2B5EF4-FFF2-40B4-BE49-F238E27FC236}">
                <a16:creationId xmlns:a16="http://schemas.microsoft.com/office/drawing/2014/main" id="{5C8F6F3F-AAC5-45B3-8DF8-CCDAACA4F955}"/>
              </a:ext>
            </a:extLst>
          </p:cNvPr>
          <p:cNvCxnSpPr>
            <a:cxnSpLocks/>
            <a:stCxn id="6" idx="3"/>
            <a:endCxn id="7" idx="1"/>
          </p:cNvCxnSpPr>
          <p:nvPr/>
        </p:nvCxnSpPr>
        <p:spPr>
          <a:xfrm flipV="1">
            <a:off x="2596273" y="972089"/>
            <a:ext cx="338128" cy="1"/>
          </a:xfrm>
          <a:prstGeom prst="straightConnector1">
            <a:avLst/>
          </a:prstGeom>
          <a:ln>
            <a:solidFill>
              <a:schemeClr val="tx1"/>
            </a:solidFill>
            <a:tailEnd type="arrow"/>
          </a:ln>
        </p:spPr>
        <p:style>
          <a:lnRef idx="1">
            <a:schemeClr val="accent5"/>
          </a:lnRef>
          <a:fillRef idx="3">
            <a:schemeClr val="accent5"/>
          </a:fillRef>
          <a:effectRef idx="2">
            <a:schemeClr val="accent5"/>
          </a:effectRef>
          <a:fontRef idx="minor">
            <a:schemeClr val="lt1"/>
          </a:fontRef>
        </p:style>
      </p:cxnSp>
      <p:cxnSp>
        <p:nvCxnSpPr>
          <p:cNvPr id="12" name="Straight Arrow Connector 11">
            <a:extLst>
              <a:ext uri="{FF2B5EF4-FFF2-40B4-BE49-F238E27FC236}">
                <a16:creationId xmlns:a16="http://schemas.microsoft.com/office/drawing/2014/main" id="{AC94263F-0E55-4EF1-B8F3-FF42FA07AB9C}"/>
              </a:ext>
            </a:extLst>
          </p:cNvPr>
          <p:cNvCxnSpPr>
            <a:cxnSpLocks/>
            <a:stCxn id="5" idx="3"/>
            <a:endCxn id="8" idx="1"/>
          </p:cNvCxnSpPr>
          <p:nvPr/>
        </p:nvCxnSpPr>
        <p:spPr>
          <a:xfrm>
            <a:off x="2596273" y="1555377"/>
            <a:ext cx="338129" cy="0"/>
          </a:xfrm>
          <a:prstGeom prst="straightConnector1">
            <a:avLst/>
          </a:prstGeom>
          <a:ln>
            <a:solidFill>
              <a:schemeClr val="tx1"/>
            </a:solidFill>
            <a:tailEnd type="arrow"/>
          </a:ln>
        </p:spPr>
        <p:style>
          <a:lnRef idx="1">
            <a:schemeClr val="accent5"/>
          </a:lnRef>
          <a:fillRef idx="3">
            <a:schemeClr val="accent5"/>
          </a:fillRef>
          <a:effectRef idx="2">
            <a:schemeClr val="accent5"/>
          </a:effectRef>
          <a:fontRef idx="minor">
            <a:schemeClr val="lt1"/>
          </a:fontRef>
        </p:style>
      </p:cxnSp>
      <p:sp>
        <p:nvSpPr>
          <p:cNvPr id="14" name="Rounded Rectangle 39">
            <a:extLst>
              <a:ext uri="{FF2B5EF4-FFF2-40B4-BE49-F238E27FC236}">
                <a16:creationId xmlns:a16="http://schemas.microsoft.com/office/drawing/2014/main" id="{995DC93C-F3CD-4356-8011-01C1578A521E}"/>
              </a:ext>
            </a:extLst>
          </p:cNvPr>
          <p:cNvSpPr/>
          <p:nvPr/>
        </p:nvSpPr>
        <p:spPr>
          <a:xfrm>
            <a:off x="672898" y="2878908"/>
            <a:ext cx="1914492" cy="3338528"/>
          </a:xfrm>
          <a:prstGeom prst="roundRect">
            <a:avLst/>
          </a:prstGeom>
          <a:solidFill>
            <a:srgbClr val="FF0000">
              <a:alpha val="5000"/>
            </a:srgbClr>
          </a:solidFill>
          <a:ln w="50800" cmpd="sng">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42">
            <a:extLst>
              <a:ext uri="{FF2B5EF4-FFF2-40B4-BE49-F238E27FC236}">
                <a16:creationId xmlns:a16="http://schemas.microsoft.com/office/drawing/2014/main" id="{4F36A52E-5CF7-4F53-A069-4F8D4ECE986E}"/>
              </a:ext>
            </a:extLst>
          </p:cNvPr>
          <p:cNvSpPr/>
          <p:nvPr/>
        </p:nvSpPr>
        <p:spPr>
          <a:xfrm>
            <a:off x="5883790" y="3211682"/>
            <a:ext cx="228600" cy="762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EB59ABF-7E58-4C3E-B739-9E7A86EA3A12}"/>
              </a:ext>
            </a:extLst>
          </p:cNvPr>
          <p:cNvSpPr txBox="1"/>
          <p:nvPr/>
        </p:nvSpPr>
        <p:spPr>
          <a:xfrm>
            <a:off x="1815290" y="1969250"/>
            <a:ext cx="780983" cy="400110"/>
          </a:xfrm>
          <a:prstGeom prst="rect">
            <a:avLst/>
          </a:prstGeom>
          <a:solidFill>
            <a:schemeClr val="tx1">
              <a:lumMod val="65000"/>
              <a:lumOff val="35000"/>
            </a:schemeClr>
          </a:solidFill>
          <a:ln>
            <a:noFill/>
          </a:ln>
        </p:spPr>
        <p:style>
          <a:lnRef idx="1">
            <a:schemeClr val="accent5"/>
          </a:lnRef>
          <a:fillRef idx="3">
            <a:schemeClr val="accent5"/>
          </a:fillRef>
          <a:effectRef idx="2">
            <a:schemeClr val="accent5"/>
          </a:effectRef>
          <a:fontRef idx="minor">
            <a:schemeClr val="lt1"/>
          </a:fontRef>
        </p:style>
        <p:txBody>
          <a:bodyPr wrap="none" rtlCol="0">
            <a:spAutoFit/>
          </a:bodyPr>
          <a:lstStyle/>
          <a:p>
            <a:r>
              <a:rPr lang="en-US" sz="2000" dirty="0">
                <a:latin typeface="Avenir Next LT Pro" panose="020B0504020202020204" pitchFamily="34" charset="0"/>
              </a:rPr>
              <a:t>2021</a:t>
            </a:r>
          </a:p>
        </p:txBody>
      </p:sp>
      <p:sp>
        <p:nvSpPr>
          <p:cNvPr id="20" name="TextBox 19">
            <a:extLst>
              <a:ext uri="{FF2B5EF4-FFF2-40B4-BE49-F238E27FC236}">
                <a16:creationId xmlns:a16="http://schemas.microsoft.com/office/drawing/2014/main" id="{2F23E37F-C99D-465D-B039-87939801B0B3}"/>
              </a:ext>
            </a:extLst>
          </p:cNvPr>
          <p:cNvSpPr txBox="1"/>
          <p:nvPr/>
        </p:nvSpPr>
        <p:spPr>
          <a:xfrm>
            <a:off x="2934402" y="1969250"/>
            <a:ext cx="3348000" cy="400110"/>
          </a:xfrm>
          <a:prstGeom prst="rect">
            <a:avLst/>
          </a:prstGeom>
          <a:solidFill>
            <a:schemeClr val="tx1">
              <a:lumMod val="65000"/>
              <a:lumOff val="35000"/>
            </a:schemeClr>
          </a:solidFill>
          <a:ln>
            <a:noFill/>
          </a:ln>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sz="2000" dirty="0">
                <a:latin typeface="Avenir Next LT Pro" panose="020B0504020202020204" pitchFamily="34" charset="0"/>
              </a:rPr>
              <a:t>242 </a:t>
            </a:r>
            <a:r>
              <a:rPr lang="en-US" sz="2000" dirty="0" err="1">
                <a:latin typeface="Avenir Next LT Pro" panose="020B0504020202020204" pitchFamily="34" charset="0"/>
              </a:rPr>
              <a:t>sumur</a:t>
            </a:r>
            <a:r>
              <a:rPr lang="en-US" sz="2000" dirty="0">
                <a:latin typeface="Avenir Next LT Pro" panose="020B0504020202020204" pitchFamily="34" charset="0"/>
              </a:rPr>
              <a:t> (2011-Q3 2021)</a:t>
            </a:r>
          </a:p>
        </p:txBody>
      </p:sp>
      <p:cxnSp>
        <p:nvCxnSpPr>
          <p:cNvPr id="21" name="Straight Arrow Connector 20">
            <a:extLst>
              <a:ext uri="{FF2B5EF4-FFF2-40B4-BE49-F238E27FC236}">
                <a16:creationId xmlns:a16="http://schemas.microsoft.com/office/drawing/2014/main" id="{0263F5BD-30CA-4201-AF35-9F54151C7DAD}"/>
              </a:ext>
            </a:extLst>
          </p:cNvPr>
          <p:cNvCxnSpPr>
            <a:cxnSpLocks/>
            <a:stCxn id="19" idx="3"/>
            <a:endCxn id="20" idx="1"/>
          </p:cNvCxnSpPr>
          <p:nvPr/>
        </p:nvCxnSpPr>
        <p:spPr>
          <a:xfrm>
            <a:off x="2596273" y="2169305"/>
            <a:ext cx="338129" cy="0"/>
          </a:xfrm>
          <a:prstGeom prst="straightConnector1">
            <a:avLst/>
          </a:prstGeom>
          <a:ln>
            <a:solidFill>
              <a:schemeClr val="tx1"/>
            </a:solidFill>
            <a:tailEnd type="arrow"/>
          </a:ln>
        </p:spPr>
        <p:style>
          <a:lnRef idx="1">
            <a:schemeClr val="accent5"/>
          </a:lnRef>
          <a:fillRef idx="3">
            <a:schemeClr val="accent5"/>
          </a:fillRef>
          <a:effectRef idx="2">
            <a:schemeClr val="accent5"/>
          </a:effectRef>
          <a:fontRef idx="minor">
            <a:schemeClr val="lt1"/>
          </a:fontRef>
        </p:style>
      </p:cxnSp>
      <p:cxnSp>
        <p:nvCxnSpPr>
          <p:cNvPr id="22" name="Straight Arrow Connector 21">
            <a:extLst>
              <a:ext uri="{FF2B5EF4-FFF2-40B4-BE49-F238E27FC236}">
                <a16:creationId xmlns:a16="http://schemas.microsoft.com/office/drawing/2014/main" id="{D813C4DF-9BA1-4349-BE5F-CE1BA8E28981}"/>
              </a:ext>
            </a:extLst>
          </p:cNvPr>
          <p:cNvCxnSpPr>
            <a:cxnSpLocks/>
            <a:stCxn id="4" idx="3"/>
            <a:endCxn id="19" idx="1"/>
          </p:cNvCxnSpPr>
          <p:nvPr/>
        </p:nvCxnSpPr>
        <p:spPr>
          <a:xfrm>
            <a:off x="1269093" y="1550912"/>
            <a:ext cx="546197" cy="618393"/>
          </a:xfrm>
          <a:prstGeom prst="straightConnector1">
            <a:avLst/>
          </a:prstGeom>
          <a:ln>
            <a:solidFill>
              <a:schemeClr val="tx1"/>
            </a:solidFill>
            <a:tailEnd type="arrow"/>
          </a:ln>
        </p:spPr>
        <p:style>
          <a:lnRef idx="1">
            <a:schemeClr val="accent5"/>
          </a:lnRef>
          <a:fillRef idx="3">
            <a:schemeClr val="accent5"/>
          </a:fillRef>
          <a:effectRef idx="2">
            <a:schemeClr val="accent5"/>
          </a:effectRef>
          <a:fontRef idx="minor">
            <a:schemeClr val="lt1"/>
          </a:fontRef>
        </p:style>
      </p:cxnSp>
      <p:sp>
        <p:nvSpPr>
          <p:cNvPr id="28" name="Rounded Rectangle 39">
            <a:extLst>
              <a:ext uri="{FF2B5EF4-FFF2-40B4-BE49-F238E27FC236}">
                <a16:creationId xmlns:a16="http://schemas.microsoft.com/office/drawing/2014/main" id="{7452841A-ACB1-4D09-A816-02E3ACDA74A3}"/>
              </a:ext>
            </a:extLst>
          </p:cNvPr>
          <p:cNvSpPr/>
          <p:nvPr/>
        </p:nvSpPr>
        <p:spPr>
          <a:xfrm>
            <a:off x="1626503" y="1855861"/>
            <a:ext cx="4740317" cy="637407"/>
          </a:xfrm>
          <a:prstGeom prst="roundRect">
            <a:avLst/>
          </a:prstGeom>
          <a:solidFill>
            <a:srgbClr val="FF0000">
              <a:alpha val="5000"/>
            </a:srgbClr>
          </a:solidFill>
          <a:ln w="50800" cmpd="sng">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744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CC8389-A3AE-4056-B07D-09FF59C86716}"/>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DISTRIBUSI KEDALAMAN SUMUR DENGAN BIAYA (CORRECTED US PPI)</a:t>
            </a:r>
          </a:p>
        </p:txBody>
      </p:sp>
      <p:graphicFrame>
        <p:nvGraphicFramePr>
          <p:cNvPr id="3" name="Chart 2">
            <a:extLst>
              <a:ext uri="{FF2B5EF4-FFF2-40B4-BE49-F238E27FC236}">
                <a16:creationId xmlns:a16="http://schemas.microsoft.com/office/drawing/2014/main" id="{EB3618C2-30EA-405F-BB84-06812F13207B}"/>
              </a:ext>
            </a:extLst>
          </p:cNvPr>
          <p:cNvGraphicFramePr>
            <a:graphicFrameLocks/>
          </p:cNvGraphicFramePr>
          <p:nvPr/>
        </p:nvGraphicFramePr>
        <p:xfrm>
          <a:off x="602432" y="571500"/>
          <a:ext cx="7284268" cy="6413500"/>
        </p:xfrm>
        <a:graphic>
          <a:graphicData uri="http://schemas.openxmlformats.org/drawingml/2006/chart">
            <c:chart xmlns:c="http://schemas.openxmlformats.org/drawingml/2006/chart" xmlns:r="http://schemas.openxmlformats.org/officeDocument/2006/relationships" r:id="rId2"/>
          </a:graphicData>
        </a:graphic>
      </p:graphicFrame>
      <p:sp>
        <p:nvSpPr>
          <p:cNvPr id="4" name="Content Placeholder 2">
            <a:extLst>
              <a:ext uri="{FF2B5EF4-FFF2-40B4-BE49-F238E27FC236}">
                <a16:creationId xmlns:a16="http://schemas.microsoft.com/office/drawing/2014/main" id="{9E3D444D-D24E-4756-AA36-ED424C80080B}"/>
              </a:ext>
            </a:extLst>
          </p:cNvPr>
          <p:cNvSpPr txBox="1">
            <a:spLocks/>
          </p:cNvSpPr>
          <p:nvPr/>
        </p:nvSpPr>
        <p:spPr>
          <a:xfrm>
            <a:off x="7484435" y="953386"/>
            <a:ext cx="4536026" cy="2273300"/>
          </a:xfrm>
          <a:prstGeom prst="rect">
            <a:avLst/>
          </a:prstGeom>
          <a:solidFill>
            <a:schemeClr val="bg1">
              <a:lumMod val="95000"/>
            </a:schemeClr>
          </a:solidFill>
        </p:spPr>
        <p:txBody>
          <a:bodyPr>
            <a:noAutofit/>
          </a:bodyPr>
          <a:lstStyle/>
          <a:p>
            <a:pPr marL="31750" lvl="1" indent="-31750">
              <a:spcBef>
                <a:spcPct val="20000"/>
              </a:spcBef>
              <a:defRPr/>
            </a:pPr>
            <a:r>
              <a:rPr lang="en-US" b="1" dirty="0" err="1">
                <a:latin typeface="Avenir Next LT Pro" panose="020B0504020202020204" pitchFamily="34" charset="0"/>
              </a:rPr>
              <a:t>Kedalaman</a:t>
            </a:r>
            <a:r>
              <a:rPr lang="en-US" b="1" dirty="0">
                <a:latin typeface="Avenir Next LT Pro" panose="020B0504020202020204" pitchFamily="34" charset="0"/>
              </a:rPr>
              <a:t> dan </a:t>
            </a:r>
            <a:r>
              <a:rPr lang="en-US" b="1" dirty="0" err="1">
                <a:latin typeface="Avenir Next LT Pro" panose="020B0504020202020204" pitchFamily="34" charset="0"/>
              </a:rPr>
              <a:t>Biaya</a:t>
            </a:r>
            <a:r>
              <a:rPr lang="en-US" b="1" dirty="0">
                <a:latin typeface="Avenir Next LT Pro" panose="020B0504020202020204" pitchFamily="34" charset="0"/>
              </a:rPr>
              <a:t> </a:t>
            </a:r>
            <a:r>
              <a:rPr lang="en-US" b="1" dirty="0" err="1">
                <a:latin typeface="Avenir Next LT Pro" panose="020B0504020202020204" pitchFamily="34" charset="0"/>
              </a:rPr>
              <a:t>Pengeboran</a:t>
            </a:r>
            <a:r>
              <a:rPr lang="en-US" b="1" dirty="0">
                <a:latin typeface="Avenir Next LT Pro" panose="020B0504020202020204" pitchFamily="34" charset="0"/>
              </a:rPr>
              <a:t> 2011-2021</a:t>
            </a:r>
          </a:p>
          <a:p>
            <a:pPr marL="387350" lvl="1" indent="-387350">
              <a:spcBef>
                <a:spcPct val="20000"/>
              </a:spcBef>
              <a:buFont typeface="Arial" pitchFamily="34" charset="0"/>
              <a:buChar char="•"/>
              <a:defRPr/>
            </a:pPr>
            <a:r>
              <a:rPr lang="en-US" dirty="0" err="1">
                <a:latin typeface="Avenir Next LT Pro" panose="020B0504020202020204" pitchFamily="34" charset="0"/>
              </a:rPr>
              <a:t>Terdapat</a:t>
            </a:r>
            <a:r>
              <a:rPr lang="en-US" dirty="0">
                <a:latin typeface="Avenir Next LT Pro" panose="020B0504020202020204" pitchFamily="34" charset="0"/>
              </a:rPr>
              <a:t> 242 </a:t>
            </a:r>
            <a:r>
              <a:rPr lang="en-US" dirty="0" err="1">
                <a:latin typeface="Avenir Next LT Pro" panose="020B0504020202020204" pitchFamily="34" charset="0"/>
              </a:rPr>
              <a:t>sumur</a:t>
            </a:r>
            <a:r>
              <a:rPr lang="en-US" dirty="0">
                <a:latin typeface="Avenir Next LT Pro" panose="020B0504020202020204" pitchFamily="34" charset="0"/>
              </a:rPr>
              <a:t> yang </a:t>
            </a:r>
            <a:r>
              <a:rPr lang="en-US" dirty="0" err="1">
                <a:latin typeface="Avenir Next LT Pro" panose="020B0504020202020204" pitchFamily="34" charset="0"/>
              </a:rPr>
              <a:t>dilengkapi</a:t>
            </a:r>
            <a:r>
              <a:rPr lang="en-US" dirty="0">
                <a:latin typeface="Avenir Next LT Pro" panose="020B0504020202020204" pitchFamily="34" charset="0"/>
              </a:rPr>
              <a:t> </a:t>
            </a:r>
            <a:r>
              <a:rPr lang="en-US" dirty="0" err="1">
                <a:latin typeface="Avenir Next LT Pro" panose="020B0504020202020204" pitchFamily="34" charset="0"/>
              </a:rPr>
              <a:t>dengan</a:t>
            </a:r>
            <a:r>
              <a:rPr lang="en-US" dirty="0">
                <a:latin typeface="Avenir Next LT Pro" panose="020B0504020202020204" pitchFamily="34" charset="0"/>
              </a:rPr>
              <a:t> </a:t>
            </a:r>
            <a:r>
              <a:rPr lang="en-US" dirty="0" err="1">
                <a:latin typeface="Avenir Next LT Pro" panose="020B0504020202020204" pitchFamily="34" charset="0"/>
              </a:rPr>
              <a:t>realisasi</a:t>
            </a:r>
            <a:r>
              <a:rPr lang="en-US" dirty="0">
                <a:latin typeface="Avenir Next LT Pro" panose="020B0504020202020204" pitchFamily="34" charset="0"/>
              </a:rPr>
              <a:t> </a:t>
            </a:r>
            <a:r>
              <a:rPr lang="en-US" dirty="0" err="1">
                <a:latin typeface="Avenir Next LT Pro" panose="020B0504020202020204" pitchFamily="34" charset="0"/>
              </a:rPr>
              <a:t>biaya</a:t>
            </a:r>
            <a:endParaRPr lang="en-US" dirty="0">
              <a:latin typeface="Avenir Next LT Pro" panose="020B0504020202020204" pitchFamily="34" charset="0"/>
            </a:endParaRPr>
          </a:p>
          <a:p>
            <a:pPr marL="387350" lvl="1" indent="-387350">
              <a:spcBef>
                <a:spcPct val="20000"/>
              </a:spcBef>
              <a:buFont typeface="Arial" pitchFamily="34" charset="0"/>
              <a:buChar char="•"/>
              <a:defRPr/>
            </a:pPr>
            <a:r>
              <a:rPr lang="en-US" dirty="0" err="1">
                <a:latin typeface="Avenir Next LT Pro" panose="020B0504020202020204" pitchFamily="34" charset="0"/>
              </a:rPr>
              <a:t>Perbandingan</a:t>
            </a:r>
            <a:r>
              <a:rPr lang="en-US" dirty="0">
                <a:latin typeface="Avenir Next LT Pro" panose="020B0504020202020204" pitchFamily="34" charset="0"/>
              </a:rPr>
              <a:t> </a:t>
            </a:r>
            <a:r>
              <a:rPr lang="en-US" dirty="0" err="1">
                <a:latin typeface="Avenir Next LT Pro" panose="020B0504020202020204" pitchFamily="34" charset="0"/>
              </a:rPr>
              <a:t>dilakukan</a:t>
            </a:r>
            <a:r>
              <a:rPr lang="en-US" dirty="0">
                <a:latin typeface="Avenir Next LT Pro" panose="020B0504020202020204" pitchFamily="34" charset="0"/>
              </a:rPr>
              <a:t> </a:t>
            </a:r>
            <a:r>
              <a:rPr lang="en-US" dirty="0" err="1">
                <a:latin typeface="Avenir Next LT Pro" panose="020B0504020202020204" pitchFamily="34" charset="0"/>
              </a:rPr>
              <a:t>dengan</a:t>
            </a:r>
            <a:r>
              <a:rPr lang="en-US" dirty="0">
                <a:latin typeface="Avenir Next LT Pro" panose="020B0504020202020204" pitchFamily="34" charset="0"/>
              </a:rPr>
              <a:t> </a:t>
            </a:r>
            <a:r>
              <a:rPr lang="en-US" dirty="0" err="1">
                <a:latin typeface="Avenir Next LT Pro" panose="020B0504020202020204" pitchFamily="34" charset="0"/>
              </a:rPr>
              <a:t>mempertimbangkan</a:t>
            </a:r>
            <a:r>
              <a:rPr lang="en-US" dirty="0">
                <a:latin typeface="Avenir Next LT Pro" panose="020B0504020202020204" pitchFamily="34" charset="0"/>
              </a:rPr>
              <a:t> </a:t>
            </a:r>
            <a:r>
              <a:rPr lang="en-US" dirty="0" err="1">
                <a:latin typeface="Avenir Next LT Pro" panose="020B0504020202020204" pitchFamily="34" charset="0"/>
              </a:rPr>
              <a:t>koreksi</a:t>
            </a:r>
            <a:r>
              <a:rPr lang="en-US" dirty="0">
                <a:latin typeface="Avenir Next LT Pro" panose="020B0504020202020204" pitchFamily="34" charset="0"/>
              </a:rPr>
              <a:t> </a:t>
            </a:r>
            <a:r>
              <a:rPr lang="en-US" dirty="0" err="1">
                <a:latin typeface="Avenir Next LT Pro" panose="020B0504020202020204" pitchFamily="34" charset="0"/>
              </a:rPr>
              <a:t>indeks</a:t>
            </a:r>
            <a:r>
              <a:rPr lang="en-US" dirty="0">
                <a:latin typeface="Avenir Next LT Pro" panose="020B0504020202020204" pitchFamily="34" charset="0"/>
              </a:rPr>
              <a:t> US PPI</a:t>
            </a:r>
          </a:p>
          <a:p>
            <a:pPr marL="387350" lvl="1" indent="-387350">
              <a:spcBef>
                <a:spcPct val="20000"/>
              </a:spcBef>
              <a:buFont typeface="Arial" pitchFamily="34" charset="0"/>
              <a:buChar char="•"/>
              <a:defRPr/>
            </a:pPr>
            <a:endParaRPr lang="en-US" dirty="0">
              <a:latin typeface="Avenir Next LT Pro" panose="020B0504020202020204" pitchFamily="34" charset="0"/>
            </a:endParaRPr>
          </a:p>
        </p:txBody>
      </p:sp>
      <p:grpSp>
        <p:nvGrpSpPr>
          <p:cNvPr id="11" name="Group 10">
            <a:extLst>
              <a:ext uri="{FF2B5EF4-FFF2-40B4-BE49-F238E27FC236}">
                <a16:creationId xmlns:a16="http://schemas.microsoft.com/office/drawing/2014/main" id="{F3C75F02-FCA0-4BDD-B249-C40B16983A05}"/>
              </a:ext>
            </a:extLst>
          </p:cNvPr>
          <p:cNvGrpSpPr/>
          <p:nvPr/>
        </p:nvGrpSpPr>
        <p:grpSpPr>
          <a:xfrm>
            <a:off x="1845209" y="936879"/>
            <a:ext cx="5521514" cy="5111242"/>
            <a:chOff x="1413593" y="1648507"/>
            <a:chExt cx="3892926" cy="3318934"/>
          </a:xfrm>
        </p:grpSpPr>
        <p:sp>
          <p:nvSpPr>
            <p:cNvPr id="12" name="Right Triangle 11">
              <a:extLst>
                <a:ext uri="{FF2B5EF4-FFF2-40B4-BE49-F238E27FC236}">
                  <a16:creationId xmlns:a16="http://schemas.microsoft.com/office/drawing/2014/main" id="{FB573D2E-9807-4347-969C-8AA74BBF17C3}"/>
                </a:ext>
              </a:extLst>
            </p:cNvPr>
            <p:cNvSpPr/>
            <p:nvPr/>
          </p:nvSpPr>
          <p:spPr>
            <a:xfrm flipH="1">
              <a:off x="1434229" y="3697441"/>
              <a:ext cx="3763963" cy="1260129"/>
            </a:xfrm>
            <a:prstGeom prst="rtTriangle">
              <a:avLst/>
            </a:prstGeom>
            <a:solidFill>
              <a:srgbClr val="FF9B4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ight Triangle 12">
              <a:extLst>
                <a:ext uri="{FF2B5EF4-FFF2-40B4-BE49-F238E27FC236}">
                  <a16:creationId xmlns:a16="http://schemas.microsoft.com/office/drawing/2014/main" id="{1ED90CD1-0023-4902-B6DE-2EB09A5908AD}"/>
                </a:ext>
              </a:extLst>
            </p:cNvPr>
            <p:cNvSpPr/>
            <p:nvPr/>
          </p:nvSpPr>
          <p:spPr>
            <a:xfrm flipH="1">
              <a:off x="1434229" y="2830474"/>
              <a:ext cx="3763962" cy="2123729"/>
            </a:xfrm>
            <a:prstGeom prst="rtTriangle">
              <a:avLst/>
            </a:prstGeom>
            <a:solidFill>
              <a:srgbClr val="FF9B4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Freeform: Shape 13">
              <a:extLst>
                <a:ext uri="{FF2B5EF4-FFF2-40B4-BE49-F238E27FC236}">
                  <a16:creationId xmlns:a16="http://schemas.microsoft.com/office/drawing/2014/main" id="{B071E988-414E-484A-976E-CD6F557EE936}"/>
                </a:ext>
              </a:extLst>
            </p:cNvPr>
            <p:cNvSpPr/>
            <p:nvPr/>
          </p:nvSpPr>
          <p:spPr>
            <a:xfrm>
              <a:off x="1413593" y="1648507"/>
              <a:ext cx="3801533" cy="3318934"/>
            </a:xfrm>
            <a:custGeom>
              <a:avLst/>
              <a:gdLst>
                <a:gd name="connsiteX0" fmla="*/ 0 w 3801533"/>
                <a:gd name="connsiteY0" fmla="*/ 3318934 h 3318934"/>
                <a:gd name="connsiteX1" fmla="*/ 296333 w 3801533"/>
                <a:gd name="connsiteY1" fmla="*/ 2277534 h 3318934"/>
                <a:gd name="connsiteX2" fmla="*/ 618066 w 3801533"/>
                <a:gd name="connsiteY2" fmla="*/ 1735667 h 3318934"/>
                <a:gd name="connsiteX3" fmla="*/ 1354666 w 3801533"/>
                <a:gd name="connsiteY3" fmla="*/ 1041400 h 3318934"/>
                <a:gd name="connsiteX4" fmla="*/ 2235200 w 3801533"/>
                <a:gd name="connsiteY4" fmla="*/ 440267 h 3318934"/>
                <a:gd name="connsiteX5" fmla="*/ 3801533 w 3801533"/>
                <a:gd name="connsiteY5" fmla="*/ 0 h 3318934"/>
                <a:gd name="connsiteX6" fmla="*/ 3801533 w 3801533"/>
                <a:gd name="connsiteY6" fmla="*/ 1176867 h 3318934"/>
                <a:gd name="connsiteX7" fmla="*/ 0 w 3801533"/>
                <a:gd name="connsiteY7" fmla="*/ 3318934 h 3318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533" h="3318934">
                  <a:moveTo>
                    <a:pt x="0" y="3318934"/>
                  </a:moveTo>
                  <a:lnTo>
                    <a:pt x="296333" y="2277534"/>
                  </a:lnTo>
                  <a:lnTo>
                    <a:pt x="618066" y="1735667"/>
                  </a:lnTo>
                  <a:lnTo>
                    <a:pt x="1354666" y="1041400"/>
                  </a:lnTo>
                  <a:lnTo>
                    <a:pt x="2235200" y="440267"/>
                  </a:lnTo>
                  <a:lnTo>
                    <a:pt x="3801533" y="0"/>
                  </a:lnTo>
                  <a:lnTo>
                    <a:pt x="3801533" y="1176867"/>
                  </a:lnTo>
                  <a:lnTo>
                    <a:pt x="0" y="3318934"/>
                  </a:lnTo>
                  <a:close/>
                </a:path>
              </a:pathLst>
            </a:cu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5" name="TextBox 14">
              <a:extLst>
                <a:ext uri="{FF2B5EF4-FFF2-40B4-BE49-F238E27FC236}">
                  <a16:creationId xmlns:a16="http://schemas.microsoft.com/office/drawing/2014/main" id="{F1D4ECF1-AC24-431E-948E-96A64C37966A}"/>
                </a:ext>
              </a:extLst>
            </p:cNvPr>
            <p:cNvSpPr txBox="1"/>
            <p:nvPr/>
          </p:nvSpPr>
          <p:spPr>
            <a:xfrm rot="19690904">
              <a:off x="4406096" y="2063648"/>
              <a:ext cx="670376" cy="369332"/>
            </a:xfrm>
            <a:prstGeom prst="rect">
              <a:avLst/>
            </a:prstGeom>
            <a:noFill/>
          </p:spPr>
          <p:txBody>
            <a:bodyPr wrap="none" rtlCol="0">
              <a:spAutoFit/>
            </a:bodyPr>
            <a:lstStyle/>
            <a:p>
              <a:r>
                <a:rPr lang="en-US" dirty="0"/>
                <a:t>High</a:t>
              </a:r>
            </a:p>
          </p:txBody>
        </p:sp>
        <p:sp>
          <p:nvSpPr>
            <p:cNvPr id="16" name="TextBox 15">
              <a:extLst>
                <a:ext uri="{FF2B5EF4-FFF2-40B4-BE49-F238E27FC236}">
                  <a16:creationId xmlns:a16="http://schemas.microsoft.com/office/drawing/2014/main" id="{B88621F1-E102-4750-A3F9-7C26BFED2946}"/>
                </a:ext>
              </a:extLst>
            </p:cNvPr>
            <p:cNvSpPr txBox="1"/>
            <p:nvPr/>
          </p:nvSpPr>
          <p:spPr>
            <a:xfrm rot="19690904">
              <a:off x="4161251" y="4376204"/>
              <a:ext cx="1104598" cy="369332"/>
            </a:xfrm>
            <a:prstGeom prst="rect">
              <a:avLst/>
            </a:prstGeom>
            <a:noFill/>
          </p:spPr>
          <p:txBody>
            <a:bodyPr wrap="none" rtlCol="0">
              <a:spAutoFit/>
            </a:bodyPr>
            <a:lstStyle/>
            <a:p>
              <a:r>
                <a:rPr lang="en-US" dirty="0">
                  <a:solidFill>
                    <a:srgbClr val="002060"/>
                  </a:solidFill>
                </a:rPr>
                <a:t>Expected</a:t>
              </a:r>
              <a:endParaRPr lang="en-ID" dirty="0">
                <a:solidFill>
                  <a:srgbClr val="002060"/>
                </a:solidFill>
              </a:endParaRPr>
            </a:p>
          </p:txBody>
        </p:sp>
        <p:sp>
          <p:nvSpPr>
            <p:cNvPr id="17" name="TextBox 16">
              <a:extLst>
                <a:ext uri="{FF2B5EF4-FFF2-40B4-BE49-F238E27FC236}">
                  <a16:creationId xmlns:a16="http://schemas.microsoft.com/office/drawing/2014/main" id="{B3713D90-0247-49D6-A0C2-599B33350352}"/>
                </a:ext>
              </a:extLst>
            </p:cNvPr>
            <p:cNvSpPr txBox="1"/>
            <p:nvPr/>
          </p:nvSpPr>
          <p:spPr>
            <a:xfrm rot="19690904">
              <a:off x="4294511" y="3259135"/>
              <a:ext cx="1012008" cy="369332"/>
            </a:xfrm>
            <a:prstGeom prst="rect">
              <a:avLst/>
            </a:prstGeom>
            <a:noFill/>
          </p:spPr>
          <p:txBody>
            <a:bodyPr wrap="none" rtlCol="0">
              <a:spAutoFit/>
            </a:bodyPr>
            <a:lstStyle/>
            <a:p>
              <a:r>
                <a:rPr lang="en-US" dirty="0"/>
                <a:t>Average</a:t>
              </a:r>
            </a:p>
          </p:txBody>
        </p:sp>
      </p:grpSp>
    </p:spTree>
    <p:extLst>
      <p:ext uri="{BB962C8B-B14F-4D97-AF65-F5344CB8AC3E}">
        <p14:creationId xmlns:p14="http://schemas.microsoft.com/office/powerpoint/2010/main" val="3656485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hart 9">
            <a:extLst>
              <a:ext uri="{FF2B5EF4-FFF2-40B4-BE49-F238E27FC236}">
                <a16:creationId xmlns:a16="http://schemas.microsoft.com/office/drawing/2014/main" id="{167CA450-A49B-401F-AF58-6141835FB015}"/>
              </a:ext>
            </a:extLst>
          </p:cNvPr>
          <p:cNvGraphicFramePr>
            <a:graphicFrameLocks/>
          </p:cNvGraphicFramePr>
          <p:nvPr/>
        </p:nvGraphicFramePr>
        <p:xfrm>
          <a:off x="0" y="838200"/>
          <a:ext cx="6397625" cy="4794250"/>
        </p:xfrm>
        <a:graphic>
          <a:graphicData uri="http://schemas.openxmlformats.org/drawingml/2006/chart">
            <c:chart xmlns:c="http://schemas.openxmlformats.org/drawingml/2006/chart" xmlns:r="http://schemas.openxmlformats.org/officeDocument/2006/relationships" r:id="rId2"/>
          </a:graphicData>
        </a:graphic>
      </p:graphicFrame>
      <p:sp>
        <p:nvSpPr>
          <p:cNvPr id="2" name="Rectangle 1">
            <a:extLst>
              <a:ext uri="{FF2B5EF4-FFF2-40B4-BE49-F238E27FC236}">
                <a16:creationId xmlns:a16="http://schemas.microsoft.com/office/drawing/2014/main" id="{7C6F8528-A491-47B8-9594-2552F9CA0A9B}"/>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STATUS BIAYA PENGEBORAN PANAS BUMI (Update 2021)</a:t>
            </a:r>
          </a:p>
          <a:p>
            <a:pPr marL="0" marR="0" lvl="0" indent="0" defTabSz="914400" rtl="0" eaLnBrk="1" fontAlgn="auto" latinLnBrk="0" hangingPunct="1">
              <a:lnSpc>
                <a:spcPct val="100000"/>
              </a:lnSpc>
              <a:spcBef>
                <a:spcPts val="0"/>
              </a:spcBef>
              <a:spcAft>
                <a:spcPts val="0"/>
              </a:spcAft>
              <a:buClrTx/>
              <a:buSzTx/>
              <a:buFontTx/>
              <a:buNone/>
              <a:tabLst/>
              <a:defRPr/>
            </a:pPr>
            <a:r>
              <a:rPr lang="fi-FI" dirty="0">
                <a:solidFill>
                  <a:prstClr val="white"/>
                </a:solidFill>
                <a:latin typeface="Avenir Next LT Pro" panose="020B0504020202020204" pitchFamily="34" charset="0"/>
                <a:cs typeface="Arial" panose="020B0604020202020204" pitchFamily="34" charset="0"/>
              </a:rPr>
              <a:t>Update evaluasi biaya pengeboran panas bumi (</a:t>
            </a:r>
            <a:r>
              <a:rPr lang="fi-FI" i="1" dirty="0">
                <a:solidFill>
                  <a:prstClr val="white"/>
                </a:solidFill>
                <a:latin typeface="Avenir Next LT Pro" panose="020B0504020202020204" pitchFamily="34" charset="0"/>
                <a:cs typeface="Arial" panose="020B0604020202020204" pitchFamily="34" charset="0"/>
              </a:rPr>
              <a:t>unit cost</a:t>
            </a:r>
            <a:r>
              <a:rPr lang="fi-FI" dirty="0">
                <a:solidFill>
                  <a:prstClr val="white"/>
                </a:solidFill>
                <a:latin typeface="Avenir Next LT Pro" panose="020B0504020202020204" pitchFamily="34" charset="0"/>
                <a:cs typeface="Arial" panose="020B0604020202020204" pitchFamily="34" charset="0"/>
              </a:rPr>
              <a:t>)</a:t>
            </a:r>
            <a:endParaRPr kumimoji="0" lang="en-US"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endParaRPr>
          </a:p>
        </p:txBody>
      </p:sp>
      <p:sp>
        <p:nvSpPr>
          <p:cNvPr id="3" name="Content Placeholder 2">
            <a:extLst>
              <a:ext uri="{FF2B5EF4-FFF2-40B4-BE49-F238E27FC236}">
                <a16:creationId xmlns:a16="http://schemas.microsoft.com/office/drawing/2014/main" id="{039EE635-C88F-4E89-800B-FF6A1231BDBA}"/>
              </a:ext>
            </a:extLst>
          </p:cNvPr>
          <p:cNvSpPr txBox="1">
            <a:spLocks/>
          </p:cNvSpPr>
          <p:nvPr/>
        </p:nvSpPr>
        <p:spPr>
          <a:xfrm>
            <a:off x="6323012" y="838200"/>
            <a:ext cx="5718714" cy="5594498"/>
          </a:xfrm>
          <a:prstGeom prst="rect">
            <a:avLst/>
          </a:prstGeom>
          <a:solidFill>
            <a:schemeClr val="bg1">
              <a:lumMod val="95000"/>
            </a:schemeClr>
          </a:solidFill>
        </p:spPr>
        <p:txBody>
          <a:bodyPr>
            <a:noAutofit/>
          </a:bodyPr>
          <a:lstStyle/>
          <a:p>
            <a:pPr marL="277813" lvl="0" indent="-277813">
              <a:spcBef>
                <a:spcPts val="600"/>
              </a:spcBef>
              <a:defRPr/>
            </a:pPr>
            <a:r>
              <a:rPr kumimoji="0" lang="en-US" sz="1900" b="1" i="0" u="none" strike="noStrike" kern="1200" cap="none" spc="0" normalizeH="0" baseline="0" noProof="0" dirty="0">
                <a:ln>
                  <a:noFill/>
                </a:ln>
                <a:solidFill>
                  <a:schemeClr val="tx1"/>
                </a:solidFill>
                <a:effectLst/>
                <a:uLnTx/>
                <a:uFillTx/>
                <a:latin typeface="Avenir Next LT Pro" panose="020B0504020202020204" pitchFamily="34" charset="0"/>
              </a:rPr>
              <a:t>BIAYA PENGEBORAN (unit cost USD/meter)</a:t>
            </a:r>
          </a:p>
          <a:p>
            <a:pPr marL="277813" marR="0" lvl="0" indent="-277813" algn="l" defTabSz="1263884" rtl="0" eaLnBrk="1" fontAlgn="auto" latinLnBrk="0" hangingPunct="1">
              <a:lnSpc>
                <a:spcPct val="100000"/>
              </a:lnSpc>
              <a:spcBef>
                <a:spcPts val="600"/>
              </a:spcBef>
              <a:spcAft>
                <a:spcPts val="0"/>
              </a:spcAft>
              <a:buClrTx/>
              <a:buSzTx/>
              <a:buFont typeface="Arial" pitchFamily="34" charset="0"/>
              <a:buChar char="•"/>
              <a:tabLst/>
              <a:defRPr/>
            </a:pPr>
            <a:r>
              <a:rPr lang="en-US" sz="1900" dirty="0">
                <a:latin typeface="Avenir Next LT Pro" panose="020B0504020202020204" pitchFamily="34" charset="0"/>
              </a:rPr>
              <a:t>Rata-rata unit cost 3,258 USD/m</a:t>
            </a:r>
          </a:p>
          <a:p>
            <a:pPr marL="574675" lvl="1" indent="-284163">
              <a:spcBef>
                <a:spcPts val="600"/>
              </a:spcBef>
              <a:buFont typeface="Wingdings" pitchFamily="2" charset="2"/>
              <a:buChar char="ü"/>
              <a:defRPr/>
            </a:pP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Sumur</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0" u="none" strike="noStrike" kern="1200" cap="none" spc="0" normalizeH="0" baseline="0" noProof="0" dirty="0" err="1">
                <a:ln>
                  <a:noFill/>
                </a:ln>
                <a:solidFill>
                  <a:schemeClr val="tx1"/>
                </a:solidFill>
                <a:effectLst/>
                <a:uLnTx/>
                <a:uFillTx/>
                <a:latin typeface="Avenir Next LT Pro" panose="020B0504020202020204" pitchFamily="34" charset="0"/>
              </a:rPr>
              <a:t>eksplorasi</a:t>
            </a:r>
            <a:r>
              <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rPr>
              <a:t>		: </a:t>
            </a:r>
            <a:r>
              <a:rPr lang="en-US" sz="1900" noProof="0" dirty="0">
                <a:latin typeface="Avenir Next LT Pro" panose="020B0504020202020204" pitchFamily="34" charset="0"/>
              </a:rPr>
              <a:t>3.853 </a:t>
            </a:r>
            <a:r>
              <a:rPr lang="en-US" sz="1900" dirty="0">
                <a:latin typeface="Avenir Next LT Pro" panose="020B0504020202020204" pitchFamily="34" charset="0"/>
              </a:rPr>
              <a:t>USD/m</a:t>
            </a:r>
            <a:endParaRPr kumimoji="0" lang="en-US" sz="1900" b="0" u="none" strike="noStrike" kern="1200" cap="none" spc="0" normalizeH="0" baseline="0" noProof="0" dirty="0">
              <a:ln>
                <a:noFill/>
              </a:ln>
              <a:solidFill>
                <a:schemeClr val="tx1"/>
              </a:solidFill>
              <a:effectLst/>
              <a:uLnTx/>
              <a:uFillTx/>
              <a:latin typeface="Avenir Next LT Pro" panose="020B0504020202020204" pitchFamily="34" charset="0"/>
            </a:endParaRPr>
          </a:p>
          <a:p>
            <a:pPr marL="574675" lvl="1" indent="-284163">
              <a:spcBef>
                <a:spcPts val="600"/>
              </a:spcBef>
              <a:buFont typeface="Wingdings" pitchFamily="2" charset="2"/>
              <a:buChar char="ü"/>
              <a:defRPr/>
            </a:pPr>
            <a:r>
              <a:rPr lang="en-US" sz="1900" dirty="0" err="1">
                <a:latin typeface="Avenir Next LT Pro" panose="020B0504020202020204" pitchFamily="34" charset="0"/>
              </a:rPr>
              <a:t>Sumur</a:t>
            </a:r>
            <a:r>
              <a:rPr lang="en-US" sz="1900" dirty="0">
                <a:latin typeface="Avenir Next LT Pro" panose="020B0504020202020204" pitchFamily="34" charset="0"/>
              </a:rPr>
              <a:t> </a:t>
            </a:r>
            <a:r>
              <a:rPr lang="en-US" sz="1900" dirty="0" err="1">
                <a:latin typeface="Avenir Next LT Pro" panose="020B0504020202020204" pitchFamily="34" charset="0"/>
              </a:rPr>
              <a:t>pengembangan</a:t>
            </a:r>
            <a:r>
              <a:rPr lang="en-US" sz="1900" dirty="0">
                <a:latin typeface="Avenir Next LT Pro" panose="020B0504020202020204" pitchFamily="34" charset="0"/>
              </a:rPr>
              <a:t>	: 3.243 USD/m</a:t>
            </a:r>
          </a:p>
          <a:p>
            <a:pPr marL="574675" lvl="1" indent="-284163">
              <a:spcBef>
                <a:spcPts val="600"/>
              </a:spcBef>
              <a:buFont typeface="Wingdings" pitchFamily="2" charset="2"/>
              <a:buChar char="ü"/>
              <a:defRPr/>
            </a:pPr>
            <a:r>
              <a:rPr lang="en-US" sz="1900" dirty="0" err="1">
                <a:latin typeface="Avenir Next LT Pro" panose="020B0504020202020204" pitchFamily="34" charset="0"/>
              </a:rPr>
              <a:t>Sumur</a:t>
            </a:r>
            <a:r>
              <a:rPr lang="en-US" sz="1900" dirty="0">
                <a:latin typeface="Avenir Next LT Pro" panose="020B0504020202020204" pitchFamily="34" charset="0"/>
              </a:rPr>
              <a:t> </a:t>
            </a:r>
            <a:r>
              <a:rPr lang="en-US" sz="1900" dirty="0" err="1">
                <a:latin typeface="Avenir Next LT Pro" panose="020B0504020202020204" pitchFamily="34" charset="0"/>
              </a:rPr>
              <a:t>operasi</a:t>
            </a:r>
            <a:r>
              <a:rPr lang="en-US" sz="1900" dirty="0">
                <a:latin typeface="Avenir Next LT Pro" panose="020B0504020202020204" pitchFamily="34" charset="0"/>
              </a:rPr>
              <a:t> (M/U)	: 3.072 USD/m</a:t>
            </a:r>
          </a:p>
          <a:p>
            <a:pPr marL="284163" lvl="1" indent="-284163">
              <a:spcBef>
                <a:spcPts val="600"/>
              </a:spcBef>
              <a:buFont typeface="Wingdings" pitchFamily="2" charset="2"/>
              <a:buChar char="§"/>
              <a:defRPr/>
            </a:pPr>
            <a:r>
              <a:rPr lang="en-US" sz="1900" dirty="0" err="1">
                <a:latin typeface="Avenir Next LT Pro" panose="020B0504020202020204" pitchFamily="34" charset="0"/>
              </a:rPr>
              <a:t>Biaya</a:t>
            </a:r>
            <a:r>
              <a:rPr lang="en-US" sz="1900" dirty="0">
                <a:latin typeface="Avenir Next LT Pro" panose="020B0504020202020204" pitchFamily="34" charset="0"/>
              </a:rPr>
              <a:t> </a:t>
            </a:r>
            <a:r>
              <a:rPr lang="en-US" sz="1900" dirty="0" err="1">
                <a:latin typeface="Avenir Next LT Pro" panose="020B0504020202020204" pitchFamily="34" charset="0"/>
              </a:rPr>
              <a:t>pengeboran</a:t>
            </a:r>
            <a:r>
              <a:rPr lang="en-US" sz="1900" dirty="0">
                <a:latin typeface="Avenir Next LT Pro" panose="020B0504020202020204" pitchFamily="34" charset="0"/>
              </a:rPr>
              <a:t> </a:t>
            </a:r>
            <a:r>
              <a:rPr lang="en-US" sz="1900" dirty="0" err="1">
                <a:latin typeface="Avenir Next LT Pro" panose="020B0504020202020204" pitchFamily="34" charset="0"/>
              </a:rPr>
              <a:t>tahap</a:t>
            </a:r>
            <a:r>
              <a:rPr lang="en-US" sz="1900" dirty="0">
                <a:latin typeface="Avenir Next LT Pro" panose="020B0504020202020204" pitchFamily="34" charset="0"/>
              </a:rPr>
              <a:t> </a:t>
            </a:r>
            <a:r>
              <a:rPr lang="en-US" sz="1900" dirty="0" err="1">
                <a:latin typeface="Avenir Next LT Pro" panose="020B0504020202020204" pitchFamily="34" charset="0"/>
              </a:rPr>
              <a:t>eksplorasi</a:t>
            </a:r>
            <a:r>
              <a:rPr lang="en-US" sz="1900" dirty="0">
                <a:latin typeface="Avenir Next LT Pro" panose="020B0504020202020204" pitchFamily="34" charset="0"/>
              </a:rPr>
              <a:t> </a:t>
            </a:r>
            <a:r>
              <a:rPr lang="en-US" sz="1900" dirty="0" err="1">
                <a:latin typeface="Avenir Next LT Pro" panose="020B0504020202020204" pitchFamily="34" charset="0"/>
              </a:rPr>
              <a:t>hingga</a:t>
            </a:r>
            <a:r>
              <a:rPr lang="en-US" sz="1900" dirty="0">
                <a:latin typeface="Avenir Next LT Pro" panose="020B0504020202020204" pitchFamily="34" charset="0"/>
              </a:rPr>
              <a:t> </a:t>
            </a:r>
            <a:r>
              <a:rPr lang="en-US" sz="1900" dirty="0" err="1">
                <a:latin typeface="Avenir Next LT Pro" panose="020B0504020202020204" pitchFamily="34" charset="0"/>
              </a:rPr>
              <a:t>ke</a:t>
            </a:r>
            <a:r>
              <a:rPr lang="en-US" sz="1900" dirty="0">
                <a:latin typeface="Avenir Next LT Pro" panose="020B0504020202020204" pitchFamily="34" charset="0"/>
              </a:rPr>
              <a:t> </a:t>
            </a:r>
            <a:r>
              <a:rPr lang="en-US" sz="1900" dirty="0" err="1">
                <a:latin typeface="Avenir Next LT Pro" panose="020B0504020202020204" pitchFamily="34" charset="0"/>
              </a:rPr>
              <a:t>operasi</a:t>
            </a:r>
            <a:r>
              <a:rPr lang="en-US" sz="1900" dirty="0">
                <a:latin typeface="Avenir Next LT Pro" panose="020B0504020202020204" pitchFamily="34" charset="0"/>
              </a:rPr>
              <a:t> (make/up)  </a:t>
            </a:r>
            <a:r>
              <a:rPr lang="en-US" sz="1900" dirty="0" err="1">
                <a:latin typeface="Avenir Next LT Pro" panose="020B0504020202020204" pitchFamily="34" charset="0"/>
              </a:rPr>
              <a:t>menunjukkan</a:t>
            </a:r>
            <a:r>
              <a:rPr lang="en-US" sz="1900" dirty="0">
                <a:latin typeface="Avenir Next LT Pro" panose="020B0504020202020204" pitchFamily="34" charset="0"/>
              </a:rPr>
              <a:t> trend </a:t>
            </a:r>
            <a:r>
              <a:rPr lang="en-US" sz="1900" dirty="0" err="1">
                <a:latin typeface="Avenir Next LT Pro" panose="020B0504020202020204" pitchFamily="34" charset="0"/>
              </a:rPr>
              <a:t>menurun</a:t>
            </a:r>
            <a:r>
              <a:rPr lang="en-US" sz="1900" dirty="0">
                <a:latin typeface="Avenir Next LT Pro" panose="020B0504020202020204" pitchFamily="34" charset="0"/>
              </a:rPr>
              <a:t>. </a:t>
            </a:r>
            <a:r>
              <a:rPr lang="en-US" sz="1900" dirty="0" err="1">
                <a:latin typeface="Avenir Next LT Pro" panose="020B0504020202020204" pitchFamily="34" charset="0"/>
              </a:rPr>
              <a:t>Mengindikasikan</a:t>
            </a:r>
            <a:r>
              <a:rPr lang="en-US" sz="1900" dirty="0">
                <a:latin typeface="Avenir Next LT Pro" panose="020B0504020202020204" pitchFamily="34" charset="0"/>
              </a:rPr>
              <a:t> </a:t>
            </a:r>
            <a:r>
              <a:rPr lang="en-US" sz="1900" dirty="0" err="1">
                <a:latin typeface="Avenir Next LT Pro" panose="020B0504020202020204" pitchFamily="34" charset="0"/>
              </a:rPr>
              <a:t>adanya</a:t>
            </a:r>
            <a:r>
              <a:rPr lang="en-US" sz="1900" dirty="0">
                <a:latin typeface="Avenir Next LT Pro" panose="020B0504020202020204" pitchFamily="34" charset="0"/>
              </a:rPr>
              <a:t> </a:t>
            </a:r>
            <a:r>
              <a:rPr lang="en-US" sz="1900" i="1" dirty="0">
                <a:latin typeface="Avenir Next LT Pro" panose="020B0504020202020204" pitchFamily="34" charset="0"/>
              </a:rPr>
              <a:t>learning curve</a:t>
            </a:r>
            <a:r>
              <a:rPr lang="en-US" sz="1900" dirty="0">
                <a:latin typeface="Avenir Next LT Pro" panose="020B0504020202020204" pitchFamily="34" charset="0"/>
              </a:rPr>
              <a:t>.</a:t>
            </a:r>
          </a:p>
          <a:p>
            <a:pPr marL="284163" lvl="1" indent="-284163">
              <a:spcBef>
                <a:spcPts val="600"/>
              </a:spcBef>
              <a:buFont typeface="Wingdings" pitchFamily="2" charset="2"/>
              <a:buChar char="§"/>
              <a:defRPr/>
            </a:pPr>
            <a:r>
              <a:rPr lang="en-US" sz="1900" dirty="0" err="1">
                <a:latin typeface="Avenir Next LT Pro" panose="020B0504020202020204" pitchFamily="34" charset="0"/>
              </a:rPr>
              <a:t>Pengeboran</a:t>
            </a:r>
            <a:r>
              <a:rPr lang="en-US" sz="1900" dirty="0">
                <a:latin typeface="Avenir Next LT Pro" panose="020B0504020202020204" pitchFamily="34" charset="0"/>
              </a:rPr>
              <a:t> </a:t>
            </a:r>
            <a:r>
              <a:rPr lang="en-US" sz="1900" dirty="0" err="1">
                <a:latin typeface="Avenir Next LT Pro" panose="020B0504020202020204" pitchFamily="34" charset="0"/>
              </a:rPr>
              <a:t>eksplorasi</a:t>
            </a:r>
            <a:r>
              <a:rPr lang="en-US" sz="1900" dirty="0">
                <a:latin typeface="Avenir Next LT Pro" panose="020B0504020202020204" pitchFamily="34" charset="0"/>
              </a:rPr>
              <a:t> </a:t>
            </a:r>
            <a:r>
              <a:rPr lang="en-US" sz="1900" dirty="0" err="1">
                <a:latin typeface="Avenir Next LT Pro" panose="020B0504020202020204" pitchFamily="34" charset="0"/>
              </a:rPr>
              <a:t>relatif</a:t>
            </a:r>
            <a:r>
              <a:rPr lang="en-US" sz="1900" dirty="0">
                <a:latin typeface="Avenir Next LT Pro" panose="020B0504020202020204" pitchFamily="34" charset="0"/>
              </a:rPr>
              <a:t> paling </a:t>
            </a:r>
            <a:r>
              <a:rPr lang="en-US" sz="1900" dirty="0" err="1">
                <a:latin typeface="Avenir Next LT Pro" panose="020B0504020202020204" pitchFamily="34" charset="0"/>
              </a:rPr>
              <a:t>mahal</a:t>
            </a:r>
            <a:r>
              <a:rPr lang="en-US" sz="1900" dirty="0">
                <a:latin typeface="Avenir Next LT Pro" panose="020B0504020202020204" pitchFamily="34" charset="0"/>
              </a:rPr>
              <a:t> </a:t>
            </a:r>
            <a:r>
              <a:rPr lang="en-US" sz="1900" dirty="0" err="1">
                <a:latin typeface="Avenir Next LT Pro" panose="020B0504020202020204" pitchFamily="34" charset="0"/>
              </a:rPr>
              <a:t>mengingat</a:t>
            </a:r>
            <a:r>
              <a:rPr lang="en-US" sz="1900" dirty="0">
                <a:latin typeface="Avenir Next LT Pro" panose="020B0504020202020204" pitchFamily="34" charset="0"/>
              </a:rPr>
              <a:t> </a:t>
            </a:r>
            <a:r>
              <a:rPr lang="en-US" sz="1900" dirty="0" err="1">
                <a:latin typeface="Avenir Next LT Pro" panose="020B0504020202020204" pitchFamily="34" charset="0"/>
              </a:rPr>
              <a:t>Badan</a:t>
            </a:r>
            <a:r>
              <a:rPr lang="en-US" sz="1900" dirty="0">
                <a:latin typeface="Avenir Next LT Pro" panose="020B0504020202020204" pitchFamily="34" charset="0"/>
              </a:rPr>
              <a:t> Usaha </a:t>
            </a:r>
            <a:r>
              <a:rPr lang="en-US" sz="1900" dirty="0" err="1">
                <a:latin typeface="Avenir Next LT Pro" panose="020B0504020202020204" pitchFamily="34" charset="0"/>
              </a:rPr>
              <a:t>dalam</a:t>
            </a:r>
            <a:r>
              <a:rPr lang="en-US" sz="1900" dirty="0">
                <a:latin typeface="Avenir Next LT Pro" panose="020B0504020202020204" pitchFamily="34" charset="0"/>
              </a:rPr>
              <a:t> </a:t>
            </a:r>
            <a:r>
              <a:rPr lang="en-US" sz="1900" dirty="0" err="1">
                <a:latin typeface="Avenir Next LT Pro" panose="020B0504020202020204" pitchFamily="34" charset="0"/>
              </a:rPr>
              <a:t>tahap</a:t>
            </a:r>
            <a:r>
              <a:rPr lang="en-US" sz="1900" dirty="0">
                <a:latin typeface="Avenir Next LT Pro" panose="020B0504020202020204" pitchFamily="34" charset="0"/>
              </a:rPr>
              <a:t> </a:t>
            </a:r>
            <a:r>
              <a:rPr lang="en-US" sz="1900" dirty="0" err="1">
                <a:latin typeface="Avenir Next LT Pro" panose="020B0504020202020204" pitchFamily="34" charset="0"/>
              </a:rPr>
              <a:t>memperoleh</a:t>
            </a:r>
            <a:r>
              <a:rPr lang="en-US" sz="1900" dirty="0">
                <a:latin typeface="Avenir Next LT Pro" panose="020B0504020202020204" pitchFamily="34" charset="0"/>
              </a:rPr>
              <a:t> </a:t>
            </a:r>
            <a:r>
              <a:rPr lang="en-US" sz="1900" dirty="0" err="1">
                <a:latin typeface="Avenir Next LT Pro" panose="020B0504020202020204" pitchFamily="34" charset="0"/>
              </a:rPr>
              <a:t>informasi</a:t>
            </a:r>
            <a:r>
              <a:rPr lang="en-US" sz="1900" dirty="0">
                <a:latin typeface="Avenir Next LT Pro" panose="020B0504020202020204" pitchFamily="34" charset="0"/>
              </a:rPr>
              <a:t> </a:t>
            </a:r>
            <a:r>
              <a:rPr lang="en-US" sz="1900" dirty="0" err="1">
                <a:latin typeface="Avenir Next LT Pro" panose="020B0504020202020204" pitchFamily="34" charset="0"/>
              </a:rPr>
              <a:t>awal</a:t>
            </a:r>
            <a:r>
              <a:rPr lang="en-US" sz="1900" dirty="0">
                <a:latin typeface="Avenir Next LT Pro" panose="020B0504020202020204" pitchFamily="34" charset="0"/>
              </a:rPr>
              <a:t> </a:t>
            </a:r>
            <a:r>
              <a:rPr lang="en-US" sz="1900" dirty="0" err="1">
                <a:latin typeface="Avenir Next LT Pro" panose="020B0504020202020204" pitchFamily="34" charset="0"/>
              </a:rPr>
              <a:t>lapangannya</a:t>
            </a:r>
            <a:r>
              <a:rPr lang="en-US" sz="1900" dirty="0">
                <a:latin typeface="Avenir Next LT Pro" panose="020B0504020202020204" pitchFamily="34" charset="0"/>
              </a:rPr>
              <a:t>.</a:t>
            </a:r>
          </a:p>
          <a:p>
            <a:pPr marL="284163" lvl="1" indent="-284163">
              <a:spcBef>
                <a:spcPts val="600"/>
              </a:spcBef>
              <a:buFont typeface="Wingdings" pitchFamily="2" charset="2"/>
              <a:buChar char="§"/>
              <a:defRPr/>
            </a:pPr>
            <a:r>
              <a:rPr lang="en-US" sz="1900" dirty="0" err="1">
                <a:latin typeface="Avenir Next LT Pro" panose="020B0504020202020204" pitchFamily="34" charset="0"/>
              </a:rPr>
              <a:t>Pada</a:t>
            </a:r>
            <a:r>
              <a:rPr lang="en-US" sz="1900" dirty="0">
                <a:latin typeface="Avenir Next LT Pro" panose="020B0504020202020204" pitchFamily="34" charset="0"/>
              </a:rPr>
              <a:t> </a:t>
            </a:r>
            <a:r>
              <a:rPr lang="en-US" sz="1900" dirty="0" err="1">
                <a:latin typeface="Avenir Next LT Pro" panose="020B0504020202020204" pitchFamily="34" charset="0"/>
              </a:rPr>
              <a:t>tahap</a:t>
            </a:r>
            <a:r>
              <a:rPr lang="en-US" sz="1900" dirty="0">
                <a:latin typeface="Avenir Next LT Pro" panose="020B0504020202020204" pitchFamily="34" charset="0"/>
              </a:rPr>
              <a:t> </a:t>
            </a:r>
            <a:r>
              <a:rPr lang="en-US" sz="1900" dirty="0" err="1">
                <a:latin typeface="Avenir Next LT Pro" panose="020B0504020202020204" pitchFamily="34" charset="0"/>
              </a:rPr>
              <a:t>pengembangan</a:t>
            </a:r>
            <a:r>
              <a:rPr lang="en-US" sz="1900" dirty="0">
                <a:latin typeface="Avenir Next LT Pro" panose="020B0504020202020204" pitchFamily="34" charset="0"/>
              </a:rPr>
              <a:t> </a:t>
            </a:r>
            <a:r>
              <a:rPr lang="en-US" sz="1900" dirty="0" err="1">
                <a:latin typeface="Avenir Next LT Pro" panose="020B0504020202020204" pitchFamily="34" charset="0"/>
              </a:rPr>
              <a:t>dan</a:t>
            </a:r>
            <a:r>
              <a:rPr lang="en-US" sz="1900" dirty="0">
                <a:latin typeface="Avenir Next LT Pro" panose="020B0504020202020204" pitchFamily="34" charset="0"/>
              </a:rPr>
              <a:t> </a:t>
            </a:r>
            <a:r>
              <a:rPr lang="en-US" sz="1900" dirty="0" err="1">
                <a:latin typeface="Avenir Next LT Pro" panose="020B0504020202020204" pitchFamily="34" charset="0"/>
              </a:rPr>
              <a:t>operasi</a:t>
            </a:r>
            <a:r>
              <a:rPr lang="en-US" sz="1900" dirty="0">
                <a:latin typeface="Avenir Next LT Pro" panose="020B0504020202020204" pitchFamily="34" charset="0"/>
              </a:rPr>
              <a:t>, </a:t>
            </a:r>
            <a:r>
              <a:rPr lang="en-US" sz="1900" dirty="0" err="1">
                <a:latin typeface="Avenir Next LT Pro" panose="020B0504020202020204" pitchFamily="34" charset="0"/>
              </a:rPr>
              <a:t>pada</a:t>
            </a:r>
            <a:r>
              <a:rPr lang="en-US" sz="1900" dirty="0">
                <a:latin typeface="Avenir Next LT Pro" panose="020B0504020202020204" pitchFamily="34" charset="0"/>
              </a:rPr>
              <a:t> </a:t>
            </a:r>
            <a:r>
              <a:rPr lang="en-US" sz="1900" dirty="0" err="1">
                <a:latin typeface="Avenir Next LT Pro" panose="020B0504020202020204" pitchFamily="34" charset="0"/>
              </a:rPr>
              <a:t>umumnya</a:t>
            </a:r>
            <a:r>
              <a:rPr lang="en-US" sz="1900" dirty="0">
                <a:latin typeface="Avenir Next LT Pro" panose="020B0504020202020204" pitchFamily="34" charset="0"/>
              </a:rPr>
              <a:t> </a:t>
            </a:r>
            <a:r>
              <a:rPr lang="en-US" sz="1900" dirty="0" err="1">
                <a:latin typeface="Avenir Next LT Pro" panose="020B0504020202020204" pitchFamily="34" charset="0"/>
              </a:rPr>
              <a:t>biaya</a:t>
            </a:r>
            <a:r>
              <a:rPr lang="en-US" sz="1900" dirty="0">
                <a:latin typeface="Avenir Next LT Pro" panose="020B0504020202020204" pitchFamily="34" charset="0"/>
              </a:rPr>
              <a:t> </a:t>
            </a:r>
            <a:r>
              <a:rPr lang="en-US" sz="1900" dirty="0" err="1">
                <a:latin typeface="Avenir Next LT Pro" panose="020B0504020202020204" pitchFamily="34" charset="0"/>
              </a:rPr>
              <a:t>pengeboran</a:t>
            </a:r>
            <a:r>
              <a:rPr lang="en-US" sz="1900" dirty="0">
                <a:latin typeface="Avenir Next LT Pro" panose="020B0504020202020204" pitchFamily="34" charset="0"/>
              </a:rPr>
              <a:t> </a:t>
            </a:r>
            <a:r>
              <a:rPr lang="en-US" sz="1900" dirty="0" err="1">
                <a:latin typeface="Avenir Next LT Pro" panose="020B0504020202020204" pitchFamily="34" charset="0"/>
              </a:rPr>
              <a:t>turun</a:t>
            </a:r>
            <a:r>
              <a:rPr lang="en-US" sz="1900" dirty="0">
                <a:latin typeface="Avenir Next LT Pro" panose="020B0504020202020204" pitchFamily="34" charset="0"/>
              </a:rPr>
              <a:t>, </a:t>
            </a:r>
            <a:r>
              <a:rPr lang="en-US" sz="1900" dirty="0" err="1">
                <a:latin typeface="Avenir Next LT Pro" panose="020B0504020202020204" pitchFamily="34" charset="0"/>
              </a:rPr>
              <a:t>karena</a:t>
            </a:r>
            <a:r>
              <a:rPr lang="en-US" sz="1900" dirty="0">
                <a:latin typeface="Avenir Next LT Pro" panose="020B0504020202020204" pitchFamily="34" charset="0"/>
              </a:rPr>
              <a:t> </a:t>
            </a:r>
            <a:r>
              <a:rPr lang="en-US" sz="1900" dirty="0" err="1">
                <a:latin typeface="Avenir Next LT Pro" panose="020B0504020202020204" pitchFamily="34" charset="0"/>
              </a:rPr>
              <a:t>Badan</a:t>
            </a:r>
            <a:r>
              <a:rPr lang="en-US" sz="1900" dirty="0">
                <a:latin typeface="Avenir Next LT Pro" panose="020B0504020202020204" pitchFamily="34" charset="0"/>
              </a:rPr>
              <a:t> Usaha </a:t>
            </a:r>
            <a:r>
              <a:rPr lang="en-US" sz="1900" dirty="0" err="1">
                <a:latin typeface="Avenir Next LT Pro" panose="020B0504020202020204" pitchFamily="34" charset="0"/>
              </a:rPr>
              <a:t>telah</a:t>
            </a:r>
            <a:r>
              <a:rPr lang="en-US" sz="1900" dirty="0">
                <a:latin typeface="Avenir Next LT Pro" panose="020B0504020202020204" pitchFamily="34" charset="0"/>
              </a:rPr>
              <a:t> </a:t>
            </a:r>
            <a:r>
              <a:rPr lang="en-US" sz="1900" dirty="0" err="1">
                <a:latin typeface="Avenir Next LT Pro" panose="020B0504020202020204" pitchFamily="34" charset="0"/>
              </a:rPr>
              <a:t>memahami</a:t>
            </a:r>
            <a:r>
              <a:rPr lang="en-US" sz="1900" dirty="0">
                <a:latin typeface="Avenir Next LT Pro" panose="020B0504020202020204" pitchFamily="34" charset="0"/>
              </a:rPr>
              <a:t> </a:t>
            </a:r>
            <a:r>
              <a:rPr lang="en-US" sz="1900" dirty="0" err="1">
                <a:latin typeface="Avenir Next LT Pro" panose="020B0504020202020204" pitchFamily="34" charset="0"/>
              </a:rPr>
              <a:t>karakeristik</a:t>
            </a:r>
            <a:r>
              <a:rPr lang="en-US" sz="1900" dirty="0">
                <a:latin typeface="Avenir Next LT Pro" panose="020B0504020202020204" pitchFamily="34" charset="0"/>
              </a:rPr>
              <a:t> </a:t>
            </a:r>
            <a:r>
              <a:rPr lang="en-US" sz="1900" dirty="0" err="1">
                <a:latin typeface="Avenir Next LT Pro" panose="020B0504020202020204" pitchFamily="34" charset="0"/>
              </a:rPr>
              <a:t>lapangan</a:t>
            </a:r>
            <a:r>
              <a:rPr lang="en-US" sz="1900" dirty="0">
                <a:latin typeface="Avenir Next LT Pro" panose="020B0504020202020204" pitchFamily="34" charset="0"/>
              </a:rPr>
              <a:t>, </a:t>
            </a:r>
            <a:r>
              <a:rPr lang="en-US" sz="1900" dirty="0" err="1">
                <a:latin typeface="Avenir Next LT Pro" panose="020B0504020202020204" pitchFamily="34" charset="0"/>
              </a:rPr>
              <a:t>melakukan</a:t>
            </a:r>
            <a:r>
              <a:rPr lang="en-US" sz="1900" dirty="0">
                <a:latin typeface="Avenir Next LT Pro" panose="020B0504020202020204" pitchFamily="34" charset="0"/>
              </a:rPr>
              <a:t> </a:t>
            </a:r>
            <a:r>
              <a:rPr lang="en-US" sz="1900" dirty="0" err="1">
                <a:latin typeface="Avenir Next LT Pro" panose="020B0504020202020204" pitchFamily="34" charset="0"/>
              </a:rPr>
              <a:t>efisiensi</a:t>
            </a:r>
            <a:r>
              <a:rPr lang="en-US" sz="1900" dirty="0">
                <a:latin typeface="Avenir Next LT Pro" panose="020B0504020202020204" pitchFamily="34" charset="0"/>
              </a:rPr>
              <a:t> </a:t>
            </a:r>
            <a:r>
              <a:rPr lang="en-US" sz="1900" dirty="0" err="1">
                <a:latin typeface="Avenir Next LT Pro" panose="020B0504020202020204" pitchFamily="34" charset="0"/>
              </a:rPr>
              <a:t>terhadap</a:t>
            </a:r>
            <a:r>
              <a:rPr lang="en-US" sz="1900" dirty="0">
                <a:latin typeface="Avenir Next LT Pro" panose="020B0504020202020204" pitchFamily="34" charset="0"/>
              </a:rPr>
              <a:t> </a:t>
            </a:r>
            <a:r>
              <a:rPr lang="en-US" sz="1900" dirty="0" err="1">
                <a:latin typeface="Avenir Next LT Pro" panose="020B0504020202020204" pitchFamily="34" charset="0"/>
              </a:rPr>
              <a:t>biaya</a:t>
            </a:r>
            <a:r>
              <a:rPr lang="en-US" sz="1900" dirty="0">
                <a:latin typeface="Avenir Next LT Pro" panose="020B0504020202020204" pitchFamily="34" charset="0"/>
              </a:rPr>
              <a:t> </a:t>
            </a:r>
            <a:r>
              <a:rPr lang="en-US" sz="1900" i="1" dirty="0">
                <a:latin typeface="Avenir Next LT Pro" panose="020B0504020202020204" pitchFamily="34" charset="0"/>
              </a:rPr>
              <a:t>services</a:t>
            </a:r>
            <a:r>
              <a:rPr lang="en-US" sz="1900" dirty="0">
                <a:latin typeface="Avenir Next LT Pro" panose="020B0504020202020204" pitchFamily="34" charset="0"/>
              </a:rPr>
              <a:t> yang </a:t>
            </a:r>
            <a:r>
              <a:rPr lang="en-US" sz="1900" dirty="0" err="1">
                <a:latin typeface="Avenir Next LT Pro" panose="020B0504020202020204" pitchFamily="34" charset="0"/>
              </a:rPr>
              <a:t>tidak</a:t>
            </a:r>
            <a:r>
              <a:rPr lang="en-US" sz="1900" dirty="0">
                <a:latin typeface="Avenir Next LT Pro" panose="020B0504020202020204" pitchFamily="34" charset="0"/>
              </a:rPr>
              <a:t> </a:t>
            </a:r>
            <a:r>
              <a:rPr lang="en-US" sz="1900" dirty="0" err="1">
                <a:latin typeface="Avenir Next LT Pro" panose="020B0504020202020204" pitchFamily="34" charset="0"/>
              </a:rPr>
              <a:t>diperlukan</a:t>
            </a:r>
            <a:r>
              <a:rPr lang="en-US" sz="1900" dirty="0">
                <a:latin typeface="Avenir Next LT Pro" panose="020B0504020202020204" pitchFamily="34" charset="0"/>
              </a:rPr>
              <a:t>.</a:t>
            </a:r>
          </a:p>
        </p:txBody>
      </p:sp>
      <p:sp>
        <p:nvSpPr>
          <p:cNvPr id="5" name="Rounded Rectangle 18">
            <a:extLst>
              <a:ext uri="{FF2B5EF4-FFF2-40B4-BE49-F238E27FC236}">
                <a16:creationId xmlns:a16="http://schemas.microsoft.com/office/drawing/2014/main" id="{7A562F0B-CB79-4F54-A8EF-AE575D88B6F8}"/>
              </a:ext>
            </a:extLst>
          </p:cNvPr>
          <p:cNvSpPr/>
          <p:nvPr/>
        </p:nvSpPr>
        <p:spPr>
          <a:xfrm>
            <a:off x="860338" y="949325"/>
            <a:ext cx="1639022" cy="3463188"/>
          </a:xfrm>
          <a:prstGeom prst="roundRect">
            <a:avLst/>
          </a:prstGeom>
          <a:noFill/>
          <a:ln w="50800" cmpd="sng">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BDB7AC5C-E59D-4633-9CE2-FDB7D7819DC0}"/>
              </a:ext>
            </a:extLst>
          </p:cNvPr>
          <p:cNvGraphicFramePr>
            <a:graphicFrameLocks noGrp="1"/>
          </p:cNvGraphicFramePr>
          <p:nvPr/>
        </p:nvGraphicFramePr>
        <p:xfrm>
          <a:off x="3230879" y="2301240"/>
          <a:ext cx="2933701" cy="960120"/>
        </p:xfrm>
        <a:graphic>
          <a:graphicData uri="http://schemas.openxmlformats.org/drawingml/2006/table">
            <a:tbl>
              <a:tblPr firstRow="1" bandRow="1">
                <a:tableStyleId>{5940675A-B579-460E-94D1-54222C63F5DA}</a:tableStyleId>
              </a:tblPr>
              <a:tblGrid>
                <a:gridCol w="1721327">
                  <a:extLst>
                    <a:ext uri="{9D8B030D-6E8A-4147-A177-3AD203B41FA5}">
                      <a16:colId xmlns:a16="http://schemas.microsoft.com/office/drawing/2014/main" val="20000"/>
                    </a:ext>
                  </a:extLst>
                </a:gridCol>
                <a:gridCol w="747275">
                  <a:extLst>
                    <a:ext uri="{9D8B030D-6E8A-4147-A177-3AD203B41FA5}">
                      <a16:colId xmlns:a16="http://schemas.microsoft.com/office/drawing/2014/main" val="20001"/>
                    </a:ext>
                  </a:extLst>
                </a:gridCol>
                <a:gridCol w="465099">
                  <a:extLst>
                    <a:ext uri="{9D8B030D-6E8A-4147-A177-3AD203B41FA5}">
                      <a16:colId xmlns:a16="http://schemas.microsoft.com/office/drawing/2014/main" val="20002"/>
                    </a:ext>
                  </a:extLst>
                </a:gridCol>
              </a:tblGrid>
              <a:tr h="254000">
                <a:tc>
                  <a:txBody>
                    <a:bodyPr/>
                    <a:lstStyle/>
                    <a:p>
                      <a:pPr algn="ctr"/>
                      <a:r>
                        <a:rPr lang="en-US" sz="1500" b="1" dirty="0">
                          <a:latin typeface="Avenir Next LT Pro" panose="020B0504020202020204" pitchFamily="34" charset="0"/>
                        </a:rPr>
                        <a:t>Cost (USD/m)</a:t>
                      </a:r>
                    </a:p>
                  </a:txBody>
                  <a:tcPr>
                    <a:solidFill>
                      <a:schemeClr val="bg1">
                        <a:lumMod val="95000"/>
                      </a:schemeClr>
                    </a:solidFill>
                  </a:tcPr>
                </a:tc>
                <a:tc>
                  <a:txBody>
                    <a:bodyPr/>
                    <a:lstStyle/>
                    <a:p>
                      <a:pPr algn="ctr"/>
                      <a:r>
                        <a:rPr lang="en-US" sz="1500" b="1" dirty="0">
                          <a:latin typeface="Avenir Next LT Pro" panose="020B0504020202020204" pitchFamily="34" charset="0"/>
                        </a:rPr>
                        <a:t>Freq.</a:t>
                      </a:r>
                    </a:p>
                  </a:txBody>
                  <a:tcPr>
                    <a:solidFill>
                      <a:schemeClr val="bg1">
                        <a:lumMod val="95000"/>
                      </a:schemeClr>
                    </a:solidFill>
                  </a:tcPr>
                </a:tc>
                <a:tc>
                  <a:txBody>
                    <a:bodyPr/>
                    <a:lstStyle/>
                    <a:p>
                      <a:pPr algn="ctr"/>
                      <a:r>
                        <a:rPr lang="en-US" sz="1500" b="1" dirty="0">
                          <a:latin typeface="Avenir Next LT Pro" panose="020B0504020202020204" pitchFamily="34" charset="0"/>
                        </a:rPr>
                        <a:t>%</a:t>
                      </a:r>
                    </a:p>
                  </a:txBody>
                  <a:tcPr>
                    <a:solidFill>
                      <a:schemeClr val="bg1">
                        <a:lumMod val="95000"/>
                      </a:schemeClr>
                    </a:solidFill>
                  </a:tcPr>
                </a:tc>
                <a:extLst>
                  <a:ext uri="{0D108BD9-81ED-4DB2-BD59-A6C34878D82A}">
                    <a16:rowId xmlns:a16="http://schemas.microsoft.com/office/drawing/2014/main" val="10000"/>
                  </a:ext>
                </a:extLst>
              </a:tr>
              <a:tr h="254000">
                <a:tc>
                  <a:txBody>
                    <a:bodyPr/>
                    <a:lstStyle/>
                    <a:p>
                      <a:r>
                        <a:rPr lang="en-US" sz="1500" dirty="0">
                          <a:latin typeface="Avenir Next LT Pro" panose="020B0504020202020204" pitchFamily="34" charset="0"/>
                        </a:rPr>
                        <a:t>1000-3200</a:t>
                      </a:r>
                    </a:p>
                  </a:txBody>
                  <a:tcPr>
                    <a:solidFill>
                      <a:schemeClr val="bg1"/>
                    </a:solidFill>
                  </a:tcPr>
                </a:tc>
                <a:tc>
                  <a:txBody>
                    <a:bodyPr/>
                    <a:lstStyle/>
                    <a:p>
                      <a:pPr algn="ctr"/>
                      <a:r>
                        <a:rPr lang="en-US" sz="1500" dirty="0">
                          <a:latin typeface="Avenir Next LT Pro" panose="020B0504020202020204" pitchFamily="34" charset="0"/>
                        </a:rPr>
                        <a:t>151</a:t>
                      </a:r>
                    </a:p>
                  </a:txBody>
                  <a:tcPr>
                    <a:solidFill>
                      <a:schemeClr val="bg1"/>
                    </a:solidFill>
                  </a:tcPr>
                </a:tc>
                <a:tc>
                  <a:txBody>
                    <a:bodyPr/>
                    <a:lstStyle/>
                    <a:p>
                      <a:pPr algn="ctr"/>
                      <a:r>
                        <a:rPr lang="en-US" sz="1500" dirty="0">
                          <a:latin typeface="Avenir Next LT Pro" panose="020B0504020202020204" pitchFamily="34" charset="0"/>
                        </a:rPr>
                        <a:t>62</a:t>
                      </a:r>
                    </a:p>
                  </a:txBody>
                  <a:tcPr>
                    <a:solidFill>
                      <a:schemeClr val="bg1"/>
                    </a:solidFill>
                  </a:tcPr>
                </a:tc>
                <a:extLst>
                  <a:ext uri="{0D108BD9-81ED-4DB2-BD59-A6C34878D82A}">
                    <a16:rowId xmlns:a16="http://schemas.microsoft.com/office/drawing/2014/main" val="10001"/>
                  </a:ext>
                </a:extLst>
              </a:tr>
              <a:tr h="254000">
                <a:tc>
                  <a:txBody>
                    <a:bodyPr/>
                    <a:lstStyle/>
                    <a:p>
                      <a:r>
                        <a:rPr lang="en-US" sz="1500" dirty="0">
                          <a:latin typeface="Avenir Next LT Pro" panose="020B0504020202020204" pitchFamily="34" charset="0"/>
                        </a:rPr>
                        <a:t>3201-5500</a:t>
                      </a:r>
                    </a:p>
                  </a:txBody>
                  <a:tcPr>
                    <a:solidFill>
                      <a:schemeClr val="bg1"/>
                    </a:solidFill>
                  </a:tcPr>
                </a:tc>
                <a:tc>
                  <a:txBody>
                    <a:bodyPr/>
                    <a:lstStyle/>
                    <a:p>
                      <a:pPr algn="ctr"/>
                      <a:r>
                        <a:rPr lang="en-US" sz="1500" dirty="0">
                          <a:latin typeface="Avenir Next LT Pro" panose="020B0504020202020204" pitchFamily="34" charset="0"/>
                        </a:rPr>
                        <a:t>66</a:t>
                      </a:r>
                    </a:p>
                  </a:txBody>
                  <a:tcPr>
                    <a:solidFill>
                      <a:schemeClr val="bg1"/>
                    </a:solidFill>
                  </a:tcPr>
                </a:tc>
                <a:tc>
                  <a:txBody>
                    <a:bodyPr/>
                    <a:lstStyle/>
                    <a:p>
                      <a:pPr algn="ctr"/>
                      <a:r>
                        <a:rPr lang="en-US" sz="1500" dirty="0">
                          <a:latin typeface="Avenir Next LT Pro" panose="020B0504020202020204" pitchFamily="34" charset="0"/>
                        </a:rPr>
                        <a:t>27</a:t>
                      </a:r>
                    </a:p>
                  </a:txBody>
                  <a:tcPr>
                    <a:solidFill>
                      <a:schemeClr val="bg1"/>
                    </a:solidFill>
                  </a:tcPr>
                </a:tc>
                <a:extLst>
                  <a:ext uri="{0D108BD9-81ED-4DB2-BD59-A6C34878D82A}">
                    <a16:rowId xmlns:a16="http://schemas.microsoft.com/office/drawing/2014/main" val="10002"/>
                  </a:ext>
                </a:extLst>
              </a:tr>
            </a:tbl>
          </a:graphicData>
        </a:graphic>
      </p:graphicFrame>
      <p:sp>
        <p:nvSpPr>
          <p:cNvPr id="8" name="Down Arrow 21">
            <a:extLst>
              <a:ext uri="{FF2B5EF4-FFF2-40B4-BE49-F238E27FC236}">
                <a16:creationId xmlns:a16="http://schemas.microsoft.com/office/drawing/2014/main" id="{64ED941E-2C67-42ED-901C-9286A8AD2C1E}"/>
              </a:ext>
            </a:extLst>
          </p:cNvPr>
          <p:cNvSpPr/>
          <p:nvPr/>
        </p:nvSpPr>
        <p:spPr>
          <a:xfrm>
            <a:off x="5868989" y="1370891"/>
            <a:ext cx="228600" cy="762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3962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6F8528-A491-47B8-9594-2552F9CA0A9B}"/>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STATUS BIAYA PENGEBORAN PANAS BUMI (2018-2021)</a:t>
            </a:r>
          </a:p>
          <a:p>
            <a:pPr marL="0" marR="0" lvl="0" indent="0" defTabSz="914400" rtl="0" eaLnBrk="1" fontAlgn="auto" latinLnBrk="0" hangingPunct="1">
              <a:lnSpc>
                <a:spcPct val="100000"/>
              </a:lnSpc>
              <a:spcBef>
                <a:spcPts val="0"/>
              </a:spcBef>
              <a:spcAft>
                <a:spcPts val="0"/>
              </a:spcAft>
              <a:buClrTx/>
              <a:buSzTx/>
              <a:buFontTx/>
              <a:buNone/>
              <a:tabLst/>
              <a:defRPr/>
            </a:pPr>
            <a:r>
              <a:rPr lang="fi-FI" i="1" dirty="0">
                <a:solidFill>
                  <a:prstClr val="white"/>
                </a:solidFill>
                <a:latin typeface="Avenir Next LT Pro" panose="020B0504020202020204" pitchFamily="34" charset="0"/>
                <a:cs typeface="Arial" panose="020B0604020202020204" pitchFamily="34" charset="0"/>
              </a:rPr>
              <a:t>Country comparison</a:t>
            </a:r>
            <a:endParaRPr kumimoji="0" lang="en-US" b="0" i="1"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endParaRPr>
          </a:p>
        </p:txBody>
      </p:sp>
      <p:graphicFrame>
        <p:nvGraphicFramePr>
          <p:cNvPr id="4" name="Chart 3">
            <a:extLst>
              <a:ext uri="{FF2B5EF4-FFF2-40B4-BE49-F238E27FC236}">
                <a16:creationId xmlns:a16="http://schemas.microsoft.com/office/drawing/2014/main" id="{F9589844-58D5-4A50-A5A5-757B5094A948}"/>
              </a:ext>
            </a:extLst>
          </p:cNvPr>
          <p:cNvGraphicFramePr>
            <a:graphicFrameLocks/>
          </p:cNvGraphicFramePr>
          <p:nvPr>
            <p:extLst>
              <p:ext uri="{D42A27DB-BD31-4B8C-83A1-F6EECF244321}">
                <p14:modId xmlns:p14="http://schemas.microsoft.com/office/powerpoint/2010/main" val="869648494"/>
              </p:ext>
            </p:extLst>
          </p:nvPr>
        </p:nvGraphicFramePr>
        <p:xfrm>
          <a:off x="180754" y="1302929"/>
          <a:ext cx="6864017" cy="4986670"/>
        </p:xfrm>
        <a:graphic>
          <a:graphicData uri="http://schemas.openxmlformats.org/drawingml/2006/chart">
            <c:chart xmlns:c="http://schemas.openxmlformats.org/drawingml/2006/chart" xmlns:r="http://schemas.openxmlformats.org/officeDocument/2006/relationships" r:id="rId2"/>
          </a:graphicData>
        </a:graphic>
      </p:graphicFrame>
      <p:sp>
        <p:nvSpPr>
          <p:cNvPr id="6" name="Content Placeholder 2">
            <a:extLst>
              <a:ext uri="{FF2B5EF4-FFF2-40B4-BE49-F238E27FC236}">
                <a16:creationId xmlns:a16="http://schemas.microsoft.com/office/drawing/2014/main" id="{5E14F55B-4D26-49CD-AF62-9F3C389E42EA}"/>
              </a:ext>
            </a:extLst>
          </p:cNvPr>
          <p:cNvSpPr txBox="1">
            <a:spLocks/>
          </p:cNvSpPr>
          <p:nvPr/>
        </p:nvSpPr>
        <p:spPr>
          <a:xfrm>
            <a:off x="7378996" y="1441597"/>
            <a:ext cx="4468318" cy="2173915"/>
          </a:xfrm>
          <a:prstGeom prst="rect">
            <a:avLst/>
          </a:prstGeom>
          <a:solidFill>
            <a:schemeClr val="bg1">
              <a:lumMod val="95000"/>
            </a:schemeClr>
          </a:solidFill>
        </p:spPr>
        <p:txBody>
          <a:bodyPr>
            <a:noAutofit/>
          </a:bodyPr>
          <a:lstStyle/>
          <a:p>
            <a:pPr marL="277813" lvl="0" indent="-277813">
              <a:spcBef>
                <a:spcPts val="600"/>
              </a:spcBef>
              <a:defRPr/>
            </a:pPr>
            <a:r>
              <a:rPr kumimoji="0" lang="en-US" b="1" i="1" u="none" strike="noStrike" kern="1200" cap="none" spc="0" normalizeH="0" baseline="0" noProof="0" dirty="0">
                <a:ln>
                  <a:noFill/>
                </a:ln>
                <a:effectLst/>
                <a:uLnTx/>
                <a:uFillTx/>
                <a:latin typeface="Avenir Next LT Pro" panose="020B0504020202020204" pitchFamily="34" charset="0"/>
              </a:rPr>
              <a:t>Highlight</a:t>
            </a:r>
            <a:r>
              <a:rPr kumimoji="0" lang="en-US" b="1" i="0" u="none" strike="noStrike" kern="1200" cap="none" spc="0" normalizeH="0" baseline="0" noProof="0" dirty="0">
                <a:ln>
                  <a:noFill/>
                </a:ln>
                <a:effectLst/>
                <a:uLnTx/>
                <a:uFillTx/>
                <a:latin typeface="Avenir Next LT Pro" panose="020B0504020202020204" pitchFamily="34" charset="0"/>
              </a:rPr>
              <a:t> </a:t>
            </a:r>
            <a:r>
              <a:rPr kumimoji="0" lang="en-US" b="1" i="0" u="none" strike="noStrike" kern="1200" cap="none" spc="0" normalizeH="0" baseline="0" noProof="0" dirty="0" err="1">
                <a:ln>
                  <a:noFill/>
                </a:ln>
                <a:effectLst/>
                <a:uLnTx/>
                <a:uFillTx/>
                <a:latin typeface="Avenir Next LT Pro" panose="020B0504020202020204" pitchFamily="34" charset="0"/>
              </a:rPr>
              <a:t>pengeboran</a:t>
            </a:r>
            <a:r>
              <a:rPr kumimoji="0" lang="en-US" b="1" i="0" u="none" strike="noStrike" kern="1200" cap="none" spc="0" normalizeH="0" baseline="0" noProof="0" dirty="0">
                <a:ln>
                  <a:noFill/>
                </a:ln>
                <a:effectLst/>
                <a:uLnTx/>
                <a:uFillTx/>
                <a:latin typeface="Avenir Next LT Pro" panose="020B0504020202020204" pitchFamily="34" charset="0"/>
              </a:rPr>
              <a:t> </a:t>
            </a:r>
            <a:r>
              <a:rPr kumimoji="0" lang="en-US" b="1" i="0" u="none" strike="noStrike" kern="1200" cap="none" spc="0" normalizeH="0" baseline="0" noProof="0" dirty="0" err="1">
                <a:ln>
                  <a:noFill/>
                </a:ln>
                <a:effectLst/>
                <a:uLnTx/>
                <a:uFillTx/>
                <a:latin typeface="Avenir Next LT Pro" panose="020B0504020202020204" pitchFamily="34" charset="0"/>
              </a:rPr>
              <a:t>di</a:t>
            </a:r>
            <a:r>
              <a:rPr kumimoji="0" lang="en-US" b="1" i="0" u="none" strike="noStrike" kern="1200" cap="none" spc="0" normalizeH="0" baseline="0" noProof="0" dirty="0">
                <a:ln>
                  <a:noFill/>
                </a:ln>
                <a:effectLst/>
                <a:uLnTx/>
                <a:uFillTx/>
                <a:latin typeface="Avenir Next LT Pro" panose="020B0504020202020204" pitchFamily="34" charset="0"/>
              </a:rPr>
              <a:t> Indonesia</a:t>
            </a:r>
          </a:p>
          <a:p>
            <a:pPr marL="284163" lvl="1" indent="-284163">
              <a:spcBef>
                <a:spcPts val="600"/>
              </a:spcBef>
              <a:buFont typeface="Wingdings" pitchFamily="2" charset="2"/>
              <a:buChar char="§"/>
              <a:defRPr/>
            </a:pPr>
            <a:r>
              <a:rPr lang="en-US" dirty="0" err="1">
                <a:latin typeface="Avenir Next LT Pro" panose="020B0504020202020204" pitchFamily="34" charset="0"/>
              </a:rPr>
              <a:t>Biaya</a:t>
            </a:r>
            <a:r>
              <a:rPr lang="en-US" dirty="0">
                <a:latin typeface="Avenir Next LT Pro" panose="020B0504020202020204" pitchFamily="34" charset="0"/>
              </a:rPr>
              <a:t> </a:t>
            </a:r>
            <a:r>
              <a:rPr lang="en-US" dirty="0" err="1">
                <a:latin typeface="Avenir Next LT Pro" panose="020B0504020202020204" pitchFamily="34" charset="0"/>
              </a:rPr>
              <a:t>mobilisasi</a:t>
            </a:r>
            <a:r>
              <a:rPr lang="en-US" dirty="0">
                <a:latin typeface="Avenir Next LT Pro" panose="020B0504020202020204" pitchFamily="34" charset="0"/>
              </a:rPr>
              <a:t> </a:t>
            </a:r>
            <a:r>
              <a:rPr lang="en-US" dirty="0" err="1">
                <a:latin typeface="Avenir Next LT Pro" panose="020B0504020202020204" pitchFamily="34" charset="0"/>
              </a:rPr>
              <a:t>dari</a:t>
            </a:r>
            <a:r>
              <a:rPr lang="en-US" dirty="0">
                <a:latin typeface="Avenir Next LT Pro" panose="020B0504020202020204" pitchFamily="34" charset="0"/>
              </a:rPr>
              <a:t> yard rig </a:t>
            </a:r>
            <a:r>
              <a:rPr lang="en-US" dirty="0" err="1">
                <a:latin typeface="Avenir Next LT Pro" panose="020B0504020202020204" pitchFamily="34" charset="0"/>
              </a:rPr>
              <a:t>hingga</a:t>
            </a:r>
            <a:r>
              <a:rPr lang="en-US" dirty="0">
                <a:latin typeface="Avenir Next LT Pro" panose="020B0504020202020204" pitchFamily="34" charset="0"/>
              </a:rPr>
              <a:t> </a:t>
            </a:r>
            <a:r>
              <a:rPr lang="en-US" dirty="0" err="1">
                <a:latin typeface="Avenir Next LT Pro" panose="020B0504020202020204" pitchFamily="34" charset="0"/>
              </a:rPr>
              <a:t>ke</a:t>
            </a:r>
            <a:r>
              <a:rPr lang="en-US" dirty="0">
                <a:latin typeface="Avenir Next LT Pro" panose="020B0504020202020204" pitchFamily="34" charset="0"/>
              </a:rPr>
              <a:t> </a:t>
            </a:r>
            <a:r>
              <a:rPr lang="en-US" dirty="0" err="1">
                <a:latin typeface="Avenir Next LT Pro" panose="020B0504020202020204" pitchFamily="34" charset="0"/>
              </a:rPr>
              <a:t>lokasi</a:t>
            </a:r>
            <a:r>
              <a:rPr lang="en-US" dirty="0">
                <a:latin typeface="Avenir Next LT Pro" panose="020B0504020202020204" pitchFamily="34" charset="0"/>
              </a:rPr>
              <a:t> yang </a:t>
            </a:r>
            <a:r>
              <a:rPr lang="en-US" i="1" dirty="0">
                <a:latin typeface="Avenir Next LT Pro" panose="020B0504020202020204" pitchFamily="34" charset="0"/>
              </a:rPr>
              <a:t>remote</a:t>
            </a:r>
            <a:r>
              <a:rPr lang="en-US" dirty="0">
                <a:latin typeface="Avenir Next LT Pro" panose="020B0504020202020204" pitchFamily="34" charset="0"/>
              </a:rPr>
              <a:t> (</a:t>
            </a:r>
            <a:r>
              <a:rPr lang="en-US" dirty="0" err="1">
                <a:latin typeface="Avenir Next LT Pro" panose="020B0504020202020204" pitchFamily="34" charset="0"/>
              </a:rPr>
              <a:t>jarak</a:t>
            </a:r>
            <a:r>
              <a:rPr lang="en-US" dirty="0">
                <a:latin typeface="Avenir Next LT Pro" panose="020B0504020202020204" pitchFamily="34" charset="0"/>
              </a:rPr>
              <a:t>, </a:t>
            </a:r>
            <a:r>
              <a:rPr lang="en-US" dirty="0" err="1">
                <a:latin typeface="Avenir Next LT Pro" panose="020B0504020202020204" pitchFamily="34" charset="0"/>
              </a:rPr>
              <a:t>pengadaan</a:t>
            </a:r>
            <a:r>
              <a:rPr lang="en-US" dirty="0">
                <a:latin typeface="Avenir Next LT Pro" panose="020B0504020202020204" pitchFamily="34" charset="0"/>
              </a:rPr>
              <a:t> </a:t>
            </a:r>
            <a:r>
              <a:rPr lang="en-US" dirty="0" err="1">
                <a:latin typeface="Avenir Next LT Pro" panose="020B0504020202020204" pitchFamily="34" charset="0"/>
              </a:rPr>
              <a:t>alat</a:t>
            </a:r>
            <a:r>
              <a:rPr lang="en-US" dirty="0">
                <a:latin typeface="Avenir Next LT Pro" panose="020B0504020202020204" pitchFamily="34" charset="0"/>
              </a:rPr>
              <a:t> </a:t>
            </a:r>
            <a:r>
              <a:rPr lang="en-US" dirty="0" err="1">
                <a:latin typeface="Avenir Next LT Pro" panose="020B0504020202020204" pitchFamily="34" charset="0"/>
              </a:rPr>
              <a:t>angkat</a:t>
            </a:r>
            <a:r>
              <a:rPr lang="en-US" dirty="0">
                <a:latin typeface="Avenir Next LT Pro" panose="020B0504020202020204" pitchFamily="34" charset="0"/>
              </a:rPr>
              <a:t> </a:t>
            </a:r>
            <a:r>
              <a:rPr lang="en-US" dirty="0" err="1">
                <a:latin typeface="Avenir Next LT Pro" panose="020B0504020202020204" pitchFamily="34" charset="0"/>
              </a:rPr>
              <a:t>tambahan</a:t>
            </a:r>
            <a:r>
              <a:rPr lang="en-US" dirty="0">
                <a:latin typeface="Avenir Next LT Pro" panose="020B0504020202020204" pitchFamily="34" charset="0"/>
              </a:rPr>
              <a:t>).</a:t>
            </a:r>
          </a:p>
          <a:p>
            <a:pPr marL="284163" lvl="1" indent="-284163">
              <a:spcBef>
                <a:spcPts val="600"/>
              </a:spcBef>
              <a:buFont typeface="Wingdings" pitchFamily="2" charset="2"/>
              <a:buChar char="§"/>
              <a:defRPr/>
            </a:pPr>
            <a:r>
              <a:rPr lang="en-US" i="1" dirty="0">
                <a:latin typeface="Avenir Next LT Pro" panose="020B0504020202020204" pitchFamily="34" charset="0"/>
              </a:rPr>
              <a:t>Geological setting </a:t>
            </a:r>
            <a:r>
              <a:rPr lang="en-US" dirty="0" err="1">
                <a:latin typeface="Avenir Next LT Pro" panose="020B0504020202020204" pitchFamily="34" charset="0"/>
              </a:rPr>
              <a:t>pegunungan</a:t>
            </a:r>
            <a:r>
              <a:rPr lang="en-US" dirty="0">
                <a:latin typeface="Avenir Next LT Pro" panose="020B0504020202020204" pitchFamily="34" charset="0"/>
              </a:rPr>
              <a:t>.</a:t>
            </a:r>
          </a:p>
          <a:p>
            <a:pPr marL="284163" lvl="1" indent="-284163">
              <a:spcBef>
                <a:spcPts val="600"/>
              </a:spcBef>
              <a:buFont typeface="Wingdings" pitchFamily="2" charset="2"/>
              <a:buChar char="§"/>
              <a:defRPr/>
            </a:pPr>
            <a:r>
              <a:rPr lang="en-US" dirty="0" err="1">
                <a:latin typeface="Avenir Next LT Pro" panose="020B0504020202020204" pitchFamily="34" charset="0"/>
              </a:rPr>
              <a:t>Pada</a:t>
            </a:r>
            <a:r>
              <a:rPr lang="en-US" dirty="0">
                <a:latin typeface="Avenir Next LT Pro" panose="020B0504020202020204" pitchFamily="34" charset="0"/>
              </a:rPr>
              <a:t> </a:t>
            </a:r>
            <a:r>
              <a:rPr lang="en-US" dirty="0" err="1">
                <a:latin typeface="Avenir Next LT Pro" panose="020B0504020202020204" pitchFamily="34" charset="0"/>
              </a:rPr>
              <a:t>umumnya</a:t>
            </a:r>
            <a:r>
              <a:rPr lang="en-US" dirty="0">
                <a:latin typeface="Avenir Next LT Pro" panose="020B0504020202020204" pitchFamily="34" charset="0"/>
              </a:rPr>
              <a:t> </a:t>
            </a:r>
            <a:r>
              <a:rPr lang="en-US" dirty="0" err="1">
                <a:latin typeface="Avenir Next LT Pro" panose="020B0504020202020204" pitchFamily="34" charset="0"/>
              </a:rPr>
              <a:t>menggunakan</a:t>
            </a:r>
            <a:r>
              <a:rPr lang="en-US" dirty="0">
                <a:latin typeface="Avenir Next LT Pro" panose="020B0504020202020204" pitchFamily="34" charset="0"/>
              </a:rPr>
              <a:t> </a:t>
            </a:r>
            <a:r>
              <a:rPr lang="en-US" dirty="0" err="1">
                <a:latin typeface="Avenir Next LT Pro" panose="020B0504020202020204" pitchFamily="34" charset="0"/>
              </a:rPr>
              <a:t>perjanjian</a:t>
            </a:r>
            <a:r>
              <a:rPr lang="en-US" dirty="0">
                <a:latin typeface="Avenir Next LT Pro" panose="020B0504020202020204" pitchFamily="34" charset="0"/>
              </a:rPr>
              <a:t> </a:t>
            </a:r>
            <a:r>
              <a:rPr lang="en-US" dirty="0" err="1">
                <a:latin typeface="Avenir Next LT Pro" panose="020B0504020202020204" pitchFamily="34" charset="0"/>
              </a:rPr>
              <a:t>kontraktual</a:t>
            </a:r>
            <a:r>
              <a:rPr lang="en-US" dirty="0">
                <a:latin typeface="Avenir Next LT Pro" panose="020B0504020202020204" pitchFamily="34" charset="0"/>
              </a:rPr>
              <a:t> </a:t>
            </a:r>
            <a:r>
              <a:rPr lang="en-US" dirty="0" err="1">
                <a:latin typeface="Avenir Next LT Pro" panose="020B0504020202020204" pitchFamily="34" charset="0"/>
              </a:rPr>
              <a:t>konvensional</a:t>
            </a:r>
            <a:r>
              <a:rPr lang="en-US" i="1" dirty="0">
                <a:latin typeface="Avenir Next LT Pro" panose="020B0504020202020204" pitchFamily="34" charset="0"/>
              </a:rPr>
              <a:t> (daily rate</a:t>
            </a:r>
            <a:r>
              <a:rPr lang="en-US" dirty="0">
                <a:latin typeface="Avenir Next LT Pro" panose="020B0504020202020204" pitchFamily="34" charset="0"/>
              </a:rPr>
              <a:t>).</a:t>
            </a:r>
          </a:p>
        </p:txBody>
      </p:sp>
    </p:spTree>
    <p:extLst>
      <p:ext uri="{BB962C8B-B14F-4D97-AF65-F5344CB8AC3E}">
        <p14:creationId xmlns:p14="http://schemas.microsoft.com/office/powerpoint/2010/main" val="4263828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641F2C-2D7F-4ACF-8122-E3C767F57022}"/>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STATUS BIAYA PENGEBORAN PANAS BUMI (2021)</a:t>
            </a:r>
          </a:p>
          <a:p>
            <a:pPr marL="0" marR="0" lvl="0" indent="0" defTabSz="914400" rtl="0" eaLnBrk="1" fontAlgn="auto" latinLnBrk="0" hangingPunct="1">
              <a:lnSpc>
                <a:spcPct val="100000"/>
              </a:lnSpc>
              <a:spcBef>
                <a:spcPts val="0"/>
              </a:spcBef>
              <a:spcAft>
                <a:spcPts val="0"/>
              </a:spcAft>
              <a:buClrTx/>
              <a:buSzTx/>
              <a:buFontTx/>
              <a:buNone/>
              <a:tabLst/>
              <a:defRPr/>
            </a:pPr>
            <a:r>
              <a:rPr lang="fi-FI" i="1" dirty="0">
                <a:solidFill>
                  <a:prstClr val="white"/>
                </a:solidFill>
                <a:latin typeface="Avenir Next LT Pro" panose="020B0504020202020204" pitchFamily="34" charset="0"/>
                <a:cs typeface="Arial" panose="020B0604020202020204" pitchFamily="34" charset="0"/>
              </a:rPr>
              <a:t>Regional comparison</a:t>
            </a:r>
            <a:endParaRPr kumimoji="0" lang="en-US" b="0" i="1"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endParaRPr>
          </a:p>
        </p:txBody>
      </p:sp>
      <p:sp>
        <p:nvSpPr>
          <p:cNvPr id="4" name="Content Placeholder 2">
            <a:extLst>
              <a:ext uri="{FF2B5EF4-FFF2-40B4-BE49-F238E27FC236}">
                <a16:creationId xmlns:a16="http://schemas.microsoft.com/office/drawing/2014/main" id="{4865563C-7F82-417C-BA13-32DF7473047F}"/>
              </a:ext>
            </a:extLst>
          </p:cNvPr>
          <p:cNvSpPr txBox="1">
            <a:spLocks/>
          </p:cNvSpPr>
          <p:nvPr/>
        </p:nvSpPr>
        <p:spPr>
          <a:xfrm>
            <a:off x="6094412" y="761999"/>
            <a:ext cx="5947314" cy="5778285"/>
          </a:xfrm>
          <a:prstGeom prst="rect">
            <a:avLst/>
          </a:prstGeom>
          <a:solidFill>
            <a:schemeClr val="bg1">
              <a:lumMod val="95000"/>
            </a:schemeClr>
          </a:solidFill>
        </p:spPr>
        <p:txBody>
          <a:bodyPr>
            <a:noAutofit/>
          </a:bodyPr>
          <a:lstStyle/>
          <a:p>
            <a:pPr marL="277813" lvl="0" indent="-277813">
              <a:spcBef>
                <a:spcPts val="600"/>
              </a:spcBef>
              <a:defRPr/>
            </a:pPr>
            <a:r>
              <a:rPr kumimoji="0" lang="en-US" sz="1900" b="1" i="0" u="none" strike="noStrike" kern="1200" cap="none" spc="0" normalizeH="0" baseline="0" noProof="0" dirty="0" err="1">
                <a:ln>
                  <a:noFill/>
                </a:ln>
                <a:solidFill>
                  <a:schemeClr val="tx1"/>
                </a:solidFill>
                <a:effectLst/>
                <a:uLnTx/>
                <a:uFillTx/>
                <a:latin typeface="Avenir Next LT Pro" panose="020B0504020202020204" pitchFamily="34" charset="0"/>
              </a:rPr>
              <a:t>Perbandingan</a:t>
            </a:r>
            <a:r>
              <a:rPr kumimoji="0" lang="en-US" sz="1900" b="1" i="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sz="1900" b="1" i="0" u="none" strike="noStrike" kern="1200" cap="none" spc="0" normalizeH="0" baseline="0" noProof="0" dirty="0" err="1">
                <a:ln>
                  <a:noFill/>
                </a:ln>
                <a:solidFill>
                  <a:schemeClr val="tx1"/>
                </a:solidFill>
                <a:effectLst/>
                <a:uLnTx/>
                <a:uFillTx/>
                <a:latin typeface="Avenir Next LT Pro" panose="020B0504020202020204" pitchFamily="34" charset="0"/>
              </a:rPr>
              <a:t>antar</a:t>
            </a:r>
            <a:r>
              <a:rPr kumimoji="0" lang="en-US" sz="1900" b="1" i="0" u="none" strike="noStrike" kern="1200" cap="none" spc="0" normalizeH="0" noProof="0" dirty="0">
                <a:ln>
                  <a:noFill/>
                </a:ln>
                <a:solidFill>
                  <a:schemeClr val="tx1"/>
                </a:solidFill>
                <a:effectLst/>
                <a:uLnTx/>
                <a:uFillTx/>
                <a:latin typeface="Avenir Next LT Pro" panose="020B0504020202020204" pitchFamily="34" charset="0"/>
              </a:rPr>
              <a:t> </a:t>
            </a:r>
            <a:r>
              <a:rPr kumimoji="0" lang="en-US" sz="1900" b="1" i="0" u="none" strike="noStrike" kern="1200" cap="none" spc="0" normalizeH="0" noProof="0" dirty="0" err="1">
                <a:ln>
                  <a:noFill/>
                </a:ln>
                <a:solidFill>
                  <a:schemeClr val="tx1"/>
                </a:solidFill>
                <a:effectLst/>
                <a:uLnTx/>
                <a:uFillTx/>
                <a:latin typeface="Avenir Next LT Pro" panose="020B0504020202020204" pitchFamily="34" charset="0"/>
              </a:rPr>
              <a:t>pulau</a:t>
            </a:r>
            <a:r>
              <a:rPr kumimoji="0" lang="en-US" sz="1900" b="1" i="0" u="none" strike="noStrike" kern="1200" cap="none" spc="0" normalizeH="0" noProof="0" dirty="0">
                <a:ln>
                  <a:noFill/>
                </a:ln>
                <a:solidFill>
                  <a:schemeClr val="tx1"/>
                </a:solidFill>
                <a:effectLst/>
                <a:uLnTx/>
                <a:uFillTx/>
                <a:latin typeface="Avenir Next LT Pro" panose="020B0504020202020204" pitchFamily="34" charset="0"/>
              </a:rPr>
              <a:t>/</a:t>
            </a:r>
            <a:r>
              <a:rPr kumimoji="0" lang="en-US" sz="1900" b="1" i="0" u="none" strike="noStrike" kern="1200" cap="none" spc="0" normalizeH="0" noProof="0" dirty="0" err="1">
                <a:ln>
                  <a:noFill/>
                </a:ln>
                <a:solidFill>
                  <a:schemeClr val="tx1"/>
                </a:solidFill>
                <a:effectLst/>
                <a:uLnTx/>
                <a:uFillTx/>
                <a:latin typeface="Avenir Next LT Pro" panose="020B0504020202020204" pitchFamily="34" charset="0"/>
              </a:rPr>
              <a:t>wilayah</a:t>
            </a:r>
            <a:endParaRPr kumimoji="0" lang="en-US" sz="1900" b="1" i="0" u="none" strike="noStrike" kern="1200" cap="none" spc="0" normalizeH="0" baseline="0" noProof="0" dirty="0">
              <a:ln>
                <a:noFill/>
              </a:ln>
              <a:solidFill>
                <a:schemeClr val="tx1"/>
              </a:solidFill>
              <a:effectLst/>
              <a:uLnTx/>
              <a:uFillTx/>
              <a:latin typeface="Avenir Next LT Pro" panose="020B0504020202020204" pitchFamily="34" charset="0"/>
            </a:endParaRPr>
          </a:p>
          <a:p>
            <a:pPr marL="284163" lvl="1" indent="-284163">
              <a:spcBef>
                <a:spcPts val="600"/>
              </a:spcBef>
              <a:buFont typeface="Wingdings" pitchFamily="2" charset="2"/>
              <a:buChar char="§"/>
              <a:defRPr/>
            </a:pPr>
            <a:r>
              <a:rPr lang="en-US" sz="1900" dirty="0" err="1">
                <a:latin typeface="Avenir Next LT Pro" panose="020B0504020202020204" pitchFamily="34" charset="0"/>
              </a:rPr>
              <a:t>Tingginya</a:t>
            </a:r>
            <a:r>
              <a:rPr lang="en-US" sz="1900" dirty="0">
                <a:latin typeface="Avenir Next LT Pro" panose="020B0504020202020204" pitchFamily="34" charset="0"/>
              </a:rPr>
              <a:t> </a:t>
            </a:r>
            <a:r>
              <a:rPr lang="en-US" sz="1900" dirty="0" err="1">
                <a:latin typeface="Avenir Next LT Pro" panose="020B0504020202020204" pitchFamily="34" charset="0"/>
              </a:rPr>
              <a:t>biaya</a:t>
            </a:r>
            <a:r>
              <a:rPr lang="en-US" sz="1900" dirty="0">
                <a:latin typeface="Avenir Next LT Pro" panose="020B0504020202020204" pitchFamily="34" charset="0"/>
              </a:rPr>
              <a:t> di Jawa </a:t>
            </a:r>
            <a:r>
              <a:rPr lang="en-US" sz="1900" dirty="0" err="1">
                <a:latin typeface="Avenir Next LT Pro" panose="020B0504020202020204" pitchFamily="34" charset="0"/>
              </a:rPr>
              <a:t>diperkirakan</a:t>
            </a:r>
            <a:r>
              <a:rPr lang="en-US" sz="1900" dirty="0">
                <a:latin typeface="Avenir Next LT Pro" panose="020B0504020202020204" pitchFamily="34" charset="0"/>
              </a:rPr>
              <a:t> </a:t>
            </a:r>
            <a:r>
              <a:rPr lang="en-US" sz="1900" dirty="0" err="1">
                <a:latin typeface="Avenir Next LT Pro" panose="020B0504020202020204" pitchFamily="34" charset="0"/>
              </a:rPr>
              <a:t>karena</a:t>
            </a:r>
            <a:r>
              <a:rPr lang="en-US" sz="1900" dirty="0">
                <a:latin typeface="Avenir Next LT Pro" panose="020B0504020202020204" pitchFamily="34" charset="0"/>
              </a:rPr>
              <a:t> </a:t>
            </a:r>
            <a:r>
              <a:rPr lang="en-US" sz="1900" dirty="0" err="1">
                <a:latin typeface="Avenir Next LT Pro" panose="020B0504020202020204" pitchFamily="34" charset="0"/>
              </a:rPr>
              <a:t>jumlah</a:t>
            </a:r>
            <a:r>
              <a:rPr lang="en-US" sz="1900" dirty="0">
                <a:latin typeface="Avenir Next LT Pro" panose="020B0504020202020204" pitchFamily="34" charset="0"/>
              </a:rPr>
              <a:t> </a:t>
            </a:r>
            <a:r>
              <a:rPr lang="en-US" sz="1900" dirty="0" err="1">
                <a:latin typeface="Avenir Next LT Pro" panose="020B0504020202020204" pitchFamily="34" charset="0"/>
              </a:rPr>
              <a:t>sumur</a:t>
            </a:r>
            <a:r>
              <a:rPr lang="en-US" sz="1900" dirty="0">
                <a:latin typeface="Avenir Next LT Pro" panose="020B0504020202020204" pitchFamily="34" charset="0"/>
              </a:rPr>
              <a:t> di Jawa yang </a:t>
            </a:r>
            <a:r>
              <a:rPr lang="en-US" sz="1900" dirty="0" err="1">
                <a:latin typeface="Avenir Next LT Pro" panose="020B0504020202020204" pitchFamily="34" charset="0"/>
              </a:rPr>
              <a:t>dievaluasi</a:t>
            </a:r>
            <a:r>
              <a:rPr lang="en-US" sz="1900" dirty="0">
                <a:latin typeface="Avenir Next LT Pro" panose="020B0504020202020204" pitchFamily="34" charset="0"/>
              </a:rPr>
              <a:t> </a:t>
            </a:r>
            <a:r>
              <a:rPr lang="en-US" sz="1900" dirty="0" err="1">
                <a:latin typeface="Avenir Next LT Pro" panose="020B0504020202020204" pitchFamily="34" charset="0"/>
              </a:rPr>
              <a:t>jumlahnya</a:t>
            </a:r>
            <a:r>
              <a:rPr lang="en-US" sz="1900" dirty="0">
                <a:latin typeface="Avenir Next LT Pro" panose="020B0504020202020204" pitchFamily="34" charset="0"/>
              </a:rPr>
              <a:t> sangat </a:t>
            </a:r>
            <a:r>
              <a:rPr lang="en-US" sz="1900" dirty="0" err="1">
                <a:latin typeface="Avenir Next LT Pro" panose="020B0504020202020204" pitchFamily="34" charset="0"/>
              </a:rPr>
              <a:t>sedikit</a:t>
            </a:r>
            <a:r>
              <a:rPr lang="en-US" sz="1900" dirty="0">
                <a:latin typeface="Avenir Next LT Pro" panose="020B0504020202020204" pitchFamily="34" charset="0"/>
              </a:rPr>
              <a:t> m (41 </a:t>
            </a:r>
            <a:r>
              <a:rPr lang="en-US" sz="1900" dirty="0" err="1">
                <a:latin typeface="Avenir Next LT Pro" panose="020B0504020202020204" pitchFamily="34" charset="0"/>
              </a:rPr>
              <a:t>sumur</a:t>
            </a:r>
            <a:r>
              <a:rPr lang="en-US" sz="1900" dirty="0">
                <a:latin typeface="Avenir Next LT Pro" panose="020B0504020202020204" pitchFamily="34" charset="0"/>
              </a:rPr>
              <a:t>) </a:t>
            </a:r>
            <a:r>
              <a:rPr lang="en-US" sz="1900" dirty="0" err="1">
                <a:latin typeface="Avenir Next LT Pro" panose="020B0504020202020204" pitchFamily="34" charset="0"/>
              </a:rPr>
              <a:t>dibandingkan</a:t>
            </a:r>
            <a:r>
              <a:rPr lang="en-US" sz="1900" dirty="0">
                <a:latin typeface="Avenir Next LT Pro" panose="020B0504020202020204" pitchFamily="34" charset="0"/>
              </a:rPr>
              <a:t> </a:t>
            </a:r>
            <a:r>
              <a:rPr lang="en-US" sz="1900" dirty="0" err="1">
                <a:latin typeface="Avenir Next LT Pro" panose="020B0504020202020204" pitchFamily="34" charset="0"/>
              </a:rPr>
              <a:t>jumlah</a:t>
            </a:r>
            <a:r>
              <a:rPr lang="en-US" sz="1900" dirty="0">
                <a:latin typeface="Avenir Next LT Pro" panose="020B0504020202020204" pitchFamily="34" charset="0"/>
              </a:rPr>
              <a:t> </a:t>
            </a:r>
            <a:r>
              <a:rPr lang="en-US" sz="1900" dirty="0" err="1">
                <a:latin typeface="Avenir Next LT Pro" panose="020B0504020202020204" pitchFamily="34" charset="0"/>
              </a:rPr>
              <a:t>sumur</a:t>
            </a:r>
            <a:r>
              <a:rPr lang="en-US" sz="1900" dirty="0">
                <a:latin typeface="Avenir Next LT Pro" panose="020B0504020202020204" pitchFamily="34" charset="0"/>
              </a:rPr>
              <a:t> di Sumatera (182 </a:t>
            </a:r>
            <a:r>
              <a:rPr lang="en-US" sz="1900" dirty="0" err="1">
                <a:latin typeface="Avenir Next LT Pro" panose="020B0504020202020204" pitchFamily="34" charset="0"/>
              </a:rPr>
              <a:t>sumur</a:t>
            </a:r>
            <a:r>
              <a:rPr lang="en-US" sz="1900" dirty="0">
                <a:latin typeface="Avenir Next LT Pro" panose="020B0504020202020204" pitchFamily="34" charset="0"/>
              </a:rPr>
              <a:t>).</a:t>
            </a:r>
          </a:p>
          <a:p>
            <a:pPr marL="284163" lvl="1" indent="-284163">
              <a:spcBef>
                <a:spcPts val="600"/>
              </a:spcBef>
              <a:buFont typeface="Wingdings" pitchFamily="2" charset="2"/>
              <a:buChar char="§"/>
              <a:defRPr/>
            </a:pPr>
            <a:r>
              <a:rPr lang="en-US" sz="1900" dirty="0" err="1">
                <a:latin typeface="Avenir Next LT Pro" panose="020B0504020202020204" pitchFamily="34" charset="0"/>
              </a:rPr>
              <a:t>Sebanyak</a:t>
            </a:r>
            <a:r>
              <a:rPr lang="en-US" sz="1900" dirty="0">
                <a:latin typeface="Avenir Next LT Pro" panose="020B0504020202020204" pitchFamily="34" charset="0"/>
              </a:rPr>
              <a:t> 52% </a:t>
            </a:r>
            <a:r>
              <a:rPr lang="en-US" sz="1900" dirty="0" err="1">
                <a:latin typeface="Avenir Next LT Pro" panose="020B0504020202020204" pitchFamily="34" charset="0"/>
              </a:rPr>
              <a:t>dari</a:t>
            </a:r>
            <a:r>
              <a:rPr lang="en-US" sz="1900" dirty="0">
                <a:latin typeface="Avenir Next LT Pro" panose="020B0504020202020204" pitchFamily="34" charset="0"/>
              </a:rPr>
              <a:t> </a:t>
            </a:r>
            <a:r>
              <a:rPr lang="en-US" sz="1900" dirty="0" err="1">
                <a:latin typeface="Avenir Next LT Pro" panose="020B0504020202020204" pitchFamily="34" charset="0"/>
              </a:rPr>
              <a:t>sumur</a:t>
            </a:r>
            <a:r>
              <a:rPr lang="en-US" sz="1900" dirty="0">
                <a:latin typeface="Avenir Next LT Pro" panose="020B0504020202020204" pitchFamily="34" charset="0"/>
              </a:rPr>
              <a:t> yang </a:t>
            </a:r>
            <a:r>
              <a:rPr lang="en-US" sz="1900" dirty="0" err="1">
                <a:latin typeface="Avenir Next LT Pro" panose="020B0504020202020204" pitchFamily="34" charset="0"/>
              </a:rPr>
              <a:t>dibor</a:t>
            </a:r>
            <a:r>
              <a:rPr lang="en-US" sz="1900" dirty="0">
                <a:latin typeface="Avenir Next LT Pro" panose="020B0504020202020204" pitchFamily="34" charset="0"/>
              </a:rPr>
              <a:t> </a:t>
            </a:r>
            <a:r>
              <a:rPr lang="en-US" sz="1900" dirty="0" err="1">
                <a:latin typeface="Avenir Next LT Pro" panose="020B0504020202020204" pitchFamily="34" charset="0"/>
              </a:rPr>
              <a:t>selama</a:t>
            </a:r>
            <a:r>
              <a:rPr lang="en-US" sz="1900" dirty="0">
                <a:latin typeface="Avenir Next LT Pro" panose="020B0504020202020204" pitchFamily="34" charset="0"/>
              </a:rPr>
              <a:t> </a:t>
            </a:r>
            <a:r>
              <a:rPr lang="en-US" sz="1900" dirty="0" err="1">
                <a:latin typeface="Avenir Next LT Pro" panose="020B0504020202020204" pitchFamily="34" charset="0"/>
              </a:rPr>
              <a:t>kurun</a:t>
            </a:r>
            <a:r>
              <a:rPr lang="en-US" sz="1900" dirty="0">
                <a:latin typeface="Avenir Next LT Pro" panose="020B0504020202020204" pitchFamily="34" charset="0"/>
              </a:rPr>
              <a:t> 2020-2021 di Sumatera </a:t>
            </a:r>
            <a:r>
              <a:rPr lang="en-US" sz="1900" dirty="0" err="1">
                <a:latin typeface="Avenir Next LT Pro" panose="020B0504020202020204" pitchFamily="34" charset="0"/>
              </a:rPr>
              <a:t>dilakukan</a:t>
            </a:r>
            <a:r>
              <a:rPr lang="en-US" sz="1900" dirty="0">
                <a:latin typeface="Avenir Next LT Pro" panose="020B0504020202020204" pitchFamily="34" charset="0"/>
              </a:rPr>
              <a:t> </a:t>
            </a:r>
            <a:r>
              <a:rPr lang="en-US" sz="1900" dirty="0" err="1">
                <a:latin typeface="Avenir Next LT Pro" panose="020B0504020202020204" pitchFamily="34" charset="0"/>
              </a:rPr>
              <a:t>tanpa</a:t>
            </a:r>
            <a:r>
              <a:rPr lang="en-US" sz="1900" dirty="0">
                <a:latin typeface="Avenir Next LT Pro" panose="020B0504020202020204" pitchFamily="34" charset="0"/>
              </a:rPr>
              <a:t> </a:t>
            </a:r>
            <a:r>
              <a:rPr lang="en-US" sz="1900" dirty="0" err="1">
                <a:latin typeface="Avenir Next LT Pro" panose="020B0504020202020204" pitchFamily="34" charset="0"/>
              </a:rPr>
              <a:t>menyewa</a:t>
            </a:r>
            <a:r>
              <a:rPr lang="en-US" sz="1900" dirty="0">
                <a:latin typeface="Avenir Next LT Pro" panose="020B0504020202020204" pitchFamily="34" charset="0"/>
              </a:rPr>
              <a:t> </a:t>
            </a:r>
            <a:r>
              <a:rPr lang="en-US" sz="1900" dirty="0" err="1">
                <a:latin typeface="Avenir Next LT Pro" panose="020B0504020202020204" pitchFamily="34" charset="0"/>
              </a:rPr>
              <a:t>kontraktor</a:t>
            </a:r>
            <a:r>
              <a:rPr lang="en-US" sz="1900" dirty="0">
                <a:latin typeface="Avenir Next LT Pro" panose="020B0504020202020204" pitchFamily="34" charset="0"/>
              </a:rPr>
              <a:t> rig </a:t>
            </a:r>
            <a:r>
              <a:rPr lang="en-US" sz="1900" dirty="0" err="1">
                <a:latin typeface="Avenir Next LT Pro" panose="020B0504020202020204" pitchFamily="34" charset="0"/>
              </a:rPr>
              <a:t>pengeboran</a:t>
            </a:r>
            <a:r>
              <a:rPr lang="en-US" sz="1900" dirty="0">
                <a:latin typeface="Avenir Next LT Pro" panose="020B0504020202020204" pitchFamily="34" charset="0"/>
              </a:rPr>
              <a:t> </a:t>
            </a:r>
            <a:r>
              <a:rPr lang="en-US" sz="1900" dirty="0" err="1">
                <a:latin typeface="Avenir Next LT Pro" panose="020B0504020202020204" pitchFamily="34" charset="0"/>
              </a:rPr>
              <a:t>namun</a:t>
            </a:r>
            <a:r>
              <a:rPr lang="en-US" sz="1900" dirty="0">
                <a:latin typeface="Avenir Next LT Pro" panose="020B0504020202020204" pitchFamily="34" charset="0"/>
              </a:rPr>
              <a:t> </a:t>
            </a:r>
            <a:r>
              <a:rPr lang="en-US" sz="1900" dirty="0" err="1">
                <a:latin typeface="Avenir Next LT Pro" panose="020B0504020202020204" pitchFamily="34" charset="0"/>
              </a:rPr>
              <a:t>dengan</a:t>
            </a:r>
            <a:r>
              <a:rPr lang="en-US" sz="1900" dirty="0">
                <a:latin typeface="Avenir Next LT Pro" panose="020B0504020202020204" pitchFamily="34" charset="0"/>
              </a:rPr>
              <a:t> rig yang </a:t>
            </a:r>
            <a:r>
              <a:rPr lang="en-US" sz="1900" dirty="0" err="1">
                <a:latin typeface="Avenir Next LT Pro" panose="020B0504020202020204" pitchFamily="34" charset="0"/>
              </a:rPr>
              <a:t>dimiliki</a:t>
            </a:r>
            <a:r>
              <a:rPr lang="en-US" sz="1900" dirty="0">
                <a:latin typeface="Avenir Next LT Pro" panose="020B0504020202020204" pitchFamily="34" charset="0"/>
              </a:rPr>
              <a:t> oleh Badan Usaha.</a:t>
            </a:r>
          </a:p>
          <a:p>
            <a:pPr marL="284163" lvl="1" indent="-284163">
              <a:spcBef>
                <a:spcPts val="600"/>
              </a:spcBef>
              <a:buFont typeface="Wingdings" pitchFamily="2" charset="2"/>
              <a:buChar char="§"/>
              <a:defRPr/>
            </a:pPr>
            <a:r>
              <a:rPr lang="en-US" sz="1900" dirty="0">
                <a:latin typeface="Avenir Next LT Pro" panose="020B0504020202020204" pitchFamily="34" charset="0"/>
              </a:rPr>
              <a:t>4 </a:t>
            </a:r>
            <a:r>
              <a:rPr lang="en-US" sz="1900" dirty="0" err="1">
                <a:latin typeface="Avenir Next LT Pro" panose="020B0504020202020204" pitchFamily="34" charset="0"/>
              </a:rPr>
              <a:t>sumur</a:t>
            </a:r>
            <a:r>
              <a:rPr lang="en-US" sz="1900" dirty="0">
                <a:latin typeface="Avenir Next LT Pro" panose="020B0504020202020204" pitchFamily="34" charset="0"/>
              </a:rPr>
              <a:t> </a:t>
            </a:r>
            <a:r>
              <a:rPr lang="en-US" sz="1900" dirty="0" err="1">
                <a:latin typeface="Avenir Next LT Pro" panose="020B0504020202020204" pitchFamily="34" charset="0"/>
              </a:rPr>
              <a:t>panas</a:t>
            </a:r>
            <a:r>
              <a:rPr lang="en-US" sz="1900" dirty="0">
                <a:latin typeface="Avenir Next LT Pro" panose="020B0504020202020204" pitchFamily="34" charset="0"/>
              </a:rPr>
              <a:t> </a:t>
            </a:r>
            <a:r>
              <a:rPr lang="en-US" sz="1900" dirty="0" err="1">
                <a:latin typeface="Avenir Next LT Pro" panose="020B0504020202020204" pitchFamily="34" charset="0"/>
              </a:rPr>
              <a:t>bumi</a:t>
            </a:r>
            <a:r>
              <a:rPr lang="en-US" sz="1900" dirty="0">
                <a:latin typeface="Avenir Next LT Pro" panose="020B0504020202020204" pitchFamily="34" charset="0"/>
              </a:rPr>
              <a:t> di Maluku </a:t>
            </a:r>
            <a:r>
              <a:rPr lang="en-US" sz="1900" dirty="0" err="1">
                <a:latin typeface="Avenir Next LT Pro" panose="020B0504020202020204" pitchFamily="34" charset="0"/>
              </a:rPr>
              <a:t>dibor</a:t>
            </a:r>
            <a:r>
              <a:rPr lang="en-US" sz="1900" dirty="0">
                <a:latin typeface="Avenir Next LT Pro" panose="020B0504020202020204" pitchFamily="34" charset="0"/>
              </a:rPr>
              <a:t> </a:t>
            </a:r>
            <a:r>
              <a:rPr lang="en-US" sz="1900" dirty="0" err="1">
                <a:latin typeface="Avenir Next LT Pro" panose="020B0504020202020204" pitchFamily="34" charset="0"/>
              </a:rPr>
              <a:t>dengan</a:t>
            </a:r>
            <a:r>
              <a:rPr lang="en-US" sz="1900" dirty="0">
                <a:latin typeface="Avenir Next LT Pro" panose="020B0504020202020204" pitchFamily="34" charset="0"/>
              </a:rPr>
              <a:t> </a:t>
            </a:r>
            <a:r>
              <a:rPr lang="en-US" sz="1900" dirty="0" err="1">
                <a:latin typeface="Avenir Next LT Pro" panose="020B0504020202020204" pitchFamily="34" charset="0"/>
              </a:rPr>
              <a:t>menggunakan</a:t>
            </a:r>
            <a:r>
              <a:rPr lang="en-US" sz="1900" dirty="0">
                <a:latin typeface="Avenir Next LT Pro" panose="020B0504020202020204" pitchFamily="34" charset="0"/>
              </a:rPr>
              <a:t> </a:t>
            </a:r>
            <a:r>
              <a:rPr lang="en-US" sz="1900" dirty="0" err="1">
                <a:latin typeface="Avenir Next LT Pro" panose="020B0504020202020204" pitchFamily="34" charset="0"/>
              </a:rPr>
              <a:t>skema</a:t>
            </a:r>
            <a:r>
              <a:rPr lang="en-US" sz="1900" dirty="0">
                <a:latin typeface="Avenir Next LT Pro" panose="020B0504020202020204" pitchFamily="34" charset="0"/>
              </a:rPr>
              <a:t> IPM pada </a:t>
            </a:r>
            <a:r>
              <a:rPr lang="en-US" sz="1900" dirty="0" err="1">
                <a:latin typeface="Avenir Next LT Pro" panose="020B0504020202020204" pitchFamily="34" charset="0"/>
              </a:rPr>
              <a:t>kedalaman</a:t>
            </a:r>
            <a:r>
              <a:rPr lang="en-US" sz="1900" dirty="0">
                <a:latin typeface="Avenir Next LT Pro" panose="020B0504020202020204" pitchFamily="34" charset="0"/>
              </a:rPr>
              <a:t> </a:t>
            </a:r>
            <a:r>
              <a:rPr lang="en-US" sz="1900" dirty="0" err="1">
                <a:latin typeface="Avenir Next LT Pro" panose="020B0504020202020204" pitchFamily="34" charset="0"/>
              </a:rPr>
              <a:t>maksimum</a:t>
            </a:r>
            <a:r>
              <a:rPr lang="en-US" sz="1900" dirty="0">
                <a:latin typeface="Avenir Next LT Pro" panose="020B0504020202020204" pitchFamily="34" charset="0"/>
              </a:rPr>
              <a:t> 1900 m.</a:t>
            </a:r>
          </a:p>
          <a:p>
            <a:pPr marL="284163" lvl="1" indent="-284163">
              <a:spcBef>
                <a:spcPct val="20000"/>
              </a:spcBef>
              <a:buFont typeface="Wingdings" pitchFamily="2" charset="2"/>
              <a:buChar char="§"/>
              <a:defRPr/>
            </a:pPr>
            <a:r>
              <a:rPr lang="en-US" sz="1900" dirty="0">
                <a:latin typeface="Avenir Next LT Pro" panose="020B0504020202020204" pitchFamily="34" charset="0"/>
              </a:rPr>
              <a:t>10 </a:t>
            </a:r>
            <a:r>
              <a:rPr lang="en-US" sz="1900" dirty="0" err="1">
                <a:latin typeface="Avenir Next LT Pro" panose="020B0504020202020204" pitchFamily="34" charset="0"/>
              </a:rPr>
              <a:t>sumur</a:t>
            </a:r>
            <a:r>
              <a:rPr lang="en-US" sz="1900" dirty="0">
                <a:latin typeface="Avenir Next LT Pro" panose="020B0504020202020204" pitchFamily="34" charset="0"/>
              </a:rPr>
              <a:t> </a:t>
            </a:r>
            <a:r>
              <a:rPr lang="en-US" sz="1900" dirty="0" err="1">
                <a:latin typeface="Avenir Next LT Pro" panose="020B0504020202020204" pitchFamily="34" charset="0"/>
              </a:rPr>
              <a:t>pengeboran</a:t>
            </a:r>
            <a:r>
              <a:rPr lang="en-US" sz="1900" dirty="0">
                <a:latin typeface="Avenir Next LT Pro" panose="020B0504020202020204" pitchFamily="34" charset="0"/>
              </a:rPr>
              <a:t> yang </a:t>
            </a:r>
            <a:r>
              <a:rPr lang="en-US" sz="1900" dirty="0" err="1">
                <a:latin typeface="Avenir Next LT Pro" panose="020B0504020202020204" pitchFamily="34" charset="0"/>
              </a:rPr>
              <a:t>dievaluasi</a:t>
            </a:r>
            <a:r>
              <a:rPr lang="en-US" sz="1900" dirty="0">
                <a:latin typeface="Avenir Next LT Pro" panose="020B0504020202020204" pitchFamily="34" charset="0"/>
              </a:rPr>
              <a:t> di Sulawesi </a:t>
            </a:r>
            <a:r>
              <a:rPr lang="en-US" sz="1900" dirty="0" err="1">
                <a:latin typeface="Avenir Next LT Pro" panose="020B0504020202020204" pitchFamily="34" charset="0"/>
              </a:rPr>
              <a:t>didominasi</a:t>
            </a:r>
            <a:r>
              <a:rPr lang="en-US" sz="1900" dirty="0">
                <a:latin typeface="Avenir Next LT Pro" panose="020B0504020202020204" pitchFamily="34" charset="0"/>
              </a:rPr>
              <a:t> oleh </a:t>
            </a:r>
            <a:r>
              <a:rPr lang="en-US" sz="1900" dirty="0" err="1">
                <a:latin typeface="Avenir Next LT Pro" panose="020B0504020202020204" pitchFamily="34" charset="0"/>
              </a:rPr>
              <a:t>sumur</a:t>
            </a:r>
            <a:r>
              <a:rPr lang="en-US" sz="1900" dirty="0">
                <a:latin typeface="Avenir Next LT Pro" panose="020B0504020202020204" pitchFamily="34" charset="0"/>
              </a:rPr>
              <a:t> </a:t>
            </a:r>
            <a:r>
              <a:rPr lang="en-US" sz="1900" i="1" dirty="0">
                <a:latin typeface="Avenir Next LT Pro" panose="020B0504020202020204" pitchFamily="34" charset="0"/>
              </a:rPr>
              <a:t>make-up</a:t>
            </a:r>
            <a:r>
              <a:rPr lang="en-US" sz="1900" dirty="0">
                <a:latin typeface="Avenir Next LT Pro" panose="020B0504020202020204" pitchFamily="34" charset="0"/>
              </a:rPr>
              <a:t> </a:t>
            </a:r>
            <a:r>
              <a:rPr lang="en-US" sz="1900" dirty="0" err="1">
                <a:latin typeface="Avenir Next LT Pro" panose="020B0504020202020204" pitchFamily="34" charset="0"/>
              </a:rPr>
              <a:t>dengan</a:t>
            </a:r>
            <a:r>
              <a:rPr lang="en-US" sz="1900" dirty="0">
                <a:latin typeface="Avenir Next LT Pro" panose="020B0504020202020204" pitchFamily="34" charset="0"/>
              </a:rPr>
              <a:t> </a:t>
            </a:r>
            <a:r>
              <a:rPr lang="en-US" sz="1900" dirty="0" err="1">
                <a:latin typeface="Avenir Next LT Pro" panose="020B0504020202020204" pitchFamily="34" charset="0"/>
              </a:rPr>
              <a:t>menggunakan</a:t>
            </a:r>
            <a:r>
              <a:rPr lang="en-US" sz="1900" dirty="0">
                <a:latin typeface="Avenir Next LT Pro" panose="020B0504020202020204" pitchFamily="34" charset="0"/>
              </a:rPr>
              <a:t> </a:t>
            </a:r>
            <a:r>
              <a:rPr lang="en-US" sz="1900" dirty="0" err="1">
                <a:latin typeface="Avenir Next LT Pro" panose="020B0504020202020204" pitchFamily="34" charset="0"/>
              </a:rPr>
              <a:t>skema</a:t>
            </a:r>
            <a:r>
              <a:rPr lang="en-US" sz="1900" dirty="0">
                <a:latin typeface="Avenir Next LT Pro" panose="020B0504020202020204" pitchFamily="34" charset="0"/>
              </a:rPr>
              <a:t> semi IPM.</a:t>
            </a:r>
          </a:p>
          <a:p>
            <a:pPr marL="284163" lvl="1" indent="-284163">
              <a:spcBef>
                <a:spcPct val="20000"/>
              </a:spcBef>
              <a:buFont typeface="Wingdings" pitchFamily="2" charset="2"/>
              <a:buChar char="§"/>
              <a:defRPr/>
            </a:pPr>
            <a:r>
              <a:rPr lang="en-US" sz="1900" dirty="0">
                <a:latin typeface="Avenir Next LT Pro" panose="020B0504020202020204" pitchFamily="34" charset="0"/>
              </a:rPr>
              <a:t>5 </a:t>
            </a:r>
            <a:r>
              <a:rPr lang="en-US" sz="1900" dirty="0" err="1">
                <a:latin typeface="Avenir Next LT Pro" panose="020B0504020202020204" pitchFamily="34" charset="0"/>
              </a:rPr>
              <a:t>sumur</a:t>
            </a:r>
            <a:r>
              <a:rPr lang="en-US" sz="1900" dirty="0">
                <a:latin typeface="Avenir Next LT Pro" panose="020B0504020202020204" pitchFamily="34" charset="0"/>
              </a:rPr>
              <a:t> yang </a:t>
            </a:r>
            <a:r>
              <a:rPr lang="en-US" sz="1900" dirty="0" err="1">
                <a:latin typeface="Avenir Next LT Pro" panose="020B0504020202020204" pitchFamily="34" charset="0"/>
              </a:rPr>
              <a:t>dievaluasi</a:t>
            </a:r>
            <a:r>
              <a:rPr lang="en-US" sz="1900" dirty="0">
                <a:latin typeface="Avenir Next LT Pro" panose="020B0504020202020204" pitchFamily="34" charset="0"/>
              </a:rPr>
              <a:t> di NTT </a:t>
            </a:r>
            <a:r>
              <a:rPr lang="en-US" sz="1900" dirty="0" err="1">
                <a:latin typeface="Avenir Next LT Pro" panose="020B0504020202020204" pitchFamily="34" charset="0"/>
              </a:rPr>
              <a:t>dilaksanakan</a:t>
            </a:r>
            <a:r>
              <a:rPr lang="en-US" sz="1900" dirty="0">
                <a:latin typeface="Avenir Next LT Pro" panose="020B0504020202020204" pitchFamily="34" charset="0"/>
              </a:rPr>
              <a:t> </a:t>
            </a:r>
            <a:r>
              <a:rPr lang="en-US" sz="1900" dirty="0" err="1">
                <a:latin typeface="Avenir Next LT Pro" panose="020B0504020202020204" pitchFamily="34" charset="0"/>
              </a:rPr>
              <a:t>hingga</a:t>
            </a:r>
            <a:r>
              <a:rPr lang="en-US" sz="1900" dirty="0">
                <a:latin typeface="Avenir Next LT Pro" panose="020B0504020202020204" pitchFamily="34" charset="0"/>
              </a:rPr>
              <a:t> </a:t>
            </a:r>
            <a:r>
              <a:rPr lang="en-US" sz="1900" dirty="0" err="1">
                <a:latin typeface="Avenir Next LT Pro" panose="020B0504020202020204" pitchFamily="34" charset="0"/>
              </a:rPr>
              <a:t>kedalaman</a:t>
            </a:r>
            <a:r>
              <a:rPr lang="en-US" sz="1900" dirty="0">
                <a:latin typeface="Avenir Next LT Pro" panose="020B0504020202020204" pitchFamily="34" charset="0"/>
              </a:rPr>
              <a:t> 2100 m, </a:t>
            </a:r>
            <a:r>
              <a:rPr lang="en-US" sz="1900" dirty="0" err="1">
                <a:latin typeface="Avenir Next LT Pro" panose="020B0504020202020204" pitchFamily="34" charset="0"/>
              </a:rPr>
              <a:t>menggunakan</a:t>
            </a:r>
            <a:r>
              <a:rPr lang="en-US" sz="1900" dirty="0">
                <a:latin typeface="Avenir Next LT Pro" panose="020B0504020202020204" pitchFamily="34" charset="0"/>
              </a:rPr>
              <a:t> </a:t>
            </a:r>
            <a:r>
              <a:rPr lang="en-US" sz="1900" dirty="0" err="1">
                <a:latin typeface="Avenir Next LT Pro" panose="020B0504020202020204" pitchFamily="34" charset="0"/>
              </a:rPr>
              <a:t>skema</a:t>
            </a:r>
            <a:r>
              <a:rPr lang="en-US" sz="1900" dirty="0">
                <a:latin typeface="Avenir Next LT Pro" panose="020B0504020202020204" pitchFamily="34" charset="0"/>
              </a:rPr>
              <a:t> </a:t>
            </a:r>
            <a:r>
              <a:rPr lang="en-US" sz="1900" i="1" dirty="0">
                <a:solidFill>
                  <a:srgbClr val="C00000"/>
                </a:solidFill>
                <a:latin typeface="Avenir Next LT Pro" panose="020B0504020202020204" pitchFamily="34" charset="0"/>
              </a:rPr>
              <a:t>bundled</a:t>
            </a:r>
            <a:r>
              <a:rPr lang="en-US" sz="1900" dirty="0">
                <a:latin typeface="Avenir Next LT Pro" panose="020B0504020202020204" pitchFamily="34" charset="0"/>
              </a:rPr>
              <a:t>.</a:t>
            </a:r>
          </a:p>
          <a:p>
            <a:pPr marL="284163" lvl="1" indent="-284163">
              <a:spcBef>
                <a:spcPts val="600"/>
              </a:spcBef>
              <a:buFont typeface="Wingdings" pitchFamily="2" charset="2"/>
              <a:buChar char="§"/>
              <a:defRPr/>
            </a:pPr>
            <a:endParaRPr lang="en-US" sz="1900" dirty="0">
              <a:latin typeface="Avenir Next LT Pro" panose="020B0504020202020204" pitchFamily="34" charset="0"/>
            </a:endParaRPr>
          </a:p>
          <a:p>
            <a:pPr marL="284163" lvl="1" indent="-284163">
              <a:spcBef>
                <a:spcPts val="600"/>
              </a:spcBef>
              <a:buFont typeface="Wingdings" pitchFamily="2" charset="2"/>
              <a:buChar char="§"/>
              <a:defRPr/>
            </a:pPr>
            <a:endParaRPr lang="en-US" sz="1900" dirty="0">
              <a:latin typeface="Avenir Next LT Pro" panose="020B0504020202020204" pitchFamily="34" charset="0"/>
            </a:endParaRPr>
          </a:p>
        </p:txBody>
      </p:sp>
      <p:graphicFrame>
        <p:nvGraphicFramePr>
          <p:cNvPr id="6" name="Chart 5">
            <a:extLst>
              <a:ext uri="{FF2B5EF4-FFF2-40B4-BE49-F238E27FC236}">
                <a16:creationId xmlns:a16="http://schemas.microsoft.com/office/drawing/2014/main" id="{8BE58420-F6D8-488F-8782-F47B64D212C2}"/>
              </a:ext>
            </a:extLst>
          </p:cNvPr>
          <p:cNvGraphicFramePr>
            <a:graphicFrameLocks/>
          </p:cNvGraphicFramePr>
          <p:nvPr/>
        </p:nvGraphicFramePr>
        <p:xfrm>
          <a:off x="43905" y="786493"/>
          <a:ext cx="5944054" cy="32657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36218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6F8528-A491-47B8-9594-2552F9CA0A9B}"/>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TREND BIAYA PENGEBORAN PANAS BUMI (2011-2021)</a:t>
            </a:r>
          </a:p>
          <a:p>
            <a:pPr marL="0" marR="0" lvl="0" indent="0" defTabSz="914400" rtl="0" eaLnBrk="1" fontAlgn="auto" latinLnBrk="0" hangingPunct="1">
              <a:lnSpc>
                <a:spcPct val="100000"/>
              </a:lnSpc>
              <a:spcBef>
                <a:spcPts val="0"/>
              </a:spcBef>
              <a:spcAft>
                <a:spcPts val="0"/>
              </a:spcAft>
              <a:buClrTx/>
              <a:buSzTx/>
              <a:buFontTx/>
              <a:buNone/>
              <a:tabLst/>
              <a:defRPr/>
            </a:pPr>
            <a:r>
              <a:rPr lang="fi-FI" dirty="0">
                <a:solidFill>
                  <a:prstClr val="white"/>
                </a:solidFill>
                <a:latin typeface="Avenir Next LT Pro" panose="020B0504020202020204" pitchFamily="34" charset="0"/>
                <a:cs typeface="Arial" panose="020B0604020202020204" pitchFamily="34" charset="0"/>
              </a:rPr>
              <a:t>Perbandingan fluktuasi biaya pengeboran panas bumi</a:t>
            </a:r>
            <a:endParaRPr kumimoji="0" lang="en-US"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D1097446-76D4-4C4D-9C11-BFF572FEEE55}"/>
              </a:ext>
            </a:extLst>
          </p:cNvPr>
          <p:cNvSpPr txBox="1"/>
          <p:nvPr/>
        </p:nvSpPr>
        <p:spPr>
          <a:xfrm>
            <a:off x="6018212" y="762000"/>
            <a:ext cx="6005836" cy="5723105"/>
          </a:xfrm>
          <a:prstGeom prst="rect">
            <a:avLst/>
          </a:prstGeom>
          <a:solidFill>
            <a:schemeClr val="bg1">
              <a:lumMod val="95000"/>
            </a:schemeClr>
          </a:solidFill>
        </p:spPr>
        <p:txBody>
          <a:bodyPr wrap="square" rtlCol="0">
            <a:spAutoFit/>
          </a:bodyPr>
          <a:lstStyle/>
          <a:p>
            <a:pPr marL="277813" lvl="0" indent="-277813">
              <a:spcBef>
                <a:spcPct val="20000"/>
              </a:spcBef>
              <a:defRPr/>
            </a:pPr>
            <a:r>
              <a:rPr lang="en-US" sz="1700" b="1" dirty="0" err="1">
                <a:latin typeface="Avenir Next LT Pro" panose="020B0504020202020204" pitchFamily="34" charset="0"/>
              </a:rPr>
              <a:t>Tren</a:t>
            </a:r>
            <a:r>
              <a:rPr lang="en-US" sz="1700" b="1" dirty="0">
                <a:latin typeface="Avenir Next LT Pro" panose="020B0504020202020204" pitchFamily="34" charset="0"/>
              </a:rPr>
              <a:t> </a:t>
            </a:r>
            <a:r>
              <a:rPr lang="en-US" sz="1700" b="1" dirty="0" err="1">
                <a:latin typeface="Avenir Next LT Pro" panose="020B0504020202020204" pitchFamily="34" charset="0"/>
              </a:rPr>
              <a:t>tahunan</a:t>
            </a:r>
            <a:r>
              <a:rPr lang="en-US" sz="1700" b="1" dirty="0">
                <a:latin typeface="Avenir Next LT Pro" panose="020B0504020202020204" pitchFamily="34" charset="0"/>
              </a:rPr>
              <a:t> </a:t>
            </a:r>
            <a:r>
              <a:rPr lang="en-US" sz="1700" b="1" dirty="0" err="1">
                <a:latin typeface="Avenir Next LT Pro" panose="020B0504020202020204" pitchFamily="34" charset="0"/>
              </a:rPr>
              <a:t>biaya</a:t>
            </a:r>
            <a:r>
              <a:rPr lang="en-US" sz="1700" b="1" dirty="0">
                <a:latin typeface="Avenir Next LT Pro" panose="020B0504020202020204" pitchFamily="34" charset="0"/>
              </a:rPr>
              <a:t> </a:t>
            </a:r>
            <a:r>
              <a:rPr lang="en-US" sz="1700" b="1" dirty="0" err="1">
                <a:latin typeface="Avenir Next LT Pro" panose="020B0504020202020204" pitchFamily="34" charset="0"/>
              </a:rPr>
              <a:t>pengeboran</a:t>
            </a:r>
            <a:endParaRPr lang="en-US" sz="1700" b="1" dirty="0">
              <a:latin typeface="Avenir Next LT Pro" panose="020B0504020202020204" pitchFamily="34" charset="0"/>
            </a:endParaRPr>
          </a:p>
          <a:p>
            <a:pPr marL="284163" lvl="1" indent="-284163">
              <a:spcBef>
                <a:spcPct val="20000"/>
              </a:spcBef>
              <a:defRPr/>
            </a:pPr>
            <a:r>
              <a:rPr lang="en-US" sz="1700" dirty="0" err="1">
                <a:latin typeface="Avenir Next LT Pro" panose="020B0504020202020204" pitchFamily="34" charset="0"/>
              </a:rPr>
              <a:t>Evaluasi</a:t>
            </a:r>
            <a:r>
              <a:rPr lang="en-US" sz="1700" dirty="0">
                <a:latin typeface="Avenir Next LT Pro" panose="020B0504020202020204" pitchFamily="34" charset="0"/>
              </a:rPr>
              <a:t> unit cost </a:t>
            </a:r>
            <a:r>
              <a:rPr lang="en-US" sz="1700" dirty="0" err="1">
                <a:latin typeface="Avenir Next LT Pro" panose="020B0504020202020204" pitchFamily="34" charset="0"/>
              </a:rPr>
              <a:t>menunjukkan</a:t>
            </a:r>
            <a:r>
              <a:rPr lang="en-US" sz="1700" dirty="0">
                <a:latin typeface="Avenir Next LT Pro" panose="020B0504020202020204" pitchFamily="34" charset="0"/>
              </a:rPr>
              <a:t> </a:t>
            </a:r>
            <a:r>
              <a:rPr lang="en-US" sz="1700" i="1" dirty="0">
                <a:latin typeface="Avenir Next LT Pro" panose="020B0504020202020204" pitchFamily="34" charset="0"/>
              </a:rPr>
              <a:t>trend</a:t>
            </a:r>
            <a:r>
              <a:rPr lang="en-US" sz="1700" dirty="0">
                <a:latin typeface="Avenir Next LT Pro" panose="020B0504020202020204" pitchFamily="34" charset="0"/>
              </a:rPr>
              <a:t> :</a:t>
            </a:r>
          </a:p>
          <a:p>
            <a:pPr marL="403225" indent="-403225" algn="just">
              <a:spcAft>
                <a:spcPts val="900"/>
              </a:spcAft>
              <a:buFont typeface="Wingdings" pitchFamily="2" charset="2"/>
              <a:buChar char="§"/>
            </a:pPr>
            <a:r>
              <a:rPr lang="en-US" sz="1700" dirty="0" err="1">
                <a:latin typeface="Avenir Next LT Pro" panose="020B0504020202020204" pitchFamily="34" charset="0"/>
              </a:rPr>
              <a:t>Komponen</a:t>
            </a:r>
            <a:r>
              <a:rPr lang="en-US" sz="1700" dirty="0">
                <a:latin typeface="Avenir Next LT Pro" panose="020B0504020202020204" pitchFamily="34" charset="0"/>
              </a:rPr>
              <a:t> </a:t>
            </a:r>
            <a:r>
              <a:rPr lang="en-US" sz="1700" dirty="0" err="1">
                <a:latin typeface="Avenir Next LT Pro" panose="020B0504020202020204" pitchFamily="34" charset="0"/>
              </a:rPr>
              <a:t>biaya</a:t>
            </a:r>
            <a:r>
              <a:rPr lang="en-US" sz="1700" dirty="0">
                <a:latin typeface="Avenir Next LT Pro" panose="020B0504020202020204" pitchFamily="34" charset="0"/>
              </a:rPr>
              <a:t> rig </a:t>
            </a:r>
            <a:r>
              <a:rPr lang="en-US" sz="1700" dirty="0" err="1">
                <a:latin typeface="Avenir Next LT Pro" panose="020B0504020202020204" pitchFamily="34" charset="0"/>
              </a:rPr>
              <a:t>pengeboran</a:t>
            </a:r>
            <a:r>
              <a:rPr lang="en-US" sz="1700" dirty="0">
                <a:latin typeface="Avenir Next LT Pro" panose="020B0504020202020204" pitchFamily="34" charset="0"/>
              </a:rPr>
              <a:t> </a:t>
            </a:r>
            <a:r>
              <a:rPr lang="en-US" sz="1700" dirty="0" err="1">
                <a:latin typeface="Avenir Next LT Pro" panose="020B0504020202020204" pitchFamily="34" charset="0"/>
              </a:rPr>
              <a:t>mengalami</a:t>
            </a:r>
            <a:r>
              <a:rPr lang="en-US" sz="1700" dirty="0">
                <a:latin typeface="Avenir Next LT Pro" panose="020B0504020202020204" pitchFamily="34" charset="0"/>
              </a:rPr>
              <a:t> </a:t>
            </a:r>
            <a:r>
              <a:rPr lang="en-US" sz="1700" dirty="0" err="1">
                <a:latin typeface="Avenir Next LT Pro" panose="020B0504020202020204" pitchFamily="34" charset="0"/>
              </a:rPr>
              <a:t>penurunan</a:t>
            </a:r>
            <a:r>
              <a:rPr lang="en-US" sz="1700" dirty="0">
                <a:latin typeface="Avenir Next LT Pro" panose="020B0504020202020204" pitchFamily="34" charset="0"/>
              </a:rPr>
              <a:t> </a:t>
            </a:r>
            <a:r>
              <a:rPr lang="en-US" sz="1700" dirty="0" err="1">
                <a:latin typeface="Avenir Next LT Pro" panose="020B0504020202020204" pitchFamily="34" charset="0"/>
              </a:rPr>
              <a:t>akibat</a:t>
            </a:r>
            <a:r>
              <a:rPr lang="en-US" sz="1700" dirty="0">
                <a:latin typeface="Avenir Next LT Pro" panose="020B0504020202020204" pitchFamily="34" charset="0"/>
              </a:rPr>
              <a:t> trend </a:t>
            </a:r>
            <a:r>
              <a:rPr lang="en-US" sz="1700" dirty="0" err="1">
                <a:latin typeface="Avenir Next LT Pro" panose="020B0504020202020204" pitchFamily="34" charset="0"/>
              </a:rPr>
              <a:t>penurunan</a:t>
            </a:r>
            <a:r>
              <a:rPr lang="en-US" sz="1700" dirty="0">
                <a:latin typeface="Avenir Next LT Pro" panose="020B0504020202020204" pitchFamily="34" charset="0"/>
              </a:rPr>
              <a:t> </a:t>
            </a:r>
            <a:r>
              <a:rPr lang="en-US" sz="1700" dirty="0" err="1">
                <a:latin typeface="Avenir Next LT Pro" panose="020B0504020202020204" pitchFamily="34" charset="0"/>
              </a:rPr>
              <a:t>komoditas</a:t>
            </a:r>
            <a:r>
              <a:rPr lang="en-US" sz="1700" dirty="0">
                <a:latin typeface="Avenir Next LT Pro" panose="020B0504020202020204" pitchFamily="34" charset="0"/>
              </a:rPr>
              <a:t> </a:t>
            </a:r>
            <a:r>
              <a:rPr lang="en-US" sz="1700" dirty="0" err="1">
                <a:latin typeface="Avenir Next LT Pro" panose="020B0504020202020204" pitchFamily="34" charset="0"/>
              </a:rPr>
              <a:t>harga</a:t>
            </a:r>
            <a:r>
              <a:rPr lang="en-US" sz="1700" dirty="0">
                <a:latin typeface="Avenir Next LT Pro" panose="020B0504020202020204" pitchFamily="34" charset="0"/>
              </a:rPr>
              <a:t> </a:t>
            </a:r>
            <a:r>
              <a:rPr lang="en-US" sz="1700" dirty="0" err="1">
                <a:latin typeface="Avenir Next LT Pro" panose="020B0504020202020204" pitchFamily="34" charset="0"/>
              </a:rPr>
              <a:t>minyak</a:t>
            </a:r>
            <a:r>
              <a:rPr lang="en-US" sz="1700" dirty="0">
                <a:latin typeface="Avenir Next LT Pro" panose="020B0504020202020204" pitchFamily="34" charset="0"/>
              </a:rPr>
              <a:t> </a:t>
            </a:r>
            <a:r>
              <a:rPr lang="en-US" sz="1700" dirty="0" err="1">
                <a:latin typeface="Avenir Next LT Pro" panose="020B0504020202020204" pitchFamily="34" charset="0"/>
              </a:rPr>
              <a:t>dan</a:t>
            </a:r>
            <a:r>
              <a:rPr lang="en-US" sz="1700" dirty="0">
                <a:latin typeface="Avenir Next LT Pro" panose="020B0504020202020204" pitchFamily="34" charset="0"/>
              </a:rPr>
              <a:t> </a:t>
            </a:r>
            <a:r>
              <a:rPr lang="en-US" sz="1700" dirty="0" err="1">
                <a:latin typeface="Avenir Next LT Pro" panose="020B0504020202020204" pitchFamily="34" charset="0"/>
              </a:rPr>
              <a:t>berkurangnya</a:t>
            </a:r>
            <a:r>
              <a:rPr lang="en-US" sz="1700" dirty="0">
                <a:latin typeface="Avenir Next LT Pro" panose="020B0504020202020204" pitchFamily="34" charset="0"/>
              </a:rPr>
              <a:t> </a:t>
            </a:r>
            <a:r>
              <a:rPr lang="en-US" sz="1700" dirty="0" err="1">
                <a:latin typeface="Avenir Next LT Pro" panose="020B0504020202020204" pitchFamily="34" charset="0"/>
              </a:rPr>
              <a:t>frekuensi</a:t>
            </a:r>
            <a:r>
              <a:rPr lang="en-US" sz="1700" dirty="0">
                <a:latin typeface="Avenir Next LT Pro" panose="020B0504020202020204" pitchFamily="34" charset="0"/>
              </a:rPr>
              <a:t> </a:t>
            </a:r>
            <a:r>
              <a:rPr lang="en-US" sz="1700" dirty="0" err="1">
                <a:latin typeface="Avenir Next LT Pro" panose="020B0504020202020204" pitchFamily="34" charset="0"/>
              </a:rPr>
              <a:t>proyek</a:t>
            </a:r>
            <a:r>
              <a:rPr lang="en-US" sz="1700" dirty="0">
                <a:latin typeface="Avenir Next LT Pro" panose="020B0504020202020204" pitchFamily="34" charset="0"/>
              </a:rPr>
              <a:t> </a:t>
            </a:r>
            <a:r>
              <a:rPr lang="en-US" sz="1700" dirty="0" err="1">
                <a:latin typeface="Avenir Next LT Pro" panose="020B0504020202020204" pitchFamily="34" charset="0"/>
              </a:rPr>
              <a:t>pengeboran</a:t>
            </a:r>
            <a:r>
              <a:rPr lang="en-US" sz="1700" dirty="0">
                <a:latin typeface="Avenir Next LT Pro" panose="020B0504020202020204" pitchFamily="34" charset="0"/>
              </a:rPr>
              <a:t> (</a:t>
            </a:r>
            <a:r>
              <a:rPr lang="en-US" sz="1700" dirty="0" err="1">
                <a:latin typeface="Avenir Next LT Pro" panose="020B0504020202020204" pitchFamily="34" charset="0"/>
              </a:rPr>
              <a:t>migas</a:t>
            </a:r>
            <a:r>
              <a:rPr lang="en-US" sz="1700" dirty="0">
                <a:latin typeface="Avenir Next LT Pro" panose="020B0504020202020204" pitchFamily="34" charset="0"/>
              </a:rPr>
              <a:t> &amp; geothermal). Trend </a:t>
            </a:r>
            <a:r>
              <a:rPr lang="en-US" sz="1700" dirty="0" err="1">
                <a:latin typeface="Avenir Next LT Pro" panose="020B0504020202020204" pitchFamily="34" charset="0"/>
              </a:rPr>
              <a:t>harga</a:t>
            </a:r>
            <a:r>
              <a:rPr lang="en-US" sz="1700" dirty="0">
                <a:latin typeface="Avenir Next LT Pro" panose="020B0504020202020204" pitchFamily="34" charset="0"/>
              </a:rPr>
              <a:t> </a:t>
            </a:r>
            <a:r>
              <a:rPr lang="en-US" sz="1700" dirty="0" err="1">
                <a:latin typeface="Avenir Next LT Pro" panose="020B0504020202020204" pitchFamily="34" charset="0"/>
              </a:rPr>
              <a:t>minyak</a:t>
            </a:r>
            <a:r>
              <a:rPr lang="en-US" sz="1700" dirty="0">
                <a:latin typeface="Avenir Next LT Pro" panose="020B0504020202020204" pitchFamily="34" charset="0"/>
              </a:rPr>
              <a:t> </a:t>
            </a:r>
            <a:r>
              <a:rPr lang="en-US" sz="1700" dirty="0" err="1">
                <a:latin typeface="Avenir Next LT Pro" panose="020B0504020202020204" pitchFamily="34" charset="0"/>
              </a:rPr>
              <a:t>turun</a:t>
            </a:r>
            <a:r>
              <a:rPr lang="en-US" sz="1700" dirty="0">
                <a:latin typeface="Avenir Next LT Pro" panose="020B0504020202020204" pitchFamily="34" charset="0"/>
              </a:rPr>
              <a:t> </a:t>
            </a:r>
            <a:r>
              <a:rPr lang="en-US" sz="1700" dirty="0" err="1">
                <a:latin typeface="Avenir Next LT Pro" panose="020B0504020202020204" pitchFamily="34" charset="0"/>
              </a:rPr>
              <a:t>dari</a:t>
            </a:r>
            <a:r>
              <a:rPr lang="en-US" sz="1700" dirty="0">
                <a:latin typeface="Avenir Next LT Pro" panose="020B0504020202020204" pitchFamily="34" charset="0"/>
              </a:rPr>
              <a:t> 90-110 USD/bbl (2011-2012) </a:t>
            </a:r>
            <a:r>
              <a:rPr lang="en-US" sz="1700" dirty="0" err="1">
                <a:latin typeface="Avenir Next LT Pro" panose="020B0504020202020204" pitchFamily="34" charset="0"/>
              </a:rPr>
              <a:t>menjadi</a:t>
            </a:r>
            <a:r>
              <a:rPr lang="en-US" sz="1700" dirty="0">
                <a:latin typeface="Avenir Next LT Pro" panose="020B0504020202020204" pitchFamily="34" charset="0"/>
              </a:rPr>
              <a:t> 50-70 USD/bbl (2017-2019).</a:t>
            </a:r>
          </a:p>
          <a:p>
            <a:pPr marL="403225" indent="-403225" algn="just">
              <a:spcAft>
                <a:spcPts val="900"/>
              </a:spcAft>
              <a:buFont typeface="Wingdings" pitchFamily="2" charset="2"/>
              <a:buChar char="§"/>
            </a:pPr>
            <a:r>
              <a:rPr lang="en-US" sz="1700" dirty="0" err="1">
                <a:latin typeface="Avenir Next LT Pro" panose="020B0504020202020204" pitchFamily="34" charset="0"/>
              </a:rPr>
              <a:t>Selain</a:t>
            </a:r>
            <a:r>
              <a:rPr lang="en-US" sz="1700" dirty="0">
                <a:latin typeface="Avenir Next LT Pro" panose="020B0504020202020204" pitchFamily="34" charset="0"/>
              </a:rPr>
              <a:t> </a:t>
            </a:r>
            <a:r>
              <a:rPr lang="en-US" sz="1700" dirty="0" err="1">
                <a:latin typeface="Avenir Next LT Pro" panose="020B0504020202020204" pitchFamily="34" charset="0"/>
              </a:rPr>
              <a:t>itu</a:t>
            </a:r>
            <a:r>
              <a:rPr lang="en-US" sz="1700" dirty="0">
                <a:latin typeface="Avenir Next LT Pro" panose="020B0504020202020204" pitchFamily="34" charset="0"/>
              </a:rPr>
              <a:t>, </a:t>
            </a:r>
            <a:r>
              <a:rPr lang="en-US" sz="1700" dirty="0" err="1">
                <a:latin typeface="Avenir Next LT Pro" panose="020B0504020202020204" pitchFamily="34" charset="0"/>
              </a:rPr>
              <a:t>seiring</a:t>
            </a:r>
            <a:r>
              <a:rPr lang="en-US" sz="1700" dirty="0">
                <a:latin typeface="Avenir Next LT Pro" panose="020B0504020202020204" pitchFamily="34" charset="0"/>
              </a:rPr>
              <a:t> </a:t>
            </a:r>
            <a:r>
              <a:rPr lang="en-US" sz="1700" dirty="0" err="1">
                <a:latin typeface="Avenir Next LT Pro" panose="020B0504020202020204" pitchFamily="34" charset="0"/>
              </a:rPr>
              <a:t>semakin</a:t>
            </a:r>
            <a:r>
              <a:rPr lang="en-US" sz="1700" dirty="0">
                <a:latin typeface="Avenir Next LT Pro" panose="020B0504020202020204" pitchFamily="34" charset="0"/>
              </a:rPr>
              <a:t> </a:t>
            </a:r>
            <a:r>
              <a:rPr lang="en-US" sz="1700" dirty="0" err="1">
                <a:latin typeface="Avenir Next LT Pro" panose="020B0504020202020204" pitchFamily="34" charset="0"/>
              </a:rPr>
              <a:t>banyaknya</a:t>
            </a:r>
            <a:r>
              <a:rPr lang="en-US" sz="1700" dirty="0">
                <a:latin typeface="Avenir Next LT Pro" panose="020B0504020202020204" pitchFamily="34" charset="0"/>
              </a:rPr>
              <a:t> </a:t>
            </a:r>
            <a:r>
              <a:rPr lang="en-US" sz="1700" dirty="0" err="1">
                <a:latin typeface="Avenir Next LT Pro" panose="020B0504020202020204" pitchFamily="34" charset="0"/>
              </a:rPr>
              <a:t>tenaga</a:t>
            </a:r>
            <a:r>
              <a:rPr lang="en-US" sz="1700" dirty="0">
                <a:latin typeface="Avenir Next LT Pro" panose="020B0504020202020204" pitchFamily="34" charset="0"/>
              </a:rPr>
              <a:t> </a:t>
            </a:r>
            <a:r>
              <a:rPr lang="en-US" sz="1700" dirty="0" err="1">
                <a:latin typeface="Avenir Next LT Pro" panose="020B0504020202020204" pitchFamily="34" charset="0"/>
              </a:rPr>
              <a:t>kerja</a:t>
            </a:r>
            <a:r>
              <a:rPr lang="en-US" sz="1700" dirty="0">
                <a:latin typeface="Avenir Next LT Pro" panose="020B0504020202020204" pitchFamily="34" charset="0"/>
              </a:rPr>
              <a:t>                  di </a:t>
            </a:r>
            <a:r>
              <a:rPr lang="en-US" sz="1700" dirty="0" err="1">
                <a:latin typeface="Avenir Next LT Pro" panose="020B0504020202020204" pitchFamily="34" charset="0"/>
              </a:rPr>
              <a:t>bidang</a:t>
            </a:r>
            <a:r>
              <a:rPr lang="en-US" sz="1700" dirty="0">
                <a:latin typeface="Avenir Next LT Pro" panose="020B0504020202020204" pitchFamily="34" charset="0"/>
              </a:rPr>
              <a:t> </a:t>
            </a:r>
            <a:r>
              <a:rPr lang="en-US" sz="1700" dirty="0" err="1">
                <a:latin typeface="Avenir Next LT Pro" panose="020B0504020202020204" pitchFamily="34" charset="0"/>
              </a:rPr>
              <a:t>panas</a:t>
            </a:r>
            <a:r>
              <a:rPr lang="en-US" sz="1700" dirty="0">
                <a:latin typeface="Avenir Next LT Pro" panose="020B0504020202020204" pitchFamily="34" charset="0"/>
              </a:rPr>
              <a:t> </a:t>
            </a:r>
            <a:r>
              <a:rPr lang="en-US" sz="1700" dirty="0" err="1">
                <a:latin typeface="Avenir Next LT Pro" panose="020B0504020202020204" pitchFamily="34" charset="0"/>
              </a:rPr>
              <a:t>bumi</a:t>
            </a:r>
            <a:r>
              <a:rPr lang="en-US" sz="1700" dirty="0">
                <a:latin typeface="Avenir Next LT Pro" panose="020B0504020202020204" pitchFamily="34" charset="0"/>
              </a:rPr>
              <a:t>, </a:t>
            </a:r>
            <a:r>
              <a:rPr lang="en-US" sz="1700" dirty="0" err="1">
                <a:latin typeface="Avenir Next LT Pro" panose="020B0504020202020204" pitchFamily="34" charset="0"/>
              </a:rPr>
              <a:t>membuat</a:t>
            </a:r>
            <a:r>
              <a:rPr lang="en-US" sz="1700" dirty="0">
                <a:latin typeface="Avenir Next LT Pro" panose="020B0504020202020204" pitchFamily="34" charset="0"/>
              </a:rPr>
              <a:t> </a:t>
            </a:r>
            <a:r>
              <a:rPr lang="en-US" sz="1700" i="1" dirty="0">
                <a:latin typeface="Avenir Next LT Pro" panose="020B0504020202020204" pitchFamily="34" charset="0"/>
              </a:rPr>
              <a:t>developer</a:t>
            </a:r>
            <a:r>
              <a:rPr lang="en-US" sz="1700" dirty="0">
                <a:latin typeface="Avenir Next LT Pro" panose="020B0504020202020204" pitchFamily="34" charset="0"/>
              </a:rPr>
              <a:t> </a:t>
            </a:r>
            <a:r>
              <a:rPr lang="en-US" sz="1700" dirty="0" err="1">
                <a:latin typeface="Avenir Next LT Pro" panose="020B0504020202020204" pitchFamily="34" charset="0"/>
              </a:rPr>
              <a:t>dapat</a:t>
            </a:r>
            <a:r>
              <a:rPr lang="en-US" sz="1700" dirty="0">
                <a:latin typeface="Avenir Next LT Pro" panose="020B0504020202020204" pitchFamily="34" charset="0"/>
              </a:rPr>
              <a:t> </a:t>
            </a:r>
            <a:r>
              <a:rPr lang="en-US" sz="1700" dirty="0" err="1">
                <a:latin typeface="Avenir Next LT Pro" panose="020B0504020202020204" pitchFamily="34" charset="0"/>
              </a:rPr>
              <a:t>merekrut</a:t>
            </a:r>
            <a:r>
              <a:rPr lang="en-US" sz="1700" dirty="0">
                <a:latin typeface="Avenir Next LT Pro" panose="020B0504020202020204" pitchFamily="34" charset="0"/>
              </a:rPr>
              <a:t> </a:t>
            </a:r>
            <a:r>
              <a:rPr lang="en-US" sz="1700" dirty="0" err="1">
                <a:latin typeface="Avenir Next LT Pro" panose="020B0504020202020204" pitchFamily="34" charset="0"/>
              </a:rPr>
              <a:t>tenaga</a:t>
            </a:r>
            <a:r>
              <a:rPr lang="en-US" sz="1700" dirty="0">
                <a:latin typeface="Avenir Next LT Pro" panose="020B0504020202020204" pitchFamily="34" charset="0"/>
              </a:rPr>
              <a:t> </a:t>
            </a:r>
            <a:r>
              <a:rPr lang="en-US" sz="1700" dirty="0" err="1">
                <a:latin typeface="Avenir Next LT Pro" panose="020B0504020202020204" pitchFamily="34" charset="0"/>
              </a:rPr>
              <a:t>kerja</a:t>
            </a:r>
            <a:r>
              <a:rPr lang="en-US" sz="1700" dirty="0">
                <a:latin typeface="Avenir Next LT Pro" panose="020B0504020202020204" pitchFamily="34" charset="0"/>
              </a:rPr>
              <a:t> pada </a:t>
            </a:r>
            <a:r>
              <a:rPr lang="en-US" sz="1700" dirty="0" err="1">
                <a:latin typeface="Avenir Next LT Pro" panose="020B0504020202020204" pitchFamily="34" charset="0"/>
              </a:rPr>
              <a:t>perusahaan</a:t>
            </a:r>
            <a:r>
              <a:rPr lang="en-US" sz="1700" dirty="0">
                <a:latin typeface="Avenir Next LT Pro" panose="020B0504020202020204" pitchFamily="34" charset="0"/>
              </a:rPr>
              <a:t> masing-masing, </a:t>
            </a:r>
            <a:r>
              <a:rPr lang="en-US" sz="1700" dirty="0">
                <a:solidFill>
                  <a:srgbClr val="C00000"/>
                </a:solidFill>
                <a:latin typeface="Avenir Next LT Pro" panose="020B0504020202020204" pitchFamily="34" charset="0"/>
              </a:rPr>
              <a:t>dan </a:t>
            </a:r>
            <a:r>
              <a:rPr lang="en-US" sz="1700" dirty="0" err="1">
                <a:solidFill>
                  <a:srgbClr val="C00000"/>
                </a:solidFill>
                <a:latin typeface="Avenir Next LT Pro" panose="020B0504020202020204" pitchFamily="34" charset="0"/>
              </a:rPr>
              <a:t>beralih</a:t>
            </a:r>
            <a:r>
              <a:rPr lang="en-US" sz="1700" dirty="0">
                <a:solidFill>
                  <a:srgbClr val="C00000"/>
                </a:solidFill>
                <a:latin typeface="Avenir Next LT Pro" panose="020B0504020202020204" pitchFamily="34" charset="0"/>
              </a:rPr>
              <a:t> </a:t>
            </a:r>
            <a:r>
              <a:rPr lang="en-US" sz="1700" dirty="0" err="1">
                <a:solidFill>
                  <a:srgbClr val="C00000"/>
                </a:solidFill>
                <a:latin typeface="Avenir Next LT Pro" panose="020B0504020202020204" pitchFamily="34" charset="0"/>
              </a:rPr>
              <a:t>dari</a:t>
            </a:r>
            <a:r>
              <a:rPr lang="en-US" sz="1700" dirty="0">
                <a:solidFill>
                  <a:srgbClr val="C00000"/>
                </a:solidFill>
                <a:latin typeface="Avenir Next LT Pro" panose="020B0504020202020204" pitchFamily="34" charset="0"/>
              </a:rPr>
              <a:t> </a:t>
            </a:r>
            <a:r>
              <a:rPr lang="en-US" sz="1700" dirty="0" err="1">
                <a:solidFill>
                  <a:srgbClr val="C00000"/>
                </a:solidFill>
                <a:latin typeface="Avenir Next LT Pro" panose="020B0504020202020204" pitchFamily="34" charset="0"/>
              </a:rPr>
              <a:t>skema</a:t>
            </a:r>
            <a:r>
              <a:rPr lang="en-US" sz="1700" dirty="0">
                <a:solidFill>
                  <a:srgbClr val="C00000"/>
                </a:solidFill>
                <a:latin typeface="Avenir Next LT Pro" panose="020B0504020202020204" pitchFamily="34" charset="0"/>
              </a:rPr>
              <a:t> </a:t>
            </a:r>
            <a:r>
              <a:rPr lang="en-US" sz="1700" dirty="0" err="1">
                <a:solidFill>
                  <a:srgbClr val="C00000"/>
                </a:solidFill>
                <a:latin typeface="Avenir Next LT Pro" panose="020B0504020202020204" pitchFamily="34" charset="0"/>
              </a:rPr>
              <a:t>kontrak</a:t>
            </a:r>
            <a:r>
              <a:rPr lang="en-US" sz="1700" dirty="0">
                <a:solidFill>
                  <a:srgbClr val="C00000"/>
                </a:solidFill>
                <a:latin typeface="Avenir Next LT Pro" panose="020B0504020202020204" pitchFamily="34" charset="0"/>
              </a:rPr>
              <a:t> </a:t>
            </a:r>
            <a:r>
              <a:rPr lang="en-US" sz="1700" dirty="0" err="1">
                <a:solidFill>
                  <a:srgbClr val="C00000"/>
                </a:solidFill>
                <a:latin typeface="Avenir Next LT Pro" panose="020B0504020202020204" pitchFamily="34" charset="0"/>
              </a:rPr>
              <a:t>pengeboran</a:t>
            </a:r>
            <a:r>
              <a:rPr lang="en-US" sz="1700" dirty="0">
                <a:solidFill>
                  <a:srgbClr val="C00000"/>
                </a:solidFill>
                <a:latin typeface="Avenir Next LT Pro" panose="020B0504020202020204" pitchFamily="34" charset="0"/>
              </a:rPr>
              <a:t> Full IPM </a:t>
            </a:r>
            <a:r>
              <a:rPr lang="en-US" sz="1700" dirty="0" err="1">
                <a:solidFill>
                  <a:srgbClr val="C00000"/>
                </a:solidFill>
                <a:latin typeface="Avenir Next LT Pro" panose="020B0504020202020204" pitchFamily="34" charset="0"/>
              </a:rPr>
              <a:t>menjadi</a:t>
            </a:r>
            <a:r>
              <a:rPr lang="en-US" sz="1700" dirty="0">
                <a:solidFill>
                  <a:srgbClr val="C00000"/>
                </a:solidFill>
                <a:latin typeface="Avenir Next LT Pro" panose="020B0504020202020204" pitchFamily="34" charset="0"/>
              </a:rPr>
              <a:t> Semi-IPM, </a:t>
            </a:r>
            <a:r>
              <a:rPr lang="en-US" sz="1700" i="1" dirty="0">
                <a:solidFill>
                  <a:srgbClr val="C00000"/>
                </a:solidFill>
                <a:latin typeface="Avenir Next LT Pro" panose="020B0504020202020204" pitchFamily="34" charset="0"/>
              </a:rPr>
              <a:t>bundle</a:t>
            </a:r>
            <a:r>
              <a:rPr lang="en-US" sz="1700" dirty="0">
                <a:solidFill>
                  <a:srgbClr val="C00000"/>
                </a:solidFill>
                <a:latin typeface="Avenir Next LT Pro" panose="020B0504020202020204" pitchFamily="34" charset="0"/>
              </a:rPr>
              <a:t> dan </a:t>
            </a:r>
            <a:r>
              <a:rPr lang="en-US" sz="1700" i="1" dirty="0">
                <a:solidFill>
                  <a:srgbClr val="C00000"/>
                </a:solidFill>
                <a:latin typeface="Avenir Next LT Pro" panose="020B0504020202020204" pitchFamily="34" charset="0"/>
              </a:rPr>
              <a:t>discrete </a:t>
            </a:r>
            <a:r>
              <a:rPr lang="en-US" sz="1700" dirty="0">
                <a:latin typeface="Avenir Next LT Pro" panose="020B0504020202020204" pitchFamily="34" charset="0"/>
              </a:rPr>
              <a:t>yang </a:t>
            </a:r>
            <a:r>
              <a:rPr lang="en-US" sz="1700" dirty="0" err="1">
                <a:latin typeface="Avenir Next LT Pro" panose="020B0504020202020204" pitchFamily="34" charset="0"/>
              </a:rPr>
              <a:t>relatif</a:t>
            </a:r>
            <a:r>
              <a:rPr lang="en-US" sz="1700" dirty="0">
                <a:latin typeface="Avenir Next LT Pro" panose="020B0504020202020204" pitchFamily="34" charset="0"/>
              </a:rPr>
              <a:t> </a:t>
            </a:r>
            <a:r>
              <a:rPr lang="en-US" sz="1700" dirty="0" err="1">
                <a:latin typeface="Avenir Next LT Pro" panose="020B0504020202020204" pitchFamily="34" charset="0"/>
              </a:rPr>
              <a:t>lebih</a:t>
            </a:r>
            <a:r>
              <a:rPr lang="en-US" sz="1700" dirty="0">
                <a:latin typeface="Avenir Next LT Pro" panose="020B0504020202020204" pitchFamily="34" charset="0"/>
              </a:rPr>
              <a:t> </a:t>
            </a:r>
            <a:r>
              <a:rPr lang="en-US" sz="1700" dirty="0" err="1">
                <a:latin typeface="Avenir Next LT Pro" panose="020B0504020202020204" pitchFamily="34" charset="0"/>
              </a:rPr>
              <a:t>murah</a:t>
            </a:r>
            <a:r>
              <a:rPr lang="en-US" sz="1700" dirty="0">
                <a:latin typeface="Avenir Next LT Pro" panose="020B0504020202020204" pitchFamily="34" charset="0"/>
              </a:rPr>
              <a:t> </a:t>
            </a:r>
            <a:r>
              <a:rPr lang="en-US" sz="1700" dirty="0" err="1">
                <a:latin typeface="Avenir Next LT Pro" panose="020B0504020202020204" pitchFamily="34" charset="0"/>
              </a:rPr>
              <a:t>serta</a:t>
            </a:r>
            <a:r>
              <a:rPr lang="en-US" sz="1700" dirty="0">
                <a:latin typeface="Avenir Next LT Pro" panose="020B0504020202020204" pitchFamily="34" charset="0"/>
              </a:rPr>
              <a:t> </a:t>
            </a:r>
            <a:r>
              <a:rPr lang="en-US" sz="1700" dirty="0" err="1">
                <a:latin typeface="Avenir Next LT Pro" panose="020B0504020202020204" pitchFamily="34" charset="0"/>
              </a:rPr>
              <a:t>penggunaan</a:t>
            </a:r>
            <a:r>
              <a:rPr lang="en-US" sz="1700" dirty="0">
                <a:latin typeface="Avenir Next LT Pro" panose="020B0504020202020204" pitchFamily="34" charset="0"/>
              </a:rPr>
              <a:t> rig </a:t>
            </a:r>
            <a:r>
              <a:rPr lang="en-US" sz="1700" dirty="0" err="1">
                <a:latin typeface="Avenir Next LT Pro" panose="020B0504020202020204" pitchFamily="34" charset="0"/>
              </a:rPr>
              <a:t>sendiri</a:t>
            </a:r>
            <a:r>
              <a:rPr lang="en-US" sz="1700" dirty="0">
                <a:latin typeface="Avenir Next LT Pro" panose="020B0504020202020204" pitchFamily="34" charset="0"/>
              </a:rPr>
              <a:t>.</a:t>
            </a:r>
            <a:endParaRPr lang="en-US" sz="1700" i="1" dirty="0">
              <a:latin typeface="Avenir Next LT Pro" panose="020B0504020202020204" pitchFamily="34" charset="0"/>
            </a:endParaRPr>
          </a:p>
          <a:p>
            <a:pPr marL="403225" indent="-403225" algn="just">
              <a:spcAft>
                <a:spcPts val="900"/>
              </a:spcAft>
              <a:buFont typeface="Wingdings" pitchFamily="2" charset="2"/>
              <a:buChar char="§"/>
            </a:pPr>
            <a:r>
              <a:rPr lang="en-US" sz="1700" dirty="0" err="1">
                <a:latin typeface="Avenir Next LT Pro" panose="020B0504020202020204" pitchFamily="34" charset="0"/>
              </a:rPr>
              <a:t>Dengan</a:t>
            </a:r>
            <a:r>
              <a:rPr lang="en-US" sz="1700" dirty="0">
                <a:latin typeface="Avenir Next LT Pro" panose="020B0504020202020204" pitchFamily="34" charset="0"/>
              </a:rPr>
              <a:t> </a:t>
            </a:r>
            <a:r>
              <a:rPr lang="en-US" sz="1700" dirty="0" err="1">
                <a:latin typeface="Avenir Next LT Pro" panose="020B0504020202020204" pitchFamily="34" charset="0"/>
              </a:rPr>
              <a:t>semakin</a:t>
            </a:r>
            <a:r>
              <a:rPr lang="en-US" sz="1700" dirty="0">
                <a:latin typeface="Avenir Next LT Pro" panose="020B0504020202020204" pitchFamily="34" charset="0"/>
              </a:rPr>
              <a:t> </a:t>
            </a:r>
            <a:r>
              <a:rPr lang="en-US" sz="1700" dirty="0" err="1">
                <a:latin typeface="Avenir Next LT Pro" panose="020B0504020202020204" pitchFamily="34" charset="0"/>
              </a:rPr>
              <a:t>banyaknya</a:t>
            </a:r>
            <a:r>
              <a:rPr lang="en-US" sz="1700" dirty="0">
                <a:latin typeface="Avenir Next LT Pro" panose="020B0504020202020204" pitchFamily="34" charset="0"/>
              </a:rPr>
              <a:t> </a:t>
            </a:r>
            <a:r>
              <a:rPr lang="en-US" sz="1700" dirty="0" err="1">
                <a:latin typeface="Avenir Next LT Pro" panose="020B0504020202020204" pitchFamily="34" charset="0"/>
              </a:rPr>
              <a:t>tenaga</a:t>
            </a:r>
            <a:r>
              <a:rPr lang="en-US" sz="1700" dirty="0">
                <a:latin typeface="Avenir Next LT Pro" panose="020B0504020202020204" pitchFamily="34" charset="0"/>
              </a:rPr>
              <a:t> </a:t>
            </a:r>
            <a:r>
              <a:rPr lang="en-US" sz="1700" dirty="0" err="1">
                <a:latin typeface="Avenir Next LT Pro" panose="020B0504020202020204" pitchFamily="34" charset="0"/>
              </a:rPr>
              <a:t>kerja</a:t>
            </a:r>
            <a:r>
              <a:rPr lang="en-US" sz="1700" dirty="0">
                <a:latin typeface="Avenir Next LT Pro" panose="020B0504020202020204" pitchFamily="34" charset="0"/>
              </a:rPr>
              <a:t> dan rig </a:t>
            </a:r>
            <a:r>
              <a:rPr lang="en-US" sz="1700" dirty="0" err="1">
                <a:latin typeface="Avenir Next LT Pro" panose="020B0504020202020204" pitchFamily="34" charset="0"/>
              </a:rPr>
              <a:t>pengeboran</a:t>
            </a:r>
            <a:r>
              <a:rPr lang="en-US" sz="1700" dirty="0">
                <a:latin typeface="Avenir Next LT Pro" panose="020B0504020202020204" pitchFamily="34" charset="0"/>
              </a:rPr>
              <a:t> di </a:t>
            </a:r>
            <a:r>
              <a:rPr lang="en-US" sz="1700" dirty="0" err="1">
                <a:latin typeface="Avenir Next LT Pro" panose="020B0504020202020204" pitchFamily="34" charset="0"/>
              </a:rPr>
              <a:t>bidang</a:t>
            </a:r>
            <a:r>
              <a:rPr lang="en-US" sz="1700" dirty="0">
                <a:latin typeface="Avenir Next LT Pro" panose="020B0504020202020204" pitchFamily="34" charset="0"/>
              </a:rPr>
              <a:t> </a:t>
            </a:r>
            <a:r>
              <a:rPr lang="en-US" sz="1700" dirty="0" err="1">
                <a:latin typeface="Avenir Next LT Pro" panose="020B0504020202020204" pitchFamily="34" charset="0"/>
              </a:rPr>
              <a:t>panas</a:t>
            </a:r>
            <a:r>
              <a:rPr lang="en-US" sz="1700" dirty="0">
                <a:latin typeface="Avenir Next LT Pro" panose="020B0504020202020204" pitchFamily="34" charset="0"/>
              </a:rPr>
              <a:t> </a:t>
            </a:r>
            <a:r>
              <a:rPr lang="en-US" sz="1700" dirty="0" err="1">
                <a:latin typeface="Avenir Next LT Pro" panose="020B0504020202020204" pitchFamily="34" charset="0"/>
              </a:rPr>
              <a:t>bumi</a:t>
            </a:r>
            <a:r>
              <a:rPr lang="en-US" sz="1700" dirty="0">
                <a:latin typeface="Avenir Next LT Pro" panose="020B0504020202020204" pitchFamily="34" charset="0"/>
              </a:rPr>
              <a:t>, </a:t>
            </a:r>
            <a:r>
              <a:rPr lang="en-US" sz="1700" dirty="0" err="1">
                <a:latin typeface="Avenir Next LT Pro" panose="020B0504020202020204" pitchFamily="34" charset="0"/>
              </a:rPr>
              <a:t>proyek</a:t>
            </a:r>
            <a:r>
              <a:rPr lang="en-US" sz="1700" dirty="0">
                <a:latin typeface="Avenir Next LT Pro" panose="020B0504020202020204" pitchFamily="34" charset="0"/>
              </a:rPr>
              <a:t> </a:t>
            </a:r>
            <a:r>
              <a:rPr lang="en-US" sz="1700" dirty="0" err="1">
                <a:latin typeface="Avenir Next LT Pro" panose="020B0504020202020204" pitchFamily="34" charset="0"/>
              </a:rPr>
              <a:t>pengeboran</a:t>
            </a:r>
            <a:r>
              <a:rPr lang="en-US" sz="1700" dirty="0">
                <a:latin typeface="Avenir Next LT Pro" panose="020B0504020202020204" pitchFamily="34" charset="0"/>
              </a:rPr>
              <a:t> </a:t>
            </a:r>
            <a:r>
              <a:rPr lang="en-US" sz="1700" dirty="0" err="1">
                <a:latin typeface="Avenir Next LT Pro" panose="020B0504020202020204" pitchFamily="34" charset="0"/>
              </a:rPr>
              <a:t>panas</a:t>
            </a:r>
            <a:r>
              <a:rPr lang="en-US" sz="1700" dirty="0">
                <a:latin typeface="Avenir Next LT Pro" panose="020B0504020202020204" pitchFamily="34" charset="0"/>
              </a:rPr>
              <a:t> </a:t>
            </a:r>
            <a:r>
              <a:rPr lang="en-US" sz="1700" dirty="0" err="1">
                <a:latin typeface="Avenir Next LT Pro" panose="020B0504020202020204" pitchFamily="34" charset="0"/>
              </a:rPr>
              <a:t>bumi</a:t>
            </a:r>
            <a:r>
              <a:rPr lang="en-US" sz="1700" dirty="0">
                <a:latin typeface="Avenir Next LT Pro" panose="020B0504020202020204" pitchFamily="34" charset="0"/>
              </a:rPr>
              <a:t> </a:t>
            </a:r>
            <a:r>
              <a:rPr lang="en-US" sz="1700" dirty="0" err="1">
                <a:latin typeface="Avenir Next LT Pro" panose="020B0504020202020204" pitchFamily="34" charset="0"/>
              </a:rPr>
              <a:t>akan</a:t>
            </a:r>
            <a:r>
              <a:rPr lang="en-US" sz="1700" dirty="0">
                <a:latin typeface="Avenir Next LT Pro" panose="020B0504020202020204" pitchFamily="34" charset="0"/>
              </a:rPr>
              <a:t> </a:t>
            </a:r>
            <a:r>
              <a:rPr lang="en-US" sz="1700" dirty="0" err="1">
                <a:latin typeface="Avenir Next LT Pro" panose="020B0504020202020204" pitchFamily="34" charset="0"/>
              </a:rPr>
              <a:t>semakin</a:t>
            </a:r>
            <a:r>
              <a:rPr lang="en-US" sz="1700" dirty="0">
                <a:latin typeface="Avenir Next LT Pro" panose="020B0504020202020204" pitchFamily="34" charset="0"/>
              </a:rPr>
              <a:t> </a:t>
            </a:r>
            <a:r>
              <a:rPr lang="en-US" sz="1700" dirty="0" err="1">
                <a:latin typeface="Avenir Next LT Pro" panose="020B0504020202020204" pitchFamily="34" charset="0"/>
              </a:rPr>
              <a:t>terdorong</a:t>
            </a:r>
            <a:r>
              <a:rPr lang="en-US" sz="1700" dirty="0">
                <a:latin typeface="Avenir Next LT Pro" panose="020B0504020202020204" pitchFamily="34" charset="0"/>
              </a:rPr>
              <a:t> </a:t>
            </a:r>
            <a:r>
              <a:rPr lang="en-US" sz="1700" dirty="0" err="1">
                <a:latin typeface="Avenir Next LT Pro" panose="020B0504020202020204" pitchFamily="34" charset="0"/>
              </a:rPr>
              <a:t>untuk</a:t>
            </a:r>
            <a:r>
              <a:rPr lang="en-US" sz="1700" dirty="0">
                <a:latin typeface="Avenir Next LT Pro" panose="020B0504020202020204" pitchFamily="34" charset="0"/>
              </a:rPr>
              <a:t> </a:t>
            </a:r>
            <a:r>
              <a:rPr lang="en-US" sz="1700" dirty="0" err="1">
                <a:latin typeface="Avenir Next LT Pro" panose="020B0504020202020204" pitchFamily="34" charset="0"/>
              </a:rPr>
              <a:t>lebih</a:t>
            </a:r>
            <a:r>
              <a:rPr lang="en-US" sz="1700" dirty="0">
                <a:latin typeface="Avenir Next LT Pro" panose="020B0504020202020204" pitchFamily="34" charset="0"/>
              </a:rPr>
              <a:t> </a:t>
            </a:r>
            <a:r>
              <a:rPr lang="en-US" sz="1700" i="1" dirty="0">
                <a:latin typeface="Avenir Next LT Pro" panose="020B0504020202020204" pitchFamily="34" charset="0"/>
              </a:rPr>
              <a:t>cost-effective.</a:t>
            </a:r>
          </a:p>
          <a:p>
            <a:pPr marL="403225" indent="-403225" algn="just">
              <a:spcAft>
                <a:spcPts val="900"/>
              </a:spcAft>
              <a:buFont typeface="Wingdings" pitchFamily="2" charset="2"/>
              <a:buChar char="§"/>
            </a:pPr>
            <a:r>
              <a:rPr lang="en-US" sz="1700" b="1" dirty="0" err="1">
                <a:solidFill>
                  <a:srgbClr val="C00000"/>
                </a:solidFill>
                <a:latin typeface="Avenir Next LT Pro" panose="020B0504020202020204" pitchFamily="34" charset="0"/>
              </a:rPr>
              <a:t>Kementerian</a:t>
            </a:r>
            <a:r>
              <a:rPr lang="en-US" sz="1700" b="1" dirty="0">
                <a:solidFill>
                  <a:srgbClr val="C00000"/>
                </a:solidFill>
                <a:latin typeface="Avenir Next LT Pro" panose="020B0504020202020204" pitchFamily="34" charset="0"/>
              </a:rPr>
              <a:t> ESDM </a:t>
            </a:r>
            <a:r>
              <a:rPr lang="en-US" sz="1700" b="1" dirty="0" err="1">
                <a:solidFill>
                  <a:srgbClr val="C00000"/>
                </a:solidFill>
                <a:latin typeface="Avenir Next LT Pro" panose="020B0504020202020204" pitchFamily="34" charset="0"/>
              </a:rPr>
              <a:t>mendorong</a:t>
            </a:r>
            <a:r>
              <a:rPr lang="en-US" sz="1700" b="1" dirty="0">
                <a:solidFill>
                  <a:srgbClr val="C00000"/>
                </a:solidFill>
                <a:latin typeface="Avenir Next LT Pro" panose="020B0504020202020204" pitchFamily="34" charset="0"/>
              </a:rPr>
              <a:t> </a:t>
            </a:r>
            <a:r>
              <a:rPr lang="en-US" sz="1700" b="1" dirty="0" err="1">
                <a:solidFill>
                  <a:srgbClr val="C00000"/>
                </a:solidFill>
                <a:latin typeface="Avenir Next LT Pro" panose="020B0504020202020204" pitchFamily="34" charset="0"/>
              </a:rPr>
              <a:t>biaya</a:t>
            </a:r>
            <a:r>
              <a:rPr lang="en-US" sz="1700" b="1" dirty="0">
                <a:solidFill>
                  <a:srgbClr val="C00000"/>
                </a:solidFill>
                <a:latin typeface="Avenir Next LT Pro" panose="020B0504020202020204" pitchFamily="34" charset="0"/>
              </a:rPr>
              <a:t> </a:t>
            </a:r>
            <a:r>
              <a:rPr lang="en-US" sz="1700" b="1" dirty="0" err="1">
                <a:solidFill>
                  <a:srgbClr val="C00000"/>
                </a:solidFill>
                <a:latin typeface="Avenir Next LT Pro" panose="020B0504020202020204" pitchFamily="34" charset="0"/>
              </a:rPr>
              <a:t>pengeboran</a:t>
            </a:r>
            <a:r>
              <a:rPr lang="en-US" sz="1700" b="1" dirty="0">
                <a:solidFill>
                  <a:srgbClr val="C00000"/>
                </a:solidFill>
                <a:latin typeface="Avenir Next LT Pro" panose="020B0504020202020204" pitchFamily="34" charset="0"/>
              </a:rPr>
              <a:t> </a:t>
            </a:r>
            <a:r>
              <a:rPr lang="en-US" sz="1700" b="1" dirty="0" err="1">
                <a:solidFill>
                  <a:srgbClr val="C00000"/>
                </a:solidFill>
                <a:latin typeface="Avenir Next LT Pro" panose="020B0504020202020204" pitchFamily="34" charset="0"/>
              </a:rPr>
              <a:t>panas</a:t>
            </a:r>
            <a:r>
              <a:rPr lang="en-US" sz="1700" b="1" dirty="0">
                <a:solidFill>
                  <a:srgbClr val="C00000"/>
                </a:solidFill>
                <a:latin typeface="Avenir Next LT Pro" panose="020B0504020202020204" pitchFamily="34" charset="0"/>
              </a:rPr>
              <a:t> </a:t>
            </a:r>
            <a:r>
              <a:rPr lang="en-US" sz="1700" b="1" dirty="0" err="1">
                <a:solidFill>
                  <a:srgbClr val="C00000"/>
                </a:solidFill>
                <a:latin typeface="Avenir Next LT Pro" panose="020B0504020202020204" pitchFamily="34" charset="0"/>
              </a:rPr>
              <a:t>bumi</a:t>
            </a:r>
            <a:r>
              <a:rPr lang="en-US" sz="1700" b="1" dirty="0">
                <a:solidFill>
                  <a:srgbClr val="C00000"/>
                </a:solidFill>
                <a:latin typeface="Avenir Next LT Pro" panose="020B0504020202020204" pitchFamily="34" charset="0"/>
              </a:rPr>
              <a:t> </a:t>
            </a:r>
            <a:r>
              <a:rPr lang="en-US" sz="1700" b="1" dirty="0" err="1">
                <a:solidFill>
                  <a:srgbClr val="C00000"/>
                </a:solidFill>
                <a:latin typeface="Avenir Next LT Pro" panose="020B0504020202020204" pitchFamily="34" charset="0"/>
              </a:rPr>
              <a:t>semakin</a:t>
            </a:r>
            <a:r>
              <a:rPr lang="en-US" sz="1700" b="1" dirty="0">
                <a:solidFill>
                  <a:srgbClr val="C00000"/>
                </a:solidFill>
                <a:latin typeface="Avenir Next LT Pro" panose="020B0504020202020204" pitchFamily="34" charset="0"/>
              </a:rPr>
              <a:t> </a:t>
            </a:r>
            <a:r>
              <a:rPr lang="en-US" sz="1700" b="1" dirty="0" err="1">
                <a:solidFill>
                  <a:srgbClr val="C00000"/>
                </a:solidFill>
                <a:latin typeface="Avenir Next LT Pro" panose="020B0504020202020204" pitchFamily="34" charset="0"/>
              </a:rPr>
              <a:t>murah</a:t>
            </a:r>
            <a:r>
              <a:rPr lang="en-US" sz="1700" b="1" dirty="0">
                <a:solidFill>
                  <a:srgbClr val="C00000"/>
                </a:solidFill>
                <a:latin typeface="Avenir Next LT Pro" panose="020B0504020202020204" pitchFamily="34" charset="0"/>
              </a:rPr>
              <a:t> (&lt;2000 USD/m)</a:t>
            </a:r>
          </a:p>
        </p:txBody>
      </p:sp>
      <p:graphicFrame>
        <p:nvGraphicFramePr>
          <p:cNvPr id="4" name="Chart 3">
            <a:extLst>
              <a:ext uri="{FF2B5EF4-FFF2-40B4-BE49-F238E27FC236}">
                <a16:creationId xmlns:a16="http://schemas.microsoft.com/office/drawing/2014/main" id="{6B22AFFC-9261-426F-8E63-2C31EBF3789B}"/>
              </a:ext>
            </a:extLst>
          </p:cNvPr>
          <p:cNvGraphicFramePr>
            <a:graphicFrameLocks/>
          </p:cNvGraphicFramePr>
          <p:nvPr/>
        </p:nvGraphicFramePr>
        <p:xfrm>
          <a:off x="129042" y="872894"/>
          <a:ext cx="5930446" cy="3190421"/>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a:extLst>
              <a:ext uri="{FF2B5EF4-FFF2-40B4-BE49-F238E27FC236}">
                <a16:creationId xmlns:a16="http://schemas.microsoft.com/office/drawing/2014/main" id="{CA877F36-5E1C-4D89-A564-CCF1D3497EE9}"/>
              </a:ext>
            </a:extLst>
          </p:cNvPr>
          <p:cNvPicPr>
            <a:picLocks noChangeAspect="1"/>
          </p:cNvPicPr>
          <p:nvPr/>
        </p:nvPicPr>
        <p:blipFill>
          <a:blip r:embed="rId3" cstate="print"/>
          <a:stretch>
            <a:fillRect/>
          </a:stretch>
        </p:blipFill>
        <p:spPr>
          <a:xfrm>
            <a:off x="574158" y="4174209"/>
            <a:ext cx="4928307" cy="2683790"/>
          </a:xfrm>
          <a:prstGeom prst="rect">
            <a:avLst/>
          </a:prstGeom>
        </p:spPr>
      </p:pic>
      <p:sp>
        <p:nvSpPr>
          <p:cNvPr id="6" name="TextBox 5">
            <a:extLst>
              <a:ext uri="{FF2B5EF4-FFF2-40B4-BE49-F238E27FC236}">
                <a16:creationId xmlns:a16="http://schemas.microsoft.com/office/drawing/2014/main" id="{00E71455-F9E5-4AE7-965E-3B53425261B4}"/>
              </a:ext>
            </a:extLst>
          </p:cNvPr>
          <p:cNvSpPr txBox="1"/>
          <p:nvPr/>
        </p:nvSpPr>
        <p:spPr>
          <a:xfrm>
            <a:off x="2499360" y="4155464"/>
            <a:ext cx="2955556" cy="338554"/>
          </a:xfrm>
          <a:prstGeom prst="rect">
            <a:avLst/>
          </a:prstGeom>
          <a:noFill/>
          <a:ln>
            <a:solidFill>
              <a:schemeClr val="tx1"/>
            </a:solidFill>
          </a:ln>
        </p:spPr>
        <p:txBody>
          <a:bodyPr wrap="square" rtlCol="0">
            <a:spAutoFit/>
          </a:bodyPr>
          <a:lstStyle/>
          <a:p>
            <a:r>
              <a:rPr lang="en-US" sz="1600" dirty="0">
                <a:solidFill>
                  <a:srgbClr val="C00000"/>
                </a:solidFill>
              </a:rPr>
              <a:t>Trend Harga </a:t>
            </a:r>
            <a:r>
              <a:rPr lang="en-US" sz="1600" dirty="0" err="1">
                <a:solidFill>
                  <a:srgbClr val="C00000"/>
                </a:solidFill>
              </a:rPr>
              <a:t>Minyak</a:t>
            </a:r>
            <a:r>
              <a:rPr lang="en-US" sz="1600" dirty="0">
                <a:solidFill>
                  <a:srgbClr val="C00000"/>
                </a:solidFill>
              </a:rPr>
              <a:t> Indonesia</a:t>
            </a:r>
            <a:endParaRPr lang="id-ID" sz="1600" dirty="0">
              <a:solidFill>
                <a:srgbClr val="C00000"/>
              </a:solidFill>
            </a:endParaRPr>
          </a:p>
        </p:txBody>
      </p:sp>
      <p:sp>
        <p:nvSpPr>
          <p:cNvPr id="7" name="Rectangle: Rounded Corners 6">
            <a:extLst>
              <a:ext uri="{FF2B5EF4-FFF2-40B4-BE49-F238E27FC236}">
                <a16:creationId xmlns:a16="http://schemas.microsoft.com/office/drawing/2014/main" id="{43B86EF6-9090-421A-87D8-2711610342D1}"/>
              </a:ext>
            </a:extLst>
          </p:cNvPr>
          <p:cNvSpPr/>
          <p:nvPr/>
        </p:nvSpPr>
        <p:spPr>
          <a:xfrm>
            <a:off x="149943" y="639061"/>
            <a:ext cx="5783024" cy="621893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TextBox 7">
            <a:extLst>
              <a:ext uri="{FF2B5EF4-FFF2-40B4-BE49-F238E27FC236}">
                <a16:creationId xmlns:a16="http://schemas.microsoft.com/office/drawing/2014/main" id="{80B739DC-776E-4838-B24C-876E6A0D2798}"/>
              </a:ext>
            </a:extLst>
          </p:cNvPr>
          <p:cNvSpPr txBox="1"/>
          <p:nvPr/>
        </p:nvSpPr>
        <p:spPr>
          <a:xfrm>
            <a:off x="1258699" y="5815932"/>
            <a:ext cx="1840405" cy="646331"/>
          </a:xfrm>
          <a:prstGeom prst="rect">
            <a:avLst/>
          </a:prstGeom>
          <a:noFill/>
          <a:ln>
            <a:solidFill>
              <a:schemeClr val="tx1"/>
            </a:solidFill>
          </a:ln>
        </p:spPr>
        <p:txBody>
          <a:bodyPr wrap="square" rtlCol="0">
            <a:spAutoFit/>
          </a:bodyPr>
          <a:lstStyle/>
          <a:p>
            <a:r>
              <a:rPr lang="en-US" sz="1800" dirty="0" err="1"/>
              <a:t>Sumber</a:t>
            </a:r>
            <a:r>
              <a:rPr lang="en-US" sz="1800" dirty="0"/>
              <a:t>:</a:t>
            </a:r>
            <a:br>
              <a:rPr lang="en-US" sz="1800" dirty="0"/>
            </a:br>
            <a:r>
              <a:rPr lang="en-US" sz="1800" dirty="0"/>
              <a:t>Lokadata.com</a:t>
            </a:r>
            <a:endParaRPr lang="id-ID" sz="1800" dirty="0"/>
          </a:p>
        </p:txBody>
      </p:sp>
      <p:cxnSp>
        <p:nvCxnSpPr>
          <p:cNvPr id="9" name="Straight Arrow Connector 8">
            <a:extLst>
              <a:ext uri="{FF2B5EF4-FFF2-40B4-BE49-F238E27FC236}">
                <a16:creationId xmlns:a16="http://schemas.microsoft.com/office/drawing/2014/main" id="{80D661AF-3EC8-4C39-AF82-5B33D078CA90}"/>
              </a:ext>
            </a:extLst>
          </p:cNvPr>
          <p:cNvCxnSpPr/>
          <p:nvPr/>
        </p:nvCxnSpPr>
        <p:spPr>
          <a:xfrm>
            <a:off x="2421430" y="1502229"/>
            <a:ext cx="2667000" cy="838200"/>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80AD02BB-E7AB-43D7-82F4-4680239BF6EE}"/>
              </a:ext>
            </a:extLst>
          </p:cNvPr>
          <p:cNvSpPr txBox="1">
            <a:spLocks/>
          </p:cNvSpPr>
          <p:nvPr/>
        </p:nvSpPr>
        <p:spPr>
          <a:xfrm>
            <a:off x="3473716" y="740229"/>
            <a:ext cx="1981200" cy="609600"/>
          </a:xfrm>
          <a:prstGeom prst="rect">
            <a:avLst/>
          </a:prstGeom>
          <a:solidFill>
            <a:schemeClr val="bg1">
              <a:lumMod val="95000"/>
            </a:schemeClr>
          </a:solidFill>
          <a:ln>
            <a:solidFill>
              <a:schemeClr val="tx1">
                <a:lumMod val="50000"/>
                <a:lumOff val="50000"/>
              </a:schemeClr>
            </a:solidFill>
          </a:ln>
        </p:spPr>
        <p:txBody>
          <a:bodyPr vert="horz" lIns="91440" tIns="45720" rIns="91440" bIns="45720" rtlCol="0">
            <a:no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trend  </a:t>
            </a:r>
            <a:r>
              <a:rPr kumimoji="0" lang="en-US" sz="1600" b="1" i="0" u="none" strike="noStrike" kern="1200" cap="none" spc="0" normalizeH="0" baseline="0" noProof="0" dirty="0" err="1">
                <a:ln>
                  <a:noFill/>
                </a:ln>
                <a:solidFill>
                  <a:schemeClr val="tx1"/>
                </a:solidFill>
                <a:effectLst/>
                <a:uLnTx/>
                <a:uFillTx/>
                <a:latin typeface="+mn-lt"/>
                <a:ea typeface="+mn-ea"/>
                <a:cs typeface="+mn-cs"/>
              </a:rPr>
              <a:t>tahunan</a:t>
            </a:r>
            <a:endParaRPr kumimoji="0" lang="en-US" sz="16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1600" b="1" i="0" u="none" strike="noStrike" kern="1200" cap="none" spc="0" normalizeH="0" baseline="0" noProof="0" dirty="0">
                <a:ln>
                  <a:noFill/>
                </a:ln>
                <a:solidFill>
                  <a:srgbClr val="0000FF"/>
                </a:solidFill>
                <a:effectLst/>
                <a:uLnTx/>
                <a:uFillTx/>
                <a:latin typeface="+mn-lt"/>
                <a:ea typeface="+mn-ea"/>
                <a:cs typeface="+mn-cs"/>
              </a:rPr>
              <a:t>(</a:t>
            </a:r>
            <a:r>
              <a:rPr kumimoji="0" lang="en-US" sz="1600" b="1" i="0" u="none" strike="noStrike" kern="1200" cap="none" spc="0" normalizeH="0" baseline="0" noProof="0" dirty="0" err="1">
                <a:ln>
                  <a:noFill/>
                </a:ln>
                <a:solidFill>
                  <a:srgbClr val="0000FF"/>
                </a:solidFill>
                <a:effectLst/>
                <a:uLnTx/>
                <a:uFillTx/>
                <a:latin typeface="+mn-lt"/>
                <a:ea typeface="+mn-ea"/>
                <a:cs typeface="+mn-cs"/>
              </a:rPr>
              <a:t>penurunan</a:t>
            </a:r>
            <a:r>
              <a:rPr kumimoji="0" lang="en-US" sz="1600" b="1" i="0" u="none" strike="noStrike" kern="1200" cap="none" spc="0" normalizeH="0" baseline="0" noProof="0" dirty="0">
                <a:ln>
                  <a:noFill/>
                </a:ln>
                <a:solidFill>
                  <a:srgbClr val="0000FF"/>
                </a:solidFill>
                <a:effectLst/>
                <a:uLnTx/>
                <a:uFillTx/>
                <a:latin typeface="+mn-lt"/>
                <a:ea typeface="+mn-ea"/>
                <a:cs typeface="+mn-cs"/>
              </a:rPr>
              <a:t> </a:t>
            </a:r>
            <a:r>
              <a:rPr kumimoji="0" lang="en-US" sz="1600" b="1" i="0" u="none" strike="noStrike" kern="1200" cap="none" spc="0" normalizeH="0" baseline="0" noProof="0" dirty="0" err="1">
                <a:ln>
                  <a:noFill/>
                </a:ln>
                <a:solidFill>
                  <a:srgbClr val="0000FF"/>
                </a:solidFill>
                <a:effectLst/>
                <a:uLnTx/>
                <a:uFillTx/>
                <a:latin typeface="+mn-lt"/>
                <a:ea typeface="+mn-ea"/>
                <a:cs typeface="+mn-cs"/>
              </a:rPr>
              <a:t>biaya</a:t>
            </a:r>
            <a:r>
              <a:rPr kumimoji="0" lang="en-US" sz="1600" b="1" i="0" u="none" strike="noStrike" kern="1200" cap="none" spc="0" normalizeH="0" baseline="0" noProof="0" dirty="0">
                <a:ln>
                  <a:noFill/>
                </a:ln>
                <a:solidFill>
                  <a:srgbClr val="0000FF"/>
                </a:solidFill>
                <a:effectLst/>
                <a:uLnTx/>
                <a:uFillTx/>
                <a:latin typeface="+mn-lt"/>
                <a:ea typeface="+mn-ea"/>
                <a:cs typeface="+mn-cs"/>
              </a:rPr>
              <a:t>)</a:t>
            </a:r>
          </a:p>
        </p:txBody>
      </p:sp>
    </p:spTree>
    <p:extLst>
      <p:ext uri="{BB962C8B-B14F-4D97-AF65-F5344CB8AC3E}">
        <p14:creationId xmlns:p14="http://schemas.microsoft.com/office/powerpoint/2010/main" val="3369224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6F8528-A491-47B8-9594-2552F9CA0A9B}"/>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PERBANDINGAN KONTRAK PENGEBORAN PANAS BUMI (STUDI 2018)</a:t>
            </a:r>
          </a:p>
          <a:p>
            <a:pPr marL="0" marR="0" lvl="0" indent="0" defTabSz="914400" rtl="0" eaLnBrk="1" fontAlgn="auto" latinLnBrk="0" hangingPunct="1">
              <a:lnSpc>
                <a:spcPct val="100000"/>
              </a:lnSpc>
              <a:spcBef>
                <a:spcPts val="0"/>
              </a:spcBef>
              <a:spcAft>
                <a:spcPts val="0"/>
              </a:spcAft>
              <a:buClrTx/>
              <a:buSzTx/>
              <a:buFontTx/>
              <a:buNone/>
              <a:tabLst/>
              <a:defRPr/>
            </a:pPr>
            <a:r>
              <a:rPr lang="fi-FI" dirty="0">
                <a:solidFill>
                  <a:prstClr val="white"/>
                </a:solidFill>
                <a:latin typeface="Avenir Next LT Pro" panose="020B0504020202020204" pitchFamily="34" charset="0"/>
                <a:cs typeface="Arial" panose="020B0604020202020204" pitchFamily="34" charset="0"/>
              </a:rPr>
              <a:t>Skema komersial/kontraktual pelaksanaan pengeboran panas bumi</a:t>
            </a:r>
            <a:endParaRPr kumimoji="0" lang="en-US"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endParaRPr>
          </a:p>
        </p:txBody>
      </p:sp>
      <p:sp>
        <p:nvSpPr>
          <p:cNvPr id="3" name="Content Placeholder 2">
            <a:extLst>
              <a:ext uri="{FF2B5EF4-FFF2-40B4-BE49-F238E27FC236}">
                <a16:creationId xmlns:a16="http://schemas.microsoft.com/office/drawing/2014/main" id="{CA7ED94A-394D-4CAF-BA67-8AB6521F0E16}"/>
              </a:ext>
            </a:extLst>
          </p:cNvPr>
          <p:cNvSpPr txBox="1">
            <a:spLocks/>
          </p:cNvSpPr>
          <p:nvPr/>
        </p:nvSpPr>
        <p:spPr>
          <a:xfrm>
            <a:off x="6094412" y="762000"/>
            <a:ext cx="5947314" cy="3276600"/>
          </a:xfrm>
          <a:prstGeom prst="rect">
            <a:avLst/>
          </a:prstGeom>
          <a:solidFill>
            <a:schemeClr val="bg1">
              <a:lumMod val="95000"/>
            </a:schemeClr>
          </a:solidFill>
        </p:spPr>
        <p:txBody>
          <a:bodyPr>
            <a:noAutofit/>
          </a:bodyPr>
          <a:lstStyle/>
          <a:p>
            <a:pPr marL="387350" lvl="1" indent="-387350">
              <a:spcBef>
                <a:spcPct val="20000"/>
              </a:spcBef>
              <a:defRPr/>
            </a:pPr>
            <a:r>
              <a:rPr lang="en-US" b="1" dirty="0" err="1">
                <a:latin typeface="Avenir Next LT Pro" panose="020B0504020202020204" pitchFamily="34" charset="0"/>
              </a:rPr>
              <a:t>Evaluasi</a:t>
            </a:r>
            <a:r>
              <a:rPr lang="en-US" b="1" dirty="0">
                <a:latin typeface="Avenir Next LT Pro" panose="020B0504020202020204" pitchFamily="34" charset="0"/>
              </a:rPr>
              <a:t> </a:t>
            </a:r>
            <a:r>
              <a:rPr lang="en-US" b="1" dirty="0" err="1">
                <a:latin typeface="Avenir Next LT Pro" panose="020B0504020202020204" pitchFamily="34" charset="0"/>
              </a:rPr>
              <a:t>skema</a:t>
            </a:r>
            <a:r>
              <a:rPr lang="en-US" b="1" dirty="0">
                <a:latin typeface="Avenir Next LT Pro" panose="020B0504020202020204" pitchFamily="34" charset="0"/>
              </a:rPr>
              <a:t> </a:t>
            </a:r>
            <a:r>
              <a:rPr lang="en-US" b="1" dirty="0" err="1">
                <a:latin typeface="Avenir Next LT Pro" panose="020B0504020202020204" pitchFamily="34" charset="0"/>
              </a:rPr>
              <a:t>kontraktual</a:t>
            </a:r>
            <a:endParaRPr lang="en-US" b="1" dirty="0">
              <a:latin typeface="Avenir Next LT Pro" panose="020B0504020202020204" pitchFamily="34" charset="0"/>
            </a:endParaRPr>
          </a:p>
          <a:p>
            <a:pPr marL="387350" lvl="1" indent="-387350">
              <a:spcBef>
                <a:spcPct val="20000"/>
              </a:spcBef>
              <a:buFont typeface="Arial" pitchFamily="34" charset="0"/>
              <a:buChar char="•"/>
              <a:defRPr/>
            </a:pPr>
            <a:r>
              <a:rPr lang="en-US" dirty="0" err="1">
                <a:latin typeface="Avenir Next LT Pro" panose="020B0504020202020204" pitchFamily="34" charset="0"/>
              </a:rPr>
              <a:t>Pengeboran</a:t>
            </a:r>
            <a:r>
              <a:rPr lang="en-US" dirty="0">
                <a:latin typeface="Avenir Next LT Pro" panose="020B0504020202020204" pitchFamily="34" charset="0"/>
              </a:rPr>
              <a:t> </a:t>
            </a:r>
            <a:r>
              <a:rPr lang="en-US" dirty="0" err="1">
                <a:latin typeface="Avenir Next LT Pro" panose="020B0504020202020204" pitchFamily="34" charset="0"/>
              </a:rPr>
              <a:t>tahun</a:t>
            </a:r>
            <a:r>
              <a:rPr lang="en-US" dirty="0">
                <a:latin typeface="Avenir Next LT Pro" panose="020B0504020202020204" pitchFamily="34" charset="0"/>
              </a:rPr>
              <a:t> 2012-2016 </a:t>
            </a:r>
            <a:r>
              <a:rPr lang="en-US" dirty="0" err="1">
                <a:latin typeface="Avenir Next LT Pro" panose="020B0504020202020204" pitchFamily="34" charset="0"/>
              </a:rPr>
              <a:t>mayoritas</a:t>
            </a:r>
            <a:r>
              <a:rPr lang="en-US" dirty="0">
                <a:latin typeface="Avenir Next LT Pro" panose="020B0504020202020204" pitchFamily="34" charset="0"/>
              </a:rPr>
              <a:t> </a:t>
            </a:r>
            <a:r>
              <a:rPr lang="en-US" dirty="0" err="1">
                <a:latin typeface="Avenir Next LT Pro" panose="020B0504020202020204" pitchFamily="34" charset="0"/>
              </a:rPr>
              <a:t>menggunakan</a:t>
            </a:r>
            <a:r>
              <a:rPr lang="en-US" dirty="0">
                <a:latin typeface="Avenir Next LT Pro" panose="020B0504020202020204" pitchFamily="34" charset="0"/>
              </a:rPr>
              <a:t> </a:t>
            </a:r>
            <a:r>
              <a:rPr lang="en-US" dirty="0" err="1">
                <a:latin typeface="Avenir Next LT Pro" panose="020B0504020202020204" pitchFamily="34" charset="0"/>
              </a:rPr>
              <a:t>skema</a:t>
            </a:r>
            <a:r>
              <a:rPr lang="en-US" dirty="0">
                <a:latin typeface="Avenir Next LT Pro" panose="020B0504020202020204" pitchFamily="34" charset="0"/>
              </a:rPr>
              <a:t>  semi IPM </a:t>
            </a:r>
            <a:r>
              <a:rPr lang="en-US" dirty="0" err="1">
                <a:latin typeface="Avenir Next LT Pro" panose="020B0504020202020204" pitchFamily="34" charset="0"/>
              </a:rPr>
              <a:t>dan</a:t>
            </a:r>
            <a:r>
              <a:rPr lang="en-US" dirty="0">
                <a:latin typeface="Avenir Next LT Pro" panose="020B0504020202020204" pitchFamily="34" charset="0"/>
              </a:rPr>
              <a:t> full IPM </a:t>
            </a:r>
            <a:r>
              <a:rPr lang="en-US" dirty="0" err="1">
                <a:latin typeface="Avenir Next LT Pro" panose="020B0504020202020204" pitchFamily="34" charset="0"/>
              </a:rPr>
              <a:t>pada</a:t>
            </a:r>
            <a:r>
              <a:rPr lang="en-US" dirty="0">
                <a:latin typeface="Avenir Next LT Pro" panose="020B0504020202020204" pitchFamily="34" charset="0"/>
              </a:rPr>
              <a:t> </a:t>
            </a:r>
            <a:r>
              <a:rPr lang="en-US" dirty="0" err="1">
                <a:latin typeface="Avenir Next LT Pro" panose="020B0504020202020204" pitchFamily="34" charset="0"/>
              </a:rPr>
              <a:t>kedalaman</a:t>
            </a:r>
            <a:r>
              <a:rPr lang="en-US" dirty="0">
                <a:latin typeface="Avenir Next LT Pro" panose="020B0504020202020204" pitchFamily="34" charset="0"/>
              </a:rPr>
              <a:t> rata-rata 2180 m.</a:t>
            </a:r>
          </a:p>
          <a:p>
            <a:pPr marL="387350" lvl="1" indent="-387350">
              <a:spcBef>
                <a:spcPct val="20000"/>
              </a:spcBef>
              <a:buFont typeface="Arial" pitchFamily="34" charset="0"/>
              <a:buChar char="•"/>
              <a:defRPr/>
            </a:pPr>
            <a:r>
              <a:rPr lang="en-US" dirty="0" err="1">
                <a:latin typeface="Avenir Next LT Pro" panose="020B0504020202020204" pitchFamily="34" charset="0"/>
              </a:rPr>
              <a:t>Pengeboran</a:t>
            </a:r>
            <a:r>
              <a:rPr lang="en-US" dirty="0">
                <a:latin typeface="Avenir Next LT Pro" panose="020B0504020202020204" pitchFamily="34" charset="0"/>
              </a:rPr>
              <a:t> </a:t>
            </a:r>
            <a:r>
              <a:rPr lang="en-US" dirty="0" err="1">
                <a:latin typeface="Avenir Next LT Pro" panose="020B0504020202020204" pitchFamily="34" charset="0"/>
              </a:rPr>
              <a:t>tahun</a:t>
            </a:r>
            <a:r>
              <a:rPr lang="en-US" dirty="0">
                <a:latin typeface="Avenir Next LT Pro" panose="020B0504020202020204" pitchFamily="34" charset="0"/>
              </a:rPr>
              <a:t> 2017-2019 </a:t>
            </a:r>
            <a:r>
              <a:rPr lang="en-US" dirty="0" err="1">
                <a:latin typeface="Avenir Next LT Pro" panose="020B0504020202020204" pitchFamily="34" charset="0"/>
              </a:rPr>
              <a:t>mayoritas</a:t>
            </a:r>
            <a:r>
              <a:rPr lang="en-US" dirty="0">
                <a:latin typeface="Avenir Next LT Pro" panose="020B0504020202020204" pitchFamily="34" charset="0"/>
              </a:rPr>
              <a:t> </a:t>
            </a:r>
            <a:r>
              <a:rPr lang="en-US" dirty="0" err="1">
                <a:latin typeface="Avenir Next LT Pro" panose="020B0504020202020204" pitchFamily="34" charset="0"/>
              </a:rPr>
              <a:t>menggunakan</a:t>
            </a:r>
            <a:r>
              <a:rPr lang="en-US" dirty="0">
                <a:latin typeface="Avenir Next LT Pro" panose="020B0504020202020204" pitchFamily="34" charset="0"/>
              </a:rPr>
              <a:t> </a:t>
            </a:r>
            <a:r>
              <a:rPr lang="en-US" dirty="0" err="1">
                <a:latin typeface="Avenir Next LT Pro" panose="020B0504020202020204" pitchFamily="34" charset="0"/>
              </a:rPr>
              <a:t>skema</a:t>
            </a:r>
            <a:r>
              <a:rPr lang="en-US" dirty="0">
                <a:latin typeface="Avenir Next LT Pro" panose="020B0504020202020204" pitchFamily="34" charset="0"/>
              </a:rPr>
              <a:t> </a:t>
            </a:r>
            <a:r>
              <a:rPr lang="en-US" i="1" dirty="0">
                <a:latin typeface="Avenir Next LT Pro" panose="020B0504020202020204" pitchFamily="34" charset="0"/>
              </a:rPr>
              <a:t>discrete</a:t>
            </a:r>
            <a:r>
              <a:rPr lang="en-US" dirty="0">
                <a:latin typeface="Avenir Next LT Pro" panose="020B0504020202020204" pitchFamily="34" charset="0"/>
              </a:rPr>
              <a:t> </a:t>
            </a:r>
            <a:r>
              <a:rPr lang="en-US" dirty="0" err="1">
                <a:latin typeface="Avenir Next LT Pro" panose="020B0504020202020204" pitchFamily="34" charset="0"/>
              </a:rPr>
              <a:t>dan</a:t>
            </a:r>
            <a:r>
              <a:rPr lang="en-US" dirty="0">
                <a:latin typeface="Avenir Next LT Pro" panose="020B0504020202020204" pitchFamily="34" charset="0"/>
              </a:rPr>
              <a:t> </a:t>
            </a:r>
            <a:r>
              <a:rPr lang="en-US" i="1" dirty="0">
                <a:latin typeface="Avenir Next LT Pro" panose="020B0504020202020204" pitchFamily="34" charset="0"/>
              </a:rPr>
              <a:t>bundled </a:t>
            </a:r>
            <a:r>
              <a:rPr lang="en-US" dirty="0" err="1">
                <a:latin typeface="Avenir Next LT Pro" panose="020B0504020202020204" pitchFamily="34" charset="0"/>
              </a:rPr>
              <a:t>pada</a:t>
            </a:r>
            <a:r>
              <a:rPr lang="en-US" dirty="0">
                <a:latin typeface="Avenir Next LT Pro" panose="020B0504020202020204" pitchFamily="34" charset="0"/>
              </a:rPr>
              <a:t> </a:t>
            </a:r>
            <a:r>
              <a:rPr lang="en-US" dirty="0" err="1">
                <a:latin typeface="Avenir Next LT Pro" panose="020B0504020202020204" pitchFamily="34" charset="0"/>
              </a:rPr>
              <a:t>kedalaman</a:t>
            </a:r>
            <a:r>
              <a:rPr lang="en-US" dirty="0">
                <a:latin typeface="Avenir Next LT Pro" panose="020B0504020202020204" pitchFamily="34" charset="0"/>
              </a:rPr>
              <a:t> rata-rata 2290 m.</a:t>
            </a:r>
          </a:p>
          <a:p>
            <a:pPr marL="387350" lvl="1" indent="-387350">
              <a:spcBef>
                <a:spcPct val="20000"/>
              </a:spcBef>
              <a:buFont typeface="Arial" pitchFamily="34" charset="0"/>
              <a:buChar char="•"/>
              <a:defRPr/>
            </a:pPr>
            <a:r>
              <a:rPr lang="en-US" dirty="0" err="1">
                <a:latin typeface="Avenir Next LT Pro" panose="020B0504020202020204" pitchFamily="34" charset="0"/>
              </a:rPr>
              <a:t>Kontrak</a:t>
            </a:r>
            <a:r>
              <a:rPr lang="en-US" dirty="0">
                <a:latin typeface="Avenir Next LT Pro" panose="020B0504020202020204" pitchFamily="34" charset="0"/>
              </a:rPr>
              <a:t> </a:t>
            </a:r>
            <a:r>
              <a:rPr lang="en-US" i="1" dirty="0">
                <a:latin typeface="Avenir Next LT Pro" panose="020B0504020202020204" pitchFamily="34" charset="0"/>
              </a:rPr>
              <a:t>discrete</a:t>
            </a:r>
            <a:r>
              <a:rPr lang="en-US" dirty="0">
                <a:latin typeface="Avenir Next LT Pro" panose="020B0504020202020204" pitchFamily="34" charset="0"/>
              </a:rPr>
              <a:t> </a:t>
            </a:r>
            <a:r>
              <a:rPr lang="en-US" dirty="0" err="1">
                <a:latin typeface="Avenir Next LT Pro" panose="020B0504020202020204" pitchFamily="34" charset="0"/>
              </a:rPr>
              <a:t>dan</a:t>
            </a:r>
            <a:r>
              <a:rPr lang="en-US" dirty="0">
                <a:latin typeface="Avenir Next LT Pro" panose="020B0504020202020204" pitchFamily="34" charset="0"/>
              </a:rPr>
              <a:t> </a:t>
            </a:r>
            <a:r>
              <a:rPr lang="en-US" i="1" dirty="0">
                <a:latin typeface="Avenir Next LT Pro" panose="020B0504020202020204" pitchFamily="34" charset="0"/>
              </a:rPr>
              <a:t>bundled</a:t>
            </a:r>
            <a:r>
              <a:rPr lang="en-US" dirty="0">
                <a:latin typeface="Avenir Next LT Pro" panose="020B0504020202020204" pitchFamily="34" charset="0"/>
              </a:rPr>
              <a:t> </a:t>
            </a:r>
            <a:r>
              <a:rPr lang="en-US" dirty="0" err="1">
                <a:latin typeface="Avenir Next LT Pro" panose="020B0504020202020204" pitchFamily="34" charset="0"/>
              </a:rPr>
              <a:t>relatif</a:t>
            </a:r>
            <a:r>
              <a:rPr lang="en-US" dirty="0">
                <a:latin typeface="Avenir Next LT Pro" panose="020B0504020202020204" pitchFamily="34" charset="0"/>
              </a:rPr>
              <a:t> </a:t>
            </a:r>
            <a:r>
              <a:rPr lang="en-US" dirty="0" err="1">
                <a:latin typeface="Avenir Next LT Pro" panose="020B0504020202020204" pitchFamily="34" charset="0"/>
              </a:rPr>
              <a:t>lebih</a:t>
            </a:r>
            <a:r>
              <a:rPr lang="en-US" dirty="0">
                <a:latin typeface="Avenir Next LT Pro" panose="020B0504020202020204" pitchFamily="34" charset="0"/>
              </a:rPr>
              <a:t> </a:t>
            </a:r>
            <a:r>
              <a:rPr lang="en-US" dirty="0" err="1">
                <a:latin typeface="Avenir Next LT Pro" panose="020B0504020202020204" pitchFamily="34" charset="0"/>
              </a:rPr>
              <a:t>murah</a:t>
            </a:r>
            <a:r>
              <a:rPr lang="en-US" dirty="0">
                <a:latin typeface="Avenir Next LT Pro" panose="020B0504020202020204" pitchFamily="34" charset="0"/>
              </a:rPr>
              <a:t> </a:t>
            </a:r>
            <a:r>
              <a:rPr lang="en-US" dirty="0" err="1">
                <a:latin typeface="Avenir Next LT Pro" panose="020B0504020202020204" pitchFamily="34" charset="0"/>
              </a:rPr>
              <a:t>pada</a:t>
            </a:r>
            <a:r>
              <a:rPr lang="en-US" dirty="0">
                <a:latin typeface="Avenir Next LT Pro" panose="020B0504020202020204" pitchFamily="34" charset="0"/>
              </a:rPr>
              <a:t> </a:t>
            </a:r>
            <a:r>
              <a:rPr lang="en-US" dirty="0" err="1">
                <a:latin typeface="Avenir Next LT Pro" panose="020B0504020202020204" pitchFamily="34" charset="0"/>
              </a:rPr>
              <a:t>kisaran</a:t>
            </a:r>
            <a:r>
              <a:rPr lang="en-US" dirty="0">
                <a:latin typeface="Avenir Next LT Pro" panose="020B0504020202020204" pitchFamily="34" charset="0"/>
              </a:rPr>
              <a:t> </a:t>
            </a:r>
            <a:r>
              <a:rPr lang="en-US" dirty="0" err="1">
                <a:latin typeface="Avenir Next LT Pro" panose="020B0504020202020204" pitchFamily="34" charset="0"/>
              </a:rPr>
              <a:t>kedalaman</a:t>
            </a:r>
            <a:r>
              <a:rPr lang="en-US" dirty="0">
                <a:latin typeface="Avenir Next LT Pro" panose="020B0504020202020204" pitchFamily="34" charset="0"/>
              </a:rPr>
              <a:t> yang </a:t>
            </a:r>
            <a:r>
              <a:rPr lang="en-US" dirty="0" err="1">
                <a:latin typeface="Avenir Next LT Pro" panose="020B0504020202020204" pitchFamily="34" charset="0"/>
              </a:rPr>
              <a:t>hampir</a:t>
            </a:r>
            <a:r>
              <a:rPr lang="en-US" dirty="0">
                <a:latin typeface="Avenir Next LT Pro" panose="020B0504020202020204" pitchFamily="34" charset="0"/>
              </a:rPr>
              <a:t> </a:t>
            </a:r>
            <a:r>
              <a:rPr lang="en-US" dirty="0" err="1">
                <a:latin typeface="Avenir Next LT Pro" panose="020B0504020202020204" pitchFamily="34" charset="0"/>
              </a:rPr>
              <a:t>sama</a:t>
            </a:r>
            <a:r>
              <a:rPr lang="en-US" dirty="0">
                <a:latin typeface="Avenir Next LT Pro" panose="020B0504020202020204" pitchFamily="34" charset="0"/>
              </a:rPr>
              <a:t> </a:t>
            </a:r>
            <a:r>
              <a:rPr lang="en-US" dirty="0" err="1">
                <a:latin typeface="Avenir Next LT Pro" panose="020B0504020202020204" pitchFamily="34" charset="0"/>
              </a:rPr>
              <a:t>dibandingkan</a:t>
            </a:r>
            <a:r>
              <a:rPr lang="en-US" dirty="0">
                <a:latin typeface="Avenir Next LT Pro" panose="020B0504020202020204" pitchFamily="34" charset="0"/>
              </a:rPr>
              <a:t> </a:t>
            </a:r>
            <a:r>
              <a:rPr lang="en-US" dirty="0" err="1">
                <a:latin typeface="Avenir Next LT Pro" panose="020B0504020202020204" pitchFamily="34" charset="0"/>
              </a:rPr>
              <a:t>kontrak</a:t>
            </a:r>
            <a:r>
              <a:rPr lang="en-US" dirty="0">
                <a:latin typeface="Avenir Next LT Pro" panose="020B0504020202020204" pitchFamily="34" charset="0"/>
              </a:rPr>
              <a:t> Semi IPM </a:t>
            </a:r>
            <a:r>
              <a:rPr lang="en-US" dirty="0" err="1">
                <a:latin typeface="Avenir Next LT Pro" panose="020B0504020202020204" pitchFamily="34" charset="0"/>
              </a:rPr>
              <a:t>dan</a:t>
            </a:r>
            <a:r>
              <a:rPr lang="en-US" dirty="0">
                <a:latin typeface="Avenir Next LT Pro" panose="020B0504020202020204" pitchFamily="34" charset="0"/>
              </a:rPr>
              <a:t> IPM.</a:t>
            </a:r>
          </a:p>
        </p:txBody>
      </p:sp>
      <p:sp>
        <p:nvSpPr>
          <p:cNvPr id="4" name="Content Placeholder 2">
            <a:extLst>
              <a:ext uri="{FF2B5EF4-FFF2-40B4-BE49-F238E27FC236}">
                <a16:creationId xmlns:a16="http://schemas.microsoft.com/office/drawing/2014/main" id="{FBF10F44-2FDD-4698-89B4-CC231F8B2F15}"/>
              </a:ext>
            </a:extLst>
          </p:cNvPr>
          <p:cNvSpPr txBox="1">
            <a:spLocks/>
          </p:cNvSpPr>
          <p:nvPr/>
        </p:nvSpPr>
        <p:spPr>
          <a:xfrm>
            <a:off x="76200" y="4133850"/>
            <a:ext cx="11961812" cy="2561418"/>
          </a:xfrm>
          <a:prstGeom prst="rect">
            <a:avLst/>
          </a:prstGeom>
          <a:solidFill>
            <a:schemeClr val="bg1">
              <a:lumMod val="95000"/>
            </a:schemeClr>
          </a:solidFill>
        </p:spPr>
        <p:txBody>
          <a:bodyPr>
            <a:noAutofit/>
          </a:bodyPr>
          <a:lstStyle/>
          <a:p>
            <a:pPr marL="277813" lvl="0" indent="-277813">
              <a:spcBef>
                <a:spcPct val="20000"/>
              </a:spcBef>
              <a:defRPr/>
            </a:pPr>
            <a:r>
              <a:rPr kumimoji="0" lang="en-US" b="1" i="0" u="none" strike="noStrike" kern="1200" cap="none" spc="0" normalizeH="0" baseline="0" noProof="0" dirty="0" err="1">
                <a:ln>
                  <a:noFill/>
                </a:ln>
                <a:solidFill>
                  <a:schemeClr val="tx1"/>
                </a:solidFill>
                <a:effectLst/>
                <a:uLnTx/>
                <a:uFillTx/>
                <a:latin typeface="Avenir Next LT Pro" panose="020B0504020202020204" pitchFamily="34" charset="0"/>
              </a:rPr>
              <a:t>Tren</a:t>
            </a:r>
            <a:r>
              <a:rPr kumimoji="0" lang="en-US" b="1" i="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b="1" i="0" u="none" strike="noStrike" kern="1200" cap="none" spc="0" normalizeH="0" baseline="0" noProof="0" dirty="0" err="1">
                <a:ln>
                  <a:noFill/>
                </a:ln>
                <a:solidFill>
                  <a:schemeClr val="tx1"/>
                </a:solidFill>
                <a:effectLst/>
                <a:uLnTx/>
                <a:uFillTx/>
                <a:latin typeface="Avenir Next LT Pro" panose="020B0504020202020204" pitchFamily="34" charset="0"/>
              </a:rPr>
              <a:t>tahunan</a:t>
            </a:r>
            <a:r>
              <a:rPr kumimoji="0" lang="en-US" b="1" i="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b="1" i="0" u="none" strike="noStrike" kern="1200" cap="none" spc="0" normalizeH="0" baseline="0" noProof="0" dirty="0" err="1">
                <a:ln>
                  <a:noFill/>
                </a:ln>
                <a:solidFill>
                  <a:schemeClr val="tx1"/>
                </a:solidFill>
                <a:effectLst/>
                <a:uLnTx/>
                <a:uFillTx/>
                <a:latin typeface="Avenir Next LT Pro" panose="020B0504020202020204" pitchFamily="34" charset="0"/>
              </a:rPr>
              <a:t>biaya</a:t>
            </a:r>
            <a:r>
              <a:rPr kumimoji="0" lang="en-US" b="1" i="0" u="none" strike="noStrike" kern="1200" cap="none" spc="0" normalizeH="0" baseline="0" noProof="0" dirty="0">
                <a:ln>
                  <a:noFill/>
                </a:ln>
                <a:solidFill>
                  <a:schemeClr val="tx1"/>
                </a:solidFill>
                <a:effectLst/>
                <a:uLnTx/>
                <a:uFillTx/>
                <a:latin typeface="Avenir Next LT Pro" panose="020B0504020202020204" pitchFamily="34" charset="0"/>
              </a:rPr>
              <a:t> </a:t>
            </a:r>
            <a:r>
              <a:rPr kumimoji="0" lang="en-US" b="1" i="0" u="none" strike="noStrike" kern="1200" cap="none" spc="0" normalizeH="0" baseline="0" noProof="0" dirty="0" err="1">
                <a:ln>
                  <a:noFill/>
                </a:ln>
                <a:solidFill>
                  <a:schemeClr val="tx1"/>
                </a:solidFill>
                <a:effectLst/>
                <a:uLnTx/>
                <a:uFillTx/>
                <a:latin typeface="Avenir Next LT Pro" panose="020B0504020202020204" pitchFamily="34" charset="0"/>
              </a:rPr>
              <a:t>pengeboran</a:t>
            </a:r>
            <a:endParaRPr kumimoji="0" lang="en-US" b="1" i="0" u="none" strike="noStrike" kern="1200" cap="none" spc="0" normalizeH="0" baseline="0" noProof="0" dirty="0">
              <a:ln>
                <a:noFill/>
              </a:ln>
              <a:solidFill>
                <a:schemeClr val="tx1"/>
              </a:solidFill>
              <a:effectLst/>
              <a:uLnTx/>
              <a:uFillTx/>
              <a:latin typeface="Avenir Next LT Pro" panose="020B0504020202020204" pitchFamily="34" charset="0"/>
            </a:endParaRPr>
          </a:p>
          <a:p>
            <a:pPr marL="284163" lvl="1" indent="-284163">
              <a:spcBef>
                <a:spcPct val="20000"/>
              </a:spcBef>
              <a:buFont typeface="Wingdings" pitchFamily="2" charset="2"/>
              <a:buChar char="§"/>
              <a:defRPr/>
            </a:pPr>
            <a:r>
              <a:rPr lang="en-US" dirty="0" err="1">
                <a:latin typeface="Avenir Next LT Pro" panose="020B0504020202020204" pitchFamily="34" charset="0"/>
              </a:rPr>
              <a:t>Baturaden</a:t>
            </a:r>
            <a:r>
              <a:rPr lang="en-US" dirty="0">
                <a:latin typeface="Avenir Next LT Pro" panose="020B0504020202020204" pitchFamily="34" charset="0"/>
              </a:rPr>
              <a:t> (2018), </a:t>
            </a:r>
            <a:r>
              <a:rPr lang="en-US" dirty="0" err="1">
                <a:latin typeface="Avenir Next LT Pro" panose="020B0504020202020204" pitchFamily="34" charset="0"/>
              </a:rPr>
              <a:t>Sarulla</a:t>
            </a:r>
            <a:r>
              <a:rPr lang="en-US" dirty="0">
                <a:latin typeface="Avenir Next LT Pro" panose="020B0504020202020204" pitchFamily="34" charset="0"/>
              </a:rPr>
              <a:t> (2014-2016) dan </a:t>
            </a:r>
            <a:r>
              <a:rPr lang="en-US" dirty="0" err="1">
                <a:latin typeface="Avenir Next LT Pro" panose="020B0504020202020204" pitchFamily="34" charset="0"/>
              </a:rPr>
              <a:t>Jaboi</a:t>
            </a:r>
            <a:r>
              <a:rPr lang="en-US" dirty="0">
                <a:latin typeface="Avenir Next LT Pro" panose="020B0504020202020204" pitchFamily="34" charset="0"/>
              </a:rPr>
              <a:t> </a:t>
            </a:r>
            <a:r>
              <a:rPr lang="en-US" dirty="0" err="1">
                <a:latin typeface="Avenir Next LT Pro" panose="020B0504020202020204" pitchFamily="34" charset="0"/>
              </a:rPr>
              <a:t>dibor</a:t>
            </a:r>
            <a:r>
              <a:rPr lang="en-US" dirty="0">
                <a:latin typeface="Avenir Next LT Pro" panose="020B0504020202020204" pitchFamily="34" charset="0"/>
              </a:rPr>
              <a:t> </a:t>
            </a:r>
            <a:r>
              <a:rPr lang="en-US" dirty="0" err="1">
                <a:latin typeface="Avenir Next LT Pro" panose="020B0504020202020204" pitchFamily="34" charset="0"/>
              </a:rPr>
              <a:t>hingga</a:t>
            </a:r>
            <a:r>
              <a:rPr lang="en-US" dirty="0">
                <a:latin typeface="Avenir Next LT Pro" panose="020B0504020202020204" pitchFamily="34" charset="0"/>
              </a:rPr>
              <a:t> </a:t>
            </a:r>
            <a:r>
              <a:rPr lang="en-US" dirty="0" err="1">
                <a:latin typeface="Avenir Next LT Pro" panose="020B0504020202020204" pitchFamily="34" charset="0"/>
              </a:rPr>
              <a:t>kedalaman</a:t>
            </a:r>
            <a:r>
              <a:rPr lang="en-US" dirty="0">
                <a:latin typeface="Avenir Next LT Pro" panose="020B0504020202020204" pitchFamily="34" charset="0"/>
              </a:rPr>
              <a:t> rata-rata  1700-1800 m </a:t>
            </a:r>
            <a:r>
              <a:rPr lang="en-US" dirty="0" err="1">
                <a:latin typeface="Avenir Next LT Pro" panose="020B0504020202020204" pitchFamily="34" charset="0"/>
              </a:rPr>
              <a:t>dengan</a:t>
            </a:r>
            <a:r>
              <a:rPr lang="en-US" dirty="0">
                <a:latin typeface="Avenir Next LT Pro" panose="020B0504020202020204" pitchFamily="34" charset="0"/>
              </a:rPr>
              <a:t> </a:t>
            </a:r>
            <a:r>
              <a:rPr lang="en-US" dirty="0" err="1">
                <a:latin typeface="Avenir Next LT Pro" panose="020B0504020202020204" pitchFamily="34" charset="0"/>
              </a:rPr>
              <a:t>menggunakan</a:t>
            </a:r>
            <a:r>
              <a:rPr lang="en-US" dirty="0">
                <a:latin typeface="Avenir Next LT Pro" panose="020B0504020202020204" pitchFamily="34" charset="0"/>
              </a:rPr>
              <a:t> </a:t>
            </a:r>
            <a:r>
              <a:rPr lang="en-US" b="1" dirty="0" err="1">
                <a:solidFill>
                  <a:srgbClr val="C00000"/>
                </a:solidFill>
                <a:latin typeface="Avenir Next LT Pro" panose="020B0504020202020204" pitchFamily="34" charset="0"/>
              </a:rPr>
              <a:t>skema</a:t>
            </a:r>
            <a:r>
              <a:rPr lang="en-US" b="1" dirty="0">
                <a:solidFill>
                  <a:srgbClr val="C00000"/>
                </a:solidFill>
                <a:latin typeface="Avenir Next LT Pro" panose="020B0504020202020204" pitchFamily="34" charset="0"/>
              </a:rPr>
              <a:t> </a:t>
            </a:r>
            <a:r>
              <a:rPr lang="en-US" b="1" dirty="0" err="1">
                <a:solidFill>
                  <a:srgbClr val="C00000"/>
                </a:solidFill>
                <a:latin typeface="Avenir Next LT Pro" panose="020B0504020202020204" pitchFamily="34" charset="0"/>
              </a:rPr>
              <a:t>kontrak</a:t>
            </a:r>
            <a:r>
              <a:rPr lang="en-US" b="1" dirty="0">
                <a:solidFill>
                  <a:srgbClr val="C00000"/>
                </a:solidFill>
                <a:latin typeface="Avenir Next LT Pro" panose="020B0504020202020204" pitchFamily="34" charset="0"/>
              </a:rPr>
              <a:t> full IPM</a:t>
            </a:r>
            <a:r>
              <a:rPr lang="en-US" dirty="0">
                <a:latin typeface="Avenir Next LT Pro" panose="020B0504020202020204" pitchFamily="34" charset="0"/>
              </a:rPr>
              <a:t>.</a:t>
            </a:r>
          </a:p>
          <a:p>
            <a:pPr marL="284163" lvl="1" indent="-284163">
              <a:spcBef>
                <a:spcPct val="20000"/>
              </a:spcBef>
              <a:buFont typeface="Wingdings" pitchFamily="2" charset="2"/>
              <a:buChar char="§"/>
              <a:defRPr/>
            </a:pPr>
            <a:r>
              <a:rPr lang="en-US" dirty="0">
                <a:latin typeface="Avenir Next LT Pro" panose="020B0504020202020204" pitchFamily="34" charset="0"/>
              </a:rPr>
              <a:t>Rantau </a:t>
            </a:r>
            <a:r>
              <a:rPr lang="en-US" dirty="0" err="1">
                <a:latin typeface="Avenir Next LT Pro" panose="020B0504020202020204" pitchFamily="34" charset="0"/>
              </a:rPr>
              <a:t>Dedap</a:t>
            </a:r>
            <a:r>
              <a:rPr lang="en-US" dirty="0">
                <a:latin typeface="Avenir Next LT Pro" panose="020B0504020202020204" pitchFamily="34" charset="0"/>
              </a:rPr>
              <a:t>, </a:t>
            </a:r>
            <a:r>
              <a:rPr lang="en-US" dirty="0" err="1">
                <a:latin typeface="Avenir Next LT Pro" panose="020B0504020202020204" pitchFamily="34" charset="0"/>
              </a:rPr>
              <a:t>Sokoria</a:t>
            </a:r>
            <a:r>
              <a:rPr lang="en-US" dirty="0">
                <a:latin typeface="Avenir Next LT Pro" panose="020B0504020202020204" pitchFamily="34" charset="0"/>
              </a:rPr>
              <a:t>, </a:t>
            </a:r>
            <a:r>
              <a:rPr lang="en-US" dirty="0" err="1">
                <a:latin typeface="Avenir Next LT Pro" panose="020B0504020202020204" pitchFamily="34" charset="0"/>
              </a:rPr>
              <a:t>Lahendong</a:t>
            </a:r>
            <a:r>
              <a:rPr lang="en-US" dirty="0">
                <a:latin typeface="Avenir Next LT Pro" panose="020B0504020202020204" pitchFamily="34" charset="0"/>
              </a:rPr>
              <a:t>, </a:t>
            </a:r>
            <a:r>
              <a:rPr lang="en-US" dirty="0" err="1">
                <a:latin typeface="Avenir Next LT Pro" panose="020B0504020202020204" pitchFamily="34" charset="0"/>
              </a:rPr>
              <a:t>Muaralaboh</a:t>
            </a:r>
            <a:r>
              <a:rPr lang="en-US" dirty="0">
                <a:latin typeface="Avenir Next LT Pro" panose="020B0504020202020204" pitchFamily="34" charset="0"/>
              </a:rPr>
              <a:t>, dan </a:t>
            </a:r>
            <a:r>
              <a:rPr lang="en-US" dirty="0" err="1">
                <a:latin typeface="Avenir Next LT Pro" panose="020B0504020202020204" pitchFamily="34" charset="0"/>
              </a:rPr>
              <a:t>Sorik</a:t>
            </a:r>
            <a:r>
              <a:rPr lang="en-US" dirty="0">
                <a:latin typeface="Avenir Next LT Pro" panose="020B0504020202020204" pitchFamily="34" charset="0"/>
              </a:rPr>
              <a:t> </a:t>
            </a:r>
            <a:r>
              <a:rPr lang="en-US" dirty="0" err="1">
                <a:latin typeface="Avenir Next LT Pro" panose="020B0504020202020204" pitchFamily="34" charset="0"/>
              </a:rPr>
              <a:t>Marapi</a:t>
            </a:r>
            <a:r>
              <a:rPr lang="en-US" dirty="0">
                <a:latin typeface="Avenir Next LT Pro" panose="020B0504020202020204" pitchFamily="34" charset="0"/>
              </a:rPr>
              <a:t> </a:t>
            </a:r>
            <a:r>
              <a:rPr lang="en-US" dirty="0" err="1">
                <a:latin typeface="Avenir Next LT Pro" panose="020B0504020202020204" pitchFamily="34" charset="0"/>
              </a:rPr>
              <a:t>dibor</a:t>
            </a:r>
            <a:r>
              <a:rPr lang="en-US" dirty="0">
                <a:latin typeface="Avenir Next LT Pro" panose="020B0504020202020204" pitchFamily="34" charset="0"/>
              </a:rPr>
              <a:t> </a:t>
            </a:r>
            <a:r>
              <a:rPr lang="en-US" dirty="0" err="1">
                <a:latin typeface="Avenir Next LT Pro" panose="020B0504020202020204" pitchFamily="34" charset="0"/>
              </a:rPr>
              <a:t>hingga</a:t>
            </a:r>
            <a:r>
              <a:rPr lang="en-US" dirty="0">
                <a:latin typeface="Avenir Next LT Pro" panose="020B0504020202020204" pitchFamily="34" charset="0"/>
              </a:rPr>
              <a:t> </a:t>
            </a:r>
            <a:r>
              <a:rPr lang="en-US" dirty="0" err="1">
                <a:latin typeface="Avenir Next LT Pro" panose="020B0504020202020204" pitchFamily="34" charset="0"/>
              </a:rPr>
              <a:t>kedalaman</a:t>
            </a:r>
            <a:r>
              <a:rPr lang="en-US" dirty="0">
                <a:latin typeface="Avenir Next LT Pro" panose="020B0504020202020204" pitchFamily="34" charset="0"/>
              </a:rPr>
              <a:t> rata-rata 2100 – 2300 m </a:t>
            </a:r>
            <a:r>
              <a:rPr lang="en-US" dirty="0" err="1">
                <a:latin typeface="Avenir Next LT Pro" panose="020B0504020202020204" pitchFamily="34" charset="0"/>
              </a:rPr>
              <a:t>mayoritas</a:t>
            </a:r>
            <a:r>
              <a:rPr lang="en-US" dirty="0">
                <a:latin typeface="Avenir Next LT Pro" panose="020B0504020202020204" pitchFamily="34" charset="0"/>
              </a:rPr>
              <a:t> </a:t>
            </a:r>
            <a:r>
              <a:rPr lang="en-US" dirty="0" err="1">
                <a:latin typeface="Avenir Next LT Pro" panose="020B0504020202020204" pitchFamily="34" charset="0"/>
              </a:rPr>
              <a:t>dengan</a:t>
            </a:r>
            <a:r>
              <a:rPr lang="en-US" dirty="0">
                <a:latin typeface="Avenir Next LT Pro" panose="020B0504020202020204" pitchFamily="34" charset="0"/>
              </a:rPr>
              <a:t> </a:t>
            </a:r>
            <a:r>
              <a:rPr lang="en-US" dirty="0" err="1">
                <a:latin typeface="Avenir Next LT Pro" panose="020B0504020202020204" pitchFamily="34" charset="0"/>
              </a:rPr>
              <a:t>menggunakan</a:t>
            </a:r>
            <a:r>
              <a:rPr lang="en-US" dirty="0">
                <a:latin typeface="Avenir Next LT Pro" panose="020B0504020202020204" pitchFamily="34" charset="0"/>
              </a:rPr>
              <a:t> </a:t>
            </a:r>
            <a:r>
              <a:rPr lang="en-US" b="1" i="1" dirty="0">
                <a:solidFill>
                  <a:srgbClr val="C00000"/>
                </a:solidFill>
                <a:latin typeface="Avenir Next LT Pro" panose="020B0504020202020204" pitchFamily="34" charset="0"/>
              </a:rPr>
              <a:t>discrete</a:t>
            </a:r>
            <a:r>
              <a:rPr lang="en-US" b="1" dirty="0">
                <a:solidFill>
                  <a:srgbClr val="C00000"/>
                </a:solidFill>
                <a:latin typeface="Avenir Next LT Pro" panose="020B0504020202020204" pitchFamily="34" charset="0"/>
              </a:rPr>
              <a:t> dan </a:t>
            </a:r>
            <a:r>
              <a:rPr lang="en-US" b="1" i="1" dirty="0">
                <a:solidFill>
                  <a:srgbClr val="C00000"/>
                </a:solidFill>
                <a:latin typeface="Avenir Next LT Pro" panose="020B0504020202020204" pitchFamily="34" charset="0"/>
              </a:rPr>
              <a:t>bundled </a:t>
            </a:r>
            <a:r>
              <a:rPr lang="en-US" b="1" dirty="0" err="1">
                <a:solidFill>
                  <a:srgbClr val="C00000"/>
                </a:solidFill>
                <a:latin typeface="Avenir Next LT Pro" panose="020B0504020202020204" pitchFamily="34" charset="0"/>
              </a:rPr>
              <a:t>kontrak</a:t>
            </a:r>
            <a:r>
              <a:rPr lang="en-US" dirty="0">
                <a:latin typeface="Avenir Next LT Pro" panose="020B0504020202020204" pitchFamily="34" charset="0"/>
              </a:rPr>
              <a:t>. </a:t>
            </a:r>
            <a:r>
              <a:rPr lang="en-US" dirty="0" err="1">
                <a:latin typeface="Avenir Next LT Pro" panose="020B0504020202020204" pitchFamily="34" charset="0"/>
              </a:rPr>
              <a:t>Sorik</a:t>
            </a:r>
            <a:r>
              <a:rPr lang="en-US" dirty="0">
                <a:latin typeface="Avenir Next LT Pro" panose="020B0504020202020204" pitchFamily="34" charset="0"/>
              </a:rPr>
              <a:t> </a:t>
            </a:r>
            <a:r>
              <a:rPr lang="en-US" dirty="0" err="1">
                <a:latin typeface="Avenir Next LT Pro" panose="020B0504020202020204" pitchFamily="34" charset="0"/>
              </a:rPr>
              <a:t>Marapi</a:t>
            </a:r>
            <a:r>
              <a:rPr lang="en-US" dirty="0">
                <a:latin typeface="Avenir Next LT Pro" panose="020B0504020202020204" pitchFamily="34" charset="0"/>
              </a:rPr>
              <a:t> </a:t>
            </a:r>
            <a:r>
              <a:rPr lang="en-US" dirty="0" err="1">
                <a:latin typeface="Avenir Next LT Pro" panose="020B0504020202020204" pitchFamily="34" charset="0"/>
              </a:rPr>
              <a:t>tahun</a:t>
            </a:r>
            <a:r>
              <a:rPr lang="en-US" dirty="0">
                <a:latin typeface="Avenir Next LT Pro" panose="020B0504020202020204" pitchFamily="34" charset="0"/>
              </a:rPr>
              <a:t> 2021 </a:t>
            </a:r>
            <a:r>
              <a:rPr lang="en-US" dirty="0" err="1">
                <a:latin typeface="Avenir Next LT Pro" panose="020B0504020202020204" pitchFamily="34" charset="0"/>
              </a:rPr>
              <a:t>dibor</a:t>
            </a:r>
            <a:r>
              <a:rPr lang="en-US" dirty="0">
                <a:latin typeface="Avenir Next LT Pro" panose="020B0504020202020204" pitchFamily="34" charset="0"/>
              </a:rPr>
              <a:t> </a:t>
            </a:r>
            <a:r>
              <a:rPr lang="en-US" dirty="0" err="1">
                <a:latin typeface="Avenir Next LT Pro" panose="020B0504020202020204" pitchFamily="34" charset="0"/>
              </a:rPr>
              <a:t>dengan</a:t>
            </a:r>
            <a:r>
              <a:rPr lang="en-US" dirty="0">
                <a:latin typeface="Avenir Next LT Pro" panose="020B0504020202020204" pitchFamily="34" charset="0"/>
              </a:rPr>
              <a:t> </a:t>
            </a:r>
            <a:r>
              <a:rPr lang="en-US" dirty="0" err="1">
                <a:latin typeface="Avenir Next LT Pro" panose="020B0504020202020204" pitchFamily="34" charset="0"/>
              </a:rPr>
              <a:t>menggunakan</a:t>
            </a:r>
            <a:r>
              <a:rPr lang="en-US" dirty="0">
                <a:latin typeface="Avenir Next LT Pro" panose="020B0504020202020204" pitchFamily="34" charset="0"/>
              </a:rPr>
              <a:t> rig </a:t>
            </a:r>
            <a:r>
              <a:rPr lang="en-US" dirty="0" err="1">
                <a:latin typeface="Avenir Next LT Pro" panose="020B0504020202020204" pitchFamily="34" charset="0"/>
              </a:rPr>
              <a:t>sendiri</a:t>
            </a:r>
            <a:r>
              <a:rPr lang="en-US" dirty="0">
                <a:latin typeface="Avenir Next LT Pro" panose="020B0504020202020204" pitchFamily="34" charset="0"/>
              </a:rPr>
              <a:t>, </a:t>
            </a:r>
            <a:r>
              <a:rPr lang="en-US" dirty="0" err="1">
                <a:latin typeface="Avenir Next LT Pro" panose="020B0504020202020204" pitchFamily="34" charset="0"/>
              </a:rPr>
              <a:t>sehingga</a:t>
            </a:r>
            <a:r>
              <a:rPr lang="en-US" dirty="0">
                <a:latin typeface="Avenir Next LT Pro" panose="020B0504020202020204" pitchFamily="34" charset="0"/>
              </a:rPr>
              <a:t> </a:t>
            </a:r>
            <a:r>
              <a:rPr lang="en-US" dirty="0" err="1">
                <a:latin typeface="Avenir Next LT Pro" panose="020B0504020202020204" pitchFamily="34" charset="0"/>
              </a:rPr>
              <a:t>menurunkan</a:t>
            </a:r>
            <a:r>
              <a:rPr lang="en-US" dirty="0">
                <a:latin typeface="Avenir Next LT Pro" panose="020B0504020202020204" pitchFamily="34" charset="0"/>
              </a:rPr>
              <a:t> </a:t>
            </a:r>
            <a:r>
              <a:rPr lang="en-US" dirty="0" err="1">
                <a:latin typeface="Avenir Next LT Pro" panose="020B0504020202020204" pitchFamily="34" charset="0"/>
              </a:rPr>
              <a:t>biaya</a:t>
            </a:r>
            <a:r>
              <a:rPr lang="en-US" dirty="0">
                <a:latin typeface="Avenir Next LT Pro" panose="020B0504020202020204" pitchFamily="34" charset="0"/>
              </a:rPr>
              <a:t> </a:t>
            </a:r>
            <a:r>
              <a:rPr lang="en-US" dirty="0" err="1">
                <a:latin typeface="Avenir Next LT Pro" panose="020B0504020202020204" pitchFamily="34" charset="0"/>
              </a:rPr>
              <a:t>pengeboran</a:t>
            </a:r>
            <a:r>
              <a:rPr lang="en-US" dirty="0">
                <a:latin typeface="Avenir Next LT Pro" panose="020B0504020202020204" pitchFamily="34" charset="0"/>
              </a:rPr>
              <a:t>.</a:t>
            </a:r>
          </a:p>
          <a:p>
            <a:pPr marL="284163" lvl="1" indent="-284163">
              <a:spcBef>
                <a:spcPct val="20000"/>
              </a:spcBef>
              <a:buFont typeface="Wingdings" pitchFamily="2" charset="2"/>
              <a:buChar char="§"/>
              <a:defRPr/>
            </a:pPr>
            <a:r>
              <a:rPr lang="en-US" dirty="0" err="1">
                <a:latin typeface="Avenir Next LT Pro" panose="020B0504020202020204" pitchFamily="34" charset="0"/>
              </a:rPr>
              <a:t>Faktor-faktor</a:t>
            </a:r>
            <a:r>
              <a:rPr lang="en-US" dirty="0">
                <a:latin typeface="Avenir Next LT Pro" panose="020B0504020202020204" pitchFamily="34" charset="0"/>
              </a:rPr>
              <a:t> </a:t>
            </a:r>
            <a:r>
              <a:rPr lang="en-US" dirty="0" err="1">
                <a:latin typeface="Avenir Next LT Pro" panose="020B0504020202020204" pitchFamily="34" charset="0"/>
              </a:rPr>
              <a:t>operasi</a:t>
            </a:r>
            <a:r>
              <a:rPr lang="en-US" dirty="0">
                <a:latin typeface="Avenir Next LT Pro" panose="020B0504020202020204" pitchFamily="34" charset="0"/>
              </a:rPr>
              <a:t> </a:t>
            </a:r>
            <a:r>
              <a:rPr lang="en-US" dirty="0" err="1">
                <a:latin typeface="Avenir Next LT Pro" panose="020B0504020202020204" pitchFamily="34" charset="0"/>
              </a:rPr>
              <a:t>seperti</a:t>
            </a:r>
            <a:r>
              <a:rPr lang="en-US" dirty="0">
                <a:latin typeface="Avenir Next LT Pro" panose="020B0504020202020204" pitchFamily="34" charset="0"/>
              </a:rPr>
              <a:t> </a:t>
            </a:r>
            <a:r>
              <a:rPr lang="en-US" dirty="0" err="1">
                <a:latin typeface="Avenir Next LT Pro" panose="020B0504020202020204" pitchFamily="34" charset="0"/>
              </a:rPr>
              <a:t>gangguan</a:t>
            </a:r>
            <a:r>
              <a:rPr lang="en-US" dirty="0">
                <a:latin typeface="Avenir Next LT Pro" panose="020B0504020202020204" pitchFamily="34" charset="0"/>
              </a:rPr>
              <a:t> </a:t>
            </a:r>
            <a:r>
              <a:rPr lang="en-US" dirty="0" err="1">
                <a:latin typeface="Avenir Next LT Pro" panose="020B0504020202020204" pitchFamily="34" charset="0"/>
              </a:rPr>
              <a:t>pelaksanaan</a:t>
            </a:r>
            <a:r>
              <a:rPr lang="en-US" dirty="0">
                <a:latin typeface="Avenir Next LT Pro" panose="020B0504020202020204" pitchFamily="34" charset="0"/>
              </a:rPr>
              <a:t> </a:t>
            </a:r>
            <a:r>
              <a:rPr lang="en-US" dirty="0" err="1">
                <a:latin typeface="Avenir Next LT Pro" panose="020B0504020202020204" pitchFamily="34" charset="0"/>
              </a:rPr>
              <a:t>pengeboran</a:t>
            </a:r>
            <a:r>
              <a:rPr lang="en-US" dirty="0">
                <a:latin typeface="Avenir Next LT Pro" panose="020B0504020202020204" pitchFamily="34" charset="0"/>
              </a:rPr>
              <a:t> yang </a:t>
            </a:r>
            <a:r>
              <a:rPr lang="en-US" dirty="0" err="1">
                <a:latin typeface="Avenir Next LT Pro" panose="020B0504020202020204" pitchFamily="34" charset="0"/>
              </a:rPr>
              <a:t>spesifik</a:t>
            </a:r>
            <a:r>
              <a:rPr lang="en-US" dirty="0">
                <a:latin typeface="Avenir Next LT Pro" panose="020B0504020202020204" pitchFamily="34" charset="0"/>
              </a:rPr>
              <a:t> </a:t>
            </a:r>
            <a:r>
              <a:rPr lang="en-US" dirty="0" err="1">
                <a:latin typeface="Avenir Next LT Pro" panose="020B0504020202020204" pitchFamily="34" charset="0"/>
              </a:rPr>
              <a:t>dan</a:t>
            </a:r>
            <a:r>
              <a:rPr lang="en-US" dirty="0">
                <a:latin typeface="Avenir Next LT Pro" panose="020B0504020202020204" pitchFamily="34" charset="0"/>
              </a:rPr>
              <a:t> </a:t>
            </a:r>
            <a:r>
              <a:rPr lang="en-US" dirty="0" err="1">
                <a:latin typeface="Avenir Next LT Pro" panose="020B0504020202020204" pitchFamily="34" charset="0"/>
              </a:rPr>
              <a:t>berbeda</a:t>
            </a:r>
            <a:r>
              <a:rPr lang="en-US" dirty="0">
                <a:latin typeface="Avenir Next LT Pro" panose="020B0504020202020204" pitchFamily="34" charset="0"/>
              </a:rPr>
              <a:t> </a:t>
            </a:r>
            <a:r>
              <a:rPr lang="en-US" dirty="0" err="1">
                <a:latin typeface="Avenir Next LT Pro" panose="020B0504020202020204" pitchFamily="34" charset="0"/>
              </a:rPr>
              <a:t>pada</a:t>
            </a:r>
            <a:r>
              <a:rPr lang="en-US" dirty="0">
                <a:latin typeface="Avenir Next LT Pro" panose="020B0504020202020204" pitchFamily="34" charset="0"/>
              </a:rPr>
              <a:t> </a:t>
            </a:r>
            <a:r>
              <a:rPr lang="en-US" dirty="0" err="1">
                <a:latin typeface="Avenir Next LT Pro" panose="020B0504020202020204" pitchFamily="34" charset="0"/>
              </a:rPr>
              <a:t>masing-masing</a:t>
            </a:r>
            <a:r>
              <a:rPr lang="en-US" dirty="0">
                <a:latin typeface="Avenir Next LT Pro" panose="020B0504020202020204" pitchFamily="34" charset="0"/>
              </a:rPr>
              <a:t> </a:t>
            </a:r>
            <a:r>
              <a:rPr lang="en-US" dirty="0" err="1">
                <a:latin typeface="Avenir Next LT Pro" panose="020B0504020202020204" pitchFamily="34" charset="0"/>
              </a:rPr>
              <a:t>lokasi</a:t>
            </a:r>
            <a:r>
              <a:rPr lang="en-US" dirty="0">
                <a:latin typeface="Avenir Next LT Pro" panose="020B0504020202020204" pitchFamily="34" charset="0"/>
              </a:rPr>
              <a:t> (</a:t>
            </a:r>
            <a:r>
              <a:rPr lang="en-US" dirty="0" err="1">
                <a:latin typeface="Avenir Next LT Pro" panose="020B0504020202020204" pitchFamily="34" charset="0"/>
              </a:rPr>
              <a:t>formasi</a:t>
            </a:r>
            <a:r>
              <a:rPr lang="en-US" dirty="0">
                <a:latin typeface="Avenir Next LT Pro" panose="020B0504020202020204" pitchFamily="34" charset="0"/>
              </a:rPr>
              <a:t> </a:t>
            </a:r>
            <a:r>
              <a:rPr lang="en-US" dirty="0" err="1">
                <a:latin typeface="Avenir Next LT Pro" panose="020B0504020202020204" pitchFamily="34" charset="0"/>
              </a:rPr>
              <a:t>batuan</a:t>
            </a:r>
            <a:r>
              <a:rPr lang="en-US" dirty="0">
                <a:latin typeface="Avenir Next LT Pro" panose="020B0504020202020204" pitchFamily="34" charset="0"/>
              </a:rPr>
              <a:t> yang </a:t>
            </a:r>
            <a:r>
              <a:rPr lang="en-US" dirty="0" err="1">
                <a:latin typeface="Avenir Next LT Pro" panose="020B0504020202020204" pitchFamily="34" charset="0"/>
              </a:rPr>
              <a:t>dijumpai</a:t>
            </a:r>
            <a:r>
              <a:rPr lang="en-US" dirty="0">
                <a:latin typeface="Avenir Next LT Pro" panose="020B0504020202020204" pitchFamily="34" charset="0"/>
              </a:rPr>
              <a:t>, </a:t>
            </a:r>
            <a:r>
              <a:rPr lang="en-US" i="1" dirty="0">
                <a:latin typeface="Avenir Next LT Pro" panose="020B0504020202020204" pitchFamily="34" charset="0"/>
              </a:rPr>
              <a:t>loss circulation</a:t>
            </a:r>
            <a:r>
              <a:rPr lang="en-US" dirty="0">
                <a:latin typeface="Avenir Next LT Pro" panose="020B0504020202020204" pitchFamily="34" charset="0"/>
              </a:rPr>
              <a:t>, </a:t>
            </a:r>
            <a:r>
              <a:rPr lang="en-US" i="1" dirty="0">
                <a:latin typeface="Avenir Next LT Pro" panose="020B0504020202020204" pitchFamily="34" charset="0"/>
              </a:rPr>
              <a:t>shallow gas</a:t>
            </a:r>
            <a:r>
              <a:rPr lang="en-US" dirty="0">
                <a:latin typeface="Avenir Next LT Pro" panose="020B0504020202020204" pitchFamily="34" charset="0"/>
              </a:rPr>
              <a:t>, </a:t>
            </a:r>
            <a:r>
              <a:rPr lang="en-US" dirty="0" err="1">
                <a:latin typeface="Avenir Next LT Pro" panose="020B0504020202020204" pitchFamily="34" charset="0"/>
              </a:rPr>
              <a:t>jepitan</a:t>
            </a:r>
            <a:r>
              <a:rPr lang="en-US" dirty="0">
                <a:latin typeface="Avenir Next LT Pro" panose="020B0504020202020204" pitchFamily="34" charset="0"/>
              </a:rPr>
              <a:t>, </a:t>
            </a:r>
            <a:r>
              <a:rPr lang="en-US" dirty="0" err="1">
                <a:latin typeface="Avenir Next LT Pro" panose="020B0504020202020204" pitchFamily="34" charset="0"/>
              </a:rPr>
              <a:t>dll</a:t>
            </a:r>
            <a:r>
              <a:rPr lang="en-US" dirty="0">
                <a:latin typeface="Avenir Next LT Pro" panose="020B0504020202020204" pitchFamily="34" charset="0"/>
              </a:rPr>
              <a:t>).</a:t>
            </a:r>
          </a:p>
        </p:txBody>
      </p:sp>
      <p:pic>
        <p:nvPicPr>
          <p:cNvPr id="5" name="Picture 16">
            <a:extLst>
              <a:ext uri="{FF2B5EF4-FFF2-40B4-BE49-F238E27FC236}">
                <a16:creationId xmlns:a16="http://schemas.microsoft.com/office/drawing/2014/main" id="{FEE6C659-10BD-44A2-9C61-CCF6C1A3F785}"/>
              </a:ext>
            </a:extLst>
          </p:cNvPr>
          <p:cNvPicPr>
            <a:picLocks noChangeAspect="1" noChangeArrowheads="1"/>
          </p:cNvPicPr>
          <p:nvPr/>
        </p:nvPicPr>
        <p:blipFill>
          <a:blip r:embed="rId2" cstate="print"/>
          <a:srcRect/>
          <a:stretch>
            <a:fillRect/>
          </a:stretch>
        </p:blipFill>
        <p:spPr bwMode="auto">
          <a:xfrm>
            <a:off x="74612" y="838201"/>
            <a:ext cx="5895473" cy="3200400"/>
          </a:xfrm>
          <a:prstGeom prst="rect">
            <a:avLst/>
          </a:prstGeom>
          <a:noFill/>
          <a:ln w="9525">
            <a:noFill/>
            <a:miter lim="800000"/>
            <a:headEnd/>
            <a:tailEnd/>
          </a:ln>
          <a:effectLst/>
        </p:spPr>
      </p:pic>
      <p:sp>
        <p:nvSpPr>
          <p:cNvPr id="6" name="Content Placeholder 2">
            <a:extLst>
              <a:ext uri="{FF2B5EF4-FFF2-40B4-BE49-F238E27FC236}">
                <a16:creationId xmlns:a16="http://schemas.microsoft.com/office/drawing/2014/main" id="{EF02D8B1-B599-40BC-902E-8EB9CB9F1A98}"/>
              </a:ext>
            </a:extLst>
          </p:cNvPr>
          <p:cNvSpPr txBox="1">
            <a:spLocks/>
          </p:cNvSpPr>
          <p:nvPr/>
        </p:nvSpPr>
        <p:spPr>
          <a:xfrm>
            <a:off x="1293811" y="914400"/>
            <a:ext cx="1790351" cy="838200"/>
          </a:xfrm>
          <a:prstGeom prst="rect">
            <a:avLst/>
          </a:prstGeom>
          <a:solidFill>
            <a:schemeClr val="bg1">
              <a:lumMod val="95000"/>
            </a:schemeClr>
          </a:solidFill>
          <a:ln>
            <a:solidFill>
              <a:schemeClr val="tx1">
                <a:lumMod val="50000"/>
                <a:lumOff val="50000"/>
              </a:schemeClr>
            </a:solidFill>
          </a:ln>
        </p:spPr>
        <p:txBody>
          <a:bodyPr vert="horz" lIns="91440" tIns="45720" rIns="91440" bIns="45720" rtlCol="0" anchor="ctr">
            <a:noAutofit/>
          </a:bodyPr>
          <a:lstStyle/>
          <a:p>
            <a:pPr lvl="0" indent="4763" algn="ctr">
              <a:spcBef>
                <a:spcPct val="20000"/>
              </a:spcBef>
            </a:pPr>
            <a:r>
              <a:rPr lang="en-US" sz="1700" b="1" dirty="0" err="1">
                <a:latin typeface="Avenir Next LT Pro" panose="020B0504020202020204" pitchFamily="34" charset="0"/>
              </a:rPr>
              <a:t>Perbandingan</a:t>
            </a:r>
            <a:r>
              <a:rPr lang="en-US" sz="1700" b="1" dirty="0">
                <a:latin typeface="Avenir Next LT Pro" panose="020B0504020202020204" pitchFamily="34" charset="0"/>
              </a:rPr>
              <a:t> </a:t>
            </a:r>
            <a:r>
              <a:rPr lang="en-US" sz="1700" b="1" dirty="0" err="1">
                <a:latin typeface="Avenir Next LT Pro" panose="020B0504020202020204" pitchFamily="34" charset="0"/>
              </a:rPr>
              <a:t>skema</a:t>
            </a:r>
            <a:r>
              <a:rPr lang="en-US" sz="1700" b="1" dirty="0">
                <a:latin typeface="Avenir Next LT Pro" panose="020B0504020202020204" pitchFamily="34" charset="0"/>
              </a:rPr>
              <a:t> </a:t>
            </a:r>
            <a:r>
              <a:rPr lang="en-US" sz="1700" b="1" dirty="0" err="1">
                <a:latin typeface="Avenir Next LT Pro" panose="020B0504020202020204" pitchFamily="34" charset="0"/>
              </a:rPr>
              <a:t>kontrak</a:t>
            </a:r>
            <a:endParaRPr lang="en-US" sz="1700" b="1" dirty="0">
              <a:latin typeface="Avenir Next LT Pro" panose="020B0504020202020204" pitchFamily="34" charset="0"/>
            </a:endParaRPr>
          </a:p>
          <a:p>
            <a:pPr lvl="0" indent="4763" algn="ctr">
              <a:spcBef>
                <a:spcPct val="20000"/>
              </a:spcBef>
            </a:pPr>
            <a:r>
              <a:rPr lang="en-US" sz="1700" b="1" dirty="0">
                <a:latin typeface="Avenir Next LT Pro" panose="020B0504020202020204" pitchFamily="34" charset="0"/>
              </a:rPr>
              <a:t>(2018) </a:t>
            </a:r>
          </a:p>
        </p:txBody>
      </p:sp>
    </p:spTree>
    <p:extLst>
      <p:ext uri="{BB962C8B-B14F-4D97-AF65-F5344CB8AC3E}">
        <p14:creationId xmlns:p14="http://schemas.microsoft.com/office/powerpoint/2010/main" val="129033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BB9460D6-8018-4F2A-9C8C-FCA43B56B7CA}"/>
              </a:ext>
            </a:extLst>
          </p:cNvPr>
          <p:cNvGraphicFramePr>
            <a:graphicFrameLocks/>
          </p:cNvGraphicFramePr>
          <p:nvPr/>
        </p:nvGraphicFramePr>
        <p:xfrm>
          <a:off x="101600" y="991890"/>
          <a:ext cx="7151607" cy="5873761"/>
        </p:xfrm>
        <a:graphic>
          <a:graphicData uri="http://schemas.openxmlformats.org/drawingml/2006/chart">
            <c:chart xmlns:c="http://schemas.openxmlformats.org/drawingml/2006/chart" xmlns:r="http://schemas.openxmlformats.org/officeDocument/2006/relationships" r:id="rId2"/>
          </a:graphicData>
        </a:graphic>
      </p:graphicFrame>
      <p:sp>
        <p:nvSpPr>
          <p:cNvPr id="2" name="Rectangle 1">
            <a:extLst>
              <a:ext uri="{FF2B5EF4-FFF2-40B4-BE49-F238E27FC236}">
                <a16:creationId xmlns:a16="http://schemas.microsoft.com/office/drawing/2014/main" id="{D2B3BD10-F08B-4DCA-A4B2-243ACB85E0D4}"/>
              </a:ext>
            </a:extLst>
          </p:cNvPr>
          <p:cNvSpPr/>
          <p:nvPr/>
        </p:nvSpPr>
        <p:spPr>
          <a:xfrm>
            <a:off x="1" y="1"/>
            <a:ext cx="12191999" cy="6698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2200" b="1"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Arial" panose="020B0604020202020204" pitchFamily="34" charset="0"/>
              </a:rPr>
              <a:t>PERBANDINGAN BIAYA PENGEBORAN PANAS BUMI ANTAR LAPANGAN DI INDONESIA</a:t>
            </a:r>
          </a:p>
          <a:p>
            <a:pPr marL="0" marR="0" lvl="0" indent="0" defTabSz="914400" rtl="0" eaLnBrk="1" fontAlgn="auto" latinLnBrk="0" hangingPunct="1">
              <a:lnSpc>
                <a:spcPct val="100000"/>
              </a:lnSpc>
              <a:spcBef>
                <a:spcPts val="0"/>
              </a:spcBef>
              <a:spcAft>
                <a:spcPts val="0"/>
              </a:spcAft>
              <a:buClrTx/>
              <a:buSzTx/>
              <a:buFontTx/>
              <a:buNone/>
              <a:tabLst/>
              <a:defRPr/>
            </a:pPr>
            <a:r>
              <a:rPr lang="fi-FI" dirty="0">
                <a:solidFill>
                  <a:prstClr val="white"/>
                </a:solidFill>
                <a:latin typeface="Avenir Next LT Pro" panose="020B0504020202020204" pitchFamily="34" charset="0"/>
                <a:cs typeface="Arial" panose="020B0604020202020204" pitchFamily="34" charset="0"/>
              </a:rPr>
              <a:t>Perbandingan unit cost, jumlah sumur dan kontraktua</a:t>
            </a:r>
            <a:r>
              <a:rPr lang="en-US" dirty="0">
                <a:solidFill>
                  <a:prstClr val="white"/>
                </a:solidFill>
                <a:latin typeface="Avenir Next LT Pro" panose="020B0504020202020204" pitchFamily="34" charset="0"/>
                <a:cs typeface="Arial" panose="020B0604020202020204" pitchFamily="34" charset="0"/>
              </a:rPr>
              <a:t>l</a:t>
            </a:r>
            <a:endParaRPr lang="fi-FI" dirty="0">
              <a:solidFill>
                <a:prstClr val="white"/>
              </a:solidFill>
              <a:latin typeface="Avenir Next LT Pro" panose="020B0504020202020204" pitchFamily="34" charset="0"/>
              <a:cs typeface="Arial" panose="020B0604020202020204" pitchFamily="34" charset="0"/>
            </a:endParaRPr>
          </a:p>
        </p:txBody>
      </p:sp>
      <p:graphicFrame>
        <p:nvGraphicFramePr>
          <p:cNvPr id="3" name="Table 5">
            <a:extLst>
              <a:ext uri="{FF2B5EF4-FFF2-40B4-BE49-F238E27FC236}">
                <a16:creationId xmlns:a16="http://schemas.microsoft.com/office/drawing/2014/main" id="{E569E039-0B17-4711-89BE-152E0BB60738}"/>
              </a:ext>
            </a:extLst>
          </p:cNvPr>
          <p:cNvGraphicFramePr>
            <a:graphicFrameLocks noGrp="1"/>
          </p:cNvGraphicFramePr>
          <p:nvPr>
            <p:extLst>
              <p:ext uri="{D42A27DB-BD31-4B8C-83A1-F6EECF244321}">
                <p14:modId xmlns:p14="http://schemas.microsoft.com/office/powerpoint/2010/main" val="271404771"/>
              </p:ext>
            </p:extLst>
          </p:nvPr>
        </p:nvGraphicFramePr>
        <p:xfrm>
          <a:off x="7402984" y="561231"/>
          <a:ext cx="4801716" cy="6230959"/>
        </p:xfrm>
        <a:graphic>
          <a:graphicData uri="http://schemas.openxmlformats.org/drawingml/2006/table">
            <a:tbl>
              <a:tblPr firstRow="1" bandRow="1">
                <a:tableStyleId>{073A0DAA-6AF3-43AB-8588-CEC1D06C72B9}</a:tableStyleId>
              </a:tblPr>
              <a:tblGrid>
                <a:gridCol w="914400">
                  <a:extLst>
                    <a:ext uri="{9D8B030D-6E8A-4147-A177-3AD203B41FA5}">
                      <a16:colId xmlns:a16="http://schemas.microsoft.com/office/drawing/2014/main" val="275013664"/>
                    </a:ext>
                  </a:extLst>
                </a:gridCol>
                <a:gridCol w="990600">
                  <a:extLst>
                    <a:ext uri="{9D8B030D-6E8A-4147-A177-3AD203B41FA5}">
                      <a16:colId xmlns:a16="http://schemas.microsoft.com/office/drawing/2014/main" val="3526612570"/>
                    </a:ext>
                  </a:extLst>
                </a:gridCol>
                <a:gridCol w="2896716">
                  <a:extLst>
                    <a:ext uri="{9D8B030D-6E8A-4147-A177-3AD203B41FA5}">
                      <a16:colId xmlns:a16="http://schemas.microsoft.com/office/drawing/2014/main" val="1835958967"/>
                    </a:ext>
                  </a:extLst>
                </a:gridCol>
              </a:tblGrid>
              <a:tr h="361882">
                <a:tc>
                  <a:txBody>
                    <a:bodyPr/>
                    <a:lstStyle/>
                    <a:p>
                      <a:pPr algn="ctr"/>
                      <a:r>
                        <a:rPr lang="en-US" sz="1200" dirty="0"/>
                        <a:t>Jumlah </a:t>
                      </a:r>
                      <a:r>
                        <a:rPr lang="en-US" sz="1200" dirty="0" err="1"/>
                        <a:t>Sumur</a:t>
                      </a:r>
                      <a:endParaRPr lang="id-ID" sz="1200" dirty="0"/>
                    </a:p>
                  </a:txBody>
                  <a:tcPr/>
                </a:tc>
                <a:tc>
                  <a:txBody>
                    <a:bodyPr/>
                    <a:lstStyle/>
                    <a:p>
                      <a:pPr algn="ctr"/>
                      <a:r>
                        <a:rPr lang="en-US" sz="1200" dirty="0" err="1"/>
                        <a:t>Tahun</a:t>
                      </a:r>
                      <a:endParaRPr lang="id-ID" sz="1200" dirty="0"/>
                    </a:p>
                  </a:txBody>
                  <a:tcPr/>
                </a:tc>
                <a:tc>
                  <a:txBody>
                    <a:bodyPr/>
                    <a:lstStyle/>
                    <a:p>
                      <a:pPr algn="ctr"/>
                      <a:r>
                        <a:rPr lang="en-US" sz="1200" dirty="0" err="1"/>
                        <a:t>Keterangan</a:t>
                      </a:r>
                      <a:endParaRPr lang="id-ID" sz="1200" dirty="0"/>
                    </a:p>
                  </a:txBody>
                  <a:tcPr/>
                </a:tc>
                <a:extLst>
                  <a:ext uri="{0D108BD9-81ED-4DB2-BD59-A6C34878D82A}">
                    <a16:rowId xmlns:a16="http://schemas.microsoft.com/office/drawing/2014/main" val="3090927186"/>
                  </a:ext>
                </a:extLst>
              </a:tr>
              <a:tr h="308969">
                <a:tc>
                  <a:txBody>
                    <a:bodyPr/>
                    <a:lstStyle/>
                    <a:p>
                      <a:pPr algn="ctr"/>
                      <a:r>
                        <a:rPr lang="en-US" sz="1400" dirty="0"/>
                        <a:t>3</a:t>
                      </a:r>
                      <a:endParaRPr lang="id-ID" sz="1400" dirty="0"/>
                    </a:p>
                  </a:txBody>
                  <a:tcPr/>
                </a:tc>
                <a:tc>
                  <a:txBody>
                    <a:bodyPr/>
                    <a:lstStyle/>
                    <a:p>
                      <a:pPr algn="ctr"/>
                      <a:r>
                        <a:rPr lang="en-US" sz="1200" dirty="0"/>
                        <a:t>2018</a:t>
                      </a:r>
                      <a:endParaRPr lang="id-ID" sz="1200" dirty="0"/>
                    </a:p>
                  </a:txBody>
                  <a:tcPr/>
                </a:tc>
                <a:tc>
                  <a:txBody>
                    <a:bodyPr/>
                    <a:lstStyle/>
                    <a:p>
                      <a:pPr algn="ctr"/>
                      <a:r>
                        <a:rPr lang="en-US" sz="1200" dirty="0"/>
                        <a:t>IPM, </a:t>
                      </a:r>
                      <a:r>
                        <a:rPr lang="en-US" sz="1200" dirty="0" err="1"/>
                        <a:t>Eksplorasi</a:t>
                      </a:r>
                      <a:r>
                        <a:rPr lang="en-US" sz="1200" dirty="0"/>
                        <a:t>, </a:t>
                      </a:r>
                      <a:r>
                        <a:rPr lang="en-US" sz="1200" dirty="0" err="1"/>
                        <a:t>Jawa</a:t>
                      </a:r>
                      <a:endParaRPr lang="id-ID" sz="1200" dirty="0"/>
                    </a:p>
                  </a:txBody>
                  <a:tcPr/>
                </a:tc>
                <a:extLst>
                  <a:ext uri="{0D108BD9-81ED-4DB2-BD59-A6C34878D82A}">
                    <a16:rowId xmlns:a16="http://schemas.microsoft.com/office/drawing/2014/main" val="2137873569"/>
                  </a:ext>
                </a:extLst>
              </a:tr>
              <a:tr h="311965">
                <a:tc>
                  <a:txBody>
                    <a:bodyPr/>
                    <a:lstStyle/>
                    <a:p>
                      <a:pPr algn="ctr"/>
                      <a:r>
                        <a:rPr lang="en-US" sz="1400" dirty="0"/>
                        <a:t>33</a:t>
                      </a:r>
                      <a:endParaRPr lang="id-ID" sz="1400" dirty="0"/>
                    </a:p>
                  </a:txBody>
                  <a:tcPr/>
                </a:tc>
                <a:tc>
                  <a:txBody>
                    <a:bodyPr/>
                    <a:lstStyle/>
                    <a:p>
                      <a:pPr algn="ctr"/>
                      <a:r>
                        <a:rPr lang="en-US" sz="1200" dirty="0"/>
                        <a:t>2014-2017</a:t>
                      </a:r>
                      <a:endParaRPr lang="id-ID" sz="1200" dirty="0"/>
                    </a:p>
                  </a:txBody>
                  <a:tcPr/>
                </a:tc>
                <a:tc>
                  <a:txBody>
                    <a:bodyPr/>
                    <a:lstStyle/>
                    <a:p>
                      <a:pPr algn="ctr"/>
                      <a:r>
                        <a:rPr lang="en-US" sz="1200" dirty="0">
                          <a:solidFill>
                            <a:schemeClr val="tx1"/>
                          </a:solidFill>
                        </a:rPr>
                        <a:t>IPM, </a:t>
                      </a:r>
                      <a:r>
                        <a:rPr lang="en-US" sz="1200" dirty="0" err="1">
                          <a:solidFill>
                            <a:schemeClr val="tx1"/>
                          </a:solidFill>
                        </a:rPr>
                        <a:t>Pengembangan</a:t>
                      </a:r>
                      <a:r>
                        <a:rPr lang="en-US" sz="1200" dirty="0">
                          <a:solidFill>
                            <a:schemeClr val="tx1"/>
                          </a:solidFill>
                        </a:rPr>
                        <a:t>, Sumatera</a:t>
                      </a:r>
                      <a:endParaRPr lang="id-ID" sz="1200" dirty="0">
                        <a:solidFill>
                          <a:schemeClr val="tx1"/>
                        </a:solidFill>
                      </a:endParaRPr>
                    </a:p>
                  </a:txBody>
                  <a:tcPr/>
                </a:tc>
                <a:extLst>
                  <a:ext uri="{0D108BD9-81ED-4DB2-BD59-A6C34878D82A}">
                    <a16:rowId xmlns:a16="http://schemas.microsoft.com/office/drawing/2014/main" val="223839620"/>
                  </a:ext>
                </a:extLst>
              </a:tr>
              <a:tr h="311965">
                <a:tc>
                  <a:txBody>
                    <a:bodyPr/>
                    <a:lstStyle/>
                    <a:p>
                      <a:pPr algn="ctr"/>
                      <a:r>
                        <a:rPr lang="en-US" sz="1400" dirty="0"/>
                        <a:t>2</a:t>
                      </a:r>
                      <a:endParaRPr lang="id-ID" sz="1400" dirty="0"/>
                    </a:p>
                  </a:txBody>
                  <a:tcPr/>
                </a:tc>
                <a:tc>
                  <a:txBody>
                    <a:bodyPr/>
                    <a:lstStyle/>
                    <a:p>
                      <a:pPr algn="ctr"/>
                      <a:r>
                        <a:rPr lang="en-US" sz="1200" dirty="0"/>
                        <a:t>2017-2018</a:t>
                      </a:r>
                      <a:endParaRPr lang="id-ID" sz="1200" dirty="0"/>
                    </a:p>
                  </a:txBody>
                  <a:tcPr/>
                </a:tc>
                <a:tc>
                  <a:txBody>
                    <a:bodyPr/>
                    <a:lstStyle/>
                    <a:p>
                      <a:pPr algn="ctr"/>
                      <a:r>
                        <a:rPr lang="en-US" sz="1200" dirty="0">
                          <a:solidFill>
                            <a:schemeClr val="tx1"/>
                          </a:solidFill>
                        </a:rPr>
                        <a:t>IPM, </a:t>
                      </a:r>
                      <a:r>
                        <a:rPr lang="en-US" sz="1200" dirty="0" err="1">
                          <a:solidFill>
                            <a:schemeClr val="tx1"/>
                          </a:solidFill>
                        </a:rPr>
                        <a:t>Eksplorasi</a:t>
                      </a:r>
                      <a:r>
                        <a:rPr lang="en-US" sz="1200" dirty="0">
                          <a:solidFill>
                            <a:schemeClr val="tx1"/>
                          </a:solidFill>
                        </a:rPr>
                        <a:t>, P. </a:t>
                      </a:r>
                      <a:r>
                        <a:rPr lang="en-US" sz="1200" dirty="0" err="1">
                          <a:solidFill>
                            <a:schemeClr val="tx1"/>
                          </a:solidFill>
                        </a:rPr>
                        <a:t>Sabang</a:t>
                      </a:r>
                      <a:endParaRPr lang="id-ID" sz="1200" dirty="0">
                        <a:solidFill>
                          <a:schemeClr val="tx1"/>
                        </a:solidFill>
                      </a:endParaRPr>
                    </a:p>
                  </a:txBody>
                  <a:tcPr/>
                </a:tc>
                <a:extLst>
                  <a:ext uri="{0D108BD9-81ED-4DB2-BD59-A6C34878D82A}">
                    <a16:rowId xmlns:a16="http://schemas.microsoft.com/office/drawing/2014/main" val="34061481"/>
                  </a:ext>
                </a:extLst>
              </a:tr>
              <a:tr h="311965">
                <a:tc>
                  <a:txBody>
                    <a:bodyPr/>
                    <a:lstStyle/>
                    <a:p>
                      <a:pPr algn="ctr"/>
                      <a:r>
                        <a:rPr lang="en-US" sz="1400" dirty="0"/>
                        <a:t>22</a:t>
                      </a:r>
                      <a:endParaRPr lang="id-ID" sz="1400" dirty="0"/>
                    </a:p>
                  </a:txBody>
                  <a:tcPr/>
                </a:tc>
                <a:tc>
                  <a:txBody>
                    <a:bodyPr/>
                    <a:lstStyle/>
                    <a:p>
                      <a:pPr algn="ctr"/>
                      <a:r>
                        <a:rPr lang="en-US" sz="1200" dirty="0"/>
                        <a:t>2015-2018</a:t>
                      </a:r>
                      <a:endParaRPr lang="id-ID" sz="1200" dirty="0"/>
                    </a:p>
                  </a:txBody>
                  <a:tcPr/>
                </a:tc>
                <a:tc>
                  <a:txBody>
                    <a:bodyPr/>
                    <a:lstStyle/>
                    <a:p>
                      <a:pPr algn="ctr"/>
                      <a:r>
                        <a:rPr lang="en-US" sz="1200" dirty="0">
                          <a:solidFill>
                            <a:schemeClr val="tx1"/>
                          </a:solidFill>
                        </a:rPr>
                        <a:t>Semi-IPM, </a:t>
                      </a:r>
                      <a:r>
                        <a:rPr lang="en-US" sz="1200" dirty="0" err="1">
                          <a:solidFill>
                            <a:schemeClr val="tx1"/>
                          </a:solidFill>
                        </a:rPr>
                        <a:t>Pengembangan</a:t>
                      </a:r>
                      <a:r>
                        <a:rPr lang="en-US" sz="1200" dirty="0">
                          <a:solidFill>
                            <a:schemeClr val="tx1"/>
                          </a:solidFill>
                        </a:rPr>
                        <a:t>, Sumatera</a:t>
                      </a:r>
                      <a:endParaRPr lang="id-ID" sz="1200" dirty="0">
                        <a:solidFill>
                          <a:schemeClr val="tx1"/>
                        </a:solidFill>
                      </a:endParaRPr>
                    </a:p>
                  </a:txBody>
                  <a:tcPr/>
                </a:tc>
                <a:extLst>
                  <a:ext uri="{0D108BD9-81ED-4DB2-BD59-A6C34878D82A}">
                    <a16:rowId xmlns:a16="http://schemas.microsoft.com/office/drawing/2014/main" val="1688339539"/>
                  </a:ext>
                </a:extLst>
              </a:tr>
              <a:tr h="311965">
                <a:tc>
                  <a:txBody>
                    <a:bodyPr/>
                    <a:lstStyle/>
                    <a:p>
                      <a:pPr algn="ctr"/>
                      <a:r>
                        <a:rPr lang="en-US" sz="1400" dirty="0"/>
                        <a:t>22</a:t>
                      </a:r>
                      <a:endParaRPr lang="id-ID" sz="1400" dirty="0"/>
                    </a:p>
                  </a:txBody>
                  <a:tcPr/>
                </a:tc>
                <a:tc>
                  <a:txBody>
                    <a:bodyPr/>
                    <a:lstStyle/>
                    <a:p>
                      <a:pPr algn="ctr"/>
                      <a:r>
                        <a:rPr lang="en-US" sz="1200" dirty="0"/>
                        <a:t>2014-2016</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Semi-IPM, Make-up, Sumatera</a:t>
                      </a:r>
                      <a:endParaRPr lang="id-ID" sz="1200" dirty="0">
                        <a:solidFill>
                          <a:schemeClr val="tx1"/>
                        </a:solidFill>
                      </a:endParaRPr>
                    </a:p>
                  </a:txBody>
                  <a:tcPr/>
                </a:tc>
                <a:extLst>
                  <a:ext uri="{0D108BD9-81ED-4DB2-BD59-A6C34878D82A}">
                    <a16:rowId xmlns:a16="http://schemas.microsoft.com/office/drawing/2014/main" val="4119556827"/>
                  </a:ext>
                </a:extLst>
              </a:tr>
              <a:tr h="311965">
                <a:tc>
                  <a:txBody>
                    <a:bodyPr/>
                    <a:lstStyle/>
                    <a:p>
                      <a:pPr algn="ctr"/>
                      <a:r>
                        <a:rPr lang="en-US" sz="1400" dirty="0"/>
                        <a:t>5</a:t>
                      </a:r>
                      <a:endParaRPr lang="id-ID" sz="1400" dirty="0"/>
                    </a:p>
                  </a:txBody>
                  <a:tcPr/>
                </a:tc>
                <a:tc>
                  <a:txBody>
                    <a:bodyPr/>
                    <a:lstStyle/>
                    <a:p>
                      <a:pPr algn="ctr"/>
                      <a:r>
                        <a:rPr lang="en-US" sz="1200" dirty="0"/>
                        <a:t>2015</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Semi-IPM, Make-up, </a:t>
                      </a:r>
                      <a:r>
                        <a:rPr lang="en-US" sz="1200" dirty="0" err="1">
                          <a:solidFill>
                            <a:schemeClr val="tx1"/>
                          </a:solidFill>
                        </a:rPr>
                        <a:t>Jawa</a:t>
                      </a:r>
                      <a:endParaRPr lang="id-ID" sz="1200" dirty="0">
                        <a:solidFill>
                          <a:schemeClr val="tx1"/>
                        </a:solidFill>
                      </a:endParaRPr>
                    </a:p>
                  </a:txBody>
                  <a:tcPr/>
                </a:tc>
                <a:extLst>
                  <a:ext uri="{0D108BD9-81ED-4DB2-BD59-A6C34878D82A}">
                    <a16:rowId xmlns:a16="http://schemas.microsoft.com/office/drawing/2014/main" val="10005"/>
                  </a:ext>
                </a:extLst>
              </a:tr>
              <a:tr h="311965">
                <a:tc>
                  <a:txBody>
                    <a:bodyPr/>
                    <a:lstStyle/>
                    <a:p>
                      <a:pPr algn="ctr"/>
                      <a:r>
                        <a:rPr lang="en-US" sz="1400" dirty="0"/>
                        <a:t>10</a:t>
                      </a:r>
                      <a:endParaRPr lang="id-ID" sz="1400" dirty="0"/>
                    </a:p>
                  </a:txBody>
                  <a:tcPr/>
                </a:tc>
                <a:tc>
                  <a:txBody>
                    <a:bodyPr/>
                    <a:lstStyle/>
                    <a:p>
                      <a:pPr algn="ctr"/>
                      <a:r>
                        <a:rPr lang="en-US" sz="1200" dirty="0"/>
                        <a:t>2018</a:t>
                      </a:r>
                      <a:endParaRPr lang="id-ID" sz="1200" dirty="0"/>
                    </a:p>
                  </a:txBody>
                  <a:tcPr/>
                </a:tc>
                <a:tc>
                  <a:txBody>
                    <a:bodyPr/>
                    <a:lstStyle/>
                    <a:p>
                      <a:pPr algn="ctr"/>
                      <a:r>
                        <a:rPr lang="en-US" sz="1200" dirty="0">
                          <a:solidFill>
                            <a:schemeClr val="tx1"/>
                          </a:solidFill>
                        </a:rPr>
                        <a:t>Semi IPM, Make-up, </a:t>
                      </a:r>
                      <a:r>
                        <a:rPr lang="en-US" sz="1200" dirty="0" err="1">
                          <a:solidFill>
                            <a:schemeClr val="tx1"/>
                          </a:solidFill>
                        </a:rPr>
                        <a:t>Jawa</a:t>
                      </a:r>
                      <a:endParaRPr lang="id-ID" sz="1200" dirty="0">
                        <a:solidFill>
                          <a:schemeClr val="tx1"/>
                        </a:solidFill>
                      </a:endParaRPr>
                    </a:p>
                  </a:txBody>
                  <a:tcPr/>
                </a:tc>
                <a:extLst>
                  <a:ext uri="{0D108BD9-81ED-4DB2-BD59-A6C34878D82A}">
                    <a16:rowId xmlns:a16="http://schemas.microsoft.com/office/drawing/2014/main" val="3094618042"/>
                  </a:ext>
                </a:extLst>
              </a:tr>
              <a:tr h="311965">
                <a:tc>
                  <a:txBody>
                    <a:bodyPr/>
                    <a:lstStyle/>
                    <a:p>
                      <a:pPr algn="ctr"/>
                      <a:r>
                        <a:rPr lang="en-US" sz="1400" dirty="0"/>
                        <a:t>13</a:t>
                      </a:r>
                      <a:endParaRPr lang="id-ID" sz="1400" dirty="0"/>
                    </a:p>
                  </a:txBody>
                  <a:tcPr/>
                </a:tc>
                <a:tc>
                  <a:txBody>
                    <a:bodyPr/>
                    <a:lstStyle/>
                    <a:p>
                      <a:pPr algn="ctr"/>
                      <a:r>
                        <a:rPr lang="en-US" sz="1200" dirty="0"/>
                        <a:t>2014-2018</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Semi-IPM, </a:t>
                      </a:r>
                      <a:r>
                        <a:rPr lang="en-US" sz="1200" dirty="0" err="1">
                          <a:solidFill>
                            <a:schemeClr val="tx1"/>
                          </a:solidFill>
                        </a:rPr>
                        <a:t>Pengembangan</a:t>
                      </a:r>
                      <a:r>
                        <a:rPr lang="en-US" sz="1200" dirty="0">
                          <a:solidFill>
                            <a:schemeClr val="tx1"/>
                          </a:solidFill>
                        </a:rPr>
                        <a:t>, Sumatera</a:t>
                      </a:r>
                      <a:endParaRPr lang="id-ID" sz="1200" dirty="0">
                        <a:solidFill>
                          <a:schemeClr val="tx1"/>
                        </a:solidFill>
                      </a:endParaRPr>
                    </a:p>
                  </a:txBody>
                  <a:tcPr/>
                </a:tc>
                <a:extLst>
                  <a:ext uri="{0D108BD9-81ED-4DB2-BD59-A6C34878D82A}">
                    <a16:rowId xmlns:a16="http://schemas.microsoft.com/office/drawing/2014/main" val="3085531296"/>
                  </a:ext>
                </a:extLst>
              </a:tr>
              <a:tr h="311965">
                <a:tc>
                  <a:txBody>
                    <a:bodyPr/>
                    <a:lstStyle/>
                    <a:p>
                      <a:pPr algn="ctr"/>
                      <a:r>
                        <a:rPr lang="en-US" sz="1400" dirty="0"/>
                        <a:t>16</a:t>
                      </a:r>
                      <a:endParaRPr lang="id-ID" sz="1400" dirty="0"/>
                    </a:p>
                  </a:txBody>
                  <a:tcPr/>
                </a:tc>
                <a:tc>
                  <a:txBody>
                    <a:bodyPr/>
                    <a:lstStyle/>
                    <a:p>
                      <a:pPr algn="ctr"/>
                      <a:r>
                        <a:rPr lang="en-US" sz="1200" dirty="0"/>
                        <a:t>2011-2021</a:t>
                      </a:r>
                      <a:endParaRPr lang="id-ID" sz="1200" dirty="0"/>
                    </a:p>
                  </a:txBody>
                  <a:tcPr/>
                </a:tc>
                <a:tc>
                  <a:txBody>
                    <a:bodyPr/>
                    <a:lstStyle/>
                    <a:p>
                      <a:pPr algn="ctr"/>
                      <a:r>
                        <a:rPr lang="en-US" sz="1200" dirty="0">
                          <a:solidFill>
                            <a:schemeClr val="tx1"/>
                          </a:solidFill>
                        </a:rPr>
                        <a:t>Discrete, Make-up, </a:t>
                      </a:r>
                      <a:r>
                        <a:rPr lang="en-US" sz="1200" dirty="0" err="1">
                          <a:solidFill>
                            <a:schemeClr val="tx1"/>
                          </a:solidFill>
                        </a:rPr>
                        <a:t>Jawa</a:t>
                      </a:r>
                      <a:endParaRPr lang="id-ID" sz="1200" dirty="0">
                        <a:solidFill>
                          <a:schemeClr val="tx1"/>
                        </a:solidFill>
                      </a:endParaRPr>
                    </a:p>
                  </a:txBody>
                  <a:tcPr/>
                </a:tc>
                <a:extLst>
                  <a:ext uri="{0D108BD9-81ED-4DB2-BD59-A6C34878D82A}">
                    <a16:rowId xmlns:a16="http://schemas.microsoft.com/office/drawing/2014/main" val="988910150"/>
                  </a:ext>
                </a:extLst>
              </a:tr>
              <a:tr h="311965">
                <a:tc>
                  <a:txBody>
                    <a:bodyPr/>
                    <a:lstStyle/>
                    <a:p>
                      <a:pPr algn="ctr"/>
                      <a:r>
                        <a:rPr lang="en-US" sz="1400" dirty="0"/>
                        <a:t>4</a:t>
                      </a:r>
                      <a:endParaRPr lang="id-ID" sz="1400" dirty="0"/>
                    </a:p>
                  </a:txBody>
                  <a:tcPr/>
                </a:tc>
                <a:tc>
                  <a:txBody>
                    <a:bodyPr/>
                    <a:lstStyle/>
                    <a:p>
                      <a:pPr algn="ctr"/>
                      <a:r>
                        <a:rPr lang="en-US" sz="1200" dirty="0"/>
                        <a:t>2020-2021</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Full-IPM &amp; Bundling, </a:t>
                      </a:r>
                      <a:r>
                        <a:rPr lang="en-US" sz="1200" dirty="0" err="1">
                          <a:solidFill>
                            <a:schemeClr val="tx1"/>
                          </a:solidFill>
                        </a:rPr>
                        <a:t>Eksplorasi</a:t>
                      </a:r>
                      <a:r>
                        <a:rPr lang="en-US" sz="1200" dirty="0">
                          <a:solidFill>
                            <a:schemeClr val="tx1"/>
                          </a:solidFill>
                        </a:rPr>
                        <a:t>, </a:t>
                      </a:r>
                      <a:r>
                        <a:rPr lang="en-US" sz="1200" dirty="0" err="1">
                          <a:solidFill>
                            <a:schemeClr val="tx1"/>
                          </a:solidFill>
                        </a:rPr>
                        <a:t>Jawa</a:t>
                      </a:r>
                      <a:endParaRPr lang="id-ID" sz="1200" dirty="0">
                        <a:solidFill>
                          <a:schemeClr val="tx1"/>
                        </a:solidFill>
                      </a:endParaRPr>
                    </a:p>
                  </a:txBody>
                  <a:tcPr/>
                </a:tc>
                <a:extLst>
                  <a:ext uri="{0D108BD9-81ED-4DB2-BD59-A6C34878D82A}">
                    <a16:rowId xmlns:a16="http://schemas.microsoft.com/office/drawing/2014/main" val="2505408174"/>
                  </a:ext>
                </a:extLst>
              </a:tr>
              <a:tr h="311965">
                <a:tc>
                  <a:txBody>
                    <a:bodyPr/>
                    <a:lstStyle/>
                    <a:p>
                      <a:pPr algn="ctr"/>
                      <a:r>
                        <a:rPr lang="en-US" sz="1400" dirty="0"/>
                        <a:t>3</a:t>
                      </a:r>
                      <a:endParaRPr lang="id-ID" sz="1400" dirty="0"/>
                    </a:p>
                  </a:txBody>
                  <a:tcPr/>
                </a:tc>
                <a:tc>
                  <a:txBody>
                    <a:bodyPr/>
                    <a:lstStyle/>
                    <a:p>
                      <a:pPr algn="ctr"/>
                      <a:r>
                        <a:rPr lang="en-US" sz="1200" dirty="0"/>
                        <a:t>2014 &amp; 2020</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Semi-IPM &amp; Discrete, </a:t>
                      </a:r>
                      <a:r>
                        <a:rPr lang="en-US" sz="1200" dirty="0" err="1">
                          <a:solidFill>
                            <a:schemeClr val="tx1"/>
                          </a:solidFill>
                        </a:rPr>
                        <a:t>Pengembangan</a:t>
                      </a:r>
                      <a:r>
                        <a:rPr lang="en-US" sz="1200" dirty="0">
                          <a:solidFill>
                            <a:schemeClr val="tx1"/>
                          </a:solidFill>
                        </a:rPr>
                        <a:t>, </a:t>
                      </a:r>
                      <a:r>
                        <a:rPr lang="en-US" sz="1200" dirty="0" err="1">
                          <a:solidFill>
                            <a:schemeClr val="tx1"/>
                          </a:solidFill>
                        </a:rPr>
                        <a:t>Jawa</a:t>
                      </a:r>
                      <a:endParaRPr lang="id-ID" sz="1200" dirty="0">
                        <a:solidFill>
                          <a:schemeClr val="tx1"/>
                        </a:solidFill>
                      </a:endParaRPr>
                    </a:p>
                  </a:txBody>
                  <a:tcPr/>
                </a:tc>
                <a:extLst>
                  <a:ext uri="{0D108BD9-81ED-4DB2-BD59-A6C34878D82A}">
                    <a16:rowId xmlns:a16="http://schemas.microsoft.com/office/drawing/2014/main" val="4120278916"/>
                  </a:ext>
                </a:extLst>
              </a:tr>
              <a:tr h="311965">
                <a:tc>
                  <a:txBody>
                    <a:bodyPr/>
                    <a:lstStyle/>
                    <a:p>
                      <a:pPr algn="ctr"/>
                      <a:r>
                        <a:rPr lang="en-US" sz="1400" dirty="0"/>
                        <a:t>4</a:t>
                      </a:r>
                      <a:endParaRPr lang="id-ID" sz="1400" dirty="0"/>
                    </a:p>
                  </a:txBody>
                  <a:tcPr/>
                </a:tc>
                <a:tc>
                  <a:txBody>
                    <a:bodyPr/>
                    <a:lstStyle/>
                    <a:p>
                      <a:pPr algn="ctr"/>
                      <a:r>
                        <a:rPr lang="en-US" sz="1200" dirty="0"/>
                        <a:t>2017-2018</a:t>
                      </a:r>
                      <a:endParaRPr lang="id-ID" sz="1200" dirty="0"/>
                    </a:p>
                  </a:txBody>
                  <a:tcPr/>
                </a:tc>
                <a:tc>
                  <a:txBody>
                    <a:bodyPr/>
                    <a:lstStyle/>
                    <a:p>
                      <a:pPr algn="ctr"/>
                      <a:r>
                        <a:rPr lang="en-US" sz="1200" dirty="0">
                          <a:solidFill>
                            <a:schemeClr val="tx1"/>
                          </a:solidFill>
                        </a:rPr>
                        <a:t>IPM, </a:t>
                      </a:r>
                      <a:r>
                        <a:rPr lang="en-US" sz="1200" dirty="0" err="1">
                          <a:solidFill>
                            <a:schemeClr val="tx1"/>
                          </a:solidFill>
                        </a:rPr>
                        <a:t>Eksplorasi</a:t>
                      </a:r>
                      <a:r>
                        <a:rPr lang="en-US" sz="1200" baseline="0" dirty="0">
                          <a:solidFill>
                            <a:schemeClr val="tx1"/>
                          </a:solidFill>
                        </a:rPr>
                        <a:t> (</a:t>
                      </a:r>
                      <a:r>
                        <a:rPr lang="en-US" sz="1200" dirty="0">
                          <a:solidFill>
                            <a:schemeClr val="tx1"/>
                          </a:solidFill>
                        </a:rPr>
                        <a:t>appraisal), Maluku</a:t>
                      </a:r>
                      <a:endParaRPr lang="id-ID" sz="1200" dirty="0">
                        <a:solidFill>
                          <a:schemeClr val="tx1"/>
                        </a:solidFill>
                      </a:endParaRPr>
                    </a:p>
                  </a:txBody>
                  <a:tcPr/>
                </a:tc>
                <a:extLst>
                  <a:ext uri="{0D108BD9-81ED-4DB2-BD59-A6C34878D82A}">
                    <a16:rowId xmlns:a16="http://schemas.microsoft.com/office/drawing/2014/main" val="10011"/>
                  </a:ext>
                </a:extLst>
              </a:tr>
              <a:tr h="311965">
                <a:tc>
                  <a:txBody>
                    <a:bodyPr/>
                    <a:lstStyle/>
                    <a:p>
                      <a:pPr algn="ctr"/>
                      <a:r>
                        <a:rPr lang="en-US" sz="1400" dirty="0"/>
                        <a:t>13</a:t>
                      </a:r>
                      <a:endParaRPr lang="id-ID" sz="1400" dirty="0"/>
                    </a:p>
                  </a:txBody>
                  <a:tcPr/>
                </a:tc>
                <a:tc>
                  <a:txBody>
                    <a:bodyPr/>
                    <a:lstStyle/>
                    <a:p>
                      <a:pPr algn="ctr"/>
                      <a:r>
                        <a:rPr lang="en-US" sz="1200" dirty="0"/>
                        <a:t>2017-2018</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Discrete, </a:t>
                      </a:r>
                      <a:r>
                        <a:rPr lang="en-US" sz="1200" dirty="0" err="1">
                          <a:solidFill>
                            <a:schemeClr val="tx1"/>
                          </a:solidFill>
                        </a:rPr>
                        <a:t>Pengembangan</a:t>
                      </a:r>
                      <a:r>
                        <a:rPr lang="en-US" sz="1200" dirty="0">
                          <a:solidFill>
                            <a:schemeClr val="tx1"/>
                          </a:solidFill>
                        </a:rPr>
                        <a:t>, </a:t>
                      </a:r>
                      <a:r>
                        <a:rPr lang="en-US" sz="1200" dirty="0" err="1">
                          <a:solidFill>
                            <a:schemeClr val="tx1"/>
                          </a:solidFill>
                        </a:rPr>
                        <a:t>Jawa</a:t>
                      </a:r>
                      <a:endParaRPr lang="id-ID" sz="1200" dirty="0">
                        <a:solidFill>
                          <a:schemeClr val="tx1"/>
                        </a:solidFill>
                      </a:endParaRPr>
                    </a:p>
                  </a:txBody>
                  <a:tcPr/>
                </a:tc>
                <a:extLst>
                  <a:ext uri="{0D108BD9-81ED-4DB2-BD59-A6C34878D82A}">
                    <a16:rowId xmlns:a16="http://schemas.microsoft.com/office/drawing/2014/main" val="3945345308"/>
                  </a:ext>
                </a:extLst>
              </a:tr>
              <a:tr h="311965">
                <a:tc>
                  <a:txBody>
                    <a:bodyPr/>
                    <a:lstStyle/>
                    <a:p>
                      <a:pPr algn="ctr"/>
                      <a:r>
                        <a:rPr lang="en-US" sz="1400" dirty="0"/>
                        <a:t>10</a:t>
                      </a:r>
                      <a:endParaRPr lang="id-ID" sz="1400" dirty="0"/>
                    </a:p>
                  </a:txBody>
                  <a:tcPr/>
                </a:tc>
                <a:tc>
                  <a:txBody>
                    <a:bodyPr/>
                    <a:lstStyle/>
                    <a:p>
                      <a:pPr algn="ctr"/>
                      <a:r>
                        <a:rPr lang="en-US" sz="1200" dirty="0"/>
                        <a:t>2015-2016</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Semi-IPM, Make-up, Sulawesi</a:t>
                      </a:r>
                      <a:endParaRPr lang="id-ID" sz="1200" dirty="0">
                        <a:solidFill>
                          <a:schemeClr val="tx1"/>
                        </a:solidFill>
                      </a:endParaRPr>
                    </a:p>
                  </a:txBody>
                  <a:tcPr/>
                </a:tc>
                <a:extLst>
                  <a:ext uri="{0D108BD9-81ED-4DB2-BD59-A6C34878D82A}">
                    <a16:rowId xmlns:a16="http://schemas.microsoft.com/office/drawing/2014/main" val="10013"/>
                  </a:ext>
                </a:extLst>
              </a:tr>
              <a:tr h="311965">
                <a:tc>
                  <a:txBody>
                    <a:bodyPr/>
                    <a:lstStyle/>
                    <a:p>
                      <a:pPr algn="ctr"/>
                      <a:r>
                        <a:rPr lang="en-US" sz="1400" dirty="0"/>
                        <a:t>5</a:t>
                      </a:r>
                      <a:endParaRPr lang="id-ID" sz="1400" dirty="0"/>
                    </a:p>
                  </a:txBody>
                  <a:tcPr/>
                </a:tc>
                <a:tc>
                  <a:txBody>
                    <a:bodyPr/>
                    <a:lstStyle/>
                    <a:p>
                      <a:pPr algn="ctr"/>
                      <a:r>
                        <a:rPr lang="en-US" sz="1200" dirty="0"/>
                        <a:t>2017-2018</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Bundled, </a:t>
                      </a:r>
                      <a:r>
                        <a:rPr lang="en-US" sz="1200" dirty="0" err="1">
                          <a:solidFill>
                            <a:schemeClr val="tx1"/>
                          </a:solidFill>
                        </a:rPr>
                        <a:t>Pengembangan</a:t>
                      </a:r>
                      <a:r>
                        <a:rPr lang="en-US" sz="1200" dirty="0">
                          <a:solidFill>
                            <a:schemeClr val="tx1"/>
                          </a:solidFill>
                        </a:rPr>
                        <a:t>, NTT</a:t>
                      </a:r>
                      <a:endParaRPr lang="id-ID" sz="1200" dirty="0">
                        <a:solidFill>
                          <a:schemeClr val="tx1"/>
                        </a:solidFill>
                      </a:endParaRPr>
                    </a:p>
                  </a:txBody>
                  <a:tcPr/>
                </a:tc>
                <a:extLst>
                  <a:ext uri="{0D108BD9-81ED-4DB2-BD59-A6C34878D82A}">
                    <a16:rowId xmlns:a16="http://schemas.microsoft.com/office/drawing/2014/main" val="10014"/>
                  </a:ext>
                </a:extLst>
              </a:tr>
              <a:tr h="311965">
                <a:tc>
                  <a:txBody>
                    <a:bodyPr/>
                    <a:lstStyle/>
                    <a:p>
                      <a:pPr algn="ctr"/>
                      <a:r>
                        <a:rPr lang="en-US" sz="1400" dirty="0"/>
                        <a:t>26</a:t>
                      </a:r>
                      <a:endParaRPr lang="id-ID" sz="1400" dirty="0"/>
                    </a:p>
                  </a:txBody>
                  <a:tcPr/>
                </a:tc>
                <a:tc>
                  <a:txBody>
                    <a:bodyPr/>
                    <a:lstStyle/>
                    <a:p>
                      <a:pPr algn="ctr"/>
                      <a:r>
                        <a:rPr lang="en-US" sz="1200" dirty="0"/>
                        <a:t>2018-2021</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Discrete, </a:t>
                      </a:r>
                      <a:r>
                        <a:rPr lang="en-US" sz="1200" dirty="0" err="1">
                          <a:solidFill>
                            <a:schemeClr val="tx1"/>
                          </a:solidFill>
                        </a:rPr>
                        <a:t>Pengembangan</a:t>
                      </a:r>
                      <a:r>
                        <a:rPr lang="en-US" sz="1200" dirty="0">
                          <a:solidFill>
                            <a:schemeClr val="tx1"/>
                          </a:solidFill>
                        </a:rPr>
                        <a:t>, Sumatera</a:t>
                      </a:r>
                      <a:endParaRPr lang="id-ID" sz="1200" dirty="0">
                        <a:solidFill>
                          <a:schemeClr val="tx1"/>
                        </a:solidFill>
                      </a:endParaRPr>
                    </a:p>
                  </a:txBody>
                  <a:tcPr/>
                </a:tc>
                <a:extLst>
                  <a:ext uri="{0D108BD9-81ED-4DB2-BD59-A6C34878D82A}">
                    <a16:rowId xmlns:a16="http://schemas.microsoft.com/office/drawing/2014/main" val="4281034819"/>
                  </a:ext>
                </a:extLst>
              </a:tr>
              <a:tr h="311965">
                <a:tc>
                  <a:txBody>
                    <a:bodyPr/>
                    <a:lstStyle/>
                    <a:p>
                      <a:pPr algn="ctr"/>
                      <a:r>
                        <a:rPr lang="en-US" sz="1400" dirty="0"/>
                        <a:t>44</a:t>
                      </a:r>
                      <a:endParaRPr lang="id-ID" sz="1400" dirty="0"/>
                    </a:p>
                  </a:txBody>
                  <a:tcPr/>
                </a:tc>
                <a:tc>
                  <a:txBody>
                    <a:bodyPr/>
                    <a:lstStyle/>
                    <a:p>
                      <a:pPr algn="ctr"/>
                      <a:r>
                        <a:rPr lang="en-US" sz="1200" dirty="0"/>
                        <a:t>2016-2019, 2020-2021</a:t>
                      </a:r>
                      <a:endParaRPr lang="id-ID" sz="1200" dirty="0"/>
                    </a:p>
                  </a:txBody>
                  <a:tcPr/>
                </a:tc>
                <a:tc>
                  <a:txBody>
                    <a:bodyPr/>
                    <a:lstStyle/>
                    <a:p>
                      <a:pPr marL="0" marR="0" lvl="0" indent="0" algn="ctr" defTabSz="1263884" rtl="0" eaLnBrk="1" fontAlgn="auto" latinLnBrk="0" hangingPunct="1">
                        <a:lnSpc>
                          <a:spcPct val="100000"/>
                        </a:lnSpc>
                        <a:spcBef>
                          <a:spcPts val="0"/>
                        </a:spcBef>
                        <a:spcAft>
                          <a:spcPts val="0"/>
                        </a:spcAft>
                        <a:buClrTx/>
                        <a:buSzTx/>
                        <a:buFontTx/>
                        <a:buNone/>
                        <a:tabLst/>
                        <a:defRPr/>
                      </a:pPr>
                      <a:r>
                        <a:rPr lang="en-US" sz="1200" dirty="0">
                          <a:solidFill>
                            <a:schemeClr val="tx1"/>
                          </a:solidFill>
                        </a:rPr>
                        <a:t>Bundled, Semi IPM&amp; IPM, </a:t>
                      </a:r>
                      <a:r>
                        <a:rPr lang="en-US" sz="1200" dirty="0" err="1">
                          <a:solidFill>
                            <a:schemeClr val="tx1"/>
                          </a:solidFill>
                        </a:rPr>
                        <a:t>Pengembangan</a:t>
                      </a:r>
                      <a:r>
                        <a:rPr lang="en-US" sz="1200" dirty="0">
                          <a:solidFill>
                            <a:schemeClr val="tx1"/>
                          </a:solidFill>
                        </a:rPr>
                        <a:t>, Sumatera. 2021 </a:t>
                      </a:r>
                      <a:r>
                        <a:rPr lang="en-US" sz="1200" dirty="0" err="1">
                          <a:solidFill>
                            <a:schemeClr val="tx1"/>
                          </a:solidFill>
                        </a:rPr>
                        <a:t>dengan</a:t>
                      </a:r>
                      <a:r>
                        <a:rPr lang="en-US" sz="1200" dirty="0">
                          <a:solidFill>
                            <a:schemeClr val="tx1"/>
                          </a:solidFill>
                        </a:rPr>
                        <a:t> rig </a:t>
                      </a:r>
                      <a:r>
                        <a:rPr lang="en-US" sz="1200" dirty="0" err="1">
                          <a:solidFill>
                            <a:schemeClr val="tx1"/>
                          </a:solidFill>
                        </a:rPr>
                        <a:t>sendiri</a:t>
                      </a:r>
                      <a:endParaRPr lang="id-ID" sz="1200" dirty="0">
                        <a:solidFill>
                          <a:schemeClr val="tx1"/>
                        </a:solidFill>
                      </a:endParaRPr>
                    </a:p>
                  </a:txBody>
                  <a:tcPr/>
                </a:tc>
                <a:extLst>
                  <a:ext uri="{0D108BD9-81ED-4DB2-BD59-A6C34878D82A}">
                    <a16:rowId xmlns:a16="http://schemas.microsoft.com/office/drawing/2014/main" val="618519860"/>
                  </a:ext>
                </a:extLst>
              </a:tr>
            </a:tbl>
          </a:graphicData>
        </a:graphic>
      </p:graphicFrame>
      <p:graphicFrame>
        <p:nvGraphicFramePr>
          <p:cNvPr id="6" name="Table 5">
            <a:extLst>
              <a:ext uri="{FF2B5EF4-FFF2-40B4-BE49-F238E27FC236}">
                <a16:creationId xmlns:a16="http://schemas.microsoft.com/office/drawing/2014/main" id="{F118E06E-343D-405F-8D6E-3620D2273A08}"/>
              </a:ext>
            </a:extLst>
          </p:cNvPr>
          <p:cNvGraphicFramePr>
            <a:graphicFrameLocks noGrp="1"/>
          </p:cNvGraphicFramePr>
          <p:nvPr/>
        </p:nvGraphicFramePr>
        <p:xfrm>
          <a:off x="46495" y="716344"/>
          <a:ext cx="7356489" cy="5672376"/>
        </p:xfrm>
        <a:graphic>
          <a:graphicData uri="http://schemas.openxmlformats.org/drawingml/2006/table">
            <a:tbl>
              <a:tblPr firstRow="1" bandRow="1">
                <a:tableStyleId>{5C22544A-7EE6-4342-B048-85BDC9FD1C3A}</a:tableStyleId>
              </a:tblPr>
              <a:tblGrid>
                <a:gridCol w="1224772">
                  <a:extLst>
                    <a:ext uri="{9D8B030D-6E8A-4147-A177-3AD203B41FA5}">
                      <a16:colId xmlns:a16="http://schemas.microsoft.com/office/drawing/2014/main" val="275013664"/>
                    </a:ext>
                  </a:extLst>
                </a:gridCol>
                <a:gridCol w="6131717">
                  <a:extLst>
                    <a:ext uri="{9D8B030D-6E8A-4147-A177-3AD203B41FA5}">
                      <a16:colId xmlns:a16="http://schemas.microsoft.com/office/drawing/2014/main" val="3526612570"/>
                    </a:ext>
                  </a:extLst>
                </a:gridCol>
              </a:tblGrid>
              <a:tr h="315132">
                <a:tc>
                  <a:txBody>
                    <a:bodyPr/>
                    <a:lstStyle/>
                    <a:p>
                      <a:pPr algn="ctr"/>
                      <a:r>
                        <a:rPr lang="en-US" sz="1400" dirty="0">
                          <a:solidFill>
                            <a:schemeClr val="bg1"/>
                          </a:solidFill>
                        </a:rPr>
                        <a:t>Wilayah</a:t>
                      </a:r>
                      <a:endParaRPr lang="id-ID" sz="14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400" dirty="0">
                          <a:solidFill>
                            <a:schemeClr val="bg1"/>
                          </a:solidFill>
                        </a:rPr>
                        <a:t>Rata-rata </a:t>
                      </a:r>
                      <a:r>
                        <a:rPr lang="en-US" sz="1400" dirty="0" err="1">
                          <a:solidFill>
                            <a:schemeClr val="bg1"/>
                          </a:solidFill>
                        </a:rPr>
                        <a:t>Biaya</a:t>
                      </a:r>
                      <a:r>
                        <a:rPr lang="en-US" sz="1400" dirty="0">
                          <a:solidFill>
                            <a:schemeClr val="bg1"/>
                          </a:solidFill>
                        </a:rPr>
                        <a:t> per Meter (USD/meter) </a:t>
                      </a:r>
                      <a:endParaRPr lang="id-ID" sz="14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090927186"/>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7873569"/>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839620"/>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339539"/>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1263884"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t>
                      </a:r>
                      <a:r>
                        <a:rPr lang="en-US" sz="1200" b="1" dirty="0">
                          <a:solidFill>
                            <a:srgbClr val="0000FF"/>
                          </a:solidFill>
                        </a:rPr>
                        <a:t>2,888 USD/m</a:t>
                      </a:r>
                      <a:r>
                        <a:rPr lang="en-US" sz="1200" dirty="0">
                          <a:solidFill>
                            <a:srgbClr val="0000FF"/>
                          </a:solidFill>
                        </a:rPr>
                        <a:t>; 10 </a:t>
                      </a:r>
                      <a:r>
                        <a:rPr lang="en-US" sz="1200" baseline="0" dirty="0">
                          <a:solidFill>
                            <a:srgbClr val="0000FF"/>
                          </a:solidFill>
                        </a:rPr>
                        <a:t> develop</a:t>
                      </a:r>
                      <a:r>
                        <a:rPr lang="en-US" sz="1200" dirty="0">
                          <a:solidFill>
                            <a:srgbClr val="0000FF"/>
                          </a:solidFill>
                        </a:rPr>
                        <a:t>; 2018)</a:t>
                      </a:r>
                      <a:endParaRPr lang="id-ID" sz="120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1286510"/>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1263884"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t>
                      </a:r>
                      <a:r>
                        <a:rPr lang="en-US" sz="1200" b="1" dirty="0">
                          <a:solidFill>
                            <a:srgbClr val="0000FF"/>
                          </a:solidFill>
                        </a:rPr>
                        <a:t>2,916 USD/m</a:t>
                      </a:r>
                      <a:r>
                        <a:rPr lang="en-US" sz="1200" dirty="0">
                          <a:solidFill>
                            <a:srgbClr val="0000FF"/>
                          </a:solidFill>
                        </a:rPr>
                        <a:t>; 5 Make-up; 2018)</a:t>
                      </a:r>
                      <a:endParaRPr lang="id-ID" sz="120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1141624"/>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1263884" rtl="0" eaLnBrk="1" fontAlgn="auto" latinLnBrk="0" hangingPunct="1">
                        <a:lnSpc>
                          <a:spcPct val="100000"/>
                        </a:lnSpc>
                        <a:spcBef>
                          <a:spcPts val="0"/>
                        </a:spcBef>
                        <a:spcAft>
                          <a:spcPts val="0"/>
                        </a:spcAft>
                        <a:buClrTx/>
                        <a:buSzTx/>
                        <a:buFontTx/>
                        <a:buNone/>
                        <a:tabLst/>
                        <a:defRPr/>
                      </a:pPr>
                      <a:endParaRPr lang="id-ID"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5531296"/>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0040195"/>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8910150"/>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5408174"/>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7597548"/>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0278916"/>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id-ID"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6067387"/>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dirty="0">
                          <a:solidFill>
                            <a:srgbClr val="0000FF"/>
                          </a:solidFill>
                        </a:rPr>
                        <a:t>(4,289 USD/m; 6 </a:t>
                      </a:r>
                      <a:r>
                        <a:rPr lang="en-US" sz="1200" b="0" dirty="0" err="1">
                          <a:solidFill>
                            <a:srgbClr val="0000FF"/>
                          </a:solidFill>
                        </a:rPr>
                        <a:t>Smr</a:t>
                      </a:r>
                      <a:r>
                        <a:rPr lang="en-US" sz="1200" b="0" dirty="0">
                          <a:solidFill>
                            <a:srgbClr val="0000FF"/>
                          </a:solidFill>
                        </a:rPr>
                        <a:t> </a:t>
                      </a:r>
                      <a:r>
                        <a:rPr lang="en-US" sz="1200" b="0" dirty="0" err="1">
                          <a:solidFill>
                            <a:srgbClr val="0000FF"/>
                          </a:solidFill>
                        </a:rPr>
                        <a:t>Eksplorasi</a:t>
                      </a:r>
                      <a:r>
                        <a:rPr lang="en-US" sz="1200" dirty="0">
                          <a:solidFill>
                            <a:srgbClr val="0000FF"/>
                          </a:solidFill>
                        </a:rPr>
                        <a:t>; 2013)</a:t>
                      </a:r>
                      <a:endParaRPr lang="id-ID" sz="120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345308"/>
                  </a:ext>
                </a:extLst>
              </a:tr>
              <a:tr h="315132">
                <a:tc>
                  <a:txBody>
                    <a:bodyPr/>
                    <a:lstStyle/>
                    <a:p>
                      <a:pPr algn="ctr"/>
                      <a:endParaRPr lang="id-ID"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20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760337"/>
                  </a:ext>
                </a:extLst>
              </a:tr>
              <a:tr h="315132">
                <a:tc>
                  <a:txBody>
                    <a:bodyPr/>
                    <a:lstStyle/>
                    <a:p>
                      <a:pPr algn="ctr"/>
                      <a:endParaRPr lang="id-ID"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d-ID" sz="120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1034819"/>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1263884"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t>
                      </a:r>
                      <a:r>
                        <a:rPr lang="en-US" sz="1200" b="1" dirty="0">
                          <a:solidFill>
                            <a:srgbClr val="0000FF"/>
                          </a:solidFill>
                        </a:rPr>
                        <a:t>3,262 USD/m</a:t>
                      </a:r>
                      <a:r>
                        <a:rPr lang="en-US" sz="1200" dirty="0">
                          <a:solidFill>
                            <a:srgbClr val="0000FF"/>
                          </a:solidFill>
                        </a:rPr>
                        <a:t>; 6 </a:t>
                      </a:r>
                      <a:r>
                        <a:rPr lang="en-US" sz="1200" dirty="0" err="1">
                          <a:solidFill>
                            <a:srgbClr val="0000FF"/>
                          </a:solidFill>
                        </a:rPr>
                        <a:t>Smr</a:t>
                      </a:r>
                      <a:r>
                        <a:rPr lang="en-US" sz="1200" dirty="0">
                          <a:solidFill>
                            <a:srgbClr val="0000FF"/>
                          </a:solidFill>
                        </a:rPr>
                        <a:t> </a:t>
                      </a:r>
                      <a:r>
                        <a:rPr lang="en-US" sz="1200" dirty="0" err="1">
                          <a:solidFill>
                            <a:srgbClr val="0000FF"/>
                          </a:solidFill>
                        </a:rPr>
                        <a:t>Eksplorasi</a:t>
                      </a:r>
                      <a:r>
                        <a:rPr lang="en-US" sz="1200" dirty="0">
                          <a:solidFill>
                            <a:srgbClr val="0000FF"/>
                          </a:solidFill>
                        </a:rPr>
                        <a:t>; 2014-2015)</a:t>
                      </a:r>
                      <a:endParaRPr lang="id-ID" sz="120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8519860"/>
                  </a:ext>
                </a:extLst>
              </a:tr>
              <a:tr h="315132">
                <a:tc>
                  <a:txBody>
                    <a:bodyPr/>
                    <a:lstStyle/>
                    <a:p>
                      <a:pPr algn="ctr"/>
                      <a:endParaRPr lang="id-ID"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1263884" rtl="0" eaLnBrk="1" fontAlgn="auto" latinLnBrk="0" hangingPunct="1">
                        <a:lnSpc>
                          <a:spcPct val="100000"/>
                        </a:lnSpc>
                        <a:spcBef>
                          <a:spcPts val="0"/>
                        </a:spcBef>
                        <a:spcAft>
                          <a:spcPts val="0"/>
                        </a:spcAft>
                        <a:buClrTx/>
                        <a:buSzTx/>
                        <a:buFontTx/>
                        <a:buNone/>
                        <a:tabLst/>
                        <a:defRPr/>
                      </a:pPr>
                      <a:r>
                        <a:rPr lang="en-US" sz="1200" dirty="0">
                          <a:solidFill>
                            <a:srgbClr val="0000FF"/>
                          </a:solidFill>
                        </a:rPr>
                        <a:t>(</a:t>
                      </a:r>
                      <a:r>
                        <a:rPr lang="en-US" sz="1200" b="1" dirty="0">
                          <a:solidFill>
                            <a:srgbClr val="0000FF"/>
                          </a:solidFill>
                        </a:rPr>
                        <a:t>3,029 USD/m</a:t>
                      </a:r>
                      <a:r>
                        <a:rPr lang="en-US" sz="1200" dirty="0">
                          <a:solidFill>
                            <a:srgbClr val="0000FF"/>
                          </a:solidFill>
                        </a:rPr>
                        <a:t>; 10 </a:t>
                      </a:r>
                      <a:r>
                        <a:rPr lang="en-US" sz="1200" dirty="0" err="1">
                          <a:solidFill>
                            <a:srgbClr val="0000FF"/>
                          </a:solidFill>
                        </a:rPr>
                        <a:t>Smr</a:t>
                      </a:r>
                      <a:r>
                        <a:rPr lang="en-US" sz="1200" dirty="0">
                          <a:solidFill>
                            <a:srgbClr val="0000FF"/>
                          </a:solidFill>
                        </a:rPr>
                        <a:t> </a:t>
                      </a:r>
                      <a:r>
                        <a:rPr lang="en-US" sz="1200" dirty="0" err="1">
                          <a:solidFill>
                            <a:srgbClr val="0000FF"/>
                          </a:solidFill>
                        </a:rPr>
                        <a:t>Eksplorasi</a:t>
                      </a:r>
                      <a:r>
                        <a:rPr lang="en-US" sz="1200" dirty="0">
                          <a:solidFill>
                            <a:srgbClr val="0000FF"/>
                          </a:solidFill>
                        </a:rPr>
                        <a:t>; 2016-2017</a:t>
                      </a:r>
                      <a:endParaRPr lang="id-ID" sz="1200"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8653329"/>
                  </a:ext>
                </a:extLst>
              </a:tr>
            </a:tbl>
          </a:graphicData>
        </a:graphic>
      </p:graphicFrame>
      <p:cxnSp>
        <p:nvCxnSpPr>
          <p:cNvPr id="8" name="Straight Arrow Connector 7">
            <a:extLst>
              <a:ext uri="{FF2B5EF4-FFF2-40B4-BE49-F238E27FC236}">
                <a16:creationId xmlns:a16="http://schemas.microsoft.com/office/drawing/2014/main" id="{3B3B3B67-BB5C-4827-8BC8-118D16685BF5}"/>
              </a:ext>
            </a:extLst>
          </p:cNvPr>
          <p:cNvCxnSpPr>
            <a:cxnSpLocks/>
          </p:cNvCxnSpPr>
          <p:nvPr/>
        </p:nvCxnSpPr>
        <p:spPr>
          <a:xfrm flipH="1">
            <a:off x="3694112" y="4999063"/>
            <a:ext cx="787400"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B95C0F7-1078-40A5-8E93-AD2E92035234}"/>
              </a:ext>
            </a:extLst>
          </p:cNvPr>
          <p:cNvCxnSpPr>
            <a:cxnSpLocks/>
          </p:cNvCxnSpPr>
          <p:nvPr/>
        </p:nvCxnSpPr>
        <p:spPr>
          <a:xfrm rot="10800000">
            <a:off x="4529217" y="2435754"/>
            <a:ext cx="457200" cy="1588"/>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FC68988-45A6-47C2-BB50-C3A8197E5A87}"/>
              </a:ext>
            </a:extLst>
          </p:cNvPr>
          <p:cNvCxnSpPr>
            <a:cxnSpLocks/>
          </p:cNvCxnSpPr>
          <p:nvPr/>
        </p:nvCxnSpPr>
        <p:spPr>
          <a:xfrm flipH="1">
            <a:off x="3487119" y="5902700"/>
            <a:ext cx="769921"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C5908D5-E6DB-4EEC-93F4-2791B13D0432}"/>
              </a:ext>
            </a:extLst>
          </p:cNvPr>
          <p:cNvSpPr txBox="1"/>
          <p:nvPr/>
        </p:nvSpPr>
        <p:spPr>
          <a:xfrm>
            <a:off x="4257040" y="2606926"/>
            <a:ext cx="3192438" cy="276999"/>
          </a:xfrm>
          <a:prstGeom prst="rect">
            <a:avLst/>
          </a:prstGeom>
          <a:noFill/>
        </p:spPr>
        <p:txBody>
          <a:bodyPr wrap="square" rtlCol="0">
            <a:spAutoFit/>
          </a:bodyPr>
          <a:lstStyle/>
          <a:p>
            <a:pPr algn="r"/>
            <a:r>
              <a:rPr lang="en-US" sz="1200" b="1" dirty="0" err="1">
                <a:solidFill>
                  <a:srgbClr val="0000FF"/>
                </a:solidFill>
              </a:rPr>
              <a:t>Penyesuaian</a:t>
            </a:r>
            <a:r>
              <a:rPr lang="en-US" sz="1200" b="1" dirty="0">
                <a:solidFill>
                  <a:srgbClr val="0000FF"/>
                </a:solidFill>
              </a:rPr>
              <a:t> </a:t>
            </a:r>
            <a:r>
              <a:rPr lang="en-US" sz="1200" b="1" dirty="0" err="1">
                <a:solidFill>
                  <a:srgbClr val="0000FF"/>
                </a:solidFill>
              </a:rPr>
              <a:t>kontrak</a:t>
            </a:r>
            <a:r>
              <a:rPr lang="en-US" sz="1200" b="1" dirty="0">
                <a:solidFill>
                  <a:srgbClr val="0000FF"/>
                </a:solidFill>
              </a:rPr>
              <a:t> (semi IPM </a:t>
            </a:r>
            <a:r>
              <a:rPr lang="en-US" sz="1200" b="1" dirty="0">
                <a:solidFill>
                  <a:srgbClr val="0000FF"/>
                </a:solidFill>
                <a:sym typeface="Wingdings" pitchFamily="2" charset="2"/>
              </a:rPr>
              <a:t> direct)</a:t>
            </a:r>
            <a:endParaRPr lang="id-ID" sz="1200" b="1" dirty="0">
              <a:solidFill>
                <a:srgbClr val="0000FF"/>
              </a:solidFill>
            </a:endParaRPr>
          </a:p>
        </p:txBody>
      </p:sp>
      <p:sp>
        <p:nvSpPr>
          <p:cNvPr id="12" name="TextBox 11">
            <a:extLst>
              <a:ext uri="{FF2B5EF4-FFF2-40B4-BE49-F238E27FC236}">
                <a16:creationId xmlns:a16="http://schemas.microsoft.com/office/drawing/2014/main" id="{1880A9D2-E7DC-4A22-B221-EE2105406F0A}"/>
              </a:ext>
            </a:extLst>
          </p:cNvPr>
          <p:cNvSpPr txBox="1"/>
          <p:nvPr/>
        </p:nvSpPr>
        <p:spPr>
          <a:xfrm>
            <a:off x="3422194" y="4498959"/>
            <a:ext cx="1917904" cy="276999"/>
          </a:xfrm>
          <a:prstGeom prst="rect">
            <a:avLst/>
          </a:prstGeom>
          <a:noFill/>
        </p:spPr>
        <p:txBody>
          <a:bodyPr wrap="square" rtlCol="0">
            <a:spAutoFit/>
          </a:bodyPr>
          <a:lstStyle/>
          <a:p>
            <a:pPr algn="r"/>
            <a:r>
              <a:rPr lang="en-US" sz="1200" b="1" i="1" dirty="0">
                <a:solidFill>
                  <a:srgbClr val="0000FF"/>
                </a:solidFill>
              </a:rPr>
              <a:t>Learning Process</a:t>
            </a:r>
            <a:endParaRPr lang="id-ID" sz="1200" b="1" i="1" dirty="0">
              <a:solidFill>
                <a:srgbClr val="0000FF"/>
              </a:solidFill>
            </a:endParaRPr>
          </a:p>
        </p:txBody>
      </p:sp>
      <p:sp>
        <p:nvSpPr>
          <p:cNvPr id="13" name="TextBox 12">
            <a:extLst>
              <a:ext uri="{FF2B5EF4-FFF2-40B4-BE49-F238E27FC236}">
                <a16:creationId xmlns:a16="http://schemas.microsoft.com/office/drawing/2014/main" id="{DE1CA595-E40D-493A-8B2A-0EEB76B09E69}"/>
              </a:ext>
            </a:extLst>
          </p:cNvPr>
          <p:cNvSpPr txBox="1"/>
          <p:nvPr/>
        </p:nvSpPr>
        <p:spPr>
          <a:xfrm>
            <a:off x="3409891" y="5457657"/>
            <a:ext cx="1731288" cy="276999"/>
          </a:xfrm>
          <a:prstGeom prst="rect">
            <a:avLst/>
          </a:prstGeom>
          <a:noFill/>
        </p:spPr>
        <p:txBody>
          <a:bodyPr wrap="square" rtlCol="0">
            <a:spAutoFit/>
          </a:bodyPr>
          <a:lstStyle/>
          <a:p>
            <a:pPr algn="r"/>
            <a:r>
              <a:rPr lang="en-US" sz="1200" b="1" i="1" dirty="0">
                <a:solidFill>
                  <a:srgbClr val="0000FF"/>
                </a:solidFill>
              </a:rPr>
              <a:t>Learning Process</a:t>
            </a:r>
            <a:endParaRPr lang="id-ID" sz="1200" b="1" i="1" dirty="0">
              <a:solidFill>
                <a:srgbClr val="0000FF"/>
              </a:solidFill>
            </a:endParaRPr>
          </a:p>
        </p:txBody>
      </p:sp>
      <p:sp>
        <p:nvSpPr>
          <p:cNvPr id="14" name="TextBox 13">
            <a:extLst>
              <a:ext uri="{FF2B5EF4-FFF2-40B4-BE49-F238E27FC236}">
                <a16:creationId xmlns:a16="http://schemas.microsoft.com/office/drawing/2014/main" id="{1F5EEB52-5C84-42E8-95C3-905B42D9A32F}"/>
              </a:ext>
            </a:extLst>
          </p:cNvPr>
          <p:cNvSpPr txBox="1"/>
          <p:nvPr/>
        </p:nvSpPr>
        <p:spPr>
          <a:xfrm>
            <a:off x="4771354" y="1712175"/>
            <a:ext cx="1781846" cy="276999"/>
          </a:xfrm>
          <a:prstGeom prst="rect">
            <a:avLst/>
          </a:prstGeom>
          <a:noFill/>
        </p:spPr>
        <p:txBody>
          <a:bodyPr wrap="square" rtlCol="0">
            <a:spAutoFit/>
          </a:bodyPr>
          <a:lstStyle/>
          <a:p>
            <a:pPr algn="r"/>
            <a:r>
              <a:rPr lang="en-US" sz="1200" b="1" i="1" dirty="0">
                <a:solidFill>
                  <a:srgbClr val="0000FF"/>
                </a:solidFill>
              </a:rPr>
              <a:t>Learning Process</a:t>
            </a:r>
            <a:endParaRPr lang="id-ID" sz="1200" b="1" i="1" dirty="0">
              <a:solidFill>
                <a:srgbClr val="0000FF"/>
              </a:solidFill>
            </a:endParaRPr>
          </a:p>
        </p:txBody>
      </p:sp>
      <p:cxnSp>
        <p:nvCxnSpPr>
          <p:cNvPr id="15" name="Straight Arrow Connector 14">
            <a:extLst>
              <a:ext uri="{FF2B5EF4-FFF2-40B4-BE49-F238E27FC236}">
                <a16:creationId xmlns:a16="http://schemas.microsoft.com/office/drawing/2014/main" id="{BAC2849B-5A88-4233-B144-7F689118AA63}"/>
              </a:ext>
            </a:extLst>
          </p:cNvPr>
          <p:cNvCxnSpPr>
            <a:cxnSpLocks/>
          </p:cNvCxnSpPr>
          <p:nvPr/>
        </p:nvCxnSpPr>
        <p:spPr>
          <a:xfrm rot="10800000">
            <a:off x="4691464" y="2175707"/>
            <a:ext cx="274320" cy="1588"/>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8EB1EB9-EDC5-46B0-B5B9-9BCF556C1DB0}"/>
              </a:ext>
            </a:extLst>
          </p:cNvPr>
          <p:cNvSpPr txBox="1"/>
          <p:nvPr/>
        </p:nvSpPr>
        <p:spPr>
          <a:xfrm>
            <a:off x="4481512" y="2915006"/>
            <a:ext cx="2771695" cy="275411"/>
          </a:xfrm>
          <a:prstGeom prst="rect">
            <a:avLst/>
          </a:prstGeom>
          <a:noFill/>
        </p:spPr>
        <p:txBody>
          <a:bodyPr wrap="square" rtlCol="0">
            <a:spAutoFit/>
          </a:bodyPr>
          <a:lstStyle/>
          <a:p>
            <a:pPr algn="r"/>
            <a:r>
              <a:rPr lang="en-US" sz="1200" b="1" dirty="0">
                <a:solidFill>
                  <a:srgbClr val="0000FF"/>
                </a:solidFill>
              </a:rPr>
              <a:t>IPM (&lt;2016) to direct (2019-2021)</a:t>
            </a:r>
            <a:endParaRPr lang="id-ID" sz="1200" b="1" dirty="0">
              <a:solidFill>
                <a:srgbClr val="0000FF"/>
              </a:solidFill>
            </a:endParaRPr>
          </a:p>
        </p:txBody>
      </p:sp>
      <p:cxnSp>
        <p:nvCxnSpPr>
          <p:cNvPr id="18" name="Straight Arrow Connector 17">
            <a:extLst>
              <a:ext uri="{FF2B5EF4-FFF2-40B4-BE49-F238E27FC236}">
                <a16:creationId xmlns:a16="http://schemas.microsoft.com/office/drawing/2014/main" id="{2260420D-2DA3-45A5-BE66-A89B5EC430E2}"/>
              </a:ext>
            </a:extLst>
          </p:cNvPr>
          <p:cNvCxnSpPr>
            <a:cxnSpLocks/>
          </p:cNvCxnSpPr>
          <p:nvPr/>
        </p:nvCxnSpPr>
        <p:spPr>
          <a:xfrm flipH="1">
            <a:off x="3487119" y="6210084"/>
            <a:ext cx="668321"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E1730D6-4AD1-473D-97B5-9B6B21B0C7B1}"/>
              </a:ext>
            </a:extLst>
          </p:cNvPr>
          <p:cNvSpPr/>
          <p:nvPr/>
        </p:nvSpPr>
        <p:spPr>
          <a:xfrm>
            <a:off x="17864" y="4498959"/>
            <a:ext cx="12192000" cy="1889761"/>
          </a:xfrm>
          <a:prstGeom prst="rect">
            <a:avLst/>
          </a:prstGeom>
          <a:solidFill>
            <a:srgbClr val="92D05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052724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15D5A-22E5-2A4B-AFE4-951F487D7285}"/>
              </a:ext>
            </a:extLst>
          </p:cNvPr>
          <p:cNvSpPr>
            <a:spLocks noGrp="1"/>
          </p:cNvSpPr>
          <p:nvPr>
            <p:ph type="title"/>
          </p:nvPr>
        </p:nvSpPr>
        <p:spPr>
          <a:xfrm>
            <a:off x="521207" y="448056"/>
            <a:ext cx="11035253" cy="640080"/>
          </a:xfrm>
        </p:spPr>
        <p:txBody>
          <a:bodyPr/>
          <a:lstStyle/>
          <a:p>
            <a:r>
              <a:rPr lang="en-US" dirty="0"/>
              <a:t>Best Geothermal Drilling Performance by 2024</a:t>
            </a:r>
          </a:p>
        </p:txBody>
      </p:sp>
      <p:graphicFrame>
        <p:nvGraphicFramePr>
          <p:cNvPr id="4" name="Table 3">
            <a:extLst>
              <a:ext uri="{FF2B5EF4-FFF2-40B4-BE49-F238E27FC236}">
                <a16:creationId xmlns:a16="http://schemas.microsoft.com/office/drawing/2014/main" id="{24C55AE9-FA30-C836-F195-5D342DB76B9F}"/>
              </a:ext>
            </a:extLst>
          </p:cNvPr>
          <p:cNvGraphicFramePr>
            <a:graphicFrameLocks noGrp="1"/>
          </p:cNvGraphicFramePr>
          <p:nvPr>
            <p:extLst>
              <p:ext uri="{D42A27DB-BD31-4B8C-83A1-F6EECF244321}">
                <p14:modId xmlns:p14="http://schemas.microsoft.com/office/powerpoint/2010/main" val="2457157090"/>
              </p:ext>
            </p:extLst>
          </p:nvPr>
        </p:nvGraphicFramePr>
        <p:xfrm>
          <a:off x="622569" y="1384101"/>
          <a:ext cx="10437781" cy="3672840"/>
        </p:xfrm>
        <a:graphic>
          <a:graphicData uri="http://schemas.openxmlformats.org/drawingml/2006/table">
            <a:tbl>
              <a:tblPr firstRow="1" bandRow="1">
                <a:tableStyleId>{5C22544A-7EE6-4342-B048-85BDC9FD1C3A}</a:tableStyleId>
              </a:tblPr>
              <a:tblGrid>
                <a:gridCol w="1762223">
                  <a:extLst>
                    <a:ext uri="{9D8B030D-6E8A-4147-A177-3AD203B41FA5}">
                      <a16:colId xmlns:a16="http://schemas.microsoft.com/office/drawing/2014/main" val="4258320922"/>
                    </a:ext>
                  </a:extLst>
                </a:gridCol>
                <a:gridCol w="971251">
                  <a:extLst>
                    <a:ext uri="{9D8B030D-6E8A-4147-A177-3AD203B41FA5}">
                      <a16:colId xmlns:a16="http://schemas.microsoft.com/office/drawing/2014/main" val="1763400467"/>
                    </a:ext>
                  </a:extLst>
                </a:gridCol>
                <a:gridCol w="1449421">
                  <a:extLst>
                    <a:ext uri="{9D8B030D-6E8A-4147-A177-3AD203B41FA5}">
                      <a16:colId xmlns:a16="http://schemas.microsoft.com/office/drawing/2014/main" val="1422991502"/>
                    </a:ext>
                  </a:extLst>
                </a:gridCol>
                <a:gridCol w="972766">
                  <a:extLst>
                    <a:ext uri="{9D8B030D-6E8A-4147-A177-3AD203B41FA5}">
                      <a16:colId xmlns:a16="http://schemas.microsoft.com/office/drawing/2014/main" val="765192863"/>
                    </a:ext>
                  </a:extLst>
                </a:gridCol>
                <a:gridCol w="1089498">
                  <a:extLst>
                    <a:ext uri="{9D8B030D-6E8A-4147-A177-3AD203B41FA5}">
                      <a16:colId xmlns:a16="http://schemas.microsoft.com/office/drawing/2014/main" val="1257451813"/>
                    </a:ext>
                  </a:extLst>
                </a:gridCol>
                <a:gridCol w="1225685">
                  <a:extLst>
                    <a:ext uri="{9D8B030D-6E8A-4147-A177-3AD203B41FA5}">
                      <a16:colId xmlns:a16="http://schemas.microsoft.com/office/drawing/2014/main" val="260360216"/>
                    </a:ext>
                  </a:extLst>
                </a:gridCol>
                <a:gridCol w="2966937">
                  <a:extLst>
                    <a:ext uri="{9D8B030D-6E8A-4147-A177-3AD203B41FA5}">
                      <a16:colId xmlns:a16="http://schemas.microsoft.com/office/drawing/2014/main" val="4173156197"/>
                    </a:ext>
                  </a:extLst>
                </a:gridCol>
              </a:tblGrid>
              <a:tr h="343783">
                <a:tc>
                  <a:txBody>
                    <a:bodyPr/>
                    <a:lstStyle/>
                    <a:p>
                      <a:r>
                        <a:rPr lang="en-US" dirty="0"/>
                        <a:t>Well Name</a:t>
                      </a:r>
                    </a:p>
                    <a:p>
                      <a:r>
                        <a:rPr lang="en-US" dirty="0"/>
                        <a:t>Operator</a:t>
                      </a:r>
                    </a:p>
                  </a:txBody>
                  <a:tcPr/>
                </a:tc>
                <a:tc>
                  <a:txBody>
                    <a:bodyPr/>
                    <a:lstStyle/>
                    <a:p>
                      <a:r>
                        <a:rPr lang="en-US" dirty="0"/>
                        <a:t>Year Drilled</a:t>
                      </a:r>
                    </a:p>
                  </a:txBody>
                  <a:tcPr/>
                </a:tc>
                <a:tc>
                  <a:txBody>
                    <a:bodyPr/>
                    <a:lstStyle/>
                    <a:p>
                      <a:r>
                        <a:rPr lang="en-US" dirty="0"/>
                        <a:t>Rig HP</a:t>
                      </a:r>
                    </a:p>
                  </a:txBody>
                  <a:tcPr/>
                </a:tc>
                <a:tc>
                  <a:txBody>
                    <a:bodyPr/>
                    <a:lstStyle/>
                    <a:p>
                      <a:r>
                        <a:rPr lang="en-US" dirty="0"/>
                        <a:t>TD, </a:t>
                      </a:r>
                    </a:p>
                    <a:p>
                      <a:r>
                        <a:rPr lang="en-US" dirty="0"/>
                        <a:t>m-MD</a:t>
                      </a:r>
                    </a:p>
                  </a:txBody>
                  <a:tcPr/>
                </a:tc>
                <a:tc>
                  <a:txBody>
                    <a:bodyPr/>
                    <a:lstStyle/>
                    <a:p>
                      <a:r>
                        <a:rPr lang="en-US" dirty="0"/>
                        <a:t>Meter / Day</a:t>
                      </a:r>
                    </a:p>
                  </a:txBody>
                  <a:tcPr/>
                </a:tc>
                <a:tc>
                  <a:txBody>
                    <a:bodyPr/>
                    <a:lstStyle/>
                    <a:p>
                      <a:r>
                        <a:rPr lang="en-US" dirty="0"/>
                        <a:t>USD / Meter</a:t>
                      </a:r>
                    </a:p>
                  </a:txBody>
                  <a:tcPr/>
                </a:tc>
                <a:tc>
                  <a:txBody>
                    <a:bodyPr/>
                    <a:lstStyle/>
                    <a:p>
                      <a:r>
                        <a:rPr lang="en-US" dirty="0"/>
                        <a:t>Performance Category</a:t>
                      </a:r>
                    </a:p>
                  </a:txBody>
                  <a:tcPr/>
                </a:tc>
                <a:extLst>
                  <a:ext uri="{0D108BD9-81ED-4DB2-BD59-A6C34878D82A}">
                    <a16:rowId xmlns:a16="http://schemas.microsoft.com/office/drawing/2014/main" val="1749316484"/>
                  </a:ext>
                </a:extLst>
              </a:tr>
              <a:tr h="478781">
                <a:tc>
                  <a:txBody>
                    <a:bodyPr/>
                    <a:lstStyle/>
                    <a:p>
                      <a:r>
                        <a:rPr lang="en-US" dirty="0">
                          <a:solidFill>
                            <a:srgbClr val="FF0000"/>
                          </a:solidFill>
                        </a:rPr>
                        <a:t>SMT-H2</a:t>
                      </a:r>
                    </a:p>
                    <a:p>
                      <a:r>
                        <a:rPr lang="en-US" dirty="0">
                          <a:solidFill>
                            <a:srgbClr val="FF0000"/>
                          </a:solidFill>
                        </a:rPr>
                        <a:t>Batu Raden</a:t>
                      </a:r>
                    </a:p>
                  </a:txBody>
                  <a:tcPr/>
                </a:tc>
                <a:tc>
                  <a:txBody>
                    <a:bodyPr/>
                    <a:lstStyle/>
                    <a:p>
                      <a:r>
                        <a:rPr lang="en-US" dirty="0"/>
                        <a:t>2018</a:t>
                      </a:r>
                    </a:p>
                  </a:txBody>
                  <a:tcPr/>
                </a:tc>
                <a:tc>
                  <a:txBody>
                    <a:bodyPr/>
                    <a:lstStyle/>
                    <a:p>
                      <a:endParaRPr lang="en-US" dirty="0"/>
                    </a:p>
                  </a:txBody>
                  <a:tcPr/>
                </a:tc>
                <a:tc>
                  <a:txBody>
                    <a:bodyPr/>
                    <a:lstStyle/>
                    <a:p>
                      <a:r>
                        <a:rPr lang="en-US" dirty="0"/>
                        <a:t>3,477</a:t>
                      </a:r>
                    </a:p>
                  </a:txBody>
                  <a:tcPr/>
                </a:tc>
                <a:tc>
                  <a:txBody>
                    <a:bodyPr/>
                    <a:lstStyle/>
                    <a:p>
                      <a:endParaRPr lang="en-US" dirty="0"/>
                    </a:p>
                  </a:txBody>
                  <a:tcPr/>
                </a:tc>
                <a:tc>
                  <a:txBody>
                    <a:bodyPr/>
                    <a:lstStyle/>
                    <a:p>
                      <a:r>
                        <a:rPr lang="en-US" dirty="0"/>
                        <a:t>2,971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deepest well</a:t>
                      </a:r>
                    </a:p>
                    <a:p>
                      <a:endParaRPr lang="en-US" dirty="0"/>
                    </a:p>
                  </a:txBody>
                  <a:tcPr/>
                </a:tc>
                <a:extLst>
                  <a:ext uri="{0D108BD9-81ED-4DB2-BD59-A6C34878D82A}">
                    <a16:rowId xmlns:a16="http://schemas.microsoft.com/office/drawing/2014/main" val="1440145686"/>
                  </a:ext>
                </a:extLst>
              </a:tr>
              <a:tr h="478781">
                <a:tc>
                  <a:txBody>
                    <a:bodyPr/>
                    <a:lstStyle/>
                    <a:p>
                      <a:r>
                        <a:rPr lang="en-US" dirty="0">
                          <a:solidFill>
                            <a:srgbClr val="FF0000"/>
                          </a:solidFill>
                        </a:rPr>
                        <a:t>HLS E3</a:t>
                      </a:r>
                    </a:p>
                    <a:p>
                      <a:r>
                        <a:rPr lang="en-US" dirty="0" err="1">
                          <a:solidFill>
                            <a:srgbClr val="FF0000"/>
                          </a:solidFill>
                        </a:rPr>
                        <a:t>Hululais</a:t>
                      </a:r>
                      <a:endParaRPr lang="en-US" dirty="0">
                        <a:solidFill>
                          <a:srgbClr val="FF0000"/>
                        </a:solidFill>
                      </a:endParaRPr>
                    </a:p>
                  </a:txBody>
                  <a:tcPr/>
                </a:tc>
                <a:tc>
                  <a:txBody>
                    <a:bodyPr/>
                    <a:lstStyle/>
                    <a:p>
                      <a:r>
                        <a:rPr lang="en-US" dirty="0"/>
                        <a:t>2017</a:t>
                      </a:r>
                    </a:p>
                  </a:txBody>
                  <a:tcPr/>
                </a:tc>
                <a:tc>
                  <a:txBody>
                    <a:bodyPr/>
                    <a:lstStyle/>
                    <a:p>
                      <a:endParaRPr lang="en-US" dirty="0"/>
                    </a:p>
                  </a:txBody>
                  <a:tcPr/>
                </a:tc>
                <a:tc>
                  <a:txBody>
                    <a:bodyPr/>
                    <a:lstStyle/>
                    <a:p>
                      <a:r>
                        <a:rPr lang="en-US" dirty="0"/>
                        <a:t>3280</a:t>
                      </a:r>
                    </a:p>
                  </a:txBody>
                  <a:tcPr/>
                </a:tc>
                <a:tc>
                  <a:txBody>
                    <a:bodyPr/>
                    <a:lstStyle/>
                    <a:p>
                      <a:endParaRPr lang="en-US" dirty="0"/>
                    </a:p>
                  </a:txBody>
                  <a:tcPr/>
                </a:tc>
                <a:tc>
                  <a:txBody>
                    <a:bodyPr/>
                    <a:lstStyle/>
                    <a:p>
                      <a:r>
                        <a:rPr lang="en-US" dirty="0"/>
                        <a:t>3,564 </a:t>
                      </a:r>
                    </a:p>
                  </a:txBody>
                  <a:tcPr/>
                </a:tc>
                <a:tc>
                  <a:txBody>
                    <a:bodyPr/>
                    <a:lstStyle/>
                    <a:p>
                      <a:r>
                        <a:rPr lang="en-US" dirty="0"/>
                        <a:t>The deepest well</a:t>
                      </a:r>
                    </a:p>
                  </a:txBody>
                  <a:tcPr/>
                </a:tc>
                <a:extLst>
                  <a:ext uri="{0D108BD9-81ED-4DB2-BD59-A6C34878D82A}">
                    <a16:rowId xmlns:a16="http://schemas.microsoft.com/office/drawing/2014/main" val="2410751891"/>
                  </a:ext>
                </a:extLst>
              </a:tr>
              <a:tr h="370840">
                <a:tc>
                  <a:txBody>
                    <a:bodyPr/>
                    <a:lstStyle/>
                    <a:p>
                      <a:r>
                        <a:rPr lang="en-US" dirty="0">
                          <a:solidFill>
                            <a:srgbClr val="FF0000"/>
                          </a:solidFill>
                        </a:rPr>
                        <a:t>Star Energy</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Fasters Meter / day</a:t>
                      </a:r>
                    </a:p>
                  </a:txBody>
                  <a:tcPr/>
                </a:tc>
                <a:extLst>
                  <a:ext uri="{0D108BD9-81ED-4DB2-BD59-A6C34878D82A}">
                    <a16:rowId xmlns:a16="http://schemas.microsoft.com/office/drawing/2014/main" val="3437085325"/>
                  </a:ext>
                </a:extLst>
              </a:tr>
              <a:tr h="370840">
                <a:tc>
                  <a:txBody>
                    <a:bodyPr/>
                    <a:lstStyle/>
                    <a:p>
                      <a:r>
                        <a:rPr lang="en-US" dirty="0"/>
                        <a:t>Central Java</a:t>
                      </a:r>
                    </a:p>
                  </a:txBody>
                  <a:tcPr/>
                </a:tc>
                <a:tc>
                  <a:txBody>
                    <a:bodyPr/>
                    <a:lstStyle/>
                    <a:p>
                      <a:r>
                        <a:rPr lang="en-US" dirty="0"/>
                        <a:t>2022</a:t>
                      </a:r>
                    </a:p>
                  </a:txBody>
                  <a:tcPr/>
                </a:tc>
                <a:tc>
                  <a:txBody>
                    <a:bodyPr/>
                    <a:lstStyle/>
                    <a:p>
                      <a:r>
                        <a:rPr lang="en-US" dirty="0"/>
                        <a:t>1500</a:t>
                      </a:r>
                    </a:p>
                  </a:txBody>
                  <a:tcPr/>
                </a:tc>
                <a:tc>
                  <a:txBody>
                    <a:bodyPr/>
                    <a:lstStyle/>
                    <a:p>
                      <a:r>
                        <a:rPr lang="en-US" dirty="0"/>
                        <a:t>3,009</a:t>
                      </a:r>
                    </a:p>
                  </a:txBody>
                  <a:tcPr/>
                </a:tc>
                <a:tc>
                  <a:txBody>
                    <a:bodyPr/>
                    <a:lstStyle/>
                    <a:p>
                      <a:r>
                        <a:rPr lang="en-US" dirty="0"/>
                        <a:t>93.48</a:t>
                      </a:r>
                    </a:p>
                  </a:txBody>
                  <a:tcPr/>
                </a:tc>
                <a:tc>
                  <a:txBody>
                    <a:bodyPr/>
                    <a:lstStyle/>
                    <a:p>
                      <a:r>
                        <a:rPr lang="en-US" dirty="0"/>
                        <a:t>1,146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Fasters Meter / day 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Cheapest USD / Meter</a:t>
                      </a:r>
                    </a:p>
                  </a:txBody>
                  <a:tcPr/>
                </a:tc>
                <a:extLst>
                  <a:ext uri="{0D108BD9-81ED-4DB2-BD59-A6C34878D82A}">
                    <a16:rowId xmlns:a16="http://schemas.microsoft.com/office/drawing/2014/main" val="327945425"/>
                  </a:ext>
                </a:extLst>
              </a:tr>
              <a:tr h="370840">
                <a:tc>
                  <a:txBody>
                    <a:bodyPr/>
                    <a:lstStyle/>
                    <a:p>
                      <a:r>
                        <a:rPr lang="en-US" dirty="0"/>
                        <a:t>South Sumatra</a:t>
                      </a:r>
                    </a:p>
                  </a:txBody>
                  <a:tcPr/>
                </a:tc>
                <a:tc>
                  <a:txBody>
                    <a:bodyPr/>
                    <a:lstStyle/>
                    <a:p>
                      <a:endParaRPr lang="en-US" dirty="0"/>
                    </a:p>
                  </a:txBody>
                  <a:tcPr/>
                </a:tc>
                <a:tc>
                  <a:txBody>
                    <a:bodyPr/>
                    <a:lstStyle/>
                    <a:p>
                      <a:r>
                        <a:rPr lang="en-US" dirty="0"/>
                        <a:t>1000 </a:t>
                      </a:r>
                    </a:p>
                  </a:txBody>
                  <a:tcPr/>
                </a:tc>
                <a:tc>
                  <a:txBody>
                    <a:bodyPr/>
                    <a:lstStyle/>
                    <a:p>
                      <a:r>
                        <a:rPr lang="en-US" dirty="0"/>
                        <a:t>2,200</a:t>
                      </a:r>
                    </a:p>
                  </a:txBody>
                  <a:tcPr/>
                </a:tc>
                <a:tc>
                  <a:txBody>
                    <a:bodyPr/>
                    <a:lstStyle/>
                    <a:p>
                      <a:r>
                        <a:rPr lang="en-US" dirty="0"/>
                        <a:t>93.66</a:t>
                      </a:r>
                    </a:p>
                  </a:txBody>
                  <a:tcPr/>
                </a:tc>
                <a:tc>
                  <a:txBody>
                    <a:bodyPr/>
                    <a:lstStyle/>
                    <a:p>
                      <a:r>
                        <a:rPr lang="en-US" dirty="0"/>
                        <a:t>1,176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Fasters Meter / day</a:t>
                      </a:r>
                    </a:p>
                  </a:txBody>
                  <a:tcPr/>
                </a:tc>
                <a:extLst>
                  <a:ext uri="{0D108BD9-81ED-4DB2-BD59-A6C34878D82A}">
                    <a16:rowId xmlns:a16="http://schemas.microsoft.com/office/drawing/2014/main" val="50732762"/>
                  </a:ext>
                </a:extLst>
              </a:tr>
              <a:tr h="370840">
                <a:tc>
                  <a:txBody>
                    <a:bodyPr/>
                    <a:lstStyle/>
                    <a:p>
                      <a:r>
                        <a:rPr lang="en-US" dirty="0"/>
                        <a:t>South Sumatra</a:t>
                      </a:r>
                    </a:p>
                  </a:txBody>
                  <a:tcPr/>
                </a:tc>
                <a:tc>
                  <a:txBody>
                    <a:bodyPr/>
                    <a:lstStyle/>
                    <a:p>
                      <a:endParaRPr lang="en-US" dirty="0"/>
                    </a:p>
                  </a:txBody>
                  <a:tcPr/>
                </a:tc>
                <a:tc>
                  <a:txBody>
                    <a:bodyPr/>
                    <a:lstStyle/>
                    <a:p>
                      <a:r>
                        <a:rPr lang="en-US" dirty="0"/>
                        <a:t>1700</a:t>
                      </a:r>
                    </a:p>
                  </a:txBody>
                  <a:tcPr/>
                </a:tc>
                <a:tc>
                  <a:txBody>
                    <a:bodyPr/>
                    <a:lstStyle/>
                    <a:p>
                      <a:r>
                        <a:rPr lang="en-US" dirty="0"/>
                        <a:t>2,715</a:t>
                      </a:r>
                    </a:p>
                  </a:txBody>
                  <a:tcPr/>
                </a:tc>
                <a:tc>
                  <a:txBody>
                    <a:bodyPr/>
                    <a:lstStyle/>
                    <a:p>
                      <a:r>
                        <a:rPr lang="en-US" dirty="0"/>
                        <a:t>93.41</a:t>
                      </a:r>
                    </a:p>
                  </a:txBody>
                  <a:tcPr/>
                </a:tc>
                <a:tc>
                  <a:txBody>
                    <a:bodyPr/>
                    <a:lstStyle/>
                    <a:p>
                      <a:r>
                        <a:rPr lang="en-US" dirty="0"/>
                        <a:t>1,148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Cheapest USD / Meter</a:t>
                      </a:r>
                    </a:p>
                  </a:txBody>
                  <a:tcPr/>
                </a:tc>
                <a:extLst>
                  <a:ext uri="{0D108BD9-81ED-4DB2-BD59-A6C34878D82A}">
                    <a16:rowId xmlns:a16="http://schemas.microsoft.com/office/drawing/2014/main" val="352564063"/>
                  </a:ext>
                </a:extLst>
              </a:tr>
            </a:tbl>
          </a:graphicData>
        </a:graphic>
      </p:graphicFrame>
    </p:spTree>
    <p:extLst>
      <p:ext uri="{BB962C8B-B14F-4D97-AF65-F5344CB8AC3E}">
        <p14:creationId xmlns:p14="http://schemas.microsoft.com/office/powerpoint/2010/main" val="2404554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50993-2B41-242B-C463-E7525B071764}"/>
              </a:ext>
            </a:extLst>
          </p:cNvPr>
          <p:cNvSpPr>
            <a:spLocks noGrp="1"/>
          </p:cNvSpPr>
          <p:nvPr>
            <p:ph type="title"/>
          </p:nvPr>
        </p:nvSpPr>
        <p:spPr>
          <a:xfrm>
            <a:off x="521207" y="448056"/>
            <a:ext cx="8661704" cy="640080"/>
          </a:xfrm>
        </p:spPr>
        <p:txBody>
          <a:bodyPr>
            <a:normAutofit/>
          </a:bodyPr>
          <a:lstStyle/>
          <a:p>
            <a:r>
              <a:rPr lang="en-US" b="1" dirty="0">
                <a:solidFill>
                  <a:srgbClr val="C00000"/>
                </a:solidFill>
              </a:rPr>
              <a:t>How to achieve drilling cost below USD 1000 per meter </a:t>
            </a:r>
          </a:p>
        </p:txBody>
      </p:sp>
      <p:pic>
        <p:nvPicPr>
          <p:cNvPr id="4" name="Picture 12" descr="blue question mark button - Employee or Independent Contractor?">
            <a:extLst>
              <a:ext uri="{FF2B5EF4-FFF2-40B4-BE49-F238E27FC236}">
                <a16:creationId xmlns:a16="http://schemas.microsoft.com/office/drawing/2014/main" id="{7573ADA6-8F44-E0D2-973D-EEFC817187D0}"/>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033049" y="248798"/>
            <a:ext cx="798283" cy="8393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32C57F8-EEBE-CD7D-BF78-E5FCB1885727}"/>
              </a:ext>
            </a:extLst>
          </p:cNvPr>
          <p:cNvPicPr>
            <a:picLocks noChangeAspect="1"/>
          </p:cNvPicPr>
          <p:nvPr/>
        </p:nvPicPr>
        <p:blipFill>
          <a:blip r:embed="rId3"/>
          <a:stretch>
            <a:fillRect/>
          </a:stretch>
        </p:blipFill>
        <p:spPr>
          <a:xfrm>
            <a:off x="592172" y="1287394"/>
            <a:ext cx="7394237" cy="1944767"/>
          </a:xfrm>
          <a:prstGeom prst="rect">
            <a:avLst/>
          </a:prstGeom>
        </p:spPr>
      </p:pic>
      <p:pic>
        <p:nvPicPr>
          <p:cNvPr id="7" name="Picture 6">
            <a:extLst>
              <a:ext uri="{FF2B5EF4-FFF2-40B4-BE49-F238E27FC236}">
                <a16:creationId xmlns:a16="http://schemas.microsoft.com/office/drawing/2014/main" id="{356EFF69-8AC4-95EC-14A3-F07463BC8D88}"/>
              </a:ext>
            </a:extLst>
          </p:cNvPr>
          <p:cNvPicPr>
            <a:picLocks noChangeAspect="1"/>
          </p:cNvPicPr>
          <p:nvPr/>
        </p:nvPicPr>
        <p:blipFill>
          <a:blip r:embed="rId4"/>
          <a:stretch>
            <a:fillRect/>
          </a:stretch>
        </p:blipFill>
        <p:spPr>
          <a:xfrm>
            <a:off x="521207" y="4195616"/>
            <a:ext cx="7465202" cy="1826592"/>
          </a:xfrm>
          <a:prstGeom prst="rect">
            <a:avLst/>
          </a:prstGeom>
        </p:spPr>
      </p:pic>
      <p:pic>
        <p:nvPicPr>
          <p:cNvPr id="9" name="Picture 8">
            <a:extLst>
              <a:ext uri="{FF2B5EF4-FFF2-40B4-BE49-F238E27FC236}">
                <a16:creationId xmlns:a16="http://schemas.microsoft.com/office/drawing/2014/main" id="{0B2E3DF2-4A46-D113-01E2-85A82D6E378D}"/>
              </a:ext>
            </a:extLst>
          </p:cNvPr>
          <p:cNvPicPr>
            <a:picLocks noChangeAspect="1"/>
          </p:cNvPicPr>
          <p:nvPr/>
        </p:nvPicPr>
        <p:blipFill>
          <a:blip r:embed="rId5"/>
          <a:stretch>
            <a:fillRect/>
          </a:stretch>
        </p:blipFill>
        <p:spPr>
          <a:xfrm>
            <a:off x="8102341" y="4349218"/>
            <a:ext cx="3700341" cy="1188757"/>
          </a:xfrm>
          <a:prstGeom prst="rect">
            <a:avLst/>
          </a:prstGeom>
        </p:spPr>
      </p:pic>
      <p:pic>
        <p:nvPicPr>
          <p:cNvPr id="10" name="Picture 9">
            <a:extLst>
              <a:ext uri="{FF2B5EF4-FFF2-40B4-BE49-F238E27FC236}">
                <a16:creationId xmlns:a16="http://schemas.microsoft.com/office/drawing/2014/main" id="{6341D827-130E-CC9C-BAF3-FDE9B5FE1A63}"/>
              </a:ext>
            </a:extLst>
          </p:cNvPr>
          <p:cNvPicPr>
            <a:picLocks noChangeAspect="1"/>
          </p:cNvPicPr>
          <p:nvPr/>
        </p:nvPicPr>
        <p:blipFill>
          <a:blip r:embed="rId6"/>
          <a:stretch>
            <a:fillRect/>
          </a:stretch>
        </p:blipFill>
        <p:spPr>
          <a:xfrm>
            <a:off x="8102342" y="1528282"/>
            <a:ext cx="3700341" cy="1123620"/>
          </a:xfrm>
          <a:prstGeom prst="rect">
            <a:avLst/>
          </a:prstGeom>
        </p:spPr>
      </p:pic>
    </p:spTree>
    <p:extLst>
      <p:ext uri="{BB962C8B-B14F-4D97-AF65-F5344CB8AC3E}">
        <p14:creationId xmlns:p14="http://schemas.microsoft.com/office/powerpoint/2010/main" val="3848219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7" y="334577"/>
            <a:ext cx="9555200"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Efisiensi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Biaya</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b="1" dirty="0">
                <a:solidFill>
                  <a:schemeClr val="accent6">
                    <a:lumMod val="50000"/>
                  </a:schemeClr>
                </a:solidFill>
                <a:latin typeface="Cavolini" panose="03000502040302020204" pitchFamily="66" charset="0"/>
                <a:cs typeface="Cavolini" panose="03000502040302020204" pitchFamily="66" charset="0"/>
              </a:rPr>
              <a:t> Panas </a:t>
            </a:r>
            <a:r>
              <a:rPr lang="es-ES" altLang="en-US" b="1" dirty="0" err="1">
                <a:solidFill>
                  <a:schemeClr val="accent6">
                    <a:lumMod val="50000"/>
                  </a:schemeClr>
                </a:solidFill>
                <a:latin typeface="Cavolini" panose="03000502040302020204" pitchFamily="66" charset="0"/>
                <a:cs typeface="Cavolini" panose="03000502040302020204" pitchFamily="66" charset="0"/>
              </a:rPr>
              <a:t>Bumi</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Rectangle 1">
            <a:extLst>
              <a:ext uri="{FF2B5EF4-FFF2-40B4-BE49-F238E27FC236}">
                <a16:creationId xmlns:a16="http://schemas.microsoft.com/office/drawing/2014/main" id="{DA7BD951-32F0-EBB7-4734-9615E2BDA736}"/>
              </a:ext>
            </a:extLst>
          </p:cNvPr>
          <p:cNvSpPr/>
          <p:nvPr/>
        </p:nvSpPr>
        <p:spPr>
          <a:xfrm>
            <a:off x="2668772" y="1480511"/>
            <a:ext cx="8389088" cy="765544"/>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ea typeface="Verdana" panose="020B0604030504040204" pitchFamily="34" charset="0"/>
                <a:cs typeface="Cavolini" panose="03000502040302020204" pitchFamily="66" charset="0"/>
              </a:rPr>
              <a:t>Komponen</a:t>
            </a:r>
            <a:r>
              <a:rPr lang="en-US" altLang="en-US" sz="2400" b="1" dirty="0">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Biaya</a:t>
            </a:r>
            <a:r>
              <a:rPr lang="en-US" altLang="en-US" sz="2400" b="1" dirty="0">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Pengeboran</a:t>
            </a:r>
            <a:r>
              <a:rPr lang="en-US" altLang="en-US" sz="2400" b="1" dirty="0">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Sumur</a:t>
            </a:r>
            <a:r>
              <a:rPr lang="en-US" altLang="en-US" sz="2400" b="1" dirty="0">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Panas</a:t>
            </a:r>
            <a:r>
              <a:rPr lang="en-US" altLang="en-US" sz="2400" b="1" dirty="0">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bumi</a:t>
            </a:r>
            <a:endParaRPr lang="en-ID" sz="2400" b="1" dirty="0">
              <a:latin typeface="Cavolini" panose="03000502040302020204" pitchFamily="66" charset="0"/>
              <a:ea typeface="Verdana" panose="020B0604030504040204" pitchFamily="34" charset="0"/>
              <a:cs typeface="Cavolini" panose="03000502040302020204" pitchFamily="66"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1535717" y="1480511"/>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2.1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2668772" y="2398455"/>
            <a:ext cx="8389088" cy="748783"/>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a:latin typeface="Cavolini" panose="03000502040302020204" pitchFamily="66" charset="0"/>
                <a:cs typeface="Cavolini" panose="03000502040302020204" pitchFamily="66" charset="0"/>
              </a:rPr>
              <a:t>Proses </a:t>
            </a:r>
            <a:r>
              <a:rPr lang="en-US" altLang="en-US" sz="2400" b="1" dirty="0" err="1">
                <a:latin typeface="Cavolini" panose="03000502040302020204" pitchFamily="66" charset="0"/>
                <a:cs typeface="Cavolini" panose="03000502040302020204" pitchFamily="66" charset="0"/>
              </a:rPr>
              <a:t>Penghematan</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Biaya</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Pemboran</a:t>
            </a:r>
            <a:r>
              <a:rPr lang="en-US" altLang="en-US" sz="2400" b="1" dirty="0">
                <a:latin typeface="Cavolini" panose="03000502040302020204" pitchFamily="66" charset="0"/>
                <a:cs typeface="Cavolini" panose="03000502040302020204" pitchFamily="66" charset="0"/>
              </a:rPr>
              <a:t>. Kapan </a:t>
            </a:r>
            <a:r>
              <a:rPr lang="en-US" altLang="en-US" sz="2400" b="1" dirty="0" err="1">
                <a:latin typeface="Cavolini" panose="03000502040302020204" pitchFamily="66" charset="0"/>
                <a:cs typeface="Cavolini" panose="03000502040302020204" pitchFamily="66" charset="0"/>
              </a:rPr>
              <a:t>Dimulainya</a:t>
            </a:r>
            <a:r>
              <a:rPr lang="en-US" altLang="en-US" sz="2400" b="1" dirty="0">
                <a:latin typeface="Cavolini" panose="03000502040302020204" pitchFamily="66" charset="0"/>
                <a:cs typeface="Cavolini" panose="03000502040302020204" pitchFamily="66" charset="0"/>
              </a:rPr>
              <a:t>?</a:t>
            </a:r>
            <a:endParaRPr lang="en-ID" sz="2400" b="1" dirty="0">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1535716" y="2398455"/>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2.2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2154176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035" y="448056"/>
            <a:ext cx="10827910" cy="640080"/>
          </a:xfrm>
        </p:spPr>
        <p:txBody>
          <a:bodyPr>
            <a:noAutofit/>
          </a:bodyPr>
          <a:lstStyle/>
          <a:p>
            <a:pPr algn="ctr"/>
            <a:r>
              <a:rPr lang="en-US" sz="4000" dirty="0">
                <a:solidFill>
                  <a:srgbClr val="C00000"/>
                </a:solidFill>
              </a:rPr>
              <a:t>Drilling Geothermal Well </a:t>
            </a:r>
            <a:r>
              <a:rPr lang="en-US" sz="4000" b="1" dirty="0">
                <a:solidFill>
                  <a:srgbClr val="C00000"/>
                </a:solidFill>
              </a:rPr>
              <a:t>&lt; USD 3 Million</a:t>
            </a:r>
          </a:p>
        </p:txBody>
      </p:sp>
      <p:pic>
        <p:nvPicPr>
          <p:cNvPr id="1036" name="Picture 12" descr="blue question mark button - Employee or Independent Contracto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725662" y="248798"/>
            <a:ext cx="798283" cy="83933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Diagram 11"/>
          <p:cNvGraphicFramePr/>
          <p:nvPr>
            <p:extLst>
              <p:ext uri="{D42A27DB-BD31-4B8C-83A1-F6EECF244321}">
                <p14:modId xmlns:p14="http://schemas.microsoft.com/office/powerpoint/2010/main" val="1003933436"/>
              </p:ext>
            </p:extLst>
          </p:nvPr>
        </p:nvGraphicFramePr>
        <p:xfrm>
          <a:off x="2201817" y="1287394"/>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96035" y="184614"/>
            <a:ext cx="967705" cy="967705"/>
          </a:xfrm>
          <a:prstGeom prst="rect">
            <a:avLst/>
          </a:prstGeom>
        </p:spPr>
      </p:pic>
    </p:spTree>
    <p:extLst>
      <p:ext uri="{BB962C8B-B14F-4D97-AF65-F5344CB8AC3E}">
        <p14:creationId xmlns:p14="http://schemas.microsoft.com/office/powerpoint/2010/main" val="477881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1093038" cy="640080"/>
          </a:xfrm>
        </p:spPr>
        <p:txBody>
          <a:bodyPr>
            <a:noAutofit/>
          </a:bodyPr>
          <a:lstStyle/>
          <a:p>
            <a:pPr algn="ctr"/>
            <a:r>
              <a:rPr lang="en-US" altLang="en-US" sz="4000" b="1" dirty="0">
                <a:solidFill>
                  <a:srgbClr val="006600"/>
                </a:solidFill>
              </a:rPr>
              <a:t>MAJOR WELL COST COMPONENT</a:t>
            </a:r>
            <a:endParaRPr lang="en-US" sz="4000" dirty="0"/>
          </a:p>
        </p:txBody>
      </p:sp>
      <p:grpSp>
        <p:nvGrpSpPr>
          <p:cNvPr id="6" name="Group 5"/>
          <p:cNvGrpSpPr/>
          <p:nvPr/>
        </p:nvGrpSpPr>
        <p:grpSpPr>
          <a:xfrm>
            <a:off x="148457" y="1319284"/>
            <a:ext cx="8393373" cy="5122459"/>
            <a:chOff x="709684" y="1483057"/>
            <a:chExt cx="5976938" cy="3962400"/>
          </a:xfrm>
        </p:grpSpPr>
        <p:pic>
          <p:nvPicPr>
            <p:cNvPr id="4" name="Picture 4"/>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09684" y="1483057"/>
              <a:ext cx="5976938"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1395484" y="1910095"/>
              <a:ext cx="2438400" cy="3429000"/>
            </a:xfrm>
            <a:prstGeom prst="rect">
              <a:avLst/>
            </a:prstGeom>
            <a:noFill/>
            <a:ln w="25400"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endParaRPr lang="id-ID" altLang="en-US" sz="2000">
                <a:solidFill>
                  <a:srgbClr val="FF6600"/>
                </a:solidFill>
              </a:endParaRPr>
            </a:p>
          </p:txBody>
        </p:sp>
      </p:grpSp>
      <p:sp>
        <p:nvSpPr>
          <p:cNvPr id="3" name="TextBox 2">
            <a:extLst>
              <a:ext uri="{FF2B5EF4-FFF2-40B4-BE49-F238E27FC236}">
                <a16:creationId xmlns:a16="http://schemas.microsoft.com/office/drawing/2014/main" id="{FCEB35D1-58E7-4A27-8894-A07A14A79DA1}"/>
              </a:ext>
            </a:extLst>
          </p:cNvPr>
          <p:cNvSpPr txBox="1"/>
          <p:nvPr/>
        </p:nvSpPr>
        <p:spPr>
          <a:xfrm>
            <a:off x="-155121" y="2614685"/>
            <a:ext cx="542906" cy="450573"/>
          </a:xfrm>
          <a:prstGeom prst="rect">
            <a:avLst/>
          </a:prstGeom>
          <a:noFill/>
        </p:spPr>
        <p:txBody>
          <a:bodyPr vert="wordArtVert" wrap="none" rtlCol="0">
            <a:spAutoFit/>
          </a:bodyPr>
          <a:lstStyle/>
          <a:p>
            <a:r>
              <a:rPr lang="en-US" b="1" dirty="0">
                <a:solidFill>
                  <a:srgbClr val="C00000"/>
                </a:solidFill>
              </a:rPr>
              <a:t>$</a:t>
            </a:r>
            <a:endParaRPr lang="en-ID" b="1" dirty="0">
              <a:solidFill>
                <a:srgbClr val="C00000"/>
              </a:solidFill>
            </a:endParaRPr>
          </a:p>
        </p:txBody>
      </p:sp>
      <p:sp>
        <p:nvSpPr>
          <p:cNvPr id="8" name="TextBox 7">
            <a:extLst>
              <a:ext uri="{FF2B5EF4-FFF2-40B4-BE49-F238E27FC236}">
                <a16:creationId xmlns:a16="http://schemas.microsoft.com/office/drawing/2014/main" id="{F1381C5F-4FFA-45BC-A9E0-74EFD5AF52CB}"/>
              </a:ext>
            </a:extLst>
          </p:cNvPr>
          <p:cNvSpPr txBox="1"/>
          <p:nvPr/>
        </p:nvSpPr>
        <p:spPr>
          <a:xfrm>
            <a:off x="8717280" y="4114800"/>
            <a:ext cx="3119120" cy="1384995"/>
          </a:xfrm>
          <a:prstGeom prst="rect">
            <a:avLst/>
          </a:prstGeom>
          <a:noFill/>
        </p:spPr>
        <p:txBody>
          <a:bodyPr wrap="square" rtlCol="0">
            <a:spAutoFit/>
          </a:bodyPr>
          <a:lstStyle/>
          <a:p>
            <a:r>
              <a:rPr lang="en-US" sz="2800" dirty="0">
                <a:solidFill>
                  <a:srgbClr val="C00000"/>
                </a:solidFill>
              </a:rPr>
              <a:t>More attention to the major well cost component</a:t>
            </a:r>
            <a:endParaRPr lang="en-ID" sz="2800" dirty="0">
              <a:solidFill>
                <a:srgbClr val="C00000"/>
              </a:solidFill>
            </a:endParaRPr>
          </a:p>
        </p:txBody>
      </p:sp>
      <p:pic>
        <p:nvPicPr>
          <p:cNvPr id="9" name="Picture 8">
            <a:extLst>
              <a:ext uri="{FF2B5EF4-FFF2-40B4-BE49-F238E27FC236}">
                <a16:creationId xmlns:a16="http://schemas.microsoft.com/office/drawing/2014/main" id="{DE59B530-2C19-4EE3-9AB0-732636C41B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50068" y="1358205"/>
            <a:ext cx="3817424" cy="2588284"/>
          </a:xfrm>
          <a:prstGeom prst="rect">
            <a:avLst/>
          </a:prstGeom>
        </p:spPr>
      </p:pic>
    </p:spTree>
    <p:extLst>
      <p:ext uri="{BB962C8B-B14F-4D97-AF65-F5344CB8AC3E}">
        <p14:creationId xmlns:p14="http://schemas.microsoft.com/office/powerpoint/2010/main" val="4166465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bwMode="auto">
          <a:xfrm>
            <a:off x="1804988" y="152400"/>
            <a:ext cx="88392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sz="4000" b="1" dirty="0">
                <a:solidFill>
                  <a:srgbClr val="006600"/>
                </a:solidFill>
              </a:rPr>
              <a:t>MAJOR WELL COST COMPONENT</a:t>
            </a:r>
          </a:p>
        </p:txBody>
      </p:sp>
      <p:graphicFrame>
        <p:nvGraphicFramePr>
          <p:cNvPr id="2" name="Diagram 1"/>
          <p:cNvGraphicFramePr/>
          <p:nvPr/>
        </p:nvGraphicFramePr>
        <p:xfrm>
          <a:off x="1804988" y="1340539"/>
          <a:ext cx="3729790" cy="49447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2754658444"/>
              </p:ext>
            </p:extLst>
          </p:nvPr>
        </p:nvGraphicFramePr>
        <p:xfrm>
          <a:off x="6057900" y="1340539"/>
          <a:ext cx="4038600" cy="502092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31028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96A3A-2036-17C1-E4F3-39E2C0FF4204}"/>
              </a:ext>
            </a:extLst>
          </p:cNvPr>
          <p:cNvSpPr>
            <a:spLocks noGrp="1"/>
          </p:cNvSpPr>
          <p:nvPr>
            <p:ph type="title"/>
          </p:nvPr>
        </p:nvSpPr>
        <p:spPr/>
        <p:txBody>
          <a:bodyPr/>
          <a:lstStyle/>
          <a:p>
            <a:r>
              <a:rPr lang="en-US" dirty="0"/>
              <a:t>Drilling Cost Reduction Method</a:t>
            </a:r>
          </a:p>
        </p:txBody>
      </p:sp>
      <p:graphicFrame>
        <p:nvGraphicFramePr>
          <p:cNvPr id="4" name="Diagram 3">
            <a:extLst>
              <a:ext uri="{FF2B5EF4-FFF2-40B4-BE49-F238E27FC236}">
                <a16:creationId xmlns:a16="http://schemas.microsoft.com/office/drawing/2014/main" id="{730A98C0-19CF-04BC-4717-34D322EBAAC8}"/>
              </a:ext>
            </a:extLst>
          </p:cNvPr>
          <p:cNvGraphicFramePr/>
          <p:nvPr>
            <p:extLst>
              <p:ext uri="{D42A27DB-BD31-4B8C-83A1-F6EECF244321}">
                <p14:modId xmlns:p14="http://schemas.microsoft.com/office/powerpoint/2010/main" val="3208850057"/>
              </p:ext>
            </p:extLst>
          </p:nvPr>
        </p:nvGraphicFramePr>
        <p:xfrm>
          <a:off x="-2141166" y="1245725"/>
          <a:ext cx="1102251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descr="Best Price Guarantee | H&amp;S Bike-Discount GmbH">
            <a:extLst>
              <a:ext uri="{FF2B5EF4-FFF2-40B4-BE49-F238E27FC236}">
                <a16:creationId xmlns:a16="http://schemas.microsoft.com/office/drawing/2014/main" id="{D96DC263-F03A-2F36-B870-4584474F70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72866" y="3299296"/>
            <a:ext cx="3009900" cy="1524000"/>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B52EDD6F-D8EC-EF29-7FF2-A9F4E641AE49}"/>
              </a:ext>
            </a:extLst>
          </p:cNvPr>
          <p:cNvSpPr txBox="1">
            <a:spLocks/>
          </p:cNvSpPr>
          <p:nvPr/>
        </p:nvSpPr>
        <p:spPr bwMode="auto">
          <a:xfrm>
            <a:off x="5381193" y="5346979"/>
            <a:ext cx="6689034" cy="131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FF6600"/>
                </a:solidFill>
                <a:latin typeface="Arial" charset="0"/>
              </a:defRPr>
            </a:lvl1pPr>
            <a:lvl2pPr marL="742950" indent="-285750">
              <a:defRPr b="1">
                <a:solidFill>
                  <a:srgbClr val="FF6600"/>
                </a:solidFill>
                <a:latin typeface="Arial" charset="0"/>
              </a:defRPr>
            </a:lvl2pPr>
            <a:lvl3pPr marL="1143000" indent="-228600">
              <a:defRPr b="1">
                <a:solidFill>
                  <a:srgbClr val="FF6600"/>
                </a:solidFill>
                <a:latin typeface="Arial" charset="0"/>
              </a:defRPr>
            </a:lvl3pPr>
            <a:lvl4pPr marL="1600200" indent="-228600">
              <a:defRPr b="1">
                <a:solidFill>
                  <a:srgbClr val="FF6600"/>
                </a:solidFill>
                <a:latin typeface="Arial" charset="0"/>
              </a:defRPr>
            </a:lvl4pPr>
            <a:lvl5pPr marL="2057400" indent="-228600">
              <a:defRPr b="1">
                <a:solidFill>
                  <a:srgbClr val="FF6600"/>
                </a:solidFill>
                <a:latin typeface="Arial" charset="0"/>
              </a:defRPr>
            </a:lvl5pPr>
            <a:lvl6pPr marL="25146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6pPr>
            <a:lvl7pPr marL="29718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7pPr>
            <a:lvl8pPr marL="34290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8pPr>
            <a:lvl9pPr marL="38862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9pPr>
          </a:lstStyle>
          <a:p>
            <a:pPr marL="233363" indent="-233363">
              <a:buFont typeface="Wingdings" pitchFamily="2" charset="2"/>
              <a:buChar char="v"/>
              <a:defRPr/>
            </a:pPr>
            <a:r>
              <a:rPr lang="en-US" sz="1400" dirty="0">
                <a:solidFill>
                  <a:srgbClr val="C00000"/>
                </a:solidFill>
              </a:rPr>
              <a:t>To get </a:t>
            </a:r>
            <a:r>
              <a:rPr lang="id-ID" sz="1400" kern="0" dirty="0">
                <a:solidFill>
                  <a:srgbClr val="C00000"/>
                </a:solidFill>
              </a:rPr>
              <a:t>Competitive Price</a:t>
            </a:r>
            <a:endParaRPr lang="en-US" sz="1400" kern="0" dirty="0">
              <a:solidFill>
                <a:srgbClr val="C00000"/>
              </a:solidFill>
            </a:endParaRPr>
          </a:p>
          <a:p>
            <a:pPr marL="233363" indent="-233363">
              <a:buFont typeface="Wingdings" pitchFamily="2" charset="2"/>
              <a:buChar char="v"/>
              <a:defRPr/>
            </a:pPr>
            <a:r>
              <a:rPr lang="en-US" sz="1400" dirty="0">
                <a:solidFill>
                  <a:srgbClr val="C00000"/>
                </a:solidFill>
              </a:rPr>
              <a:t>To get qualified and reputable contractors</a:t>
            </a:r>
            <a:r>
              <a:rPr lang="id-ID" sz="1400" kern="0" dirty="0">
                <a:solidFill>
                  <a:srgbClr val="C00000"/>
                </a:solidFill>
              </a:rPr>
              <a:t>: HSE, Technical  and Finantial</a:t>
            </a:r>
          </a:p>
          <a:p>
            <a:pPr marL="233363" indent="-233363">
              <a:buFont typeface="Wingdings" pitchFamily="2" charset="2"/>
              <a:buChar char="v"/>
              <a:defRPr/>
            </a:pPr>
            <a:r>
              <a:rPr lang="en-US" sz="1400" dirty="0">
                <a:solidFill>
                  <a:srgbClr val="C00000"/>
                </a:solidFill>
              </a:rPr>
              <a:t>To get high standard performance to achieve the project objective: </a:t>
            </a:r>
            <a:r>
              <a:rPr lang="id-ID" sz="1400" kern="0" dirty="0">
                <a:solidFill>
                  <a:srgbClr val="C00000"/>
                </a:solidFill>
              </a:rPr>
              <a:t>Deliver</a:t>
            </a:r>
            <a:r>
              <a:rPr lang="en-US" sz="1400" kern="0" dirty="0">
                <a:solidFill>
                  <a:srgbClr val="C00000"/>
                </a:solidFill>
              </a:rPr>
              <a:t> project within timeline and cost.</a:t>
            </a:r>
            <a:endParaRPr lang="id-ID" sz="1400" kern="0" dirty="0">
              <a:solidFill>
                <a:srgbClr val="C00000"/>
              </a:solidFill>
            </a:endParaRPr>
          </a:p>
          <a:p>
            <a:pPr marL="233363" indent="-233363">
              <a:buFont typeface="Wingdings" pitchFamily="2" charset="2"/>
              <a:buChar char="v"/>
              <a:defRPr/>
            </a:pPr>
            <a:r>
              <a:rPr lang="en-US" sz="1400" dirty="0">
                <a:solidFill>
                  <a:srgbClr val="C00000"/>
                </a:solidFill>
              </a:rPr>
              <a:t>To comply with internal process and local regulation.</a:t>
            </a:r>
            <a:endParaRPr lang="en-US" sz="1400" kern="0" dirty="0">
              <a:solidFill>
                <a:srgbClr val="C00000"/>
              </a:solidFill>
            </a:endParaRPr>
          </a:p>
          <a:p>
            <a:pPr>
              <a:buFont typeface="Wingdings" pitchFamily="2" charset="2"/>
              <a:buChar char="v"/>
              <a:defRPr/>
            </a:pPr>
            <a:endParaRPr lang="id-ID" sz="1400" kern="0" dirty="0">
              <a:solidFill>
                <a:srgbClr val="C00000"/>
              </a:solidFill>
            </a:endParaRPr>
          </a:p>
        </p:txBody>
      </p:sp>
    </p:spTree>
    <p:extLst>
      <p:ext uri="{BB962C8B-B14F-4D97-AF65-F5344CB8AC3E}">
        <p14:creationId xmlns:p14="http://schemas.microsoft.com/office/powerpoint/2010/main" val="2138430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1441829" y="-438149"/>
          <a:ext cx="8763000"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0659" name="Rectangle 2"/>
          <p:cNvSpPr>
            <a:spLocks noGrp="1" noChangeArrowheads="1"/>
          </p:cNvSpPr>
          <p:nvPr>
            <p:ph type="title"/>
          </p:nvPr>
        </p:nvSpPr>
        <p:spPr bwMode="auto">
          <a:xfrm>
            <a:off x="1104900" y="418936"/>
            <a:ext cx="8077200" cy="639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eaLnBrk="1" hangingPunct="1"/>
            <a:r>
              <a:rPr lang="en-US" altLang="en-US" sz="4000" b="1" dirty="0">
                <a:solidFill>
                  <a:srgbClr val="006600"/>
                </a:solidFill>
              </a:rPr>
              <a:t>When We could cut WELL COST</a:t>
            </a:r>
          </a:p>
        </p:txBody>
      </p:sp>
      <p:sp>
        <p:nvSpPr>
          <p:cNvPr id="4" name="Rectangle 3"/>
          <p:cNvSpPr/>
          <p:nvPr/>
        </p:nvSpPr>
        <p:spPr>
          <a:xfrm>
            <a:off x="1847850" y="1269242"/>
            <a:ext cx="4343400" cy="2007359"/>
          </a:xfrm>
          <a:prstGeom prst="rect">
            <a:avLst/>
          </a:prstGeom>
          <a:solidFill>
            <a:srgbClr val="006600">
              <a:alpha val="20000"/>
            </a:srgbClr>
          </a:solidFill>
          <a:ln w="50800">
            <a:solidFill>
              <a:srgbClr val="FFFF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5" name="Table 4"/>
          <p:cNvGraphicFramePr>
            <a:graphicFrameLocks noGrp="1"/>
          </p:cNvGraphicFramePr>
          <p:nvPr/>
        </p:nvGraphicFramePr>
        <p:xfrm>
          <a:off x="1600200" y="3402014"/>
          <a:ext cx="7086600" cy="3292475"/>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184964048"/>
                    </a:ext>
                  </a:extLst>
                </a:gridCol>
                <a:gridCol w="2362200">
                  <a:extLst>
                    <a:ext uri="{9D8B030D-6E8A-4147-A177-3AD203B41FA5}">
                      <a16:colId xmlns:a16="http://schemas.microsoft.com/office/drawing/2014/main" val="1224706204"/>
                    </a:ext>
                  </a:extLst>
                </a:gridCol>
                <a:gridCol w="2362200">
                  <a:extLst>
                    <a:ext uri="{9D8B030D-6E8A-4147-A177-3AD203B41FA5}">
                      <a16:colId xmlns:a16="http://schemas.microsoft.com/office/drawing/2014/main" val="4267542831"/>
                    </a:ext>
                  </a:extLst>
                </a:gridCol>
              </a:tblGrid>
              <a:tr h="3292475">
                <a:tc>
                  <a:txBody>
                    <a:bodyPr/>
                    <a:lstStyle/>
                    <a:p>
                      <a:pPr marL="285750" indent="-285750">
                        <a:buFont typeface="Arial" panose="020B0604020202020204" pitchFamily="34" charset="0"/>
                        <a:buChar char="•"/>
                      </a:pPr>
                      <a:r>
                        <a:rPr lang="en-US" sz="1400" b="0" dirty="0">
                          <a:solidFill>
                            <a:srgbClr val="FFFF00"/>
                          </a:solidFill>
                        </a:rPr>
                        <a:t>Surface</a:t>
                      </a:r>
                      <a:r>
                        <a:rPr lang="en-US" sz="1400" b="0" baseline="0" dirty="0">
                          <a:solidFill>
                            <a:srgbClr val="FFFF00"/>
                          </a:solidFill>
                        </a:rPr>
                        <a:t> location</a:t>
                      </a:r>
                    </a:p>
                    <a:p>
                      <a:pPr marL="285750" indent="-285750">
                        <a:buFont typeface="Arial" panose="020B0604020202020204" pitchFamily="34" charset="0"/>
                        <a:buChar char="•"/>
                      </a:pPr>
                      <a:r>
                        <a:rPr lang="en-US" sz="1400" b="0" baseline="0" dirty="0">
                          <a:solidFill>
                            <a:srgbClr val="FFFF00"/>
                          </a:solidFill>
                        </a:rPr>
                        <a:t>Well TD</a:t>
                      </a:r>
                    </a:p>
                    <a:p>
                      <a:pPr marL="285750" indent="-285750">
                        <a:buFont typeface="Arial" panose="020B0604020202020204" pitchFamily="34" charset="0"/>
                        <a:buChar char="•"/>
                      </a:pPr>
                      <a:r>
                        <a:rPr lang="en-US" sz="1400" b="0" baseline="0" dirty="0">
                          <a:solidFill>
                            <a:srgbClr val="FFFF00"/>
                          </a:solidFill>
                        </a:rPr>
                        <a:t>Casing Depth</a:t>
                      </a:r>
                    </a:p>
                    <a:p>
                      <a:pPr marL="285750" indent="-285750">
                        <a:buFont typeface="Arial" panose="020B0604020202020204" pitchFamily="34" charset="0"/>
                        <a:buChar char="•"/>
                      </a:pPr>
                      <a:r>
                        <a:rPr lang="en-US" sz="1400" b="0" baseline="0" dirty="0">
                          <a:solidFill>
                            <a:srgbClr val="FFFF00"/>
                          </a:solidFill>
                        </a:rPr>
                        <a:t>Wellhead &amp; BOP</a:t>
                      </a:r>
                    </a:p>
                    <a:p>
                      <a:pPr marL="285750" indent="-285750">
                        <a:buFont typeface="Arial" panose="020B0604020202020204" pitchFamily="34" charset="0"/>
                        <a:buChar char="•"/>
                      </a:pPr>
                      <a:r>
                        <a:rPr lang="en-US" sz="1400" b="0" baseline="0" dirty="0">
                          <a:solidFill>
                            <a:srgbClr val="FFFF00"/>
                          </a:solidFill>
                        </a:rPr>
                        <a:t>Drilling Program</a:t>
                      </a:r>
                    </a:p>
                    <a:p>
                      <a:pPr marL="285750" indent="-285750">
                        <a:buFont typeface="Arial" panose="020B0604020202020204" pitchFamily="34" charset="0"/>
                        <a:buChar char="•"/>
                      </a:pPr>
                      <a:r>
                        <a:rPr lang="en-US" sz="1400" b="0" baseline="0" dirty="0">
                          <a:solidFill>
                            <a:srgbClr val="FFFF00"/>
                          </a:solidFill>
                        </a:rPr>
                        <a:t>Drilling Risk assessment</a:t>
                      </a:r>
                    </a:p>
                    <a:p>
                      <a:pPr marL="285750" indent="-285750">
                        <a:buFont typeface="Arial" panose="020B0604020202020204" pitchFamily="34" charset="0"/>
                        <a:buChar char="•"/>
                      </a:pPr>
                      <a:r>
                        <a:rPr lang="en-US" sz="1400" b="0" baseline="0" dirty="0">
                          <a:solidFill>
                            <a:srgbClr val="FFFF00"/>
                          </a:solidFill>
                        </a:rPr>
                        <a:t>BHA failure study</a:t>
                      </a:r>
                    </a:p>
                    <a:p>
                      <a:pPr marL="285750" indent="-285750">
                        <a:buFont typeface="Arial" panose="020B0604020202020204" pitchFamily="34" charset="0"/>
                        <a:buChar char="•"/>
                      </a:pPr>
                      <a:r>
                        <a:rPr lang="en-US" sz="1400" b="0" baseline="0" dirty="0">
                          <a:solidFill>
                            <a:srgbClr val="FFFF00"/>
                          </a:solidFill>
                        </a:rPr>
                        <a:t>Bit selection study</a:t>
                      </a:r>
                    </a:p>
                    <a:p>
                      <a:pPr marL="285750" indent="-285750">
                        <a:buFont typeface="Arial" panose="020B0604020202020204" pitchFamily="34" charset="0"/>
                        <a:buChar char="•"/>
                      </a:pPr>
                      <a:r>
                        <a:rPr lang="en-US" sz="1400" b="0" baseline="0" dirty="0">
                          <a:solidFill>
                            <a:srgbClr val="FFFF00"/>
                          </a:solidFill>
                        </a:rPr>
                        <a:t>Contingency Plan</a:t>
                      </a:r>
                    </a:p>
                    <a:p>
                      <a:pPr marL="285750" indent="-285750">
                        <a:buFont typeface="Arial" panose="020B0604020202020204" pitchFamily="34" charset="0"/>
                        <a:buChar char="•"/>
                      </a:pPr>
                      <a:r>
                        <a:rPr lang="en-US" sz="1400" b="0" baseline="0" dirty="0">
                          <a:solidFill>
                            <a:srgbClr val="FFFF00"/>
                          </a:solidFill>
                        </a:rPr>
                        <a:t>HSE bridging document</a:t>
                      </a:r>
                    </a:p>
                    <a:p>
                      <a:pPr marL="285750" indent="-285750">
                        <a:buFont typeface="Arial" panose="020B0604020202020204" pitchFamily="34" charset="0"/>
                        <a:buChar char="•"/>
                      </a:pPr>
                      <a:r>
                        <a:rPr lang="en-US" sz="1400" b="0" dirty="0">
                          <a:solidFill>
                            <a:srgbClr val="FFFF00"/>
                          </a:solidFill>
                        </a:rPr>
                        <a:t>ERP</a:t>
                      </a:r>
                    </a:p>
                    <a:p>
                      <a:pPr marL="285750" indent="-285750">
                        <a:buFont typeface="Arial" panose="020B0604020202020204" pitchFamily="34" charset="0"/>
                        <a:buChar char="•"/>
                      </a:pPr>
                      <a:r>
                        <a:rPr lang="en-US" sz="1400" b="0" dirty="0">
                          <a:solidFill>
                            <a:srgbClr val="FFFF00"/>
                          </a:solidFill>
                        </a:rPr>
                        <a:t>Drilling Cost Guide</a:t>
                      </a:r>
                    </a:p>
                    <a:p>
                      <a:pPr marL="285750" indent="-285750">
                        <a:buFont typeface="Arial" panose="020B0604020202020204" pitchFamily="34" charset="0"/>
                        <a:buChar char="•"/>
                      </a:pPr>
                      <a:r>
                        <a:rPr lang="en-US" sz="1400" b="0" dirty="0">
                          <a:solidFill>
                            <a:srgbClr val="FFFF00"/>
                          </a:solidFill>
                        </a:rPr>
                        <a:t>DDR format</a:t>
                      </a:r>
                    </a:p>
                    <a:p>
                      <a:pPr marL="285750" indent="-285750">
                        <a:buFont typeface="Arial" panose="020B0604020202020204" pitchFamily="34" charset="0"/>
                        <a:buChar char="•"/>
                      </a:pPr>
                      <a:r>
                        <a:rPr lang="en-US" sz="1400" b="0" dirty="0">
                          <a:solidFill>
                            <a:srgbClr val="FFFF00"/>
                          </a:solidFill>
                        </a:rPr>
                        <a:t>Pre Spud meeting</a:t>
                      </a:r>
                    </a:p>
                  </a:txBody>
                  <a:tcPr marT="45729" marB="45729">
                    <a:solidFill>
                      <a:srgbClr val="002060"/>
                    </a:solidFill>
                  </a:tcPr>
                </a:tc>
                <a:tc>
                  <a:txBody>
                    <a:bodyPr/>
                    <a:lstStyle/>
                    <a:p>
                      <a:pPr marL="285750" indent="-285750">
                        <a:buFont typeface="Arial" panose="020B0604020202020204" pitchFamily="34" charset="0"/>
                        <a:buChar char="•"/>
                      </a:pPr>
                      <a:r>
                        <a:rPr lang="en-US" sz="1400" b="0" dirty="0">
                          <a:solidFill>
                            <a:srgbClr val="FFFF00"/>
                          </a:solidFill>
                        </a:rPr>
                        <a:t>Drilling Service and Procurement List</a:t>
                      </a:r>
                    </a:p>
                    <a:p>
                      <a:pPr marL="285750" indent="-285750">
                        <a:buFont typeface="Arial" panose="020B0604020202020204" pitchFamily="34" charset="0"/>
                        <a:buChar char="•"/>
                      </a:pPr>
                      <a:r>
                        <a:rPr lang="en-US" sz="1400" b="0" dirty="0">
                          <a:solidFill>
                            <a:srgbClr val="FFFF00"/>
                          </a:solidFill>
                        </a:rPr>
                        <a:t>Market</a:t>
                      </a:r>
                      <a:r>
                        <a:rPr lang="en-US" sz="1400" b="0" baseline="0" dirty="0">
                          <a:solidFill>
                            <a:srgbClr val="FFFF00"/>
                          </a:solidFill>
                        </a:rPr>
                        <a:t> survey</a:t>
                      </a:r>
                    </a:p>
                    <a:p>
                      <a:pPr marL="285750" indent="-285750">
                        <a:buFont typeface="Arial" panose="020B0604020202020204" pitchFamily="34" charset="0"/>
                        <a:buChar char="•"/>
                      </a:pPr>
                      <a:r>
                        <a:rPr lang="en-US" sz="1400" b="0" baseline="0" dirty="0">
                          <a:solidFill>
                            <a:srgbClr val="FFFF00"/>
                          </a:solidFill>
                        </a:rPr>
                        <a:t>Remuneration Table</a:t>
                      </a:r>
                    </a:p>
                    <a:p>
                      <a:pPr marL="285750" indent="-285750">
                        <a:buFont typeface="Arial" panose="020B0604020202020204" pitchFamily="34" charset="0"/>
                        <a:buChar char="•"/>
                      </a:pPr>
                      <a:r>
                        <a:rPr lang="en-US" sz="1400" b="0" baseline="0" dirty="0">
                          <a:solidFill>
                            <a:srgbClr val="FFFF00"/>
                          </a:solidFill>
                        </a:rPr>
                        <a:t>Vendor List</a:t>
                      </a:r>
                    </a:p>
                    <a:p>
                      <a:pPr marL="285750" indent="-285750">
                        <a:buFont typeface="Arial" panose="020B0604020202020204" pitchFamily="34" charset="0"/>
                        <a:buChar char="•"/>
                      </a:pPr>
                      <a:r>
                        <a:rPr lang="en-US" sz="1400" b="0" baseline="0" dirty="0">
                          <a:solidFill>
                            <a:srgbClr val="FFFF00"/>
                          </a:solidFill>
                        </a:rPr>
                        <a:t>SOW</a:t>
                      </a:r>
                    </a:p>
                    <a:p>
                      <a:pPr marL="285750" indent="-285750">
                        <a:buFont typeface="Arial" panose="020B0604020202020204" pitchFamily="34" charset="0"/>
                        <a:buChar char="•"/>
                      </a:pPr>
                      <a:r>
                        <a:rPr lang="en-US" sz="1400" b="0" baseline="0" dirty="0">
                          <a:solidFill>
                            <a:srgbClr val="FFFF00"/>
                          </a:solidFill>
                        </a:rPr>
                        <a:t>Tender priority rank</a:t>
                      </a:r>
                    </a:p>
                    <a:p>
                      <a:pPr marL="285750" indent="-285750">
                        <a:buFont typeface="Arial" panose="020B0604020202020204" pitchFamily="34" charset="0"/>
                        <a:buChar char="•"/>
                      </a:pPr>
                      <a:r>
                        <a:rPr lang="en-US" sz="1400" b="0" baseline="0" dirty="0">
                          <a:solidFill>
                            <a:srgbClr val="FFFF00"/>
                          </a:solidFill>
                        </a:rPr>
                        <a:t>General Services</a:t>
                      </a:r>
                    </a:p>
                    <a:p>
                      <a:pPr marL="285750" indent="-285750">
                        <a:buFont typeface="Arial" panose="020B0604020202020204" pitchFamily="34" charset="0"/>
                        <a:buChar char="•"/>
                      </a:pPr>
                      <a:r>
                        <a:rPr lang="en-US" sz="1400" b="0" baseline="0" dirty="0">
                          <a:solidFill>
                            <a:srgbClr val="FFFF00"/>
                          </a:solidFill>
                        </a:rPr>
                        <a:t>Identify problem on procurement process</a:t>
                      </a:r>
                    </a:p>
                    <a:p>
                      <a:pPr marL="285750" indent="-285750">
                        <a:buFont typeface="Arial" panose="020B0604020202020204" pitchFamily="34" charset="0"/>
                        <a:buChar char="•"/>
                      </a:pPr>
                      <a:r>
                        <a:rPr lang="en-US" sz="1400" b="0" baseline="0" dirty="0">
                          <a:solidFill>
                            <a:srgbClr val="FFFF00"/>
                          </a:solidFill>
                        </a:rPr>
                        <a:t>Local Hire</a:t>
                      </a:r>
                    </a:p>
                    <a:p>
                      <a:pPr marL="285750" indent="-285750">
                        <a:buFont typeface="Arial" panose="020B0604020202020204" pitchFamily="34" charset="0"/>
                        <a:buChar char="•"/>
                      </a:pPr>
                      <a:r>
                        <a:rPr lang="en-US" sz="1400" b="0" baseline="0" dirty="0">
                          <a:solidFill>
                            <a:srgbClr val="FFFF00"/>
                          </a:solidFill>
                        </a:rPr>
                        <a:t>Local Content Regulation</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baseline="0" dirty="0">
                          <a:solidFill>
                            <a:srgbClr val="FFFF00"/>
                          </a:solidFill>
                        </a:rPr>
                        <a:t>Master List Facility</a:t>
                      </a:r>
                    </a:p>
                    <a:p>
                      <a:pPr marL="285750" indent="-285750">
                        <a:buFont typeface="Arial" panose="020B0604020202020204" pitchFamily="34" charset="0"/>
                        <a:buChar char="•"/>
                      </a:pPr>
                      <a:endParaRPr lang="en-US" sz="1400" b="0" dirty="0">
                        <a:solidFill>
                          <a:srgbClr val="FFFF00"/>
                        </a:solidFill>
                      </a:endParaRPr>
                    </a:p>
                  </a:txBody>
                  <a:tcPr marT="45729" marB="45729">
                    <a:solidFill>
                      <a:srgbClr val="0070C0"/>
                    </a:solidFill>
                  </a:tcPr>
                </a:tc>
                <a:tc>
                  <a:txBody>
                    <a:bodyPr/>
                    <a:lstStyle/>
                    <a:p>
                      <a:pPr marL="285750" indent="-285750">
                        <a:buFont typeface="Arial" panose="020B0604020202020204" pitchFamily="34" charset="0"/>
                        <a:buChar char="•"/>
                      </a:pPr>
                      <a:r>
                        <a:rPr lang="en-US" sz="1400" b="0" dirty="0">
                          <a:solidFill>
                            <a:srgbClr val="FFFF00"/>
                          </a:solidFill>
                        </a:rPr>
                        <a:t>Project schedule</a:t>
                      </a:r>
                    </a:p>
                    <a:p>
                      <a:pPr marL="285750" indent="-285750">
                        <a:buFont typeface="Arial" panose="020B0604020202020204" pitchFamily="34" charset="0"/>
                        <a:buChar char="•"/>
                      </a:pPr>
                      <a:r>
                        <a:rPr lang="en-US" sz="1400" b="0" dirty="0">
                          <a:solidFill>
                            <a:srgbClr val="FFFF00"/>
                          </a:solidFill>
                        </a:rPr>
                        <a:t>Instruction to deliver</a:t>
                      </a:r>
                    </a:p>
                    <a:p>
                      <a:pPr marL="285750" indent="-285750">
                        <a:buFont typeface="Arial" panose="020B0604020202020204" pitchFamily="34" charset="0"/>
                        <a:buChar char="•"/>
                      </a:pPr>
                      <a:r>
                        <a:rPr lang="en-US" sz="1400" b="0" dirty="0">
                          <a:solidFill>
                            <a:srgbClr val="FFFF00"/>
                          </a:solidFill>
                        </a:rPr>
                        <a:t>Personnel mobilization</a:t>
                      </a:r>
                    </a:p>
                    <a:p>
                      <a:pPr marL="285750" indent="-285750">
                        <a:buFont typeface="Arial" panose="020B0604020202020204" pitchFamily="34" charset="0"/>
                        <a:buChar char="•"/>
                      </a:pPr>
                      <a:r>
                        <a:rPr lang="en-US" sz="1400" b="0" dirty="0">
                          <a:solidFill>
                            <a:srgbClr val="FFFF00"/>
                          </a:solidFill>
                        </a:rPr>
                        <a:t>Pre-install conductor</a:t>
                      </a:r>
                    </a:p>
                    <a:p>
                      <a:pPr marL="285750" indent="-285750">
                        <a:buFont typeface="Arial" panose="020B0604020202020204" pitchFamily="34" charset="0"/>
                        <a:buChar char="•"/>
                      </a:pPr>
                      <a:r>
                        <a:rPr lang="en-US" sz="1400" b="0" dirty="0">
                          <a:solidFill>
                            <a:srgbClr val="FFFF00"/>
                          </a:solidFill>
                        </a:rPr>
                        <a:t>Pre-weld wellhead</a:t>
                      </a:r>
                    </a:p>
                    <a:p>
                      <a:pPr marL="285750" indent="-285750">
                        <a:buFont typeface="Arial" panose="020B0604020202020204" pitchFamily="34" charset="0"/>
                        <a:buChar char="•"/>
                      </a:pPr>
                      <a:r>
                        <a:rPr lang="en-US" sz="1400" b="0" dirty="0">
                          <a:solidFill>
                            <a:srgbClr val="FFFF00"/>
                          </a:solidFill>
                        </a:rPr>
                        <a:t>Rig Mobilization</a:t>
                      </a:r>
                    </a:p>
                    <a:p>
                      <a:pPr marL="285750" indent="-285750">
                        <a:buFont typeface="Arial" panose="020B0604020202020204" pitchFamily="34" charset="0"/>
                        <a:buChar char="•"/>
                      </a:pPr>
                      <a:r>
                        <a:rPr lang="en-US" sz="1400" b="0" dirty="0">
                          <a:solidFill>
                            <a:srgbClr val="FFFF00"/>
                          </a:solidFill>
                        </a:rPr>
                        <a:t>Rig flat</a:t>
                      </a:r>
                      <a:r>
                        <a:rPr lang="en-US" sz="1400" b="0" baseline="0" dirty="0">
                          <a:solidFill>
                            <a:srgbClr val="FFFF00"/>
                          </a:solidFill>
                        </a:rPr>
                        <a:t> time</a:t>
                      </a:r>
                    </a:p>
                    <a:p>
                      <a:pPr marL="285750" indent="-285750">
                        <a:buFont typeface="Arial" panose="020B0604020202020204" pitchFamily="34" charset="0"/>
                        <a:buChar char="•"/>
                      </a:pPr>
                      <a:r>
                        <a:rPr lang="en-US" sz="1400" b="0" baseline="0" dirty="0">
                          <a:solidFill>
                            <a:srgbClr val="FFFF00"/>
                          </a:solidFill>
                        </a:rPr>
                        <a:t>ROP enhancement</a:t>
                      </a:r>
                    </a:p>
                    <a:p>
                      <a:pPr marL="285750" indent="-285750">
                        <a:buFont typeface="Arial" panose="020B0604020202020204" pitchFamily="34" charset="0"/>
                        <a:buChar char="•"/>
                      </a:pPr>
                      <a:r>
                        <a:rPr lang="en-US" sz="1400" b="0" baseline="0" dirty="0">
                          <a:solidFill>
                            <a:srgbClr val="FFFF00"/>
                          </a:solidFill>
                        </a:rPr>
                        <a:t>Drilling Parameters optimization</a:t>
                      </a:r>
                    </a:p>
                    <a:p>
                      <a:pPr marL="285750" indent="-285750">
                        <a:buFont typeface="Arial" panose="020B0604020202020204" pitchFamily="34" charset="0"/>
                        <a:buChar char="•"/>
                      </a:pPr>
                      <a:r>
                        <a:rPr lang="en-US" sz="1400" b="0" baseline="0" dirty="0">
                          <a:solidFill>
                            <a:srgbClr val="FFFF00"/>
                          </a:solidFill>
                        </a:rPr>
                        <a:t>Simultaneous Operation</a:t>
                      </a:r>
                    </a:p>
                    <a:p>
                      <a:pPr marL="285750" indent="-285750">
                        <a:buFont typeface="Arial" panose="020B0604020202020204" pitchFamily="34" charset="0"/>
                        <a:buChar char="•"/>
                      </a:pPr>
                      <a:r>
                        <a:rPr lang="en-US" sz="1400" b="0" baseline="0" dirty="0">
                          <a:solidFill>
                            <a:srgbClr val="FFFF00"/>
                          </a:solidFill>
                        </a:rPr>
                        <a:t>Do offline job</a:t>
                      </a:r>
                    </a:p>
                    <a:p>
                      <a:pPr marL="285750" indent="-285750">
                        <a:buFont typeface="Arial" panose="020B0604020202020204" pitchFamily="34" charset="0"/>
                        <a:buChar char="•"/>
                      </a:pPr>
                      <a:endParaRPr lang="en-US" sz="1400" b="0" baseline="0" dirty="0">
                        <a:solidFill>
                          <a:srgbClr val="FFFF00"/>
                        </a:solidFill>
                      </a:endParaRPr>
                    </a:p>
                    <a:p>
                      <a:pPr marL="285750" indent="-285750">
                        <a:buFont typeface="Arial" panose="020B0604020202020204" pitchFamily="34" charset="0"/>
                        <a:buChar char="•"/>
                      </a:pPr>
                      <a:endParaRPr lang="en-US" sz="1400" b="0" dirty="0">
                        <a:solidFill>
                          <a:srgbClr val="FFFF00"/>
                        </a:solidFill>
                      </a:endParaRPr>
                    </a:p>
                  </a:txBody>
                  <a:tcPr marT="45729" marB="45729">
                    <a:solidFill>
                      <a:srgbClr val="00B0F0"/>
                    </a:solidFill>
                  </a:tcPr>
                </a:tc>
                <a:extLst>
                  <a:ext uri="{0D108BD9-81ED-4DB2-BD59-A6C34878D82A}">
                    <a16:rowId xmlns:a16="http://schemas.microsoft.com/office/drawing/2014/main" val="2950953997"/>
                  </a:ext>
                </a:extLst>
              </a:tr>
            </a:tbl>
          </a:graphicData>
        </a:graphic>
      </p:graphicFrame>
      <p:pic>
        <p:nvPicPr>
          <p:cNvPr id="70671" name="Picture 5"/>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bwMode="auto">
          <a:xfrm>
            <a:off x="8705850" y="3406776"/>
            <a:ext cx="196215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2" name="Picture 6"/>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bwMode="auto">
          <a:xfrm>
            <a:off x="8705850" y="4743450"/>
            <a:ext cx="196215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223332" y="418936"/>
            <a:ext cx="613593" cy="559681"/>
          </a:xfrm>
          <a:prstGeom prst="rect">
            <a:avLst/>
          </a:prstGeom>
        </p:spPr>
      </p:pic>
    </p:spTree>
    <p:extLst>
      <p:ext uri="{BB962C8B-B14F-4D97-AF65-F5344CB8AC3E}">
        <p14:creationId xmlns:p14="http://schemas.microsoft.com/office/powerpoint/2010/main" val="20841751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10972800" cy="1066800"/>
          </a:xfrm>
        </p:spPr>
        <p:txBody>
          <a:bodyPr>
            <a:normAutofit/>
          </a:bodyPr>
          <a:lstStyle/>
          <a:p>
            <a:r>
              <a:rPr lang="en-US" sz="4000" b="1" dirty="0">
                <a:solidFill>
                  <a:srgbClr val="C00000"/>
                </a:solidFill>
              </a:rPr>
              <a:t>Drilling Cost Saving Initiative</a:t>
            </a:r>
          </a:p>
        </p:txBody>
      </p:sp>
      <p:graphicFrame>
        <p:nvGraphicFramePr>
          <p:cNvPr id="5" name="Diagram 4"/>
          <p:cNvGraphicFramePr/>
          <p:nvPr>
            <p:extLst>
              <p:ext uri="{D42A27DB-BD31-4B8C-83A1-F6EECF244321}">
                <p14:modId xmlns:p14="http://schemas.microsoft.com/office/powerpoint/2010/main" val="2893915429"/>
              </p:ext>
            </p:extLst>
          </p:nvPr>
        </p:nvGraphicFramePr>
        <p:xfrm>
          <a:off x="381000" y="1245363"/>
          <a:ext cx="11582400" cy="160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777561553"/>
              </p:ext>
            </p:extLst>
          </p:nvPr>
        </p:nvGraphicFramePr>
        <p:xfrm>
          <a:off x="396240" y="2921763"/>
          <a:ext cx="4058920" cy="3749040"/>
        </p:xfrm>
        <a:graphic>
          <a:graphicData uri="http://schemas.openxmlformats.org/drawingml/2006/table">
            <a:tbl>
              <a:tblPr firstRow="1" bandRow="1">
                <a:effectLst>
                  <a:outerShdw blurRad="50800" dist="38100" dir="18900000" algn="bl" rotWithShape="0">
                    <a:prstClr val="black">
                      <a:alpha val="40000"/>
                    </a:prstClr>
                  </a:outerShdw>
                </a:effectLst>
                <a:tableStyleId>{5C22544A-7EE6-4342-B048-85BDC9FD1C3A}</a:tableStyleId>
              </a:tblPr>
              <a:tblGrid>
                <a:gridCol w="4058920">
                  <a:extLst>
                    <a:ext uri="{9D8B030D-6E8A-4147-A177-3AD203B41FA5}">
                      <a16:colId xmlns:a16="http://schemas.microsoft.com/office/drawing/2014/main" val="4087001804"/>
                    </a:ext>
                  </a:extLst>
                </a:gridCol>
              </a:tblGrid>
              <a:tr h="3733800">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dirty="0">
                          <a:solidFill>
                            <a:srgbClr val="FFFF00"/>
                          </a:solidFill>
                          <a:latin typeface="Times New Roman" panose="02020603050405020304" pitchFamily="18" charset="0"/>
                          <a:cs typeface="Arial" panose="020B0604020202020204" pitchFamily="34" charset="0"/>
                          <a:sym typeface="Wingdings" panose="05000000000000000000" pitchFamily="2" charset="2"/>
                        </a:rPr>
                        <a:t>Optimize well TD refer to Feed Zone</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Procurement strategy for Drilling Material and Services</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dirty="0">
                          <a:solidFill>
                            <a:srgbClr val="FFFF00"/>
                          </a:solidFill>
                          <a:latin typeface="Times New Roman" panose="02020603050405020304" pitchFamily="18" charset="0"/>
                          <a:cs typeface="Arial" panose="020B0604020202020204" pitchFamily="34" charset="0"/>
                          <a:sym typeface="Wingdings" panose="05000000000000000000" pitchFamily="2" charset="2"/>
                        </a:rPr>
                        <a:t>Proper drilling</a:t>
                      </a: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 rig selection </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Proper Casing Specification: Connection, sources</a:t>
                      </a:r>
                      <a:endParaRPr lang="en-US" altLang="en-US" sz="1600" dirty="0">
                        <a:solidFill>
                          <a:srgbClr val="FFFF00"/>
                        </a:solidFill>
                        <a:latin typeface="Times New Roman" panose="02020603050405020304" pitchFamily="18" charset="0"/>
                        <a:cs typeface="Arial" panose="020B0604020202020204" pitchFamily="34" charset="0"/>
                        <a:sym typeface="Wingdings" panose="05000000000000000000" pitchFamily="2" charset="2"/>
                      </a:endParaRP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dirty="0">
                          <a:solidFill>
                            <a:srgbClr val="FFFF00"/>
                          </a:solidFill>
                          <a:latin typeface="Times New Roman" panose="02020603050405020304" pitchFamily="18" charset="0"/>
                          <a:cs typeface="Arial" panose="020B0604020202020204" pitchFamily="34" charset="0"/>
                          <a:sym typeface="Wingdings" panose="05000000000000000000" pitchFamily="2" charset="2"/>
                        </a:rPr>
                        <a:t>Cement</a:t>
                      </a: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 Optimization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BHA Optimization for Hard Drilling</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New Technology Drilling Bit</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Wellhead connection type</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Well Pad location and design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Optimum Water Supply design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Stuck pipe recovery technic</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Mob/</a:t>
                      </a:r>
                      <a:r>
                        <a:rPr lang="en-US" sz="1600" baseline="0" dirty="0" err="1">
                          <a:solidFill>
                            <a:srgbClr val="FFFF00"/>
                          </a:solidFill>
                          <a:latin typeface="Times New Roman" panose="02020603050405020304" pitchFamily="18" charset="0"/>
                          <a:cs typeface="Arial" panose="020B0604020202020204" pitchFamily="34" charset="0"/>
                          <a:sym typeface="Wingdings" panose="05000000000000000000" pitchFamily="2" charset="2"/>
                        </a:rPr>
                        <a:t>Demob</a:t>
                      </a:r>
                      <a:r>
                        <a:rPr 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 strategy</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baseline="0" dirty="0">
                          <a:solidFill>
                            <a:srgbClr val="FFFF00"/>
                          </a:solidFill>
                          <a:latin typeface="Times New Roman" panose="02020603050405020304" pitchFamily="18" charset="0"/>
                          <a:cs typeface="Arial" panose="020B0604020202020204" pitchFamily="34" charset="0"/>
                          <a:sym typeface="Wingdings" panose="05000000000000000000" pitchFamily="2" charset="2"/>
                        </a:rPr>
                        <a:t>Purchase Rig Option</a:t>
                      </a:r>
                      <a:endParaRPr lang="en-US" sz="1600" dirty="0">
                        <a:solidFill>
                          <a:srgbClr val="FFFF00"/>
                        </a:solidFill>
                      </a:endParaRPr>
                    </a:p>
                  </a:txBody>
                  <a:tcPr/>
                </a:tc>
                <a:extLst>
                  <a:ext uri="{0D108BD9-81ED-4DB2-BD59-A6C34878D82A}">
                    <a16:rowId xmlns:a16="http://schemas.microsoft.com/office/drawing/2014/main" val="1674850166"/>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194004506"/>
              </p:ext>
            </p:extLst>
          </p:nvPr>
        </p:nvGraphicFramePr>
        <p:xfrm>
          <a:off x="4648200" y="2921763"/>
          <a:ext cx="4089400" cy="3124200"/>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4089400">
                  <a:extLst>
                    <a:ext uri="{9D8B030D-6E8A-4147-A177-3AD203B41FA5}">
                      <a16:colId xmlns:a16="http://schemas.microsoft.com/office/drawing/2014/main" val="4087001804"/>
                    </a:ext>
                  </a:extLst>
                </a:gridCol>
              </a:tblGrid>
              <a:tr h="3124200">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800" dirty="0">
                          <a:solidFill>
                            <a:schemeClr val="tx1"/>
                          </a:solidFill>
                          <a:latin typeface="Times New Roman" panose="02020603050405020304" pitchFamily="18" charset="0"/>
                          <a:cs typeface="Arial" panose="020B0604020202020204" pitchFamily="34" charset="0"/>
                          <a:sym typeface="Wingdings" panose="05000000000000000000" pitchFamily="2" charset="2"/>
                        </a:rPr>
                        <a:t>Rig inspection  reduce NPT</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dirty="0">
                          <a:solidFill>
                            <a:schemeClr val="tx1"/>
                          </a:solidFill>
                          <a:latin typeface="Times New Roman" panose="02020603050405020304" pitchFamily="18" charset="0"/>
                          <a:cs typeface="Arial" panose="020B0604020202020204" pitchFamily="34" charset="0"/>
                          <a:sym typeface="Wingdings" panose="05000000000000000000" pitchFamily="2" charset="2"/>
                        </a:rPr>
                        <a:t>Do offline job</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dirty="0">
                          <a:solidFill>
                            <a:schemeClr val="tx1"/>
                          </a:solidFill>
                          <a:latin typeface="Times New Roman" panose="02020603050405020304" pitchFamily="18" charset="0"/>
                          <a:cs typeface="Arial" panose="020B0604020202020204" pitchFamily="34" charset="0"/>
                          <a:sym typeface="Wingdings" panose="05000000000000000000" pitchFamily="2" charset="2"/>
                        </a:rPr>
                        <a:t>Faster Pipe handling</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dirty="0">
                          <a:solidFill>
                            <a:schemeClr val="tx1"/>
                          </a:solidFill>
                          <a:latin typeface="Times New Roman" panose="02020603050405020304" pitchFamily="18" charset="0"/>
                          <a:cs typeface="Arial" panose="020B0604020202020204" pitchFamily="34" charset="0"/>
                          <a:sym typeface="Wingdings" panose="05000000000000000000" pitchFamily="2" charset="2"/>
                        </a:rPr>
                        <a:t>Stuck pipe prevention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dirty="0">
                          <a:solidFill>
                            <a:schemeClr val="tx1"/>
                          </a:solidFill>
                          <a:latin typeface="Times New Roman" panose="02020603050405020304" pitchFamily="18" charset="0"/>
                          <a:cs typeface="Arial" panose="020B0604020202020204" pitchFamily="34" charset="0"/>
                          <a:sym typeface="Wingdings" panose="05000000000000000000" pitchFamily="2" charset="2"/>
                        </a:rPr>
                        <a:t>Optimize</a:t>
                      </a:r>
                      <a:r>
                        <a:rPr lang="en-US" sz="1800" baseline="0" dirty="0">
                          <a:solidFill>
                            <a:schemeClr val="tx1"/>
                          </a:solidFill>
                          <a:latin typeface="Times New Roman" panose="02020603050405020304" pitchFamily="18" charset="0"/>
                          <a:cs typeface="Arial" panose="020B0604020202020204" pitchFamily="34" charset="0"/>
                          <a:sym typeface="Wingdings" panose="05000000000000000000" pitchFamily="2" charset="2"/>
                        </a:rPr>
                        <a:t> on hire and off hire date</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aseline="0" dirty="0">
                          <a:solidFill>
                            <a:schemeClr val="tx1"/>
                          </a:solidFill>
                          <a:latin typeface="Times New Roman" panose="02020603050405020304" pitchFamily="18" charset="0"/>
                          <a:cs typeface="Arial" panose="020B0604020202020204" pitchFamily="34" charset="0"/>
                          <a:sym typeface="Wingdings" panose="05000000000000000000" pitchFamily="2" charset="2"/>
                        </a:rPr>
                        <a:t>Efficient on Drilling material usage.</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aseline="0" dirty="0">
                          <a:solidFill>
                            <a:schemeClr val="tx1"/>
                          </a:solidFill>
                          <a:latin typeface="Times New Roman" panose="02020603050405020304" pitchFamily="18" charset="0"/>
                          <a:cs typeface="Arial" panose="020B0604020202020204" pitchFamily="34" charset="0"/>
                          <a:sym typeface="Wingdings" panose="05000000000000000000" pitchFamily="2" charset="2"/>
                        </a:rPr>
                        <a:t>Tight HSE policy</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aseline="0" dirty="0">
                          <a:solidFill>
                            <a:schemeClr val="tx1"/>
                          </a:solidFill>
                          <a:latin typeface="Times New Roman" panose="02020603050405020304" pitchFamily="18" charset="0"/>
                          <a:cs typeface="Arial" panose="020B0604020202020204" pitchFamily="34" charset="0"/>
                          <a:sym typeface="Wingdings" panose="05000000000000000000" pitchFamily="2" charset="2"/>
                        </a:rPr>
                        <a:t>Prevent from damaging environment </a:t>
                      </a:r>
                      <a:endParaRPr lang="en-US" dirty="0">
                        <a:solidFill>
                          <a:schemeClr val="tx1"/>
                        </a:solidFill>
                      </a:endParaRPr>
                    </a:p>
                  </a:txBody>
                  <a:tcPr>
                    <a:solidFill>
                      <a:srgbClr val="FFC000"/>
                    </a:solidFill>
                  </a:tcPr>
                </a:tc>
                <a:extLst>
                  <a:ext uri="{0D108BD9-81ED-4DB2-BD59-A6C34878D82A}">
                    <a16:rowId xmlns:a16="http://schemas.microsoft.com/office/drawing/2014/main" val="167485016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993805881"/>
              </p:ext>
            </p:extLst>
          </p:nvPr>
        </p:nvGraphicFramePr>
        <p:xfrm>
          <a:off x="8930640" y="2921763"/>
          <a:ext cx="3032760" cy="1188720"/>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3032760">
                  <a:extLst>
                    <a:ext uri="{9D8B030D-6E8A-4147-A177-3AD203B41FA5}">
                      <a16:colId xmlns:a16="http://schemas.microsoft.com/office/drawing/2014/main" val="4087001804"/>
                    </a:ext>
                  </a:extLst>
                </a:gridCol>
              </a:tblGrid>
              <a:tr h="1066800">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1800" dirty="0">
                          <a:solidFill>
                            <a:schemeClr val="tx1"/>
                          </a:solidFill>
                          <a:latin typeface="Times New Roman" panose="02020603050405020304" pitchFamily="18" charset="0"/>
                          <a:cs typeface="Arial" panose="020B0604020202020204" pitchFamily="34" charset="0"/>
                          <a:sym typeface="Wingdings" panose="05000000000000000000" pitchFamily="2" charset="2"/>
                        </a:rPr>
                        <a:t>Capture lesson learn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dirty="0">
                          <a:solidFill>
                            <a:schemeClr val="tx1"/>
                          </a:solidFill>
                          <a:latin typeface="Times New Roman" panose="02020603050405020304" pitchFamily="18" charset="0"/>
                          <a:cs typeface="Arial" panose="020B0604020202020204" pitchFamily="34" charset="0"/>
                          <a:sym typeface="Wingdings" panose="05000000000000000000" pitchFamily="2" charset="2"/>
                        </a:rPr>
                        <a:t>Tight</a:t>
                      </a:r>
                      <a:r>
                        <a:rPr lang="en-US" sz="1800" baseline="0" dirty="0">
                          <a:solidFill>
                            <a:schemeClr val="tx1"/>
                          </a:solidFill>
                          <a:latin typeface="Times New Roman" panose="02020603050405020304" pitchFamily="18" charset="0"/>
                          <a:cs typeface="Arial" panose="020B0604020202020204" pitchFamily="34" charset="0"/>
                          <a:sym typeface="Wingdings" panose="05000000000000000000" pitchFamily="2" charset="2"/>
                        </a:rPr>
                        <a:t> invoice checking</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aseline="0" dirty="0">
                          <a:solidFill>
                            <a:schemeClr val="tx1"/>
                          </a:solidFill>
                          <a:latin typeface="Times New Roman" panose="02020603050405020304" pitchFamily="18" charset="0"/>
                          <a:cs typeface="Arial" panose="020B0604020202020204" pitchFamily="34" charset="0"/>
                          <a:sym typeface="Wingdings" panose="05000000000000000000" pitchFamily="2" charset="2"/>
                        </a:rPr>
                        <a:t>Minimize warehouse space after drilling</a:t>
                      </a:r>
                    </a:p>
                  </a:txBody>
                  <a:tcPr>
                    <a:solidFill>
                      <a:srgbClr val="FFFF00"/>
                    </a:solidFill>
                  </a:tcPr>
                </a:tc>
                <a:extLst>
                  <a:ext uri="{0D108BD9-81ED-4DB2-BD59-A6C34878D82A}">
                    <a16:rowId xmlns:a16="http://schemas.microsoft.com/office/drawing/2014/main" val="1674850166"/>
                  </a:ext>
                </a:extLst>
              </a:tr>
            </a:tbl>
          </a:graphicData>
        </a:graphic>
      </p:graphicFrame>
      <p:pic>
        <p:nvPicPr>
          <p:cNvPr id="6" name="Picture 5"/>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84913" y="1936227"/>
            <a:ext cx="809767" cy="809767"/>
          </a:xfrm>
          <a:prstGeom prst="rect">
            <a:avLst/>
          </a:prstGeom>
        </p:spPr>
      </p:pic>
      <p:pic>
        <p:nvPicPr>
          <p:cNvPr id="12" name="Picture 11">
            <a:extLst>
              <a:ext uri="{FF2B5EF4-FFF2-40B4-BE49-F238E27FC236}">
                <a16:creationId xmlns:a16="http://schemas.microsoft.com/office/drawing/2014/main" id="{45755305-C063-4D55-B7CB-4249BCF444F3}"/>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893768" y="1936227"/>
            <a:ext cx="1052697" cy="809767"/>
          </a:xfrm>
          <a:prstGeom prst="rect">
            <a:avLst/>
          </a:prstGeom>
        </p:spPr>
      </p:pic>
    </p:spTree>
    <p:extLst>
      <p:ext uri="{BB962C8B-B14F-4D97-AF65-F5344CB8AC3E}">
        <p14:creationId xmlns:p14="http://schemas.microsoft.com/office/powerpoint/2010/main" val="1160385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9D285-7E4F-9C3D-25AD-876AF3508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C603B-EBA8-2486-4579-AEFDB3B2F95D}"/>
              </a:ext>
            </a:extLst>
          </p:cNvPr>
          <p:cNvSpPr>
            <a:spLocks noGrp="1"/>
          </p:cNvSpPr>
          <p:nvPr>
            <p:ph type="title"/>
          </p:nvPr>
        </p:nvSpPr>
        <p:spPr>
          <a:xfrm>
            <a:off x="244549" y="171637"/>
            <a:ext cx="11695814" cy="916499"/>
          </a:xfrm>
        </p:spPr>
        <p:txBody>
          <a:bodyPr>
            <a:normAutofit/>
          </a:bodyPr>
          <a:lstStyle/>
          <a:p>
            <a:r>
              <a:rPr lang="en-US" sz="3600" dirty="0">
                <a:solidFill>
                  <a:srgbClr val="C00000"/>
                </a:solidFill>
                <a:latin typeface="+mn-lt"/>
                <a:cs typeface="Cavolini" panose="03000502040302020204" pitchFamily="66" charset="0"/>
              </a:rPr>
              <a:t>Main Topic of Drilling Cost Saving</a:t>
            </a:r>
            <a:endParaRPr lang="en-ID" sz="3600" b="1" dirty="0">
              <a:solidFill>
                <a:srgbClr val="C00000"/>
              </a:solidFill>
              <a:latin typeface="+mn-lt"/>
              <a:cs typeface="Cavolini" panose="03000502040302020204" pitchFamily="66" charset="0"/>
            </a:endParaRPr>
          </a:p>
        </p:txBody>
      </p:sp>
      <p:pic>
        <p:nvPicPr>
          <p:cNvPr id="16" name="Picture 15" descr="A person wearing a helmet&#10;&#10;Description automatically generated with low confidence">
            <a:extLst>
              <a:ext uri="{FF2B5EF4-FFF2-40B4-BE49-F238E27FC236}">
                <a16:creationId xmlns:a16="http://schemas.microsoft.com/office/drawing/2014/main" id="{B3DEC229-D6A2-5772-5898-6B9ECFA83EC2}"/>
              </a:ext>
            </a:extLst>
          </p:cNvPr>
          <p:cNvPicPr>
            <a:picLocks noChangeAspect="1"/>
          </p:cNvPicPr>
          <p:nvPr/>
        </p:nvPicPr>
        <p:blipFill>
          <a:blip r:embed="rId2"/>
          <a:stretch>
            <a:fillRect/>
          </a:stretch>
        </p:blipFill>
        <p:spPr>
          <a:xfrm>
            <a:off x="9014233" y="4562516"/>
            <a:ext cx="2740766" cy="2055575"/>
          </a:xfrm>
          <a:prstGeom prst="rect">
            <a:avLst/>
          </a:prstGeom>
        </p:spPr>
      </p:pic>
      <p:pic>
        <p:nvPicPr>
          <p:cNvPr id="17" name="Picture 16">
            <a:extLst>
              <a:ext uri="{FF2B5EF4-FFF2-40B4-BE49-F238E27FC236}">
                <a16:creationId xmlns:a16="http://schemas.microsoft.com/office/drawing/2014/main" id="{7FC0AEF7-2E8B-51E3-8C0C-EE6BDD6F2E91}"/>
              </a:ext>
            </a:extLst>
          </p:cNvPr>
          <p:cNvPicPr>
            <a:picLocks noChangeAspect="1"/>
          </p:cNvPicPr>
          <p:nvPr/>
        </p:nvPicPr>
        <p:blipFill rotWithShape="1">
          <a:blip r:embed="rId3"/>
          <a:srcRect l="5591" r="6376" b="23542"/>
          <a:stretch/>
        </p:blipFill>
        <p:spPr>
          <a:xfrm>
            <a:off x="9014233" y="1311279"/>
            <a:ext cx="2740766" cy="3173920"/>
          </a:xfrm>
          <a:prstGeom prst="rect">
            <a:avLst/>
          </a:prstGeom>
        </p:spPr>
      </p:pic>
      <p:sp>
        <p:nvSpPr>
          <p:cNvPr id="4" name="TextBox 3">
            <a:extLst>
              <a:ext uri="{FF2B5EF4-FFF2-40B4-BE49-F238E27FC236}">
                <a16:creationId xmlns:a16="http://schemas.microsoft.com/office/drawing/2014/main" id="{25E1D84A-CBA9-7CB3-6158-A2424BCE889C}"/>
              </a:ext>
            </a:extLst>
          </p:cNvPr>
          <p:cNvSpPr txBox="1"/>
          <p:nvPr/>
        </p:nvSpPr>
        <p:spPr>
          <a:xfrm>
            <a:off x="1158948" y="1529940"/>
            <a:ext cx="7708605" cy="2893100"/>
          </a:xfrm>
          <a:prstGeom prst="rect">
            <a:avLst/>
          </a:prstGeom>
          <a:noFill/>
        </p:spPr>
        <p:txBody>
          <a:bodyPr wrap="square" rtlCol="0">
            <a:spAutoFit/>
          </a:bodyPr>
          <a:lstStyle/>
          <a:p>
            <a:pPr marL="514350" indent="-514350">
              <a:buFont typeface="+mj-lt"/>
              <a:buAutoNum type="arabicPeriod"/>
            </a:pPr>
            <a:r>
              <a:rPr lang="en-US" sz="2600" dirty="0">
                <a:solidFill>
                  <a:schemeClr val="accent6">
                    <a:lumMod val="50000"/>
                  </a:schemeClr>
                </a:solidFill>
              </a:rPr>
              <a:t>Drilling Organization and Personnel</a:t>
            </a:r>
          </a:p>
          <a:p>
            <a:pPr marL="514350" indent="-514350">
              <a:buFont typeface="+mj-lt"/>
              <a:buAutoNum type="arabicPeriod"/>
            </a:pPr>
            <a:r>
              <a:rPr lang="en-US" sz="2600" dirty="0">
                <a:solidFill>
                  <a:schemeClr val="accent6">
                    <a:lumMod val="50000"/>
                  </a:schemeClr>
                </a:solidFill>
              </a:rPr>
              <a:t>Drilling Procurement Method</a:t>
            </a:r>
          </a:p>
          <a:p>
            <a:pPr marL="514350" indent="-514350">
              <a:buFont typeface="+mj-lt"/>
              <a:buAutoNum type="arabicPeriod"/>
            </a:pPr>
            <a:r>
              <a:rPr lang="en-US" sz="2600" dirty="0">
                <a:solidFill>
                  <a:schemeClr val="accent6">
                    <a:lumMod val="50000"/>
                  </a:schemeClr>
                </a:solidFill>
              </a:rPr>
              <a:t>Rig Sizing</a:t>
            </a:r>
          </a:p>
          <a:p>
            <a:pPr marL="514350" indent="-514350">
              <a:buFont typeface="+mj-lt"/>
              <a:buAutoNum type="arabicPeriod"/>
            </a:pPr>
            <a:r>
              <a:rPr lang="en-US" sz="2600" dirty="0">
                <a:solidFill>
                  <a:schemeClr val="accent6">
                    <a:lumMod val="50000"/>
                  </a:schemeClr>
                </a:solidFill>
              </a:rPr>
              <a:t>Conductor, Casing and Cementing Design</a:t>
            </a:r>
          </a:p>
          <a:p>
            <a:pPr marL="514350" indent="-514350">
              <a:buFont typeface="+mj-lt"/>
              <a:buAutoNum type="arabicPeriod"/>
            </a:pPr>
            <a:r>
              <a:rPr lang="en-US" sz="2600" dirty="0">
                <a:solidFill>
                  <a:schemeClr val="accent6">
                    <a:lumMod val="50000"/>
                  </a:schemeClr>
                </a:solidFill>
              </a:rPr>
              <a:t>Wellhead – Master Valve and Cellar Design</a:t>
            </a:r>
          </a:p>
          <a:p>
            <a:pPr marL="514350" indent="-514350">
              <a:buFont typeface="+mj-lt"/>
              <a:buAutoNum type="arabicPeriod"/>
            </a:pPr>
            <a:r>
              <a:rPr lang="en-US" sz="2600" dirty="0">
                <a:solidFill>
                  <a:schemeClr val="accent6">
                    <a:lumMod val="50000"/>
                  </a:schemeClr>
                </a:solidFill>
              </a:rPr>
              <a:t>Drilling BHA Design</a:t>
            </a:r>
          </a:p>
          <a:p>
            <a:pPr marL="514350" indent="-514350">
              <a:buFont typeface="+mj-lt"/>
              <a:buAutoNum type="arabicPeriod"/>
            </a:pPr>
            <a:r>
              <a:rPr lang="en-US" sz="2600" dirty="0">
                <a:solidFill>
                  <a:schemeClr val="accent6">
                    <a:lumMod val="50000"/>
                  </a:schemeClr>
                </a:solidFill>
              </a:rPr>
              <a:t>Best Drilling Bit Performance</a:t>
            </a:r>
          </a:p>
        </p:txBody>
      </p:sp>
    </p:spTree>
    <p:extLst>
      <p:ext uri="{BB962C8B-B14F-4D97-AF65-F5344CB8AC3E}">
        <p14:creationId xmlns:p14="http://schemas.microsoft.com/office/powerpoint/2010/main" val="2682387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Persiapan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Umum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Sebelum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Dimulainya</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Rectangle 1">
            <a:extLst>
              <a:ext uri="{FF2B5EF4-FFF2-40B4-BE49-F238E27FC236}">
                <a16:creationId xmlns:a16="http://schemas.microsoft.com/office/drawing/2014/main" id="{DA7BD951-32F0-EBB7-4734-9615E2BDA736}"/>
              </a:ext>
            </a:extLst>
          </p:cNvPr>
          <p:cNvSpPr/>
          <p:nvPr/>
        </p:nvSpPr>
        <p:spPr>
          <a:xfrm>
            <a:off x="2668772" y="1480511"/>
            <a:ext cx="8389088" cy="765544"/>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ea typeface="Verdana" panose="020B0604030504040204" pitchFamily="34" charset="0"/>
                <a:cs typeface="Cavolini" panose="03000502040302020204" pitchFamily="66" charset="0"/>
              </a:rPr>
              <a:t>Membentuk</a:t>
            </a:r>
            <a:r>
              <a:rPr lang="en-US" altLang="en-US" sz="2400" b="1" dirty="0">
                <a:latin typeface="Cavolini" panose="03000502040302020204" pitchFamily="66" charset="0"/>
                <a:ea typeface="Verdana" panose="020B0604030504040204" pitchFamily="34" charset="0"/>
                <a:cs typeface="Cavolini" panose="03000502040302020204" pitchFamily="66" charset="0"/>
              </a:rPr>
              <a:t> Tim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Pengeboran</a:t>
            </a:r>
            <a:endParaRPr lang="en-ID" sz="2400" b="1" dirty="0">
              <a:latin typeface="Cavolini" panose="03000502040302020204" pitchFamily="66" charset="0"/>
              <a:ea typeface="Verdana" panose="020B0604030504040204" pitchFamily="34" charset="0"/>
              <a:cs typeface="Cavolini" panose="03000502040302020204" pitchFamily="66"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1535717" y="1480511"/>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2668772" y="2451620"/>
            <a:ext cx="8389088" cy="748783"/>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Pemilihan</a:t>
            </a:r>
            <a:r>
              <a:rPr lang="en-US" altLang="en-US" sz="2400" b="1" dirty="0">
                <a:latin typeface="Cavolini" panose="03000502040302020204" pitchFamily="66" charset="0"/>
                <a:cs typeface="Cavolini" panose="03000502040302020204" pitchFamily="66" charset="0"/>
              </a:rPr>
              <a:t> dan </a:t>
            </a:r>
            <a:r>
              <a:rPr lang="en-US" altLang="en-US" sz="2400" b="1" dirty="0" err="1">
                <a:latin typeface="Cavolini" panose="03000502040302020204" pitchFamily="66" charset="0"/>
                <a:cs typeface="Cavolini" panose="03000502040302020204" pitchFamily="66" charset="0"/>
              </a:rPr>
              <a:t>Spesikasi</a:t>
            </a:r>
            <a:r>
              <a:rPr lang="en-US" altLang="en-US" sz="2400" b="1" dirty="0">
                <a:latin typeface="Cavolini" panose="03000502040302020204" pitchFamily="66" charset="0"/>
                <a:cs typeface="Cavolini" panose="03000502040302020204" pitchFamily="66" charset="0"/>
              </a:rPr>
              <a:t> Drilling Rig</a:t>
            </a:r>
            <a:endParaRPr lang="en-ID" sz="2400" b="1" dirty="0">
              <a:latin typeface="Cavolini" panose="03000502040302020204" pitchFamily="66" charset="0"/>
              <a:cs typeface="Cavolini" panose="03000502040302020204" pitchFamily="66" charset="0"/>
            </a:endParaRPr>
          </a:p>
        </p:txBody>
      </p:sp>
      <p:sp>
        <p:nvSpPr>
          <p:cNvPr id="5" name="Rectangle 4">
            <a:extLst>
              <a:ext uri="{FF2B5EF4-FFF2-40B4-BE49-F238E27FC236}">
                <a16:creationId xmlns:a16="http://schemas.microsoft.com/office/drawing/2014/main" id="{FEA18FA2-826B-D284-53B8-B37906FB6BBA}"/>
              </a:ext>
            </a:extLst>
          </p:cNvPr>
          <p:cNvSpPr/>
          <p:nvPr/>
        </p:nvSpPr>
        <p:spPr>
          <a:xfrm>
            <a:off x="2668772" y="3404487"/>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a:latin typeface="Cavolini" panose="03000502040302020204" pitchFamily="66" charset="0"/>
                <a:cs typeface="Cavolini" panose="03000502040302020204" pitchFamily="66" charset="0"/>
              </a:rPr>
              <a:t>Persiapan Lokasi Pengeboran</a:t>
            </a:r>
            <a:endParaRPr lang="en-ID" sz="2400" b="1" dirty="0">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1535716" y="2451620"/>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7" name="Rectangle 6">
            <a:extLst>
              <a:ext uri="{FF2B5EF4-FFF2-40B4-BE49-F238E27FC236}">
                <a16:creationId xmlns:a16="http://schemas.microsoft.com/office/drawing/2014/main" id="{EEC3DBDE-A9D3-E986-BC78-CB0BDA109893}"/>
              </a:ext>
            </a:extLst>
          </p:cNvPr>
          <p:cNvSpPr/>
          <p:nvPr/>
        </p:nvSpPr>
        <p:spPr>
          <a:xfrm>
            <a:off x="1535716" y="3371111"/>
            <a:ext cx="891363" cy="765544"/>
          </a:xfrm>
          <a:prstGeom prst="rect">
            <a:avLst/>
          </a:prstGeom>
          <a:solidFill>
            <a:srgbClr val="FFCC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11" name="Rectangle 10">
            <a:extLst>
              <a:ext uri="{FF2B5EF4-FFF2-40B4-BE49-F238E27FC236}">
                <a16:creationId xmlns:a16="http://schemas.microsoft.com/office/drawing/2014/main" id="{0A378644-540E-962B-692D-FB65E974E4F7}"/>
              </a:ext>
            </a:extLst>
          </p:cNvPr>
          <p:cNvSpPr/>
          <p:nvPr/>
        </p:nvSpPr>
        <p:spPr>
          <a:xfrm>
            <a:off x="2668772" y="4352080"/>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a:latin typeface="Cavolini" panose="03000502040302020204" pitchFamily="66" charset="0"/>
                <a:cs typeface="Cavolini" panose="03000502040302020204" pitchFamily="66" charset="0"/>
              </a:rPr>
              <a:t>Persiapan </a:t>
            </a:r>
            <a:r>
              <a:rPr lang="en-US" altLang="en-US" sz="2400" b="1" dirty="0" err="1">
                <a:latin typeface="Cavolini" panose="03000502040302020204" pitchFamily="66" charset="0"/>
                <a:cs typeface="Cavolini" panose="03000502040302020204" pitchFamily="66" charset="0"/>
              </a:rPr>
              <a:t>Suplai</a:t>
            </a:r>
            <a:r>
              <a:rPr lang="en-US" altLang="en-US" sz="2400" b="1" dirty="0">
                <a:latin typeface="Cavolini" panose="03000502040302020204" pitchFamily="66" charset="0"/>
                <a:cs typeface="Cavolini" panose="03000502040302020204" pitchFamily="66" charset="0"/>
              </a:rPr>
              <a:t> Air </a:t>
            </a:r>
            <a:r>
              <a:rPr lang="en-US" altLang="en-US" sz="2400" b="1" dirty="0" err="1">
                <a:latin typeface="Cavolini" panose="03000502040302020204" pitchFamily="66" charset="0"/>
                <a:cs typeface="Cavolini" panose="03000502040302020204" pitchFamily="66" charset="0"/>
              </a:rPr>
              <a:t>Untuk</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Pengeboran</a:t>
            </a:r>
            <a:endParaRPr lang="en-ID" sz="2400" b="1" dirty="0">
              <a:latin typeface="Cavolini" panose="03000502040302020204" pitchFamily="66" charset="0"/>
              <a:cs typeface="Cavolini" panose="03000502040302020204" pitchFamily="66" charset="0"/>
            </a:endParaRPr>
          </a:p>
        </p:txBody>
      </p:sp>
      <p:sp>
        <p:nvSpPr>
          <p:cNvPr id="12" name="Rectangle 11">
            <a:extLst>
              <a:ext uri="{FF2B5EF4-FFF2-40B4-BE49-F238E27FC236}">
                <a16:creationId xmlns:a16="http://schemas.microsoft.com/office/drawing/2014/main" id="{75E85C1B-72DA-6786-B82D-FD52ABFF8D39}"/>
              </a:ext>
            </a:extLst>
          </p:cNvPr>
          <p:cNvSpPr/>
          <p:nvPr/>
        </p:nvSpPr>
        <p:spPr>
          <a:xfrm>
            <a:off x="1535716" y="4318704"/>
            <a:ext cx="891363" cy="765544"/>
          </a:xfrm>
          <a:prstGeom prst="rect">
            <a:avLst/>
          </a:prstGeom>
          <a:solidFill>
            <a:schemeClr val="accent4">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39634734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Persiapan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Umum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Sebelum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Dimulainya</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Rectangle 1">
            <a:extLst>
              <a:ext uri="{FF2B5EF4-FFF2-40B4-BE49-F238E27FC236}">
                <a16:creationId xmlns:a16="http://schemas.microsoft.com/office/drawing/2014/main" id="{DA7BD951-32F0-EBB7-4734-9615E2BDA736}"/>
              </a:ext>
            </a:extLst>
          </p:cNvPr>
          <p:cNvSpPr/>
          <p:nvPr/>
        </p:nvSpPr>
        <p:spPr>
          <a:xfrm>
            <a:off x="2668772" y="1480511"/>
            <a:ext cx="8389088" cy="765544"/>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ea typeface="Verdana" panose="020B0604030504040204" pitchFamily="34" charset="0"/>
                <a:cs typeface="Cavolini" panose="03000502040302020204" pitchFamily="66" charset="0"/>
              </a:rPr>
              <a:t>Membentuk</a:t>
            </a:r>
            <a:r>
              <a:rPr lang="en-US" altLang="en-US" sz="2400" b="1" dirty="0">
                <a:latin typeface="Cavolini" panose="03000502040302020204" pitchFamily="66" charset="0"/>
                <a:ea typeface="Verdana" panose="020B0604030504040204" pitchFamily="34" charset="0"/>
                <a:cs typeface="Cavolini" panose="03000502040302020204" pitchFamily="66" charset="0"/>
              </a:rPr>
              <a:t> Tim </a:t>
            </a:r>
            <a:r>
              <a:rPr lang="en-US" altLang="en-US" sz="2400" b="1" dirty="0" err="1">
                <a:latin typeface="Cavolini" panose="03000502040302020204" pitchFamily="66" charset="0"/>
                <a:ea typeface="Verdana" panose="020B0604030504040204" pitchFamily="34" charset="0"/>
                <a:cs typeface="Cavolini" panose="03000502040302020204" pitchFamily="66" charset="0"/>
              </a:rPr>
              <a:t>Pengeboran</a:t>
            </a:r>
            <a:endParaRPr lang="en-ID" sz="2400" b="1" dirty="0">
              <a:latin typeface="Cavolini" panose="03000502040302020204" pitchFamily="66" charset="0"/>
              <a:ea typeface="Verdana" panose="020B0604030504040204" pitchFamily="34" charset="0"/>
              <a:cs typeface="Cavolini" panose="03000502040302020204" pitchFamily="66"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1535717" y="1480511"/>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9" name="TextBox 8">
            <a:extLst>
              <a:ext uri="{FF2B5EF4-FFF2-40B4-BE49-F238E27FC236}">
                <a16:creationId xmlns:a16="http://schemas.microsoft.com/office/drawing/2014/main" id="{C6D3C42D-97CF-1FED-EA38-B5AC658F5B7C}"/>
              </a:ext>
            </a:extLst>
          </p:cNvPr>
          <p:cNvSpPr txBox="1"/>
          <p:nvPr/>
        </p:nvSpPr>
        <p:spPr>
          <a:xfrm>
            <a:off x="2668772" y="2466956"/>
            <a:ext cx="7404591" cy="223362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400" dirty="0" err="1">
                <a:solidFill>
                  <a:schemeClr val="accent6">
                    <a:lumMod val="50000"/>
                  </a:schemeClr>
                </a:solidFill>
                <a:latin typeface="Verdana" panose="020B0604030504040204" pitchFamily="34" charset="0"/>
                <a:ea typeface="Verdana" panose="020B0604030504040204" pitchFamily="34" charset="0"/>
              </a:rPr>
              <a:t>Kejujuran</a:t>
            </a:r>
            <a:r>
              <a:rPr lang="en-US" sz="2400" dirty="0">
                <a:solidFill>
                  <a:schemeClr val="accent6">
                    <a:lumMod val="50000"/>
                  </a:schemeClr>
                </a:solidFill>
                <a:latin typeface="Verdana" panose="020B0604030504040204" pitchFamily="34" charset="0"/>
                <a:ea typeface="Verdana" panose="020B0604030504040204" pitchFamily="34" charset="0"/>
              </a:rPr>
              <a:t>….</a:t>
            </a:r>
          </a:p>
          <a:p>
            <a:pPr marL="285750" indent="-285750">
              <a:lnSpc>
                <a:spcPct val="150000"/>
              </a:lnSpc>
              <a:buFont typeface="Arial" panose="020B0604020202020204" pitchFamily="34" charset="0"/>
              <a:buChar char="•"/>
            </a:pPr>
            <a:r>
              <a:rPr lang="en-US" sz="2400" dirty="0">
                <a:solidFill>
                  <a:schemeClr val="accent6">
                    <a:lumMod val="50000"/>
                  </a:schemeClr>
                </a:solidFill>
                <a:latin typeface="Verdana" panose="020B0604030504040204" pitchFamily="34" charset="0"/>
                <a:ea typeface="Verdana" panose="020B0604030504040204" pitchFamily="34" charset="0"/>
              </a:rPr>
              <a:t>Ideal Geothermal Drilling Organization Chart</a:t>
            </a:r>
          </a:p>
          <a:p>
            <a:pPr marL="285750" indent="-285750">
              <a:lnSpc>
                <a:spcPct val="150000"/>
              </a:lnSpc>
              <a:buFont typeface="Arial" panose="020B0604020202020204" pitchFamily="34" charset="0"/>
              <a:buChar char="•"/>
            </a:pPr>
            <a:r>
              <a:rPr lang="en-US" sz="2400" dirty="0" err="1">
                <a:solidFill>
                  <a:schemeClr val="accent6">
                    <a:lumMod val="50000"/>
                  </a:schemeClr>
                </a:solidFill>
                <a:latin typeface="Verdana" panose="020B0604030504040204" pitchFamily="34" charset="0"/>
                <a:ea typeface="Verdana" panose="020B0604030504040204" pitchFamily="34" charset="0"/>
              </a:rPr>
              <a:t>Metoda</a:t>
            </a:r>
            <a:r>
              <a:rPr lang="en-US" sz="2400" dirty="0">
                <a:solidFill>
                  <a:schemeClr val="accent6">
                    <a:lumMod val="50000"/>
                  </a:schemeClr>
                </a:solidFill>
                <a:latin typeface="Verdana" panose="020B0604030504040204" pitchFamily="34" charset="0"/>
                <a:ea typeface="Verdana" panose="020B0604030504040204" pitchFamily="34" charset="0"/>
              </a:rPr>
              <a:t> Hiring Drilling Personnel</a:t>
            </a:r>
          </a:p>
          <a:p>
            <a:pPr marL="285750" indent="-285750">
              <a:lnSpc>
                <a:spcPct val="150000"/>
              </a:lnSpc>
              <a:buFont typeface="Arial" panose="020B0604020202020204" pitchFamily="34" charset="0"/>
              <a:buChar char="•"/>
            </a:pPr>
            <a:r>
              <a:rPr lang="en-US" sz="2400" dirty="0" err="1">
                <a:solidFill>
                  <a:schemeClr val="accent6">
                    <a:lumMod val="50000"/>
                  </a:schemeClr>
                </a:solidFill>
                <a:latin typeface="Verdana" panose="020B0604030504040204" pitchFamily="34" charset="0"/>
                <a:ea typeface="Verdana" panose="020B0604030504040204" pitchFamily="34" charset="0"/>
              </a:rPr>
              <a:t>Kwalifikasi</a:t>
            </a:r>
            <a:r>
              <a:rPr lang="en-US" sz="2400" dirty="0">
                <a:solidFill>
                  <a:schemeClr val="accent6">
                    <a:lumMod val="50000"/>
                  </a:schemeClr>
                </a:solidFill>
                <a:latin typeface="Verdana" panose="020B0604030504040204" pitchFamily="34" charset="0"/>
                <a:ea typeface="Verdana" panose="020B0604030504040204" pitchFamily="34" charset="0"/>
              </a:rPr>
              <a:t> Drilling Team</a:t>
            </a:r>
            <a:endParaRPr lang="en-ID" sz="2400" dirty="0">
              <a:solidFill>
                <a:schemeClr val="accent6">
                  <a:lumMod val="50000"/>
                </a:schemeClr>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44286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A20F5-163C-6471-1872-EC217C21AA90}"/>
              </a:ext>
            </a:extLst>
          </p:cNvPr>
          <p:cNvSpPr>
            <a:spLocks noGrp="1"/>
          </p:cNvSpPr>
          <p:nvPr>
            <p:ph type="title"/>
          </p:nvPr>
        </p:nvSpPr>
        <p:spPr/>
        <p:txBody>
          <a:bodyPr>
            <a:noAutofit/>
          </a:bodyPr>
          <a:lstStyle/>
          <a:p>
            <a:r>
              <a:rPr lang="en-US" sz="4000" b="1" dirty="0" err="1">
                <a:solidFill>
                  <a:srgbClr val="C00000"/>
                </a:solidFill>
              </a:rPr>
              <a:t>Kejujuran</a:t>
            </a:r>
            <a:r>
              <a:rPr lang="en-US" sz="4000" b="1" dirty="0">
                <a:solidFill>
                  <a:srgbClr val="C00000"/>
                </a:solidFill>
              </a:rPr>
              <a:t> …</a:t>
            </a:r>
            <a:endParaRPr lang="en-ID" sz="4000" b="1" dirty="0">
              <a:solidFill>
                <a:srgbClr val="C00000"/>
              </a:solidFill>
            </a:endParaRPr>
          </a:p>
        </p:txBody>
      </p:sp>
      <p:sp>
        <p:nvSpPr>
          <p:cNvPr id="5" name="TextBox 4">
            <a:extLst>
              <a:ext uri="{FF2B5EF4-FFF2-40B4-BE49-F238E27FC236}">
                <a16:creationId xmlns:a16="http://schemas.microsoft.com/office/drawing/2014/main" id="{BFD7497C-1DD9-EA17-8F85-D5A0AE802723}"/>
              </a:ext>
            </a:extLst>
          </p:cNvPr>
          <p:cNvSpPr txBox="1"/>
          <p:nvPr/>
        </p:nvSpPr>
        <p:spPr>
          <a:xfrm>
            <a:off x="4435436" y="2643695"/>
            <a:ext cx="3321128" cy="1077218"/>
          </a:xfrm>
          <a:prstGeom prst="rect">
            <a:avLst/>
          </a:prstGeom>
          <a:noFill/>
        </p:spPr>
        <p:txBody>
          <a:bodyPr wrap="square">
            <a:spAutoFit/>
          </a:bodyPr>
          <a:lstStyle/>
          <a:p>
            <a:r>
              <a:rPr lang="en-ID" sz="3200" b="1" dirty="0" err="1">
                <a:solidFill>
                  <a:srgbClr val="C00000"/>
                </a:solidFill>
                <a:latin typeface="Dreaming Outloud Pro" panose="020B0604020202020204" pitchFamily="66" charset="0"/>
                <a:cs typeface="Dreaming Outloud Pro" panose="020B0604020202020204" pitchFamily="66" charset="0"/>
              </a:rPr>
              <a:t>Kejujuran</a:t>
            </a:r>
            <a:r>
              <a:rPr lang="en-ID" sz="3200" b="1" dirty="0">
                <a:solidFill>
                  <a:srgbClr val="C00000"/>
                </a:solidFill>
                <a:latin typeface="Dreaming Outloud Pro" panose="020B0604020202020204" pitchFamily="66" charset="0"/>
                <a:cs typeface="Dreaming Outloud Pro" panose="020B0604020202020204" pitchFamily="66" charset="0"/>
              </a:rPr>
              <a:t> </a:t>
            </a:r>
            <a:r>
              <a:rPr lang="en-ID" sz="3200" b="1" dirty="0" err="1">
                <a:solidFill>
                  <a:srgbClr val="C00000"/>
                </a:solidFill>
                <a:latin typeface="Dreaming Outloud Pro" panose="020B0604020202020204" pitchFamily="66" charset="0"/>
                <a:cs typeface="Dreaming Outloud Pro" panose="020B0604020202020204" pitchFamily="66" charset="0"/>
              </a:rPr>
              <a:t>adalah</a:t>
            </a:r>
            <a:r>
              <a:rPr lang="en-ID" sz="3200" b="1" dirty="0">
                <a:solidFill>
                  <a:srgbClr val="C00000"/>
                </a:solidFill>
                <a:latin typeface="Dreaming Outloud Pro" panose="020B0604020202020204" pitchFamily="66" charset="0"/>
                <a:cs typeface="Dreaming Outloud Pro" panose="020B0604020202020204" pitchFamily="66" charset="0"/>
              </a:rPr>
              <a:t> </a:t>
            </a:r>
            <a:r>
              <a:rPr lang="en-ID" sz="3200" b="1" dirty="0" err="1">
                <a:solidFill>
                  <a:srgbClr val="C00000"/>
                </a:solidFill>
                <a:latin typeface="Dreaming Outloud Pro" panose="020B0604020202020204" pitchFamily="66" charset="0"/>
                <a:cs typeface="Dreaming Outloud Pro" panose="020B0604020202020204" pitchFamily="66" charset="0"/>
              </a:rPr>
              <a:t>Kunci</a:t>
            </a:r>
            <a:r>
              <a:rPr lang="en-ID" sz="3200" b="1" dirty="0">
                <a:solidFill>
                  <a:srgbClr val="C00000"/>
                </a:solidFill>
                <a:latin typeface="Dreaming Outloud Pro" panose="020B0604020202020204" pitchFamily="66" charset="0"/>
                <a:cs typeface="Dreaming Outloud Pro" panose="020B0604020202020204" pitchFamily="66" charset="0"/>
              </a:rPr>
              <a:t> </a:t>
            </a:r>
            <a:r>
              <a:rPr lang="en-ID" sz="3200" b="1" dirty="0" err="1">
                <a:solidFill>
                  <a:srgbClr val="C00000"/>
                </a:solidFill>
                <a:latin typeface="Dreaming Outloud Pro" panose="020B0604020202020204" pitchFamily="66" charset="0"/>
                <a:cs typeface="Dreaming Outloud Pro" panose="020B0604020202020204" pitchFamily="66" charset="0"/>
              </a:rPr>
              <a:t>Kesuksesan</a:t>
            </a:r>
            <a:endParaRPr lang="en-ID" sz="3200" b="1" dirty="0">
              <a:solidFill>
                <a:srgbClr val="C00000"/>
              </a:solidFill>
              <a:latin typeface="Dreaming Outloud Pro" panose="020B0604020202020204" pitchFamily="66" charset="0"/>
              <a:cs typeface="Dreaming Outloud Pro" panose="020B0604020202020204" pitchFamily="66" charset="0"/>
            </a:endParaRPr>
          </a:p>
        </p:txBody>
      </p:sp>
      <p:pic>
        <p:nvPicPr>
          <p:cNvPr id="7" name="Picture 6">
            <a:extLst>
              <a:ext uri="{FF2B5EF4-FFF2-40B4-BE49-F238E27FC236}">
                <a16:creationId xmlns:a16="http://schemas.microsoft.com/office/drawing/2014/main" id="{8361978F-AA9B-4E79-FC5F-B6F29FD9ED2F}"/>
              </a:ext>
            </a:extLst>
          </p:cNvPr>
          <p:cNvPicPr>
            <a:picLocks noChangeAspect="1"/>
          </p:cNvPicPr>
          <p:nvPr/>
        </p:nvPicPr>
        <p:blipFill rotWithShape="1">
          <a:blip r:embed="rId2"/>
          <a:srcRect b="20887"/>
          <a:stretch/>
        </p:blipFill>
        <p:spPr>
          <a:xfrm>
            <a:off x="8528993" y="1257259"/>
            <a:ext cx="3396721" cy="2687249"/>
          </a:xfrm>
          <a:prstGeom prst="rect">
            <a:avLst/>
          </a:prstGeom>
        </p:spPr>
      </p:pic>
      <p:pic>
        <p:nvPicPr>
          <p:cNvPr id="8" name="Picture 7">
            <a:extLst>
              <a:ext uri="{FF2B5EF4-FFF2-40B4-BE49-F238E27FC236}">
                <a16:creationId xmlns:a16="http://schemas.microsoft.com/office/drawing/2014/main" id="{563A18DF-7F68-3819-CC9D-78526CDC6406}"/>
              </a:ext>
            </a:extLst>
          </p:cNvPr>
          <p:cNvPicPr>
            <a:picLocks noChangeAspect="1"/>
          </p:cNvPicPr>
          <p:nvPr/>
        </p:nvPicPr>
        <p:blipFill rotWithShape="1">
          <a:blip r:embed="rId3"/>
          <a:srcRect t="10874" r="1614" b="14411"/>
          <a:stretch/>
        </p:blipFill>
        <p:spPr>
          <a:xfrm>
            <a:off x="370672" y="3944509"/>
            <a:ext cx="3637591" cy="2465435"/>
          </a:xfrm>
          <a:prstGeom prst="rect">
            <a:avLst/>
          </a:prstGeom>
        </p:spPr>
      </p:pic>
      <p:pic>
        <p:nvPicPr>
          <p:cNvPr id="9" name="Picture 8">
            <a:extLst>
              <a:ext uri="{FF2B5EF4-FFF2-40B4-BE49-F238E27FC236}">
                <a16:creationId xmlns:a16="http://schemas.microsoft.com/office/drawing/2014/main" id="{4CC0504E-9E85-7A8E-7155-67A74617A9AE}"/>
              </a:ext>
            </a:extLst>
          </p:cNvPr>
          <p:cNvPicPr>
            <a:picLocks noChangeAspect="1"/>
          </p:cNvPicPr>
          <p:nvPr/>
        </p:nvPicPr>
        <p:blipFill rotWithShape="1">
          <a:blip r:embed="rId4"/>
          <a:srcRect t="6098" b="6098"/>
          <a:stretch/>
        </p:blipFill>
        <p:spPr>
          <a:xfrm>
            <a:off x="4341085" y="4180363"/>
            <a:ext cx="3509829" cy="2465434"/>
          </a:xfrm>
          <a:prstGeom prst="rect">
            <a:avLst/>
          </a:prstGeom>
        </p:spPr>
      </p:pic>
      <p:pic>
        <p:nvPicPr>
          <p:cNvPr id="10" name="Picture 9">
            <a:extLst>
              <a:ext uri="{FF2B5EF4-FFF2-40B4-BE49-F238E27FC236}">
                <a16:creationId xmlns:a16="http://schemas.microsoft.com/office/drawing/2014/main" id="{CEB76AD1-EB68-8B4C-F871-96A6D1566D62}"/>
              </a:ext>
            </a:extLst>
          </p:cNvPr>
          <p:cNvPicPr>
            <a:picLocks noChangeAspect="1"/>
          </p:cNvPicPr>
          <p:nvPr/>
        </p:nvPicPr>
        <p:blipFill>
          <a:blip r:embed="rId5"/>
          <a:stretch>
            <a:fillRect/>
          </a:stretch>
        </p:blipFill>
        <p:spPr>
          <a:xfrm>
            <a:off x="370672" y="1330982"/>
            <a:ext cx="3571759" cy="2372764"/>
          </a:xfrm>
          <a:prstGeom prst="rect">
            <a:avLst/>
          </a:prstGeom>
        </p:spPr>
      </p:pic>
      <p:sp>
        <p:nvSpPr>
          <p:cNvPr id="11" name="Oval 10">
            <a:extLst>
              <a:ext uri="{FF2B5EF4-FFF2-40B4-BE49-F238E27FC236}">
                <a16:creationId xmlns:a16="http://schemas.microsoft.com/office/drawing/2014/main" id="{1E9DC783-0CA9-747B-49E3-B3901A9F1534}"/>
              </a:ext>
            </a:extLst>
          </p:cNvPr>
          <p:cNvSpPr/>
          <p:nvPr/>
        </p:nvSpPr>
        <p:spPr>
          <a:xfrm>
            <a:off x="4129748" y="2310434"/>
            <a:ext cx="3812181" cy="1743739"/>
          </a:xfrm>
          <a:prstGeom prst="ellipse">
            <a:avLst/>
          </a:prstGeom>
          <a:solidFill>
            <a:srgbClr val="C00000">
              <a:alpha val="12000"/>
            </a:srgbClr>
          </a:solidFill>
          <a:ln w="571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2" name="Picture 11">
            <a:extLst>
              <a:ext uri="{FF2B5EF4-FFF2-40B4-BE49-F238E27FC236}">
                <a16:creationId xmlns:a16="http://schemas.microsoft.com/office/drawing/2014/main" id="{CC721477-31B0-9F5D-E7E6-B81A9A01FC86}"/>
              </a:ext>
            </a:extLst>
          </p:cNvPr>
          <p:cNvPicPr>
            <a:picLocks noChangeAspect="1"/>
          </p:cNvPicPr>
          <p:nvPr/>
        </p:nvPicPr>
        <p:blipFill>
          <a:blip r:embed="rId6"/>
          <a:stretch>
            <a:fillRect/>
          </a:stretch>
        </p:blipFill>
        <p:spPr>
          <a:xfrm>
            <a:off x="8528993" y="4193394"/>
            <a:ext cx="3378574" cy="2216549"/>
          </a:xfrm>
          <a:prstGeom prst="rect">
            <a:avLst/>
          </a:prstGeom>
        </p:spPr>
      </p:pic>
      <p:pic>
        <p:nvPicPr>
          <p:cNvPr id="1028" name="Picture 4" descr="Honesty Quotes on Life, Love, and Success | Everyday Power">
            <a:extLst>
              <a:ext uri="{FF2B5EF4-FFF2-40B4-BE49-F238E27FC236}">
                <a16:creationId xmlns:a16="http://schemas.microsoft.com/office/drawing/2014/main" id="{6C641744-10C1-C940-0505-C906BA8800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76151" y="94408"/>
            <a:ext cx="3519377" cy="2111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9525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7702-D840-AE0F-17C3-762CC2D0832E}"/>
              </a:ext>
            </a:extLst>
          </p:cNvPr>
          <p:cNvSpPr>
            <a:spLocks noGrp="1"/>
          </p:cNvSpPr>
          <p:nvPr>
            <p:ph type="title"/>
          </p:nvPr>
        </p:nvSpPr>
        <p:spPr/>
        <p:txBody>
          <a:bodyPr>
            <a:normAutofit/>
          </a:bodyPr>
          <a:lstStyle/>
          <a:p>
            <a:r>
              <a:rPr lang="en-US" sz="3600" b="1" dirty="0" err="1">
                <a:solidFill>
                  <a:srgbClr val="C00000"/>
                </a:solidFill>
              </a:rPr>
              <a:t>Kejujuran</a:t>
            </a:r>
            <a:r>
              <a:rPr lang="en-US" sz="3600" b="1" dirty="0">
                <a:solidFill>
                  <a:srgbClr val="C00000"/>
                </a:solidFill>
              </a:rPr>
              <a:t> dan Professional …!!!</a:t>
            </a:r>
            <a:endParaRPr lang="en-ID" sz="3600" dirty="0"/>
          </a:p>
        </p:txBody>
      </p:sp>
      <p:sp>
        <p:nvSpPr>
          <p:cNvPr id="4" name="TextBox 3">
            <a:extLst>
              <a:ext uri="{FF2B5EF4-FFF2-40B4-BE49-F238E27FC236}">
                <a16:creationId xmlns:a16="http://schemas.microsoft.com/office/drawing/2014/main" id="{E5A93B25-3F15-481F-D184-1153F0665840}"/>
              </a:ext>
            </a:extLst>
          </p:cNvPr>
          <p:cNvSpPr txBox="1"/>
          <p:nvPr/>
        </p:nvSpPr>
        <p:spPr>
          <a:xfrm>
            <a:off x="521207" y="1605515"/>
            <a:ext cx="5815797" cy="4196277"/>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en-US" sz="2000" b="1" dirty="0">
                <a:solidFill>
                  <a:srgbClr val="C00000"/>
                </a:solidFill>
                <a:latin typeface="Comic Sans MS" panose="030F0702030302020204" pitchFamily="66" charset="0"/>
              </a:rPr>
              <a:t>Dalam </a:t>
            </a:r>
            <a:r>
              <a:rPr lang="en-US" sz="2000" b="1" dirty="0" err="1">
                <a:solidFill>
                  <a:srgbClr val="C00000"/>
                </a:solidFill>
                <a:latin typeface="Comic Sans MS" panose="030F0702030302020204" pitchFamily="66" charset="0"/>
              </a:rPr>
              <a:t>memilih</a:t>
            </a:r>
            <a:r>
              <a:rPr lang="en-US" sz="2000" b="1" dirty="0">
                <a:solidFill>
                  <a:srgbClr val="C00000"/>
                </a:solidFill>
                <a:latin typeface="Comic Sans MS" panose="030F0702030302020204" pitchFamily="66" charset="0"/>
              </a:rPr>
              <a:t> team drilling</a:t>
            </a:r>
          </a:p>
          <a:p>
            <a:pPr marL="285750" indent="-285750">
              <a:lnSpc>
                <a:spcPct val="150000"/>
              </a:lnSpc>
              <a:buFont typeface="Wingdings" panose="05000000000000000000" pitchFamily="2" charset="2"/>
              <a:buChar char="ü"/>
            </a:pPr>
            <a:r>
              <a:rPr lang="en-US" sz="2000" b="1" dirty="0">
                <a:solidFill>
                  <a:schemeClr val="accent5">
                    <a:lumMod val="50000"/>
                  </a:schemeClr>
                </a:solidFill>
                <a:latin typeface="Comic Sans MS" panose="030F0702030302020204" pitchFamily="66" charset="0"/>
              </a:rPr>
              <a:t>Dalam </a:t>
            </a:r>
            <a:r>
              <a:rPr lang="en-US" sz="2000" b="1" dirty="0" err="1">
                <a:solidFill>
                  <a:schemeClr val="accent5">
                    <a:lumMod val="50000"/>
                  </a:schemeClr>
                </a:solidFill>
                <a:latin typeface="Comic Sans MS" panose="030F0702030302020204" pitchFamily="66" charset="0"/>
              </a:rPr>
              <a:t>mendesign</a:t>
            </a:r>
            <a:r>
              <a:rPr lang="en-US" sz="2000" b="1" dirty="0">
                <a:solidFill>
                  <a:schemeClr val="accent5">
                    <a:lumMod val="50000"/>
                  </a:schemeClr>
                </a:solidFill>
                <a:latin typeface="Comic Sans MS" panose="030F0702030302020204" pitchFamily="66" charset="0"/>
              </a:rPr>
              <a:t> </a:t>
            </a:r>
            <a:r>
              <a:rPr lang="en-US" sz="2000" b="1" dirty="0" err="1">
                <a:solidFill>
                  <a:schemeClr val="accent5">
                    <a:lumMod val="50000"/>
                  </a:schemeClr>
                </a:solidFill>
                <a:latin typeface="Comic Sans MS" panose="030F0702030302020204" pitchFamily="66" charset="0"/>
              </a:rPr>
              <a:t>sumur</a:t>
            </a:r>
            <a:endParaRPr lang="en-US" sz="2000" b="1" dirty="0">
              <a:solidFill>
                <a:schemeClr val="accent5">
                  <a:lumMod val="50000"/>
                </a:schemeClr>
              </a:solidFill>
              <a:latin typeface="Comic Sans MS" panose="030F0702030302020204" pitchFamily="66" charset="0"/>
            </a:endParaRPr>
          </a:p>
          <a:p>
            <a:pPr marL="285750" indent="-285750">
              <a:lnSpc>
                <a:spcPct val="150000"/>
              </a:lnSpc>
              <a:buFont typeface="Wingdings" panose="05000000000000000000" pitchFamily="2" charset="2"/>
              <a:buChar char="ü"/>
            </a:pPr>
            <a:r>
              <a:rPr lang="en-US" sz="2000" b="1" dirty="0">
                <a:solidFill>
                  <a:schemeClr val="accent5">
                    <a:lumMod val="50000"/>
                  </a:schemeClr>
                </a:solidFill>
                <a:latin typeface="Comic Sans MS" panose="030F0702030302020204" pitchFamily="66" charset="0"/>
              </a:rPr>
              <a:t>Dalam menyusun AFE / Budget</a:t>
            </a:r>
          </a:p>
          <a:p>
            <a:pPr marL="285750" indent="-285750">
              <a:lnSpc>
                <a:spcPct val="150000"/>
              </a:lnSpc>
              <a:buFont typeface="Wingdings" panose="05000000000000000000" pitchFamily="2" charset="2"/>
              <a:buChar char="ü"/>
            </a:pPr>
            <a:r>
              <a:rPr lang="en-US" sz="2000" b="1" dirty="0" err="1">
                <a:solidFill>
                  <a:srgbClr val="C00000"/>
                </a:solidFill>
                <a:latin typeface="Comic Sans MS" panose="030F0702030302020204" pitchFamily="66" charset="0"/>
              </a:rPr>
              <a:t>Menentukan</a:t>
            </a:r>
            <a:r>
              <a:rPr lang="en-US" sz="2000" b="1" dirty="0">
                <a:solidFill>
                  <a:srgbClr val="C00000"/>
                </a:solidFill>
                <a:latin typeface="Comic Sans MS" panose="030F0702030302020204" pitchFamily="66" charset="0"/>
              </a:rPr>
              <a:t> strategi drilling procurement</a:t>
            </a:r>
          </a:p>
          <a:p>
            <a:pPr marL="285750" indent="-285750">
              <a:lnSpc>
                <a:spcPct val="150000"/>
              </a:lnSpc>
              <a:buFont typeface="Wingdings" panose="05000000000000000000" pitchFamily="2" charset="2"/>
              <a:buChar char="ü"/>
            </a:pPr>
            <a:r>
              <a:rPr lang="en-US" sz="2000" b="1" dirty="0" err="1">
                <a:solidFill>
                  <a:srgbClr val="C00000"/>
                </a:solidFill>
                <a:latin typeface="Comic Sans MS" panose="030F0702030302020204" pitchFamily="66" charset="0"/>
              </a:rPr>
              <a:t>Malaksakan</a:t>
            </a:r>
            <a:r>
              <a:rPr lang="en-US" sz="2000" b="1" dirty="0">
                <a:solidFill>
                  <a:srgbClr val="C00000"/>
                </a:solidFill>
                <a:latin typeface="Comic Sans MS" panose="030F0702030302020204" pitchFamily="66" charset="0"/>
              </a:rPr>
              <a:t> proses tender</a:t>
            </a:r>
          </a:p>
          <a:p>
            <a:pPr marL="285750" indent="-285750">
              <a:lnSpc>
                <a:spcPct val="150000"/>
              </a:lnSpc>
              <a:buFont typeface="Wingdings" panose="05000000000000000000" pitchFamily="2" charset="2"/>
              <a:buChar char="ü"/>
            </a:pPr>
            <a:r>
              <a:rPr lang="en-US" sz="2000" b="1" dirty="0" err="1">
                <a:solidFill>
                  <a:schemeClr val="accent5">
                    <a:lumMod val="50000"/>
                  </a:schemeClr>
                </a:solidFill>
                <a:latin typeface="Comic Sans MS" panose="030F0702030302020204" pitchFamily="66" charset="0"/>
              </a:rPr>
              <a:t>Eksekusi</a:t>
            </a:r>
            <a:r>
              <a:rPr lang="en-US" sz="2000" b="1" dirty="0">
                <a:solidFill>
                  <a:schemeClr val="accent5">
                    <a:lumMod val="50000"/>
                  </a:schemeClr>
                </a:solidFill>
                <a:latin typeface="Comic Sans MS" panose="030F0702030302020204" pitchFamily="66" charset="0"/>
              </a:rPr>
              <a:t> </a:t>
            </a:r>
            <a:r>
              <a:rPr lang="en-US" sz="2000" b="1" dirty="0" err="1">
                <a:solidFill>
                  <a:schemeClr val="accent5">
                    <a:lumMod val="50000"/>
                  </a:schemeClr>
                </a:solidFill>
                <a:latin typeface="Comic Sans MS" panose="030F0702030302020204" pitchFamily="66" charset="0"/>
              </a:rPr>
              <a:t>Operasi</a:t>
            </a:r>
            <a:r>
              <a:rPr lang="en-US" sz="2000" b="1" dirty="0">
                <a:solidFill>
                  <a:schemeClr val="accent5">
                    <a:lumMod val="50000"/>
                  </a:schemeClr>
                </a:solidFill>
                <a:latin typeface="Comic Sans MS" panose="030F0702030302020204" pitchFamily="66" charset="0"/>
              </a:rPr>
              <a:t> </a:t>
            </a:r>
            <a:r>
              <a:rPr lang="en-US" sz="2000" b="1" dirty="0" err="1">
                <a:solidFill>
                  <a:schemeClr val="accent5">
                    <a:lumMod val="50000"/>
                  </a:schemeClr>
                </a:solidFill>
                <a:latin typeface="Comic Sans MS" panose="030F0702030302020204" pitchFamily="66" charset="0"/>
              </a:rPr>
              <a:t>Pemboran</a:t>
            </a:r>
            <a:endParaRPr lang="en-US" sz="2000" b="1" dirty="0">
              <a:solidFill>
                <a:schemeClr val="accent5">
                  <a:lumMod val="50000"/>
                </a:schemeClr>
              </a:solidFill>
              <a:latin typeface="Comic Sans MS" panose="030F0702030302020204" pitchFamily="66" charset="0"/>
            </a:endParaRPr>
          </a:p>
          <a:p>
            <a:pPr marL="285750" indent="-285750">
              <a:lnSpc>
                <a:spcPct val="150000"/>
              </a:lnSpc>
              <a:buFont typeface="Wingdings" panose="05000000000000000000" pitchFamily="2" charset="2"/>
              <a:buChar char="ü"/>
            </a:pPr>
            <a:r>
              <a:rPr lang="en-US" sz="2000" b="1" dirty="0">
                <a:solidFill>
                  <a:srgbClr val="C00000"/>
                </a:solidFill>
                <a:latin typeface="Comic Sans MS" panose="030F0702030302020204" pitchFamily="66" charset="0"/>
              </a:rPr>
              <a:t>Dalam review dan checking invoices</a:t>
            </a:r>
          </a:p>
          <a:p>
            <a:pPr marL="285750" indent="-285750">
              <a:lnSpc>
                <a:spcPct val="150000"/>
              </a:lnSpc>
              <a:buFont typeface="Wingdings" panose="05000000000000000000" pitchFamily="2" charset="2"/>
              <a:buChar char="ü"/>
            </a:pPr>
            <a:r>
              <a:rPr lang="en-US" sz="2000" b="1" dirty="0">
                <a:solidFill>
                  <a:schemeClr val="accent5">
                    <a:lumMod val="50000"/>
                  </a:schemeClr>
                </a:solidFill>
                <a:latin typeface="Comic Sans MS" panose="030F0702030302020204" pitchFamily="66" charset="0"/>
              </a:rPr>
              <a:t>Dalam post drilling review</a:t>
            </a:r>
          </a:p>
          <a:p>
            <a:pPr marL="285750" indent="-285750">
              <a:lnSpc>
                <a:spcPct val="150000"/>
              </a:lnSpc>
              <a:buFont typeface="Wingdings" panose="05000000000000000000" pitchFamily="2" charset="2"/>
              <a:buChar char="ü"/>
            </a:pPr>
            <a:r>
              <a:rPr lang="en-US" sz="2000" b="1" dirty="0">
                <a:solidFill>
                  <a:schemeClr val="accent5">
                    <a:lumMod val="50000"/>
                  </a:schemeClr>
                </a:solidFill>
                <a:latin typeface="Comic Sans MS" panose="030F0702030302020204" pitchFamily="66" charset="0"/>
              </a:rPr>
              <a:t>Dan lain-lain </a:t>
            </a:r>
            <a:endParaRPr lang="en-ID" sz="2000" b="1" dirty="0">
              <a:solidFill>
                <a:schemeClr val="accent5">
                  <a:lumMod val="50000"/>
                </a:schemeClr>
              </a:solidFill>
              <a:latin typeface="Comic Sans MS" panose="030F0702030302020204" pitchFamily="66" charset="0"/>
            </a:endParaRPr>
          </a:p>
        </p:txBody>
      </p:sp>
      <p:grpSp>
        <p:nvGrpSpPr>
          <p:cNvPr id="3" name="Group 2">
            <a:extLst>
              <a:ext uri="{FF2B5EF4-FFF2-40B4-BE49-F238E27FC236}">
                <a16:creationId xmlns:a16="http://schemas.microsoft.com/office/drawing/2014/main" id="{A2E370BD-7DF8-ABA7-5885-30776B7C4DE9}"/>
              </a:ext>
            </a:extLst>
          </p:cNvPr>
          <p:cNvGrpSpPr/>
          <p:nvPr/>
        </p:nvGrpSpPr>
        <p:grpSpPr>
          <a:xfrm>
            <a:off x="3818269" y="1332095"/>
            <a:ext cx="9961526" cy="5418667"/>
            <a:chOff x="3818269" y="1332095"/>
            <a:chExt cx="9961526" cy="5418667"/>
          </a:xfrm>
        </p:grpSpPr>
        <p:graphicFrame>
          <p:nvGraphicFramePr>
            <p:cNvPr id="5" name="Diagram 4">
              <a:extLst>
                <a:ext uri="{FF2B5EF4-FFF2-40B4-BE49-F238E27FC236}">
                  <a16:creationId xmlns:a16="http://schemas.microsoft.com/office/drawing/2014/main" id="{4AD82337-65CA-5AEF-DE26-C04B75ADD9E5}"/>
                </a:ext>
              </a:extLst>
            </p:cNvPr>
            <p:cNvGraphicFramePr/>
            <p:nvPr>
              <p:extLst>
                <p:ext uri="{D42A27DB-BD31-4B8C-83A1-F6EECF244321}">
                  <p14:modId xmlns:p14="http://schemas.microsoft.com/office/powerpoint/2010/main" val="1427776542"/>
                </p:ext>
              </p:extLst>
            </p:nvPr>
          </p:nvGraphicFramePr>
          <p:xfrm>
            <a:off x="3818269" y="1332095"/>
            <a:ext cx="9961526"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8" name="Picture 4" descr="25 Biden policies raising gas prices and other energy costs - Americans for  Prosperity">
              <a:extLst>
                <a:ext uri="{FF2B5EF4-FFF2-40B4-BE49-F238E27FC236}">
                  <a16:creationId xmlns:a16="http://schemas.microsoft.com/office/drawing/2014/main" id="{88354564-7DB2-5C41-6BAE-B2A62894AF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60072" y="1332095"/>
              <a:ext cx="2857500" cy="154305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78341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3C539-7C5D-FCC7-0F94-9D742131FB8A}"/>
              </a:ext>
            </a:extLst>
          </p:cNvPr>
          <p:cNvSpPr>
            <a:spLocks noGrp="1"/>
          </p:cNvSpPr>
          <p:nvPr>
            <p:ph type="title"/>
          </p:nvPr>
        </p:nvSpPr>
        <p:spPr>
          <a:xfrm>
            <a:off x="521207" y="448056"/>
            <a:ext cx="8527100" cy="640080"/>
          </a:xfrm>
        </p:spPr>
        <p:txBody>
          <a:bodyPr>
            <a:noAutofit/>
          </a:bodyPr>
          <a:lstStyle/>
          <a:p>
            <a:r>
              <a:rPr lang="en-US" sz="3600" b="1" dirty="0">
                <a:solidFill>
                  <a:srgbClr val="C00000"/>
                </a:solidFill>
              </a:rPr>
              <a:t>Hiring Key Office Drilling Personnel</a:t>
            </a:r>
            <a:endParaRPr lang="en-ID" sz="3600" b="1" dirty="0">
              <a:solidFill>
                <a:srgbClr val="C00000"/>
              </a:solidFill>
            </a:endParaRPr>
          </a:p>
        </p:txBody>
      </p:sp>
      <p:graphicFrame>
        <p:nvGraphicFramePr>
          <p:cNvPr id="6" name="Diagram 5">
            <a:extLst>
              <a:ext uri="{FF2B5EF4-FFF2-40B4-BE49-F238E27FC236}">
                <a16:creationId xmlns:a16="http://schemas.microsoft.com/office/drawing/2014/main" id="{87E8D9B4-4772-12B0-30DE-C3B490A99A36}"/>
              </a:ext>
            </a:extLst>
          </p:cNvPr>
          <p:cNvGraphicFramePr/>
          <p:nvPr>
            <p:extLst>
              <p:ext uri="{D42A27DB-BD31-4B8C-83A1-F6EECF244321}">
                <p14:modId xmlns:p14="http://schemas.microsoft.com/office/powerpoint/2010/main" val="3470810651"/>
              </p:ext>
            </p:extLst>
          </p:nvPr>
        </p:nvGraphicFramePr>
        <p:xfrm>
          <a:off x="1152969" y="1765311"/>
          <a:ext cx="4535450" cy="4231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9E9DC240-3A8E-29B2-6994-88040F3FC8A2}"/>
              </a:ext>
            </a:extLst>
          </p:cNvPr>
          <p:cNvSpPr txBox="1"/>
          <p:nvPr/>
        </p:nvSpPr>
        <p:spPr>
          <a:xfrm>
            <a:off x="4245934" y="2321987"/>
            <a:ext cx="3978204" cy="707886"/>
          </a:xfrm>
          <a:prstGeom prst="rect">
            <a:avLst/>
          </a:prstGeom>
          <a:noFill/>
        </p:spPr>
        <p:txBody>
          <a:bodyPr wrap="square" rtlCol="0">
            <a:spAutoFit/>
          </a:bodyPr>
          <a:lstStyle/>
          <a:p>
            <a:pPr marL="0" marR="0" algn="just">
              <a:spcBef>
                <a:spcPts val="0"/>
              </a:spcBef>
              <a:spcAft>
                <a:spcPts val="800"/>
              </a:spcAft>
            </a:pPr>
            <a:r>
              <a:rPr lang="en-US" sz="20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Level-1:</a:t>
            </a:r>
            <a:r>
              <a:rPr lang="en-US"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Proyek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jangka</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pendek</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Misalnya</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tahap</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explorasi</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D29B18B9-C0A3-5D87-2EAB-04A4AC560315}"/>
              </a:ext>
            </a:extLst>
          </p:cNvPr>
          <p:cNvCxnSpPr>
            <a:cxnSpLocks/>
          </p:cNvCxnSpPr>
          <p:nvPr/>
        </p:nvCxnSpPr>
        <p:spPr>
          <a:xfrm>
            <a:off x="4167963" y="3204534"/>
            <a:ext cx="598613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7C66E4-1B99-5B73-2AD7-A9F84A1E5478}"/>
              </a:ext>
            </a:extLst>
          </p:cNvPr>
          <p:cNvCxnSpPr>
            <a:cxnSpLocks/>
          </p:cNvCxnSpPr>
          <p:nvPr/>
        </p:nvCxnSpPr>
        <p:spPr>
          <a:xfrm>
            <a:off x="4915624" y="4579678"/>
            <a:ext cx="5238469"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811716F-37DF-0D35-5DCC-D39AD16CE00F}"/>
              </a:ext>
            </a:extLst>
          </p:cNvPr>
          <p:cNvCxnSpPr>
            <a:cxnSpLocks/>
          </p:cNvCxnSpPr>
          <p:nvPr/>
        </p:nvCxnSpPr>
        <p:spPr>
          <a:xfrm>
            <a:off x="5652814" y="5976087"/>
            <a:ext cx="4501279" cy="0"/>
          </a:xfrm>
          <a:prstGeom prst="line">
            <a:avLst/>
          </a:prstGeom>
          <a:ln w="34925"/>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90BA943-6D29-7012-CB1B-FA39F5FBFE1C}"/>
              </a:ext>
            </a:extLst>
          </p:cNvPr>
          <p:cNvSpPr txBox="1"/>
          <p:nvPr/>
        </p:nvSpPr>
        <p:spPr>
          <a:xfrm>
            <a:off x="4760727" y="3528407"/>
            <a:ext cx="5042491" cy="1118255"/>
          </a:xfrm>
          <a:prstGeom prst="rect">
            <a:avLst/>
          </a:prstGeom>
          <a:noFill/>
        </p:spPr>
        <p:txBody>
          <a:bodyPr wrap="square">
            <a:spAutoFit/>
          </a:bodyPr>
          <a:lstStyle/>
          <a:p>
            <a:pPr marL="0" marR="0" algn="just">
              <a:spcBef>
                <a:spcPts val="0"/>
              </a:spcBef>
              <a:spcAft>
                <a:spcPts val="800"/>
              </a:spcAft>
            </a:pPr>
            <a:r>
              <a:rPr lang="en-US" sz="20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Level-2:</a:t>
            </a:r>
            <a:r>
              <a:rPr lang="en-US" sz="20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Proyek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jangka</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menengah</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Misalnya</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tahap</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exploitasi</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untuk</a:t>
            </a:r>
            <a:r>
              <a:rPr lang="en-US" sz="2000" dirty="0">
                <a:effectLst/>
                <a:latin typeface="Calibri" panose="020F0502020204030204" pitchFamily="34" charset="0"/>
                <a:ea typeface="Calibri" panose="020F0502020204030204" pitchFamily="34" charset="0"/>
                <a:cs typeface="Times New Roman" panose="02020603050405020304" pitchFamily="18" charset="0"/>
              </a:rPr>
              <a:t> marginal field</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spcBef>
                <a:spcPts val="0"/>
              </a:spcBef>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E5E554E8-D76B-045C-53B4-0C425BB900FF}"/>
              </a:ext>
            </a:extLst>
          </p:cNvPr>
          <p:cNvSpPr txBox="1"/>
          <p:nvPr/>
        </p:nvSpPr>
        <p:spPr>
          <a:xfrm>
            <a:off x="5377416" y="4807490"/>
            <a:ext cx="5127551" cy="707886"/>
          </a:xfrm>
          <a:prstGeom prst="rect">
            <a:avLst/>
          </a:prstGeom>
          <a:noFill/>
        </p:spPr>
        <p:txBody>
          <a:bodyPr wrap="square">
            <a:spAutoFit/>
          </a:bodyPr>
          <a:lstStyle/>
          <a:p>
            <a:r>
              <a:rPr lang="en-US" sz="20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Level-3: </a:t>
            </a:r>
            <a:r>
              <a:rPr lang="en-US" sz="2000" dirty="0">
                <a:effectLst/>
                <a:latin typeface="Calibri" panose="020F0502020204030204" pitchFamily="34" charset="0"/>
                <a:ea typeface="Calibri" panose="020F0502020204030204" pitchFamily="34" charset="0"/>
                <a:cs typeface="Times New Roman" panose="02020603050405020304" pitchFamily="18" charset="0"/>
              </a:rPr>
              <a:t>Proyek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jangka</a:t>
            </a:r>
            <a:r>
              <a:rPr lang="en-US" sz="2000" dirty="0">
                <a:effectLst/>
                <a:latin typeface="Calibri" panose="020F0502020204030204" pitchFamily="34" charset="0"/>
                <a:ea typeface="Calibri" panose="020F0502020204030204" pitchFamily="34" charset="0"/>
                <a:cs typeface="Times New Roman" panose="02020603050405020304" pitchFamily="18" charset="0"/>
              </a:rPr>
              <a:t> PANJANG.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Misalnya</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tahap</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exploitasi</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dengan</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skala</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besar</a:t>
            </a:r>
            <a:endParaRPr lang="en-ID" sz="2000" dirty="0"/>
          </a:p>
        </p:txBody>
      </p:sp>
    </p:spTree>
    <p:extLst>
      <p:ext uri="{BB962C8B-B14F-4D97-AF65-F5344CB8AC3E}">
        <p14:creationId xmlns:p14="http://schemas.microsoft.com/office/powerpoint/2010/main" val="1975526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6ED1-49D1-445F-B8B5-C3E0E3B1575C}"/>
              </a:ext>
            </a:extLst>
          </p:cNvPr>
          <p:cNvSpPr>
            <a:spLocks noGrp="1"/>
          </p:cNvSpPr>
          <p:nvPr>
            <p:ph type="title"/>
          </p:nvPr>
        </p:nvSpPr>
        <p:spPr>
          <a:xfrm>
            <a:off x="521207" y="448056"/>
            <a:ext cx="11020553" cy="640080"/>
          </a:xfrm>
        </p:spPr>
        <p:txBody>
          <a:bodyPr>
            <a:normAutofit/>
          </a:bodyPr>
          <a:lstStyle/>
          <a:p>
            <a:r>
              <a:rPr lang="en-US" sz="3200" b="1" dirty="0">
                <a:solidFill>
                  <a:srgbClr val="C00000"/>
                </a:solidFill>
              </a:rPr>
              <a:t>Ideal Geothermal Drilling Organization Chart</a:t>
            </a:r>
            <a:endParaRPr lang="en-ID" sz="3200" b="1" dirty="0">
              <a:solidFill>
                <a:srgbClr val="C00000"/>
              </a:solidFill>
            </a:endParaRPr>
          </a:p>
        </p:txBody>
      </p:sp>
      <p:pic>
        <p:nvPicPr>
          <p:cNvPr id="3" name="Picture 2">
            <a:extLst>
              <a:ext uri="{FF2B5EF4-FFF2-40B4-BE49-F238E27FC236}">
                <a16:creationId xmlns:a16="http://schemas.microsoft.com/office/drawing/2014/main" id="{A7BDB72B-8B4A-41C5-8BFA-4F7E07E355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18321"/>
            <a:ext cx="12192000" cy="5396459"/>
          </a:xfrm>
          <a:prstGeom prst="rect">
            <a:avLst/>
          </a:prstGeom>
        </p:spPr>
      </p:pic>
      <p:sp>
        <p:nvSpPr>
          <p:cNvPr id="4" name="Arrow: Right 3">
            <a:extLst>
              <a:ext uri="{FF2B5EF4-FFF2-40B4-BE49-F238E27FC236}">
                <a16:creationId xmlns:a16="http://schemas.microsoft.com/office/drawing/2014/main" id="{7D1F93A3-4CA0-263F-6C8D-4840837686C8}"/>
              </a:ext>
            </a:extLst>
          </p:cNvPr>
          <p:cNvSpPr/>
          <p:nvPr/>
        </p:nvSpPr>
        <p:spPr>
          <a:xfrm>
            <a:off x="7947497" y="4811676"/>
            <a:ext cx="486383" cy="1128408"/>
          </a:xfrm>
          <a:prstGeom prst="rightArrow">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7BBEE5B-C1D8-2B31-2AD4-E02007DF3522}"/>
              </a:ext>
            </a:extLst>
          </p:cNvPr>
          <p:cNvSpPr txBox="1"/>
          <p:nvPr/>
        </p:nvSpPr>
        <p:spPr>
          <a:xfrm>
            <a:off x="8433880" y="5052714"/>
            <a:ext cx="3107880" cy="707886"/>
          </a:xfrm>
          <a:prstGeom prst="rect">
            <a:avLst/>
          </a:prstGeom>
          <a:noFill/>
        </p:spPr>
        <p:txBody>
          <a:bodyPr wrap="square" rtlCol="0">
            <a:spAutoFit/>
          </a:bodyPr>
          <a:lstStyle/>
          <a:p>
            <a:r>
              <a:rPr lang="en-US" sz="2000" dirty="0"/>
              <a:t>Depend on the number of rig operation</a:t>
            </a:r>
          </a:p>
        </p:txBody>
      </p:sp>
    </p:spTree>
    <p:extLst>
      <p:ext uri="{BB962C8B-B14F-4D97-AF65-F5344CB8AC3E}">
        <p14:creationId xmlns:p14="http://schemas.microsoft.com/office/powerpoint/2010/main" val="3260789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6ED1-49D1-445F-B8B5-C3E0E3B1575C}"/>
              </a:ext>
            </a:extLst>
          </p:cNvPr>
          <p:cNvSpPr>
            <a:spLocks noGrp="1"/>
          </p:cNvSpPr>
          <p:nvPr>
            <p:ph type="title"/>
          </p:nvPr>
        </p:nvSpPr>
        <p:spPr>
          <a:xfrm>
            <a:off x="521207" y="448056"/>
            <a:ext cx="11020553" cy="640080"/>
          </a:xfrm>
        </p:spPr>
        <p:txBody>
          <a:bodyPr/>
          <a:lstStyle/>
          <a:p>
            <a:r>
              <a:rPr lang="en-US" dirty="0"/>
              <a:t>Drilling Personnel and Status</a:t>
            </a:r>
            <a:endParaRPr lang="en-ID" dirty="0"/>
          </a:p>
        </p:txBody>
      </p:sp>
      <p:graphicFrame>
        <p:nvGraphicFramePr>
          <p:cNvPr id="3" name="Diagram 2">
            <a:extLst>
              <a:ext uri="{FF2B5EF4-FFF2-40B4-BE49-F238E27FC236}">
                <a16:creationId xmlns:a16="http://schemas.microsoft.com/office/drawing/2014/main" id="{1EB8755F-260D-447A-BDD7-CD0659B1F7E7}"/>
              </a:ext>
            </a:extLst>
          </p:cNvPr>
          <p:cNvGraphicFramePr/>
          <p:nvPr>
            <p:extLst>
              <p:ext uri="{D42A27DB-BD31-4B8C-83A1-F6EECF244321}">
                <p14:modId xmlns:p14="http://schemas.microsoft.com/office/powerpoint/2010/main" val="1941896686"/>
              </p:ext>
            </p:extLst>
          </p:nvPr>
        </p:nvGraphicFramePr>
        <p:xfrm>
          <a:off x="1276603" y="1384455"/>
          <a:ext cx="9509760" cy="3868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78986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6ED1-49D1-445F-B8B5-C3E0E3B1575C}"/>
              </a:ext>
            </a:extLst>
          </p:cNvPr>
          <p:cNvSpPr>
            <a:spLocks noGrp="1"/>
          </p:cNvSpPr>
          <p:nvPr>
            <p:ph type="title"/>
          </p:nvPr>
        </p:nvSpPr>
        <p:spPr>
          <a:xfrm>
            <a:off x="521207" y="448056"/>
            <a:ext cx="11020553" cy="640080"/>
          </a:xfrm>
        </p:spPr>
        <p:txBody>
          <a:bodyPr>
            <a:normAutofit/>
          </a:bodyPr>
          <a:lstStyle/>
          <a:p>
            <a:r>
              <a:rPr lang="en-US" sz="3200" b="1" dirty="0">
                <a:solidFill>
                  <a:srgbClr val="C00000"/>
                </a:solidFill>
              </a:rPr>
              <a:t>Drilling Personnel Hiring Method</a:t>
            </a:r>
            <a:endParaRPr lang="en-ID" sz="3200" b="1" dirty="0">
              <a:solidFill>
                <a:srgbClr val="C00000"/>
              </a:solidFill>
            </a:endParaRPr>
          </a:p>
        </p:txBody>
      </p:sp>
      <p:graphicFrame>
        <p:nvGraphicFramePr>
          <p:cNvPr id="3" name="Diagram 2">
            <a:extLst>
              <a:ext uri="{FF2B5EF4-FFF2-40B4-BE49-F238E27FC236}">
                <a16:creationId xmlns:a16="http://schemas.microsoft.com/office/drawing/2014/main" id="{D9578ADD-199E-4284-9E68-84FDCB750E94}"/>
              </a:ext>
            </a:extLst>
          </p:cNvPr>
          <p:cNvGraphicFramePr/>
          <p:nvPr/>
        </p:nvGraphicFramePr>
        <p:xfrm>
          <a:off x="1276603" y="1381760"/>
          <a:ext cx="9509760" cy="50281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3207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6ED1-49D1-445F-B8B5-C3E0E3B1575C}"/>
              </a:ext>
            </a:extLst>
          </p:cNvPr>
          <p:cNvSpPr>
            <a:spLocks noGrp="1"/>
          </p:cNvSpPr>
          <p:nvPr>
            <p:ph type="title"/>
          </p:nvPr>
        </p:nvSpPr>
        <p:spPr>
          <a:xfrm>
            <a:off x="585723" y="428146"/>
            <a:ext cx="11020553" cy="640080"/>
          </a:xfrm>
        </p:spPr>
        <p:txBody>
          <a:bodyPr/>
          <a:lstStyle/>
          <a:p>
            <a:r>
              <a:rPr lang="en-US" dirty="0"/>
              <a:t>Geothermal Drilling Personnel Cost </a:t>
            </a:r>
            <a:r>
              <a:rPr lang="en-US" dirty="0">
                <a:sym typeface="Wingdings" panose="05000000000000000000" pitchFamily="2" charset="2"/>
              </a:rPr>
              <a:t> </a:t>
            </a:r>
            <a:r>
              <a:rPr lang="en-US" dirty="0"/>
              <a:t>Recruitment and Hiring Method</a:t>
            </a:r>
            <a:endParaRPr lang="en-ID" dirty="0"/>
          </a:p>
        </p:txBody>
      </p:sp>
      <p:graphicFrame>
        <p:nvGraphicFramePr>
          <p:cNvPr id="3" name="Diagram 2">
            <a:extLst>
              <a:ext uri="{FF2B5EF4-FFF2-40B4-BE49-F238E27FC236}">
                <a16:creationId xmlns:a16="http://schemas.microsoft.com/office/drawing/2014/main" id="{4D591B64-081E-4155-9B76-BD8E448D2857}"/>
              </a:ext>
            </a:extLst>
          </p:cNvPr>
          <p:cNvGraphicFramePr/>
          <p:nvPr>
            <p:extLst>
              <p:ext uri="{D42A27DB-BD31-4B8C-83A1-F6EECF244321}">
                <p14:modId xmlns:p14="http://schemas.microsoft.com/office/powerpoint/2010/main" val="1801650108"/>
              </p:ext>
            </p:extLst>
          </p:nvPr>
        </p:nvGraphicFramePr>
        <p:xfrm>
          <a:off x="-1062595" y="123712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Connector 4">
            <a:extLst>
              <a:ext uri="{FF2B5EF4-FFF2-40B4-BE49-F238E27FC236}">
                <a16:creationId xmlns:a16="http://schemas.microsoft.com/office/drawing/2014/main" id="{CB748D0B-0C3B-45DB-A694-ADDF995C6552}"/>
              </a:ext>
            </a:extLst>
          </p:cNvPr>
          <p:cNvCxnSpPr/>
          <p:nvPr/>
        </p:nvCxnSpPr>
        <p:spPr>
          <a:xfrm>
            <a:off x="2879835" y="4477407"/>
            <a:ext cx="85238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B960658-13ED-4976-B71B-BD635AC7AE56}"/>
              </a:ext>
            </a:extLst>
          </p:cNvPr>
          <p:cNvCxnSpPr/>
          <p:nvPr/>
        </p:nvCxnSpPr>
        <p:spPr>
          <a:xfrm>
            <a:off x="2948152" y="6637515"/>
            <a:ext cx="85238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9511CA5-5BE8-428E-8B0E-220734A6C65F}"/>
              </a:ext>
            </a:extLst>
          </p:cNvPr>
          <p:cNvCxnSpPr/>
          <p:nvPr/>
        </p:nvCxnSpPr>
        <p:spPr>
          <a:xfrm>
            <a:off x="2879835" y="3423745"/>
            <a:ext cx="85238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DA027CE-A5EA-4C77-9598-DBD639F12A7E}"/>
              </a:ext>
            </a:extLst>
          </p:cNvPr>
          <p:cNvCxnSpPr/>
          <p:nvPr/>
        </p:nvCxnSpPr>
        <p:spPr>
          <a:xfrm>
            <a:off x="2879835" y="2296511"/>
            <a:ext cx="85238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328B6A3-02FF-402A-B624-6CA1AF0550F6}"/>
              </a:ext>
            </a:extLst>
          </p:cNvPr>
          <p:cNvCxnSpPr/>
          <p:nvPr/>
        </p:nvCxnSpPr>
        <p:spPr>
          <a:xfrm>
            <a:off x="2948152" y="1237125"/>
            <a:ext cx="852389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ight Brace 9">
            <a:extLst>
              <a:ext uri="{FF2B5EF4-FFF2-40B4-BE49-F238E27FC236}">
                <a16:creationId xmlns:a16="http://schemas.microsoft.com/office/drawing/2014/main" id="{679E42A0-A3FB-4E6D-A793-8267DA3519E7}"/>
              </a:ext>
            </a:extLst>
          </p:cNvPr>
          <p:cNvSpPr/>
          <p:nvPr/>
        </p:nvSpPr>
        <p:spPr>
          <a:xfrm>
            <a:off x="5801360" y="3423745"/>
            <a:ext cx="294640" cy="3213770"/>
          </a:xfrm>
          <a:prstGeom prst="rightBrace">
            <a:avLst/>
          </a:prstGeom>
          <a:ln w="38100">
            <a:prstDash val="sysDash"/>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sp>
        <p:nvSpPr>
          <p:cNvPr id="11" name="Right Brace 10">
            <a:extLst>
              <a:ext uri="{FF2B5EF4-FFF2-40B4-BE49-F238E27FC236}">
                <a16:creationId xmlns:a16="http://schemas.microsoft.com/office/drawing/2014/main" id="{0C68C5F6-E56F-44C7-B5A7-937EFD104A1D}"/>
              </a:ext>
            </a:extLst>
          </p:cNvPr>
          <p:cNvSpPr/>
          <p:nvPr/>
        </p:nvSpPr>
        <p:spPr>
          <a:xfrm>
            <a:off x="7692169" y="2286000"/>
            <a:ext cx="515357" cy="4351515"/>
          </a:xfrm>
          <a:prstGeom prst="rightBrace">
            <a:avLst/>
          </a:prstGeom>
          <a:ln w="38100">
            <a:prstDash val="sysDash"/>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sp>
        <p:nvSpPr>
          <p:cNvPr id="12" name="Right Brace 11">
            <a:extLst>
              <a:ext uri="{FF2B5EF4-FFF2-40B4-BE49-F238E27FC236}">
                <a16:creationId xmlns:a16="http://schemas.microsoft.com/office/drawing/2014/main" id="{2886A894-0CF1-44A0-AA9B-8B5BE7200DCD}"/>
              </a:ext>
            </a:extLst>
          </p:cNvPr>
          <p:cNvSpPr/>
          <p:nvPr/>
        </p:nvSpPr>
        <p:spPr>
          <a:xfrm>
            <a:off x="9660934" y="1237126"/>
            <a:ext cx="515357" cy="5400390"/>
          </a:xfrm>
          <a:prstGeom prst="rightBrace">
            <a:avLst/>
          </a:prstGeom>
          <a:ln w="38100">
            <a:prstDash val="sysDash"/>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sp>
        <p:nvSpPr>
          <p:cNvPr id="13" name="TextBox 12">
            <a:extLst>
              <a:ext uri="{FF2B5EF4-FFF2-40B4-BE49-F238E27FC236}">
                <a16:creationId xmlns:a16="http://schemas.microsoft.com/office/drawing/2014/main" id="{6E2BEA19-2789-4E4C-83A7-52C2914BE038}"/>
              </a:ext>
            </a:extLst>
          </p:cNvPr>
          <p:cNvSpPr txBox="1"/>
          <p:nvPr/>
        </p:nvSpPr>
        <p:spPr>
          <a:xfrm>
            <a:off x="6174849" y="3848915"/>
            <a:ext cx="966931" cy="369332"/>
          </a:xfrm>
          <a:prstGeom prst="rect">
            <a:avLst/>
          </a:prstGeom>
          <a:noFill/>
        </p:spPr>
        <p:txBody>
          <a:bodyPr wrap="none" rtlCol="0">
            <a:spAutoFit/>
          </a:bodyPr>
          <a:lstStyle/>
          <a:p>
            <a:r>
              <a:rPr lang="en-US" dirty="0"/>
              <a:t>35-40%</a:t>
            </a:r>
            <a:endParaRPr lang="en-ID" dirty="0"/>
          </a:p>
        </p:txBody>
      </p:sp>
      <p:sp>
        <p:nvSpPr>
          <p:cNvPr id="14" name="TextBox 13">
            <a:extLst>
              <a:ext uri="{FF2B5EF4-FFF2-40B4-BE49-F238E27FC236}">
                <a16:creationId xmlns:a16="http://schemas.microsoft.com/office/drawing/2014/main" id="{38BC230B-10B1-4FF9-9F4D-4F333C832BF2}"/>
              </a:ext>
            </a:extLst>
          </p:cNvPr>
          <p:cNvSpPr txBox="1"/>
          <p:nvPr/>
        </p:nvSpPr>
        <p:spPr>
          <a:xfrm>
            <a:off x="6174848" y="2716614"/>
            <a:ext cx="841897" cy="369332"/>
          </a:xfrm>
          <a:prstGeom prst="rect">
            <a:avLst/>
          </a:prstGeom>
          <a:noFill/>
        </p:spPr>
        <p:txBody>
          <a:bodyPr wrap="none" rtlCol="0">
            <a:spAutoFit/>
          </a:bodyPr>
          <a:lstStyle/>
          <a:p>
            <a:r>
              <a:rPr lang="en-US" dirty="0"/>
              <a:t>5-15%</a:t>
            </a:r>
            <a:endParaRPr lang="en-ID" dirty="0"/>
          </a:p>
        </p:txBody>
      </p:sp>
      <p:sp>
        <p:nvSpPr>
          <p:cNvPr id="15" name="TextBox 14">
            <a:extLst>
              <a:ext uri="{FF2B5EF4-FFF2-40B4-BE49-F238E27FC236}">
                <a16:creationId xmlns:a16="http://schemas.microsoft.com/office/drawing/2014/main" id="{98B9B5CA-7461-4C4C-A007-F2C4BD5D1CA2}"/>
              </a:ext>
            </a:extLst>
          </p:cNvPr>
          <p:cNvSpPr txBox="1"/>
          <p:nvPr/>
        </p:nvSpPr>
        <p:spPr>
          <a:xfrm>
            <a:off x="6174848" y="1485865"/>
            <a:ext cx="841897" cy="369332"/>
          </a:xfrm>
          <a:prstGeom prst="rect">
            <a:avLst/>
          </a:prstGeom>
          <a:noFill/>
        </p:spPr>
        <p:txBody>
          <a:bodyPr wrap="none" rtlCol="0">
            <a:spAutoFit/>
          </a:bodyPr>
          <a:lstStyle/>
          <a:p>
            <a:r>
              <a:rPr lang="en-US" dirty="0"/>
              <a:t>5-15%</a:t>
            </a:r>
            <a:endParaRPr lang="en-ID" dirty="0"/>
          </a:p>
        </p:txBody>
      </p:sp>
      <p:sp>
        <p:nvSpPr>
          <p:cNvPr id="16" name="TextBox 15">
            <a:extLst>
              <a:ext uri="{FF2B5EF4-FFF2-40B4-BE49-F238E27FC236}">
                <a16:creationId xmlns:a16="http://schemas.microsoft.com/office/drawing/2014/main" id="{568A0DB4-39A6-4BE2-8A73-342ABC3F1C63}"/>
              </a:ext>
            </a:extLst>
          </p:cNvPr>
          <p:cNvSpPr txBox="1"/>
          <p:nvPr/>
        </p:nvSpPr>
        <p:spPr>
          <a:xfrm>
            <a:off x="6282414" y="4505618"/>
            <a:ext cx="1333380" cy="1015663"/>
          </a:xfrm>
          <a:prstGeom prst="rect">
            <a:avLst/>
          </a:prstGeom>
          <a:solidFill>
            <a:schemeClr val="accent4">
              <a:lumMod val="40000"/>
              <a:lumOff val="60000"/>
            </a:schemeClr>
          </a:solidFill>
        </p:spPr>
        <p:txBody>
          <a:bodyPr wrap="square" rtlCol="0">
            <a:spAutoFit/>
          </a:bodyPr>
          <a:lstStyle/>
          <a:p>
            <a:r>
              <a:rPr lang="en-US" sz="2000" dirty="0">
                <a:solidFill>
                  <a:srgbClr val="CC3300"/>
                </a:solidFill>
              </a:rPr>
              <a:t>Direct Contract Method</a:t>
            </a:r>
            <a:endParaRPr lang="en-ID" sz="2000" dirty="0">
              <a:solidFill>
                <a:srgbClr val="CC3300"/>
              </a:solidFill>
            </a:endParaRPr>
          </a:p>
        </p:txBody>
      </p:sp>
      <p:sp>
        <p:nvSpPr>
          <p:cNvPr id="17" name="TextBox 16">
            <a:extLst>
              <a:ext uri="{FF2B5EF4-FFF2-40B4-BE49-F238E27FC236}">
                <a16:creationId xmlns:a16="http://schemas.microsoft.com/office/drawing/2014/main" id="{C8D1D173-8AB8-4A8A-8A16-FE71A493BE5C}"/>
              </a:ext>
            </a:extLst>
          </p:cNvPr>
          <p:cNvSpPr txBox="1"/>
          <p:nvPr/>
        </p:nvSpPr>
        <p:spPr>
          <a:xfrm>
            <a:off x="8433500" y="3943063"/>
            <a:ext cx="1333380" cy="1015663"/>
          </a:xfrm>
          <a:prstGeom prst="rect">
            <a:avLst/>
          </a:prstGeom>
          <a:solidFill>
            <a:schemeClr val="accent4">
              <a:lumMod val="60000"/>
              <a:lumOff val="40000"/>
            </a:schemeClr>
          </a:solidFill>
        </p:spPr>
        <p:txBody>
          <a:bodyPr wrap="square" rtlCol="0">
            <a:spAutoFit/>
          </a:bodyPr>
          <a:lstStyle/>
          <a:p>
            <a:r>
              <a:rPr lang="en-US" sz="2000" dirty="0">
                <a:solidFill>
                  <a:srgbClr val="CC3300"/>
                </a:solidFill>
              </a:rPr>
              <a:t>Bidding Labor Supply</a:t>
            </a:r>
            <a:endParaRPr lang="en-ID" sz="2000" dirty="0">
              <a:solidFill>
                <a:srgbClr val="CC3300"/>
              </a:solidFill>
            </a:endParaRPr>
          </a:p>
        </p:txBody>
      </p:sp>
      <p:sp>
        <p:nvSpPr>
          <p:cNvPr id="18" name="TextBox 17">
            <a:extLst>
              <a:ext uri="{FF2B5EF4-FFF2-40B4-BE49-F238E27FC236}">
                <a16:creationId xmlns:a16="http://schemas.microsoft.com/office/drawing/2014/main" id="{6F905778-9D87-4030-9432-6335CB1E4B00}"/>
              </a:ext>
            </a:extLst>
          </p:cNvPr>
          <p:cNvSpPr txBox="1"/>
          <p:nvPr/>
        </p:nvSpPr>
        <p:spPr>
          <a:xfrm>
            <a:off x="10417648" y="3457234"/>
            <a:ext cx="1212051" cy="1015663"/>
          </a:xfrm>
          <a:prstGeom prst="rect">
            <a:avLst/>
          </a:prstGeom>
          <a:solidFill>
            <a:schemeClr val="accent4">
              <a:lumMod val="50000"/>
            </a:schemeClr>
          </a:solidFill>
        </p:spPr>
        <p:txBody>
          <a:bodyPr wrap="square" rtlCol="0">
            <a:spAutoFit/>
          </a:bodyPr>
          <a:lstStyle/>
          <a:p>
            <a:r>
              <a:rPr lang="en-US" sz="2000" dirty="0">
                <a:solidFill>
                  <a:srgbClr val="FFFFCC"/>
                </a:solidFill>
              </a:rPr>
              <a:t>Bidding IPM or PMC</a:t>
            </a:r>
            <a:endParaRPr lang="en-ID" sz="2000" dirty="0">
              <a:solidFill>
                <a:srgbClr val="FFFFCC"/>
              </a:solidFill>
            </a:endParaRPr>
          </a:p>
        </p:txBody>
      </p:sp>
    </p:spTree>
    <p:extLst>
      <p:ext uri="{BB962C8B-B14F-4D97-AF65-F5344CB8AC3E}">
        <p14:creationId xmlns:p14="http://schemas.microsoft.com/office/powerpoint/2010/main" val="3588680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6ED1-49D1-445F-B8B5-C3E0E3B1575C}"/>
              </a:ext>
            </a:extLst>
          </p:cNvPr>
          <p:cNvSpPr>
            <a:spLocks noGrp="1"/>
          </p:cNvSpPr>
          <p:nvPr>
            <p:ph type="title"/>
          </p:nvPr>
        </p:nvSpPr>
        <p:spPr>
          <a:xfrm>
            <a:off x="521207" y="448056"/>
            <a:ext cx="11020553" cy="640080"/>
          </a:xfrm>
        </p:spPr>
        <p:txBody>
          <a:bodyPr/>
          <a:lstStyle/>
          <a:p>
            <a:r>
              <a:rPr lang="en-US" dirty="0"/>
              <a:t>Cost Comparison vs Hiring Process Method </a:t>
            </a:r>
            <a:endParaRPr lang="en-ID" dirty="0"/>
          </a:p>
        </p:txBody>
      </p:sp>
      <p:pic>
        <p:nvPicPr>
          <p:cNvPr id="3" name="Picture 2">
            <a:extLst>
              <a:ext uri="{FF2B5EF4-FFF2-40B4-BE49-F238E27FC236}">
                <a16:creationId xmlns:a16="http://schemas.microsoft.com/office/drawing/2014/main" id="{79338AE0-CDB6-4F17-B5EB-539C4E6AB358}"/>
              </a:ext>
            </a:extLst>
          </p:cNvPr>
          <p:cNvPicPr>
            <a:picLocks noChangeAspect="1"/>
          </p:cNvPicPr>
          <p:nvPr/>
        </p:nvPicPr>
        <p:blipFill>
          <a:blip r:embed="rId2"/>
          <a:stretch>
            <a:fillRect/>
          </a:stretch>
        </p:blipFill>
        <p:spPr>
          <a:xfrm>
            <a:off x="687005" y="1285874"/>
            <a:ext cx="10867758" cy="4566285"/>
          </a:xfrm>
          <a:prstGeom prst="rect">
            <a:avLst/>
          </a:prstGeom>
        </p:spPr>
      </p:pic>
    </p:spTree>
    <p:extLst>
      <p:ext uri="{BB962C8B-B14F-4D97-AF65-F5344CB8AC3E}">
        <p14:creationId xmlns:p14="http://schemas.microsoft.com/office/powerpoint/2010/main" val="23245016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4EF3D-ED45-4DA3-A820-5FCFA2078D5A}"/>
              </a:ext>
            </a:extLst>
          </p:cNvPr>
          <p:cNvSpPr>
            <a:spLocks noGrp="1"/>
          </p:cNvSpPr>
          <p:nvPr>
            <p:ph type="title"/>
          </p:nvPr>
        </p:nvSpPr>
        <p:spPr>
          <a:xfrm>
            <a:off x="521208" y="448056"/>
            <a:ext cx="6876288" cy="640080"/>
          </a:xfrm>
        </p:spPr>
        <p:txBody>
          <a:bodyPr anchor="b">
            <a:normAutofit/>
          </a:bodyPr>
          <a:lstStyle/>
          <a:p>
            <a:r>
              <a:rPr lang="en-US" dirty="0"/>
              <a:t>Drilling Team Qualification</a:t>
            </a:r>
            <a:endParaRPr lang="en-ID" dirty="0"/>
          </a:p>
        </p:txBody>
      </p:sp>
      <p:sp>
        <p:nvSpPr>
          <p:cNvPr id="3" name="TextBox 2">
            <a:extLst>
              <a:ext uri="{FF2B5EF4-FFF2-40B4-BE49-F238E27FC236}">
                <a16:creationId xmlns:a16="http://schemas.microsoft.com/office/drawing/2014/main" id="{74F575E0-CDF6-79BD-AB0D-F21715985D2B}"/>
              </a:ext>
            </a:extLst>
          </p:cNvPr>
          <p:cNvSpPr txBox="1"/>
          <p:nvPr/>
        </p:nvSpPr>
        <p:spPr>
          <a:xfrm>
            <a:off x="1690574" y="1421573"/>
            <a:ext cx="8445647" cy="3785652"/>
          </a:xfrm>
          <a:prstGeom prst="rect">
            <a:avLst/>
          </a:prstGeom>
          <a:noFill/>
        </p:spPr>
        <p:txBody>
          <a:bodyPr wrap="square" rtlCol="0">
            <a:spAutoFit/>
          </a:bodyPr>
          <a:lstStyle/>
          <a:p>
            <a:pPr marL="342900" indent="-342900">
              <a:buFont typeface="+mj-lt"/>
              <a:buAutoNum type="arabicPeriod"/>
            </a:pPr>
            <a:r>
              <a:rPr lang="en-US" sz="2000" dirty="0"/>
              <a:t>At least 10 years experience and executed a lot of drilling wells (engineering, operation, support and HSE) at various places.</a:t>
            </a:r>
          </a:p>
          <a:p>
            <a:pPr marL="342900" indent="-342900">
              <a:buFont typeface="+mj-lt"/>
              <a:buAutoNum type="arabicPeriod"/>
            </a:pPr>
            <a:endParaRPr lang="en-US" sz="2000" dirty="0"/>
          </a:p>
          <a:p>
            <a:pPr marL="342900" indent="-342900">
              <a:buFont typeface="+mj-lt"/>
              <a:buAutoNum type="arabicPeriod"/>
            </a:pPr>
            <a:r>
              <a:rPr lang="en-US" sz="2000" dirty="0"/>
              <a:t>Have done various drilling optimization studies and cost efficiencies.</a:t>
            </a:r>
          </a:p>
          <a:p>
            <a:pPr marL="342900" indent="-342900">
              <a:buFont typeface="+mj-lt"/>
              <a:buAutoNum type="arabicPeriod"/>
            </a:pPr>
            <a:endParaRPr lang="en-US" sz="2000" dirty="0"/>
          </a:p>
          <a:p>
            <a:pPr marL="342900" indent="-342900">
              <a:buFont typeface="+mj-lt"/>
              <a:buAutoNum type="arabicPeriod"/>
            </a:pPr>
            <a:r>
              <a:rPr lang="en-US" sz="2000" dirty="0"/>
              <a:t>Experiences in handling various drilling procurement process, have wide networking and strong negotiation skill.</a:t>
            </a:r>
          </a:p>
          <a:p>
            <a:pPr marL="342900" indent="-342900">
              <a:buFont typeface="+mj-lt"/>
              <a:buAutoNum type="arabicPeriod"/>
            </a:pPr>
            <a:endParaRPr lang="en-US" sz="2000" dirty="0"/>
          </a:p>
          <a:p>
            <a:pPr marL="342900" indent="-342900">
              <a:buFont typeface="+mj-lt"/>
              <a:buAutoNum type="arabicPeriod"/>
            </a:pPr>
            <a:r>
              <a:rPr lang="en-US" sz="2000" dirty="0"/>
              <a:t>Have good relationship with other operator, service company and all level of government authorities. </a:t>
            </a:r>
          </a:p>
          <a:p>
            <a:pPr marL="342900" indent="-342900">
              <a:buFont typeface="+mj-lt"/>
              <a:buAutoNum type="arabicPeriod"/>
            </a:pPr>
            <a:endParaRPr lang="en-US" sz="2000" dirty="0"/>
          </a:p>
          <a:p>
            <a:pPr marL="342900" indent="-342900">
              <a:buFont typeface="+mj-lt"/>
              <a:buAutoNum type="arabicPeriod"/>
            </a:pPr>
            <a:r>
              <a:rPr lang="en-US" sz="2000" dirty="0"/>
              <a:t>Never involved in any conflict of interest and corruption.</a:t>
            </a:r>
            <a:endParaRPr lang="en-ID" sz="2000" dirty="0"/>
          </a:p>
        </p:txBody>
      </p:sp>
    </p:spTree>
    <p:extLst>
      <p:ext uri="{BB962C8B-B14F-4D97-AF65-F5344CB8AC3E}">
        <p14:creationId xmlns:p14="http://schemas.microsoft.com/office/powerpoint/2010/main" val="2460389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Persiapan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Umum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Sebelum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Dimulainya</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2636874" y="1505323"/>
            <a:ext cx="8389088" cy="748783"/>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Pemilihan</a:t>
            </a:r>
            <a:r>
              <a:rPr lang="en-US" altLang="en-US" sz="2400" b="1" dirty="0">
                <a:latin typeface="Cavolini" panose="03000502040302020204" pitchFamily="66" charset="0"/>
                <a:cs typeface="Cavolini" panose="03000502040302020204" pitchFamily="66" charset="0"/>
              </a:rPr>
              <a:t> dan </a:t>
            </a:r>
            <a:r>
              <a:rPr lang="en-US" altLang="en-US" sz="2400" b="1" dirty="0" err="1">
                <a:latin typeface="Cavolini" panose="03000502040302020204" pitchFamily="66" charset="0"/>
                <a:cs typeface="Cavolini" panose="03000502040302020204" pitchFamily="66" charset="0"/>
              </a:rPr>
              <a:t>Spesifikasi</a:t>
            </a:r>
            <a:r>
              <a:rPr lang="en-US" altLang="en-US" sz="2400" b="1" dirty="0">
                <a:latin typeface="Cavolini" panose="03000502040302020204" pitchFamily="66" charset="0"/>
                <a:cs typeface="Cavolini" panose="03000502040302020204" pitchFamily="66" charset="0"/>
              </a:rPr>
              <a:t> Drilling Rig</a:t>
            </a:r>
            <a:endParaRPr lang="en-ID" sz="2400" b="1" dirty="0">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1503818" y="1505323"/>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TextBox 1">
            <a:extLst>
              <a:ext uri="{FF2B5EF4-FFF2-40B4-BE49-F238E27FC236}">
                <a16:creationId xmlns:a16="http://schemas.microsoft.com/office/drawing/2014/main" id="{129F4E65-0C9F-FB69-B7A5-B6F72ABD26E7}"/>
              </a:ext>
            </a:extLst>
          </p:cNvPr>
          <p:cNvSpPr txBox="1"/>
          <p:nvPr/>
        </p:nvSpPr>
        <p:spPr>
          <a:xfrm>
            <a:off x="2668771" y="2466956"/>
            <a:ext cx="5571461" cy="280006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Rig Horsepower</a:t>
            </a:r>
          </a:p>
          <a:p>
            <a:pPr marL="285750" indent="-285750">
              <a:lnSpc>
                <a:spcPct val="150000"/>
              </a:lnSpc>
              <a:buFont typeface="Arial" panose="020B0604020202020204" pitchFamily="34" charset="0"/>
              <a:buChar char="•"/>
            </a:pPr>
            <a:r>
              <a:rPr lang="en-ID"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Rig Equipment</a:t>
            </a:r>
          </a:p>
          <a:p>
            <a:pPr marL="285750" indent="-285750">
              <a:lnSpc>
                <a:spcPct val="150000"/>
              </a:lnSpc>
              <a:buFont typeface="Arial" panose="020B0604020202020204" pitchFamily="34" charset="0"/>
              <a:buChar char="•"/>
            </a:pPr>
            <a:r>
              <a:rPr lang="en-ID"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Heavy Equipment</a:t>
            </a:r>
          </a:p>
          <a:p>
            <a:pPr marL="285750" indent="-285750">
              <a:lnSpc>
                <a:spcPct val="150000"/>
              </a:lnSpc>
              <a:buFont typeface="Arial" panose="020B0604020202020204" pitchFamily="34" charset="0"/>
              <a:buChar char="•"/>
            </a:pPr>
            <a:r>
              <a:rPr lang="en-ID"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Rig moving: Skid and Walking</a:t>
            </a:r>
          </a:p>
          <a:p>
            <a:pPr marL="285750" indent="-285750">
              <a:lnSpc>
                <a:spcPct val="150000"/>
              </a:lnSpc>
              <a:buFont typeface="Arial" panose="020B0604020202020204" pitchFamily="34" charset="0"/>
              <a:buChar char="•"/>
            </a:pPr>
            <a:r>
              <a:rPr lang="en-ID"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Rig Fuel Consumption</a:t>
            </a:r>
          </a:p>
          <a:p>
            <a:pPr marL="285750" indent="-285750">
              <a:lnSpc>
                <a:spcPct val="150000"/>
              </a:lnSpc>
              <a:buFont typeface="Arial" panose="020B0604020202020204" pitchFamily="34" charset="0"/>
              <a:buChar char="•"/>
            </a:pPr>
            <a:r>
              <a:rPr lang="en-ID"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Own Rig</a:t>
            </a:r>
          </a:p>
        </p:txBody>
      </p:sp>
    </p:spTree>
    <p:extLst>
      <p:ext uri="{BB962C8B-B14F-4D97-AF65-F5344CB8AC3E}">
        <p14:creationId xmlns:p14="http://schemas.microsoft.com/office/powerpoint/2010/main" val="6375537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761142" y="181429"/>
            <a:ext cx="10821257" cy="838200"/>
          </a:xfrm>
        </p:spPr>
        <p:txBody>
          <a:bodyPr>
            <a:normAutofit/>
          </a:bodyPr>
          <a:lstStyle/>
          <a:p>
            <a:r>
              <a:rPr lang="en-US" altLang="en-US" sz="3600" b="1" dirty="0">
                <a:solidFill>
                  <a:srgbClr val="C00000"/>
                </a:solidFill>
              </a:rPr>
              <a:t>Rig Selection: Big Hole, Standards Hole and Slim Hole</a:t>
            </a:r>
          </a:p>
        </p:txBody>
      </p:sp>
      <p:pic>
        <p:nvPicPr>
          <p:cNvPr id="43012"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177314" y="1270082"/>
            <a:ext cx="3699583" cy="518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3013" name="Picture 6" descr="DSC00314"/>
          <p:cNvPicPr preferRelativeResize="0">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92507" y="1270082"/>
            <a:ext cx="3985395" cy="536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TextBox 6"/>
          <p:cNvSpPr txBox="1">
            <a:spLocks noChangeArrowheads="1"/>
          </p:cNvSpPr>
          <p:nvPr/>
        </p:nvSpPr>
        <p:spPr bwMode="auto">
          <a:xfrm>
            <a:off x="8990743" y="1338943"/>
            <a:ext cx="188615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dirty="0">
                <a:latin typeface="Times New Roman" panose="02020603050405020304" pitchFamily="18" charset="0"/>
                <a:cs typeface="Arial" panose="020B0604020202020204" pitchFamily="34" charset="0"/>
              </a:rPr>
              <a:t>150-220 HP For</a:t>
            </a:r>
          </a:p>
          <a:p>
            <a:pPr eaLnBrk="1" hangingPunct="1">
              <a:spcBef>
                <a:spcPct val="0"/>
              </a:spcBef>
              <a:buFontTx/>
              <a:buNone/>
            </a:pPr>
            <a:r>
              <a:rPr lang="en-US" altLang="en-US" sz="2000" dirty="0">
                <a:latin typeface="Times New Roman" panose="02020603050405020304" pitchFamily="18" charset="0"/>
                <a:cs typeface="Arial" panose="020B0604020202020204" pitchFamily="34" charset="0"/>
              </a:rPr>
              <a:t>Slim Hole</a:t>
            </a:r>
          </a:p>
        </p:txBody>
      </p:sp>
      <p:sp>
        <p:nvSpPr>
          <p:cNvPr id="43015" name="TextBox 9"/>
          <p:cNvSpPr txBox="1">
            <a:spLocks noChangeArrowheads="1"/>
          </p:cNvSpPr>
          <p:nvPr/>
        </p:nvSpPr>
        <p:spPr bwMode="auto">
          <a:xfrm>
            <a:off x="4385242" y="1371600"/>
            <a:ext cx="207168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None/>
            </a:pPr>
            <a:r>
              <a:rPr lang="en-US" altLang="en-US" sz="2000" dirty="0">
                <a:solidFill>
                  <a:srgbClr val="002060"/>
                </a:solidFill>
                <a:latin typeface="Times New Roman" panose="02020603050405020304" pitchFamily="18" charset="0"/>
                <a:cs typeface="Arial" panose="020B0604020202020204" pitchFamily="34" charset="0"/>
              </a:rPr>
              <a:t>Rig For Big Hole and Standard Hole:</a:t>
            </a:r>
          </a:p>
          <a:p>
            <a:pPr marL="342900" indent="-342900">
              <a:spcBef>
                <a:spcPct val="0"/>
              </a:spcBef>
            </a:pPr>
            <a:r>
              <a:rPr lang="en-US" altLang="en-US" sz="2000" dirty="0">
                <a:solidFill>
                  <a:srgbClr val="002060"/>
                </a:solidFill>
                <a:latin typeface="Times New Roman" panose="02020603050405020304" pitchFamily="18" charset="0"/>
                <a:cs typeface="Arial" panose="020B0604020202020204" pitchFamily="34" charset="0"/>
              </a:rPr>
              <a:t>1000 HP</a:t>
            </a:r>
          </a:p>
          <a:p>
            <a:pPr marL="342900" indent="-342900">
              <a:spcBef>
                <a:spcPct val="0"/>
              </a:spcBef>
            </a:pPr>
            <a:r>
              <a:rPr lang="en-US" altLang="en-US" sz="2000" dirty="0">
                <a:solidFill>
                  <a:srgbClr val="002060"/>
                </a:solidFill>
                <a:latin typeface="Times New Roman" panose="02020603050405020304" pitchFamily="18" charset="0"/>
                <a:cs typeface="Arial" panose="020B0604020202020204" pitchFamily="34" charset="0"/>
              </a:rPr>
              <a:t>1300 HP</a:t>
            </a:r>
          </a:p>
          <a:p>
            <a:pPr marL="342900" indent="-342900">
              <a:spcBef>
                <a:spcPct val="0"/>
              </a:spcBef>
            </a:pPr>
            <a:r>
              <a:rPr lang="en-US" altLang="en-US" sz="2000" dirty="0">
                <a:solidFill>
                  <a:srgbClr val="C00000"/>
                </a:solidFill>
                <a:latin typeface="Times New Roman" panose="02020603050405020304" pitchFamily="18" charset="0"/>
                <a:cs typeface="Arial" panose="020B0604020202020204" pitchFamily="34" charset="0"/>
              </a:rPr>
              <a:t>1500 HP</a:t>
            </a:r>
          </a:p>
          <a:p>
            <a:pPr marL="342900" indent="-342900">
              <a:spcBef>
                <a:spcPct val="0"/>
              </a:spcBef>
            </a:pPr>
            <a:r>
              <a:rPr lang="en-US" altLang="en-US" sz="2000" dirty="0">
                <a:solidFill>
                  <a:srgbClr val="C00000"/>
                </a:solidFill>
                <a:latin typeface="Times New Roman" panose="02020603050405020304" pitchFamily="18" charset="0"/>
                <a:cs typeface="Arial" panose="020B0604020202020204" pitchFamily="34" charset="0"/>
              </a:rPr>
              <a:t>2000 HP</a:t>
            </a:r>
          </a:p>
        </p:txBody>
      </p:sp>
    </p:spTree>
    <p:extLst>
      <p:ext uri="{BB962C8B-B14F-4D97-AF65-F5344CB8AC3E}">
        <p14:creationId xmlns:p14="http://schemas.microsoft.com/office/powerpoint/2010/main" val="1391307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465241" cy="640080"/>
          </a:xfrm>
        </p:spPr>
        <p:txBody>
          <a:bodyPr>
            <a:normAutofit/>
          </a:bodyPr>
          <a:lstStyle/>
          <a:p>
            <a:r>
              <a:rPr lang="en-US" sz="3200" b="1" dirty="0">
                <a:solidFill>
                  <a:schemeClr val="accent5">
                    <a:lumMod val="75000"/>
                  </a:schemeClr>
                </a:solidFill>
              </a:rPr>
              <a:t>Onshore Drilling Rig Overview – Main Rig Component</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77302" y="1295755"/>
            <a:ext cx="7462733" cy="3891609"/>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7546" y="1295755"/>
            <a:ext cx="1918943" cy="1285542"/>
          </a:xfrm>
          <a:prstGeom prst="rect">
            <a:avLst/>
          </a:prstGeom>
        </p:spPr>
      </p:pic>
      <p:pic>
        <p:nvPicPr>
          <p:cNvPr id="6" name="Picture 5"/>
          <p:cNvPicPr>
            <a:picLocks noChangeAspect="1"/>
          </p:cNvPicPr>
          <p:nvPr/>
        </p:nvPicPr>
        <p:blipFill>
          <a:blip r:embed="rId4"/>
          <a:stretch>
            <a:fillRect/>
          </a:stretch>
        </p:blipFill>
        <p:spPr>
          <a:xfrm>
            <a:off x="331673" y="3066215"/>
            <a:ext cx="1918943" cy="3502649"/>
          </a:xfrm>
          <a:prstGeom prst="rect">
            <a:avLst/>
          </a:prstGeom>
        </p:spPr>
      </p:pic>
      <p:pic>
        <p:nvPicPr>
          <p:cNvPr id="7" name="Picture 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844540" y="5271522"/>
            <a:ext cx="2305669" cy="1308180"/>
          </a:xfrm>
          <a:prstGeom prst="rect">
            <a:avLst/>
          </a:prstGeom>
        </p:spPr>
      </p:pic>
      <p:pic>
        <p:nvPicPr>
          <p:cNvPr id="8" name="Picture 7"/>
          <p:cNvPicPr>
            <a:picLocks noChangeAspect="1"/>
          </p:cNvPicPr>
          <p:nvPr/>
        </p:nvPicPr>
        <p:blipFill>
          <a:blip r:embed="rId6"/>
          <a:stretch>
            <a:fillRect/>
          </a:stretch>
        </p:blipFill>
        <p:spPr>
          <a:xfrm>
            <a:off x="9970847" y="1295754"/>
            <a:ext cx="1629749" cy="3363969"/>
          </a:xfrm>
          <a:prstGeom prst="rect">
            <a:avLst/>
          </a:prstGeom>
        </p:spPr>
      </p:pic>
      <p:pic>
        <p:nvPicPr>
          <p:cNvPr id="10" name="Picture 9"/>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4176365" y="5230107"/>
            <a:ext cx="3130102" cy="1349595"/>
          </a:xfrm>
          <a:prstGeom prst="rect">
            <a:avLst/>
          </a:prstGeom>
        </p:spPr>
      </p:pic>
      <p:pic>
        <p:nvPicPr>
          <p:cNvPr id="11" name="Picture 10"/>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7332623" y="5230107"/>
            <a:ext cx="2202386" cy="1338757"/>
          </a:xfrm>
          <a:prstGeom prst="rect">
            <a:avLst/>
          </a:prstGeom>
        </p:spPr>
      </p:pic>
      <p:pic>
        <p:nvPicPr>
          <p:cNvPr id="12" name="Picture 11"/>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561165" y="4739375"/>
            <a:ext cx="2281158" cy="1829489"/>
          </a:xfrm>
          <a:prstGeom prst="rect">
            <a:avLst/>
          </a:prstGeom>
        </p:spPr>
      </p:pic>
      <p:sp>
        <p:nvSpPr>
          <p:cNvPr id="13" name="TextBox 12"/>
          <p:cNvSpPr txBox="1"/>
          <p:nvPr/>
        </p:nvSpPr>
        <p:spPr>
          <a:xfrm>
            <a:off x="224029" y="2261742"/>
            <a:ext cx="982448" cy="307777"/>
          </a:xfrm>
          <a:prstGeom prst="rect">
            <a:avLst/>
          </a:prstGeom>
          <a:noFill/>
        </p:spPr>
        <p:txBody>
          <a:bodyPr wrap="none" rtlCol="0">
            <a:spAutoFit/>
          </a:bodyPr>
          <a:lstStyle/>
          <a:p>
            <a:r>
              <a:rPr lang="en-US" sz="1400" dirty="0" err="1">
                <a:solidFill>
                  <a:schemeClr val="bg1"/>
                </a:solidFill>
              </a:rPr>
              <a:t>Drawwork</a:t>
            </a:r>
            <a:endParaRPr lang="en-US" sz="1400" dirty="0">
              <a:solidFill>
                <a:schemeClr val="bg1"/>
              </a:solidFill>
            </a:endParaRPr>
          </a:p>
        </p:txBody>
      </p:sp>
      <p:sp>
        <p:nvSpPr>
          <p:cNvPr id="14" name="TextBox 13"/>
          <p:cNvSpPr txBox="1"/>
          <p:nvPr/>
        </p:nvSpPr>
        <p:spPr>
          <a:xfrm>
            <a:off x="224029" y="2788916"/>
            <a:ext cx="1547860" cy="307777"/>
          </a:xfrm>
          <a:prstGeom prst="rect">
            <a:avLst/>
          </a:prstGeom>
          <a:noFill/>
        </p:spPr>
        <p:txBody>
          <a:bodyPr wrap="none" rtlCol="0">
            <a:spAutoFit/>
          </a:bodyPr>
          <a:lstStyle/>
          <a:p>
            <a:r>
              <a:rPr lang="en-US" sz="1400" dirty="0">
                <a:solidFill>
                  <a:srgbClr val="C00000"/>
                </a:solidFill>
              </a:rPr>
              <a:t>Top Drive System</a:t>
            </a:r>
          </a:p>
        </p:txBody>
      </p:sp>
      <p:sp>
        <p:nvSpPr>
          <p:cNvPr id="15" name="TextBox 14"/>
          <p:cNvSpPr txBox="1"/>
          <p:nvPr/>
        </p:nvSpPr>
        <p:spPr>
          <a:xfrm>
            <a:off x="2363092" y="6509971"/>
            <a:ext cx="1161472" cy="307777"/>
          </a:xfrm>
          <a:prstGeom prst="rect">
            <a:avLst/>
          </a:prstGeom>
          <a:noFill/>
        </p:spPr>
        <p:txBody>
          <a:bodyPr wrap="none" rtlCol="0">
            <a:spAutoFit/>
          </a:bodyPr>
          <a:lstStyle/>
          <a:p>
            <a:r>
              <a:rPr lang="en-US" sz="1400" dirty="0">
                <a:solidFill>
                  <a:srgbClr val="C00000"/>
                </a:solidFill>
              </a:rPr>
              <a:t>Rotary Table</a:t>
            </a:r>
          </a:p>
        </p:txBody>
      </p:sp>
      <p:sp>
        <p:nvSpPr>
          <p:cNvPr id="16" name="TextBox 15"/>
          <p:cNvSpPr txBox="1"/>
          <p:nvPr/>
        </p:nvSpPr>
        <p:spPr>
          <a:xfrm>
            <a:off x="5325154" y="6537266"/>
            <a:ext cx="898003" cy="307777"/>
          </a:xfrm>
          <a:prstGeom prst="rect">
            <a:avLst/>
          </a:prstGeom>
          <a:noFill/>
        </p:spPr>
        <p:txBody>
          <a:bodyPr wrap="none" rtlCol="0">
            <a:spAutoFit/>
          </a:bodyPr>
          <a:lstStyle/>
          <a:p>
            <a:r>
              <a:rPr lang="en-US" sz="1400" dirty="0">
                <a:solidFill>
                  <a:srgbClr val="C00000"/>
                </a:solidFill>
              </a:rPr>
              <a:t>Drill Pipe</a:t>
            </a:r>
          </a:p>
        </p:txBody>
      </p:sp>
      <p:sp>
        <p:nvSpPr>
          <p:cNvPr id="17" name="TextBox 16"/>
          <p:cNvSpPr txBox="1"/>
          <p:nvPr/>
        </p:nvSpPr>
        <p:spPr>
          <a:xfrm>
            <a:off x="10392177" y="4351946"/>
            <a:ext cx="956544" cy="307777"/>
          </a:xfrm>
          <a:prstGeom prst="rect">
            <a:avLst/>
          </a:prstGeom>
          <a:noFill/>
        </p:spPr>
        <p:txBody>
          <a:bodyPr wrap="none" rtlCol="0">
            <a:spAutoFit/>
          </a:bodyPr>
          <a:lstStyle/>
          <a:p>
            <a:r>
              <a:rPr lang="en-US" sz="1400" dirty="0">
                <a:solidFill>
                  <a:srgbClr val="C00000"/>
                </a:solidFill>
              </a:rPr>
              <a:t>Hawk Jaw</a:t>
            </a:r>
          </a:p>
        </p:txBody>
      </p:sp>
      <p:sp>
        <p:nvSpPr>
          <p:cNvPr id="18" name="TextBox 17"/>
          <p:cNvSpPr txBox="1"/>
          <p:nvPr/>
        </p:nvSpPr>
        <p:spPr>
          <a:xfrm>
            <a:off x="7811321" y="6530442"/>
            <a:ext cx="1439112" cy="307777"/>
          </a:xfrm>
          <a:prstGeom prst="rect">
            <a:avLst/>
          </a:prstGeom>
          <a:noFill/>
        </p:spPr>
        <p:txBody>
          <a:bodyPr wrap="none" rtlCol="0">
            <a:spAutoFit/>
          </a:bodyPr>
          <a:lstStyle/>
          <a:p>
            <a:r>
              <a:rPr lang="en-US" sz="1400" dirty="0">
                <a:solidFill>
                  <a:srgbClr val="C00000"/>
                </a:solidFill>
              </a:rPr>
              <a:t>Rig Skid System</a:t>
            </a:r>
          </a:p>
        </p:txBody>
      </p:sp>
      <p:sp>
        <p:nvSpPr>
          <p:cNvPr id="19" name="TextBox 18"/>
          <p:cNvSpPr txBox="1"/>
          <p:nvPr/>
        </p:nvSpPr>
        <p:spPr>
          <a:xfrm>
            <a:off x="9903219" y="6509970"/>
            <a:ext cx="1740220" cy="307777"/>
          </a:xfrm>
          <a:prstGeom prst="rect">
            <a:avLst/>
          </a:prstGeom>
          <a:noFill/>
        </p:spPr>
        <p:txBody>
          <a:bodyPr wrap="none" rtlCol="0">
            <a:spAutoFit/>
          </a:bodyPr>
          <a:lstStyle/>
          <a:p>
            <a:r>
              <a:rPr lang="en-US" sz="1400" dirty="0">
                <a:solidFill>
                  <a:srgbClr val="C00000"/>
                </a:solidFill>
              </a:rPr>
              <a:t>Rig Walking System</a:t>
            </a:r>
          </a:p>
        </p:txBody>
      </p:sp>
      <p:pic>
        <p:nvPicPr>
          <p:cNvPr id="20" name="Picture 19"/>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525357" y="1361659"/>
            <a:ext cx="2260086" cy="1504370"/>
          </a:xfrm>
          <a:prstGeom prst="rect">
            <a:avLst/>
          </a:prstGeom>
        </p:spPr>
      </p:pic>
      <p:sp>
        <p:nvSpPr>
          <p:cNvPr id="21" name="TextBox 20"/>
          <p:cNvSpPr txBox="1"/>
          <p:nvPr/>
        </p:nvSpPr>
        <p:spPr>
          <a:xfrm>
            <a:off x="8192953" y="2539041"/>
            <a:ext cx="1199367" cy="307777"/>
          </a:xfrm>
          <a:prstGeom prst="rect">
            <a:avLst/>
          </a:prstGeom>
          <a:noFill/>
        </p:spPr>
        <p:txBody>
          <a:bodyPr wrap="none" rtlCol="0">
            <a:spAutoFit/>
          </a:bodyPr>
          <a:lstStyle/>
          <a:p>
            <a:r>
              <a:rPr lang="en-US" sz="1400" b="1" dirty="0">
                <a:solidFill>
                  <a:srgbClr val="FFFF00"/>
                </a:solidFill>
              </a:rPr>
              <a:t>Mud Pumps</a:t>
            </a:r>
          </a:p>
        </p:txBody>
      </p:sp>
      <p:sp>
        <p:nvSpPr>
          <p:cNvPr id="22" name="TextBox 21"/>
          <p:cNvSpPr txBox="1"/>
          <p:nvPr/>
        </p:nvSpPr>
        <p:spPr>
          <a:xfrm>
            <a:off x="5325154" y="1630749"/>
            <a:ext cx="930063" cy="307777"/>
          </a:xfrm>
          <a:prstGeom prst="rect">
            <a:avLst/>
          </a:prstGeom>
          <a:noFill/>
        </p:spPr>
        <p:txBody>
          <a:bodyPr wrap="none" rtlCol="0">
            <a:spAutoFit/>
          </a:bodyPr>
          <a:lstStyle/>
          <a:p>
            <a:r>
              <a:rPr lang="en-US" sz="1400" b="1" dirty="0">
                <a:solidFill>
                  <a:srgbClr val="002060"/>
                </a:solidFill>
              </a:rPr>
              <a:t>Rig Mast</a:t>
            </a:r>
          </a:p>
        </p:txBody>
      </p:sp>
      <p:sp>
        <p:nvSpPr>
          <p:cNvPr id="23" name="TextBox 22"/>
          <p:cNvSpPr txBox="1"/>
          <p:nvPr/>
        </p:nvSpPr>
        <p:spPr>
          <a:xfrm>
            <a:off x="5530615" y="4071465"/>
            <a:ext cx="1338956" cy="307777"/>
          </a:xfrm>
          <a:prstGeom prst="rect">
            <a:avLst/>
          </a:prstGeom>
          <a:noFill/>
        </p:spPr>
        <p:txBody>
          <a:bodyPr wrap="none" rtlCol="0">
            <a:spAutoFit/>
          </a:bodyPr>
          <a:lstStyle/>
          <a:p>
            <a:r>
              <a:rPr lang="en-US" sz="1400" b="1" dirty="0">
                <a:solidFill>
                  <a:srgbClr val="FFFF00"/>
                </a:solidFill>
              </a:rPr>
              <a:t>Sub Structure</a:t>
            </a:r>
          </a:p>
        </p:txBody>
      </p:sp>
      <p:sp>
        <p:nvSpPr>
          <p:cNvPr id="24" name="TextBox 23"/>
          <p:cNvSpPr txBox="1"/>
          <p:nvPr/>
        </p:nvSpPr>
        <p:spPr>
          <a:xfrm>
            <a:off x="6685223" y="3494924"/>
            <a:ext cx="1680268" cy="307777"/>
          </a:xfrm>
          <a:prstGeom prst="rect">
            <a:avLst/>
          </a:prstGeom>
          <a:noFill/>
        </p:spPr>
        <p:txBody>
          <a:bodyPr wrap="none" rtlCol="0">
            <a:spAutoFit/>
          </a:bodyPr>
          <a:lstStyle/>
          <a:p>
            <a:r>
              <a:rPr lang="en-US" sz="1400" b="1" dirty="0">
                <a:solidFill>
                  <a:srgbClr val="FFFF00"/>
                </a:solidFill>
              </a:rPr>
              <a:t>Heavy Equipment</a:t>
            </a:r>
          </a:p>
        </p:txBody>
      </p:sp>
    </p:spTree>
    <p:extLst>
      <p:ext uri="{BB962C8B-B14F-4D97-AF65-F5344CB8AC3E}">
        <p14:creationId xmlns:p14="http://schemas.microsoft.com/office/powerpoint/2010/main" val="1738490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0E087-5088-48B0-B876-1A8F71D79313}"/>
              </a:ext>
            </a:extLst>
          </p:cNvPr>
          <p:cNvSpPr>
            <a:spLocks noGrp="1"/>
          </p:cNvSpPr>
          <p:nvPr>
            <p:ph type="title"/>
          </p:nvPr>
        </p:nvSpPr>
        <p:spPr/>
        <p:txBody>
          <a:bodyPr>
            <a:noAutofit/>
          </a:bodyPr>
          <a:lstStyle/>
          <a:p>
            <a:r>
              <a:rPr lang="en-US" sz="4000" b="1" dirty="0">
                <a:solidFill>
                  <a:srgbClr val="C00000"/>
                </a:solidFill>
              </a:rPr>
              <a:t>Rig Horsepower Selection</a:t>
            </a:r>
            <a:endParaRPr lang="en-ID" sz="4000" b="1" dirty="0">
              <a:solidFill>
                <a:srgbClr val="C00000"/>
              </a:solidFill>
            </a:endParaRPr>
          </a:p>
        </p:txBody>
      </p:sp>
      <p:pic>
        <p:nvPicPr>
          <p:cNvPr id="5" name="Picture 4">
            <a:extLst>
              <a:ext uri="{FF2B5EF4-FFF2-40B4-BE49-F238E27FC236}">
                <a16:creationId xmlns:a16="http://schemas.microsoft.com/office/drawing/2014/main" id="{8A583C6C-CB0A-4F98-B7B3-45DF979515D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713080"/>
            <a:ext cx="8616932" cy="3553208"/>
          </a:xfrm>
          <a:prstGeom prst="rect">
            <a:avLst/>
          </a:prstGeom>
        </p:spPr>
      </p:pic>
      <p:sp>
        <p:nvSpPr>
          <p:cNvPr id="3" name="TextBox 2">
            <a:extLst>
              <a:ext uri="{FF2B5EF4-FFF2-40B4-BE49-F238E27FC236}">
                <a16:creationId xmlns:a16="http://schemas.microsoft.com/office/drawing/2014/main" id="{BD9D18F5-35CD-4850-8A08-628CABD378D1}"/>
              </a:ext>
            </a:extLst>
          </p:cNvPr>
          <p:cNvSpPr txBox="1"/>
          <p:nvPr/>
        </p:nvSpPr>
        <p:spPr>
          <a:xfrm>
            <a:off x="6306440" y="5531016"/>
            <a:ext cx="5594801" cy="800219"/>
          </a:xfrm>
          <a:prstGeom prst="rect">
            <a:avLst/>
          </a:prstGeom>
          <a:noFill/>
        </p:spPr>
        <p:txBody>
          <a:bodyPr wrap="none" rtlCol="0">
            <a:spAutoFit/>
          </a:bodyPr>
          <a:lstStyle/>
          <a:p>
            <a:r>
              <a:rPr lang="en-US" dirty="0"/>
              <a:t>Daily Drilling Rig Cost in Indonesia (1000 – 2000 HP): </a:t>
            </a:r>
          </a:p>
          <a:p>
            <a:pPr marL="457200" indent="-457200">
              <a:buFont typeface="Arial" panose="020B0604020202020204" pitchFamily="34" charset="0"/>
              <a:buChar char="•"/>
            </a:pPr>
            <a:r>
              <a:rPr lang="en-US" sz="2800" b="1" dirty="0">
                <a:solidFill>
                  <a:srgbClr val="FF0000"/>
                </a:solidFill>
              </a:rPr>
              <a:t>$ 19000 - 30000</a:t>
            </a:r>
            <a:endParaRPr lang="en-ID" sz="2800" b="1" dirty="0">
              <a:solidFill>
                <a:srgbClr val="FF0000"/>
              </a:solidFill>
            </a:endParaRPr>
          </a:p>
        </p:txBody>
      </p:sp>
      <p:sp>
        <p:nvSpPr>
          <p:cNvPr id="4" name="Arrow: Down 3">
            <a:extLst>
              <a:ext uri="{FF2B5EF4-FFF2-40B4-BE49-F238E27FC236}">
                <a16:creationId xmlns:a16="http://schemas.microsoft.com/office/drawing/2014/main" id="{26728F0F-B970-4BFE-A885-50CA4E4034FB}"/>
              </a:ext>
            </a:extLst>
          </p:cNvPr>
          <p:cNvSpPr/>
          <p:nvPr/>
        </p:nvSpPr>
        <p:spPr>
          <a:xfrm>
            <a:off x="9446166" y="5948776"/>
            <a:ext cx="1595120" cy="642872"/>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D"/>
          </a:p>
        </p:txBody>
      </p:sp>
      <p:sp>
        <p:nvSpPr>
          <p:cNvPr id="6" name="TextBox 5">
            <a:extLst>
              <a:ext uri="{FF2B5EF4-FFF2-40B4-BE49-F238E27FC236}">
                <a16:creationId xmlns:a16="http://schemas.microsoft.com/office/drawing/2014/main" id="{8770E2E4-3D7A-4B14-BE61-D1AF39F8BB0F}"/>
              </a:ext>
            </a:extLst>
          </p:cNvPr>
          <p:cNvSpPr txBox="1"/>
          <p:nvPr/>
        </p:nvSpPr>
        <p:spPr>
          <a:xfrm>
            <a:off x="8767600" y="1383630"/>
            <a:ext cx="3566640" cy="4247317"/>
          </a:xfrm>
          <a:prstGeom prst="rect">
            <a:avLst/>
          </a:prstGeom>
          <a:noFill/>
        </p:spPr>
        <p:txBody>
          <a:bodyPr wrap="square" rtlCol="0">
            <a:spAutoFit/>
          </a:bodyPr>
          <a:lstStyle/>
          <a:p>
            <a:r>
              <a:rPr lang="en-US" dirty="0"/>
              <a:t>Rig Horsepower Utilization vs Drilling Total Depth:</a:t>
            </a:r>
          </a:p>
          <a:p>
            <a:endParaRPr lang="en-US" dirty="0"/>
          </a:p>
          <a:p>
            <a:r>
              <a:rPr lang="en-US" b="1" dirty="0">
                <a:solidFill>
                  <a:srgbClr val="C00000"/>
                </a:solidFill>
              </a:rPr>
              <a:t>750-900 HP (100-120 Ton):</a:t>
            </a:r>
          </a:p>
          <a:p>
            <a:pPr marL="285750" indent="-285750">
              <a:buFont typeface="Arial" panose="020B0604020202020204" pitchFamily="34" charset="0"/>
              <a:buChar char="•"/>
            </a:pPr>
            <a:r>
              <a:rPr lang="en-US" dirty="0"/>
              <a:t>1000 – 1500 m Depth </a:t>
            </a:r>
          </a:p>
          <a:p>
            <a:pPr marL="285750" indent="-285750">
              <a:buFont typeface="Arial" panose="020B0604020202020204" pitchFamily="34" charset="0"/>
              <a:buChar char="•"/>
            </a:pPr>
            <a:endParaRPr lang="en-US" dirty="0"/>
          </a:p>
          <a:p>
            <a:r>
              <a:rPr lang="en-US" b="1" dirty="0">
                <a:solidFill>
                  <a:srgbClr val="C00000"/>
                </a:solidFill>
              </a:rPr>
              <a:t>1000 (350 Ton):</a:t>
            </a:r>
          </a:p>
          <a:p>
            <a:pPr marL="285750" indent="-285750">
              <a:buFont typeface="Arial" panose="020B0604020202020204" pitchFamily="34" charset="0"/>
              <a:buChar char="•"/>
            </a:pPr>
            <a:r>
              <a:rPr lang="en-US" dirty="0"/>
              <a:t>1500 – 3200 m Depth </a:t>
            </a:r>
          </a:p>
          <a:p>
            <a:pPr marL="285750" indent="-285750">
              <a:buFont typeface="Arial" panose="020B0604020202020204" pitchFamily="34" charset="0"/>
              <a:buChar char="•"/>
            </a:pPr>
            <a:endParaRPr lang="en-US" dirty="0"/>
          </a:p>
          <a:p>
            <a:r>
              <a:rPr lang="en-US" b="1" dirty="0">
                <a:solidFill>
                  <a:srgbClr val="C00000"/>
                </a:solidFill>
              </a:rPr>
              <a:t>1350-1500 HP (350-500 Ton):</a:t>
            </a:r>
          </a:p>
          <a:p>
            <a:pPr marL="285750" indent="-285750">
              <a:buFont typeface="Arial" panose="020B0604020202020204" pitchFamily="34" charset="0"/>
              <a:buChar char="•"/>
            </a:pPr>
            <a:r>
              <a:rPr lang="en-US" dirty="0"/>
              <a:t>3200 – 5000 m Depth </a:t>
            </a:r>
          </a:p>
          <a:p>
            <a:pPr marL="285750" indent="-285750">
              <a:buFont typeface="Arial" panose="020B0604020202020204" pitchFamily="34" charset="0"/>
              <a:buChar char="•"/>
            </a:pPr>
            <a:endParaRPr lang="en-US" dirty="0"/>
          </a:p>
          <a:p>
            <a:r>
              <a:rPr lang="en-US" b="1" dirty="0">
                <a:solidFill>
                  <a:srgbClr val="C00000"/>
                </a:solidFill>
              </a:rPr>
              <a:t>2000 HP (500 Ton):</a:t>
            </a:r>
          </a:p>
          <a:p>
            <a:pPr marL="285750" indent="-285750">
              <a:buFont typeface="Arial" panose="020B0604020202020204" pitchFamily="34" charset="0"/>
              <a:buChar char="•"/>
            </a:pPr>
            <a:r>
              <a:rPr lang="en-US" dirty="0"/>
              <a:t>Deep well, superheated well</a:t>
            </a: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E0A0A843-B360-47DF-9B35-41AA60E15D64}"/>
              </a:ext>
            </a:extLst>
          </p:cNvPr>
          <p:cNvSpPr txBox="1"/>
          <p:nvPr/>
        </p:nvSpPr>
        <p:spPr>
          <a:xfrm>
            <a:off x="1673766" y="1341301"/>
            <a:ext cx="6167120" cy="369332"/>
          </a:xfrm>
          <a:prstGeom prst="rect">
            <a:avLst/>
          </a:prstGeom>
          <a:noFill/>
        </p:spPr>
        <p:txBody>
          <a:bodyPr wrap="square">
            <a:spAutoFit/>
          </a:bodyPr>
          <a:lstStyle/>
          <a:p>
            <a:r>
              <a:rPr lang="en-US" dirty="0"/>
              <a:t>Crude Oil Prices vs Daily Rig Rated in Turkey</a:t>
            </a:r>
            <a:endParaRPr lang="en-ID" dirty="0"/>
          </a:p>
        </p:txBody>
      </p:sp>
      <p:sp>
        <p:nvSpPr>
          <p:cNvPr id="9" name="TextBox 8">
            <a:extLst>
              <a:ext uri="{FF2B5EF4-FFF2-40B4-BE49-F238E27FC236}">
                <a16:creationId xmlns:a16="http://schemas.microsoft.com/office/drawing/2014/main" id="{EACFCC60-C48E-4C9E-B011-DA9E514D8629}"/>
              </a:ext>
            </a:extLst>
          </p:cNvPr>
          <p:cNvSpPr txBox="1"/>
          <p:nvPr/>
        </p:nvSpPr>
        <p:spPr>
          <a:xfrm>
            <a:off x="248282" y="5630947"/>
            <a:ext cx="5231881" cy="800219"/>
          </a:xfrm>
          <a:prstGeom prst="rect">
            <a:avLst/>
          </a:prstGeom>
          <a:noFill/>
        </p:spPr>
        <p:txBody>
          <a:bodyPr wrap="none" rtlCol="0">
            <a:spAutoFit/>
          </a:bodyPr>
          <a:lstStyle/>
          <a:p>
            <a:r>
              <a:rPr lang="en-US" dirty="0"/>
              <a:t>Daily Drilling Rig Cost in Turkey (1350 – 2000 HP): </a:t>
            </a:r>
          </a:p>
          <a:p>
            <a:pPr marL="457200" indent="-457200">
              <a:buFont typeface="Arial" panose="020B0604020202020204" pitchFamily="34" charset="0"/>
              <a:buChar char="•"/>
            </a:pPr>
            <a:r>
              <a:rPr lang="en-US" sz="2800" b="1" dirty="0">
                <a:solidFill>
                  <a:srgbClr val="FF0000"/>
                </a:solidFill>
              </a:rPr>
              <a:t>$ 11000 - 20000</a:t>
            </a:r>
            <a:endParaRPr lang="en-ID" sz="2800" b="1" dirty="0">
              <a:solidFill>
                <a:srgbClr val="FF0000"/>
              </a:solidFill>
            </a:endParaRPr>
          </a:p>
        </p:txBody>
      </p:sp>
    </p:spTree>
    <p:extLst>
      <p:ext uri="{BB962C8B-B14F-4D97-AF65-F5344CB8AC3E}">
        <p14:creationId xmlns:p14="http://schemas.microsoft.com/office/powerpoint/2010/main" val="2290333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627742" y="448734"/>
            <a:ext cx="8229600" cy="639763"/>
          </a:xfrm>
        </p:spPr>
        <p:txBody>
          <a:bodyPr>
            <a:normAutofit fontScale="90000"/>
          </a:bodyPr>
          <a:lstStyle/>
          <a:p>
            <a:r>
              <a:rPr lang="en-US" altLang="en-US" sz="4000" b="1" dirty="0">
                <a:solidFill>
                  <a:srgbClr val="C00000"/>
                </a:solidFill>
              </a:rPr>
              <a:t>RIG SIZING</a:t>
            </a:r>
          </a:p>
        </p:txBody>
      </p:sp>
    </p:spTree>
    <p:extLst>
      <p:ext uri="{BB962C8B-B14F-4D97-AF65-F5344CB8AC3E}">
        <p14:creationId xmlns:p14="http://schemas.microsoft.com/office/powerpoint/2010/main" val="16350541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09310319-A4FB-29EB-A440-DB24ED4AA8E4}"/>
              </a:ext>
            </a:extLst>
          </p:cNvPr>
          <p:cNvPicPr>
            <a:picLocks noChangeAspect="1"/>
          </p:cNvPicPr>
          <p:nvPr/>
        </p:nvPicPr>
        <p:blipFill rotWithShape="1">
          <a:blip r:embed="rId2" cstate="email">
            <a:duotone>
              <a:schemeClr val="accent5">
                <a:shade val="45000"/>
                <a:satMod val="135000"/>
              </a:schemeClr>
              <a:prstClr val="white"/>
            </a:duotone>
            <a:extLst>
              <a:ext uri="{28A0092B-C50C-407E-A947-70E740481C1C}">
                <a14:useLocalDpi xmlns:a14="http://schemas.microsoft.com/office/drawing/2010/main"/>
              </a:ext>
            </a:extLst>
          </a:blip>
          <a:srcRect t="64591"/>
          <a:stretch/>
        </p:blipFill>
        <p:spPr>
          <a:xfrm>
            <a:off x="-14872" y="-1"/>
            <a:ext cx="10830018" cy="1209731"/>
          </a:xfrm>
          <a:prstGeom prst="rect">
            <a:avLst/>
          </a:prstGeom>
          <a:solidFill>
            <a:schemeClr val="tx2">
              <a:lumMod val="60000"/>
              <a:lumOff val="40000"/>
            </a:schemeClr>
          </a:solidFill>
        </p:spPr>
      </p:pic>
      <p:sp>
        <p:nvSpPr>
          <p:cNvPr id="7" name="Freeform 3">
            <a:extLst>
              <a:ext uri="{FF2B5EF4-FFF2-40B4-BE49-F238E27FC236}">
                <a16:creationId xmlns:a16="http://schemas.microsoft.com/office/drawing/2014/main" id="{2989DBD4-FC61-5E35-B82E-1585D6D02FFC}"/>
              </a:ext>
            </a:extLst>
          </p:cNvPr>
          <p:cNvSpPr/>
          <p:nvPr/>
        </p:nvSpPr>
        <p:spPr>
          <a:xfrm>
            <a:off x="10831436" y="-108611"/>
            <a:ext cx="1326403" cy="1326403"/>
          </a:xfrm>
          <a:custGeom>
            <a:avLst/>
            <a:gdLst/>
            <a:ahLst/>
            <a:cxnLst/>
            <a:rect l="l" t="t" r="r" b="b"/>
            <a:pathLst>
              <a:path w="1989604" h="1989604">
                <a:moveTo>
                  <a:pt x="0" y="0"/>
                </a:moveTo>
                <a:lnTo>
                  <a:pt x="1989604" y="0"/>
                </a:lnTo>
                <a:lnTo>
                  <a:pt x="1989604" y="1989605"/>
                </a:lnTo>
                <a:lnTo>
                  <a:pt x="0" y="1989605"/>
                </a:lnTo>
                <a:lnTo>
                  <a:pt x="0" y="0"/>
                </a:lnTo>
                <a:close/>
              </a:path>
            </a:pathLst>
          </a:custGeom>
          <a:blipFill>
            <a:blip r:embed="rId3"/>
            <a:stretch>
              <a:fillRect/>
            </a:stretch>
          </a:blipFill>
        </p:spPr>
        <p:txBody>
          <a:bodyPr/>
          <a:lstStyle/>
          <a:p>
            <a:endParaRPr lang="en-ID" sz="1200"/>
          </a:p>
        </p:txBody>
      </p:sp>
      <p:sp>
        <p:nvSpPr>
          <p:cNvPr id="2" name="Title 1">
            <a:extLst>
              <a:ext uri="{FF2B5EF4-FFF2-40B4-BE49-F238E27FC236}">
                <a16:creationId xmlns:a16="http://schemas.microsoft.com/office/drawing/2014/main" id="{D2D08CE7-6591-CB1C-7186-51A0E9A0B3A3}"/>
              </a:ext>
            </a:extLst>
          </p:cNvPr>
          <p:cNvSpPr>
            <a:spLocks noGrp="1"/>
          </p:cNvSpPr>
          <p:nvPr>
            <p:ph type="title"/>
          </p:nvPr>
        </p:nvSpPr>
        <p:spPr>
          <a:xfrm>
            <a:off x="321485" y="283662"/>
            <a:ext cx="10157303" cy="640080"/>
          </a:xfrm>
        </p:spPr>
        <p:txBody>
          <a:bodyPr>
            <a:noAutofit/>
          </a:bodyPr>
          <a:lstStyle/>
          <a:p>
            <a:r>
              <a:rPr lang="en-US" sz="3600" b="1" dirty="0">
                <a:solidFill>
                  <a:schemeClr val="bg1"/>
                </a:solidFill>
                <a:latin typeface="Dream Avenue Bold"/>
              </a:rPr>
              <a:t>Rig Manufacturer’s Rated Drilling Depth …</a:t>
            </a:r>
          </a:p>
        </p:txBody>
      </p:sp>
      <p:grpSp>
        <p:nvGrpSpPr>
          <p:cNvPr id="8" name="Group 7">
            <a:extLst>
              <a:ext uri="{FF2B5EF4-FFF2-40B4-BE49-F238E27FC236}">
                <a16:creationId xmlns:a16="http://schemas.microsoft.com/office/drawing/2014/main" id="{822D35FF-57CA-397E-754E-BE9E2F18BF2A}"/>
              </a:ext>
            </a:extLst>
          </p:cNvPr>
          <p:cNvGrpSpPr/>
          <p:nvPr/>
        </p:nvGrpSpPr>
        <p:grpSpPr>
          <a:xfrm>
            <a:off x="64610" y="1217792"/>
            <a:ext cx="9097800" cy="5270097"/>
            <a:chOff x="64610" y="1217792"/>
            <a:chExt cx="9097800" cy="5270097"/>
          </a:xfrm>
        </p:grpSpPr>
        <p:pic>
          <p:nvPicPr>
            <p:cNvPr id="6" name="Picture 5">
              <a:extLst>
                <a:ext uri="{FF2B5EF4-FFF2-40B4-BE49-F238E27FC236}">
                  <a16:creationId xmlns:a16="http://schemas.microsoft.com/office/drawing/2014/main" id="{CE5C9897-7EC7-3978-A75E-AB1C2671AD98}"/>
                </a:ext>
              </a:extLst>
            </p:cNvPr>
            <p:cNvPicPr>
              <a:picLocks noChangeAspect="1"/>
            </p:cNvPicPr>
            <p:nvPr/>
          </p:nvPicPr>
          <p:blipFill>
            <a:blip r:embed="rId4"/>
            <a:stretch>
              <a:fillRect/>
            </a:stretch>
          </p:blipFill>
          <p:spPr>
            <a:xfrm>
              <a:off x="64610" y="1217792"/>
              <a:ext cx="9097800" cy="4636433"/>
            </a:xfrm>
            <a:prstGeom prst="rect">
              <a:avLst/>
            </a:prstGeom>
          </p:spPr>
        </p:pic>
        <p:sp>
          <p:nvSpPr>
            <p:cNvPr id="12" name="Arrow: Left-Right 11">
              <a:extLst>
                <a:ext uri="{FF2B5EF4-FFF2-40B4-BE49-F238E27FC236}">
                  <a16:creationId xmlns:a16="http://schemas.microsoft.com/office/drawing/2014/main" id="{12FEBA76-BB47-2905-E333-EE73FF0D3C1B}"/>
                </a:ext>
              </a:extLst>
            </p:cNvPr>
            <p:cNvSpPr/>
            <p:nvPr/>
          </p:nvSpPr>
          <p:spPr>
            <a:xfrm>
              <a:off x="521207" y="3596678"/>
              <a:ext cx="4281905" cy="728505"/>
            </a:xfrm>
            <a:prstGeom prst="lef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Work Over, Shallow Drilling</a:t>
              </a:r>
            </a:p>
          </p:txBody>
        </p:sp>
        <p:sp>
          <p:nvSpPr>
            <p:cNvPr id="13" name="Arrow: Left-Right 12">
              <a:extLst>
                <a:ext uri="{FF2B5EF4-FFF2-40B4-BE49-F238E27FC236}">
                  <a16:creationId xmlns:a16="http://schemas.microsoft.com/office/drawing/2014/main" id="{ABEF0980-8436-592D-39AA-D93ED7C77518}"/>
                </a:ext>
              </a:extLst>
            </p:cNvPr>
            <p:cNvSpPr/>
            <p:nvPr/>
          </p:nvSpPr>
          <p:spPr>
            <a:xfrm>
              <a:off x="6805263" y="5722499"/>
              <a:ext cx="2357147" cy="765390"/>
            </a:xfrm>
            <a:prstGeom prst="leftRightArrow">
              <a:avLst>
                <a:gd name="adj1" fmla="val 60220"/>
                <a:gd name="adj2" fmla="val 50000"/>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dirty="0">
                  <a:solidFill>
                    <a:srgbClr val="FF0000"/>
                  </a:solidFill>
                </a:rPr>
                <a:t>Super Heated Well</a:t>
              </a:r>
            </a:p>
          </p:txBody>
        </p:sp>
        <p:sp>
          <p:nvSpPr>
            <p:cNvPr id="14" name="Arrow: Left-Right 13">
              <a:extLst>
                <a:ext uri="{FF2B5EF4-FFF2-40B4-BE49-F238E27FC236}">
                  <a16:creationId xmlns:a16="http://schemas.microsoft.com/office/drawing/2014/main" id="{3F0C9752-5E3C-9F7C-AD2F-26A9D531DAF4}"/>
                </a:ext>
              </a:extLst>
            </p:cNvPr>
            <p:cNvSpPr/>
            <p:nvPr/>
          </p:nvSpPr>
          <p:spPr>
            <a:xfrm>
              <a:off x="4803112" y="4544971"/>
              <a:ext cx="2002151" cy="1065125"/>
            </a:xfrm>
            <a:prstGeom prst="lef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b="1" dirty="0"/>
                <a:t>Typical Drilling Geothermal</a:t>
              </a:r>
            </a:p>
          </p:txBody>
        </p:sp>
      </p:grpSp>
      <p:sp>
        <p:nvSpPr>
          <p:cNvPr id="15" name="TextBox 14">
            <a:extLst>
              <a:ext uri="{FF2B5EF4-FFF2-40B4-BE49-F238E27FC236}">
                <a16:creationId xmlns:a16="http://schemas.microsoft.com/office/drawing/2014/main" id="{E39D7C28-FCBA-E8EF-4CEC-267BEAD21198}"/>
              </a:ext>
            </a:extLst>
          </p:cNvPr>
          <p:cNvSpPr txBox="1"/>
          <p:nvPr/>
        </p:nvSpPr>
        <p:spPr>
          <a:xfrm>
            <a:off x="9204290" y="1366024"/>
            <a:ext cx="2847033" cy="4708981"/>
          </a:xfrm>
          <a:prstGeom prst="rect">
            <a:avLst/>
          </a:prstGeom>
          <a:noFill/>
        </p:spPr>
        <p:txBody>
          <a:bodyPr wrap="square" rtlCol="0">
            <a:spAutoFit/>
          </a:bodyPr>
          <a:lstStyle/>
          <a:p>
            <a:r>
              <a:rPr lang="en-ID" sz="2400" b="1" dirty="0">
                <a:solidFill>
                  <a:schemeClr val="accent6">
                    <a:lumMod val="50000"/>
                  </a:schemeClr>
                </a:solidFill>
              </a:rPr>
              <a:t>Which Rig do we want to use?</a:t>
            </a:r>
          </a:p>
          <a:p>
            <a:endParaRPr lang="en-ID" sz="2400" b="1" dirty="0">
              <a:solidFill>
                <a:schemeClr val="accent6">
                  <a:lumMod val="50000"/>
                </a:schemeClr>
              </a:solidFill>
            </a:endParaRPr>
          </a:p>
          <a:p>
            <a:pPr marL="280988" indent="-280988">
              <a:buFont typeface="Arial" panose="020B0604020202020204" pitchFamily="34" charset="0"/>
              <a:buChar char="•"/>
            </a:pPr>
            <a:r>
              <a:rPr lang="en-ID" sz="2400" b="1" dirty="0">
                <a:solidFill>
                  <a:srgbClr val="FF0000"/>
                </a:solidFill>
              </a:rPr>
              <a:t>Rig 750 HP </a:t>
            </a:r>
          </a:p>
          <a:p>
            <a:pPr marL="280988"/>
            <a:r>
              <a:rPr lang="en-ID" dirty="0">
                <a:solidFill>
                  <a:schemeClr val="accent6">
                    <a:lumMod val="50000"/>
                  </a:schemeClr>
                </a:solidFill>
              </a:rPr>
              <a:t>shallow well</a:t>
            </a:r>
          </a:p>
          <a:p>
            <a:pPr marL="280988"/>
            <a:endParaRPr lang="en-ID" b="1" dirty="0">
              <a:solidFill>
                <a:schemeClr val="accent6">
                  <a:lumMod val="50000"/>
                </a:schemeClr>
              </a:solidFill>
            </a:endParaRPr>
          </a:p>
          <a:p>
            <a:pPr marL="280988" indent="-280988">
              <a:buFont typeface="Arial" panose="020B0604020202020204" pitchFamily="34" charset="0"/>
              <a:buChar char="•"/>
            </a:pPr>
            <a:r>
              <a:rPr lang="en-ID" sz="2400" b="1" dirty="0">
                <a:solidFill>
                  <a:schemeClr val="accent6">
                    <a:lumMod val="50000"/>
                  </a:schemeClr>
                </a:solidFill>
              </a:rPr>
              <a:t>Rig 1000 HP </a:t>
            </a:r>
            <a:r>
              <a:rPr lang="en-ID" dirty="0">
                <a:solidFill>
                  <a:schemeClr val="accent6">
                    <a:lumMod val="50000"/>
                  </a:schemeClr>
                </a:solidFill>
              </a:rPr>
              <a:t>could be fit of propose to drill Geothermal well in Indonesia</a:t>
            </a:r>
          </a:p>
          <a:p>
            <a:pPr marL="280988" indent="-280988">
              <a:buFont typeface="Arial" panose="020B0604020202020204" pitchFamily="34" charset="0"/>
              <a:buChar char="•"/>
            </a:pPr>
            <a:endParaRPr lang="en-ID" sz="2400" dirty="0">
              <a:solidFill>
                <a:schemeClr val="accent6">
                  <a:lumMod val="50000"/>
                </a:schemeClr>
              </a:solidFill>
            </a:endParaRPr>
          </a:p>
          <a:p>
            <a:pPr marL="280988" indent="-280988">
              <a:buFont typeface="Arial" panose="020B0604020202020204" pitchFamily="34" charset="0"/>
              <a:buChar char="•"/>
            </a:pPr>
            <a:r>
              <a:rPr lang="en-ID" sz="2400" b="1" dirty="0">
                <a:solidFill>
                  <a:srgbClr val="FF0000"/>
                </a:solidFill>
              </a:rPr>
              <a:t>Rig 1500-2000 HP </a:t>
            </a:r>
          </a:p>
          <a:p>
            <a:pPr marL="280988"/>
            <a:r>
              <a:rPr lang="en-ID" dirty="0">
                <a:solidFill>
                  <a:schemeClr val="accent6">
                    <a:lumMod val="75000"/>
                  </a:schemeClr>
                </a:solidFill>
              </a:rPr>
              <a:t>For superheated well</a:t>
            </a:r>
          </a:p>
        </p:txBody>
      </p:sp>
      <p:sp>
        <p:nvSpPr>
          <p:cNvPr id="4" name="Rectangle: Rounded Corners 3">
            <a:extLst>
              <a:ext uri="{FF2B5EF4-FFF2-40B4-BE49-F238E27FC236}">
                <a16:creationId xmlns:a16="http://schemas.microsoft.com/office/drawing/2014/main" id="{13B0454D-9EE1-146B-7AF5-170EA1C35732}"/>
              </a:ext>
            </a:extLst>
          </p:cNvPr>
          <p:cNvSpPr/>
          <p:nvPr/>
        </p:nvSpPr>
        <p:spPr>
          <a:xfrm>
            <a:off x="9239459" y="3341998"/>
            <a:ext cx="2776694" cy="1366575"/>
          </a:xfrm>
          <a:prstGeom prst="roundRect">
            <a:avLst/>
          </a:prstGeom>
          <a:solidFill>
            <a:srgbClr val="FFFF66">
              <a:alpha val="9000"/>
            </a:srgbClr>
          </a:solidFill>
          <a:ln w="50800">
            <a:solidFill>
              <a:srgbClr val="FF5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76586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a:extLst>
              <a:ext uri="{FF2B5EF4-FFF2-40B4-BE49-F238E27FC236}">
                <a16:creationId xmlns:a16="http://schemas.microsoft.com/office/drawing/2014/main" id="{A1D0713F-6668-4D8B-4C75-A2BDA63AABDA}"/>
              </a:ext>
            </a:extLst>
          </p:cNvPr>
          <p:cNvPicPr>
            <a:picLocks noChangeAspect="1"/>
          </p:cNvPicPr>
          <p:nvPr/>
        </p:nvPicPr>
        <p:blipFill rotWithShape="1">
          <a:blip r:embed="rId2" cstate="email">
            <a:duotone>
              <a:schemeClr val="accent5">
                <a:shade val="45000"/>
                <a:satMod val="135000"/>
              </a:schemeClr>
              <a:prstClr val="white"/>
            </a:duotone>
            <a:extLst>
              <a:ext uri="{28A0092B-C50C-407E-A947-70E740481C1C}">
                <a14:useLocalDpi xmlns:a14="http://schemas.microsoft.com/office/drawing/2010/main"/>
              </a:ext>
            </a:extLst>
          </a:blip>
          <a:srcRect t="64591"/>
          <a:stretch/>
        </p:blipFill>
        <p:spPr>
          <a:xfrm>
            <a:off x="-14872" y="-1"/>
            <a:ext cx="12206872" cy="1209731"/>
          </a:xfrm>
          <a:prstGeom prst="rect">
            <a:avLst/>
          </a:prstGeom>
          <a:solidFill>
            <a:schemeClr val="tx2">
              <a:lumMod val="60000"/>
              <a:lumOff val="40000"/>
            </a:schemeClr>
          </a:solidFill>
        </p:spPr>
      </p:pic>
      <p:sp>
        <p:nvSpPr>
          <p:cNvPr id="2" name="Title 1">
            <a:extLst>
              <a:ext uri="{FF2B5EF4-FFF2-40B4-BE49-F238E27FC236}">
                <a16:creationId xmlns:a16="http://schemas.microsoft.com/office/drawing/2014/main" id="{9CC42816-02BC-BD95-CE4F-FF32742F69F5}"/>
              </a:ext>
            </a:extLst>
          </p:cNvPr>
          <p:cNvSpPr>
            <a:spLocks noGrp="1"/>
          </p:cNvSpPr>
          <p:nvPr>
            <p:ph type="title"/>
          </p:nvPr>
        </p:nvSpPr>
        <p:spPr>
          <a:xfrm>
            <a:off x="281723" y="204056"/>
            <a:ext cx="6877119" cy="640080"/>
          </a:xfrm>
        </p:spPr>
        <p:txBody>
          <a:bodyPr>
            <a:normAutofit/>
          </a:bodyPr>
          <a:lstStyle/>
          <a:p>
            <a:r>
              <a:rPr lang="en-US" sz="3600" b="1" dirty="0">
                <a:solidFill>
                  <a:schemeClr val="bg1"/>
                </a:solidFill>
                <a:latin typeface="Dream Avenue Bold"/>
              </a:rPr>
              <a:t>RATED DRILLING DEPTH</a:t>
            </a:r>
          </a:p>
        </p:txBody>
      </p:sp>
      <p:sp>
        <p:nvSpPr>
          <p:cNvPr id="6" name="Arrow: Down 5">
            <a:extLst>
              <a:ext uri="{FF2B5EF4-FFF2-40B4-BE49-F238E27FC236}">
                <a16:creationId xmlns:a16="http://schemas.microsoft.com/office/drawing/2014/main" id="{772640A5-64FB-3EA1-6879-2535223E8C03}"/>
              </a:ext>
            </a:extLst>
          </p:cNvPr>
          <p:cNvSpPr/>
          <p:nvPr/>
        </p:nvSpPr>
        <p:spPr>
          <a:xfrm>
            <a:off x="8631751" y="1219200"/>
            <a:ext cx="849437" cy="2812018"/>
          </a:xfrm>
          <a:prstGeom prst="downArrow">
            <a:avLst>
              <a:gd name="adj1" fmla="val 70382"/>
              <a:gd name="adj2" fmla="val 50000"/>
            </a:avLst>
          </a:prstGeom>
          <a:gradFill>
            <a:gsLst>
              <a:gs pos="0">
                <a:schemeClr val="accent2">
                  <a:lumMod val="5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t>Rig 1000-1340 HP</a:t>
            </a:r>
          </a:p>
        </p:txBody>
      </p:sp>
      <p:cxnSp>
        <p:nvCxnSpPr>
          <p:cNvPr id="7" name="Straight Connector 6">
            <a:extLst>
              <a:ext uri="{FF2B5EF4-FFF2-40B4-BE49-F238E27FC236}">
                <a16:creationId xmlns:a16="http://schemas.microsoft.com/office/drawing/2014/main" id="{25760A7C-6C85-A0C1-A15D-3373305AB8FF}"/>
              </a:ext>
            </a:extLst>
          </p:cNvPr>
          <p:cNvCxnSpPr>
            <a:cxnSpLocks/>
          </p:cNvCxnSpPr>
          <p:nvPr/>
        </p:nvCxnSpPr>
        <p:spPr>
          <a:xfrm>
            <a:off x="6954480" y="2866140"/>
            <a:ext cx="1700054"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1" name="Arrow: Down 10">
            <a:extLst>
              <a:ext uri="{FF2B5EF4-FFF2-40B4-BE49-F238E27FC236}">
                <a16:creationId xmlns:a16="http://schemas.microsoft.com/office/drawing/2014/main" id="{F5DF953A-199D-CA2F-A4B4-78209E3F523D}"/>
              </a:ext>
            </a:extLst>
          </p:cNvPr>
          <p:cNvSpPr/>
          <p:nvPr/>
        </p:nvSpPr>
        <p:spPr>
          <a:xfrm>
            <a:off x="7016899" y="1219202"/>
            <a:ext cx="934503" cy="1001484"/>
          </a:xfrm>
          <a:prstGeom prst="downArrow">
            <a:avLst>
              <a:gd name="adj1" fmla="val 70382"/>
              <a:gd name="adj2" fmla="val 50000"/>
            </a:avLst>
          </a:prstGeom>
          <a:gradFill>
            <a:gsLst>
              <a:gs pos="0">
                <a:schemeClr val="accent4">
                  <a:lumMod val="5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t>650 HP</a:t>
            </a:r>
          </a:p>
        </p:txBody>
      </p:sp>
      <p:cxnSp>
        <p:nvCxnSpPr>
          <p:cNvPr id="12" name="Straight Connector 11">
            <a:extLst>
              <a:ext uri="{FF2B5EF4-FFF2-40B4-BE49-F238E27FC236}">
                <a16:creationId xmlns:a16="http://schemas.microsoft.com/office/drawing/2014/main" id="{2821BA96-05CE-6122-FC53-6E358C3E91B6}"/>
              </a:ext>
            </a:extLst>
          </p:cNvPr>
          <p:cNvCxnSpPr>
            <a:cxnSpLocks/>
          </p:cNvCxnSpPr>
          <p:nvPr/>
        </p:nvCxnSpPr>
        <p:spPr>
          <a:xfrm>
            <a:off x="6889070" y="4050925"/>
            <a:ext cx="2662454"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6" descr="DSC00314">
            <a:extLst>
              <a:ext uri="{FF2B5EF4-FFF2-40B4-BE49-F238E27FC236}">
                <a16:creationId xmlns:a16="http://schemas.microsoft.com/office/drawing/2014/main" id="{AAE55F91-A013-8375-2B1E-087074A02795}"/>
              </a:ext>
            </a:extLst>
          </p:cNvPr>
          <p:cNvPicPr preferRelativeResize="0">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533856" y="299312"/>
            <a:ext cx="611386" cy="86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a:extLst>
              <a:ext uri="{FF2B5EF4-FFF2-40B4-BE49-F238E27FC236}">
                <a16:creationId xmlns:a16="http://schemas.microsoft.com/office/drawing/2014/main" id="{C4B1A440-748A-BA33-E157-FE79ADB588B4}"/>
              </a:ext>
            </a:extLst>
          </p:cNvPr>
          <p:cNvPicPr>
            <a:picLocks noChangeAspect="1"/>
          </p:cNvPicPr>
          <p:nvPr/>
        </p:nvPicPr>
        <p:blipFill rotWithShape="1">
          <a:blip r:embed="rId4"/>
          <a:srcRect l="18447" t="5316" r="14077" b="9994"/>
          <a:stretch/>
        </p:blipFill>
        <p:spPr>
          <a:xfrm>
            <a:off x="8762521" y="277605"/>
            <a:ext cx="611386" cy="875072"/>
          </a:xfrm>
          <a:prstGeom prst="rect">
            <a:avLst/>
          </a:prstGeom>
        </p:spPr>
      </p:pic>
      <p:pic>
        <p:nvPicPr>
          <p:cNvPr id="15" name="Picture 14">
            <a:extLst>
              <a:ext uri="{FF2B5EF4-FFF2-40B4-BE49-F238E27FC236}">
                <a16:creationId xmlns:a16="http://schemas.microsoft.com/office/drawing/2014/main" id="{6C633486-9064-0962-44E8-B83259CCF619}"/>
              </a:ext>
            </a:extLst>
          </p:cNvPr>
          <p:cNvPicPr>
            <a:picLocks noChangeAspect="1"/>
          </p:cNvPicPr>
          <p:nvPr/>
        </p:nvPicPr>
        <p:blipFill rotWithShape="1">
          <a:blip r:embed="rId4"/>
          <a:srcRect l="18447" t="5316" r="14077" b="9994"/>
          <a:stretch/>
        </p:blipFill>
        <p:spPr>
          <a:xfrm>
            <a:off x="7158842" y="277605"/>
            <a:ext cx="650616" cy="875072"/>
          </a:xfrm>
          <a:prstGeom prst="rect">
            <a:avLst/>
          </a:prstGeom>
        </p:spPr>
      </p:pic>
      <p:sp>
        <p:nvSpPr>
          <p:cNvPr id="16" name="TextBox 15">
            <a:extLst>
              <a:ext uri="{FF2B5EF4-FFF2-40B4-BE49-F238E27FC236}">
                <a16:creationId xmlns:a16="http://schemas.microsoft.com/office/drawing/2014/main" id="{116A59CD-6766-E86A-229F-A7EC0C62CE0B}"/>
              </a:ext>
            </a:extLst>
          </p:cNvPr>
          <p:cNvSpPr txBox="1"/>
          <p:nvPr/>
        </p:nvSpPr>
        <p:spPr>
          <a:xfrm>
            <a:off x="7836090" y="2811675"/>
            <a:ext cx="946093" cy="369332"/>
          </a:xfrm>
          <a:prstGeom prst="rect">
            <a:avLst/>
          </a:prstGeom>
          <a:noFill/>
        </p:spPr>
        <p:txBody>
          <a:bodyPr wrap="none" rtlCol="0">
            <a:spAutoFit/>
          </a:bodyPr>
          <a:lstStyle/>
          <a:p>
            <a:r>
              <a:rPr lang="en-US" dirty="0"/>
              <a:t>2100 m</a:t>
            </a:r>
          </a:p>
        </p:txBody>
      </p:sp>
      <p:sp>
        <p:nvSpPr>
          <p:cNvPr id="17" name="TextBox 16">
            <a:extLst>
              <a:ext uri="{FF2B5EF4-FFF2-40B4-BE49-F238E27FC236}">
                <a16:creationId xmlns:a16="http://schemas.microsoft.com/office/drawing/2014/main" id="{D3E190A4-3488-4CFF-D9F8-DA1A1397C108}"/>
              </a:ext>
            </a:extLst>
          </p:cNvPr>
          <p:cNvSpPr txBox="1"/>
          <p:nvPr/>
        </p:nvSpPr>
        <p:spPr>
          <a:xfrm>
            <a:off x="8133422" y="3996522"/>
            <a:ext cx="1439818" cy="523220"/>
          </a:xfrm>
          <a:prstGeom prst="rect">
            <a:avLst/>
          </a:prstGeom>
          <a:noFill/>
        </p:spPr>
        <p:txBody>
          <a:bodyPr wrap="none" rtlCol="0">
            <a:spAutoFit/>
          </a:bodyPr>
          <a:lstStyle/>
          <a:p>
            <a:r>
              <a:rPr lang="en-US" sz="2800" b="1" dirty="0">
                <a:solidFill>
                  <a:srgbClr val="C00000"/>
                </a:solidFill>
              </a:rPr>
              <a:t>3300 m</a:t>
            </a:r>
          </a:p>
        </p:txBody>
      </p:sp>
      <p:pic>
        <p:nvPicPr>
          <p:cNvPr id="19" name="Picture 18">
            <a:extLst>
              <a:ext uri="{FF2B5EF4-FFF2-40B4-BE49-F238E27FC236}">
                <a16:creationId xmlns:a16="http://schemas.microsoft.com/office/drawing/2014/main" id="{C01D1E4D-C1CD-3F9C-1CD5-BB3902614166}"/>
              </a:ext>
            </a:extLst>
          </p:cNvPr>
          <p:cNvPicPr>
            <a:picLocks noChangeAspect="1"/>
          </p:cNvPicPr>
          <p:nvPr/>
        </p:nvPicPr>
        <p:blipFill>
          <a:blip r:embed="rId5"/>
          <a:stretch>
            <a:fillRect/>
          </a:stretch>
        </p:blipFill>
        <p:spPr>
          <a:xfrm>
            <a:off x="5354280" y="740031"/>
            <a:ext cx="1600200" cy="5934075"/>
          </a:xfrm>
          <a:prstGeom prst="rect">
            <a:avLst/>
          </a:prstGeom>
        </p:spPr>
      </p:pic>
      <p:graphicFrame>
        <p:nvGraphicFramePr>
          <p:cNvPr id="20" name="Table 19">
            <a:extLst>
              <a:ext uri="{FF2B5EF4-FFF2-40B4-BE49-F238E27FC236}">
                <a16:creationId xmlns:a16="http://schemas.microsoft.com/office/drawing/2014/main" id="{5B33B96E-476D-BC5E-7EEA-D7862A78649F}"/>
              </a:ext>
            </a:extLst>
          </p:cNvPr>
          <p:cNvGraphicFramePr>
            <a:graphicFrameLocks noGrp="1"/>
          </p:cNvGraphicFramePr>
          <p:nvPr/>
        </p:nvGraphicFramePr>
        <p:xfrm>
          <a:off x="119010" y="1274221"/>
          <a:ext cx="5184024" cy="3444240"/>
        </p:xfrm>
        <a:graphic>
          <a:graphicData uri="http://schemas.openxmlformats.org/drawingml/2006/table">
            <a:tbl>
              <a:tblPr firstRow="1" bandRow="1">
                <a:tableStyleId>{5C22544A-7EE6-4342-B048-85BDC9FD1C3A}</a:tableStyleId>
              </a:tblPr>
              <a:tblGrid>
                <a:gridCol w="1121750">
                  <a:extLst>
                    <a:ext uri="{9D8B030D-6E8A-4147-A177-3AD203B41FA5}">
                      <a16:colId xmlns:a16="http://schemas.microsoft.com/office/drawing/2014/main" val="2211605907"/>
                    </a:ext>
                  </a:extLst>
                </a:gridCol>
                <a:gridCol w="643095">
                  <a:extLst>
                    <a:ext uri="{9D8B030D-6E8A-4147-A177-3AD203B41FA5}">
                      <a16:colId xmlns:a16="http://schemas.microsoft.com/office/drawing/2014/main" val="3675118158"/>
                    </a:ext>
                  </a:extLst>
                </a:gridCol>
                <a:gridCol w="643094">
                  <a:extLst>
                    <a:ext uri="{9D8B030D-6E8A-4147-A177-3AD203B41FA5}">
                      <a16:colId xmlns:a16="http://schemas.microsoft.com/office/drawing/2014/main" val="344412866"/>
                    </a:ext>
                  </a:extLst>
                </a:gridCol>
                <a:gridCol w="703385">
                  <a:extLst>
                    <a:ext uri="{9D8B030D-6E8A-4147-A177-3AD203B41FA5}">
                      <a16:colId xmlns:a16="http://schemas.microsoft.com/office/drawing/2014/main" val="765255499"/>
                    </a:ext>
                  </a:extLst>
                </a:gridCol>
                <a:gridCol w="673240">
                  <a:extLst>
                    <a:ext uri="{9D8B030D-6E8A-4147-A177-3AD203B41FA5}">
                      <a16:colId xmlns:a16="http://schemas.microsoft.com/office/drawing/2014/main" val="3231650212"/>
                    </a:ext>
                  </a:extLst>
                </a:gridCol>
                <a:gridCol w="703385">
                  <a:extLst>
                    <a:ext uri="{9D8B030D-6E8A-4147-A177-3AD203B41FA5}">
                      <a16:colId xmlns:a16="http://schemas.microsoft.com/office/drawing/2014/main" val="2897535363"/>
                    </a:ext>
                  </a:extLst>
                </a:gridCol>
                <a:gridCol w="696075">
                  <a:extLst>
                    <a:ext uri="{9D8B030D-6E8A-4147-A177-3AD203B41FA5}">
                      <a16:colId xmlns:a16="http://schemas.microsoft.com/office/drawing/2014/main" val="457956561"/>
                    </a:ext>
                  </a:extLst>
                </a:gridCol>
              </a:tblGrid>
              <a:tr h="370840">
                <a:tc>
                  <a:txBody>
                    <a:bodyPr/>
                    <a:lstStyle/>
                    <a:p>
                      <a:r>
                        <a:rPr lang="en-US" sz="1400" dirty="0"/>
                        <a:t>Capacity</a:t>
                      </a:r>
                    </a:p>
                  </a:txBody>
                  <a:tcPr/>
                </a:tc>
                <a:tc>
                  <a:txBody>
                    <a:bodyPr/>
                    <a:lstStyle/>
                    <a:p>
                      <a:r>
                        <a:rPr lang="en-US" sz="1400" dirty="0"/>
                        <a:t>650 </a:t>
                      </a:r>
                    </a:p>
                  </a:txBody>
                  <a:tcPr/>
                </a:tc>
                <a:tc>
                  <a:txBody>
                    <a:bodyPr/>
                    <a:lstStyle/>
                    <a:p>
                      <a:r>
                        <a:rPr lang="en-US" sz="1400" dirty="0"/>
                        <a:t>700-850</a:t>
                      </a:r>
                    </a:p>
                  </a:txBody>
                  <a:tcPr/>
                </a:tc>
                <a:tc>
                  <a:txBody>
                    <a:bodyPr/>
                    <a:lstStyle/>
                    <a:p>
                      <a:r>
                        <a:rPr lang="en-US" sz="1400" dirty="0"/>
                        <a:t>1000-1340</a:t>
                      </a:r>
                    </a:p>
                  </a:txBody>
                  <a:tcPr/>
                </a:tc>
                <a:tc>
                  <a:txBody>
                    <a:bodyPr/>
                    <a:lstStyle/>
                    <a:p>
                      <a:r>
                        <a:rPr lang="en-US" sz="1400" dirty="0"/>
                        <a:t>1500</a:t>
                      </a:r>
                    </a:p>
                  </a:txBody>
                  <a:tcPr/>
                </a:tc>
                <a:tc>
                  <a:txBody>
                    <a:bodyPr/>
                    <a:lstStyle/>
                    <a:p>
                      <a:r>
                        <a:rPr lang="en-US" sz="1400" dirty="0"/>
                        <a:t>1700-1800</a:t>
                      </a:r>
                    </a:p>
                  </a:txBody>
                  <a:tcPr/>
                </a:tc>
                <a:tc>
                  <a:txBody>
                    <a:bodyPr/>
                    <a:lstStyle/>
                    <a:p>
                      <a:r>
                        <a:rPr lang="en-US" sz="1400" dirty="0"/>
                        <a:t>2000</a:t>
                      </a:r>
                    </a:p>
                  </a:txBody>
                  <a:tcPr/>
                </a:tc>
                <a:extLst>
                  <a:ext uri="{0D108BD9-81ED-4DB2-BD59-A6C34878D82A}">
                    <a16:rowId xmlns:a16="http://schemas.microsoft.com/office/drawing/2014/main" val="265072535"/>
                  </a:ext>
                </a:extLst>
              </a:tr>
              <a:tr h="370840">
                <a:tc>
                  <a:txBody>
                    <a:bodyPr/>
                    <a:lstStyle/>
                    <a:p>
                      <a:r>
                        <a:rPr lang="en-US" sz="1400" dirty="0"/>
                        <a:t>Rated Drilling Depth, M</a:t>
                      </a:r>
                    </a:p>
                  </a:txBody>
                  <a:tcPr/>
                </a:tc>
                <a:tc>
                  <a:txBody>
                    <a:bodyPr/>
                    <a:lstStyle/>
                    <a:p>
                      <a:r>
                        <a:rPr lang="en-US" sz="1400" dirty="0"/>
                        <a:t>1800</a:t>
                      </a:r>
                    </a:p>
                  </a:txBody>
                  <a:tcPr/>
                </a:tc>
                <a:tc>
                  <a:txBody>
                    <a:bodyPr/>
                    <a:lstStyle/>
                    <a:p>
                      <a:r>
                        <a:rPr lang="en-US" sz="1400" dirty="0"/>
                        <a:t>2500</a:t>
                      </a:r>
                    </a:p>
                    <a:p>
                      <a:r>
                        <a:rPr lang="en-US" sz="1400" dirty="0"/>
                        <a:t>3993</a:t>
                      </a:r>
                    </a:p>
                  </a:txBody>
                  <a:tcPr/>
                </a:tc>
                <a:tc>
                  <a:txBody>
                    <a:bodyPr/>
                    <a:lstStyle/>
                    <a:p>
                      <a:r>
                        <a:rPr lang="en-US" sz="1400" dirty="0"/>
                        <a:t>3000</a:t>
                      </a:r>
                    </a:p>
                    <a:p>
                      <a:r>
                        <a:rPr lang="en-US" sz="1400" dirty="0"/>
                        <a:t>4100</a:t>
                      </a:r>
                    </a:p>
                  </a:txBody>
                  <a:tcPr/>
                </a:tc>
                <a:tc>
                  <a:txBody>
                    <a:bodyPr/>
                    <a:lstStyle/>
                    <a:p>
                      <a:r>
                        <a:rPr lang="en-US" sz="1400" b="1" dirty="0">
                          <a:solidFill>
                            <a:srgbClr val="FF0000"/>
                          </a:solidFill>
                        </a:rPr>
                        <a:t>3500</a:t>
                      </a:r>
                    </a:p>
                    <a:p>
                      <a:r>
                        <a:rPr lang="en-US" sz="1400" b="1" dirty="0">
                          <a:solidFill>
                            <a:srgbClr val="FF0000"/>
                          </a:solidFill>
                        </a:rPr>
                        <a:t>6095</a:t>
                      </a:r>
                    </a:p>
                  </a:txBody>
                  <a:tcPr>
                    <a:solidFill>
                      <a:schemeClr val="accent2">
                        <a:lumMod val="20000"/>
                        <a:lumOff val="80000"/>
                      </a:schemeClr>
                    </a:solidFill>
                  </a:tcPr>
                </a:tc>
                <a:tc>
                  <a:txBody>
                    <a:bodyPr/>
                    <a:lstStyle/>
                    <a:p>
                      <a:r>
                        <a:rPr lang="en-US" sz="1400" b="1" dirty="0">
                          <a:solidFill>
                            <a:srgbClr val="FF0000"/>
                          </a:solidFill>
                        </a:rPr>
                        <a:t>5100</a:t>
                      </a:r>
                    </a:p>
                    <a:p>
                      <a:r>
                        <a:rPr lang="en-US" sz="1400" b="1" dirty="0">
                          <a:solidFill>
                            <a:srgbClr val="FF0000"/>
                          </a:solidFill>
                        </a:rPr>
                        <a:t>9144</a:t>
                      </a:r>
                    </a:p>
                  </a:txBody>
                  <a:tcPr>
                    <a:solidFill>
                      <a:schemeClr val="accent2">
                        <a:lumMod val="20000"/>
                        <a:lumOff val="80000"/>
                      </a:schemeClr>
                    </a:solidFill>
                  </a:tcPr>
                </a:tc>
                <a:tc>
                  <a:txBody>
                    <a:bodyPr/>
                    <a:lstStyle/>
                    <a:p>
                      <a:r>
                        <a:rPr lang="en-US" sz="1400" b="1" dirty="0">
                          <a:solidFill>
                            <a:srgbClr val="FF0000"/>
                          </a:solidFill>
                        </a:rPr>
                        <a:t>3500</a:t>
                      </a:r>
                    </a:p>
                    <a:p>
                      <a:r>
                        <a:rPr lang="en-US" sz="1400" b="1" dirty="0">
                          <a:solidFill>
                            <a:srgbClr val="FF0000"/>
                          </a:solidFill>
                        </a:rPr>
                        <a:t>6700</a:t>
                      </a:r>
                    </a:p>
                  </a:txBody>
                  <a:tcPr>
                    <a:solidFill>
                      <a:schemeClr val="accent2">
                        <a:lumMod val="20000"/>
                        <a:lumOff val="80000"/>
                      </a:schemeClr>
                    </a:solidFill>
                  </a:tcPr>
                </a:tc>
                <a:extLst>
                  <a:ext uri="{0D108BD9-81ED-4DB2-BD59-A6C34878D82A}">
                    <a16:rowId xmlns:a16="http://schemas.microsoft.com/office/drawing/2014/main" val="3469221649"/>
                  </a:ext>
                </a:extLst>
              </a:tr>
              <a:tr h="479003">
                <a:tc>
                  <a:txBody>
                    <a:bodyPr/>
                    <a:lstStyle/>
                    <a:p>
                      <a:r>
                        <a:rPr lang="en-US" sz="1400" dirty="0"/>
                        <a:t>Mast Capacity, Klbs</a:t>
                      </a:r>
                    </a:p>
                  </a:txBody>
                  <a:tcPr/>
                </a:tc>
                <a:tc>
                  <a:txBody>
                    <a:bodyPr/>
                    <a:lstStyle/>
                    <a:p>
                      <a:r>
                        <a:rPr lang="en-US" sz="1400" dirty="0"/>
                        <a:t>350</a:t>
                      </a:r>
                    </a:p>
                    <a:p>
                      <a:r>
                        <a:rPr lang="en-US" sz="1400" dirty="0"/>
                        <a:t>400</a:t>
                      </a:r>
                    </a:p>
                  </a:txBody>
                  <a:tcPr/>
                </a:tc>
                <a:tc>
                  <a:txBody>
                    <a:bodyPr/>
                    <a:lstStyle/>
                    <a:p>
                      <a:r>
                        <a:rPr lang="en-US" sz="1400" dirty="0"/>
                        <a:t>400</a:t>
                      </a:r>
                    </a:p>
                    <a:p>
                      <a:r>
                        <a:rPr lang="en-US" sz="1400" dirty="0"/>
                        <a:t>500</a:t>
                      </a:r>
                    </a:p>
                  </a:txBody>
                  <a:tcPr/>
                </a:tc>
                <a:tc>
                  <a:txBody>
                    <a:bodyPr/>
                    <a:lstStyle/>
                    <a:p>
                      <a:r>
                        <a:rPr lang="en-US" sz="1400" b="1" dirty="0">
                          <a:solidFill>
                            <a:schemeClr val="accent6">
                              <a:lumMod val="50000"/>
                            </a:schemeClr>
                          </a:solidFill>
                        </a:rPr>
                        <a:t>440</a:t>
                      </a:r>
                    </a:p>
                    <a:p>
                      <a:r>
                        <a:rPr lang="en-US" sz="1400" b="1" dirty="0">
                          <a:solidFill>
                            <a:schemeClr val="accent6">
                              <a:lumMod val="50000"/>
                            </a:schemeClr>
                          </a:solidFill>
                        </a:rPr>
                        <a:t>650</a:t>
                      </a:r>
                    </a:p>
                  </a:txBody>
                  <a:tcPr>
                    <a:solidFill>
                      <a:srgbClr val="FFFF99"/>
                    </a:solidFill>
                  </a:tcPr>
                </a:tc>
                <a:tc>
                  <a:txBody>
                    <a:bodyPr/>
                    <a:lstStyle/>
                    <a:p>
                      <a:r>
                        <a:rPr lang="en-US" sz="1400" dirty="0"/>
                        <a:t>675</a:t>
                      </a:r>
                    </a:p>
                    <a:p>
                      <a:r>
                        <a:rPr lang="en-US" sz="1400" dirty="0"/>
                        <a:t>769</a:t>
                      </a:r>
                    </a:p>
                  </a:txBody>
                  <a:tcPr/>
                </a:tc>
                <a:tc>
                  <a:txBody>
                    <a:bodyPr/>
                    <a:lstStyle/>
                    <a:p>
                      <a:r>
                        <a:rPr lang="en-US" sz="1400" dirty="0"/>
                        <a:t>850</a:t>
                      </a:r>
                    </a:p>
                    <a:p>
                      <a:r>
                        <a:rPr lang="en-US" sz="1400" dirty="0"/>
                        <a:t>1000</a:t>
                      </a:r>
                    </a:p>
                  </a:txBody>
                  <a:tcPr/>
                </a:tc>
                <a:tc>
                  <a:txBody>
                    <a:bodyPr/>
                    <a:lstStyle/>
                    <a:p>
                      <a:r>
                        <a:rPr lang="en-US" sz="1400" dirty="0"/>
                        <a:t>975</a:t>
                      </a:r>
                    </a:p>
                    <a:p>
                      <a:r>
                        <a:rPr lang="en-US" sz="1400" dirty="0"/>
                        <a:t>1250</a:t>
                      </a:r>
                    </a:p>
                  </a:txBody>
                  <a:tcPr/>
                </a:tc>
                <a:extLst>
                  <a:ext uri="{0D108BD9-81ED-4DB2-BD59-A6C34878D82A}">
                    <a16:rowId xmlns:a16="http://schemas.microsoft.com/office/drawing/2014/main" val="3161829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FF0000"/>
                          </a:solidFill>
                        </a:rPr>
                        <a:t>80% Mast Cap., Klbs</a:t>
                      </a:r>
                    </a:p>
                  </a:txBody>
                  <a:tcPr/>
                </a:tc>
                <a:tc>
                  <a:txBody>
                    <a:bodyPr/>
                    <a:lstStyle/>
                    <a:p>
                      <a:r>
                        <a:rPr lang="en-US" sz="1400" dirty="0"/>
                        <a:t>320</a:t>
                      </a:r>
                    </a:p>
                  </a:txBody>
                  <a:tcPr/>
                </a:tc>
                <a:tc>
                  <a:txBody>
                    <a:bodyPr/>
                    <a:lstStyle/>
                    <a:p>
                      <a:r>
                        <a:rPr lang="en-US" sz="1400" dirty="0"/>
                        <a:t>400</a:t>
                      </a:r>
                    </a:p>
                  </a:txBody>
                  <a:tcPr/>
                </a:tc>
                <a:tc>
                  <a:txBody>
                    <a:bodyPr/>
                    <a:lstStyle/>
                    <a:p>
                      <a:r>
                        <a:rPr lang="en-US" sz="1800" b="1" dirty="0">
                          <a:solidFill>
                            <a:srgbClr val="C00000"/>
                          </a:solidFill>
                        </a:rPr>
                        <a:t>520</a:t>
                      </a:r>
                    </a:p>
                  </a:txBody>
                  <a:tcPr/>
                </a:tc>
                <a:tc>
                  <a:txBody>
                    <a:bodyPr/>
                    <a:lstStyle/>
                    <a:p>
                      <a:r>
                        <a:rPr lang="en-US" sz="1400" dirty="0"/>
                        <a:t>615</a:t>
                      </a:r>
                    </a:p>
                  </a:txBody>
                  <a:tcPr/>
                </a:tc>
                <a:tc>
                  <a:txBody>
                    <a:bodyPr/>
                    <a:lstStyle/>
                    <a:p>
                      <a:r>
                        <a:rPr lang="en-US" sz="1400" dirty="0"/>
                        <a:t>800</a:t>
                      </a:r>
                    </a:p>
                  </a:txBody>
                  <a:tcPr/>
                </a:tc>
                <a:tc>
                  <a:txBody>
                    <a:bodyPr/>
                    <a:lstStyle/>
                    <a:p>
                      <a:r>
                        <a:rPr lang="en-US" sz="1400" dirty="0"/>
                        <a:t>1000</a:t>
                      </a:r>
                    </a:p>
                  </a:txBody>
                  <a:tcPr/>
                </a:tc>
                <a:extLst>
                  <a:ext uri="{0D108BD9-81ED-4DB2-BD59-A6C34878D82A}">
                    <a16:rowId xmlns:a16="http://schemas.microsoft.com/office/drawing/2014/main" val="29480148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C00000"/>
                          </a:solidFill>
                        </a:rPr>
                        <a:t>Corrected</a:t>
                      </a:r>
                      <a:r>
                        <a:rPr lang="en-US" sz="1400" dirty="0"/>
                        <a:t> Rated Drilling Depth, M</a:t>
                      </a:r>
                    </a:p>
                  </a:txBody>
                  <a:tcPr/>
                </a:tc>
                <a:tc>
                  <a:txBody>
                    <a:bodyPr/>
                    <a:lstStyle/>
                    <a:p>
                      <a:r>
                        <a:rPr lang="en-US" sz="1400" dirty="0"/>
                        <a:t>1500</a:t>
                      </a:r>
                    </a:p>
                  </a:txBody>
                  <a:tcPr/>
                </a:tc>
                <a:tc>
                  <a:txBody>
                    <a:bodyPr/>
                    <a:lstStyle/>
                    <a:p>
                      <a:r>
                        <a:rPr lang="en-US" sz="1400" dirty="0"/>
                        <a:t>2100</a:t>
                      </a:r>
                    </a:p>
                  </a:txBody>
                  <a:tcPr/>
                </a:tc>
                <a:tc>
                  <a:txBody>
                    <a:bodyPr/>
                    <a:lstStyle/>
                    <a:p>
                      <a:r>
                        <a:rPr lang="en-US" sz="1400" b="1" dirty="0">
                          <a:solidFill>
                            <a:schemeClr val="accent6">
                              <a:lumMod val="50000"/>
                            </a:schemeClr>
                          </a:solidFill>
                        </a:rPr>
                        <a:t>3300</a:t>
                      </a:r>
                    </a:p>
                  </a:txBody>
                  <a:tcPr>
                    <a:solidFill>
                      <a:srgbClr val="FFFFCC"/>
                    </a:solidFill>
                  </a:tcPr>
                </a:tc>
                <a:tc>
                  <a:txBody>
                    <a:bodyPr/>
                    <a:lstStyle/>
                    <a:p>
                      <a:r>
                        <a:rPr lang="en-US" sz="1400" dirty="0"/>
                        <a:t>4300</a:t>
                      </a:r>
                    </a:p>
                  </a:txBody>
                  <a:tcPr/>
                </a:tc>
                <a:tc>
                  <a:txBody>
                    <a:bodyPr/>
                    <a:lstStyle/>
                    <a:p>
                      <a:r>
                        <a:rPr lang="en-US" sz="1400" dirty="0"/>
                        <a:t>6000</a:t>
                      </a:r>
                    </a:p>
                  </a:txBody>
                  <a:tcPr/>
                </a:tc>
                <a:tc>
                  <a:txBody>
                    <a:bodyPr/>
                    <a:lstStyle/>
                    <a:p>
                      <a:r>
                        <a:rPr lang="en-US" sz="1400" dirty="0"/>
                        <a:t>6700</a:t>
                      </a:r>
                    </a:p>
                  </a:txBody>
                  <a:tcPr/>
                </a:tc>
                <a:extLst>
                  <a:ext uri="{0D108BD9-81ED-4DB2-BD59-A6C34878D82A}">
                    <a16:rowId xmlns:a16="http://schemas.microsoft.com/office/drawing/2014/main" val="2893703677"/>
                  </a:ext>
                </a:extLst>
              </a:tr>
            </a:tbl>
          </a:graphicData>
        </a:graphic>
      </p:graphicFrame>
      <p:sp>
        <p:nvSpPr>
          <p:cNvPr id="21" name="Arrow: Down 20">
            <a:extLst>
              <a:ext uri="{FF2B5EF4-FFF2-40B4-BE49-F238E27FC236}">
                <a16:creationId xmlns:a16="http://schemas.microsoft.com/office/drawing/2014/main" id="{49681C2B-B466-E8F4-1B7F-A7D63BA28C2F}"/>
              </a:ext>
            </a:extLst>
          </p:cNvPr>
          <p:cNvSpPr/>
          <p:nvPr/>
        </p:nvSpPr>
        <p:spPr>
          <a:xfrm>
            <a:off x="7858355" y="1219200"/>
            <a:ext cx="849437" cy="1607583"/>
          </a:xfrm>
          <a:prstGeom prst="downArrow">
            <a:avLst>
              <a:gd name="adj1" fmla="val 70382"/>
              <a:gd name="adj2" fmla="val 50000"/>
            </a:avLst>
          </a:prstGeom>
          <a:gradFill>
            <a:gsLst>
              <a:gs pos="0">
                <a:schemeClr val="accent3">
                  <a:lumMod val="5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t>Rig 750 HP</a:t>
            </a:r>
          </a:p>
        </p:txBody>
      </p:sp>
      <p:pic>
        <p:nvPicPr>
          <p:cNvPr id="22" name="Picture 21">
            <a:extLst>
              <a:ext uri="{FF2B5EF4-FFF2-40B4-BE49-F238E27FC236}">
                <a16:creationId xmlns:a16="http://schemas.microsoft.com/office/drawing/2014/main" id="{DB3DA620-C597-83BE-A1C7-E4E1A6C51114}"/>
              </a:ext>
            </a:extLst>
          </p:cNvPr>
          <p:cNvPicPr>
            <a:picLocks noChangeAspect="1"/>
          </p:cNvPicPr>
          <p:nvPr/>
        </p:nvPicPr>
        <p:blipFill rotWithShape="1">
          <a:blip r:embed="rId4"/>
          <a:srcRect l="18447" t="5316" r="14077" b="9994"/>
          <a:stretch/>
        </p:blipFill>
        <p:spPr>
          <a:xfrm>
            <a:off x="7977380" y="277605"/>
            <a:ext cx="611386" cy="875072"/>
          </a:xfrm>
          <a:prstGeom prst="rect">
            <a:avLst/>
          </a:prstGeom>
        </p:spPr>
      </p:pic>
      <p:cxnSp>
        <p:nvCxnSpPr>
          <p:cNvPr id="23" name="Straight Connector 22">
            <a:extLst>
              <a:ext uri="{FF2B5EF4-FFF2-40B4-BE49-F238E27FC236}">
                <a16:creationId xmlns:a16="http://schemas.microsoft.com/office/drawing/2014/main" id="{B84912B7-7EE2-E219-797F-187C45B3F851}"/>
              </a:ext>
            </a:extLst>
          </p:cNvPr>
          <p:cNvCxnSpPr>
            <a:cxnSpLocks/>
          </p:cNvCxnSpPr>
          <p:nvPr/>
        </p:nvCxnSpPr>
        <p:spPr>
          <a:xfrm>
            <a:off x="6970173" y="2205911"/>
            <a:ext cx="883156"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EFB4A48-D686-0101-F473-A1418FEFE471}"/>
              </a:ext>
            </a:extLst>
          </p:cNvPr>
          <p:cNvSpPr txBox="1"/>
          <p:nvPr/>
        </p:nvSpPr>
        <p:spPr>
          <a:xfrm>
            <a:off x="6899222" y="2181343"/>
            <a:ext cx="954107" cy="369332"/>
          </a:xfrm>
          <a:prstGeom prst="rect">
            <a:avLst/>
          </a:prstGeom>
          <a:noFill/>
        </p:spPr>
        <p:txBody>
          <a:bodyPr wrap="none" rtlCol="0">
            <a:spAutoFit/>
          </a:bodyPr>
          <a:lstStyle/>
          <a:p>
            <a:r>
              <a:rPr lang="en-US" dirty="0"/>
              <a:t>1500 M</a:t>
            </a:r>
          </a:p>
        </p:txBody>
      </p:sp>
      <p:cxnSp>
        <p:nvCxnSpPr>
          <p:cNvPr id="26" name="Straight Connector 25">
            <a:extLst>
              <a:ext uri="{FF2B5EF4-FFF2-40B4-BE49-F238E27FC236}">
                <a16:creationId xmlns:a16="http://schemas.microsoft.com/office/drawing/2014/main" id="{1890DF10-BF99-BB83-7639-41381F23CFA8}"/>
              </a:ext>
            </a:extLst>
          </p:cNvPr>
          <p:cNvCxnSpPr>
            <a:cxnSpLocks/>
          </p:cNvCxnSpPr>
          <p:nvPr/>
        </p:nvCxnSpPr>
        <p:spPr>
          <a:xfrm>
            <a:off x="6938327" y="4969096"/>
            <a:ext cx="3329282"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8" name="Arrow: Down 27">
            <a:extLst>
              <a:ext uri="{FF2B5EF4-FFF2-40B4-BE49-F238E27FC236}">
                <a16:creationId xmlns:a16="http://schemas.microsoft.com/office/drawing/2014/main" id="{F1507E38-40D2-BC5B-CD26-C72495F7B41A}"/>
              </a:ext>
            </a:extLst>
          </p:cNvPr>
          <p:cNvSpPr/>
          <p:nvPr/>
        </p:nvSpPr>
        <p:spPr>
          <a:xfrm>
            <a:off x="9418172" y="1209652"/>
            <a:ext cx="849437" cy="3777444"/>
          </a:xfrm>
          <a:prstGeom prst="downArrow">
            <a:avLst>
              <a:gd name="adj1" fmla="val 70382"/>
              <a:gd name="adj2" fmla="val 50000"/>
            </a:avLst>
          </a:prstGeom>
          <a:gradFill>
            <a:gsLst>
              <a:gs pos="0">
                <a:schemeClr val="accent1">
                  <a:lumMod val="5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t>Rig 1500 HP</a:t>
            </a:r>
          </a:p>
        </p:txBody>
      </p:sp>
      <p:sp>
        <p:nvSpPr>
          <p:cNvPr id="31" name="TextBox 30">
            <a:extLst>
              <a:ext uri="{FF2B5EF4-FFF2-40B4-BE49-F238E27FC236}">
                <a16:creationId xmlns:a16="http://schemas.microsoft.com/office/drawing/2014/main" id="{4C789932-5708-BF5A-CA95-0A3DEFC02B6F}"/>
              </a:ext>
            </a:extLst>
          </p:cNvPr>
          <p:cNvSpPr txBox="1"/>
          <p:nvPr/>
        </p:nvSpPr>
        <p:spPr>
          <a:xfrm>
            <a:off x="9483646" y="4945886"/>
            <a:ext cx="946093" cy="369332"/>
          </a:xfrm>
          <a:prstGeom prst="rect">
            <a:avLst/>
          </a:prstGeom>
          <a:noFill/>
        </p:spPr>
        <p:txBody>
          <a:bodyPr wrap="none" rtlCol="0">
            <a:spAutoFit/>
          </a:bodyPr>
          <a:lstStyle/>
          <a:p>
            <a:r>
              <a:rPr lang="en-US" dirty="0"/>
              <a:t>4300 m</a:t>
            </a:r>
          </a:p>
        </p:txBody>
      </p:sp>
      <p:sp>
        <p:nvSpPr>
          <p:cNvPr id="32" name="Arrow: Down 31">
            <a:extLst>
              <a:ext uri="{FF2B5EF4-FFF2-40B4-BE49-F238E27FC236}">
                <a16:creationId xmlns:a16="http://schemas.microsoft.com/office/drawing/2014/main" id="{4107CEFC-F5B3-B7BC-4339-58189D227140}"/>
              </a:ext>
            </a:extLst>
          </p:cNvPr>
          <p:cNvSpPr/>
          <p:nvPr/>
        </p:nvSpPr>
        <p:spPr>
          <a:xfrm>
            <a:off x="10223557" y="1219199"/>
            <a:ext cx="849437" cy="5374517"/>
          </a:xfrm>
          <a:prstGeom prst="downArrow">
            <a:avLst>
              <a:gd name="adj1" fmla="val 70382"/>
              <a:gd name="adj2" fmla="val 50000"/>
            </a:avLst>
          </a:prstGeom>
          <a:gradFill>
            <a:gsLst>
              <a:gs pos="0">
                <a:schemeClr val="tx2">
                  <a:lumMod val="5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solidFill>
                  <a:srgbClr val="FFFF00"/>
                </a:solidFill>
              </a:rPr>
              <a:t>Rig 1700-1800 HP</a:t>
            </a:r>
          </a:p>
        </p:txBody>
      </p:sp>
      <p:sp>
        <p:nvSpPr>
          <p:cNvPr id="33" name="TextBox 32">
            <a:extLst>
              <a:ext uri="{FF2B5EF4-FFF2-40B4-BE49-F238E27FC236}">
                <a16:creationId xmlns:a16="http://schemas.microsoft.com/office/drawing/2014/main" id="{FE75710D-7CD1-5A6B-7A4B-9FFB34267F11}"/>
              </a:ext>
            </a:extLst>
          </p:cNvPr>
          <p:cNvSpPr txBox="1"/>
          <p:nvPr/>
        </p:nvSpPr>
        <p:spPr>
          <a:xfrm>
            <a:off x="9551524" y="6264582"/>
            <a:ext cx="946093" cy="369332"/>
          </a:xfrm>
          <a:prstGeom prst="rect">
            <a:avLst/>
          </a:prstGeom>
          <a:noFill/>
        </p:spPr>
        <p:txBody>
          <a:bodyPr wrap="none" rtlCol="0">
            <a:spAutoFit/>
          </a:bodyPr>
          <a:lstStyle/>
          <a:p>
            <a:r>
              <a:rPr lang="en-US" dirty="0"/>
              <a:t>6000 m</a:t>
            </a:r>
          </a:p>
        </p:txBody>
      </p:sp>
      <p:cxnSp>
        <p:nvCxnSpPr>
          <p:cNvPr id="35" name="Straight Connector 34">
            <a:extLst>
              <a:ext uri="{FF2B5EF4-FFF2-40B4-BE49-F238E27FC236}">
                <a16:creationId xmlns:a16="http://schemas.microsoft.com/office/drawing/2014/main" id="{A505EB54-B4F7-1657-D99C-02314B54377A}"/>
              </a:ext>
            </a:extLst>
          </p:cNvPr>
          <p:cNvCxnSpPr>
            <a:cxnSpLocks/>
          </p:cNvCxnSpPr>
          <p:nvPr/>
        </p:nvCxnSpPr>
        <p:spPr>
          <a:xfrm>
            <a:off x="6949599" y="6633914"/>
            <a:ext cx="4123395"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37" name="Arrow: Down 36">
            <a:extLst>
              <a:ext uri="{FF2B5EF4-FFF2-40B4-BE49-F238E27FC236}">
                <a16:creationId xmlns:a16="http://schemas.microsoft.com/office/drawing/2014/main" id="{115F4889-088E-47FA-EDCC-F9F4C0FE7C93}"/>
              </a:ext>
            </a:extLst>
          </p:cNvPr>
          <p:cNvSpPr/>
          <p:nvPr/>
        </p:nvSpPr>
        <p:spPr>
          <a:xfrm>
            <a:off x="11068459" y="1209652"/>
            <a:ext cx="849437" cy="5648348"/>
          </a:xfrm>
          <a:prstGeom prst="downArrow">
            <a:avLst>
              <a:gd name="adj1" fmla="val 70382"/>
              <a:gd name="adj2" fmla="val 50000"/>
            </a:avLst>
          </a:prstGeom>
          <a:gradFill>
            <a:gsLst>
              <a:gs pos="0">
                <a:schemeClr val="accent6">
                  <a:lumMod val="5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solidFill>
                  <a:srgbClr val="FFFF00"/>
                </a:solidFill>
              </a:rPr>
              <a:t>Rig 2000 HP </a:t>
            </a:r>
            <a:r>
              <a:rPr lang="en-US" dirty="0">
                <a:sym typeface="Wingdings" panose="05000000000000000000" pitchFamily="2" charset="2"/>
              </a:rPr>
              <a:t> could be capable to drill to 6700 M</a:t>
            </a:r>
            <a:endParaRPr lang="en-US" dirty="0"/>
          </a:p>
        </p:txBody>
      </p:sp>
      <p:pic>
        <p:nvPicPr>
          <p:cNvPr id="38" name="Picture 6" descr="DSC00314">
            <a:extLst>
              <a:ext uri="{FF2B5EF4-FFF2-40B4-BE49-F238E27FC236}">
                <a16:creationId xmlns:a16="http://schemas.microsoft.com/office/drawing/2014/main" id="{AD5EC020-4E1C-5AFB-37ED-198616F022B3}"/>
              </a:ext>
            </a:extLst>
          </p:cNvPr>
          <p:cNvPicPr preferRelativeResize="0">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18403" y="291373"/>
            <a:ext cx="611386" cy="86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6" descr="DSC00314">
            <a:extLst>
              <a:ext uri="{FF2B5EF4-FFF2-40B4-BE49-F238E27FC236}">
                <a16:creationId xmlns:a16="http://schemas.microsoft.com/office/drawing/2014/main" id="{9AB7D31A-4BB6-8A80-D611-9D767CE91B14}"/>
              </a:ext>
            </a:extLst>
          </p:cNvPr>
          <p:cNvPicPr preferRelativeResize="0">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178190" y="289283"/>
            <a:ext cx="611386" cy="86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59430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a:extLst>
              <a:ext uri="{FF2B5EF4-FFF2-40B4-BE49-F238E27FC236}">
                <a16:creationId xmlns:a16="http://schemas.microsoft.com/office/drawing/2014/main" id="{6EF9671E-736D-20B3-2A88-78D8997F7076}"/>
              </a:ext>
            </a:extLst>
          </p:cNvPr>
          <p:cNvPicPr>
            <a:picLocks noChangeAspect="1"/>
          </p:cNvPicPr>
          <p:nvPr/>
        </p:nvPicPr>
        <p:blipFill rotWithShape="1">
          <a:blip r:embed="rId2" cstate="email">
            <a:duotone>
              <a:schemeClr val="accent5">
                <a:shade val="45000"/>
                <a:satMod val="135000"/>
              </a:schemeClr>
              <a:prstClr val="white"/>
            </a:duotone>
            <a:extLst>
              <a:ext uri="{28A0092B-C50C-407E-A947-70E740481C1C}">
                <a14:useLocalDpi xmlns:a14="http://schemas.microsoft.com/office/drawing/2010/main"/>
              </a:ext>
            </a:extLst>
          </a:blip>
          <a:srcRect t="64591"/>
          <a:stretch/>
        </p:blipFill>
        <p:spPr>
          <a:xfrm>
            <a:off x="-14872" y="-1"/>
            <a:ext cx="10830018" cy="1209731"/>
          </a:xfrm>
          <a:prstGeom prst="rect">
            <a:avLst/>
          </a:prstGeom>
          <a:solidFill>
            <a:schemeClr val="tx2">
              <a:lumMod val="60000"/>
              <a:lumOff val="40000"/>
            </a:schemeClr>
          </a:solidFill>
        </p:spPr>
      </p:pic>
      <p:sp>
        <p:nvSpPr>
          <p:cNvPr id="8" name="Freeform 3">
            <a:extLst>
              <a:ext uri="{FF2B5EF4-FFF2-40B4-BE49-F238E27FC236}">
                <a16:creationId xmlns:a16="http://schemas.microsoft.com/office/drawing/2014/main" id="{4C908C86-6F70-DFB2-2C3B-E700CAE723F4}"/>
              </a:ext>
            </a:extLst>
          </p:cNvPr>
          <p:cNvSpPr/>
          <p:nvPr/>
        </p:nvSpPr>
        <p:spPr>
          <a:xfrm>
            <a:off x="10831436" y="-108611"/>
            <a:ext cx="1326403" cy="1326403"/>
          </a:xfrm>
          <a:custGeom>
            <a:avLst/>
            <a:gdLst/>
            <a:ahLst/>
            <a:cxnLst/>
            <a:rect l="l" t="t" r="r" b="b"/>
            <a:pathLst>
              <a:path w="1989604" h="1989604">
                <a:moveTo>
                  <a:pt x="0" y="0"/>
                </a:moveTo>
                <a:lnTo>
                  <a:pt x="1989604" y="0"/>
                </a:lnTo>
                <a:lnTo>
                  <a:pt x="1989604" y="1989605"/>
                </a:lnTo>
                <a:lnTo>
                  <a:pt x="0" y="1989605"/>
                </a:lnTo>
                <a:lnTo>
                  <a:pt x="0" y="0"/>
                </a:lnTo>
                <a:close/>
              </a:path>
            </a:pathLst>
          </a:custGeom>
          <a:blipFill>
            <a:blip r:embed="rId3"/>
            <a:stretch>
              <a:fillRect/>
            </a:stretch>
          </a:blipFill>
        </p:spPr>
        <p:txBody>
          <a:bodyPr/>
          <a:lstStyle/>
          <a:p>
            <a:endParaRPr lang="en-ID" sz="1200"/>
          </a:p>
        </p:txBody>
      </p:sp>
      <p:sp>
        <p:nvSpPr>
          <p:cNvPr id="2" name="Title 1">
            <a:extLst>
              <a:ext uri="{FF2B5EF4-FFF2-40B4-BE49-F238E27FC236}">
                <a16:creationId xmlns:a16="http://schemas.microsoft.com/office/drawing/2014/main" id="{9CC42816-02BC-BD95-CE4F-FF32742F69F5}"/>
              </a:ext>
            </a:extLst>
          </p:cNvPr>
          <p:cNvSpPr>
            <a:spLocks noGrp="1"/>
          </p:cNvSpPr>
          <p:nvPr>
            <p:ph type="title"/>
          </p:nvPr>
        </p:nvSpPr>
        <p:spPr>
          <a:xfrm>
            <a:off x="521207" y="303033"/>
            <a:ext cx="11474148" cy="640080"/>
          </a:xfrm>
        </p:spPr>
        <p:txBody>
          <a:bodyPr>
            <a:normAutofit/>
          </a:bodyPr>
          <a:lstStyle/>
          <a:p>
            <a:r>
              <a:rPr lang="en-US" sz="3600" b="1" dirty="0">
                <a:solidFill>
                  <a:schemeClr val="bg1"/>
                </a:solidFill>
                <a:latin typeface="Dream Avenue Bold"/>
              </a:rPr>
              <a:t>Rig 1000-1340 HP RATED DRILLING DEPTH</a:t>
            </a:r>
          </a:p>
        </p:txBody>
      </p:sp>
      <p:sp>
        <p:nvSpPr>
          <p:cNvPr id="6" name="Arrow: Down 5">
            <a:extLst>
              <a:ext uri="{FF2B5EF4-FFF2-40B4-BE49-F238E27FC236}">
                <a16:creationId xmlns:a16="http://schemas.microsoft.com/office/drawing/2014/main" id="{772640A5-64FB-3EA1-6879-2535223E8C03}"/>
              </a:ext>
            </a:extLst>
          </p:cNvPr>
          <p:cNvSpPr/>
          <p:nvPr/>
        </p:nvSpPr>
        <p:spPr>
          <a:xfrm>
            <a:off x="5337942" y="2123771"/>
            <a:ext cx="849437" cy="2812018"/>
          </a:xfrm>
          <a:prstGeom prst="downArrow">
            <a:avLst>
              <a:gd name="adj1" fmla="val 70382"/>
              <a:gd name="adj2" fmla="val 50000"/>
            </a:avLst>
          </a:prstGeom>
          <a:gradFill>
            <a:gsLst>
              <a:gs pos="0">
                <a:srgbClr val="CC3300"/>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t>Maximum</a:t>
            </a:r>
          </a:p>
        </p:txBody>
      </p:sp>
      <p:cxnSp>
        <p:nvCxnSpPr>
          <p:cNvPr id="7" name="Straight Connector 6">
            <a:extLst>
              <a:ext uri="{FF2B5EF4-FFF2-40B4-BE49-F238E27FC236}">
                <a16:creationId xmlns:a16="http://schemas.microsoft.com/office/drawing/2014/main" id="{25760A7C-6C85-A0C1-A15D-3373305AB8FF}"/>
              </a:ext>
            </a:extLst>
          </p:cNvPr>
          <p:cNvCxnSpPr>
            <a:cxnSpLocks/>
          </p:cNvCxnSpPr>
          <p:nvPr/>
        </p:nvCxnSpPr>
        <p:spPr>
          <a:xfrm>
            <a:off x="4297624" y="4026969"/>
            <a:ext cx="1116359"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21BA96-05CE-6122-FC53-6E358C3E91B6}"/>
              </a:ext>
            </a:extLst>
          </p:cNvPr>
          <p:cNvCxnSpPr>
            <a:cxnSpLocks/>
          </p:cNvCxnSpPr>
          <p:nvPr/>
        </p:nvCxnSpPr>
        <p:spPr>
          <a:xfrm>
            <a:off x="4401507" y="4955496"/>
            <a:ext cx="1785872"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C4B1A440-748A-BA33-E157-FE79ADB588B4}"/>
              </a:ext>
            </a:extLst>
          </p:cNvPr>
          <p:cNvPicPr>
            <a:picLocks noChangeAspect="1"/>
          </p:cNvPicPr>
          <p:nvPr/>
        </p:nvPicPr>
        <p:blipFill rotWithShape="1">
          <a:blip r:embed="rId4"/>
          <a:srcRect l="18447" t="5316" r="14077" b="9994"/>
          <a:stretch/>
        </p:blipFill>
        <p:spPr>
          <a:xfrm>
            <a:off x="5468712" y="1182176"/>
            <a:ext cx="611386" cy="875072"/>
          </a:xfrm>
          <a:prstGeom prst="rect">
            <a:avLst/>
          </a:prstGeom>
        </p:spPr>
      </p:pic>
      <p:sp>
        <p:nvSpPr>
          <p:cNvPr id="16" name="TextBox 15">
            <a:extLst>
              <a:ext uri="{FF2B5EF4-FFF2-40B4-BE49-F238E27FC236}">
                <a16:creationId xmlns:a16="http://schemas.microsoft.com/office/drawing/2014/main" id="{116A59CD-6766-E86A-229F-A7EC0C62CE0B}"/>
              </a:ext>
            </a:extLst>
          </p:cNvPr>
          <p:cNvSpPr txBox="1"/>
          <p:nvPr/>
        </p:nvSpPr>
        <p:spPr>
          <a:xfrm>
            <a:off x="4331392" y="3987207"/>
            <a:ext cx="946093" cy="369332"/>
          </a:xfrm>
          <a:prstGeom prst="rect">
            <a:avLst/>
          </a:prstGeom>
          <a:noFill/>
        </p:spPr>
        <p:txBody>
          <a:bodyPr wrap="none" rtlCol="0">
            <a:spAutoFit/>
          </a:bodyPr>
          <a:lstStyle/>
          <a:p>
            <a:r>
              <a:rPr lang="en-US" dirty="0"/>
              <a:t>2500 m</a:t>
            </a:r>
          </a:p>
        </p:txBody>
      </p:sp>
      <p:sp>
        <p:nvSpPr>
          <p:cNvPr id="17" name="TextBox 16">
            <a:extLst>
              <a:ext uri="{FF2B5EF4-FFF2-40B4-BE49-F238E27FC236}">
                <a16:creationId xmlns:a16="http://schemas.microsoft.com/office/drawing/2014/main" id="{D3E190A4-3488-4CFF-D9F8-DA1A1397C108}"/>
              </a:ext>
            </a:extLst>
          </p:cNvPr>
          <p:cNvSpPr txBox="1"/>
          <p:nvPr/>
        </p:nvSpPr>
        <p:spPr>
          <a:xfrm>
            <a:off x="5241286" y="4893564"/>
            <a:ext cx="946093" cy="369332"/>
          </a:xfrm>
          <a:prstGeom prst="rect">
            <a:avLst/>
          </a:prstGeom>
          <a:noFill/>
        </p:spPr>
        <p:txBody>
          <a:bodyPr wrap="none" rtlCol="0">
            <a:spAutoFit/>
          </a:bodyPr>
          <a:lstStyle/>
          <a:p>
            <a:r>
              <a:rPr lang="en-US" dirty="0"/>
              <a:t>3300 m</a:t>
            </a:r>
          </a:p>
        </p:txBody>
      </p:sp>
      <p:pic>
        <p:nvPicPr>
          <p:cNvPr id="19" name="Picture 18">
            <a:extLst>
              <a:ext uri="{FF2B5EF4-FFF2-40B4-BE49-F238E27FC236}">
                <a16:creationId xmlns:a16="http://schemas.microsoft.com/office/drawing/2014/main" id="{C01D1E4D-C1CD-3F9C-1CD5-BB3902614166}"/>
              </a:ext>
            </a:extLst>
          </p:cNvPr>
          <p:cNvPicPr>
            <a:picLocks noChangeAspect="1"/>
          </p:cNvPicPr>
          <p:nvPr/>
        </p:nvPicPr>
        <p:blipFill rotWithShape="1">
          <a:blip r:embed="rId5"/>
          <a:srcRect b="16701"/>
          <a:stretch/>
        </p:blipFill>
        <p:spPr>
          <a:xfrm>
            <a:off x="2817540" y="1555462"/>
            <a:ext cx="1600200" cy="4943014"/>
          </a:xfrm>
          <a:prstGeom prst="rect">
            <a:avLst/>
          </a:prstGeom>
        </p:spPr>
      </p:pic>
      <p:graphicFrame>
        <p:nvGraphicFramePr>
          <p:cNvPr id="20" name="Table 19">
            <a:extLst>
              <a:ext uri="{FF2B5EF4-FFF2-40B4-BE49-F238E27FC236}">
                <a16:creationId xmlns:a16="http://schemas.microsoft.com/office/drawing/2014/main" id="{5B33B96E-476D-BC5E-7EEA-D7862A78649F}"/>
              </a:ext>
            </a:extLst>
          </p:cNvPr>
          <p:cNvGraphicFramePr>
            <a:graphicFrameLocks noGrp="1"/>
          </p:cNvGraphicFramePr>
          <p:nvPr/>
        </p:nvGraphicFramePr>
        <p:xfrm>
          <a:off x="119010" y="1274221"/>
          <a:ext cx="2521466" cy="2590800"/>
        </p:xfrm>
        <a:graphic>
          <a:graphicData uri="http://schemas.openxmlformats.org/drawingml/2006/table">
            <a:tbl>
              <a:tblPr firstRow="1" bandRow="1">
                <a:tableStyleId>{5C22544A-7EE6-4342-B048-85BDC9FD1C3A}</a:tableStyleId>
              </a:tblPr>
              <a:tblGrid>
                <a:gridCol w="1549723">
                  <a:extLst>
                    <a:ext uri="{9D8B030D-6E8A-4147-A177-3AD203B41FA5}">
                      <a16:colId xmlns:a16="http://schemas.microsoft.com/office/drawing/2014/main" val="2211605907"/>
                    </a:ext>
                  </a:extLst>
                </a:gridCol>
                <a:gridCol w="971743">
                  <a:extLst>
                    <a:ext uri="{9D8B030D-6E8A-4147-A177-3AD203B41FA5}">
                      <a16:colId xmlns:a16="http://schemas.microsoft.com/office/drawing/2014/main" val="765255499"/>
                    </a:ext>
                  </a:extLst>
                </a:gridCol>
              </a:tblGrid>
              <a:tr h="370840">
                <a:tc>
                  <a:txBody>
                    <a:bodyPr/>
                    <a:lstStyle/>
                    <a:p>
                      <a:r>
                        <a:rPr lang="en-US" sz="1400" dirty="0"/>
                        <a:t>Capacity</a:t>
                      </a:r>
                    </a:p>
                  </a:txBody>
                  <a:tcPr/>
                </a:tc>
                <a:tc>
                  <a:txBody>
                    <a:bodyPr/>
                    <a:lstStyle/>
                    <a:p>
                      <a:r>
                        <a:rPr lang="en-US" sz="1400" dirty="0"/>
                        <a:t>1000-1340</a:t>
                      </a:r>
                    </a:p>
                  </a:txBody>
                  <a:tcPr/>
                </a:tc>
                <a:extLst>
                  <a:ext uri="{0D108BD9-81ED-4DB2-BD59-A6C34878D82A}">
                    <a16:rowId xmlns:a16="http://schemas.microsoft.com/office/drawing/2014/main" val="265072535"/>
                  </a:ext>
                </a:extLst>
              </a:tr>
              <a:tr h="370840">
                <a:tc>
                  <a:txBody>
                    <a:bodyPr/>
                    <a:lstStyle/>
                    <a:p>
                      <a:r>
                        <a:rPr lang="en-US" sz="1400" dirty="0"/>
                        <a:t>Rated Drilling Depth, M</a:t>
                      </a:r>
                    </a:p>
                  </a:txBody>
                  <a:tcPr/>
                </a:tc>
                <a:tc>
                  <a:txBody>
                    <a:bodyPr/>
                    <a:lstStyle/>
                    <a:p>
                      <a:r>
                        <a:rPr lang="en-US" sz="1400" dirty="0"/>
                        <a:t>3000</a:t>
                      </a:r>
                    </a:p>
                    <a:p>
                      <a:r>
                        <a:rPr lang="en-US" sz="1400" dirty="0"/>
                        <a:t>4100</a:t>
                      </a:r>
                    </a:p>
                  </a:txBody>
                  <a:tcPr/>
                </a:tc>
                <a:extLst>
                  <a:ext uri="{0D108BD9-81ED-4DB2-BD59-A6C34878D82A}">
                    <a16:rowId xmlns:a16="http://schemas.microsoft.com/office/drawing/2014/main" val="3469221649"/>
                  </a:ext>
                </a:extLst>
              </a:tr>
              <a:tr h="479003">
                <a:tc>
                  <a:txBody>
                    <a:bodyPr/>
                    <a:lstStyle/>
                    <a:p>
                      <a:r>
                        <a:rPr lang="en-US" sz="1400" dirty="0"/>
                        <a:t>Mast Capacity, Klbs</a:t>
                      </a:r>
                    </a:p>
                  </a:txBody>
                  <a:tcPr/>
                </a:tc>
                <a:tc>
                  <a:txBody>
                    <a:bodyPr/>
                    <a:lstStyle/>
                    <a:p>
                      <a:r>
                        <a:rPr lang="en-US" sz="1400" b="1" dirty="0">
                          <a:solidFill>
                            <a:schemeClr val="accent6">
                              <a:lumMod val="50000"/>
                            </a:schemeClr>
                          </a:solidFill>
                        </a:rPr>
                        <a:t>440</a:t>
                      </a:r>
                    </a:p>
                    <a:p>
                      <a:r>
                        <a:rPr lang="en-US" sz="1400" b="1" dirty="0">
                          <a:solidFill>
                            <a:schemeClr val="accent6">
                              <a:lumMod val="50000"/>
                            </a:schemeClr>
                          </a:solidFill>
                        </a:rPr>
                        <a:t>650</a:t>
                      </a:r>
                    </a:p>
                  </a:txBody>
                  <a:tcPr>
                    <a:solidFill>
                      <a:srgbClr val="FFFF99"/>
                    </a:solidFill>
                  </a:tcPr>
                </a:tc>
                <a:extLst>
                  <a:ext uri="{0D108BD9-81ED-4DB2-BD59-A6C34878D82A}">
                    <a16:rowId xmlns:a16="http://schemas.microsoft.com/office/drawing/2014/main" val="3161829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80% Mast Cap., Klbs</a:t>
                      </a:r>
                    </a:p>
                  </a:txBody>
                  <a:tcPr/>
                </a:tc>
                <a:tc>
                  <a:txBody>
                    <a:bodyPr/>
                    <a:lstStyle/>
                    <a:p>
                      <a:r>
                        <a:rPr lang="en-US" sz="1400" dirty="0"/>
                        <a:t>440</a:t>
                      </a:r>
                    </a:p>
                    <a:p>
                      <a:r>
                        <a:rPr lang="en-US" sz="1400" b="1" dirty="0">
                          <a:solidFill>
                            <a:srgbClr val="C00000"/>
                          </a:solidFill>
                        </a:rPr>
                        <a:t>520</a:t>
                      </a:r>
                    </a:p>
                  </a:txBody>
                  <a:tcPr/>
                </a:tc>
                <a:extLst>
                  <a:ext uri="{0D108BD9-81ED-4DB2-BD59-A6C34878D82A}">
                    <a16:rowId xmlns:a16="http://schemas.microsoft.com/office/drawing/2014/main" val="29480148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Corrected Rated Drilling Depth, M</a:t>
                      </a:r>
                    </a:p>
                  </a:txBody>
                  <a:tcPr/>
                </a:tc>
                <a:tc>
                  <a:txBody>
                    <a:bodyPr/>
                    <a:lstStyle/>
                    <a:p>
                      <a:r>
                        <a:rPr lang="en-US" sz="1400" b="1" dirty="0">
                          <a:solidFill>
                            <a:schemeClr val="accent6">
                              <a:lumMod val="50000"/>
                            </a:schemeClr>
                          </a:solidFill>
                        </a:rPr>
                        <a:t>2500</a:t>
                      </a:r>
                    </a:p>
                    <a:p>
                      <a:r>
                        <a:rPr lang="en-US" sz="1400" b="1" dirty="0">
                          <a:solidFill>
                            <a:schemeClr val="accent6">
                              <a:lumMod val="50000"/>
                            </a:schemeClr>
                          </a:solidFill>
                        </a:rPr>
                        <a:t>3300</a:t>
                      </a:r>
                    </a:p>
                  </a:txBody>
                  <a:tcPr>
                    <a:solidFill>
                      <a:srgbClr val="FFFFCC"/>
                    </a:solidFill>
                  </a:tcPr>
                </a:tc>
                <a:extLst>
                  <a:ext uri="{0D108BD9-81ED-4DB2-BD59-A6C34878D82A}">
                    <a16:rowId xmlns:a16="http://schemas.microsoft.com/office/drawing/2014/main" val="2893703677"/>
                  </a:ext>
                </a:extLst>
              </a:tr>
            </a:tbl>
          </a:graphicData>
        </a:graphic>
      </p:graphicFrame>
      <p:sp>
        <p:nvSpPr>
          <p:cNvPr id="21" name="Arrow: Down 20">
            <a:extLst>
              <a:ext uri="{FF2B5EF4-FFF2-40B4-BE49-F238E27FC236}">
                <a16:creationId xmlns:a16="http://schemas.microsoft.com/office/drawing/2014/main" id="{49681C2B-B466-E8F4-1B7F-A7D63BA28C2F}"/>
              </a:ext>
            </a:extLst>
          </p:cNvPr>
          <p:cNvSpPr/>
          <p:nvPr/>
        </p:nvSpPr>
        <p:spPr>
          <a:xfrm>
            <a:off x="4564546" y="2123771"/>
            <a:ext cx="849437" cy="1883491"/>
          </a:xfrm>
          <a:prstGeom prst="downArrow">
            <a:avLst>
              <a:gd name="adj1" fmla="val 70382"/>
              <a:gd name="adj2" fmla="val 50000"/>
            </a:avLst>
          </a:prstGeom>
          <a:gradFill>
            <a:gsLst>
              <a:gs pos="0">
                <a:schemeClr val="accent4">
                  <a:lumMod val="5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t>Minimum</a:t>
            </a:r>
          </a:p>
        </p:txBody>
      </p:sp>
      <p:pic>
        <p:nvPicPr>
          <p:cNvPr id="22" name="Picture 21">
            <a:extLst>
              <a:ext uri="{FF2B5EF4-FFF2-40B4-BE49-F238E27FC236}">
                <a16:creationId xmlns:a16="http://schemas.microsoft.com/office/drawing/2014/main" id="{DB3DA620-C597-83BE-A1C7-E4E1A6C51114}"/>
              </a:ext>
            </a:extLst>
          </p:cNvPr>
          <p:cNvPicPr>
            <a:picLocks noChangeAspect="1"/>
          </p:cNvPicPr>
          <p:nvPr/>
        </p:nvPicPr>
        <p:blipFill rotWithShape="1">
          <a:blip r:embed="rId4"/>
          <a:srcRect l="18447" t="5316" r="14077" b="9994"/>
          <a:stretch/>
        </p:blipFill>
        <p:spPr>
          <a:xfrm>
            <a:off x="4683571" y="1182176"/>
            <a:ext cx="611386" cy="875072"/>
          </a:xfrm>
          <a:prstGeom prst="rect">
            <a:avLst/>
          </a:prstGeom>
        </p:spPr>
      </p:pic>
      <p:pic>
        <p:nvPicPr>
          <p:cNvPr id="5" name="Picture 4">
            <a:extLst>
              <a:ext uri="{FF2B5EF4-FFF2-40B4-BE49-F238E27FC236}">
                <a16:creationId xmlns:a16="http://schemas.microsoft.com/office/drawing/2014/main" id="{498EF5FF-4668-7CEB-13E0-BAF2B4E98EBA}"/>
              </a:ext>
            </a:extLst>
          </p:cNvPr>
          <p:cNvPicPr>
            <a:picLocks noChangeAspect="1"/>
          </p:cNvPicPr>
          <p:nvPr/>
        </p:nvPicPr>
        <p:blipFill>
          <a:blip r:embed="rId6"/>
          <a:stretch>
            <a:fillRect/>
          </a:stretch>
        </p:blipFill>
        <p:spPr>
          <a:xfrm>
            <a:off x="174030" y="3923225"/>
            <a:ext cx="2466445" cy="2575251"/>
          </a:xfrm>
          <a:prstGeom prst="rect">
            <a:avLst/>
          </a:prstGeom>
        </p:spPr>
      </p:pic>
      <p:graphicFrame>
        <p:nvGraphicFramePr>
          <p:cNvPr id="9" name="Table 18">
            <a:extLst>
              <a:ext uri="{FF2B5EF4-FFF2-40B4-BE49-F238E27FC236}">
                <a16:creationId xmlns:a16="http://schemas.microsoft.com/office/drawing/2014/main" id="{CF7D15EA-4906-FD0C-4251-23695F725629}"/>
              </a:ext>
            </a:extLst>
          </p:cNvPr>
          <p:cNvGraphicFramePr>
            <a:graphicFrameLocks noGrp="1"/>
          </p:cNvGraphicFramePr>
          <p:nvPr/>
        </p:nvGraphicFramePr>
        <p:xfrm>
          <a:off x="7304744" y="1311402"/>
          <a:ext cx="4468856" cy="1651000"/>
        </p:xfrm>
        <a:graphic>
          <a:graphicData uri="http://schemas.openxmlformats.org/drawingml/2006/table">
            <a:tbl>
              <a:tblPr firstRow="1" bandRow="1">
                <a:tableStyleId>{5C22544A-7EE6-4342-B048-85BDC9FD1C3A}</a:tableStyleId>
              </a:tblPr>
              <a:tblGrid>
                <a:gridCol w="3336053">
                  <a:extLst>
                    <a:ext uri="{9D8B030D-6E8A-4147-A177-3AD203B41FA5}">
                      <a16:colId xmlns:a16="http://schemas.microsoft.com/office/drawing/2014/main" val="3832006718"/>
                    </a:ext>
                  </a:extLst>
                </a:gridCol>
                <a:gridCol w="1132803">
                  <a:extLst>
                    <a:ext uri="{9D8B030D-6E8A-4147-A177-3AD203B41FA5}">
                      <a16:colId xmlns:a16="http://schemas.microsoft.com/office/drawing/2014/main" val="666349759"/>
                    </a:ext>
                  </a:extLst>
                </a:gridCol>
              </a:tblGrid>
              <a:tr h="0">
                <a:tc>
                  <a:txBody>
                    <a:bodyPr/>
                    <a:lstStyle/>
                    <a:p>
                      <a:r>
                        <a:rPr lang="en-US" sz="1600" b="0" dirty="0"/>
                        <a:t>Drill Pipe Specification</a:t>
                      </a:r>
                    </a:p>
                  </a:txBody>
                  <a:tcPr/>
                </a:tc>
                <a:tc>
                  <a:txBody>
                    <a:bodyPr/>
                    <a:lstStyle/>
                    <a:p>
                      <a:r>
                        <a:rPr lang="en-US" sz="1800" b="0" dirty="0"/>
                        <a:t>DP Rated Drilling Depth, M</a:t>
                      </a:r>
                    </a:p>
                  </a:txBody>
                  <a:tcPr/>
                </a:tc>
                <a:extLst>
                  <a:ext uri="{0D108BD9-81ED-4DB2-BD59-A6C34878D82A}">
                    <a16:rowId xmlns:a16="http://schemas.microsoft.com/office/drawing/2014/main" val="750143076"/>
                  </a:ext>
                </a:extLst>
              </a:tr>
              <a:tr h="370840">
                <a:tc>
                  <a:txBody>
                    <a:bodyPr/>
                    <a:lstStyle/>
                    <a:p>
                      <a:r>
                        <a:rPr lang="en-US" sz="1600" dirty="0"/>
                        <a:t>5” DP, 19.5 </a:t>
                      </a:r>
                      <a:r>
                        <a:rPr lang="en-US" sz="1600" dirty="0" err="1"/>
                        <a:t>ppf</a:t>
                      </a:r>
                      <a:r>
                        <a:rPr lang="en-US" sz="1600" dirty="0"/>
                        <a:t>, Grade G-105</a:t>
                      </a:r>
                    </a:p>
                  </a:txBody>
                  <a:tcPr/>
                </a:tc>
                <a:tc>
                  <a:txBody>
                    <a:bodyPr/>
                    <a:lstStyle/>
                    <a:p>
                      <a:pPr algn="ctr"/>
                      <a:r>
                        <a:rPr lang="en-US" sz="1800" b="1" dirty="0">
                          <a:solidFill>
                            <a:srgbClr val="C00000"/>
                          </a:solidFill>
                        </a:rPr>
                        <a:t>2250</a:t>
                      </a:r>
                    </a:p>
                  </a:txBody>
                  <a:tcPr/>
                </a:tc>
                <a:extLst>
                  <a:ext uri="{0D108BD9-81ED-4DB2-BD59-A6C34878D82A}">
                    <a16:rowId xmlns:a16="http://schemas.microsoft.com/office/drawing/2014/main" val="2059534093"/>
                  </a:ext>
                </a:extLst>
              </a:tr>
              <a:tr h="355157">
                <a:tc>
                  <a:txBody>
                    <a:bodyPr/>
                    <a:lstStyle/>
                    <a:p>
                      <a:r>
                        <a:rPr lang="en-US" sz="1600" dirty="0"/>
                        <a:t>5” DP, </a:t>
                      </a:r>
                      <a:r>
                        <a:rPr lang="en-US" sz="1600" b="1" dirty="0">
                          <a:solidFill>
                            <a:srgbClr val="C00000"/>
                          </a:solidFill>
                        </a:rPr>
                        <a:t>25.6 </a:t>
                      </a:r>
                      <a:r>
                        <a:rPr lang="en-US" sz="1600" b="1" dirty="0" err="1">
                          <a:solidFill>
                            <a:srgbClr val="C00000"/>
                          </a:solidFill>
                        </a:rPr>
                        <a:t>ppf</a:t>
                      </a:r>
                      <a:r>
                        <a:rPr lang="en-US" sz="1600" dirty="0"/>
                        <a:t>, Grade G-105</a:t>
                      </a:r>
                    </a:p>
                  </a:txBody>
                  <a:tcPr/>
                </a:tc>
                <a:tc>
                  <a:txBody>
                    <a:bodyPr/>
                    <a:lstStyle/>
                    <a:p>
                      <a:pPr algn="ctr"/>
                      <a:r>
                        <a:rPr lang="en-US" sz="1800" b="1" dirty="0">
                          <a:solidFill>
                            <a:srgbClr val="C00000"/>
                          </a:solidFill>
                        </a:rPr>
                        <a:t>3500</a:t>
                      </a:r>
                    </a:p>
                  </a:txBody>
                  <a:tcPr/>
                </a:tc>
                <a:extLst>
                  <a:ext uri="{0D108BD9-81ED-4DB2-BD59-A6C34878D82A}">
                    <a16:rowId xmlns:a16="http://schemas.microsoft.com/office/drawing/2014/main" val="3577936309"/>
                  </a:ext>
                </a:extLst>
              </a:tr>
            </a:tbl>
          </a:graphicData>
        </a:graphic>
      </p:graphicFrame>
      <p:graphicFrame>
        <p:nvGraphicFramePr>
          <p:cNvPr id="10" name="Table 9">
            <a:extLst>
              <a:ext uri="{FF2B5EF4-FFF2-40B4-BE49-F238E27FC236}">
                <a16:creationId xmlns:a16="http://schemas.microsoft.com/office/drawing/2014/main" id="{A7D5BB2A-CBF2-A7DE-401E-1E48F4A0E8A8}"/>
              </a:ext>
            </a:extLst>
          </p:cNvPr>
          <p:cNvGraphicFramePr>
            <a:graphicFrameLocks noGrp="1"/>
          </p:cNvGraphicFramePr>
          <p:nvPr/>
        </p:nvGraphicFramePr>
        <p:xfrm>
          <a:off x="6559260" y="4578858"/>
          <a:ext cx="5214340" cy="1935480"/>
        </p:xfrm>
        <a:graphic>
          <a:graphicData uri="http://schemas.openxmlformats.org/drawingml/2006/table">
            <a:tbl>
              <a:tblPr firstRow="1" bandRow="1">
                <a:tableStyleId>{93296810-A885-4BE3-A3E7-6D5BEEA58F35}</a:tableStyleId>
              </a:tblPr>
              <a:tblGrid>
                <a:gridCol w="1060740">
                  <a:extLst>
                    <a:ext uri="{9D8B030D-6E8A-4147-A177-3AD203B41FA5}">
                      <a16:colId xmlns:a16="http://schemas.microsoft.com/office/drawing/2014/main" val="1497958711"/>
                    </a:ext>
                  </a:extLst>
                </a:gridCol>
                <a:gridCol w="972814">
                  <a:extLst>
                    <a:ext uri="{9D8B030D-6E8A-4147-A177-3AD203B41FA5}">
                      <a16:colId xmlns:a16="http://schemas.microsoft.com/office/drawing/2014/main" val="848799135"/>
                    </a:ext>
                  </a:extLst>
                </a:gridCol>
                <a:gridCol w="1529908">
                  <a:extLst>
                    <a:ext uri="{9D8B030D-6E8A-4147-A177-3AD203B41FA5}">
                      <a16:colId xmlns:a16="http://schemas.microsoft.com/office/drawing/2014/main" val="620168398"/>
                    </a:ext>
                  </a:extLst>
                </a:gridCol>
                <a:gridCol w="1650878">
                  <a:extLst>
                    <a:ext uri="{9D8B030D-6E8A-4147-A177-3AD203B41FA5}">
                      <a16:colId xmlns:a16="http://schemas.microsoft.com/office/drawing/2014/main" val="3769294192"/>
                    </a:ext>
                  </a:extLst>
                </a:gridCol>
              </a:tblGrid>
              <a:tr h="370840">
                <a:tc>
                  <a:txBody>
                    <a:bodyPr/>
                    <a:lstStyle/>
                    <a:p>
                      <a:r>
                        <a:rPr lang="en-US" sz="1600" dirty="0"/>
                        <a:t>TDS Hoisting</a:t>
                      </a:r>
                    </a:p>
                  </a:txBody>
                  <a:tcPr/>
                </a:tc>
                <a:tc>
                  <a:txBody>
                    <a:bodyPr/>
                    <a:lstStyle/>
                    <a:p>
                      <a:pPr algn="ctr"/>
                      <a:r>
                        <a:rPr lang="en-US" sz="1600" dirty="0"/>
                        <a:t>TDS Horse Power</a:t>
                      </a:r>
                    </a:p>
                  </a:txBody>
                  <a:tcPr/>
                </a:tc>
                <a:tc>
                  <a:txBody>
                    <a:bodyPr/>
                    <a:lstStyle/>
                    <a:p>
                      <a:pPr algn="ctr"/>
                      <a:r>
                        <a:rPr lang="en-US" sz="1600" dirty="0"/>
                        <a:t>Max. Continuous Torque, </a:t>
                      </a:r>
                      <a:r>
                        <a:rPr lang="en-US" sz="1600" dirty="0" err="1"/>
                        <a:t>lbs</a:t>
                      </a:r>
                      <a:r>
                        <a:rPr lang="en-US" sz="1600" dirty="0"/>
                        <a:t>-Ft</a:t>
                      </a:r>
                    </a:p>
                  </a:txBody>
                  <a:tcPr/>
                </a:tc>
                <a:tc>
                  <a:txBody>
                    <a:bodyPr/>
                    <a:lstStyle/>
                    <a:p>
                      <a:pPr algn="ctr"/>
                      <a:r>
                        <a:rPr lang="en-US" sz="1600" dirty="0"/>
                        <a:t>Rated Drilling Depth, m-MD</a:t>
                      </a:r>
                    </a:p>
                  </a:txBody>
                  <a:tcPr/>
                </a:tc>
                <a:extLst>
                  <a:ext uri="{0D108BD9-81ED-4DB2-BD59-A6C34878D82A}">
                    <a16:rowId xmlns:a16="http://schemas.microsoft.com/office/drawing/2014/main" val="3756427785"/>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a:ea typeface="+mn-ea"/>
                          <a:cs typeface="+mn-cs"/>
                        </a:rPr>
                        <a:t>350 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egoe UI"/>
                          <a:ea typeface="+mn-ea"/>
                          <a:cs typeface="+mn-cs"/>
                        </a:rPr>
                        <a:t>771 Klbs</a:t>
                      </a:r>
                    </a:p>
                  </a:txBody>
                  <a:tcPr>
                    <a:solidFill>
                      <a:srgbClr val="FFFFCC"/>
                    </a:solidFill>
                  </a:tcPr>
                </a:tc>
                <a:tc>
                  <a:txBody>
                    <a:bodyPr/>
                    <a:lstStyle/>
                    <a:p>
                      <a:pPr algn="ctr"/>
                      <a:r>
                        <a:rPr lang="en-US" sz="1600" dirty="0"/>
                        <a:t>600</a:t>
                      </a:r>
                    </a:p>
                  </a:txBody>
                  <a:tcPr/>
                </a:tc>
                <a:tc>
                  <a:txBody>
                    <a:bodyPr/>
                    <a:lstStyle/>
                    <a:p>
                      <a:pPr algn="ctr"/>
                      <a:r>
                        <a:rPr lang="en-US" sz="1600" dirty="0"/>
                        <a:t>30000</a:t>
                      </a:r>
                    </a:p>
                  </a:txBody>
                  <a:tcPr/>
                </a:tc>
                <a:tc>
                  <a:txBody>
                    <a:bodyPr/>
                    <a:lstStyle/>
                    <a:p>
                      <a:pPr algn="ctr"/>
                      <a:r>
                        <a:rPr lang="en-US" sz="1600" dirty="0"/>
                        <a:t>3000</a:t>
                      </a:r>
                    </a:p>
                  </a:txBody>
                  <a:tcPr/>
                </a:tc>
                <a:extLst>
                  <a:ext uri="{0D108BD9-81ED-4DB2-BD59-A6C34878D82A}">
                    <a16:rowId xmlns:a16="http://schemas.microsoft.com/office/drawing/2014/main" val="1142802687"/>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pPr algn="ctr"/>
                      <a:r>
                        <a:rPr lang="en-US" sz="1600" dirty="0"/>
                        <a:t>800</a:t>
                      </a:r>
                    </a:p>
                  </a:txBody>
                  <a:tcPr>
                    <a:solidFill>
                      <a:srgbClr val="FFFFCC"/>
                    </a:solidFill>
                  </a:tcPr>
                </a:tc>
                <a:tc>
                  <a:txBody>
                    <a:bodyPr/>
                    <a:lstStyle/>
                    <a:p>
                      <a:pPr algn="ctr"/>
                      <a:r>
                        <a:rPr lang="en-US" sz="1600" dirty="0"/>
                        <a:t>37000</a:t>
                      </a:r>
                    </a:p>
                  </a:txBody>
                  <a:tcPr>
                    <a:solidFill>
                      <a:srgbClr val="FFFFCC"/>
                    </a:solidFill>
                  </a:tcPr>
                </a:tc>
                <a:tc>
                  <a:txBody>
                    <a:bodyPr/>
                    <a:lstStyle/>
                    <a:p>
                      <a:pPr algn="ctr"/>
                      <a:r>
                        <a:rPr lang="en-US" sz="1600" dirty="0"/>
                        <a:t>3700</a:t>
                      </a:r>
                    </a:p>
                  </a:txBody>
                  <a:tcPr>
                    <a:solidFill>
                      <a:srgbClr val="FFFFCC"/>
                    </a:solidFill>
                  </a:tcPr>
                </a:tc>
                <a:extLst>
                  <a:ext uri="{0D108BD9-81ED-4DB2-BD59-A6C34878D82A}">
                    <a16:rowId xmlns:a16="http://schemas.microsoft.com/office/drawing/2014/main" val="3144756500"/>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pPr algn="ctr"/>
                      <a:r>
                        <a:rPr lang="en-US" sz="1600" dirty="0"/>
                        <a:t>1000</a:t>
                      </a:r>
                    </a:p>
                  </a:txBody>
                  <a:tcPr/>
                </a:tc>
                <a:tc>
                  <a:txBody>
                    <a:bodyPr/>
                    <a:lstStyle/>
                    <a:p>
                      <a:pPr algn="ctr"/>
                      <a:r>
                        <a:rPr lang="en-US" sz="1600" dirty="0"/>
                        <a:t>46000</a:t>
                      </a:r>
                    </a:p>
                  </a:txBody>
                  <a:tcPr/>
                </a:tc>
                <a:tc>
                  <a:txBody>
                    <a:bodyPr/>
                    <a:lstStyle/>
                    <a:p>
                      <a:pPr algn="ctr"/>
                      <a:r>
                        <a:rPr lang="en-US" sz="1600" dirty="0"/>
                        <a:t>4500</a:t>
                      </a:r>
                    </a:p>
                  </a:txBody>
                  <a:tcPr/>
                </a:tc>
                <a:extLst>
                  <a:ext uri="{0D108BD9-81ED-4DB2-BD59-A6C34878D82A}">
                    <a16:rowId xmlns:a16="http://schemas.microsoft.com/office/drawing/2014/main" val="3853498093"/>
                  </a:ext>
                </a:extLst>
              </a:tr>
            </a:tbl>
          </a:graphicData>
        </a:graphic>
      </p:graphicFrame>
      <p:sp>
        <p:nvSpPr>
          <p:cNvPr id="27" name="TextBox 26">
            <a:extLst>
              <a:ext uri="{FF2B5EF4-FFF2-40B4-BE49-F238E27FC236}">
                <a16:creationId xmlns:a16="http://schemas.microsoft.com/office/drawing/2014/main" id="{1A46004A-CB69-346C-7B72-41A2E2F640CA}"/>
              </a:ext>
            </a:extLst>
          </p:cNvPr>
          <p:cNvSpPr txBox="1"/>
          <p:nvPr/>
        </p:nvSpPr>
        <p:spPr>
          <a:xfrm>
            <a:off x="6559260" y="3205316"/>
            <a:ext cx="5436095" cy="923330"/>
          </a:xfrm>
          <a:prstGeom prst="rect">
            <a:avLst/>
          </a:prstGeom>
          <a:noFill/>
        </p:spPr>
        <p:txBody>
          <a:bodyPr wrap="square" rtlCol="0">
            <a:spAutoFit/>
          </a:bodyPr>
          <a:lstStyle/>
          <a:p>
            <a:pPr marL="285750" indent="-285750">
              <a:buFont typeface="Arial" panose="020B0604020202020204" pitchFamily="34" charset="0"/>
              <a:buChar char="•"/>
            </a:pPr>
            <a:r>
              <a:rPr lang="en-US" sz="1800" dirty="0"/>
              <a:t>Shallow TD at 2250 m-MD: Use 5” DP, 19.5 </a:t>
            </a:r>
            <a:r>
              <a:rPr lang="en-US" sz="1800" dirty="0" err="1"/>
              <a:t>ppf</a:t>
            </a:r>
            <a:r>
              <a:rPr lang="en-US" sz="1800" dirty="0"/>
              <a:t>, Grade G-105</a:t>
            </a:r>
          </a:p>
          <a:p>
            <a:pPr marL="285750" indent="-285750">
              <a:buFont typeface="Arial" panose="020B0604020202020204" pitchFamily="34" charset="0"/>
              <a:buChar char="•"/>
            </a:pPr>
            <a:r>
              <a:rPr lang="en-US" dirty="0"/>
              <a:t>Deep TD up to 3500 m-MD: Use COMBINE DP</a:t>
            </a:r>
          </a:p>
        </p:txBody>
      </p:sp>
    </p:spTree>
    <p:extLst>
      <p:ext uri="{BB962C8B-B14F-4D97-AF65-F5344CB8AC3E}">
        <p14:creationId xmlns:p14="http://schemas.microsoft.com/office/powerpoint/2010/main" val="34227556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7">
            <a:extLst>
              <a:ext uri="{FF2B5EF4-FFF2-40B4-BE49-F238E27FC236}">
                <a16:creationId xmlns:a16="http://schemas.microsoft.com/office/drawing/2014/main" id="{8B70DAD6-E4EF-52D1-FFC4-8ECAFC1015FF}"/>
              </a:ext>
            </a:extLst>
          </p:cNvPr>
          <p:cNvPicPr>
            <a:picLocks noChangeAspect="1"/>
          </p:cNvPicPr>
          <p:nvPr/>
        </p:nvPicPr>
        <p:blipFill rotWithShape="1">
          <a:blip r:embed="rId2" cstate="email">
            <a:duotone>
              <a:schemeClr val="accent5">
                <a:shade val="45000"/>
                <a:satMod val="135000"/>
              </a:schemeClr>
              <a:prstClr val="white"/>
            </a:duotone>
            <a:extLst>
              <a:ext uri="{28A0092B-C50C-407E-A947-70E740481C1C}">
                <a14:useLocalDpi xmlns:a14="http://schemas.microsoft.com/office/drawing/2010/main"/>
              </a:ext>
            </a:extLst>
          </a:blip>
          <a:srcRect t="64591"/>
          <a:stretch/>
        </p:blipFill>
        <p:spPr>
          <a:xfrm>
            <a:off x="-14872" y="-1"/>
            <a:ext cx="10830018" cy="1209731"/>
          </a:xfrm>
          <a:prstGeom prst="rect">
            <a:avLst/>
          </a:prstGeom>
          <a:solidFill>
            <a:schemeClr val="tx2">
              <a:lumMod val="60000"/>
              <a:lumOff val="40000"/>
            </a:schemeClr>
          </a:solidFill>
        </p:spPr>
      </p:pic>
      <p:sp>
        <p:nvSpPr>
          <p:cNvPr id="10" name="Freeform 3">
            <a:extLst>
              <a:ext uri="{FF2B5EF4-FFF2-40B4-BE49-F238E27FC236}">
                <a16:creationId xmlns:a16="http://schemas.microsoft.com/office/drawing/2014/main" id="{FF8B409F-8F9E-BF0F-5108-7B92735D8C5F}"/>
              </a:ext>
            </a:extLst>
          </p:cNvPr>
          <p:cNvSpPr/>
          <p:nvPr/>
        </p:nvSpPr>
        <p:spPr>
          <a:xfrm>
            <a:off x="10831436" y="-108611"/>
            <a:ext cx="1326403" cy="1326403"/>
          </a:xfrm>
          <a:custGeom>
            <a:avLst/>
            <a:gdLst/>
            <a:ahLst/>
            <a:cxnLst/>
            <a:rect l="l" t="t" r="r" b="b"/>
            <a:pathLst>
              <a:path w="1989604" h="1989604">
                <a:moveTo>
                  <a:pt x="0" y="0"/>
                </a:moveTo>
                <a:lnTo>
                  <a:pt x="1989604" y="0"/>
                </a:lnTo>
                <a:lnTo>
                  <a:pt x="1989604" y="1989605"/>
                </a:lnTo>
                <a:lnTo>
                  <a:pt x="0" y="1989605"/>
                </a:lnTo>
                <a:lnTo>
                  <a:pt x="0" y="0"/>
                </a:lnTo>
                <a:close/>
              </a:path>
            </a:pathLst>
          </a:custGeom>
          <a:blipFill>
            <a:blip r:embed="rId3"/>
            <a:stretch>
              <a:fillRect/>
            </a:stretch>
          </a:blipFill>
        </p:spPr>
        <p:txBody>
          <a:bodyPr/>
          <a:lstStyle/>
          <a:p>
            <a:endParaRPr lang="en-ID" sz="1200"/>
          </a:p>
        </p:txBody>
      </p:sp>
      <p:sp>
        <p:nvSpPr>
          <p:cNvPr id="2" name="Title 1">
            <a:extLst>
              <a:ext uri="{FF2B5EF4-FFF2-40B4-BE49-F238E27FC236}">
                <a16:creationId xmlns:a16="http://schemas.microsoft.com/office/drawing/2014/main" id="{9CC42816-02BC-BD95-CE4F-FF32742F69F5}"/>
              </a:ext>
            </a:extLst>
          </p:cNvPr>
          <p:cNvSpPr>
            <a:spLocks noGrp="1"/>
          </p:cNvSpPr>
          <p:nvPr>
            <p:ph type="title"/>
          </p:nvPr>
        </p:nvSpPr>
        <p:spPr>
          <a:xfrm>
            <a:off x="358926" y="291690"/>
            <a:ext cx="11474148" cy="640080"/>
          </a:xfrm>
        </p:spPr>
        <p:txBody>
          <a:bodyPr>
            <a:normAutofit/>
          </a:bodyPr>
          <a:lstStyle/>
          <a:p>
            <a:r>
              <a:rPr lang="en-US" sz="3600" b="1" dirty="0">
                <a:solidFill>
                  <a:schemeClr val="bg1"/>
                </a:solidFill>
                <a:latin typeface="Dream Avenue Bold"/>
              </a:rPr>
              <a:t>Rig 1500 HP RATED DRILLING DEPTH</a:t>
            </a:r>
          </a:p>
        </p:txBody>
      </p:sp>
      <p:sp>
        <p:nvSpPr>
          <p:cNvPr id="6" name="Arrow: Down 5">
            <a:extLst>
              <a:ext uri="{FF2B5EF4-FFF2-40B4-BE49-F238E27FC236}">
                <a16:creationId xmlns:a16="http://schemas.microsoft.com/office/drawing/2014/main" id="{772640A5-64FB-3EA1-6879-2535223E8C03}"/>
              </a:ext>
            </a:extLst>
          </p:cNvPr>
          <p:cNvSpPr/>
          <p:nvPr/>
        </p:nvSpPr>
        <p:spPr>
          <a:xfrm>
            <a:off x="5337942" y="2123770"/>
            <a:ext cx="849437" cy="3696955"/>
          </a:xfrm>
          <a:prstGeom prst="downArrow">
            <a:avLst>
              <a:gd name="adj1" fmla="val 70382"/>
              <a:gd name="adj2" fmla="val 50000"/>
            </a:avLst>
          </a:prstGeom>
          <a:gradFill>
            <a:gsLst>
              <a:gs pos="0">
                <a:schemeClr val="accent2">
                  <a:lumMod val="5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t>Maximum</a:t>
            </a:r>
          </a:p>
        </p:txBody>
      </p:sp>
      <p:cxnSp>
        <p:nvCxnSpPr>
          <p:cNvPr id="7" name="Straight Connector 6">
            <a:extLst>
              <a:ext uri="{FF2B5EF4-FFF2-40B4-BE49-F238E27FC236}">
                <a16:creationId xmlns:a16="http://schemas.microsoft.com/office/drawing/2014/main" id="{25760A7C-6C85-A0C1-A15D-3373305AB8FF}"/>
              </a:ext>
            </a:extLst>
          </p:cNvPr>
          <p:cNvCxnSpPr>
            <a:cxnSpLocks/>
          </p:cNvCxnSpPr>
          <p:nvPr/>
        </p:nvCxnSpPr>
        <p:spPr>
          <a:xfrm>
            <a:off x="4297624" y="5138013"/>
            <a:ext cx="1116359"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21BA96-05CE-6122-FC53-6E358C3E91B6}"/>
              </a:ext>
            </a:extLst>
          </p:cNvPr>
          <p:cNvCxnSpPr>
            <a:cxnSpLocks/>
          </p:cNvCxnSpPr>
          <p:nvPr/>
        </p:nvCxnSpPr>
        <p:spPr>
          <a:xfrm>
            <a:off x="4401507" y="5820733"/>
            <a:ext cx="1785872" cy="0"/>
          </a:xfrm>
          <a:prstGeom prst="line">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C4B1A440-748A-BA33-E157-FE79ADB588B4}"/>
              </a:ext>
            </a:extLst>
          </p:cNvPr>
          <p:cNvPicPr>
            <a:picLocks noChangeAspect="1"/>
          </p:cNvPicPr>
          <p:nvPr/>
        </p:nvPicPr>
        <p:blipFill rotWithShape="1">
          <a:blip r:embed="rId4"/>
          <a:srcRect l="18447" t="5316" r="14077" b="9994"/>
          <a:stretch/>
        </p:blipFill>
        <p:spPr>
          <a:xfrm>
            <a:off x="5468712" y="1182176"/>
            <a:ext cx="611386" cy="875072"/>
          </a:xfrm>
          <a:prstGeom prst="rect">
            <a:avLst/>
          </a:prstGeom>
        </p:spPr>
      </p:pic>
      <p:sp>
        <p:nvSpPr>
          <p:cNvPr id="16" name="TextBox 15">
            <a:extLst>
              <a:ext uri="{FF2B5EF4-FFF2-40B4-BE49-F238E27FC236}">
                <a16:creationId xmlns:a16="http://schemas.microsoft.com/office/drawing/2014/main" id="{116A59CD-6766-E86A-229F-A7EC0C62CE0B}"/>
              </a:ext>
            </a:extLst>
          </p:cNvPr>
          <p:cNvSpPr txBox="1"/>
          <p:nvPr/>
        </p:nvSpPr>
        <p:spPr>
          <a:xfrm>
            <a:off x="4331392" y="5098251"/>
            <a:ext cx="946093" cy="369332"/>
          </a:xfrm>
          <a:prstGeom prst="rect">
            <a:avLst/>
          </a:prstGeom>
          <a:noFill/>
        </p:spPr>
        <p:txBody>
          <a:bodyPr wrap="none" rtlCol="0">
            <a:spAutoFit/>
          </a:bodyPr>
          <a:lstStyle/>
          <a:p>
            <a:r>
              <a:rPr lang="en-US" dirty="0"/>
              <a:t>3600 m</a:t>
            </a:r>
          </a:p>
        </p:txBody>
      </p:sp>
      <p:sp>
        <p:nvSpPr>
          <p:cNvPr id="17" name="TextBox 16">
            <a:extLst>
              <a:ext uri="{FF2B5EF4-FFF2-40B4-BE49-F238E27FC236}">
                <a16:creationId xmlns:a16="http://schemas.microsoft.com/office/drawing/2014/main" id="{D3E190A4-3488-4CFF-D9F8-DA1A1397C108}"/>
              </a:ext>
            </a:extLst>
          </p:cNvPr>
          <p:cNvSpPr txBox="1"/>
          <p:nvPr/>
        </p:nvSpPr>
        <p:spPr>
          <a:xfrm>
            <a:off x="5241286" y="5758801"/>
            <a:ext cx="946093" cy="369332"/>
          </a:xfrm>
          <a:prstGeom prst="rect">
            <a:avLst/>
          </a:prstGeom>
          <a:noFill/>
        </p:spPr>
        <p:txBody>
          <a:bodyPr wrap="none" rtlCol="0">
            <a:spAutoFit/>
          </a:bodyPr>
          <a:lstStyle/>
          <a:p>
            <a:r>
              <a:rPr lang="en-US" dirty="0"/>
              <a:t>4300 m</a:t>
            </a:r>
          </a:p>
        </p:txBody>
      </p:sp>
      <p:pic>
        <p:nvPicPr>
          <p:cNvPr id="19" name="Picture 18">
            <a:extLst>
              <a:ext uri="{FF2B5EF4-FFF2-40B4-BE49-F238E27FC236}">
                <a16:creationId xmlns:a16="http://schemas.microsoft.com/office/drawing/2014/main" id="{C01D1E4D-C1CD-3F9C-1CD5-BB3902614166}"/>
              </a:ext>
            </a:extLst>
          </p:cNvPr>
          <p:cNvPicPr>
            <a:picLocks noChangeAspect="1"/>
          </p:cNvPicPr>
          <p:nvPr/>
        </p:nvPicPr>
        <p:blipFill rotWithShape="1">
          <a:blip r:embed="rId5"/>
          <a:srcRect b="16701"/>
          <a:stretch/>
        </p:blipFill>
        <p:spPr>
          <a:xfrm>
            <a:off x="2801307" y="1555462"/>
            <a:ext cx="1600200" cy="4943014"/>
          </a:xfrm>
          <a:prstGeom prst="rect">
            <a:avLst/>
          </a:prstGeom>
        </p:spPr>
      </p:pic>
      <p:graphicFrame>
        <p:nvGraphicFramePr>
          <p:cNvPr id="20" name="Table 19">
            <a:extLst>
              <a:ext uri="{FF2B5EF4-FFF2-40B4-BE49-F238E27FC236}">
                <a16:creationId xmlns:a16="http://schemas.microsoft.com/office/drawing/2014/main" id="{5B33B96E-476D-BC5E-7EEA-D7862A78649F}"/>
              </a:ext>
            </a:extLst>
          </p:cNvPr>
          <p:cNvGraphicFramePr>
            <a:graphicFrameLocks noGrp="1"/>
          </p:cNvGraphicFramePr>
          <p:nvPr/>
        </p:nvGraphicFramePr>
        <p:xfrm>
          <a:off x="119010" y="1274221"/>
          <a:ext cx="2521466" cy="2443480"/>
        </p:xfrm>
        <a:graphic>
          <a:graphicData uri="http://schemas.openxmlformats.org/drawingml/2006/table">
            <a:tbl>
              <a:tblPr firstRow="1" bandRow="1">
                <a:tableStyleId>{5C22544A-7EE6-4342-B048-85BDC9FD1C3A}</a:tableStyleId>
              </a:tblPr>
              <a:tblGrid>
                <a:gridCol w="1549723">
                  <a:extLst>
                    <a:ext uri="{9D8B030D-6E8A-4147-A177-3AD203B41FA5}">
                      <a16:colId xmlns:a16="http://schemas.microsoft.com/office/drawing/2014/main" val="2211605907"/>
                    </a:ext>
                  </a:extLst>
                </a:gridCol>
                <a:gridCol w="971743">
                  <a:extLst>
                    <a:ext uri="{9D8B030D-6E8A-4147-A177-3AD203B41FA5}">
                      <a16:colId xmlns:a16="http://schemas.microsoft.com/office/drawing/2014/main" val="765255499"/>
                    </a:ext>
                  </a:extLst>
                </a:gridCol>
              </a:tblGrid>
              <a:tr h="370840">
                <a:tc>
                  <a:txBody>
                    <a:bodyPr/>
                    <a:lstStyle/>
                    <a:p>
                      <a:r>
                        <a:rPr lang="en-US" sz="1400" dirty="0"/>
                        <a:t>Capacity</a:t>
                      </a:r>
                    </a:p>
                  </a:txBody>
                  <a:tcPr/>
                </a:tc>
                <a:tc>
                  <a:txBody>
                    <a:bodyPr/>
                    <a:lstStyle/>
                    <a:p>
                      <a:r>
                        <a:rPr lang="en-US" sz="1400" dirty="0"/>
                        <a:t>1500 HP</a:t>
                      </a:r>
                    </a:p>
                  </a:txBody>
                  <a:tcPr/>
                </a:tc>
                <a:extLst>
                  <a:ext uri="{0D108BD9-81ED-4DB2-BD59-A6C34878D82A}">
                    <a16:rowId xmlns:a16="http://schemas.microsoft.com/office/drawing/2014/main" val="265072535"/>
                  </a:ext>
                </a:extLst>
              </a:tr>
              <a:tr h="370840">
                <a:tc>
                  <a:txBody>
                    <a:bodyPr/>
                    <a:lstStyle/>
                    <a:p>
                      <a:r>
                        <a:rPr lang="en-US" sz="1400" dirty="0"/>
                        <a:t>Rated Drilling Depth, M</a:t>
                      </a:r>
                    </a:p>
                  </a:txBody>
                  <a:tcPr/>
                </a:tc>
                <a:tc>
                  <a:txBody>
                    <a:bodyPr/>
                    <a:lstStyle/>
                    <a:p>
                      <a:r>
                        <a:rPr lang="en-US" sz="1400" b="1" dirty="0">
                          <a:solidFill>
                            <a:srgbClr val="FF0000"/>
                          </a:solidFill>
                        </a:rPr>
                        <a:t>3500</a:t>
                      </a:r>
                    </a:p>
                    <a:p>
                      <a:r>
                        <a:rPr lang="en-US" sz="1400" b="1" dirty="0">
                          <a:solidFill>
                            <a:srgbClr val="FF0000"/>
                          </a:solidFill>
                        </a:rPr>
                        <a:t>6095</a:t>
                      </a:r>
                    </a:p>
                  </a:txBody>
                  <a:tcPr/>
                </a:tc>
                <a:extLst>
                  <a:ext uri="{0D108BD9-81ED-4DB2-BD59-A6C34878D82A}">
                    <a16:rowId xmlns:a16="http://schemas.microsoft.com/office/drawing/2014/main" val="3469221649"/>
                  </a:ext>
                </a:extLst>
              </a:tr>
              <a:tr h="479003">
                <a:tc>
                  <a:txBody>
                    <a:bodyPr/>
                    <a:lstStyle/>
                    <a:p>
                      <a:r>
                        <a:rPr lang="en-US" sz="1400" dirty="0"/>
                        <a:t>Mast Capacity, Klbs</a:t>
                      </a:r>
                    </a:p>
                  </a:txBody>
                  <a:tcPr/>
                </a:tc>
                <a:tc>
                  <a:txBody>
                    <a:bodyPr/>
                    <a:lstStyle/>
                    <a:p>
                      <a:r>
                        <a:rPr lang="en-US" sz="1400" dirty="0"/>
                        <a:t>675</a:t>
                      </a:r>
                    </a:p>
                    <a:p>
                      <a:r>
                        <a:rPr lang="en-US" sz="1400" dirty="0"/>
                        <a:t>769</a:t>
                      </a:r>
                    </a:p>
                  </a:txBody>
                  <a:tcPr>
                    <a:solidFill>
                      <a:srgbClr val="FFFF99"/>
                    </a:solidFill>
                  </a:tcPr>
                </a:tc>
                <a:extLst>
                  <a:ext uri="{0D108BD9-81ED-4DB2-BD59-A6C34878D82A}">
                    <a16:rowId xmlns:a16="http://schemas.microsoft.com/office/drawing/2014/main" val="3161829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80% Mast Cap., Klbs</a:t>
                      </a:r>
                    </a:p>
                  </a:txBody>
                  <a:tcPr/>
                </a:tc>
                <a:tc>
                  <a:txBody>
                    <a:bodyPr/>
                    <a:lstStyle/>
                    <a:p>
                      <a:r>
                        <a:rPr lang="en-US" sz="1400" dirty="0"/>
                        <a:t>540</a:t>
                      </a:r>
                    </a:p>
                    <a:p>
                      <a:r>
                        <a:rPr lang="en-US" sz="1400" dirty="0"/>
                        <a:t>615</a:t>
                      </a:r>
                    </a:p>
                  </a:txBody>
                  <a:tcPr/>
                </a:tc>
                <a:extLst>
                  <a:ext uri="{0D108BD9-81ED-4DB2-BD59-A6C34878D82A}">
                    <a16:rowId xmlns:a16="http://schemas.microsoft.com/office/drawing/2014/main" val="29480148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Corrected Rated Drilling Depth, M</a:t>
                      </a:r>
                    </a:p>
                  </a:txBody>
                  <a:tcPr/>
                </a:tc>
                <a:tc>
                  <a:txBody>
                    <a:bodyPr/>
                    <a:lstStyle/>
                    <a:p>
                      <a:r>
                        <a:rPr lang="en-US" sz="1400" dirty="0"/>
                        <a:t>3600</a:t>
                      </a:r>
                    </a:p>
                    <a:p>
                      <a:r>
                        <a:rPr lang="en-US" sz="1400" dirty="0"/>
                        <a:t>4300</a:t>
                      </a:r>
                    </a:p>
                  </a:txBody>
                  <a:tcPr>
                    <a:solidFill>
                      <a:srgbClr val="FFFFCC"/>
                    </a:solidFill>
                  </a:tcPr>
                </a:tc>
                <a:extLst>
                  <a:ext uri="{0D108BD9-81ED-4DB2-BD59-A6C34878D82A}">
                    <a16:rowId xmlns:a16="http://schemas.microsoft.com/office/drawing/2014/main" val="2893703677"/>
                  </a:ext>
                </a:extLst>
              </a:tr>
            </a:tbl>
          </a:graphicData>
        </a:graphic>
      </p:graphicFrame>
      <p:sp>
        <p:nvSpPr>
          <p:cNvPr id="21" name="Arrow: Down 20">
            <a:extLst>
              <a:ext uri="{FF2B5EF4-FFF2-40B4-BE49-F238E27FC236}">
                <a16:creationId xmlns:a16="http://schemas.microsoft.com/office/drawing/2014/main" id="{49681C2B-B466-E8F4-1B7F-A7D63BA28C2F}"/>
              </a:ext>
            </a:extLst>
          </p:cNvPr>
          <p:cNvSpPr/>
          <p:nvPr/>
        </p:nvSpPr>
        <p:spPr>
          <a:xfrm>
            <a:off x="4564546" y="2123771"/>
            <a:ext cx="849437" cy="2957287"/>
          </a:xfrm>
          <a:prstGeom prst="downArrow">
            <a:avLst>
              <a:gd name="adj1" fmla="val 70382"/>
              <a:gd name="adj2" fmla="val 50000"/>
            </a:avLst>
          </a:prstGeom>
          <a:gradFill>
            <a:gsLst>
              <a:gs pos="0">
                <a:schemeClr val="accent2">
                  <a:lumMod val="75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vert="vert" rtlCol="0" anchor="ctr"/>
          <a:lstStyle/>
          <a:p>
            <a:r>
              <a:rPr lang="en-US" dirty="0"/>
              <a:t>Minimum</a:t>
            </a:r>
          </a:p>
        </p:txBody>
      </p:sp>
      <p:pic>
        <p:nvPicPr>
          <p:cNvPr id="22" name="Picture 21">
            <a:extLst>
              <a:ext uri="{FF2B5EF4-FFF2-40B4-BE49-F238E27FC236}">
                <a16:creationId xmlns:a16="http://schemas.microsoft.com/office/drawing/2014/main" id="{DB3DA620-C597-83BE-A1C7-E4E1A6C51114}"/>
              </a:ext>
            </a:extLst>
          </p:cNvPr>
          <p:cNvPicPr>
            <a:picLocks noChangeAspect="1"/>
          </p:cNvPicPr>
          <p:nvPr/>
        </p:nvPicPr>
        <p:blipFill rotWithShape="1">
          <a:blip r:embed="rId4"/>
          <a:srcRect l="18447" t="5316" r="14077" b="9994"/>
          <a:stretch/>
        </p:blipFill>
        <p:spPr>
          <a:xfrm>
            <a:off x="4683571" y="1182176"/>
            <a:ext cx="611386" cy="875072"/>
          </a:xfrm>
          <a:prstGeom prst="rect">
            <a:avLst/>
          </a:prstGeom>
        </p:spPr>
      </p:pic>
      <p:pic>
        <p:nvPicPr>
          <p:cNvPr id="5" name="Picture 4">
            <a:extLst>
              <a:ext uri="{FF2B5EF4-FFF2-40B4-BE49-F238E27FC236}">
                <a16:creationId xmlns:a16="http://schemas.microsoft.com/office/drawing/2014/main" id="{498EF5FF-4668-7CEB-13E0-BAF2B4E98EBA}"/>
              </a:ext>
            </a:extLst>
          </p:cNvPr>
          <p:cNvPicPr>
            <a:picLocks noChangeAspect="1"/>
          </p:cNvPicPr>
          <p:nvPr/>
        </p:nvPicPr>
        <p:blipFill>
          <a:blip r:embed="rId6"/>
          <a:stretch>
            <a:fillRect/>
          </a:stretch>
        </p:blipFill>
        <p:spPr>
          <a:xfrm>
            <a:off x="174030" y="3923225"/>
            <a:ext cx="2466445" cy="2575251"/>
          </a:xfrm>
          <a:prstGeom prst="rect">
            <a:avLst/>
          </a:prstGeom>
        </p:spPr>
      </p:pic>
      <p:graphicFrame>
        <p:nvGraphicFramePr>
          <p:cNvPr id="4" name="Table 18">
            <a:extLst>
              <a:ext uri="{FF2B5EF4-FFF2-40B4-BE49-F238E27FC236}">
                <a16:creationId xmlns:a16="http://schemas.microsoft.com/office/drawing/2014/main" id="{0E374B8D-5979-7806-9592-55A93ACE8E6E}"/>
              </a:ext>
            </a:extLst>
          </p:cNvPr>
          <p:cNvGraphicFramePr>
            <a:graphicFrameLocks noGrp="1"/>
          </p:cNvGraphicFramePr>
          <p:nvPr/>
        </p:nvGraphicFramePr>
        <p:xfrm>
          <a:off x="7338052" y="1274221"/>
          <a:ext cx="4468856" cy="2819987"/>
        </p:xfrm>
        <a:graphic>
          <a:graphicData uri="http://schemas.openxmlformats.org/drawingml/2006/table">
            <a:tbl>
              <a:tblPr firstRow="1" bandRow="1">
                <a:tableStyleId>{5C22544A-7EE6-4342-B048-85BDC9FD1C3A}</a:tableStyleId>
              </a:tblPr>
              <a:tblGrid>
                <a:gridCol w="3336053">
                  <a:extLst>
                    <a:ext uri="{9D8B030D-6E8A-4147-A177-3AD203B41FA5}">
                      <a16:colId xmlns:a16="http://schemas.microsoft.com/office/drawing/2014/main" val="3832006718"/>
                    </a:ext>
                  </a:extLst>
                </a:gridCol>
                <a:gridCol w="1132803">
                  <a:extLst>
                    <a:ext uri="{9D8B030D-6E8A-4147-A177-3AD203B41FA5}">
                      <a16:colId xmlns:a16="http://schemas.microsoft.com/office/drawing/2014/main" val="666349759"/>
                    </a:ext>
                  </a:extLst>
                </a:gridCol>
              </a:tblGrid>
              <a:tr h="0">
                <a:tc>
                  <a:txBody>
                    <a:bodyPr/>
                    <a:lstStyle/>
                    <a:p>
                      <a:r>
                        <a:rPr lang="en-US" sz="1600" b="0" dirty="0"/>
                        <a:t>Drill Pipe Specification</a:t>
                      </a:r>
                    </a:p>
                  </a:txBody>
                  <a:tcPr/>
                </a:tc>
                <a:tc>
                  <a:txBody>
                    <a:bodyPr/>
                    <a:lstStyle/>
                    <a:p>
                      <a:r>
                        <a:rPr lang="en-US" sz="1800" b="0" dirty="0"/>
                        <a:t>DP Rated Drilling Depth, M</a:t>
                      </a:r>
                    </a:p>
                  </a:txBody>
                  <a:tcPr/>
                </a:tc>
                <a:extLst>
                  <a:ext uri="{0D108BD9-81ED-4DB2-BD59-A6C34878D82A}">
                    <a16:rowId xmlns:a16="http://schemas.microsoft.com/office/drawing/2014/main" val="750143076"/>
                  </a:ext>
                </a:extLst>
              </a:tr>
              <a:tr h="370840">
                <a:tc>
                  <a:txBody>
                    <a:bodyPr/>
                    <a:lstStyle/>
                    <a:p>
                      <a:r>
                        <a:rPr lang="en-US" sz="1600" dirty="0"/>
                        <a:t>5” DP, 19.5 </a:t>
                      </a:r>
                      <a:r>
                        <a:rPr lang="en-US" sz="1600" dirty="0" err="1"/>
                        <a:t>ppf</a:t>
                      </a:r>
                      <a:r>
                        <a:rPr lang="en-US" sz="1600" dirty="0"/>
                        <a:t>, Grade G-105</a:t>
                      </a:r>
                    </a:p>
                  </a:txBody>
                  <a:tcPr/>
                </a:tc>
                <a:tc>
                  <a:txBody>
                    <a:bodyPr/>
                    <a:lstStyle/>
                    <a:p>
                      <a:pPr algn="ctr"/>
                      <a:r>
                        <a:rPr lang="en-US" sz="1800" b="1" dirty="0">
                          <a:solidFill>
                            <a:srgbClr val="C00000"/>
                          </a:solidFill>
                        </a:rPr>
                        <a:t>2250</a:t>
                      </a:r>
                    </a:p>
                  </a:txBody>
                  <a:tcPr/>
                </a:tc>
                <a:extLst>
                  <a:ext uri="{0D108BD9-81ED-4DB2-BD59-A6C34878D82A}">
                    <a16:rowId xmlns:a16="http://schemas.microsoft.com/office/drawing/2014/main" val="2059534093"/>
                  </a:ext>
                </a:extLst>
              </a:tr>
              <a:tr h="422227">
                <a:tc>
                  <a:txBody>
                    <a:bodyPr/>
                    <a:lstStyle/>
                    <a:p>
                      <a:r>
                        <a:rPr lang="en-US" sz="1600" dirty="0"/>
                        <a:t>5” DP, </a:t>
                      </a:r>
                      <a:r>
                        <a:rPr lang="en-US" sz="1600" b="1" dirty="0">
                          <a:solidFill>
                            <a:srgbClr val="C00000"/>
                          </a:solidFill>
                        </a:rPr>
                        <a:t>25.6 </a:t>
                      </a:r>
                      <a:r>
                        <a:rPr lang="en-US" sz="1600" b="1" dirty="0" err="1">
                          <a:solidFill>
                            <a:srgbClr val="C00000"/>
                          </a:solidFill>
                        </a:rPr>
                        <a:t>ppf</a:t>
                      </a:r>
                      <a:r>
                        <a:rPr lang="en-US" sz="1600" dirty="0"/>
                        <a:t>, Grade G-105</a:t>
                      </a:r>
                    </a:p>
                  </a:txBody>
                  <a:tcPr/>
                </a:tc>
                <a:tc>
                  <a:txBody>
                    <a:bodyPr/>
                    <a:lstStyle/>
                    <a:p>
                      <a:pPr algn="ctr"/>
                      <a:r>
                        <a:rPr lang="en-US" sz="1800" b="1" dirty="0">
                          <a:solidFill>
                            <a:srgbClr val="C00000"/>
                          </a:solidFill>
                        </a:rPr>
                        <a:t>3500</a:t>
                      </a:r>
                    </a:p>
                  </a:txBody>
                  <a:tcPr/>
                </a:tc>
                <a:extLst>
                  <a:ext uri="{0D108BD9-81ED-4DB2-BD59-A6C34878D82A}">
                    <a16:rowId xmlns:a16="http://schemas.microsoft.com/office/drawing/2014/main" val="3577936309"/>
                  </a:ext>
                </a:extLst>
              </a:tr>
              <a:tr h="370840">
                <a:tc>
                  <a:txBody>
                    <a:bodyPr/>
                    <a:lstStyle/>
                    <a:p>
                      <a:r>
                        <a:rPr lang="en-US" sz="1600" dirty="0"/>
                        <a:t>5½” DP, 21.9 </a:t>
                      </a:r>
                      <a:r>
                        <a:rPr lang="en-US" sz="1600" dirty="0" err="1"/>
                        <a:t>ppf</a:t>
                      </a:r>
                      <a:r>
                        <a:rPr lang="en-US" sz="1600" dirty="0"/>
                        <a:t>, Grade G-105</a:t>
                      </a:r>
                    </a:p>
                  </a:txBody>
                  <a:tcPr/>
                </a:tc>
                <a:tc>
                  <a:txBody>
                    <a:bodyPr/>
                    <a:lstStyle/>
                    <a:p>
                      <a:pPr algn="ctr"/>
                      <a:r>
                        <a:rPr lang="en-US" sz="1800" b="1" dirty="0">
                          <a:solidFill>
                            <a:srgbClr val="C00000"/>
                          </a:solidFill>
                        </a:rPr>
                        <a:t>2500</a:t>
                      </a:r>
                    </a:p>
                  </a:txBody>
                  <a:tcPr/>
                </a:tc>
                <a:extLst>
                  <a:ext uri="{0D108BD9-81ED-4DB2-BD59-A6C34878D82A}">
                    <a16:rowId xmlns:a16="http://schemas.microsoft.com/office/drawing/2014/main" val="1234681691"/>
                  </a:ext>
                </a:extLst>
              </a:tr>
              <a:tr h="370840">
                <a:tc>
                  <a:txBody>
                    <a:bodyPr/>
                    <a:lstStyle/>
                    <a:p>
                      <a:r>
                        <a:rPr lang="en-US" sz="1600" dirty="0"/>
                        <a:t>5½” DP, </a:t>
                      </a:r>
                      <a:r>
                        <a:rPr lang="en-US" sz="1600" b="1" dirty="0">
                          <a:solidFill>
                            <a:srgbClr val="C00000"/>
                          </a:solidFill>
                        </a:rPr>
                        <a:t>24.7 </a:t>
                      </a:r>
                      <a:r>
                        <a:rPr lang="en-US" sz="1600" b="1" dirty="0" err="1">
                          <a:solidFill>
                            <a:srgbClr val="C00000"/>
                          </a:solidFill>
                        </a:rPr>
                        <a:t>ppf</a:t>
                      </a:r>
                      <a:r>
                        <a:rPr lang="en-US" sz="1600" dirty="0"/>
                        <a:t>, Grade G-105</a:t>
                      </a:r>
                    </a:p>
                  </a:txBody>
                  <a:tcPr/>
                </a:tc>
                <a:tc>
                  <a:txBody>
                    <a:bodyPr/>
                    <a:lstStyle/>
                    <a:p>
                      <a:pPr algn="ctr"/>
                      <a:r>
                        <a:rPr lang="en-US" sz="1800" b="1" dirty="0">
                          <a:solidFill>
                            <a:srgbClr val="C00000"/>
                          </a:solidFill>
                        </a:rPr>
                        <a:t>3250</a:t>
                      </a:r>
                    </a:p>
                  </a:txBody>
                  <a:tcPr/>
                </a:tc>
                <a:extLst>
                  <a:ext uri="{0D108BD9-81ED-4DB2-BD59-A6C34878D82A}">
                    <a16:rowId xmlns:a16="http://schemas.microsoft.com/office/drawing/2014/main" val="31575470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5½” DP, </a:t>
                      </a:r>
                      <a:r>
                        <a:rPr lang="en-US" sz="1600" b="1" dirty="0">
                          <a:solidFill>
                            <a:srgbClr val="C00000"/>
                          </a:solidFill>
                        </a:rPr>
                        <a:t>24.7</a:t>
                      </a:r>
                      <a:r>
                        <a:rPr lang="en-US" sz="1600" dirty="0"/>
                        <a:t> </a:t>
                      </a:r>
                      <a:r>
                        <a:rPr lang="en-US" sz="1600" dirty="0" err="1"/>
                        <a:t>ppf</a:t>
                      </a:r>
                      <a:r>
                        <a:rPr lang="en-US" sz="1600" dirty="0"/>
                        <a:t>, Grade S-135</a:t>
                      </a:r>
                    </a:p>
                  </a:txBody>
                  <a:tcPr/>
                </a:tc>
                <a:tc>
                  <a:txBody>
                    <a:bodyPr/>
                    <a:lstStyle/>
                    <a:p>
                      <a:pPr algn="ctr"/>
                      <a:r>
                        <a:rPr lang="en-US" sz="1800" b="1" dirty="0">
                          <a:solidFill>
                            <a:srgbClr val="C00000"/>
                          </a:solidFill>
                        </a:rPr>
                        <a:t>4500</a:t>
                      </a:r>
                    </a:p>
                  </a:txBody>
                  <a:tcPr/>
                </a:tc>
                <a:extLst>
                  <a:ext uri="{0D108BD9-81ED-4DB2-BD59-A6C34878D82A}">
                    <a16:rowId xmlns:a16="http://schemas.microsoft.com/office/drawing/2014/main" val="712540444"/>
                  </a:ext>
                </a:extLst>
              </a:tr>
            </a:tbl>
          </a:graphicData>
        </a:graphic>
      </p:graphicFrame>
      <p:graphicFrame>
        <p:nvGraphicFramePr>
          <p:cNvPr id="11" name="Table 10">
            <a:extLst>
              <a:ext uri="{FF2B5EF4-FFF2-40B4-BE49-F238E27FC236}">
                <a16:creationId xmlns:a16="http://schemas.microsoft.com/office/drawing/2014/main" id="{75AAEA66-0579-38F3-2227-B7D21E5E7D0A}"/>
              </a:ext>
            </a:extLst>
          </p:cNvPr>
          <p:cNvGraphicFramePr>
            <a:graphicFrameLocks noGrp="1"/>
          </p:cNvGraphicFramePr>
          <p:nvPr/>
        </p:nvGraphicFramePr>
        <p:xfrm>
          <a:off x="6237529" y="5038405"/>
          <a:ext cx="5907965" cy="1564640"/>
        </p:xfrm>
        <a:graphic>
          <a:graphicData uri="http://schemas.openxmlformats.org/drawingml/2006/table">
            <a:tbl>
              <a:tblPr firstRow="1" bandRow="1">
                <a:tableStyleId>{93296810-A885-4BE3-A3E7-6D5BEEA58F35}</a:tableStyleId>
              </a:tblPr>
              <a:tblGrid>
                <a:gridCol w="1119656">
                  <a:extLst>
                    <a:ext uri="{9D8B030D-6E8A-4147-A177-3AD203B41FA5}">
                      <a16:colId xmlns:a16="http://schemas.microsoft.com/office/drawing/2014/main" val="1497958711"/>
                    </a:ext>
                  </a:extLst>
                </a:gridCol>
                <a:gridCol w="1184406">
                  <a:extLst>
                    <a:ext uri="{9D8B030D-6E8A-4147-A177-3AD203B41FA5}">
                      <a16:colId xmlns:a16="http://schemas.microsoft.com/office/drawing/2014/main" val="848799135"/>
                    </a:ext>
                  </a:extLst>
                </a:gridCol>
                <a:gridCol w="1733421">
                  <a:extLst>
                    <a:ext uri="{9D8B030D-6E8A-4147-A177-3AD203B41FA5}">
                      <a16:colId xmlns:a16="http://schemas.microsoft.com/office/drawing/2014/main" val="620168398"/>
                    </a:ext>
                  </a:extLst>
                </a:gridCol>
                <a:gridCol w="1870482">
                  <a:extLst>
                    <a:ext uri="{9D8B030D-6E8A-4147-A177-3AD203B41FA5}">
                      <a16:colId xmlns:a16="http://schemas.microsoft.com/office/drawing/2014/main" val="3769294192"/>
                    </a:ext>
                  </a:extLst>
                </a:gridCol>
              </a:tblGrid>
              <a:tr h="370840">
                <a:tc>
                  <a:txBody>
                    <a:bodyPr/>
                    <a:lstStyle/>
                    <a:p>
                      <a:r>
                        <a:rPr lang="en-US" sz="1600" dirty="0"/>
                        <a:t>TDS Hoisting</a:t>
                      </a:r>
                    </a:p>
                  </a:txBody>
                  <a:tcPr/>
                </a:tc>
                <a:tc>
                  <a:txBody>
                    <a:bodyPr/>
                    <a:lstStyle/>
                    <a:p>
                      <a:pPr algn="ctr"/>
                      <a:r>
                        <a:rPr lang="en-US" sz="1600" dirty="0"/>
                        <a:t>TDS Horse Power</a:t>
                      </a:r>
                    </a:p>
                  </a:txBody>
                  <a:tcPr/>
                </a:tc>
                <a:tc>
                  <a:txBody>
                    <a:bodyPr/>
                    <a:lstStyle/>
                    <a:p>
                      <a:pPr algn="ctr"/>
                      <a:r>
                        <a:rPr lang="en-US" sz="1600" dirty="0"/>
                        <a:t>Max. Continuous Torque, </a:t>
                      </a:r>
                      <a:r>
                        <a:rPr lang="en-US" sz="1600" dirty="0" err="1"/>
                        <a:t>lbs</a:t>
                      </a:r>
                      <a:r>
                        <a:rPr lang="en-US" sz="1600" dirty="0"/>
                        <a:t>-Ft</a:t>
                      </a:r>
                    </a:p>
                  </a:txBody>
                  <a:tcPr/>
                </a:tc>
                <a:tc>
                  <a:txBody>
                    <a:bodyPr/>
                    <a:lstStyle/>
                    <a:p>
                      <a:pPr algn="ctr"/>
                      <a:r>
                        <a:rPr lang="en-US" sz="1600" dirty="0"/>
                        <a:t>Rated Drilling Depth, m-MD</a:t>
                      </a:r>
                    </a:p>
                  </a:txBody>
                  <a:tcPr/>
                </a:tc>
                <a:extLst>
                  <a:ext uri="{0D108BD9-81ED-4DB2-BD59-A6C34878D82A}">
                    <a16:rowId xmlns:a16="http://schemas.microsoft.com/office/drawing/2014/main" val="3756427785"/>
                  </a:ext>
                </a:extLst>
              </a:tr>
              <a:tr h="37084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n-lt"/>
                          <a:ea typeface="+mn-ea"/>
                          <a:cs typeface="+mn-cs"/>
                        </a:rPr>
                        <a:t>350 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n-lt"/>
                          <a:ea typeface="+mn-ea"/>
                          <a:cs typeface="+mn-cs"/>
                        </a:rPr>
                        <a:t>771 Klbs</a:t>
                      </a:r>
                    </a:p>
                  </a:txBody>
                  <a:tcPr/>
                </a:tc>
                <a:tc>
                  <a:txBody>
                    <a:bodyPr/>
                    <a:lstStyle/>
                    <a:p>
                      <a:pPr algn="ctr"/>
                      <a:r>
                        <a:rPr lang="en-US" sz="1600" dirty="0"/>
                        <a:t>800</a:t>
                      </a:r>
                    </a:p>
                  </a:txBody>
                  <a:tcPr>
                    <a:solidFill>
                      <a:srgbClr val="FFFFCC"/>
                    </a:solidFill>
                  </a:tcPr>
                </a:tc>
                <a:tc>
                  <a:txBody>
                    <a:bodyPr/>
                    <a:lstStyle/>
                    <a:p>
                      <a:pPr algn="ctr"/>
                      <a:r>
                        <a:rPr lang="en-US" sz="1600" dirty="0"/>
                        <a:t>37000</a:t>
                      </a:r>
                    </a:p>
                  </a:txBody>
                  <a:tcPr>
                    <a:solidFill>
                      <a:srgbClr val="FFFFCC"/>
                    </a:solidFill>
                  </a:tcPr>
                </a:tc>
                <a:tc>
                  <a:txBody>
                    <a:bodyPr/>
                    <a:lstStyle/>
                    <a:p>
                      <a:pPr algn="ctr"/>
                      <a:r>
                        <a:rPr lang="en-US" sz="1600" dirty="0"/>
                        <a:t>3700</a:t>
                      </a:r>
                    </a:p>
                  </a:txBody>
                  <a:tcPr>
                    <a:solidFill>
                      <a:srgbClr val="FFFFCC"/>
                    </a:solidFill>
                  </a:tcPr>
                </a:tc>
                <a:extLst>
                  <a:ext uri="{0D108BD9-81ED-4DB2-BD59-A6C34878D82A}">
                    <a16:rowId xmlns:a16="http://schemas.microsoft.com/office/drawing/2014/main" val="3144756500"/>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pPr algn="ctr"/>
                      <a:r>
                        <a:rPr lang="en-US" sz="1600" dirty="0"/>
                        <a:t>1000</a:t>
                      </a:r>
                    </a:p>
                  </a:txBody>
                  <a:tcPr/>
                </a:tc>
                <a:tc>
                  <a:txBody>
                    <a:bodyPr/>
                    <a:lstStyle/>
                    <a:p>
                      <a:pPr algn="ctr"/>
                      <a:r>
                        <a:rPr lang="en-US" sz="1600" dirty="0"/>
                        <a:t>46000</a:t>
                      </a:r>
                    </a:p>
                  </a:txBody>
                  <a:tcPr/>
                </a:tc>
                <a:tc>
                  <a:txBody>
                    <a:bodyPr/>
                    <a:lstStyle/>
                    <a:p>
                      <a:pPr algn="ctr"/>
                      <a:r>
                        <a:rPr lang="en-US" sz="1600" dirty="0"/>
                        <a:t>4500</a:t>
                      </a:r>
                    </a:p>
                  </a:txBody>
                  <a:tcPr/>
                </a:tc>
                <a:extLst>
                  <a:ext uri="{0D108BD9-81ED-4DB2-BD59-A6C34878D82A}">
                    <a16:rowId xmlns:a16="http://schemas.microsoft.com/office/drawing/2014/main" val="3853498093"/>
                  </a:ext>
                </a:extLst>
              </a:tr>
            </a:tbl>
          </a:graphicData>
        </a:graphic>
      </p:graphicFrame>
    </p:spTree>
    <p:extLst>
      <p:ext uri="{BB962C8B-B14F-4D97-AF65-F5344CB8AC3E}">
        <p14:creationId xmlns:p14="http://schemas.microsoft.com/office/powerpoint/2010/main" val="7158991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119A-B93D-0958-57C0-F9DAD3620DEB}"/>
              </a:ext>
            </a:extLst>
          </p:cNvPr>
          <p:cNvSpPr>
            <a:spLocks noGrp="1"/>
          </p:cNvSpPr>
          <p:nvPr>
            <p:ph type="title"/>
          </p:nvPr>
        </p:nvSpPr>
        <p:spPr>
          <a:xfrm>
            <a:off x="521207" y="448056"/>
            <a:ext cx="10993853" cy="640080"/>
          </a:xfrm>
        </p:spPr>
        <p:txBody>
          <a:bodyPr>
            <a:normAutofit/>
          </a:bodyPr>
          <a:lstStyle/>
          <a:p>
            <a:r>
              <a:rPr lang="fi-FI" dirty="0"/>
              <a:t>Kajian Kemampuan dan Kecepatan Rig Moving</a:t>
            </a:r>
            <a:endParaRPr lang="en-ID" dirty="0"/>
          </a:p>
        </p:txBody>
      </p:sp>
      <p:sp>
        <p:nvSpPr>
          <p:cNvPr id="5" name="TextBox 4">
            <a:extLst>
              <a:ext uri="{FF2B5EF4-FFF2-40B4-BE49-F238E27FC236}">
                <a16:creationId xmlns:a16="http://schemas.microsoft.com/office/drawing/2014/main" id="{C2317AF7-FC09-2B7A-AB8E-9ABACB7F0995}"/>
              </a:ext>
            </a:extLst>
          </p:cNvPr>
          <p:cNvSpPr txBox="1"/>
          <p:nvPr/>
        </p:nvSpPr>
        <p:spPr>
          <a:xfrm>
            <a:off x="624662" y="1533465"/>
            <a:ext cx="10454464" cy="4421723"/>
          </a:xfrm>
          <a:prstGeom prst="rect">
            <a:avLst/>
          </a:prstGeom>
          <a:noFill/>
        </p:spPr>
        <p:txBody>
          <a:bodyPr wrap="square">
            <a:spAutoFit/>
          </a:bodyPr>
          <a:lstStyle/>
          <a:p>
            <a:pPr marL="0" marR="0" algn="just">
              <a:lnSpc>
                <a:spcPct val="107000"/>
              </a:lnSpc>
              <a:spcBef>
                <a:spcPts val="0"/>
              </a:spcBef>
              <a:spcAft>
                <a:spcPts val="0"/>
              </a:spcAft>
            </a:pPr>
            <a:r>
              <a:rPr lang="en-US" sz="2400" dirty="0">
                <a:effectLst/>
                <a:latin typeface="Calibri" panose="020F0502020204030204" pitchFamily="34" charset="0"/>
                <a:ea typeface="Calibri" panose="020F0502020204030204" pitchFamily="34" charset="0"/>
                <a:cs typeface="Calibri" panose="020F0502020204030204" pitchFamily="34" charset="0"/>
              </a:rPr>
              <a:t>Kegiatan </a:t>
            </a:r>
            <a:r>
              <a:rPr lang="en-US" sz="2400" dirty="0" err="1">
                <a:effectLst/>
                <a:latin typeface="Calibri" panose="020F0502020204030204" pitchFamily="34" charset="0"/>
                <a:ea typeface="Calibri" panose="020F0502020204030204" pitchFamily="34" charset="0"/>
                <a:cs typeface="Calibri" panose="020F0502020204030204" pitchFamily="34" charset="0"/>
              </a:rPr>
              <a:t>perpindahan</a:t>
            </a:r>
            <a:r>
              <a:rPr lang="en-US" sz="2400" dirty="0">
                <a:effectLst/>
                <a:latin typeface="Calibri" panose="020F0502020204030204" pitchFamily="34" charset="0"/>
                <a:ea typeface="Calibri" panose="020F0502020204030204" pitchFamily="34" charset="0"/>
                <a:cs typeface="Calibri" panose="020F0502020204030204" pitchFamily="34" charset="0"/>
              </a:rPr>
              <a:t> rig (Rig Moving) </a:t>
            </a:r>
            <a:r>
              <a:rPr lang="en-US" sz="2400" dirty="0" err="1">
                <a:effectLst/>
                <a:latin typeface="Calibri" panose="020F0502020204030204" pitchFamily="34" charset="0"/>
                <a:ea typeface="Calibri" panose="020F0502020204030204" pitchFamily="34" charset="0"/>
                <a:cs typeface="Calibri" panose="020F0502020204030204" pitchFamily="34" charset="0"/>
              </a:rPr>
              <a:t>ini</a:t>
            </a:r>
            <a:r>
              <a:rPr lang="en-US" sz="2400" dirty="0">
                <a:effectLst/>
                <a:latin typeface="Calibri" panose="020F0502020204030204" pitchFamily="34" charset="0"/>
                <a:ea typeface="Calibri" panose="020F0502020204030204" pitchFamily="34" charset="0"/>
                <a:cs typeface="Calibri" panose="020F0502020204030204" pitchFamily="34" charset="0"/>
              </a:rPr>
              <a:t> dapat </a:t>
            </a:r>
            <a:r>
              <a:rPr lang="en-US" sz="2400" dirty="0" err="1">
                <a:effectLst/>
                <a:latin typeface="Calibri" panose="020F0502020204030204" pitchFamily="34" charset="0"/>
                <a:ea typeface="Calibri" panose="020F0502020204030204" pitchFamily="34" charset="0"/>
                <a:cs typeface="Calibri" panose="020F0502020204030204" pitchFamily="34" charset="0"/>
              </a:rPr>
              <a:t>dikategorikan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dalam</a:t>
            </a:r>
            <a:r>
              <a:rPr lang="en-US" sz="2400" dirty="0">
                <a:effectLst/>
                <a:latin typeface="Calibri" panose="020F0502020204030204" pitchFamily="34" charset="0"/>
                <a:ea typeface="Calibri" panose="020F0502020204030204" pitchFamily="34" charset="0"/>
                <a:cs typeface="Calibri" panose="020F0502020204030204" pitchFamily="34" charset="0"/>
              </a:rPr>
              <a:t> 4 </a:t>
            </a:r>
            <a:r>
              <a:rPr lang="en-US" sz="2400" dirty="0" err="1">
                <a:effectLst/>
                <a:latin typeface="Calibri" panose="020F0502020204030204" pitchFamily="34" charset="0"/>
                <a:ea typeface="Calibri" panose="020F0502020204030204" pitchFamily="34" charset="0"/>
                <a:cs typeface="Calibri" panose="020F0502020204030204" pitchFamily="34" charset="0"/>
              </a:rPr>
              <a:t>jenis</a:t>
            </a:r>
            <a:r>
              <a:rPr lang="en-US" sz="2400" dirty="0">
                <a:effectLst/>
                <a:latin typeface="Calibri" panose="020F0502020204030204" pitchFamily="34" charset="0"/>
                <a:ea typeface="Calibri" panose="020F0502020204030204" pitchFamily="34" charset="0"/>
                <a:cs typeface="Calibri" panose="020F0502020204030204" pitchFamily="34" charset="0"/>
              </a:rPr>
              <a:t>:</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0"/>
              </a:spcAft>
              <a:buFont typeface="+mj-lt"/>
              <a:buAutoNum type="alphaLcPeriod"/>
            </a:pP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Rig Mobilisasi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perpindahan</a:t>
            </a:r>
            <a:r>
              <a:rPr lang="en-US" sz="2400" dirty="0">
                <a:effectLst/>
                <a:latin typeface="Calibri" panose="020F0502020204030204" pitchFamily="34" charset="0"/>
                <a:ea typeface="Calibri" panose="020F0502020204030204" pitchFamily="34" charset="0"/>
                <a:cs typeface="Calibri" panose="020F0502020204030204" pitchFamily="34" charset="0"/>
              </a:rPr>
              <a:t> rig </a:t>
            </a:r>
            <a:r>
              <a:rPr lang="en-US" sz="2400" dirty="0" err="1">
                <a:effectLst/>
                <a:latin typeface="Calibri" panose="020F0502020204030204" pitchFamily="34" charset="0"/>
                <a:ea typeface="Calibri" panose="020F0502020204030204" pitchFamily="34" charset="0"/>
                <a:cs typeface="Calibri" panose="020F0502020204030204" pitchFamily="34" charset="0"/>
              </a:rPr>
              <a:t>dari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lokasi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awal</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ke</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lokasi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sumur</a:t>
            </a:r>
            <a:r>
              <a:rPr lang="en-US" sz="2400" dirty="0">
                <a:effectLst/>
                <a:latin typeface="Calibri" panose="020F0502020204030204" pitchFamily="34" charset="0"/>
                <a:ea typeface="Calibri" panose="020F0502020204030204" pitchFamily="34" charset="0"/>
                <a:cs typeface="Calibri" panose="020F0502020204030204" pitchFamily="34" charset="0"/>
              </a:rPr>
              <a:t> pertama </a:t>
            </a:r>
            <a:r>
              <a:rPr lang="en-US" sz="2400" dirty="0" err="1">
                <a:effectLst/>
                <a:latin typeface="Calibri" panose="020F0502020204030204" pitchFamily="34" charset="0"/>
                <a:ea typeface="Calibri" panose="020F0502020204030204" pitchFamily="34" charset="0"/>
                <a:cs typeface="Calibri" panose="020F0502020204030204" pitchFamily="34" charset="0"/>
              </a:rPr>
              <a:t>pemboran</a:t>
            </a:r>
            <a:r>
              <a:rPr lang="en-US" sz="2400" dirty="0">
                <a:effectLst/>
                <a:latin typeface="Calibri" panose="020F0502020204030204" pitchFamily="34" charset="0"/>
                <a:ea typeface="Calibri" panose="020F0502020204030204" pitchFamily="34" charset="0"/>
                <a:cs typeface="Calibri" panose="020F0502020204030204" pitchFamily="34" charset="0"/>
              </a:rPr>
              <a:t>.</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0"/>
              </a:spcAft>
              <a:buFont typeface="+mj-lt"/>
              <a:buAutoNum type="alphaLcPeriod"/>
            </a:pP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Rig Moving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didalam</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satu</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wellpad</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cara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perpindahan</a:t>
            </a:r>
            <a:r>
              <a:rPr lang="en-US" sz="2400" dirty="0">
                <a:effectLst/>
                <a:latin typeface="Calibri" panose="020F0502020204030204" pitchFamily="34" charset="0"/>
                <a:ea typeface="Calibri" panose="020F0502020204030204" pitchFamily="34" charset="0"/>
                <a:cs typeface="Calibri" panose="020F0502020204030204" pitchFamily="34" charset="0"/>
              </a:rPr>
              <a:t> rig </a:t>
            </a:r>
            <a:r>
              <a:rPr lang="en-US" sz="2400" dirty="0" err="1">
                <a:effectLst/>
                <a:latin typeface="Calibri" panose="020F0502020204030204" pitchFamily="34" charset="0"/>
                <a:ea typeface="Calibri" panose="020F0502020204030204" pitchFamily="34" charset="0"/>
                <a:cs typeface="Calibri" panose="020F0502020204030204" pitchFamily="34" charset="0"/>
              </a:rPr>
              <a:t>dalam</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satu</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wellpad</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bisa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dengan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proses skidding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atau</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walking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berjalan</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tergantung</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kemampuan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rignya</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0"/>
              </a:spcAft>
              <a:buFont typeface="+mj-lt"/>
              <a:buAutoNum type="alphaLcPeriod"/>
            </a:pP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Rig Moving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antar</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wellpad</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Perpindahan</a:t>
            </a:r>
            <a:r>
              <a:rPr lang="en-US" sz="2400" dirty="0">
                <a:effectLst/>
                <a:latin typeface="Calibri" panose="020F0502020204030204" pitchFamily="34" charset="0"/>
                <a:ea typeface="Calibri" panose="020F0502020204030204" pitchFamily="34" charset="0"/>
                <a:cs typeface="Calibri" panose="020F0502020204030204" pitchFamily="34" charset="0"/>
              </a:rPr>
              <a:t> rig </a:t>
            </a:r>
            <a:r>
              <a:rPr lang="en-US" sz="2400" dirty="0" err="1">
                <a:effectLst/>
                <a:latin typeface="Calibri" panose="020F0502020204030204" pitchFamily="34" charset="0"/>
                <a:ea typeface="Calibri" panose="020F0502020204030204" pitchFamily="34" charset="0"/>
                <a:cs typeface="Calibri" panose="020F0502020204030204" pitchFamily="34" charset="0"/>
              </a:rPr>
              <a:t>ini</a:t>
            </a:r>
            <a:r>
              <a:rPr lang="en-US" sz="2400" dirty="0">
                <a:effectLst/>
                <a:latin typeface="Calibri" panose="020F0502020204030204" pitchFamily="34" charset="0"/>
                <a:ea typeface="Calibri" panose="020F0502020204030204" pitchFamily="34" charset="0"/>
                <a:cs typeface="Calibri" panose="020F0502020204030204" pitchFamily="34" charset="0"/>
              </a:rPr>
              <a:t>, rig </a:t>
            </a:r>
            <a:r>
              <a:rPr lang="en-US" sz="2400" dirty="0" err="1">
                <a:effectLst/>
                <a:latin typeface="Calibri" panose="020F0502020204030204" pitchFamily="34" charset="0"/>
                <a:ea typeface="Calibri" panose="020F0502020204030204" pitchFamily="34" charset="0"/>
                <a:cs typeface="Calibri" panose="020F0502020204030204" pitchFamily="34" charset="0"/>
              </a:rPr>
              <a:t>harus</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direbahkan</a:t>
            </a:r>
            <a:r>
              <a:rPr lang="en-US" sz="2400" dirty="0">
                <a:effectLst/>
                <a:latin typeface="Calibri" panose="020F0502020204030204" pitchFamily="34" charset="0"/>
                <a:ea typeface="Calibri" panose="020F0502020204030204" pitchFamily="34" charset="0"/>
                <a:cs typeface="Calibri" panose="020F0502020204030204" pitchFamily="34" charset="0"/>
              </a:rPr>
              <a:t> dan </a:t>
            </a:r>
            <a:r>
              <a:rPr lang="en-US" sz="2400" dirty="0" err="1">
                <a:effectLst/>
                <a:latin typeface="Calibri" panose="020F0502020204030204" pitchFamily="34" charset="0"/>
                <a:ea typeface="Calibri" panose="020F0502020204030204" pitchFamily="34" charset="0"/>
                <a:cs typeface="Calibri" panose="020F0502020204030204" pitchFamily="34" charset="0"/>
              </a:rPr>
              <a:t>dibongkar</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untuk</a:t>
            </a:r>
            <a:r>
              <a:rPr lang="en-US" sz="2400" dirty="0">
                <a:effectLst/>
                <a:latin typeface="Calibri" panose="020F0502020204030204" pitchFamily="34" charset="0"/>
                <a:ea typeface="Calibri" panose="020F0502020204030204" pitchFamily="34" charset="0"/>
                <a:cs typeface="Calibri" panose="020F0502020204030204" pitchFamily="34" charset="0"/>
              </a:rPr>
              <a:t> dapat </a:t>
            </a:r>
            <a:r>
              <a:rPr lang="en-US" sz="2400" dirty="0" err="1">
                <a:effectLst/>
                <a:latin typeface="Calibri" panose="020F0502020204030204" pitchFamily="34" charset="0"/>
                <a:ea typeface="Calibri" panose="020F0502020204030204" pitchFamily="34" charset="0"/>
                <a:cs typeface="Calibri" panose="020F0502020204030204" pitchFamily="34" charset="0"/>
              </a:rPr>
              <a:t>dipindahkan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ke</a:t>
            </a:r>
            <a:r>
              <a:rPr lang="en-US" sz="2400" dirty="0">
                <a:effectLst/>
                <a:latin typeface="Calibri" panose="020F0502020204030204" pitchFamily="34" charset="0"/>
                <a:ea typeface="Calibri" panose="020F0502020204030204" pitchFamily="34" charset="0"/>
                <a:cs typeface="Calibri" panose="020F0502020204030204" pitchFamily="34" charset="0"/>
              </a:rPr>
              <a:t> Lokasi </a:t>
            </a:r>
            <a:r>
              <a:rPr lang="en-US" sz="2400" dirty="0" err="1">
                <a:effectLst/>
                <a:latin typeface="Calibri" panose="020F0502020204030204" pitchFamily="34" charset="0"/>
                <a:ea typeface="Calibri" panose="020F0502020204030204" pitchFamily="34" charset="0"/>
                <a:cs typeface="Calibri" panose="020F0502020204030204" pitchFamily="34" charset="0"/>
              </a:rPr>
              <a:t>wellpad</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berikutnya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untuk</a:t>
            </a:r>
            <a:r>
              <a:rPr lang="en-US" sz="2400" dirty="0">
                <a:effectLst/>
                <a:latin typeface="Calibri" panose="020F0502020204030204" pitchFamily="34" charset="0"/>
                <a:ea typeface="Calibri" panose="020F0502020204030204" pitchFamily="34" charset="0"/>
                <a:cs typeface="Calibri" panose="020F0502020204030204" pitchFamily="34" charset="0"/>
              </a:rPr>
              <a:t> di rig-up.</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800"/>
              </a:spcAft>
              <a:buFont typeface="+mj-lt"/>
              <a:buAutoNum type="alphaLcPeriod"/>
            </a:pP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Rig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DeMobilisasi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perpindahan</a:t>
            </a:r>
            <a:r>
              <a:rPr lang="en-US" sz="2400" dirty="0">
                <a:effectLst/>
                <a:latin typeface="Calibri" panose="020F0502020204030204" pitchFamily="34" charset="0"/>
                <a:ea typeface="Calibri" panose="020F0502020204030204" pitchFamily="34" charset="0"/>
                <a:cs typeface="Calibri" panose="020F0502020204030204" pitchFamily="34" charset="0"/>
              </a:rPr>
              <a:t> rig </a:t>
            </a:r>
            <a:r>
              <a:rPr lang="en-US" sz="2400" dirty="0" err="1">
                <a:effectLst/>
                <a:latin typeface="Calibri" panose="020F0502020204030204" pitchFamily="34" charset="0"/>
                <a:ea typeface="Calibri" panose="020F0502020204030204" pitchFamily="34" charset="0"/>
                <a:cs typeface="Calibri" panose="020F0502020204030204" pitchFamily="34" charset="0"/>
              </a:rPr>
              <a:t>dari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lokasi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sumur</a:t>
            </a:r>
            <a:r>
              <a:rPr lang="en-US" sz="2400" dirty="0">
                <a:effectLst/>
                <a:latin typeface="Calibri" panose="020F0502020204030204" pitchFamily="34" charset="0"/>
                <a:ea typeface="Calibri" panose="020F0502020204030204" pitchFamily="34" charset="0"/>
                <a:cs typeface="Calibri" panose="020F0502020204030204" pitchFamily="34" charset="0"/>
              </a:rPr>
              <a:t> terakhir </a:t>
            </a:r>
            <a:r>
              <a:rPr lang="en-US" sz="2400" dirty="0" err="1">
                <a:effectLst/>
                <a:latin typeface="Calibri" panose="020F0502020204030204" pitchFamily="34" charset="0"/>
                <a:ea typeface="Calibri" panose="020F0502020204030204" pitchFamily="34" charset="0"/>
                <a:cs typeface="Calibri" panose="020F0502020204030204" pitchFamily="34" charset="0"/>
              </a:rPr>
              <a:t>pemboran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ke</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lokasi</a:t>
            </a:r>
            <a:r>
              <a:rPr lang="en-US" sz="2400" dirty="0">
                <a:effectLst/>
                <a:latin typeface="Calibri" panose="020F0502020204030204" pitchFamily="34" charset="0"/>
                <a:ea typeface="Calibri" panose="020F0502020204030204" pitchFamily="34" charset="0"/>
                <a:cs typeface="Calibri" panose="020F0502020204030204" pitchFamily="34" charset="0"/>
              </a:rPr>
              <a:t> yang </a:t>
            </a:r>
            <a:r>
              <a:rPr lang="en-US" sz="2400" dirty="0" err="1">
                <a:effectLst/>
                <a:latin typeface="Calibri" panose="020F0502020204030204" pitchFamily="34" charset="0"/>
                <a:ea typeface="Calibri" panose="020F0502020204030204" pitchFamily="34" charset="0"/>
                <a:cs typeface="Calibri" panose="020F0502020204030204" pitchFamily="34" charset="0"/>
              </a:rPr>
              <a:t>diinginkan</a:t>
            </a:r>
            <a:r>
              <a:rPr lang="en-US" sz="2400" dirty="0">
                <a:effectLst/>
                <a:latin typeface="Calibri" panose="020F0502020204030204" pitchFamily="34" charset="0"/>
                <a:ea typeface="Calibri" panose="020F0502020204030204" pitchFamily="34" charset="0"/>
                <a:cs typeface="Calibri" panose="020F0502020204030204" pitchFamily="34" charset="0"/>
              </a:rPr>
              <a:t> oleh </a:t>
            </a:r>
            <a:r>
              <a:rPr lang="en-US" sz="2400" dirty="0" err="1">
                <a:effectLst/>
                <a:latin typeface="Calibri" panose="020F0502020204030204" pitchFamily="34" charset="0"/>
                <a:ea typeface="Calibri" panose="020F0502020204030204" pitchFamily="34" charset="0"/>
                <a:cs typeface="Calibri" panose="020F0502020204030204" pitchFamily="34" charset="0"/>
              </a:rPr>
              <a:t>Kontraktor</a:t>
            </a:r>
            <a:r>
              <a:rPr lang="en-US" sz="2400" dirty="0">
                <a:effectLst/>
                <a:latin typeface="Calibri" panose="020F0502020204030204" pitchFamily="34" charset="0"/>
                <a:ea typeface="Calibri" panose="020F0502020204030204" pitchFamily="34" charset="0"/>
                <a:cs typeface="Calibri" panose="020F0502020204030204" pitchFamily="34" charset="0"/>
              </a:rPr>
              <a:t> rig.</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54729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95B0445E-FD80-E6EA-101B-3A0D816169E3}"/>
              </a:ext>
            </a:extLst>
          </p:cNvPr>
          <p:cNvPicPr>
            <a:picLocks noChangeAspect="1"/>
          </p:cNvPicPr>
          <p:nvPr/>
        </p:nvPicPr>
        <p:blipFill rotWithShape="1">
          <a:blip r:embed="rId2" cstate="email">
            <a:duotone>
              <a:schemeClr val="accent5">
                <a:shade val="45000"/>
                <a:satMod val="135000"/>
              </a:schemeClr>
              <a:prstClr val="white"/>
            </a:duotone>
            <a:extLst>
              <a:ext uri="{28A0092B-C50C-407E-A947-70E740481C1C}">
                <a14:useLocalDpi xmlns:a14="http://schemas.microsoft.com/office/drawing/2010/main"/>
              </a:ext>
            </a:extLst>
          </a:blip>
          <a:srcRect t="64591"/>
          <a:stretch/>
        </p:blipFill>
        <p:spPr>
          <a:xfrm>
            <a:off x="-14872" y="-1"/>
            <a:ext cx="10830018" cy="1209731"/>
          </a:xfrm>
          <a:prstGeom prst="rect">
            <a:avLst/>
          </a:prstGeom>
          <a:solidFill>
            <a:schemeClr val="tx2">
              <a:lumMod val="60000"/>
              <a:lumOff val="40000"/>
            </a:schemeClr>
          </a:solidFill>
        </p:spPr>
      </p:pic>
      <p:sp>
        <p:nvSpPr>
          <p:cNvPr id="8" name="Freeform 3">
            <a:extLst>
              <a:ext uri="{FF2B5EF4-FFF2-40B4-BE49-F238E27FC236}">
                <a16:creationId xmlns:a16="http://schemas.microsoft.com/office/drawing/2014/main" id="{EE19765F-46D5-43A9-4BC5-839243AECB13}"/>
              </a:ext>
            </a:extLst>
          </p:cNvPr>
          <p:cNvSpPr/>
          <p:nvPr/>
        </p:nvSpPr>
        <p:spPr>
          <a:xfrm>
            <a:off x="10831436" y="-108611"/>
            <a:ext cx="1326403" cy="1326403"/>
          </a:xfrm>
          <a:custGeom>
            <a:avLst/>
            <a:gdLst/>
            <a:ahLst/>
            <a:cxnLst/>
            <a:rect l="l" t="t" r="r" b="b"/>
            <a:pathLst>
              <a:path w="1989604" h="1989604">
                <a:moveTo>
                  <a:pt x="0" y="0"/>
                </a:moveTo>
                <a:lnTo>
                  <a:pt x="1989604" y="0"/>
                </a:lnTo>
                <a:lnTo>
                  <a:pt x="1989604" y="1989605"/>
                </a:lnTo>
                <a:lnTo>
                  <a:pt x="0" y="1989605"/>
                </a:lnTo>
                <a:lnTo>
                  <a:pt x="0" y="0"/>
                </a:lnTo>
                <a:close/>
              </a:path>
            </a:pathLst>
          </a:custGeom>
          <a:blipFill>
            <a:blip r:embed="rId3"/>
            <a:stretch>
              <a:fillRect/>
            </a:stretch>
          </a:blipFill>
        </p:spPr>
        <p:txBody>
          <a:bodyPr/>
          <a:lstStyle/>
          <a:p>
            <a:endParaRPr lang="en-ID" sz="1200"/>
          </a:p>
        </p:txBody>
      </p:sp>
      <p:sp>
        <p:nvSpPr>
          <p:cNvPr id="2" name="Title 1"/>
          <p:cNvSpPr>
            <a:spLocks noGrp="1"/>
          </p:cNvSpPr>
          <p:nvPr>
            <p:ph type="title"/>
          </p:nvPr>
        </p:nvSpPr>
        <p:spPr>
          <a:xfrm>
            <a:off x="437309" y="81767"/>
            <a:ext cx="10824915" cy="1088136"/>
          </a:xfrm>
        </p:spPr>
        <p:txBody>
          <a:bodyPr>
            <a:noAutofit/>
          </a:bodyPr>
          <a:lstStyle/>
          <a:p>
            <a:r>
              <a:rPr lang="en-US" sz="3600" b="1" dirty="0">
                <a:solidFill>
                  <a:schemeClr val="bg1"/>
                </a:solidFill>
                <a:latin typeface="Dream Avenue Bold"/>
              </a:rPr>
              <a:t>The Economic Rig Moving System</a:t>
            </a:r>
            <a:br>
              <a:rPr lang="en-US" sz="3600" b="1" dirty="0">
                <a:solidFill>
                  <a:schemeClr val="bg1"/>
                </a:solidFill>
                <a:latin typeface="Dream Avenue Bold"/>
              </a:rPr>
            </a:br>
            <a:r>
              <a:rPr lang="en-US" sz="3600" b="1" dirty="0">
                <a:solidFill>
                  <a:schemeClr val="bg1"/>
                </a:solidFill>
                <a:latin typeface="Dream Avenue Bold"/>
              </a:rPr>
              <a:t>Rig Skid vs Walking System</a:t>
            </a:r>
          </a:p>
        </p:txBody>
      </p:sp>
      <p:graphicFrame>
        <p:nvGraphicFramePr>
          <p:cNvPr id="4" name="Table 3"/>
          <p:cNvGraphicFramePr>
            <a:graphicFrameLocks noGrp="1"/>
          </p:cNvGraphicFramePr>
          <p:nvPr/>
        </p:nvGraphicFramePr>
        <p:xfrm>
          <a:off x="269863" y="1218028"/>
          <a:ext cx="10114495" cy="5525549"/>
        </p:xfrm>
        <a:graphic>
          <a:graphicData uri="http://schemas.openxmlformats.org/drawingml/2006/table">
            <a:tbl>
              <a:tblPr firstRow="1" bandRow="1">
                <a:tableStyleId>{5C22544A-7EE6-4342-B048-85BDC9FD1C3A}</a:tableStyleId>
              </a:tblPr>
              <a:tblGrid>
                <a:gridCol w="5856393">
                  <a:extLst>
                    <a:ext uri="{9D8B030D-6E8A-4147-A177-3AD203B41FA5}">
                      <a16:colId xmlns:a16="http://schemas.microsoft.com/office/drawing/2014/main" val="419534898"/>
                    </a:ext>
                  </a:extLst>
                </a:gridCol>
                <a:gridCol w="4258102">
                  <a:extLst>
                    <a:ext uri="{9D8B030D-6E8A-4147-A177-3AD203B41FA5}">
                      <a16:colId xmlns:a16="http://schemas.microsoft.com/office/drawing/2014/main" val="2520346265"/>
                    </a:ext>
                  </a:extLst>
                </a:gridCol>
              </a:tblGrid>
              <a:tr h="370840">
                <a:tc>
                  <a:txBody>
                    <a:bodyPr/>
                    <a:lstStyle/>
                    <a:p>
                      <a:r>
                        <a:rPr lang="en-US" dirty="0">
                          <a:solidFill>
                            <a:schemeClr val="accent5">
                              <a:lumMod val="50000"/>
                            </a:schemeClr>
                          </a:solidFill>
                        </a:rPr>
                        <a:t>Rig Skid and Walking System</a:t>
                      </a:r>
                    </a:p>
                  </a:txBody>
                  <a:tcPr>
                    <a:solidFill>
                      <a:srgbClr val="FFCC66"/>
                    </a:solidFill>
                  </a:tcPr>
                </a:tc>
                <a:tc>
                  <a:txBody>
                    <a:bodyPr/>
                    <a:lstStyle/>
                    <a:p>
                      <a:r>
                        <a:rPr lang="en-US" dirty="0">
                          <a:solidFill>
                            <a:schemeClr val="accent5">
                              <a:lumMod val="50000"/>
                            </a:schemeClr>
                          </a:solidFill>
                        </a:rPr>
                        <a:t>Days to spud </a:t>
                      </a:r>
                    </a:p>
                  </a:txBody>
                  <a:tcPr>
                    <a:solidFill>
                      <a:srgbClr val="FFCC66"/>
                    </a:solidFill>
                  </a:tcPr>
                </a:tc>
                <a:extLst>
                  <a:ext uri="{0D108BD9-81ED-4DB2-BD59-A6C34878D82A}">
                    <a16:rowId xmlns:a16="http://schemas.microsoft.com/office/drawing/2014/main" val="1672034476"/>
                  </a:ext>
                </a:extLst>
              </a:tr>
              <a:tr h="1679989">
                <a:tc>
                  <a:txBody>
                    <a:bodyPr/>
                    <a:lstStyle/>
                    <a:p>
                      <a:endParaRPr lang="en-US" dirty="0"/>
                    </a:p>
                    <a:p>
                      <a:endParaRPr lang="en-US" dirty="0"/>
                    </a:p>
                    <a:p>
                      <a:endParaRPr lang="en-US" dirty="0"/>
                    </a:p>
                    <a:p>
                      <a:endParaRPr lang="en-US" dirty="0"/>
                    </a:p>
                    <a:p>
                      <a:endParaRPr lang="en-US" dirty="0"/>
                    </a:p>
                  </a:txBody>
                  <a:tcPr>
                    <a:solidFill>
                      <a:srgbClr val="FFFFCC"/>
                    </a:solidFill>
                  </a:tcPr>
                </a:tc>
                <a:tc>
                  <a:txBody>
                    <a:bodyPr/>
                    <a:lstStyle/>
                    <a:p>
                      <a:pPr marL="0" indent="0">
                        <a:buFont typeface="Arial" panose="020B0604020202020204" pitchFamily="34" charset="0"/>
                        <a:buNone/>
                      </a:pPr>
                      <a:r>
                        <a:rPr lang="en-US" sz="2000" dirty="0"/>
                        <a:t>Rig Release and ready to spud the next well:</a:t>
                      </a:r>
                    </a:p>
                    <a:p>
                      <a:pPr marL="342900" indent="-342900">
                        <a:buFont typeface="Arial" panose="020B0604020202020204" pitchFamily="34" charset="0"/>
                        <a:buChar char="•"/>
                      </a:pPr>
                      <a:r>
                        <a:rPr lang="en-US" sz="2000" dirty="0"/>
                        <a:t>5 days (additional</a:t>
                      </a:r>
                      <a:r>
                        <a:rPr lang="en-US" sz="2000" baseline="0" dirty="0"/>
                        <a:t> rig time to LD drill pipe and Re-MU (2 day))</a:t>
                      </a:r>
                    </a:p>
                    <a:p>
                      <a:pPr marL="342900" indent="-342900">
                        <a:buFont typeface="Arial" panose="020B0604020202020204" pitchFamily="34" charset="0"/>
                        <a:buChar char="•"/>
                      </a:pPr>
                      <a:r>
                        <a:rPr lang="en-US" sz="2000" b="1" baseline="0" dirty="0">
                          <a:solidFill>
                            <a:srgbClr val="D24726"/>
                          </a:solidFill>
                        </a:rPr>
                        <a:t>USD 370 K</a:t>
                      </a:r>
                      <a:endParaRPr lang="en-US" sz="2000" dirty="0"/>
                    </a:p>
                  </a:txBody>
                  <a:tcPr>
                    <a:solidFill>
                      <a:srgbClr val="FFFFCC"/>
                    </a:solidFill>
                  </a:tcPr>
                </a:tc>
                <a:extLst>
                  <a:ext uri="{0D108BD9-81ED-4DB2-BD59-A6C34878D82A}">
                    <a16:rowId xmlns:a16="http://schemas.microsoft.com/office/drawing/2014/main" val="2227877320"/>
                  </a:ext>
                </a:extLst>
              </a:tr>
              <a:tr h="370840">
                <a:tc>
                  <a:txBody>
                    <a:bodyPr/>
                    <a:lstStyle/>
                    <a:p>
                      <a:endParaRPr lang="en-US" dirty="0"/>
                    </a:p>
                    <a:p>
                      <a:endParaRPr lang="en-US" dirty="0"/>
                    </a:p>
                    <a:p>
                      <a:endParaRPr lang="en-US" dirty="0"/>
                    </a:p>
                    <a:p>
                      <a:endParaRPr lang="en-US" dirty="0"/>
                    </a:p>
                    <a:p>
                      <a:endParaRPr lang="en-US" dirty="0"/>
                    </a:p>
                    <a:p>
                      <a:endParaRPr lang="en-US" dirty="0"/>
                    </a:p>
                  </a:txBody>
                  <a:tcPr/>
                </a:tc>
                <a:tc>
                  <a:txBody>
                    <a:bodyPr/>
                    <a:lstStyle/>
                    <a:p>
                      <a:pPr marL="0" indent="0">
                        <a:buFont typeface="Arial" panose="020B0604020202020204" pitchFamily="34" charset="0"/>
                        <a:buNone/>
                      </a:pPr>
                      <a:r>
                        <a:rPr lang="en-US" sz="2000" dirty="0"/>
                        <a:t>Rig Release and ready to spud the next well:</a:t>
                      </a:r>
                    </a:p>
                    <a:p>
                      <a:pPr marL="342900" indent="-342900">
                        <a:buFont typeface="Arial" panose="020B0604020202020204" pitchFamily="34" charset="0"/>
                        <a:buChar char="•"/>
                      </a:pPr>
                      <a:r>
                        <a:rPr lang="en-US" sz="2000" dirty="0"/>
                        <a:t>3 days</a:t>
                      </a:r>
                    </a:p>
                    <a:p>
                      <a:pPr marL="342900" marR="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1" baseline="0" dirty="0">
                          <a:solidFill>
                            <a:srgbClr val="D24726"/>
                          </a:solidFill>
                        </a:rPr>
                        <a:t>USD 210 K</a:t>
                      </a:r>
                      <a:endParaRPr lang="en-US" sz="2000" dirty="0"/>
                    </a:p>
                    <a:p>
                      <a:endParaRPr lang="en-US" dirty="0"/>
                    </a:p>
                  </a:txBody>
                  <a:tcPr/>
                </a:tc>
                <a:extLst>
                  <a:ext uri="{0D108BD9-81ED-4DB2-BD59-A6C34878D82A}">
                    <a16:rowId xmlns:a16="http://schemas.microsoft.com/office/drawing/2014/main" val="1991206648"/>
                  </a:ext>
                </a:extLst>
              </a:tr>
              <a:tr h="370840">
                <a:tc>
                  <a:txBody>
                    <a:bodyPr/>
                    <a:lstStyle/>
                    <a:p>
                      <a:endParaRPr lang="en-US" dirty="0"/>
                    </a:p>
                    <a:p>
                      <a:endParaRPr lang="en-US" dirty="0"/>
                    </a:p>
                    <a:p>
                      <a:endParaRPr lang="en-US" dirty="0"/>
                    </a:p>
                    <a:p>
                      <a:endParaRPr lang="en-US" dirty="0"/>
                    </a:p>
                    <a:p>
                      <a:endParaRPr lang="en-US" dirty="0"/>
                    </a:p>
                    <a:p>
                      <a:endParaRPr lang="en-US" dirty="0"/>
                    </a:p>
                  </a:txBody>
                  <a:tcPr>
                    <a:solidFill>
                      <a:srgbClr val="FFFFCC"/>
                    </a:solidFill>
                  </a:tcPr>
                </a:tc>
                <a:tc>
                  <a:txBody>
                    <a:bodyPr/>
                    <a:lstStyle/>
                    <a:p>
                      <a:pPr marL="0" indent="0">
                        <a:buFont typeface="Arial" panose="020B0604020202020204" pitchFamily="34" charset="0"/>
                        <a:buNone/>
                      </a:pPr>
                      <a:r>
                        <a:rPr lang="en-US" sz="1800" dirty="0"/>
                        <a:t>Rig Release and ready to spud the next well:</a:t>
                      </a:r>
                    </a:p>
                    <a:p>
                      <a:pPr marL="342900" indent="-342900">
                        <a:buFont typeface="Arial" panose="020B0604020202020204" pitchFamily="34" charset="0"/>
                        <a:buChar char="•"/>
                      </a:pPr>
                      <a:r>
                        <a:rPr lang="en-US" sz="1800" dirty="0"/>
                        <a:t>0.5 days</a:t>
                      </a:r>
                    </a:p>
                    <a:p>
                      <a:pPr marL="342900" marR="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baseline="0" dirty="0">
                          <a:solidFill>
                            <a:srgbClr val="D24726"/>
                          </a:solidFill>
                        </a:rPr>
                        <a:t>USD 35 K</a:t>
                      </a:r>
                      <a:endParaRPr lang="en-US" sz="1800" b="1" dirty="0">
                        <a:solidFill>
                          <a:srgbClr val="D24726"/>
                        </a:solidFill>
                      </a:endParaRPr>
                    </a:p>
                    <a:p>
                      <a:endParaRPr lang="en-US" dirty="0"/>
                    </a:p>
                  </a:txBody>
                  <a:tcPr>
                    <a:solidFill>
                      <a:srgbClr val="FFFFCC"/>
                    </a:solidFill>
                  </a:tcPr>
                </a:tc>
                <a:extLst>
                  <a:ext uri="{0D108BD9-81ED-4DB2-BD59-A6C34878D82A}">
                    <a16:rowId xmlns:a16="http://schemas.microsoft.com/office/drawing/2014/main" val="2050751684"/>
                  </a:ext>
                </a:extLst>
              </a:tr>
            </a:tbl>
          </a:graphicData>
        </a:graphic>
      </p:graphicFrame>
      <p:pic>
        <p:nvPicPr>
          <p:cNvPr id="5" name="Picture 4"/>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576979" y="1790871"/>
            <a:ext cx="2349329" cy="1428079"/>
          </a:xfrm>
          <a:prstGeom prst="rect">
            <a:avLst/>
          </a:prstGeom>
        </p:spPr>
      </p:pic>
      <p:pic>
        <p:nvPicPr>
          <p:cNvPr id="7" name="Picture 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76979" y="3437334"/>
            <a:ext cx="2360579" cy="1434917"/>
          </a:xfrm>
          <a:prstGeom prst="rect">
            <a:avLst/>
          </a:prstGeom>
        </p:spPr>
      </p:pic>
      <p:pic>
        <p:nvPicPr>
          <p:cNvPr id="9" name="Picture 8"/>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380927" y="1788969"/>
            <a:ext cx="1071105" cy="1429981"/>
          </a:xfrm>
          <a:prstGeom prst="rect">
            <a:avLst/>
          </a:prstGeom>
        </p:spPr>
      </p:pic>
      <p:pic>
        <p:nvPicPr>
          <p:cNvPr id="10" name="Picture 9"/>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380927" y="3404296"/>
            <a:ext cx="1665454" cy="1500991"/>
          </a:xfrm>
          <a:prstGeom prst="rect">
            <a:avLst/>
          </a:prstGeom>
        </p:spPr>
      </p:pic>
      <p:pic>
        <p:nvPicPr>
          <p:cNvPr id="11" name="Picture 1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380927" y="5160698"/>
            <a:ext cx="1665454" cy="1500991"/>
          </a:xfrm>
          <a:prstGeom prst="rect">
            <a:avLst/>
          </a:prstGeom>
        </p:spPr>
      </p:pic>
      <p:pic>
        <p:nvPicPr>
          <p:cNvPr id="12" name="Picture 11"/>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576978" y="5106695"/>
            <a:ext cx="2349329" cy="1554994"/>
          </a:xfrm>
          <a:prstGeom prst="rect">
            <a:avLst/>
          </a:prstGeom>
        </p:spPr>
      </p:pic>
      <p:pic>
        <p:nvPicPr>
          <p:cNvPr id="1026" name="Picture 2" descr="Plus Sign Green - Free vector graphic on Pixabay"/>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2873886" y="2173947"/>
            <a:ext cx="559463" cy="55714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Plus Sign Green - Free vector graphic on Pixabay"/>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2873886" y="3920288"/>
            <a:ext cx="559463" cy="55714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Plus Sign Green - Free vector graphic on Pixabay"/>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2858690" y="5687509"/>
            <a:ext cx="559463" cy="5571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898243" y="2903880"/>
            <a:ext cx="1439112" cy="307777"/>
          </a:xfrm>
          <a:prstGeom prst="rect">
            <a:avLst/>
          </a:prstGeom>
          <a:noFill/>
        </p:spPr>
        <p:txBody>
          <a:bodyPr wrap="none" rtlCol="0">
            <a:spAutoFit/>
          </a:bodyPr>
          <a:lstStyle/>
          <a:p>
            <a:r>
              <a:rPr lang="en-US" sz="1400" dirty="0">
                <a:solidFill>
                  <a:srgbClr val="FFFF00"/>
                </a:solidFill>
              </a:rPr>
              <a:t>Rig Skid System</a:t>
            </a:r>
          </a:p>
        </p:txBody>
      </p:sp>
      <p:sp>
        <p:nvSpPr>
          <p:cNvPr id="17" name="TextBox 16"/>
          <p:cNvSpPr txBox="1"/>
          <p:nvPr/>
        </p:nvSpPr>
        <p:spPr>
          <a:xfrm>
            <a:off x="881532" y="5134239"/>
            <a:ext cx="1860253" cy="307777"/>
          </a:xfrm>
          <a:prstGeom prst="rect">
            <a:avLst/>
          </a:prstGeom>
          <a:noFill/>
        </p:spPr>
        <p:txBody>
          <a:bodyPr wrap="none" rtlCol="0">
            <a:spAutoFit/>
          </a:bodyPr>
          <a:lstStyle/>
          <a:p>
            <a:r>
              <a:rPr lang="en-US" sz="1400" b="1" dirty="0">
                <a:solidFill>
                  <a:schemeClr val="accent5">
                    <a:lumMod val="75000"/>
                  </a:schemeClr>
                </a:solidFill>
              </a:rPr>
              <a:t>Rig Walking System</a:t>
            </a:r>
          </a:p>
        </p:txBody>
      </p:sp>
      <p:sp>
        <p:nvSpPr>
          <p:cNvPr id="18" name="TextBox 17"/>
          <p:cNvSpPr txBox="1"/>
          <p:nvPr/>
        </p:nvSpPr>
        <p:spPr>
          <a:xfrm>
            <a:off x="1032086" y="4564474"/>
            <a:ext cx="1439112" cy="307777"/>
          </a:xfrm>
          <a:prstGeom prst="rect">
            <a:avLst/>
          </a:prstGeom>
          <a:noFill/>
        </p:spPr>
        <p:txBody>
          <a:bodyPr wrap="none" rtlCol="0">
            <a:spAutoFit/>
          </a:bodyPr>
          <a:lstStyle/>
          <a:p>
            <a:r>
              <a:rPr lang="en-US" sz="1400" dirty="0">
                <a:solidFill>
                  <a:srgbClr val="FFFF00"/>
                </a:solidFill>
              </a:rPr>
              <a:t>Rig Skid System</a:t>
            </a:r>
          </a:p>
        </p:txBody>
      </p:sp>
      <p:sp>
        <p:nvSpPr>
          <p:cNvPr id="19" name="TextBox 18"/>
          <p:cNvSpPr txBox="1"/>
          <p:nvPr/>
        </p:nvSpPr>
        <p:spPr>
          <a:xfrm>
            <a:off x="4452032" y="1792404"/>
            <a:ext cx="1689460" cy="954107"/>
          </a:xfrm>
          <a:prstGeom prst="rect">
            <a:avLst/>
          </a:prstGeom>
          <a:noFill/>
        </p:spPr>
        <p:txBody>
          <a:bodyPr wrap="square" rtlCol="0">
            <a:spAutoFit/>
          </a:bodyPr>
          <a:lstStyle/>
          <a:p>
            <a:pPr marL="285750" indent="-285750">
              <a:buFont typeface="Arial" panose="020B0604020202020204" pitchFamily="34" charset="0"/>
              <a:buChar char="•"/>
            </a:pPr>
            <a:r>
              <a:rPr lang="en-US" sz="1400" b="1" dirty="0">
                <a:solidFill>
                  <a:schemeClr val="accent5">
                    <a:lumMod val="75000"/>
                  </a:schemeClr>
                </a:solidFill>
              </a:rPr>
              <a:t>Without Drill string stand up the rig mast</a:t>
            </a:r>
          </a:p>
        </p:txBody>
      </p:sp>
      <p:sp>
        <p:nvSpPr>
          <p:cNvPr id="20" name="TextBox 19"/>
          <p:cNvSpPr txBox="1"/>
          <p:nvPr/>
        </p:nvSpPr>
        <p:spPr>
          <a:xfrm>
            <a:off x="4989987" y="3475184"/>
            <a:ext cx="1260687" cy="1169551"/>
          </a:xfrm>
          <a:prstGeom prst="rect">
            <a:avLst/>
          </a:prstGeom>
          <a:noFill/>
        </p:spPr>
        <p:txBody>
          <a:bodyPr wrap="square" rtlCol="0">
            <a:spAutoFit/>
          </a:bodyPr>
          <a:lstStyle/>
          <a:p>
            <a:pPr marL="177800" indent="-177800">
              <a:buFont typeface="Arial" panose="020B0604020202020204" pitchFamily="34" charset="0"/>
              <a:buChar char="•"/>
            </a:pPr>
            <a:r>
              <a:rPr lang="en-US" sz="1400" b="1" dirty="0">
                <a:solidFill>
                  <a:schemeClr val="accent5">
                    <a:lumMod val="75000"/>
                  </a:schemeClr>
                </a:solidFill>
              </a:rPr>
              <a:t>With Drill string stand up the rig mast</a:t>
            </a:r>
          </a:p>
        </p:txBody>
      </p:sp>
      <p:sp>
        <p:nvSpPr>
          <p:cNvPr id="21" name="TextBox 20"/>
          <p:cNvSpPr txBox="1"/>
          <p:nvPr/>
        </p:nvSpPr>
        <p:spPr>
          <a:xfrm>
            <a:off x="5032733" y="5270470"/>
            <a:ext cx="1260687" cy="1169551"/>
          </a:xfrm>
          <a:prstGeom prst="rect">
            <a:avLst/>
          </a:prstGeom>
          <a:noFill/>
        </p:spPr>
        <p:txBody>
          <a:bodyPr wrap="square" rtlCol="0">
            <a:spAutoFit/>
          </a:bodyPr>
          <a:lstStyle/>
          <a:p>
            <a:pPr marL="177800" indent="-177800">
              <a:buFont typeface="Arial" panose="020B0604020202020204" pitchFamily="34" charset="0"/>
              <a:buChar char="•"/>
            </a:pPr>
            <a:r>
              <a:rPr lang="en-US" sz="1400" b="1" dirty="0">
                <a:solidFill>
                  <a:schemeClr val="accent5">
                    <a:lumMod val="75000"/>
                  </a:schemeClr>
                </a:solidFill>
              </a:rPr>
              <a:t>With Drill string stand up the rig mast</a:t>
            </a:r>
          </a:p>
        </p:txBody>
      </p:sp>
      <p:sp>
        <p:nvSpPr>
          <p:cNvPr id="13" name="TextBox 12"/>
          <p:cNvSpPr txBox="1"/>
          <p:nvPr/>
        </p:nvSpPr>
        <p:spPr>
          <a:xfrm>
            <a:off x="10426890" y="1460310"/>
            <a:ext cx="1765110" cy="3416320"/>
          </a:xfrm>
          <a:prstGeom prst="rect">
            <a:avLst/>
          </a:prstGeom>
          <a:noFill/>
        </p:spPr>
        <p:txBody>
          <a:bodyPr wrap="square" rtlCol="0">
            <a:spAutoFit/>
          </a:bodyPr>
          <a:lstStyle/>
          <a:p>
            <a:r>
              <a:rPr lang="en-US" dirty="0"/>
              <a:t>If </a:t>
            </a:r>
            <a:r>
              <a:rPr lang="en-US" b="1" dirty="0">
                <a:solidFill>
                  <a:srgbClr val="D24726"/>
                </a:solidFill>
              </a:rPr>
              <a:t>WITHOUT</a:t>
            </a:r>
            <a:r>
              <a:rPr lang="en-US" dirty="0"/>
              <a:t> skid system, we have to:</a:t>
            </a:r>
          </a:p>
          <a:p>
            <a:pPr marL="285750" indent="-285750">
              <a:buFont typeface="Arial" panose="020B0604020202020204" pitchFamily="34" charset="0"/>
              <a:buChar char="•"/>
            </a:pPr>
            <a:r>
              <a:rPr lang="en-US" dirty="0"/>
              <a:t>LD Pipe</a:t>
            </a:r>
          </a:p>
          <a:p>
            <a:pPr marL="285750" indent="-285750">
              <a:buFont typeface="Arial" panose="020B0604020202020204" pitchFamily="34" charset="0"/>
              <a:buChar char="•"/>
            </a:pPr>
            <a:r>
              <a:rPr lang="en-US" dirty="0"/>
              <a:t>RD</a:t>
            </a:r>
          </a:p>
          <a:p>
            <a:pPr marL="285750" indent="-285750">
              <a:buFont typeface="Arial" panose="020B0604020202020204" pitchFamily="34" charset="0"/>
              <a:buChar char="•"/>
            </a:pPr>
            <a:r>
              <a:rPr lang="en-US" dirty="0"/>
              <a:t>RM</a:t>
            </a:r>
          </a:p>
          <a:p>
            <a:pPr marL="285750" indent="-285750">
              <a:buFont typeface="Arial" panose="020B0604020202020204" pitchFamily="34" charset="0"/>
              <a:buChar char="•"/>
            </a:pPr>
            <a:r>
              <a:rPr lang="en-US" dirty="0"/>
              <a:t>RU</a:t>
            </a:r>
          </a:p>
          <a:p>
            <a:pPr marL="285750" indent="-285750">
              <a:buFont typeface="Arial" panose="020B0604020202020204" pitchFamily="34" charset="0"/>
              <a:buChar char="•"/>
            </a:pPr>
            <a:r>
              <a:rPr lang="en-US" dirty="0"/>
              <a:t>MU Pipe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D24726"/>
                </a:solidFill>
              </a:rPr>
              <a:t>10 Days or USD 700 K Costly</a:t>
            </a:r>
          </a:p>
        </p:txBody>
      </p:sp>
    </p:spTree>
    <p:extLst>
      <p:ext uri="{BB962C8B-B14F-4D97-AF65-F5344CB8AC3E}">
        <p14:creationId xmlns:p14="http://schemas.microsoft.com/office/powerpoint/2010/main" val="25957565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309BD-0F19-DD4B-B4EA-A0C2A3EB25FA}"/>
              </a:ext>
            </a:extLst>
          </p:cNvPr>
          <p:cNvSpPr>
            <a:spLocks noGrp="1"/>
          </p:cNvSpPr>
          <p:nvPr>
            <p:ph type="title"/>
          </p:nvPr>
        </p:nvSpPr>
        <p:spPr>
          <a:xfrm>
            <a:off x="521207" y="448056"/>
            <a:ext cx="10249574" cy="640080"/>
          </a:xfrm>
        </p:spPr>
        <p:txBody>
          <a:bodyPr>
            <a:normAutofit fontScale="90000"/>
          </a:bodyPr>
          <a:lstStyle/>
          <a:p>
            <a:r>
              <a:rPr lang="en-US" sz="3600" dirty="0">
                <a:solidFill>
                  <a:srgbClr val="C00000"/>
                </a:solidFill>
              </a:rPr>
              <a:t>Main Heavy Equipment For Rig Moving &amp; Daily Operation</a:t>
            </a:r>
            <a:endParaRPr lang="en-ID" sz="3600" dirty="0">
              <a:solidFill>
                <a:srgbClr val="C00000"/>
              </a:solidFill>
            </a:endParaRPr>
          </a:p>
        </p:txBody>
      </p:sp>
      <p:pic>
        <p:nvPicPr>
          <p:cNvPr id="3" name="Picture 4" descr="http://wb9.itrademarket.com/pdimage/79/1264779_crawler-crane-360032.jpg">
            <a:extLst>
              <a:ext uri="{FF2B5EF4-FFF2-40B4-BE49-F238E27FC236}">
                <a16:creationId xmlns:a16="http://schemas.microsoft.com/office/drawing/2014/main" id="{E79E9D03-7FCB-EB58-F722-4BB64CF0528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005813" y="1424762"/>
            <a:ext cx="3576218" cy="4664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CBD65E21-E2D1-3E88-2163-AD0D452AAD84}"/>
              </a:ext>
            </a:extLst>
          </p:cNvPr>
          <p:cNvPicPr>
            <a:picLocks noChangeAspect="1"/>
          </p:cNvPicPr>
          <p:nvPr/>
        </p:nvPicPr>
        <p:blipFill rotWithShape="1">
          <a:blip r:embed="rId3"/>
          <a:srcRect t="29022"/>
          <a:stretch/>
        </p:blipFill>
        <p:spPr>
          <a:xfrm>
            <a:off x="361063" y="1297172"/>
            <a:ext cx="3567313" cy="2532030"/>
          </a:xfrm>
          <a:prstGeom prst="rect">
            <a:avLst/>
          </a:prstGeom>
        </p:spPr>
      </p:pic>
      <p:sp>
        <p:nvSpPr>
          <p:cNvPr id="6" name="TextBox 7">
            <a:extLst>
              <a:ext uri="{FF2B5EF4-FFF2-40B4-BE49-F238E27FC236}">
                <a16:creationId xmlns:a16="http://schemas.microsoft.com/office/drawing/2014/main" id="{6D9C946C-1EF0-C0D3-B15A-9965D757BFC1}"/>
              </a:ext>
            </a:extLst>
          </p:cNvPr>
          <p:cNvSpPr txBox="1">
            <a:spLocks noChangeArrowheads="1"/>
          </p:cNvSpPr>
          <p:nvPr/>
        </p:nvSpPr>
        <p:spPr bwMode="auto">
          <a:xfrm>
            <a:off x="361063" y="3490648"/>
            <a:ext cx="8819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solidFill>
                  <a:srgbClr val="006600"/>
                </a:solidFill>
                <a:highlight>
                  <a:srgbClr val="FFFF00"/>
                </a:highlight>
              </a:rPr>
              <a:t>Forklift</a:t>
            </a:r>
          </a:p>
        </p:txBody>
      </p:sp>
      <p:pic>
        <p:nvPicPr>
          <p:cNvPr id="8" name="Picture 7">
            <a:extLst>
              <a:ext uri="{FF2B5EF4-FFF2-40B4-BE49-F238E27FC236}">
                <a16:creationId xmlns:a16="http://schemas.microsoft.com/office/drawing/2014/main" id="{0ABC687F-65D7-092F-F76D-95315C779E87}"/>
              </a:ext>
            </a:extLst>
          </p:cNvPr>
          <p:cNvPicPr>
            <a:picLocks noChangeAspect="1"/>
          </p:cNvPicPr>
          <p:nvPr/>
        </p:nvPicPr>
        <p:blipFill rotWithShape="1">
          <a:blip r:embed="rId4"/>
          <a:srcRect l="9879" r="4978"/>
          <a:stretch/>
        </p:blipFill>
        <p:spPr>
          <a:xfrm>
            <a:off x="361063" y="3959263"/>
            <a:ext cx="3567313" cy="2130133"/>
          </a:xfrm>
          <a:prstGeom prst="rect">
            <a:avLst/>
          </a:prstGeom>
        </p:spPr>
      </p:pic>
      <p:sp>
        <p:nvSpPr>
          <p:cNvPr id="9" name="TextBox 7">
            <a:extLst>
              <a:ext uri="{FF2B5EF4-FFF2-40B4-BE49-F238E27FC236}">
                <a16:creationId xmlns:a16="http://schemas.microsoft.com/office/drawing/2014/main" id="{90634AF7-0DC0-275D-5EFC-1292FC5ACC55}"/>
              </a:ext>
            </a:extLst>
          </p:cNvPr>
          <p:cNvSpPr txBox="1">
            <a:spLocks noChangeArrowheads="1"/>
          </p:cNvSpPr>
          <p:nvPr/>
        </p:nvSpPr>
        <p:spPr bwMode="auto">
          <a:xfrm>
            <a:off x="361063" y="5955349"/>
            <a:ext cx="27694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err="1">
                <a:solidFill>
                  <a:srgbClr val="006600"/>
                </a:solidFill>
                <a:highlight>
                  <a:srgbClr val="FFFF00"/>
                </a:highlight>
              </a:rPr>
              <a:t>Roughter</a:t>
            </a:r>
            <a:r>
              <a:rPr lang="en-US" altLang="en-US" sz="1600" b="1" dirty="0">
                <a:solidFill>
                  <a:srgbClr val="006600"/>
                </a:solidFill>
                <a:highlight>
                  <a:srgbClr val="FFFF00"/>
                </a:highlight>
              </a:rPr>
              <a:t> / Rough Terrain /</a:t>
            </a:r>
          </a:p>
          <a:p>
            <a:pPr eaLnBrk="1" hangingPunct="1"/>
            <a:r>
              <a:rPr lang="en-US" altLang="en-US" sz="1600" b="1" dirty="0">
                <a:solidFill>
                  <a:srgbClr val="006600"/>
                </a:solidFill>
                <a:highlight>
                  <a:srgbClr val="FFFF00"/>
                </a:highlight>
              </a:rPr>
              <a:t>Mobile Crane</a:t>
            </a:r>
          </a:p>
        </p:txBody>
      </p:sp>
      <p:sp>
        <p:nvSpPr>
          <p:cNvPr id="10" name="TextBox 7">
            <a:extLst>
              <a:ext uri="{FF2B5EF4-FFF2-40B4-BE49-F238E27FC236}">
                <a16:creationId xmlns:a16="http://schemas.microsoft.com/office/drawing/2014/main" id="{A4B6DC9A-7220-7643-64FB-E4F64427C161}"/>
              </a:ext>
            </a:extLst>
          </p:cNvPr>
          <p:cNvSpPr txBox="1">
            <a:spLocks noChangeArrowheads="1"/>
          </p:cNvSpPr>
          <p:nvPr/>
        </p:nvSpPr>
        <p:spPr bwMode="auto">
          <a:xfrm>
            <a:off x="4005813" y="1424762"/>
            <a:ext cx="15760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solidFill>
                  <a:srgbClr val="006600"/>
                </a:solidFill>
                <a:highlight>
                  <a:srgbClr val="FFFF00"/>
                </a:highlight>
              </a:rPr>
              <a:t>Crawler Crane</a:t>
            </a:r>
          </a:p>
        </p:txBody>
      </p:sp>
      <p:pic>
        <p:nvPicPr>
          <p:cNvPr id="11" name="Picture 10">
            <a:extLst>
              <a:ext uri="{FF2B5EF4-FFF2-40B4-BE49-F238E27FC236}">
                <a16:creationId xmlns:a16="http://schemas.microsoft.com/office/drawing/2014/main" id="{7D38DE46-9E11-90E7-14C6-E20346CF0A38}"/>
              </a:ext>
            </a:extLst>
          </p:cNvPr>
          <p:cNvPicPr>
            <a:picLocks noChangeAspect="1"/>
          </p:cNvPicPr>
          <p:nvPr/>
        </p:nvPicPr>
        <p:blipFill>
          <a:blip r:embed="rId5"/>
          <a:stretch>
            <a:fillRect/>
          </a:stretch>
        </p:blipFill>
        <p:spPr>
          <a:xfrm>
            <a:off x="7659468" y="1404346"/>
            <a:ext cx="4268886" cy="2697558"/>
          </a:xfrm>
          <a:prstGeom prst="rect">
            <a:avLst/>
          </a:prstGeom>
        </p:spPr>
      </p:pic>
      <p:sp>
        <p:nvSpPr>
          <p:cNvPr id="13" name="TextBox 7">
            <a:extLst>
              <a:ext uri="{FF2B5EF4-FFF2-40B4-BE49-F238E27FC236}">
                <a16:creationId xmlns:a16="http://schemas.microsoft.com/office/drawing/2014/main" id="{4918B58E-CA7C-F624-909D-B38E813DEBE2}"/>
              </a:ext>
            </a:extLst>
          </p:cNvPr>
          <p:cNvSpPr txBox="1">
            <a:spLocks noChangeArrowheads="1"/>
          </p:cNvSpPr>
          <p:nvPr/>
        </p:nvSpPr>
        <p:spPr bwMode="auto">
          <a:xfrm>
            <a:off x="7604277" y="3713655"/>
            <a:ext cx="10390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solidFill>
                  <a:srgbClr val="006600"/>
                </a:solidFill>
                <a:highlight>
                  <a:srgbClr val="FFFF00"/>
                </a:highlight>
              </a:rPr>
              <a:t>Low Bed</a:t>
            </a:r>
          </a:p>
        </p:txBody>
      </p:sp>
      <p:pic>
        <p:nvPicPr>
          <p:cNvPr id="15" name="Picture 14">
            <a:extLst>
              <a:ext uri="{FF2B5EF4-FFF2-40B4-BE49-F238E27FC236}">
                <a16:creationId xmlns:a16="http://schemas.microsoft.com/office/drawing/2014/main" id="{F7C4798E-BA67-32E6-CED4-069829921D5F}"/>
              </a:ext>
            </a:extLst>
          </p:cNvPr>
          <p:cNvPicPr>
            <a:picLocks noChangeAspect="1"/>
          </p:cNvPicPr>
          <p:nvPr/>
        </p:nvPicPr>
        <p:blipFill rotWithShape="1">
          <a:blip r:embed="rId6"/>
          <a:srcRect l="24031" t="37662" r="13638"/>
          <a:stretch/>
        </p:blipFill>
        <p:spPr>
          <a:xfrm>
            <a:off x="7495015" y="4587392"/>
            <a:ext cx="4424084" cy="1262839"/>
          </a:xfrm>
          <a:prstGeom prst="rect">
            <a:avLst/>
          </a:prstGeom>
        </p:spPr>
      </p:pic>
      <p:sp>
        <p:nvSpPr>
          <p:cNvPr id="16" name="TextBox 11">
            <a:extLst>
              <a:ext uri="{FF2B5EF4-FFF2-40B4-BE49-F238E27FC236}">
                <a16:creationId xmlns:a16="http://schemas.microsoft.com/office/drawing/2014/main" id="{9CA562B8-B5E5-2527-7F8B-F92F671E7443}"/>
              </a:ext>
            </a:extLst>
          </p:cNvPr>
          <p:cNvSpPr txBox="1">
            <a:spLocks noChangeArrowheads="1"/>
          </p:cNvSpPr>
          <p:nvPr/>
        </p:nvSpPr>
        <p:spPr bwMode="auto">
          <a:xfrm>
            <a:off x="9814386" y="4880257"/>
            <a:ext cx="8016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highlight>
                  <a:srgbClr val="FFFF00"/>
                </a:highlight>
              </a:rPr>
              <a:t>Trailer</a:t>
            </a:r>
          </a:p>
        </p:txBody>
      </p:sp>
      <p:sp>
        <p:nvSpPr>
          <p:cNvPr id="17" name="TextBox 11">
            <a:extLst>
              <a:ext uri="{FF2B5EF4-FFF2-40B4-BE49-F238E27FC236}">
                <a16:creationId xmlns:a16="http://schemas.microsoft.com/office/drawing/2014/main" id="{03A1DF58-B39B-77ED-9099-AA5BA44DAA05}"/>
              </a:ext>
            </a:extLst>
          </p:cNvPr>
          <p:cNvSpPr txBox="1">
            <a:spLocks noChangeArrowheads="1"/>
          </p:cNvSpPr>
          <p:nvPr/>
        </p:nvSpPr>
        <p:spPr bwMode="auto">
          <a:xfrm>
            <a:off x="7562692" y="4418115"/>
            <a:ext cx="14173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highlight>
                  <a:srgbClr val="FFFF00"/>
                </a:highlight>
              </a:rPr>
              <a:t>Prime Mover</a:t>
            </a:r>
          </a:p>
        </p:txBody>
      </p:sp>
      <p:sp>
        <p:nvSpPr>
          <p:cNvPr id="14" name="TextBox 8">
            <a:extLst>
              <a:ext uri="{FF2B5EF4-FFF2-40B4-BE49-F238E27FC236}">
                <a16:creationId xmlns:a16="http://schemas.microsoft.com/office/drawing/2014/main" id="{DCF486F3-CD69-7B0F-FADD-5DA683A08D4C}"/>
              </a:ext>
            </a:extLst>
          </p:cNvPr>
          <p:cNvSpPr txBox="1">
            <a:spLocks noChangeArrowheads="1"/>
          </p:cNvSpPr>
          <p:nvPr/>
        </p:nvSpPr>
        <p:spPr bwMode="auto">
          <a:xfrm>
            <a:off x="10364766" y="5705250"/>
            <a:ext cx="8338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solidFill>
                  <a:srgbClr val="006600"/>
                </a:solidFill>
                <a:highlight>
                  <a:srgbClr val="FFFF00"/>
                </a:highlight>
              </a:rPr>
              <a:t>Hi Bed</a:t>
            </a:r>
          </a:p>
        </p:txBody>
      </p:sp>
    </p:spTree>
    <p:extLst>
      <p:ext uri="{BB962C8B-B14F-4D97-AF65-F5344CB8AC3E}">
        <p14:creationId xmlns:p14="http://schemas.microsoft.com/office/powerpoint/2010/main" val="12069094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309BD-0F19-DD4B-B4EA-A0C2A3EB25FA}"/>
              </a:ext>
            </a:extLst>
          </p:cNvPr>
          <p:cNvSpPr>
            <a:spLocks noGrp="1"/>
          </p:cNvSpPr>
          <p:nvPr>
            <p:ph type="title"/>
          </p:nvPr>
        </p:nvSpPr>
        <p:spPr>
          <a:xfrm>
            <a:off x="521207" y="448056"/>
            <a:ext cx="11047016" cy="640080"/>
          </a:xfrm>
        </p:spPr>
        <p:txBody>
          <a:bodyPr>
            <a:normAutofit fontScale="90000"/>
          </a:bodyPr>
          <a:lstStyle/>
          <a:p>
            <a:r>
              <a:rPr lang="en-US" sz="3600" dirty="0">
                <a:solidFill>
                  <a:srgbClr val="C00000"/>
                </a:solidFill>
              </a:rPr>
              <a:t>Main Heavy Equipment For Rig Moving &amp; Daily Rig Operation</a:t>
            </a:r>
            <a:endParaRPr lang="en-ID" sz="3600" dirty="0">
              <a:solidFill>
                <a:srgbClr val="C00000"/>
              </a:solidFill>
            </a:endParaRPr>
          </a:p>
        </p:txBody>
      </p:sp>
      <p:graphicFrame>
        <p:nvGraphicFramePr>
          <p:cNvPr id="5" name="Table 6">
            <a:extLst>
              <a:ext uri="{FF2B5EF4-FFF2-40B4-BE49-F238E27FC236}">
                <a16:creationId xmlns:a16="http://schemas.microsoft.com/office/drawing/2014/main" id="{16D8F490-2915-234E-80EB-104B5BE2A35C}"/>
              </a:ext>
            </a:extLst>
          </p:cNvPr>
          <p:cNvGraphicFramePr>
            <a:graphicFrameLocks noGrp="1"/>
          </p:cNvGraphicFramePr>
          <p:nvPr>
            <p:extLst>
              <p:ext uri="{D42A27DB-BD31-4B8C-83A1-F6EECF244321}">
                <p14:modId xmlns:p14="http://schemas.microsoft.com/office/powerpoint/2010/main" val="2398105693"/>
              </p:ext>
            </p:extLst>
          </p:nvPr>
        </p:nvGraphicFramePr>
        <p:xfrm>
          <a:off x="318977" y="1378885"/>
          <a:ext cx="11632017" cy="5394960"/>
        </p:xfrm>
        <a:graphic>
          <a:graphicData uri="http://schemas.openxmlformats.org/drawingml/2006/table">
            <a:tbl>
              <a:tblPr firstRow="1" bandRow="1">
                <a:tableStyleId>{5C22544A-7EE6-4342-B048-85BDC9FD1C3A}</a:tableStyleId>
              </a:tblPr>
              <a:tblGrid>
                <a:gridCol w="1994330">
                  <a:extLst>
                    <a:ext uri="{9D8B030D-6E8A-4147-A177-3AD203B41FA5}">
                      <a16:colId xmlns:a16="http://schemas.microsoft.com/office/drawing/2014/main" val="2652525459"/>
                    </a:ext>
                  </a:extLst>
                </a:gridCol>
                <a:gridCol w="1046581">
                  <a:extLst>
                    <a:ext uri="{9D8B030D-6E8A-4147-A177-3AD203B41FA5}">
                      <a16:colId xmlns:a16="http://schemas.microsoft.com/office/drawing/2014/main" val="934998380"/>
                    </a:ext>
                  </a:extLst>
                </a:gridCol>
                <a:gridCol w="1084521">
                  <a:extLst>
                    <a:ext uri="{9D8B030D-6E8A-4147-A177-3AD203B41FA5}">
                      <a16:colId xmlns:a16="http://schemas.microsoft.com/office/drawing/2014/main" val="3310821951"/>
                    </a:ext>
                  </a:extLst>
                </a:gridCol>
                <a:gridCol w="1095154">
                  <a:extLst>
                    <a:ext uri="{9D8B030D-6E8A-4147-A177-3AD203B41FA5}">
                      <a16:colId xmlns:a16="http://schemas.microsoft.com/office/drawing/2014/main" val="4143142906"/>
                    </a:ext>
                  </a:extLst>
                </a:gridCol>
                <a:gridCol w="1658679">
                  <a:extLst>
                    <a:ext uri="{9D8B030D-6E8A-4147-A177-3AD203B41FA5}">
                      <a16:colId xmlns:a16="http://schemas.microsoft.com/office/drawing/2014/main" val="3439881236"/>
                    </a:ext>
                  </a:extLst>
                </a:gridCol>
                <a:gridCol w="4752752">
                  <a:extLst>
                    <a:ext uri="{9D8B030D-6E8A-4147-A177-3AD203B41FA5}">
                      <a16:colId xmlns:a16="http://schemas.microsoft.com/office/drawing/2014/main" val="4177644976"/>
                    </a:ext>
                  </a:extLst>
                </a:gridCol>
              </a:tblGrid>
              <a:tr h="370840">
                <a:tc gridSpan="2">
                  <a:txBody>
                    <a:bodyPr/>
                    <a:lstStyle/>
                    <a:p>
                      <a:r>
                        <a:rPr lang="en-US" dirty="0"/>
                        <a:t>Heavy Equipment</a:t>
                      </a:r>
                      <a:endParaRPr lang="en-ID" dirty="0"/>
                    </a:p>
                  </a:txBody>
                  <a:tcPr/>
                </a:tc>
                <a:tc hMerge="1">
                  <a:txBody>
                    <a:bodyPr/>
                    <a:lstStyle/>
                    <a:p>
                      <a:endParaRPr lang="en-ID" dirty="0"/>
                    </a:p>
                  </a:txBody>
                  <a:tcPr/>
                </a:tc>
                <a:tc>
                  <a:txBody>
                    <a:bodyPr/>
                    <a:lstStyle/>
                    <a:p>
                      <a:r>
                        <a:rPr lang="en-US" dirty="0"/>
                        <a:t>Capacity</a:t>
                      </a:r>
                      <a:endParaRPr lang="en-ID" dirty="0"/>
                    </a:p>
                  </a:txBody>
                  <a:tcPr/>
                </a:tc>
                <a:tc>
                  <a:txBody>
                    <a:bodyPr/>
                    <a:lstStyle/>
                    <a:p>
                      <a:r>
                        <a:rPr lang="en-US" dirty="0"/>
                        <a:t>Qty Rig Moving</a:t>
                      </a:r>
                      <a:endParaRPr lang="en-ID" dirty="0"/>
                    </a:p>
                  </a:txBody>
                  <a:tcPr/>
                </a:tc>
                <a:tc>
                  <a:txBody>
                    <a:bodyPr/>
                    <a:lstStyle/>
                    <a:p>
                      <a:r>
                        <a:rPr lang="en-US" dirty="0"/>
                        <a:t>Qty Daily Rig Operation</a:t>
                      </a:r>
                      <a:endParaRPr lang="en-ID" dirty="0"/>
                    </a:p>
                  </a:txBody>
                  <a:tcPr/>
                </a:tc>
                <a:tc>
                  <a:txBody>
                    <a:bodyPr/>
                    <a:lstStyle/>
                    <a:p>
                      <a:r>
                        <a:rPr lang="en-US" dirty="0"/>
                        <a:t>Remark</a:t>
                      </a:r>
                      <a:endParaRPr lang="en-ID" dirty="0"/>
                    </a:p>
                  </a:txBody>
                  <a:tcPr/>
                </a:tc>
                <a:extLst>
                  <a:ext uri="{0D108BD9-81ED-4DB2-BD59-A6C34878D82A}">
                    <a16:rowId xmlns:a16="http://schemas.microsoft.com/office/drawing/2014/main" val="1334637028"/>
                  </a:ext>
                </a:extLst>
              </a:tr>
              <a:tr h="370840">
                <a:tc>
                  <a:txBody>
                    <a:bodyPr/>
                    <a:lstStyle/>
                    <a:p>
                      <a:endParaRPr lang="en-US" dirty="0"/>
                    </a:p>
                    <a:p>
                      <a:endParaRPr lang="en-ID" dirty="0"/>
                    </a:p>
                    <a:p>
                      <a:endParaRPr lang="en-ID" dirty="0"/>
                    </a:p>
                  </a:txBody>
                  <a:tcPr/>
                </a:tc>
                <a:tc>
                  <a:txBody>
                    <a:bodyPr/>
                    <a:lstStyle/>
                    <a:p>
                      <a:r>
                        <a:rPr lang="en-US" b="0" dirty="0">
                          <a:solidFill>
                            <a:schemeClr val="bg2">
                              <a:lumMod val="10000"/>
                            </a:schemeClr>
                          </a:solidFill>
                        </a:rPr>
                        <a:t>Forklift</a:t>
                      </a:r>
                      <a:endParaRPr lang="en-ID" b="0" dirty="0">
                        <a:solidFill>
                          <a:schemeClr val="bg2">
                            <a:lumMod val="10000"/>
                          </a:schemeClr>
                        </a:solidFill>
                      </a:endParaRPr>
                    </a:p>
                  </a:txBody>
                  <a:tcPr/>
                </a:tc>
                <a:tc>
                  <a:txBody>
                    <a:bodyPr/>
                    <a:lstStyle/>
                    <a:p>
                      <a:r>
                        <a:rPr lang="en-US" dirty="0"/>
                        <a:t>8-10 Ton</a:t>
                      </a:r>
                      <a:endParaRPr lang="en-ID" dirty="0"/>
                    </a:p>
                  </a:txBody>
                  <a:tcPr/>
                </a:tc>
                <a:tc>
                  <a:txBody>
                    <a:bodyPr/>
                    <a:lstStyle/>
                    <a:p>
                      <a:r>
                        <a:rPr lang="en-US" dirty="0"/>
                        <a:t>2 Set</a:t>
                      </a:r>
                      <a:endParaRPr lang="en-ID" dirty="0"/>
                    </a:p>
                  </a:txBody>
                  <a:tcPr/>
                </a:tc>
                <a:tc>
                  <a:txBody>
                    <a:bodyPr/>
                    <a:lstStyle/>
                    <a:p>
                      <a:r>
                        <a:rPr lang="en-US" dirty="0"/>
                        <a:t>2 Set</a:t>
                      </a:r>
                      <a:endParaRPr lang="en-ID" dirty="0"/>
                    </a:p>
                  </a:txBody>
                  <a:tcPr/>
                </a:tc>
                <a:tc>
                  <a:txBody>
                    <a:bodyPr/>
                    <a:lstStyle/>
                    <a:p>
                      <a:r>
                        <a:rPr lang="en-US" dirty="0"/>
                        <a:t>10 Ton preferable. During mobilization along high slope access road, need to be standing by to help pushing the trailer.</a:t>
                      </a:r>
                      <a:endParaRPr lang="en-ID" dirty="0"/>
                    </a:p>
                  </a:txBody>
                  <a:tcPr/>
                </a:tc>
                <a:extLst>
                  <a:ext uri="{0D108BD9-81ED-4DB2-BD59-A6C34878D82A}">
                    <a16:rowId xmlns:a16="http://schemas.microsoft.com/office/drawing/2014/main" val="2770160663"/>
                  </a:ext>
                </a:extLst>
              </a:tr>
              <a:tr h="184101">
                <a:tc rowSpan="2">
                  <a:txBody>
                    <a:bodyPr/>
                    <a:lstStyle/>
                    <a:p>
                      <a:endParaRPr lang="en-US" dirty="0"/>
                    </a:p>
                    <a:p>
                      <a:endParaRPr lang="en-ID" dirty="0"/>
                    </a:p>
                    <a:p>
                      <a:endParaRPr lang="en-ID" dirty="0"/>
                    </a:p>
                    <a:p>
                      <a:endParaRPr lang="en-US" dirty="0"/>
                    </a:p>
                    <a:p>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0" dirty="0">
                          <a:solidFill>
                            <a:schemeClr val="bg2">
                              <a:lumMod val="10000"/>
                            </a:schemeClr>
                          </a:solidFill>
                        </a:rPr>
                        <a:t>Mobile Crane</a:t>
                      </a:r>
                      <a:endParaRPr lang="en-ID" b="0" dirty="0">
                        <a:solidFill>
                          <a:schemeClr val="bg2">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50 Ton</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2 Set</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2 Set</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r>
                        <a:rPr lang="en-US" dirty="0"/>
                        <a:t>It is easier to move from one place to other place</a:t>
                      </a:r>
                      <a:endParaRPr lang="en-ID" dirty="0"/>
                    </a:p>
                  </a:txBody>
                  <a:tcPr/>
                </a:tc>
                <a:extLst>
                  <a:ext uri="{0D108BD9-81ED-4DB2-BD59-A6C34878D82A}">
                    <a16:rowId xmlns:a16="http://schemas.microsoft.com/office/drawing/2014/main" val="1599573088"/>
                  </a:ext>
                </a:extLst>
              </a:tr>
              <a:tr h="370840">
                <a:tc vMerge="1">
                  <a:txBody>
                    <a:bodyPr/>
                    <a:lstStyle/>
                    <a:p>
                      <a:endParaRPr lang="en-US" dirty="0"/>
                    </a:p>
                    <a:p>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0" dirty="0">
                          <a:solidFill>
                            <a:schemeClr val="bg2">
                              <a:lumMod val="10000"/>
                            </a:schemeClr>
                          </a:solidFill>
                        </a:rPr>
                        <a:t>Mobile Crane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25-30 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Optional</a:t>
                      </a:r>
                      <a:endParaRPr lang="en-ID"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1 Set</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Not Required</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r>
                        <a:rPr lang="en-US" dirty="0"/>
                        <a:t>Smaller </a:t>
                      </a:r>
                      <a:r>
                        <a:rPr lang="en-US" dirty="0" err="1"/>
                        <a:t>Tonage</a:t>
                      </a:r>
                      <a:r>
                        <a:rPr lang="en-US" dirty="0"/>
                        <a:t> Crane for rigging up / setting up equipment</a:t>
                      </a:r>
                      <a:endParaRPr lang="en-ID" dirty="0"/>
                    </a:p>
                  </a:txBody>
                  <a:tcPr/>
                </a:tc>
                <a:extLst>
                  <a:ext uri="{0D108BD9-81ED-4DB2-BD59-A6C34878D82A}">
                    <a16:rowId xmlns:a16="http://schemas.microsoft.com/office/drawing/2014/main" val="1756402433"/>
                  </a:ext>
                </a:extLst>
              </a:tr>
              <a:tr h="370840">
                <a:tc>
                  <a:txBody>
                    <a:bodyPr/>
                    <a:lstStyle/>
                    <a:p>
                      <a:endParaRPr lang="en-US" dirty="0"/>
                    </a:p>
                    <a:p>
                      <a:endParaRPr lang="en-ID" dirty="0"/>
                    </a:p>
                    <a:p>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0" dirty="0">
                          <a:solidFill>
                            <a:schemeClr val="bg2">
                              <a:lumMod val="10000"/>
                            </a:schemeClr>
                          </a:solidFill>
                        </a:rPr>
                        <a:t>Crawler Crane</a:t>
                      </a:r>
                    </a:p>
                    <a:p>
                      <a:endParaRPr lang="en-ID" b="0" dirty="0">
                        <a:solidFill>
                          <a:schemeClr val="bg2">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80 Ton</a:t>
                      </a:r>
                      <a:endParaRPr lang="en-ID" dirty="0"/>
                    </a:p>
                    <a:p>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1 Set</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1 Set</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r>
                        <a:rPr lang="en-US" dirty="0"/>
                        <a:t>Some Rig Equipment need 80 T Crane to be lifted </a:t>
                      </a:r>
                      <a:r>
                        <a:rPr lang="en-US" dirty="0">
                          <a:sym typeface="Wingdings" panose="05000000000000000000" pitchFamily="2" charset="2"/>
                        </a:rPr>
                        <a:t> it will more safe and faster rather than 2 x 50 T Crane</a:t>
                      </a:r>
                      <a:endParaRPr lang="en-ID" dirty="0"/>
                    </a:p>
                  </a:txBody>
                  <a:tcPr/>
                </a:tc>
                <a:extLst>
                  <a:ext uri="{0D108BD9-81ED-4DB2-BD59-A6C34878D82A}">
                    <a16:rowId xmlns:a16="http://schemas.microsoft.com/office/drawing/2014/main" val="303629744"/>
                  </a:ext>
                </a:extLst>
              </a:tr>
              <a:tr h="0">
                <a:tc rowSpan="2">
                  <a:txBody>
                    <a:bodyPr/>
                    <a:lstStyle/>
                    <a:p>
                      <a:endParaRPr lang="en-US" dirty="0"/>
                    </a:p>
                    <a:p>
                      <a:endParaRPr lang="en-ID" dirty="0"/>
                    </a:p>
                    <a:p>
                      <a:endParaRPr lang="en-ID" dirty="0"/>
                    </a:p>
                    <a:p>
                      <a:endParaRPr lang="en-US" dirty="0"/>
                    </a:p>
                    <a:p>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0" dirty="0">
                          <a:solidFill>
                            <a:schemeClr val="bg2">
                              <a:lumMod val="10000"/>
                            </a:schemeClr>
                          </a:solidFill>
                        </a:rPr>
                        <a:t>Low Bed</a:t>
                      </a:r>
                    </a:p>
                    <a:p>
                      <a:endParaRPr lang="en-ID" b="0" dirty="0">
                        <a:solidFill>
                          <a:schemeClr val="bg2">
                            <a:lumMod val="10000"/>
                          </a:schemeClr>
                        </a:solidFill>
                      </a:endParaRPr>
                    </a:p>
                  </a:txBody>
                  <a:tcPr/>
                </a:tc>
                <a:tc>
                  <a:txBody>
                    <a:bodyPr/>
                    <a:lstStyle/>
                    <a:p>
                      <a:r>
                        <a:rPr lang="en-US" dirty="0"/>
                        <a:t>6 X 6</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As Required</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Segoe UI"/>
                          <a:ea typeface="+mn-ea"/>
                          <a:cs typeface="+mn-cs"/>
                        </a:rPr>
                        <a:t>1Set Prime Mover + 1Set Low Bed Trailer + 1Set Hi Bed Trailer</a:t>
                      </a:r>
                      <a:endParaRPr kumimoji="0" lang="en-ID" sz="1800" b="0" i="0" u="none" strike="noStrike" kern="1200" cap="none" spc="0" normalizeH="0" baseline="0" noProof="0" dirty="0">
                        <a:ln>
                          <a:noFill/>
                        </a:ln>
                        <a:solidFill>
                          <a:srgbClr val="C00000"/>
                        </a:solidFill>
                        <a:effectLst/>
                        <a:uLnTx/>
                        <a:uFillTx/>
                        <a:latin typeface="Segoe UI"/>
                        <a:ea typeface="+mn-ea"/>
                        <a:cs typeface="+mn-cs"/>
                      </a:endParaRPr>
                    </a:p>
                  </a:txBody>
                  <a:tcPr/>
                </a:tc>
                <a:tc>
                  <a:txBody>
                    <a:bodyPr/>
                    <a:lstStyle/>
                    <a:p>
                      <a:r>
                        <a:rPr lang="en-US" dirty="0"/>
                        <a:t>To transport taller Rig Equipment</a:t>
                      </a:r>
                      <a:endParaRPr lang="en-ID" dirty="0"/>
                    </a:p>
                  </a:txBody>
                  <a:tcPr/>
                </a:tc>
                <a:extLst>
                  <a:ext uri="{0D108BD9-81ED-4DB2-BD59-A6C34878D82A}">
                    <a16:rowId xmlns:a16="http://schemas.microsoft.com/office/drawing/2014/main" val="220402508"/>
                  </a:ext>
                </a:extLst>
              </a:tr>
              <a:tr h="0">
                <a:tc vMerge="1">
                  <a:txBody>
                    <a:bodyPr/>
                    <a:lstStyle/>
                    <a:p>
                      <a:endParaRPr lang="en-US" dirty="0"/>
                    </a:p>
                    <a:p>
                      <a:endParaRPr lang="en-US" dirty="0"/>
                    </a:p>
                    <a:p>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0" dirty="0">
                          <a:solidFill>
                            <a:schemeClr val="bg2">
                              <a:lumMod val="10000"/>
                            </a:schemeClr>
                          </a:solidFill>
                        </a:rPr>
                        <a:t>Hi Bed</a:t>
                      </a:r>
                      <a:endParaRPr lang="en-ID" sz="1800" b="0" dirty="0">
                        <a:solidFill>
                          <a:schemeClr val="bg2">
                            <a:lumMod val="10000"/>
                          </a:schemeClr>
                        </a:solidFill>
                      </a:endParaRPr>
                    </a:p>
                  </a:txBody>
                  <a:tcPr/>
                </a:tc>
                <a:tc>
                  <a:txBody>
                    <a:bodyPr/>
                    <a:lstStyle/>
                    <a:p>
                      <a:r>
                        <a:rPr lang="en-US" dirty="0"/>
                        <a:t>6 X 6</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As Required</a:t>
                      </a:r>
                      <a:endParaRPr kumimoji="0" lang="en-ID" sz="1800" b="0" i="0" u="none" strike="noStrike" kern="1200" cap="none" spc="0" normalizeH="0" baseline="0" noProof="0" dirty="0">
                        <a:ln>
                          <a:noFill/>
                        </a:ln>
                        <a:solidFill>
                          <a:prstClr val="black"/>
                        </a:solidFill>
                        <a:effectLst/>
                        <a:uLnTx/>
                        <a:uFillTx/>
                        <a:latin typeface="+mn-lt"/>
                        <a:ea typeface="+mn-ea"/>
                        <a:cs typeface="+mn-cs"/>
                      </a:endParaRP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D" dirty="0"/>
                    </a:p>
                  </a:txBody>
                  <a:tcPr/>
                </a:tc>
                <a:extLst>
                  <a:ext uri="{0D108BD9-81ED-4DB2-BD59-A6C34878D82A}">
                    <a16:rowId xmlns:a16="http://schemas.microsoft.com/office/drawing/2014/main" val="3248599180"/>
                  </a:ext>
                </a:extLst>
              </a:tr>
            </a:tbl>
          </a:graphicData>
        </a:graphic>
      </p:graphicFrame>
      <p:pic>
        <p:nvPicPr>
          <p:cNvPr id="7" name="Picture 6">
            <a:extLst>
              <a:ext uri="{FF2B5EF4-FFF2-40B4-BE49-F238E27FC236}">
                <a16:creationId xmlns:a16="http://schemas.microsoft.com/office/drawing/2014/main" id="{6A43D96E-544F-D846-FA07-06FDCA6D86F8}"/>
              </a:ext>
            </a:extLst>
          </p:cNvPr>
          <p:cNvPicPr>
            <a:picLocks noChangeAspect="1"/>
          </p:cNvPicPr>
          <p:nvPr/>
        </p:nvPicPr>
        <p:blipFill rotWithShape="1">
          <a:blip r:embed="rId2"/>
          <a:srcRect t="29022"/>
          <a:stretch/>
        </p:blipFill>
        <p:spPr>
          <a:xfrm>
            <a:off x="628573" y="2076945"/>
            <a:ext cx="1138127" cy="807827"/>
          </a:xfrm>
          <a:prstGeom prst="rect">
            <a:avLst/>
          </a:prstGeom>
        </p:spPr>
      </p:pic>
      <p:pic>
        <p:nvPicPr>
          <p:cNvPr id="12" name="Picture 11">
            <a:extLst>
              <a:ext uri="{FF2B5EF4-FFF2-40B4-BE49-F238E27FC236}">
                <a16:creationId xmlns:a16="http://schemas.microsoft.com/office/drawing/2014/main" id="{39A3C7D5-2079-C0DD-2BA6-BA079B4D7059}"/>
              </a:ext>
            </a:extLst>
          </p:cNvPr>
          <p:cNvPicPr>
            <a:picLocks noChangeAspect="1"/>
          </p:cNvPicPr>
          <p:nvPr/>
        </p:nvPicPr>
        <p:blipFill rotWithShape="1">
          <a:blip r:embed="rId3"/>
          <a:srcRect l="9879" r="4978"/>
          <a:stretch/>
        </p:blipFill>
        <p:spPr>
          <a:xfrm>
            <a:off x="448790" y="3327318"/>
            <a:ext cx="1352859" cy="807827"/>
          </a:xfrm>
          <a:prstGeom prst="rect">
            <a:avLst/>
          </a:prstGeom>
        </p:spPr>
      </p:pic>
      <p:pic>
        <p:nvPicPr>
          <p:cNvPr id="18" name="Picture 4" descr="http://wb9.itrademarket.com/pdimage/79/1264779_crawler-crane-360032.jpg">
            <a:extLst>
              <a:ext uri="{FF2B5EF4-FFF2-40B4-BE49-F238E27FC236}">
                <a16:creationId xmlns:a16="http://schemas.microsoft.com/office/drawing/2014/main" id="{1EFB308A-2854-CCFA-0E56-E0E1CA43764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90690" y="4507063"/>
            <a:ext cx="740095" cy="787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a:extLst>
              <a:ext uri="{FF2B5EF4-FFF2-40B4-BE49-F238E27FC236}">
                <a16:creationId xmlns:a16="http://schemas.microsoft.com/office/drawing/2014/main" id="{B853F736-0EC8-5399-7DBE-3DFA3FD1A700}"/>
              </a:ext>
            </a:extLst>
          </p:cNvPr>
          <p:cNvPicPr>
            <a:picLocks noChangeAspect="1"/>
          </p:cNvPicPr>
          <p:nvPr/>
        </p:nvPicPr>
        <p:blipFill>
          <a:blip r:embed="rId5"/>
          <a:stretch>
            <a:fillRect/>
          </a:stretch>
        </p:blipFill>
        <p:spPr>
          <a:xfrm>
            <a:off x="547204" y="5362799"/>
            <a:ext cx="1156030" cy="730509"/>
          </a:xfrm>
          <a:prstGeom prst="rect">
            <a:avLst/>
          </a:prstGeom>
        </p:spPr>
      </p:pic>
      <p:pic>
        <p:nvPicPr>
          <p:cNvPr id="20" name="Picture 19">
            <a:extLst>
              <a:ext uri="{FF2B5EF4-FFF2-40B4-BE49-F238E27FC236}">
                <a16:creationId xmlns:a16="http://schemas.microsoft.com/office/drawing/2014/main" id="{6EA2B612-633F-125D-9EDD-7CA1BD01FDBF}"/>
              </a:ext>
            </a:extLst>
          </p:cNvPr>
          <p:cNvPicPr>
            <a:picLocks noChangeAspect="1"/>
          </p:cNvPicPr>
          <p:nvPr/>
        </p:nvPicPr>
        <p:blipFill rotWithShape="1">
          <a:blip r:embed="rId6"/>
          <a:srcRect l="24031" t="37662" r="13638"/>
          <a:stretch/>
        </p:blipFill>
        <p:spPr>
          <a:xfrm>
            <a:off x="448790" y="6093308"/>
            <a:ext cx="1600625" cy="633272"/>
          </a:xfrm>
          <a:prstGeom prst="rect">
            <a:avLst/>
          </a:prstGeom>
        </p:spPr>
      </p:pic>
    </p:spTree>
    <p:extLst>
      <p:ext uri="{BB962C8B-B14F-4D97-AF65-F5344CB8AC3E}">
        <p14:creationId xmlns:p14="http://schemas.microsoft.com/office/powerpoint/2010/main" val="27147004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309BD-0F19-DD4B-B4EA-A0C2A3EB25FA}"/>
              </a:ext>
            </a:extLst>
          </p:cNvPr>
          <p:cNvSpPr>
            <a:spLocks noGrp="1"/>
          </p:cNvSpPr>
          <p:nvPr>
            <p:ph type="title"/>
          </p:nvPr>
        </p:nvSpPr>
        <p:spPr>
          <a:xfrm>
            <a:off x="521207" y="448056"/>
            <a:ext cx="10036923" cy="640080"/>
          </a:xfrm>
        </p:spPr>
        <p:txBody>
          <a:bodyPr>
            <a:normAutofit/>
          </a:bodyPr>
          <a:lstStyle/>
          <a:p>
            <a:r>
              <a:rPr lang="en-US" sz="3600" dirty="0">
                <a:solidFill>
                  <a:srgbClr val="C00000"/>
                </a:solidFill>
              </a:rPr>
              <a:t>Optional Heavy Equipment For Rig Moving</a:t>
            </a:r>
            <a:endParaRPr lang="en-ID" sz="3600" dirty="0">
              <a:solidFill>
                <a:srgbClr val="C00000"/>
              </a:solidFill>
            </a:endParaRPr>
          </a:p>
        </p:txBody>
      </p:sp>
      <p:pic>
        <p:nvPicPr>
          <p:cNvPr id="4" name="Picture 6" descr="http://www.publiquip.com/photo/-14958119.jpg">
            <a:extLst>
              <a:ext uri="{FF2B5EF4-FFF2-40B4-BE49-F238E27FC236}">
                <a16:creationId xmlns:a16="http://schemas.microsoft.com/office/drawing/2014/main" id="{368215E3-C235-C210-17D9-7A869C0F243A}"/>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t="7157" b="18260"/>
          <a:stretch/>
        </p:blipFill>
        <p:spPr bwMode="auto">
          <a:xfrm>
            <a:off x="4634353" y="1229626"/>
            <a:ext cx="3933833" cy="2199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http://wb4.itrademarket.com/pdimage/75/1176475_dumptruck.jpg">
            <a:extLst>
              <a:ext uri="{FF2B5EF4-FFF2-40B4-BE49-F238E27FC236}">
                <a16:creationId xmlns:a16="http://schemas.microsoft.com/office/drawing/2014/main" id="{AD5A28F4-03E4-800F-8766-B515CA8AF9A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31672" y="3573099"/>
            <a:ext cx="4164157" cy="2646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descr="http://www.tigergeneral.com/images/winchtrucks/red-winch-truck-full.jpg">
            <a:extLst>
              <a:ext uri="{FF2B5EF4-FFF2-40B4-BE49-F238E27FC236}">
                <a16:creationId xmlns:a16="http://schemas.microsoft.com/office/drawing/2014/main" id="{60D00A7E-6E5F-CB20-EFD7-EAAFD88AFA0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31673" y="1229626"/>
            <a:ext cx="4210766" cy="2199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9">
            <a:extLst>
              <a:ext uri="{FF2B5EF4-FFF2-40B4-BE49-F238E27FC236}">
                <a16:creationId xmlns:a16="http://schemas.microsoft.com/office/drawing/2014/main" id="{166D1005-86B0-79DD-1B4F-2DD1E93A0660}"/>
              </a:ext>
            </a:extLst>
          </p:cNvPr>
          <p:cNvSpPr txBox="1">
            <a:spLocks noChangeArrowheads="1"/>
          </p:cNvSpPr>
          <p:nvPr/>
        </p:nvSpPr>
        <p:spPr bwMode="auto">
          <a:xfrm>
            <a:off x="7010044" y="1229626"/>
            <a:ext cx="1574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solidFill>
                  <a:srgbClr val="006600"/>
                </a:solidFill>
                <a:highlight>
                  <a:srgbClr val="FFFF00"/>
                </a:highlight>
              </a:rPr>
              <a:t>Vacuum Truck</a:t>
            </a:r>
          </a:p>
        </p:txBody>
      </p:sp>
      <p:sp>
        <p:nvSpPr>
          <p:cNvPr id="8" name="TextBox 10">
            <a:extLst>
              <a:ext uri="{FF2B5EF4-FFF2-40B4-BE49-F238E27FC236}">
                <a16:creationId xmlns:a16="http://schemas.microsoft.com/office/drawing/2014/main" id="{49C92EF8-8282-4A4D-F989-AB7702EE389E}"/>
              </a:ext>
            </a:extLst>
          </p:cNvPr>
          <p:cNvSpPr txBox="1">
            <a:spLocks noChangeArrowheads="1"/>
          </p:cNvSpPr>
          <p:nvPr/>
        </p:nvSpPr>
        <p:spPr bwMode="auto">
          <a:xfrm>
            <a:off x="339204" y="2987394"/>
            <a:ext cx="1403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solidFill>
                  <a:srgbClr val="006600"/>
                </a:solidFill>
                <a:highlight>
                  <a:srgbClr val="FFFF00"/>
                </a:highlight>
              </a:rPr>
              <a:t>Winch Truck</a:t>
            </a:r>
          </a:p>
        </p:txBody>
      </p:sp>
      <p:sp>
        <p:nvSpPr>
          <p:cNvPr id="9" name="TextBox 11">
            <a:extLst>
              <a:ext uri="{FF2B5EF4-FFF2-40B4-BE49-F238E27FC236}">
                <a16:creationId xmlns:a16="http://schemas.microsoft.com/office/drawing/2014/main" id="{00D5C1FD-D953-F620-5043-5F86A89D8380}"/>
              </a:ext>
            </a:extLst>
          </p:cNvPr>
          <p:cNvSpPr txBox="1">
            <a:spLocks noChangeArrowheads="1"/>
          </p:cNvSpPr>
          <p:nvPr/>
        </p:nvSpPr>
        <p:spPr bwMode="auto">
          <a:xfrm>
            <a:off x="3127404" y="5881908"/>
            <a:ext cx="1368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highlight>
                  <a:srgbClr val="FFFF00"/>
                </a:highlight>
              </a:rPr>
              <a:t>Dump Truck</a:t>
            </a:r>
          </a:p>
        </p:txBody>
      </p:sp>
      <p:pic>
        <p:nvPicPr>
          <p:cNvPr id="10" name="Picture 9">
            <a:extLst>
              <a:ext uri="{FF2B5EF4-FFF2-40B4-BE49-F238E27FC236}">
                <a16:creationId xmlns:a16="http://schemas.microsoft.com/office/drawing/2014/main" id="{8D0ED200-87D4-0C1B-DE11-09DB535211BD}"/>
              </a:ext>
            </a:extLst>
          </p:cNvPr>
          <p:cNvPicPr>
            <a:picLocks noChangeAspect="1"/>
          </p:cNvPicPr>
          <p:nvPr/>
        </p:nvPicPr>
        <p:blipFill>
          <a:blip r:embed="rId5"/>
          <a:stretch>
            <a:fillRect/>
          </a:stretch>
        </p:blipFill>
        <p:spPr>
          <a:xfrm>
            <a:off x="4634353" y="3570489"/>
            <a:ext cx="3966516" cy="2646947"/>
          </a:xfrm>
          <a:prstGeom prst="rect">
            <a:avLst/>
          </a:prstGeom>
        </p:spPr>
      </p:pic>
      <p:sp>
        <p:nvSpPr>
          <p:cNvPr id="11" name="TextBox 9">
            <a:extLst>
              <a:ext uri="{FF2B5EF4-FFF2-40B4-BE49-F238E27FC236}">
                <a16:creationId xmlns:a16="http://schemas.microsoft.com/office/drawing/2014/main" id="{C4FC61EC-2D7C-6647-D3A2-796823AFAE8A}"/>
              </a:ext>
            </a:extLst>
          </p:cNvPr>
          <p:cNvSpPr txBox="1">
            <a:spLocks noChangeArrowheads="1"/>
          </p:cNvSpPr>
          <p:nvPr/>
        </p:nvSpPr>
        <p:spPr bwMode="auto">
          <a:xfrm>
            <a:off x="4634353" y="3570489"/>
            <a:ext cx="11176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solidFill>
                  <a:srgbClr val="006600"/>
                </a:solidFill>
                <a:highlight>
                  <a:srgbClr val="FFFF00"/>
                </a:highlight>
              </a:rPr>
              <a:t>Back Hoe</a:t>
            </a:r>
          </a:p>
        </p:txBody>
      </p:sp>
      <p:pic>
        <p:nvPicPr>
          <p:cNvPr id="12" name="Picture 11">
            <a:extLst>
              <a:ext uri="{FF2B5EF4-FFF2-40B4-BE49-F238E27FC236}">
                <a16:creationId xmlns:a16="http://schemas.microsoft.com/office/drawing/2014/main" id="{0399C4CA-B140-6FC6-F1EE-D20586F25B51}"/>
              </a:ext>
            </a:extLst>
          </p:cNvPr>
          <p:cNvPicPr>
            <a:picLocks noChangeAspect="1"/>
          </p:cNvPicPr>
          <p:nvPr/>
        </p:nvPicPr>
        <p:blipFill rotWithShape="1">
          <a:blip r:embed="rId6"/>
          <a:srcRect r="881"/>
          <a:stretch/>
        </p:blipFill>
        <p:spPr>
          <a:xfrm>
            <a:off x="8660100" y="1281608"/>
            <a:ext cx="3192696" cy="2147392"/>
          </a:xfrm>
          <a:prstGeom prst="rect">
            <a:avLst/>
          </a:prstGeom>
        </p:spPr>
      </p:pic>
      <p:sp>
        <p:nvSpPr>
          <p:cNvPr id="13" name="TextBox 9">
            <a:extLst>
              <a:ext uri="{FF2B5EF4-FFF2-40B4-BE49-F238E27FC236}">
                <a16:creationId xmlns:a16="http://schemas.microsoft.com/office/drawing/2014/main" id="{0EAAFF1B-0830-C69C-55A5-3C2BF3820249}"/>
              </a:ext>
            </a:extLst>
          </p:cNvPr>
          <p:cNvSpPr txBox="1">
            <a:spLocks noChangeArrowheads="1"/>
          </p:cNvSpPr>
          <p:nvPr/>
        </p:nvSpPr>
        <p:spPr bwMode="auto">
          <a:xfrm>
            <a:off x="8584844" y="3090861"/>
            <a:ext cx="13519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dirty="0">
                <a:solidFill>
                  <a:srgbClr val="006600"/>
                </a:solidFill>
                <a:highlight>
                  <a:srgbClr val="FFFF00"/>
                </a:highlight>
              </a:rPr>
              <a:t>Water Truck</a:t>
            </a:r>
          </a:p>
        </p:txBody>
      </p:sp>
    </p:spTree>
    <p:extLst>
      <p:ext uri="{BB962C8B-B14F-4D97-AF65-F5344CB8AC3E}">
        <p14:creationId xmlns:p14="http://schemas.microsoft.com/office/powerpoint/2010/main" val="1563817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627798" y="-96672"/>
            <a:ext cx="8229600" cy="1143000"/>
          </a:xfrm>
        </p:spPr>
        <p:txBody>
          <a:bodyPr/>
          <a:lstStyle/>
          <a:p>
            <a:r>
              <a:rPr lang="en-US" altLang="en-US" b="1" dirty="0">
                <a:solidFill>
                  <a:srgbClr val="C00000"/>
                </a:solidFill>
              </a:rPr>
              <a:t>RIG RENUMERATION TABLE STRUCTURE</a:t>
            </a:r>
          </a:p>
        </p:txBody>
      </p:sp>
      <p:sp>
        <p:nvSpPr>
          <p:cNvPr id="47109" name="TextBox 1"/>
          <p:cNvSpPr txBox="1">
            <a:spLocks noChangeArrowheads="1"/>
          </p:cNvSpPr>
          <p:nvPr/>
        </p:nvSpPr>
        <p:spPr bwMode="auto">
          <a:xfrm>
            <a:off x="7615590" y="1320019"/>
            <a:ext cx="439352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indent="0">
              <a:spcBef>
                <a:spcPct val="0"/>
              </a:spcBef>
              <a:buNone/>
            </a:pPr>
            <a:r>
              <a:rPr lang="en-US" altLang="en-US" sz="2000" dirty="0">
                <a:solidFill>
                  <a:srgbClr val="C00000"/>
                </a:solidFill>
                <a:latin typeface="Times New Roman" panose="02020603050405020304" pitchFamily="18" charset="0"/>
              </a:rPr>
              <a:t>Rig Moving:</a:t>
            </a:r>
          </a:p>
          <a:p>
            <a:pPr>
              <a:spcBef>
                <a:spcPct val="0"/>
              </a:spcBef>
            </a:pPr>
            <a:r>
              <a:rPr lang="en-US" altLang="en-US" sz="2000" dirty="0">
                <a:solidFill>
                  <a:srgbClr val="C00000"/>
                </a:solidFill>
                <a:latin typeface="Times New Roman" panose="02020603050405020304" pitchFamily="18" charset="0"/>
              </a:rPr>
              <a:t>Each Rig type has deferent Rig Moving method and time duration for moving </a:t>
            </a:r>
          </a:p>
          <a:p>
            <a:pPr>
              <a:spcBef>
                <a:spcPct val="0"/>
              </a:spcBef>
            </a:pPr>
            <a:r>
              <a:rPr lang="en-US" altLang="en-US" sz="2000" dirty="0">
                <a:solidFill>
                  <a:srgbClr val="C00000"/>
                </a:solidFill>
                <a:latin typeface="Times New Roman" panose="02020603050405020304" pitchFamily="18" charset="0"/>
              </a:rPr>
              <a:t>To include fuel consumption to the daily rig rate.</a:t>
            </a:r>
          </a:p>
        </p:txBody>
      </p:sp>
      <p:pic>
        <p:nvPicPr>
          <p:cNvPr id="4" name="Picture 3">
            <a:extLst>
              <a:ext uri="{FF2B5EF4-FFF2-40B4-BE49-F238E27FC236}">
                <a16:creationId xmlns:a16="http://schemas.microsoft.com/office/drawing/2014/main" id="{59FBBA7E-520B-40AB-8ABD-4314254AFEA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96240" y="1184324"/>
            <a:ext cx="7147102" cy="5643044"/>
          </a:xfrm>
          <a:prstGeom prst="rect">
            <a:avLst/>
          </a:prstGeom>
        </p:spPr>
      </p:pic>
      <p:sp>
        <p:nvSpPr>
          <p:cNvPr id="2" name="Rectangle 1"/>
          <p:cNvSpPr/>
          <p:nvPr/>
        </p:nvSpPr>
        <p:spPr>
          <a:xfrm>
            <a:off x="431741" y="2032000"/>
            <a:ext cx="6995219" cy="822808"/>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1291861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688075" y="-1586"/>
            <a:ext cx="8229600" cy="1143000"/>
          </a:xfrm>
        </p:spPr>
        <p:txBody>
          <a:bodyPr>
            <a:normAutofit/>
          </a:bodyPr>
          <a:lstStyle/>
          <a:p>
            <a:r>
              <a:rPr lang="en-US" altLang="en-US" sz="4000" dirty="0">
                <a:solidFill>
                  <a:srgbClr val="C00000"/>
                </a:solidFill>
              </a:rPr>
              <a:t>RIG FUEL CONSUMPTION</a:t>
            </a:r>
          </a:p>
        </p:txBody>
      </p:sp>
      <p:sp>
        <p:nvSpPr>
          <p:cNvPr id="48131"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099B99E0-8413-40AD-A87D-BD784C2499A3}" type="slidenum">
              <a:rPr lang="en-US" altLang="en-US" sz="1400"/>
              <a:pPr>
                <a:spcBef>
                  <a:spcPct val="0"/>
                </a:spcBef>
                <a:buFontTx/>
                <a:buNone/>
              </a:pPr>
              <a:t>53</a:t>
            </a:fld>
            <a:endParaRPr lang="en-US" altLang="en-US" sz="1400"/>
          </a:p>
        </p:txBody>
      </p:sp>
      <p:sp>
        <p:nvSpPr>
          <p:cNvPr id="5" name="Content Placeholder 4"/>
          <p:cNvSpPr txBox="1">
            <a:spLocks/>
          </p:cNvSpPr>
          <p:nvPr/>
        </p:nvSpPr>
        <p:spPr bwMode="auto">
          <a:xfrm>
            <a:off x="764275" y="1223963"/>
            <a:ext cx="10399594"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FF6600"/>
                </a:solidFill>
                <a:latin typeface="Arial" charset="0"/>
              </a:defRPr>
            </a:lvl1pPr>
            <a:lvl2pPr marL="742950" indent="-285750">
              <a:defRPr b="1">
                <a:solidFill>
                  <a:srgbClr val="FF6600"/>
                </a:solidFill>
                <a:latin typeface="Arial" charset="0"/>
              </a:defRPr>
            </a:lvl2pPr>
            <a:lvl3pPr marL="1143000" indent="-228600">
              <a:defRPr b="1">
                <a:solidFill>
                  <a:srgbClr val="FF6600"/>
                </a:solidFill>
                <a:latin typeface="Arial" charset="0"/>
              </a:defRPr>
            </a:lvl3pPr>
            <a:lvl4pPr marL="1600200" indent="-228600">
              <a:defRPr b="1">
                <a:solidFill>
                  <a:srgbClr val="FF6600"/>
                </a:solidFill>
                <a:latin typeface="Arial" charset="0"/>
              </a:defRPr>
            </a:lvl4pPr>
            <a:lvl5pPr marL="2057400" indent="-228600">
              <a:defRPr b="1">
                <a:solidFill>
                  <a:srgbClr val="FF6600"/>
                </a:solidFill>
                <a:latin typeface="Arial" charset="0"/>
              </a:defRPr>
            </a:lvl5pPr>
            <a:lvl6pPr marL="25146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6pPr>
            <a:lvl7pPr marL="29718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7pPr>
            <a:lvl8pPr marL="34290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8pPr>
            <a:lvl9pPr marL="38862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9pPr>
          </a:lstStyle>
          <a:p>
            <a:pPr>
              <a:buFont typeface="Wingdings" pitchFamily="2" charset="2"/>
              <a:buChar char="v"/>
              <a:defRPr/>
            </a:pPr>
            <a:r>
              <a:rPr lang="en-US" sz="2800" kern="0" dirty="0">
                <a:solidFill>
                  <a:schemeClr val="accent5">
                    <a:lumMod val="50000"/>
                  </a:schemeClr>
                </a:solidFill>
              </a:rPr>
              <a:t>1500 HP New Generation Rig: </a:t>
            </a:r>
            <a:r>
              <a:rPr lang="en-US" sz="2800" kern="0" dirty="0">
                <a:solidFill>
                  <a:srgbClr val="FFC000"/>
                </a:solidFill>
              </a:rPr>
              <a:t>4000 – 6000 </a:t>
            </a:r>
            <a:r>
              <a:rPr lang="en-US" sz="2800" kern="0" dirty="0">
                <a:solidFill>
                  <a:schemeClr val="accent5">
                    <a:lumMod val="50000"/>
                  </a:schemeClr>
                </a:solidFill>
              </a:rPr>
              <a:t>L/day</a:t>
            </a:r>
          </a:p>
          <a:p>
            <a:pPr>
              <a:buFont typeface="Wingdings" pitchFamily="2" charset="2"/>
              <a:buChar char="v"/>
              <a:defRPr/>
            </a:pPr>
            <a:r>
              <a:rPr lang="en-US" sz="2800" kern="0" dirty="0">
                <a:solidFill>
                  <a:schemeClr val="accent5">
                    <a:lumMod val="50000"/>
                  </a:schemeClr>
                </a:solidFill>
              </a:rPr>
              <a:t>1500 HP Old Rig: </a:t>
            </a:r>
            <a:r>
              <a:rPr lang="en-US" sz="2800" kern="0" dirty="0">
                <a:solidFill>
                  <a:srgbClr val="FFC000"/>
                </a:solidFill>
              </a:rPr>
              <a:t>8000-12000</a:t>
            </a:r>
            <a:r>
              <a:rPr lang="en-US" sz="2800" kern="0" dirty="0">
                <a:solidFill>
                  <a:schemeClr val="accent5">
                    <a:lumMod val="50000"/>
                  </a:schemeClr>
                </a:solidFill>
              </a:rPr>
              <a:t> L/day</a:t>
            </a:r>
          </a:p>
          <a:p>
            <a:pPr>
              <a:buFont typeface="Wingdings" pitchFamily="2" charset="2"/>
              <a:buChar char="v"/>
              <a:defRPr/>
            </a:pPr>
            <a:r>
              <a:rPr lang="en-US" sz="2800" kern="0" dirty="0">
                <a:solidFill>
                  <a:schemeClr val="accent5">
                    <a:lumMod val="50000"/>
                  </a:schemeClr>
                </a:solidFill>
              </a:rPr>
              <a:t>To be considered into rig tender commercial evaluation</a:t>
            </a:r>
          </a:p>
          <a:p>
            <a:pPr>
              <a:buFont typeface="Wingdings" pitchFamily="2" charset="2"/>
              <a:buChar char="v"/>
              <a:defRPr/>
            </a:pPr>
            <a:endParaRPr lang="id-ID" sz="2800" kern="0" dirty="0">
              <a:solidFill>
                <a:srgbClr val="FFC000"/>
              </a:solidFill>
            </a:endParaRPr>
          </a:p>
          <a:p>
            <a:pPr>
              <a:buFont typeface="Wingdings" pitchFamily="2" charset="2"/>
              <a:buChar char="v"/>
              <a:defRPr/>
            </a:pPr>
            <a:endParaRPr lang="id-ID" sz="2800" kern="0" dirty="0">
              <a:solidFill>
                <a:srgbClr val="FFC000"/>
              </a:solidFill>
            </a:endParaRPr>
          </a:p>
          <a:p>
            <a:pPr>
              <a:buFont typeface="Wingdings" pitchFamily="2" charset="2"/>
              <a:buChar char="v"/>
              <a:defRPr/>
            </a:pPr>
            <a:endParaRPr lang="en-US" sz="2800" kern="0" dirty="0">
              <a:solidFill>
                <a:srgbClr val="FFC000"/>
              </a:solidFill>
            </a:endParaRPr>
          </a:p>
          <a:p>
            <a:pPr>
              <a:buFont typeface="Wingdings" pitchFamily="2" charset="2"/>
              <a:buChar char="v"/>
              <a:defRPr/>
            </a:pPr>
            <a:endParaRPr lang="id-ID" sz="2800" kern="0" dirty="0">
              <a:solidFill>
                <a:srgbClr val="FFC000"/>
              </a:solidFill>
            </a:endParaRPr>
          </a:p>
        </p:txBody>
      </p:sp>
      <p:pic>
        <p:nvPicPr>
          <p:cNvPr id="48133" name="Picture 6" descr="Related image"/>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841475" y="2961564"/>
            <a:ext cx="2845513" cy="284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TextBox 1"/>
          <p:cNvSpPr txBox="1">
            <a:spLocks noChangeArrowheads="1"/>
          </p:cNvSpPr>
          <p:nvPr/>
        </p:nvSpPr>
        <p:spPr bwMode="auto">
          <a:xfrm>
            <a:off x="764275" y="3411539"/>
            <a:ext cx="80772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indent="0">
              <a:spcBef>
                <a:spcPct val="0"/>
              </a:spcBef>
              <a:buNone/>
              <a:defRPr/>
            </a:pPr>
            <a:r>
              <a:rPr lang="en-US" altLang="en-US" dirty="0">
                <a:solidFill>
                  <a:srgbClr val="002060"/>
                </a:solidFill>
                <a:latin typeface="Times New Roman" panose="02020603050405020304" pitchFamily="18" charset="0"/>
              </a:rPr>
              <a:t>1500 HP OR 2000 HP Rig</a:t>
            </a:r>
          </a:p>
          <a:p>
            <a:pPr>
              <a:spcBef>
                <a:spcPct val="0"/>
              </a:spcBef>
              <a:defRPr/>
            </a:pPr>
            <a:r>
              <a:rPr lang="en-US" altLang="en-US" sz="2400" dirty="0">
                <a:solidFill>
                  <a:srgbClr val="C00000"/>
                </a:solidFill>
                <a:latin typeface="Times New Roman" panose="02020603050405020304" pitchFamily="18" charset="0"/>
              </a:rPr>
              <a:t>Well design require 1500 HP Rig, </a:t>
            </a:r>
          </a:p>
          <a:p>
            <a:pPr>
              <a:spcBef>
                <a:spcPct val="0"/>
              </a:spcBef>
              <a:defRPr/>
            </a:pPr>
            <a:r>
              <a:rPr lang="en-US" altLang="en-US" sz="2400" dirty="0">
                <a:solidFill>
                  <a:srgbClr val="C00000"/>
                </a:solidFill>
                <a:latin typeface="Times New Roman" panose="02020603050405020304" pitchFamily="18" charset="0"/>
              </a:rPr>
              <a:t>During drilling rig tender, some of  Rig Contractor offer us 2000 HP Rig with Rig Price similar with 1500 HP Rig. </a:t>
            </a:r>
          </a:p>
        </p:txBody>
      </p:sp>
      <p:pic>
        <p:nvPicPr>
          <p:cNvPr id="48135" name="Picture 7" descr="Image result for question mark"/>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95734" y="3328990"/>
            <a:ext cx="6683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22368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609600" y="-29843"/>
            <a:ext cx="8229600" cy="1143000"/>
          </a:xfrm>
        </p:spPr>
        <p:txBody>
          <a:bodyPr>
            <a:normAutofit/>
          </a:bodyPr>
          <a:lstStyle/>
          <a:p>
            <a:r>
              <a:rPr lang="en-US" altLang="en-US" sz="4000" dirty="0">
                <a:solidFill>
                  <a:srgbClr val="C00000"/>
                </a:solidFill>
              </a:rPr>
              <a:t>RIG FUEL CONSUMPTION</a:t>
            </a:r>
          </a:p>
        </p:txBody>
      </p:sp>
      <p:sp>
        <p:nvSpPr>
          <p:cNvPr id="6656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A519507A-E283-4F01-BF34-3CEACDE29FCD}" type="slidenum">
              <a:rPr lang="en-US" altLang="en-US" sz="1400"/>
              <a:pPr>
                <a:spcBef>
                  <a:spcPct val="0"/>
                </a:spcBef>
                <a:buFontTx/>
                <a:buNone/>
              </a:pPr>
              <a:t>54</a:t>
            </a:fld>
            <a:endParaRPr lang="en-US" altLang="en-US" sz="1400"/>
          </a:p>
        </p:txBody>
      </p:sp>
      <p:graphicFrame>
        <p:nvGraphicFramePr>
          <p:cNvPr id="3" name="Diagram 2"/>
          <p:cNvGraphicFramePr/>
          <p:nvPr/>
        </p:nvGraphicFramePr>
        <p:xfrm>
          <a:off x="355600" y="1219200"/>
          <a:ext cx="11296904" cy="5455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ight Arrow 1"/>
          <p:cNvSpPr/>
          <p:nvPr/>
        </p:nvSpPr>
        <p:spPr>
          <a:xfrm>
            <a:off x="3474720" y="1219200"/>
            <a:ext cx="685800" cy="9906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ight Arrow 5"/>
          <p:cNvSpPr/>
          <p:nvPr/>
        </p:nvSpPr>
        <p:spPr>
          <a:xfrm>
            <a:off x="7467600" y="1113157"/>
            <a:ext cx="685800" cy="99060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0318364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22CCF-AC96-4217-9FF3-D51862A72D06}"/>
              </a:ext>
            </a:extLst>
          </p:cNvPr>
          <p:cNvPicPr>
            <a:picLocks noChangeAspect="1"/>
          </p:cNvPicPr>
          <p:nvPr/>
        </p:nvPicPr>
        <p:blipFill>
          <a:blip r:embed="rId2"/>
          <a:stretch>
            <a:fillRect/>
          </a:stretch>
        </p:blipFill>
        <p:spPr>
          <a:xfrm>
            <a:off x="297180" y="1270000"/>
            <a:ext cx="11353800" cy="3629025"/>
          </a:xfrm>
          <a:prstGeom prst="rect">
            <a:avLst/>
          </a:prstGeom>
        </p:spPr>
      </p:pic>
      <p:sp>
        <p:nvSpPr>
          <p:cNvPr id="47106" name="Title 1"/>
          <p:cNvSpPr>
            <a:spLocks noGrp="1"/>
          </p:cNvSpPr>
          <p:nvPr>
            <p:ph type="title"/>
          </p:nvPr>
        </p:nvSpPr>
        <p:spPr>
          <a:xfrm>
            <a:off x="627798" y="-96672"/>
            <a:ext cx="8229600" cy="1143000"/>
          </a:xfrm>
        </p:spPr>
        <p:txBody>
          <a:bodyPr/>
          <a:lstStyle/>
          <a:p>
            <a:r>
              <a:rPr lang="en-US" altLang="en-US" b="1" dirty="0">
                <a:solidFill>
                  <a:srgbClr val="C00000"/>
                </a:solidFill>
              </a:rPr>
              <a:t>RIG RENUMERATION TABLE STRUCTURE</a:t>
            </a:r>
          </a:p>
        </p:txBody>
      </p:sp>
      <p:sp>
        <p:nvSpPr>
          <p:cNvPr id="47109" name="TextBox 1"/>
          <p:cNvSpPr txBox="1">
            <a:spLocks noChangeArrowheads="1"/>
          </p:cNvSpPr>
          <p:nvPr/>
        </p:nvSpPr>
        <p:spPr bwMode="auto">
          <a:xfrm>
            <a:off x="297180" y="4899025"/>
            <a:ext cx="113538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2000" dirty="0">
                <a:solidFill>
                  <a:srgbClr val="C00000"/>
                </a:solidFill>
                <a:latin typeface="Times New Roman" panose="02020603050405020304" pitchFamily="18" charset="0"/>
              </a:rPr>
              <a:t>Company is suggested to procure fuel itself. </a:t>
            </a:r>
          </a:p>
          <a:p>
            <a:pPr>
              <a:spcBef>
                <a:spcPct val="0"/>
              </a:spcBef>
            </a:pPr>
            <a:r>
              <a:rPr lang="en-US" altLang="en-US" sz="2000" dirty="0">
                <a:solidFill>
                  <a:srgbClr val="C00000"/>
                </a:solidFill>
                <a:latin typeface="Times New Roman" panose="02020603050405020304" pitchFamily="18" charset="0"/>
              </a:rPr>
              <a:t>The above table is added if the company policy require Rig to supply fuel.</a:t>
            </a:r>
          </a:p>
          <a:p>
            <a:pPr>
              <a:spcBef>
                <a:spcPct val="0"/>
              </a:spcBef>
            </a:pPr>
            <a:r>
              <a:rPr lang="en-US" altLang="en-US" sz="2000" dirty="0">
                <a:solidFill>
                  <a:srgbClr val="C00000"/>
                </a:solidFill>
                <a:latin typeface="Times New Roman" panose="02020603050405020304" pitchFamily="18" charset="0"/>
              </a:rPr>
              <a:t>Since every Rig type has deferent Fuel Consumption </a:t>
            </a:r>
          </a:p>
          <a:p>
            <a:pPr lvl="1">
              <a:spcBef>
                <a:spcPct val="0"/>
              </a:spcBef>
            </a:pPr>
            <a:r>
              <a:rPr lang="en-US" altLang="en-US" sz="1600" dirty="0">
                <a:solidFill>
                  <a:srgbClr val="C00000"/>
                </a:solidFill>
                <a:latin typeface="Times New Roman" panose="02020603050405020304" pitchFamily="18" charset="0"/>
              </a:rPr>
              <a:t>Option-1: To include fuel consumption to the daily rig rate </a:t>
            </a:r>
          </a:p>
          <a:p>
            <a:pPr lvl="1">
              <a:spcBef>
                <a:spcPct val="0"/>
              </a:spcBef>
            </a:pPr>
            <a:r>
              <a:rPr lang="en-US" altLang="en-US" sz="1600" dirty="0">
                <a:solidFill>
                  <a:srgbClr val="C00000"/>
                </a:solidFill>
                <a:latin typeface="Times New Roman" panose="02020603050405020304" pitchFamily="18" charset="0"/>
              </a:rPr>
              <a:t>Option-2: Rig is required to fill maximum fuel consumption per day and company only pay the actual usage of the fuel. Rig will pay any fuel consumption exceeded the sated maximum fuel/day.</a:t>
            </a:r>
          </a:p>
        </p:txBody>
      </p:sp>
      <p:sp>
        <p:nvSpPr>
          <p:cNvPr id="2" name="Rectangle 1"/>
          <p:cNvSpPr/>
          <p:nvPr/>
        </p:nvSpPr>
        <p:spPr>
          <a:xfrm>
            <a:off x="297180" y="3799840"/>
            <a:ext cx="11353800" cy="95504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7385753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688075" y="-1586"/>
            <a:ext cx="8229600" cy="1143000"/>
          </a:xfrm>
        </p:spPr>
        <p:txBody>
          <a:bodyPr>
            <a:normAutofit/>
          </a:bodyPr>
          <a:lstStyle/>
          <a:p>
            <a:r>
              <a:rPr lang="en-US" altLang="en-US" sz="4000" dirty="0">
                <a:solidFill>
                  <a:srgbClr val="C00000"/>
                </a:solidFill>
              </a:rPr>
              <a:t>PERTAMINA FUEL Cost Component</a:t>
            </a:r>
          </a:p>
        </p:txBody>
      </p:sp>
      <p:pic>
        <p:nvPicPr>
          <p:cNvPr id="3" name="Picture 2">
            <a:extLst>
              <a:ext uri="{FF2B5EF4-FFF2-40B4-BE49-F238E27FC236}">
                <a16:creationId xmlns:a16="http://schemas.microsoft.com/office/drawing/2014/main" id="{0584581E-A256-4358-924E-187514EAA30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9984" y="2096245"/>
            <a:ext cx="5826125" cy="3861501"/>
          </a:xfrm>
          <a:prstGeom prst="rect">
            <a:avLst/>
          </a:prstGeom>
        </p:spPr>
      </p:pic>
      <p:sp>
        <p:nvSpPr>
          <p:cNvPr id="7" name="TextBox 6">
            <a:extLst>
              <a:ext uri="{FF2B5EF4-FFF2-40B4-BE49-F238E27FC236}">
                <a16:creationId xmlns:a16="http://schemas.microsoft.com/office/drawing/2014/main" id="{429B2013-11BA-4579-9B84-5B742351EF66}"/>
              </a:ext>
            </a:extLst>
          </p:cNvPr>
          <p:cNvSpPr txBox="1"/>
          <p:nvPr/>
        </p:nvSpPr>
        <p:spPr>
          <a:xfrm>
            <a:off x="6532880" y="1397675"/>
            <a:ext cx="1540806" cy="3693319"/>
          </a:xfrm>
          <a:prstGeom prst="rect">
            <a:avLst/>
          </a:prstGeom>
          <a:noFill/>
        </p:spPr>
        <p:txBody>
          <a:bodyPr wrap="none" rtlCol="0">
            <a:spAutoFit/>
          </a:bodyPr>
          <a:lstStyle/>
          <a:p>
            <a:pPr marL="285750" indent="-285750">
              <a:buFont typeface="Arial" panose="020B0604020202020204" pitchFamily="34" charset="0"/>
              <a:buChar char="•"/>
            </a:pPr>
            <a:r>
              <a:rPr lang="en-US" dirty="0"/>
              <a:t>Basic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VAT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PBBKB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Transport</a:t>
            </a:r>
            <a:endParaRPr lang="en-ID" dirty="0"/>
          </a:p>
        </p:txBody>
      </p:sp>
      <p:graphicFrame>
        <p:nvGraphicFramePr>
          <p:cNvPr id="13" name="Table 12">
            <a:extLst>
              <a:ext uri="{FF2B5EF4-FFF2-40B4-BE49-F238E27FC236}">
                <a16:creationId xmlns:a16="http://schemas.microsoft.com/office/drawing/2014/main" id="{E78D9680-113E-4009-99A2-C3B718038A82}"/>
              </a:ext>
            </a:extLst>
          </p:cNvPr>
          <p:cNvGraphicFramePr>
            <a:graphicFrameLocks noGrp="1"/>
          </p:cNvGraphicFramePr>
          <p:nvPr/>
        </p:nvGraphicFramePr>
        <p:xfrm>
          <a:off x="8100007" y="1397675"/>
          <a:ext cx="3807513" cy="1463040"/>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3807513">
                  <a:extLst>
                    <a:ext uri="{9D8B030D-6E8A-4147-A177-3AD203B41FA5}">
                      <a16:colId xmlns:a16="http://schemas.microsoft.com/office/drawing/2014/main" val="4087001804"/>
                    </a:ext>
                  </a:extLst>
                </a:gridCol>
              </a:tblGrid>
              <a:tr h="690049">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b="0" dirty="0">
                          <a:solidFill>
                            <a:schemeClr val="tx1"/>
                          </a:solidFill>
                        </a:rPr>
                        <a:t>Do request for price discount to </a:t>
                      </a:r>
                      <a:r>
                        <a:rPr lang="en-US" b="0" dirty="0" err="1">
                          <a:solidFill>
                            <a:schemeClr val="tx1"/>
                          </a:solidFill>
                        </a:rPr>
                        <a:t>Pertamina</a:t>
                      </a:r>
                      <a:r>
                        <a:rPr lang="en-US" b="0" dirty="0">
                          <a:solidFill>
                            <a:schemeClr val="tx1"/>
                          </a:solidFill>
                        </a:rPr>
                        <a:t> </a:t>
                      </a:r>
                      <a:r>
                        <a:rPr lang="en-US" b="0" dirty="0">
                          <a:solidFill>
                            <a:schemeClr val="tx1"/>
                          </a:solidFill>
                          <a:sym typeface="Wingdings" panose="05000000000000000000" pitchFamily="2" charset="2"/>
                        </a:rPr>
                        <a:t> 5 – 20%</a:t>
                      </a:r>
                      <a:endParaRPr lang="en-US" b="0" dirty="0">
                        <a:solidFill>
                          <a:schemeClr val="tx1"/>
                        </a:solidFill>
                      </a:endParaRP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b="0" dirty="0">
                          <a:solidFill>
                            <a:schemeClr val="tx1"/>
                          </a:solidFill>
                        </a:rPr>
                        <a:t>Do price comparison with other fuel supplier </a:t>
                      </a:r>
                      <a:r>
                        <a:rPr lang="en-US" b="0" dirty="0" err="1">
                          <a:solidFill>
                            <a:schemeClr val="tx1"/>
                          </a:solidFill>
                        </a:rPr>
                        <a:t>i.e</a:t>
                      </a:r>
                      <a:r>
                        <a:rPr lang="en-US" b="0" dirty="0">
                          <a:solidFill>
                            <a:schemeClr val="tx1"/>
                          </a:solidFill>
                        </a:rPr>
                        <a:t> Shell, Petronas </a:t>
                      </a:r>
                      <a:r>
                        <a:rPr lang="en-US" b="0" dirty="0" err="1">
                          <a:solidFill>
                            <a:schemeClr val="tx1"/>
                          </a:solidFill>
                        </a:rPr>
                        <a:t>etc</a:t>
                      </a:r>
                      <a:endParaRPr lang="en-US" b="0" dirty="0">
                        <a:solidFill>
                          <a:schemeClr val="tx1"/>
                        </a:solidFill>
                      </a:endParaRPr>
                    </a:p>
                  </a:txBody>
                  <a:tcPr>
                    <a:solidFill>
                      <a:srgbClr val="FFC000"/>
                    </a:solidFill>
                  </a:tcPr>
                </a:tc>
                <a:extLst>
                  <a:ext uri="{0D108BD9-81ED-4DB2-BD59-A6C34878D82A}">
                    <a16:rowId xmlns:a16="http://schemas.microsoft.com/office/drawing/2014/main" val="1674850166"/>
                  </a:ext>
                </a:extLst>
              </a:tr>
            </a:tbl>
          </a:graphicData>
        </a:graphic>
      </p:graphicFrame>
      <p:graphicFrame>
        <p:nvGraphicFramePr>
          <p:cNvPr id="14" name="Table 13">
            <a:extLst>
              <a:ext uri="{FF2B5EF4-FFF2-40B4-BE49-F238E27FC236}">
                <a16:creationId xmlns:a16="http://schemas.microsoft.com/office/drawing/2014/main" id="{C0ACD9A8-140F-4BE6-892B-C3B293A2144E}"/>
              </a:ext>
            </a:extLst>
          </p:cNvPr>
          <p:cNvGraphicFramePr>
            <a:graphicFrameLocks noGrp="1"/>
          </p:cNvGraphicFramePr>
          <p:nvPr/>
        </p:nvGraphicFramePr>
        <p:xfrm>
          <a:off x="8100007" y="3069293"/>
          <a:ext cx="3807513" cy="618787"/>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3807513">
                  <a:extLst>
                    <a:ext uri="{9D8B030D-6E8A-4147-A177-3AD203B41FA5}">
                      <a16:colId xmlns:a16="http://schemas.microsoft.com/office/drawing/2014/main" val="4087001804"/>
                    </a:ext>
                  </a:extLst>
                </a:gridCol>
              </a:tblGrid>
              <a:tr h="618787">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b="0" dirty="0">
                          <a:solidFill>
                            <a:schemeClr val="tx1"/>
                          </a:solidFill>
                        </a:rPr>
                        <a:t>Fix refer to Basic price</a:t>
                      </a:r>
                    </a:p>
                  </a:txBody>
                  <a:tcPr>
                    <a:solidFill>
                      <a:srgbClr val="FFFF00"/>
                    </a:solidFill>
                  </a:tcPr>
                </a:tc>
                <a:extLst>
                  <a:ext uri="{0D108BD9-81ED-4DB2-BD59-A6C34878D82A}">
                    <a16:rowId xmlns:a16="http://schemas.microsoft.com/office/drawing/2014/main" val="1674850166"/>
                  </a:ext>
                </a:extLst>
              </a:tr>
            </a:tbl>
          </a:graphicData>
        </a:graphic>
      </p:graphicFrame>
      <p:graphicFrame>
        <p:nvGraphicFramePr>
          <p:cNvPr id="15" name="Table 14">
            <a:extLst>
              <a:ext uri="{FF2B5EF4-FFF2-40B4-BE49-F238E27FC236}">
                <a16:creationId xmlns:a16="http://schemas.microsoft.com/office/drawing/2014/main" id="{EC9C9DBE-D8EC-49F9-80C4-8B5466BC0BA2}"/>
              </a:ext>
            </a:extLst>
          </p:cNvPr>
          <p:cNvGraphicFramePr>
            <a:graphicFrameLocks noGrp="1"/>
          </p:cNvGraphicFramePr>
          <p:nvPr/>
        </p:nvGraphicFramePr>
        <p:xfrm>
          <a:off x="8110447" y="3900862"/>
          <a:ext cx="3807513" cy="618787"/>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3807513">
                  <a:extLst>
                    <a:ext uri="{9D8B030D-6E8A-4147-A177-3AD203B41FA5}">
                      <a16:colId xmlns:a16="http://schemas.microsoft.com/office/drawing/2014/main" val="4087001804"/>
                    </a:ext>
                  </a:extLst>
                </a:gridCol>
              </a:tblGrid>
              <a:tr h="618787">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b="0" dirty="0">
                          <a:solidFill>
                            <a:schemeClr val="tx1"/>
                          </a:solidFill>
                        </a:rPr>
                        <a:t>Fix refer to Basic price</a:t>
                      </a:r>
                    </a:p>
                  </a:txBody>
                  <a:tcPr>
                    <a:solidFill>
                      <a:srgbClr val="FFFF00"/>
                    </a:solidFill>
                  </a:tcPr>
                </a:tc>
                <a:extLst>
                  <a:ext uri="{0D108BD9-81ED-4DB2-BD59-A6C34878D82A}">
                    <a16:rowId xmlns:a16="http://schemas.microsoft.com/office/drawing/2014/main" val="1674850166"/>
                  </a:ext>
                </a:extLst>
              </a:tr>
            </a:tbl>
          </a:graphicData>
        </a:graphic>
      </p:graphicFrame>
      <p:graphicFrame>
        <p:nvGraphicFramePr>
          <p:cNvPr id="16" name="Table 15">
            <a:extLst>
              <a:ext uri="{FF2B5EF4-FFF2-40B4-BE49-F238E27FC236}">
                <a16:creationId xmlns:a16="http://schemas.microsoft.com/office/drawing/2014/main" id="{7E1DB16B-4479-4869-A3B8-D1A8F83DC617}"/>
              </a:ext>
            </a:extLst>
          </p:cNvPr>
          <p:cNvGraphicFramePr>
            <a:graphicFrameLocks noGrp="1"/>
          </p:cNvGraphicFramePr>
          <p:nvPr/>
        </p:nvGraphicFramePr>
        <p:xfrm>
          <a:off x="8100007" y="4728227"/>
          <a:ext cx="3807513" cy="618787"/>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3807513">
                  <a:extLst>
                    <a:ext uri="{9D8B030D-6E8A-4147-A177-3AD203B41FA5}">
                      <a16:colId xmlns:a16="http://schemas.microsoft.com/office/drawing/2014/main" val="4087001804"/>
                    </a:ext>
                  </a:extLst>
                </a:gridCol>
              </a:tblGrid>
              <a:tr h="618787">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b="0" dirty="0">
                          <a:solidFill>
                            <a:schemeClr val="tx1"/>
                          </a:solidFill>
                        </a:rPr>
                        <a:t>Fix price</a:t>
                      </a:r>
                    </a:p>
                  </a:txBody>
                  <a:tcPr>
                    <a:solidFill>
                      <a:srgbClr val="FFFF00"/>
                    </a:solidFill>
                  </a:tcPr>
                </a:tc>
                <a:extLst>
                  <a:ext uri="{0D108BD9-81ED-4DB2-BD59-A6C34878D82A}">
                    <a16:rowId xmlns:a16="http://schemas.microsoft.com/office/drawing/2014/main" val="1674850166"/>
                  </a:ext>
                </a:extLst>
              </a:tr>
            </a:tbl>
          </a:graphicData>
        </a:graphic>
      </p:graphicFrame>
      <p:sp>
        <p:nvSpPr>
          <p:cNvPr id="9" name="TextBox 8">
            <a:extLst>
              <a:ext uri="{FF2B5EF4-FFF2-40B4-BE49-F238E27FC236}">
                <a16:creationId xmlns:a16="http://schemas.microsoft.com/office/drawing/2014/main" id="{35EAD0FB-7588-4F11-B8A7-0F5E1CFB8C6E}"/>
              </a:ext>
            </a:extLst>
          </p:cNvPr>
          <p:cNvSpPr txBox="1"/>
          <p:nvPr/>
        </p:nvSpPr>
        <p:spPr>
          <a:xfrm>
            <a:off x="332781" y="1412697"/>
            <a:ext cx="6021713" cy="461665"/>
          </a:xfrm>
          <a:prstGeom prst="rect">
            <a:avLst/>
          </a:prstGeom>
          <a:noFill/>
        </p:spPr>
        <p:txBody>
          <a:bodyPr wrap="none" rtlCol="0">
            <a:spAutoFit/>
          </a:bodyPr>
          <a:lstStyle/>
          <a:p>
            <a:r>
              <a:rPr lang="en-US" sz="2400" b="1" dirty="0">
                <a:solidFill>
                  <a:schemeClr val="accent2">
                    <a:lumMod val="75000"/>
                  </a:schemeClr>
                </a:solidFill>
              </a:rPr>
              <a:t>Basic Price (issued every 14 days period)</a:t>
            </a:r>
            <a:endParaRPr lang="en-ID" sz="2400" b="1" dirty="0">
              <a:solidFill>
                <a:schemeClr val="accent2">
                  <a:lumMod val="75000"/>
                </a:schemeClr>
              </a:solidFill>
            </a:endParaRPr>
          </a:p>
        </p:txBody>
      </p:sp>
    </p:spTree>
    <p:extLst>
      <p:ext uri="{BB962C8B-B14F-4D97-AF65-F5344CB8AC3E}">
        <p14:creationId xmlns:p14="http://schemas.microsoft.com/office/powerpoint/2010/main" val="28579133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627798" y="-96672"/>
            <a:ext cx="8229600" cy="1143000"/>
          </a:xfrm>
        </p:spPr>
        <p:txBody>
          <a:bodyPr/>
          <a:lstStyle/>
          <a:p>
            <a:r>
              <a:rPr lang="en-US" altLang="en-US" b="1" dirty="0">
                <a:solidFill>
                  <a:srgbClr val="C00000"/>
                </a:solidFill>
              </a:rPr>
              <a:t>CHANCE TO GET PERTAMINA FUEL PRICE DISCOUNT</a:t>
            </a:r>
          </a:p>
        </p:txBody>
      </p:sp>
      <p:sp>
        <p:nvSpPr>
          <p:cNvPr id="2" name="TextBox 1">
            <a:extLst>
              <a:ext uri="{FF2B5EF4-FFF2-40B4-BE49-F238E27FC236}">
                <a16:creationId xmlns:a16="http://schemas.microsoft.com/office/drawing/2014/main" id="{B8B86788-831E-4F6C-87F3-A7E77E9BD684}"/>
              </a:ext>
            </a:extLst>
          </p:cNvPr>
          <p:cNvSpPr txBox="1"/>
          <p:nvPr/>
        </p:nvSpPr>
        <p:spPr>
          <a:xfrm>
            <a:off x="983398" y="1296227"/>
            <a:ext cx="11208602" cy="4401205"/>
          </a:xfrm>
          <a:prstGeom prst="rect">
            <a:avLst/>
          </a:prstGeom>
          <a:noFill/>
        </p:spPr>
        <p:txBody>
          <a:bodyPr wrap="square" rtlCol="0">
            <a:spAutoFit/>
          </a:bodyPr>
          <a:lstStyle/>
          <a:p>
            <a:r>
              <a:rPr lang="en-US" sz="2800" dirty="0"/>
              <a:t>If company do direct purchase fuel, could request to </a:t>
            </a:r>
            <a:r>
              <a:rPr lang="en-US" sz="2800" dirty="0" err="1"/>
              <a:t>Pertamina</a:t>
            </a:r>
            <a:r>
              <a:rPr lang="en-US" sz="2800" dirty="0"/>
              <a:t> Fuel price Discount. Below are possibility % price discount:</a:t>
            </a:r>
          </a:p>
          <a:p>
            <a:pPr marL="457200" indent="-457200">
              <a:buFont typeface="Arial" panose="020B0604020202020204" pitchFamily="34" charset="0"/>
              <a:buChar char="•"/>
            </a:pPr>
            <a:r>
              <a:rPr lang="en-ID" sz="2800" dirty="0"/>
              <a:t>Up to 20%: Government or BUMN direct purchase and Cash deposit in advance.</a:t>
            </a:r>
          </a:p>
          <a:p>
            <a:pPr marL="457200" indent="-457200">
              <a:buFont typeface="Arial" panose="020B0604020202020204" pitchFamily="34" charset="0"/>
              <a:buChar char="•"/>
            </a:pPr>
            <a:r>
              <a:rPr lang="en-ID" sz="2800" dirty="0"/>
              <a:t>Up to 10%: Private Company direct purchase and Cash deposit in advance.</a:t>
            </a:r>
          </a:p>
          <a:p>
            <a:pPr marL="457200" indent="-457200">
              <a:buFont typeface="Arial" panose="020B0604020202020204" pitchFamily="34" charset="0"/>
              <a:buChar char="•"/>
            </a:pPr>
            <a:r>
              <a:rPr lang="en-ID" sz="2800" dirty="0"/>
              <a:t>Up to 5%: Private Company direct purchase by invoice system.</a:t>
            </a:r>
          </a:p>
          <a:p>
            <a:pPr marL="457200" indent="-457200">
              <a:buFont typeface="Arial" panose="020B0604020202020204" pitchFamily="34" charset="0"/>
              <a:buChar char="•"/>
            </a:pPr>
            <a:endParaRPr lang="en-ID" sz="2800" dirty="0"/>
          </a:p>
          <a:p>
            <a:pPr marL="457200" indent="-457200">
              <a:buFont typeface="Arial" panose="020B0604020202020204" pitchFamily="34" charset="0"/>
              <a:buChar char="•"/>
            </a:pPr>
            <a:r>
              <a:rPr lang="en-ID" sz="2800" dirty="0"/>
              <a:t>Up to 10%: To </a:t>
            </a:r>
            <a:r>
              <a:rPr lang="en-ID" sz="2800" dirty="0" err="1"/>
              <a:t>Pertamina</a:t>
            </a:r>
            <a:r>
              <a:rPr lang="en-ID" sz="2800" dirty="0"/>
              <a:t> Fuel agent</a:t>
            </a:r>
          </a:p>
          <a:p>
            <a:pPr marL="457200" indent="-457200">
              <a:buFont typeface="Arial" panose="020B0604020202020204" pitchFamily="34" charset="0"/>
              <a:buChar char="•"/>
            </a:pPr>
            <a:endParaRPr lang="en-ID" sz="2800" dirty="0"/>
          </a:p>
        </p:txBody>
      </p:sp>
      <p:pic>
        <p:nvPicPr>
          <p:cNvPr id="4" name="Picture 3">
            <a:extLst>
              <a:ext uri="{FF2B5EF4-FFF2-40B4-BE49-F238E27FC236}">
                <a16:creationId xmlns:a16="http://schemas.microsoft.com/office/drawing/2014/main" id="{CDFDA778-F0B3-8A5A-EFBF-1BE6D6C1827D}"/>
              </a:ext>
            </a:extLst>
          </p:cNvPr>
          <p:cNvPicPr>
            <a:picLocks noChangeAspect="1"/>
          </p:cNvPicPr>
          <p:nvPr/>
        </p:nvPicPr>
        <p:blipFill>
          <a:blip r:embed="rId2"/>
          <a:stretch>
            <a:fillRect/>
          </a:stretch>
        </p:blipFill>
        <p:spPr>
          <a:xfrm>
            <a:off x="7344384" y="4821385"/>
            <a:ext cx="4678830" cy="1540503"/>
          </a:xfrm>
          <a:prstGeom prst="rect">
            <a:avLst/>
          </a:prstGeom>
        </p:spPr>
      </p:pic>
      <p:sp>
        <p:nvSpPr>
          <p:cNvPr id="5" name="TextBox 4">
            <a:extLst>
              <a:ext uri="{FF2B5EF4-FFF2-40B4-BE49-F238E27FC236}">
                <a16:creationId xmlns:a16="http://schemas.microsoft.com/office/drawing/2014/main" id="{90363594-CD7F-D7BF-F0F9-6C1A7A23E188}"/>
              </a:ext>
            </a:extLst>
          </p:cNvPr>
          <p:cNvSpPr txBox="1"/>
          <p:nvPr/>
        </p:nvSpPr>
        <p:spPr>
          <a:xfrm>
            <a:off x="7402663" y="6361888"/>
            <a:ext cx="4562272" cy="307777"/>
          </a:xfrm>
          <a:prstGeom prst="rect">
            <a:avLst/>
          </a:prstGeom>
          <a:noFill/>
        </p:spPr>
        <p:txBody>
          <a:bodyPr wrap="square" rtlCol="0">
            <a:spAutoFit/>
          </a:bodyPr>
          <a:lstStyle/>
          <a:p>
            <a:r>
              <a:rPr lang="en-US" sz="1400" dirty="0">
                <a:highlight>
                  <a:srgbClr val="FFFF00"/>
                </a:highlight>
              </a:rPr>
              <a:t>Nota </a:t>
            </a:r>
            <a:r>
              <a:rPr lang="en-US" sz="1400" dirty="0" err="1">
                <a:highlight>
                  <a:srgbClr val="FFFF00"/>
                </a:highlight>
              </a:rPr>
              <a:t>Kesepahaman</a:t>
            </a:r>
            <a:r>
              <a:rPr lang="en-US" sz="1400" dirty="0">
                <a:highlight>
                  <a:srgbClr val="FFFF00"/>
                </a:highlight>
              </a:rPr>
              <a:t> </a:t>
            </a:r>
            <a:r>
              <a:rPr lang="en-US" sz="1400" dirty="0" err="1">
                <a:highlight>
                  <a:srgbClr val="FFFF00"/>
                </a:highlight>
              </a:rPr>
              <a:t>antara</a:t>
            </a:r>
            <a:r>
              <a:rPr lang="en-US" sz="1400" dirty="0">
                <a:highlight>
                  <a:srgbClr val="FFFF00"/>
                </a:highlight>
              </a:rPr>
              <a:t> SKK Migas dan PT </a:t>
            </a:r>
            <a:r>
              <a:rPr lang="en-US" sz="1400" dirty="0" err="1">
                <a:highlight>
                  <a:srgbClr val="FFFF00"/>
                </a:highlight>
              </a:rPr>
              <a:t>Pertamina</a:t>
            </a:r>
            <a:endParaRPr lang="en-US" sz="1400" dirty="0">
              <a:highlight>
                <a:srgbClr val="FFFF00"/>
              </a:highlight>
            </a:endParaRPr>
          </a:p>
        </p:txBody>
      </p:sp>
    </p:spTree>
    <p:extLst>
      <p:ext uri="{BB962C8B-B14F-4D97-AF65-F5344CB8AC3E}">
        <p14:creationId xmlns:p14="http://schemas.microsoft.com/office/powerpoint/2010/main" val="32157418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688075" y="-1586"/>
            <a:ext cx="8229600" cy="1143000"/>
          </a:xfrm>
        </p:spPr>
        <p:txBody>
          <a:bodyPr>
            <a:normAutofit/>
          </a:bodyPr>
          <a:lstStyle/>
          <a:p>
            <a:r>
              <a:rPr lang="en-US" altLang="en-US" sz="4000" dirty="0">
                <a:solidFill>
                  <a:srgbClr val="C00000"/>
                </a:solidFill>
              </a:rPr>
              <a:t>RIG FUEL Supply – Cost Saving</a:t>
            </a:r>
          </a:p>
        </p:txBody>
      </p:sp>
      <p:pic>
        <p:nvPicPr>
          <p:cNvPr id="48133" name="Picture 6" descr="Related image"/>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777894" y="361620"/>
            <a:ext cx="872120" cy="872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8E6B479E-241E-4497-816E-F54AD833E5A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8074" y="5361090"/>
            <a:ext cx="3274325" cy="1314569"/>
          </a:xfrm>
          <a:prstGeom prst="rect">
            <a:avLst/>
          </a:prstGeom>
        </p:spPr>
      </p:pic>
      <p:pic>
        <p:nvPicPr>
          <p:cNvPr id="2" name="Picture 1">
            <a:extLst>
              <a:ext uri="{FF2B5EF4-FFF2-40B4-BE49-F238E27FC236}">
                <a16:creationId xmlns:a16="http://schemas.microsoft.com/office/drawing/2014/main" id="{3BA02B2A-6EE0-E7B6-C94D-1DCB0810BB98}"/>
              </a:ext>
            </a:extLst>
          </p:cNvPr>
          <p:cNvPicPr>
            <a:picLocks noChangeAspect="1"/>
          </p:cNvPicPr>
          <p:nvPr/>
        </p:nvPicPr>
        <p:blipFill>
          <a:blip r:embed="rId4"/>
          <a:stretch>
            <a:fillRect/>
          </a:stretch>
        </p:blipFill>
        <p:spPr>
          <a:xfrm>
            <a:off x="219075" y="1409700"/>
            <a:ext cx="11753850" cy="4038600"/>
          </a:xfrm>
          <a:prstGeom prst="rect">
            <a:avLst/>
          </a:prstGeom>
        </p:spPr>
      </p:pic>
    </p:spTree>
    <p:extLst>
      <p:ext uri="{BB962C8B-B14F-4D97-AF65-F5344CB8AC3E}">
        <p14:creationId xmlns:p14="http://schemas.microsoft.com/office/powerpoint/2010/main" val="34418640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325120"/>
            <a:ext cx="11534271" cy="1413256"/>
          </a:xfrm>
        </p:spPr>
        <p:txBody>
          <a:bodyPr>
            <a:noAutofit/>
          </a:bodyPr>
          <a:lstStyle/>
          <a:p>
            <a:r>
              <a:rPr lang="en-US" sz="4000" b="1" dirty="0">
                <a:solidFill>
                  <a:schemeClr val="accent6">
                    <a:lumMod val="50000"/>
                  </a:schemeClr>
                </a:solidFill>
              </a:rPr>
              <a:t>Own 1000 – 1500 HP Used Rig</a:t>
            </a:r>
            <a:br>
              <a:rPr lang="en-US" sz="4000" b="1" dirty="0">
                <a:solidFill>
                  <a:schemeClr val="accent6">
                    <a:lumMod val="50000"/>
                  </a:schemeClr>
                </a:solidFill>
              </a:rPr>
            </a:br>
            <a:r>
              <a:rPr lang="en-US" sz="2400" b="1" dirty="0">
                <a:solidFill>
                  <a:srgbClr val="C00000"/>
                </a:solidFill>
              </a:rPr>
              <a:t>Cases: KS </a:t>
            </a:r>
            <a:r>
              <a:rPr lang="en-US" sz="2400" b="1" dirty="0" err="1">
                <a:solidFill>
                  <a:srgbClr val="C00000"/>
                </a:solidFill>
              </a:rPr>
              <a:t>Orka</a:t>
            </a:r>
            <a:r>
              <a:rPr lang="en-US" sz="2400" b="1" dirty="0">
                <a:solidFill>
                  <a:srgbClr val="C00000"/>
                </a:solidFill>
              </a:rPr>
              <a:t> owned DATI 231 Rig </a:t>
            </a:r>
            <a:r>
              <a:rPr lang="en-US" sz="2400" b="1" dirty="0">
                <a:solidFill>
                  <a:srgbClr val="C00000"/>
                </a:solidFill>
                <a:sym typeface="Wingdings" panose="05000000000000000000" pitchFamily="2" charset="2"/>
              </a:rPr>
              <a:t> Rig Kaisan-01 </a:t>
            </a:r>
            <a:endParaRPr lang="en-US" sz="2400" b="1" dirty="0">
              <a:solidFill>
                <a:srgbClr val="C00000"/>
              </a:solidFill>
            </a:endParaRPr>
          </a:p>
        </p:txBody>
      </p:sp>
      <p:graphicFrame>
        <p:nvGraphicFramePr>
          <p:cNvPr id="4" name="Table 3"/>
          <p:cNvGraphicFramePr>
            <a:graphicFrameLocks noGrp="1"/>
          </p:cNvGraphicFramePr>
          <p:nvPr/>
        </p:nvGraphicFramePr>
        <p:xfrm>
          <a:off x="981122" y="1511236"/>
          <a:ext cx="10169100" cy="4231640"/>
        </p:xfrm>
        <a:graphic>
          <a:graphicData uri="http://schemas.openxmlformats.org/drawingml/2006/table">
            <a:tbl>
              <a:tblPr firstRow="1" bandRow="1">
                <a:tableStyleId>{5C22544A-7EE6-4342-B048-85BDC9FD1C3A}</a:tableStyleId>
              </a:tblPr>
              <a:tblGrid>
                <a:gridCol w="3004024">
                  <a:extLst>
                    <a:ext uri="{9D8B030D-6E8A-4147-A177-3AD203B41FA5}">
                      <a16:colId xmlns:a16="http://schemas.microsoft.com/office/drawing/2014/main" val="567268424"/>
                    </a:ext>
                  </a:extLst>
                </a:gridCol>
                <a:gridCol w="3507475">
                  <a:extLst>
                    <a:ext uri="{9D8B030D-6E8A-4147-A177-3AD203B41FA5}">
                      <a16:colId xmlns:a16="http://schemas.microsoft.com/office/drawing/2014/main" val="3304530452"/>
                    </a:ext>
                  </a:extLst>
                </a:gridCol>
                <a:gridCol w="3657601">
                  <a:extLst>
                    <a:ext uri="{9D8B030D-6E8A-4147-A177-3AD203B41FA5}">
                      <a16:colId xmlns:a16="http://schemas.microsoft.com/office/drawing/2014/main" val="2791784059"/>
                    </a:ext>
                  </a:extLst>
                </a:gridCol>
              </a:tblGrid>
              <a:tr h="370840">
                <a:tc>
                  <a:txBody>
                    <a:bodyPr/>
                    <a:lstStyle/>
                    <a:p>
                      <a:r>
                        <a:rPr lang="en-US" dirty="0"/>
                        <a:t>Description</a:t>
                      </a:r>
                    </a:p>
                  </a:txBody>
                  <a:tcPr/>
                </a:tc>
                <a:tc>
                  <a:txBody>
                    <a:bodyPr/>
                    <a:lstStyle/>
                    <a:p>
                      <a:r>
                        <a:rPr lang="en-US" dirty="0"/>
                        <a:t>Rig</a:t>
                      </a:r>
                      <a:r>
                        <a:rPr lang="en-US" baseline="0" dirty="0"/>
                        <a:t> Rental Services</a:t>
                      </a:r>
                      <a:endParaRPr lang="en-US" dirty="0"/>
                    </a:p>
                  </a:txBody>
                  <a:tcPr/>
                </a:tc>
                <a:tc>
                  <a:txBody>
                    <a:bodyPr/>
                    <a:lstStyle/>
                    <a:p>
                      <a:r>
                        <a:rPr lang="en-US" dirty="0"/>
                        <a:t>Own Rig</a:t>
                      </a:r>
                    </a:p>
                  </a:txBody>
                  <a:tcPr/>
                </a:tc>
                <a:extLst>
                  <a:ext uri="{0D108BD9-81ED-4DB2-BD59-A6C34878D82A}">
                    <a16:rowId xmlns:a16="http://schemas.microsoft.com/office/drawing/2014/main" val="1953090245"/>
                  </a:ext>
                </a:extLst>
              </a:tr>
              <a:tr h="370840">
                <a:tc>
                  <a:txBody>
                    <a:bodyPr/>
                    <a:lstStyle/>
                    <a:p>
                      <a:r>
                        <a:rPr lang="en-US" dirty="0"/>
                        <a:t>Rig Purchase</a:t>
                      </a:r>
                      <a:r>
                        <a:rPr lang="en-US" baseline="0" dirty="0"/>
                        <a:t> Price</a:t>
                      </a:r>
                      <a:endParaRPr lang="en-US" dirty="0"/>
                    </a:p>
                  </a:txBody>
                  <a:tcPr/>
                </a:tc>
                <a:tc>
                  <a:txBody>
                    <a:bodyPr/>
                    <a:lstStyle/>
                    <a:p>
                      <a:r>
                        <a:rPr lang="en-US" dirty="0"/>
                        <a:t>None</a:t>
                      </a:r>
                    </a:p>
                  </a:txBody>
                  <a:tcPr/>
                </a:tc>
                <a:tc>
                  <a:txBody>
                    <a:bodyPr/>
                    <a:lstStyle/>
                    <a:p>
                      <a:r>
                        <a:rPr lang="en-US" dirty="0"/>
                        <a:t>USD 2.5</a:t>
                      </a:r>
                      <a:r>
                        <a:rPr lang="en-US" baseline="0" dirty="0"/>
                        <a:t> Million</a:t>
                      </a:r>
                      <a:endParaRPr lang="en-US" dirty="0"/>
                    </a:p>
                  </a:txBody>
                  <a:tcPr/>
                </a:tc>
                <a:extLst>
                  <a:ext uri="{0D108BD9-81ED-4DB2-BD59-A6C34878D82A}">
                    <a16:rowId xmlns:a16="http://schemas.microsoft.com/office/drawing/2014/main" val="1338335053"/>
                  </a:ext>
                </a:extLst>
              </a:tr>
              <a:tr h="370840">
                <a:tc>
                  <a:txBody>
                    <a:bodyPr/>
                    <a:lstStyle/>
                    <a:p>
                      <a:r>
                        <a:rPr lang="en-US" dirty="0"/>
                        <a:t>Rig Upgrade</a:t>
                      </a:r>
                    </a:p>
                  </a:txBody>
                  <a:tcPr/>
                </a:tc>
                <a:tc>
                  <a:txBody>
                    <a:bodyPr/>
                    <a:lstStyle/>
                    <a:p>
                      <a:r>
                        <a:rPr lang="en-US" dirty="0"/>
                        <a:t>None, included</a:t>
                      </a:r>
                      <a:r>
                        <a:rPr lang="en-US" baseline="0" dirty="0"/>
                        <a:t> in Mob cost</a:t>
                      </a:r>
                      <a:endParaRPr lang="en-US" dirty="0"/>
                    </a:p>
                  </a:txBody>
                  <a:tcPr/>
                </a:tc>
                <a:tc>
                  <a:txBody>
                    <a:bodyPr/>
                    <a:lstStyle/>
                    <a:p>
                      <a:r>
                        <a:rPr lang="en-US" dirty="0"/>
                        <a:t>USD 500 K</a:t>
                      </a:r>
                    </a:p>
                  </a:txBody>
                  <a:tcPr/>
                </a:tc>
                <a:extLst>
                  <a:ext uri="{0D108BD9-81ED-4DB2-BD59-A6C34878D82A}">
                    <a16:rowId xmlns:a16="http://schemas.microsoft.com/office/drawing/2014/main" val="2183287629"/>
                  </a:ext>
                </a:extLst>
              </a:tr>
              <a:tr h="370840">
                <a:tc>
                  <a:txBody>
                    <a:bodyPr/>
                    <a:lstStyle/>
                    <a:p>
                      <a:r>
                        <a:rPr lang="en-US" dirty="0"/>
                        <a:t>Mobilization</a:t>
                      </a:r>
                    </a:p>
                  </a:txBody>
                  <a:tcPr/>
                </a:tc>
                <a:tc>
                  <a:txBody>
                    <a:bodyPr/>
                    <a:lstStyle/>
                    <a:p>
                      <a:r>
                        <a:rPr lang="en-US" dirty="0"/>
                        <a:t>USD 1 Million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USD 1 Million</a:t>
                      </a:r>
                    </a:p>
                  </a:txBody>
                  <a:tcPr/>
                </a:tc>
                <a:extLst>
                  <a:ext uri="{0D108BD9-81ED-4DB2-BD59-A6C34878D82A}">
                    <a16:rowId xmlns:a16="http://schemas.microsoft.com/office/drawing/2014/main" val="1427734470"/>
                  </a:ext>
                </a:extLst>
              </a:tr>
              <a:tr h="370840">
                <a:tc>
                  <a:txBody>
                    <a:bodyPr/>
                    <a:lstStyle/>
                    <a:p>
                      <a:r>
                        <a:rPr lang="en-US" dirty="0"/>
                        <a:t>Demobilization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USD 0.5 Million</a:t>
                      </a:r>
                    </a:p>
                  </a:txBody>
                  <a:tcPr/>
                </a:tc>
                <a:tc>
                  <a:txBody>
                    <a:bodyPr/>
                    <a:lstStyle/>
                    <a:p>
                      <a:r>
                        <a:rPr lang="en-US" dirty="0"/>
                        <a:t>USD 100 K </a:t>
                      </a:r>
                    </a:p>
                  </a:txBody>
                  <a:tcPr/>
                </a:tc>
                <a:extLst>
                  <a:ext uri="{0D108BD9-81ED-4DB2-BD59-A6C34878D82A}">
                    <a16:rowId xmlns:a16="http://schemas.microsoft.com/office/drawing/2014/main" val="2657998260"/>
                  </a:ext>
                </a:extLst>
              </a:tr>
              <a:tr h="370840">
                <a:tc>
                  <a:txBody>
                    <a:bodyPr/>
                    <a:lstStyle/>
                    <a:p>
                      <a:r>
                        <a:rPr lang="en-US" dirty="0"/>
                        <a:t>Daily</a:t>
                      </a:r>
                      <a:r>
                        <a:rPr lang="en-US" baseline="0" dirty="0"/>
                        <a:t> Rate</a:t>
                      </a:r>
                      <a:endParaRPr lang="en-US" dirty="0"/>
                    </a:p>
                  </a:txBody>
                  <a:tcPr/>
                </a:tc>
                <a:tc>
                  <a:txBody>
                    <a:bodyPr/>
                    <a:lstStyle/>
                    <a:p>
                      <a:r>
                        <a:rPr lang="en-US" dirty="0"/>
                        <a:t>USD</a:t>
                      </a:r>
                      <a:r>
                        <a:rPr lang="en-US" baseline="0" dirty="0"/>
                        <a:t> 25-30 K</a:t>
                      </a:r>
                      <a:endParaRPr lang="en-US" dirty="0"/>
                    </a:p>
                  </a:txBody>
                  <a:tcPr/>
                </a:tc>
                <a:tc>
                  <a:txBody>
                    <a:bodyPr/>
                    <a:lstStyle/>
                    <a:p>
                      <a:r>
                        <a:rPr lang="en-US" dirty="0"/>
                        <a:t>USD</a:t>
                      </a:r>
                      <a:r>
                        <a:rPr lang="en-US" baseline="0" dirty="0"/>
                        <a:t> 13 K:</a:t>
                      </a:r>
                      <a:endParaRPr lang="en-US" dirty="0"/>
                    </a:p>
                    <a:p>
                      <a:pPr marL="285750" indent="-285750">
                        <a:buFont typeface="Arial" panose="020B0604020202020204" pitchFamily="34" charset="0"/>
                        <a:buChar char="•"/>
                      </a:pPr>
                      <a:r>
                        <a:rPr lang="en-US" dirty="0"/>
                        <a:t>Rig Management: USD 5.5 K</a:t>
                      </a:r>
                    </a:p>
                    <a:p>
                      <a:pPr marL="285750" indent="-285750">
                        <a:buFont typeface="Arial" panose="020B0604020202020204" pitchFamily="34" charset="0"/>
                        <a:buChar char="•"/>
                      </a:pPr>
                      <a:r>
                        <a:rPr lang="en-US" dirty="0"/>
                        <a:t>Catering: USD 3.5 K</a:t>
                      </a:r>
                    </a:p>
                    <a:p>
                      <a:pPr marL="285750" indent="-285750">
                        <a:buFont typeface="Arial" panose="020B0604020202020204" pitchFamily="34" charset="0"/>
                        <a:buChar char="•"/>
                      </a:pPr>
                      <a:r>
                        <a:rPr lang="en-US" dirty="0"/>
                        <a:t>Maintenance: USD 4.0 K</a:t>
                      </a:r>
                    </a:p>
                  </a:txBody>
                  <a:tcPr/>
                </a:tc>
                <a:extLst>
                  <a:ext uri="{0D108BD9-81ED-4DB2-BD59-A6C34878D82A}">
                    <a16:rowId xmlns:a16="http://schemas.microsoft.com/office/drawing/2014/main" val="2715590186"/>
                  </a:ext>
                </a:extLst>
              </a:tr>
              <a:tr h="370840">
                <a:tc gridSpan="3">
                  <a:txBody>
                    <a:bodyPr/>
                    <a:lstStyle/>
                    <a:p>
                      <a:pPr marL="285750" indent="-285750">
                        <a:buFont typeface="Arial" panose="020B0604020202020204" pitchFamily="34" charset="0"/>
                        <a:buChar char="•"/>
                      </a:pPr>
                      <a:r>
                        <a:rPr lang="en-US" dirty="0"/>
                        <a:t>Total Rig</a:t>
                      </a:r>
                      <a:r>
                        <a:rPr lang="en-US" baseline="0" dirty="0"/>
                        <a:t> cost balance after </a:t>
                      </a:r>
                      <a:r>
                        <a:rPr lang="en-US" b="1" baseline="0" dirty="0">
                          <a:solidFill>
                            <a:srgbClr val="C00000"/>
                          </a:solidFill>
                        </a:rPr>
                        <a:t>173 rig operating days </a:t>
                      </a:r>
                      <a:r>
                        <a:rPr lang="en-US" baseline="0" dirty="0"/>
                        <a:t>= </a:t>
                      </a:r>
                      <a:r>
                        <a:rPr lang="en-US" sz="2400" b="1" baseline="0" dirty="0">
                          <a:solidFill>
                            <a:srgbClr val="C00000"/>
                          </a:solidFill>
                        </a:rPr>
                        <a:t>5 wells</a:t>
                      </a:r>
                    </a:p>
                    <a:p>
                      <a:pPr marL="742950" lvl="1" indent="-285750">
                        <a:buFont typeface="Arial" panose="020B0604020202020204" pitchFamily="34" charset="0"/>
                        <a:buChar char="•"/>
                      </a:pPr>
                      <a:r>
                        <a:rPr lang="en-US" sz="2400" b="1" dirty="0">
                          <a:solidFill>
                            <a:srgbClr val="C00000"/>
                          </a:solidFill>
                        </a:rPr>
                        <a:t>Drill 6</a:t>
                      </a:r>
                      <a:r>
                        <a:rPr lang="en-US" sz="2400" b="1" baseline="30000" dirty="0">
                          <a:solidFill>
                            <a:srgbClr val="C00000"/>
                          </a:solidFill>
                        </a:rPr>
                        <a:t>th</a:t>
                      </a:r>
                      <a:r>
                        <a:rPr lang="en-US" sz="2400" b="1" dirty="0">
                          <a:solidFill>
                            <a:srgbClr val="C00000"/>
                          </a:solidFill>
                        </a:rPr>
                        <a:t> well onward</a:t>
                      </a:r>
                      <a:r>
                        <a:rPr lang="en-US" sz="2400" b="1" baseline="0" dirty="0">
                          <a:solidFill>
                            <a:srgbClr val="C00000"/>
                          </a:solidFill>
                        </a:rPr>
                        <a:t> </a:t>
                      </a:r>
                      <a:r>
                        <a:rPr lang="en-US" sz="2400" b="1" baseline="0" dirty="0">
                          <a:solidFill>
                            <a:srgbClr val="C00000"/>
                          </a:solidFill>
                          <a:sym typeface="Wingdings" panose="05000000000000000000" pitchFamily="2" charset="2"/>
                        </a:rPr>
                        <a:t> Save Rig Cost USD 15 K daily </a:t>
                      </a:r>
                    </a:p>
                    <a:p>
                      <a:pPr marL="742950" lvl="1" indent="-285750">
                        <a:buFont typeface="Arial" panose="020B0604020202020204" pitchFamily="34" charset="0"/>
                        <a:buChar char="•"/>
                      </a:pPr>
                      <a:r>
                        <a:rPr lang="en-US" sz="2400" b="1" baseline="0" dirty="0">
                          <a:solidFill>
                            <a:srgbClr val="C00000"/>
                          </a:solidFill>
                          <a:sym typeface="Wingdings" panose="05000000000000000000" pitchFamily="2" charset="2"/>
                        </a:rPr>
                        <a:t>or equivalent with cost reduction of USD 525 K per well</a:t>
                      </a:r>
                      <a:endParaRPr lang="en-US" sz="2400" b="1" dirty="0">
                        <a:solidFill>
                          <a:srgbClr val="C00000"/>
                        </a:solidFill>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630939060"/>
                  </a:ext>
                </a:extLst>
              </a:tr>
            </a:tbl>
          </a:graphicData>
        </a:graphic>
      </p:graphicFrame>
      <p:pic>
        <p:nvPicPr>
          <p:cNvPr id="6" name="Picture 6" descr="Related image"/>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454185" y="5095084"/>
            <a:ext cx="1601293" cy="160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9993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A92FA-2D42-4FFC-B0C4-1A2ECA88C454}"/>
              </a:ext>
            </a:extLst>
          </p:cNvPr>
          <p:cNvSpPr>
            <a:spLocks noGrp="1"/>
          </p:cNvSpPr>
          <p:nvPr>
            <p:ph type="title"/>
          </p:nvPr>
        </p:nvSpPr>
        <p:spPr>
          <a:xfrm>
            <a:off x="521208" y="448056"/>
            <a:ext cx="9405112" cy="640080"/>
          </a:xfrm>
        </p:spPr>
        <p:txBody>
          <a:bodyPr>
            <a:normAutofit fontScale="90000"/>
          </a:bodyPr>
          <a:lstStyle/>
          <a:p>
            <a:r>
              <a:rPr lang="en-US" sz="3600" b="1" dirty="0">
                <a:solidFill>
                  <a:srgbClr val="C00000"/>
                </a:solidFill>
              </a:rPr>
              <a:t>SMGP Year 2020 Drilling Statistics – Use Own Rig</a:t>
            </a:r>
          </a:p>
        </p:txBody>
      </p:sp>
      <p:pic>
        <p:nvPicPr>
          <p:cNvPr id="7" name="Picture 6">
            <a:extLst>
              <a:ext uri="{FF2B5EF4-FFF2-40B4-BE49-F238E27FC236}">
                <a16:creationId xmlns:a16="http://schemas.microsoft.com/office/drawing/2014/main" id="{7C2031E4-B233-4C92-9655-22B622376D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271945" y="1747202"/>
            <a:ext cx="9648110" cy="4805998"/>
          </a:xfrm>
          <a:prstGeom prst="rect">
            <a:avLst/>
          </a:prstGeom>
        </p:spPr>
      </p:pic>
      <p:sp>
        <p:nvSpPr>
          <p:cNvPr id="9" name="TextBox 8">
            <a:extLst>
              <a:ext uri="{FF2B5EF4-FFF2-40B4-BE49-F238E27FC236}">
                <a16:creationId xmlns:a16="http://schemas.microsoft.com/office/drawing/2014/main" id="{8D0C6053-0EEC-459E-B2C0-4C6F5859AFF0}"/>
              </a:ext>
            </a:extLst>
          </p:cNvPr>
          <p:cNvSpPr txBox="1"/>
          <p:nvPr/>
        </p:nvSpPr>
        <p:spPr>
          <a:xfrm>
            <a:off x="2545357" y="1300357"/>
            <a:ext cx="1544715" cy="369332"/>
          </a:xfrm>
          <a:prstGeom prst="rect">
            <a:avLst/>
          </a:prstGeom>
          <a:noFill/>
          <a:ln>
            <a:solidFill>
              <a:schemeClr val="tx1"/>
            </a:solidFill>
          </a:ln>
        </p:spPr>
        <p:txBody>
          <a:bodyPr wrap="square" rtlCol="0">
            <a:spAutoFit/>
          </a:bodyPr>
          <a:lstStyle/>
          <a:p>
            <a:pPr algn="ctr"/>
            <a:r>
              <a:rPr lang="en-US" dirty="0"/>
              <a:t>SMP T-04</a:t>
            </a:r>
          </a:p>
        </p:txBody>
      </p:sp>
      <p:sp>
        <p:nvSpPr>
          <p:cNvPr id="10" name="TextBox 9">
            <a:extLst>
              <a:ext uri="{FF2B5EF4-FFF2-40B4-BE49-F238E27FC236}">
                <a16:creationId xmlns:a16="http://schemas.microsoft.com/office/drawing/2014/main" id="{823E2481-4512-493B-BDF1-937C1EEB1A9A}"/>
              </a:ext>
            </a:extLst>
          </p:cNvPr>
          <p:cNvSpPr txBox="1"/>
          <p:nvPr/>
        </p:nvSpPr>
        <p:spPr>
          <a:xfrm>
            <a:off x="4764350" y="1300357"/>
            <a:ext cx="1544715" cy="369332"/>
          </a:xfrm>
          <a:prstGeom prst="rect">
            <a:avLst/>
          </a:prstGeom>
          <a:noFill/>
          <a:ln>
            <a:solidFill>
              <a:schemeClr val="tx1"/>
            </a:solidFill>
          </a:ln>
        </p:spPr>
        <p:txBody>
          <a:bodyPr wrap="square" rtlCol="0">
            <a:spAutoFit/>
          </a:bodyPr>
          <a:lstStyle/>
          <a:p>
            <a:pPr algn="ctr"/>
            <a:r>
              <a:rPr lang="en-US" dirty="0"/>
              <a:t>SMP T-09</a:t>
            </a:r>
          </a:p>
        </p:txBody>
      </p:sp>
      <p:sp>
        <p:nvSpPr>
          <p:cNvPr id="11" name="TextBox 10">
            <a:extLst>
              <a:ext uri="{FF2B5EF4-FFF2-40B4-BE49-F238E27FC236}">
                <a16:creationId xmlns:a16="http://schemas.microsoft.com/office/drawing/2014/main" id="{BA3A5DA9-BAEB-418A-975C-509BC44A4BF7}"/>
              </a:ext>
            </a:extLst>
          </p:cNvPr>
          <p:cNvSpPr txBox="1"/>
          <p:nvPr/>
        </p:nvSpPr>
        <p:spPr>
          <a:xfrm>
            <a:off x="6893584" y="1300357"/>
            <a:ext cx="1544715" cy="369332"/>
          </a:xfrm>
          <a:prstGeom prst="rect">
            <a:avLst/>
          </a:prstGeom>
          <a:noFill/>
          <a:ln>
            <a:solidFill>
              <a:schemeClr val="tx1"/>
            </a:solidFill>
          </a:ln>
        </p:spPr>
        <p:txBody>
          <a:bodyPr wrap="square" rtlCol="0">
            <a:spAutoFit/>
          </a:bodyPr>
          <a:lstStyle/>
          <a:p>
            <a:pPr algn="ctr"/>
            <a:r>
              <a:rPr lang="en-US" dirty="0"/>
              <a:t>SMP T-07</a:t>
            </a:r>
          </a:p>
        </p:txBody>
      </p:sp>
      <p:graphicFrame>
        <p:nvGraphicFramePr>
          <p:cNvPr id="13" name="Chart 12">
            <a:extLst>
              <a:ext uri="{FF2B5EF4-FFF2-40B4-BE49-F238E27FC236}">
                <a16:creationId xmlns:a16="http://schemas.microsoft.com/office/drawing/2014/main" id="{7E12D833-3719-45FB-9A87-11D2A30502EF}"/>
              </a:ext>
            </a:extLst>
          </p:cNvPr>
          <p:cNvGraphicFramePr>
            <a:graphicFrameLocks/>
          </p:cNvGraphicFramePr>
          <p:nvPr/>
        </p:nvGraphicFramePr>
        <p:xfrm>
          <a:off x="2282593" y="1835978"/>
          <a:ext cx="6638763" cy="45884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3849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Persiapan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Umum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Sebelum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Dimulainya</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5" name="Rectangle 4">
            <a:extLst>
              <a:ext uri="{FF2B5EF4-FFF2-40B4-BE49-F238E27FC236}">
                <a16:creationId xmlns:a16="http://schemas.microsoft.com/office/drawing/2014/main" id="{FEA18FA2-826B-D284-53B8-B37906FB6BBA}"/>
              </a:ext>
            </a:extLst>
          </p:cNvPr>
          <p:cNvSpPr/>
          <p:nvPr/>
        </p:nvSpPr>
        <p:spPr>
          <a:xfrm>
            <a:off x="2636874" y="1682013"/>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a:latin typeface="Cavolini" panose="03000502040302020204" pitchFamily="66" charset="0"/>
                <a:cs typeface="Cavolini" panose="03000502040302020204" pitchFamily="66" charset="0"/>
              </a:rPr>
              <a:t>Persiapan Lokasi Pengeboran</a:t>
            </a:r>
            <a:endParaRPr lang="en-ID" sz="2400" b="1" dirty="0">
              <a:latin typeface="Cavolini" panose="03000502040302020204" pitchFamily="66" charset="0"/>
              <a:cs typeface="Cavolini" panose="03000502040302020204" pitchFamily="66" charset="0"/>
            </a:endParaRPr>
          </a:p>
        </p:txBody>
      </p:sp>
      <p:sp>
        <p:nvSpPr>
          <p:cNvPr id="7" name="Rectangle 6">
            <a:extLst>
              <a:ext uri="{FF2B5EF4-FFF2-40B4-BE49-F238E27FC236}">
                <a16:creationId xmlns:a16="http://schemas.microsoft.com/office/drawing/2014/main" id="{EEC3DBDE-A9D3-E986-BC78-CB0BDA109893}"/>
              </a:ext>
            </a:extLst>
          </p:cNvPr>
          <p:cNvSpPr/>
          <p:nvPr/>
        </p:nvSpPr>
        <p:spPr>
          <a:xfrm>
            <a:off x="1503818" y="1648637"/>
            <a:ext cx="891363" cy="765544"/>
          </a:xfrm>
          <a:prstGeom prst="rect">
            <a:avLst/>
          </a:prstGeom>
          <a:solidFill>
            <a:srgbClr val="FFCC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TextBox 1">
            <a:extLst>
              <a:ext uri="{FF2B5EF4-FFF2-40B4-BE49-F238E27FC236}">
                <a16:creationId xmlns:a16="http://schemas.microsoft.com/office/drawing/2014/main" id="{E84D4FAB-93E1-9613-8A80-73F7D6D3694D}"/>
              </a:ext>
            </a:extLst>
          </p:cNvPr>
          <p:cNvSpPr txBox="1"/>
          <p:nvPr/>
        </p:nvSpPr>
        <p:spPr>
          <a:xfrm>
            <a:off x="2636874" y="2550473"/>
            <a:ext cx="6449201" cy="189417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00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Elevated Wellpad Design</a:t>
            </a:r>
          </a:p>
          <a:p>
            <a:pPr marL="285750" indent="-285750">
              <a:lnSpc>
                <a:spcPct val="150000"/>
              </a:lnSpc>
              <a:buFont typeface="Arial" panose="020B0604020202020204" pitchFamily="34" charset="0"/>
              <a:buChar char="•"/>
            </a:pPr>
            <a:r>
              <a:rPr lang="en-US" sz="200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Mud Pond Size and Design</a:t>
            </a:r>
          </a:p>
          <a:p>
            <a:pPr marL="285750" indent="-285750">
              <a:lnSpc>
                <a:spcPct val="150000"/>
              </a:lnSpc>
              <a:buFont typeface="Arial" panose="020B0604020202020204" pitchFamily="34" charset="0"/>
              <a:buChar char="•"/>
            </a:pPr>
            <a:r>
              <a:rPr lang="en-US" sz="200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Cellar Design and distance between Cellar</a:t>
            </a:r>
          </a:p>
          <a:p>
            <a:pPr marL="285750" indent="-285750">
              <a:lnSpc>
                <a:spcPct val="150000"/>
              </a:lnSpc>
              <a:buFont typeface="Arial" panose="020B0604020202020204" pitchFamily="34" charset="0"/>
              <a:buChar char="•"/>
            </a:pPr>
            <a:r>
              <a:rPr lang="en-US" sz="200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30” Conductor Design</a:t>
            </a:r>
            <a:endParaRPr lang="en-ID"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endParaRPr>
          </a:p>
        </p:txBody>
      </p:sp>
    </p:spTree>
    <p:extLst>
      <p:ext uri="{BB962C8B-B14F-4D97-AF65-F5344CB8AC3E}">
        <p14:creationId xmlns:p14="http://schemas.microsoft.com/office/powerpoint/2010/main" val="14230218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a:xfrm>
            <a:off x="756444" y="42702"/>
            <a:ext cx="8229600" cy="1143000"/>
          </a:xfrm>
        </p:spPr>
        <p:txBody>
          <a:bodyPr>
            <a:normAutofit/>
          </a:bodyPr>
          <a:lstStyle/>
          <a:p>
            <a:r>
              <a:rPr lang="en-US" altLang="en-US" sz="4000">
                <a:solidFill>
                  <a:srgbClr val="C00000"/>
                </a:solidFill>
              </a:rPr>
              <a:t>Effective Well Pad </a:t>
            </a:r>
            <a:r>
              <a:rPr lang="en-US" altLang="en-US" sz="4000" dirty="0">
                <a:solidFill>
                  <a:srgbClr val="C00000"/>
                </a:solidFill>
              </a:rPr>
              <a:t>Design</a:t>
            </a:r>
          </a:p>
        </p:txBody>
      </p:sp>
      <p:sp>
        <p:nvSpPr>
          <p:cNvPr id="9421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488548F8-23E6-4497-B5B4-11254171C410}" type="slidenum">
              <a:rPr lang="en-US" altLang="en-US" sz="1400"/>
              <a:pPr>
                <a:spcBef>
                  <a:spcPct val="0"/>
                </a:spcBef>
                <a:buFontTx/>
                <a:buNone/>
              </a:pPr>
              <a:t>62</a:t>
            </a:fld>
            <a:endParaRPr lang="en-US" altLang="en-US" sz="1400"/>
          </a:p>
        </p:txBody>
      </p:sp>
      <p:pic>
        <p:nvPicPr>
          <p:cNvPr id="94212" name="Picture 4"/>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44455" y="1397001"/>
            <a:ext cx="6914274" cy="442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TextBox 4"/>
          <p:cNvSpPr txBox="1">
            <a:spLocks noChangeArrowheads="1"/>
          </p:cNvSpPr>
          <p:nvPr/>
        </p:nvSpPr>
        <p:spPr bwMode="auto">
          <a:xfrm>
            <a:off x="7332662" y="1354672"/>
            <a:ext cx="458501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2400" dirty="0">
                <a:solidFill>
                  <a:srgbClr val="002060"/>
                </a:solidFill>
                <a:latin typeface="Times New Roman" panose="02020603050405020304" pitchFamily="18" charset="0"/>
              </a:rPr>
              <a:t>5000-8000 m3 water pond</a:t>
            </a:r>
          </a:p>
          <a:p>
            <a:pPr>
              <a:spcBef>
                <a:spcPct val="0"/>
              </a:spcBef>
            </a:pPr>
            <a:r>
              <a:rPr lang="en-US" altLang="en-US" sz="2400" dirty="0">
                <a:solidFill>
                  <a:srgbClr val="002060"/>
                </a:solidFill>
                <a:latin typeface="Times New Roman" panose="02020603050405020304" pitchFamily="18" charset="0"/>
              </a:rPr>
              <a:t>Lower elevation for cutting and water pond</a:t>
            </a:r>
          </a:p>
          <a:p>
            <a:pPr>
              <a:spcBef>
                <a:spcPct val="0"/>
              </a:spcBef>
            </a:pPr>
            <a:r>
              <a:rPr lang="en-US" altLang="en-US" sz="2400" dirty="0">
                <a:solidFill>
                  <a:srgbClr val="002060"/>
                </a:solidFill>
                <a:latin typeface="Times New Roman" panose="02020603050405020304" pitchFamily="18" charset="0"/>
              </a:rPr>
              <a:t>Pre design for well test pipe line layout</a:t>
            </a:r>
          </a:p>
          <a:p>
            <a:pPr>
              <a:spcBef>
                <a:spcPct val="0"/>
              </a:spcBef>
            </a:pPr>
            <a:r>
              <a:rPr lang="en-US" altLang="en-US" sz="2400" dirty="0">
                <a:solidFill>
                  <a:srgbClr val="002060"/>
                </a:solidFill>
                <a:latin typeface="Times New Roman" panose="02020603050405020304" pitchFamily="18" charset="0"/>
              </a:rPr>
              <a:t>Proper drainage and control box</a:t>
            </a:r>
          </a:p>
          <a:p>
            <a:pPr>
              <a:spcBef>
                <a:spcPct val="0"/>
              </a:spcBef>
            </a:pPr>
            <a:r>
              <a:rPr lang="en-US" altLang="en-US" sz="2400" dirty="0">
                <a:solidFill>
                  <a:srgbClr val="002060"/>
                </a:solidFill>
                <a:latin typeface="Times New Roman" panose="02020603050405020304" pitchFamily="18" charset="0"/>
              </a:rPr>
              <a:t>Direct Under ground drainage from Cellar to cutting Pond</a:t>
            </a:r>
          </a:p>
        </p:txBody>
      </p:sp>
      <p:pic>
        <p:nvPicPr>
          <p:cNvPr id="94214" name="Picture 1"/>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8549641" y="4697254"/>
            <a:ext cx="2005013"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F610651-CF72-4D88-9DF3-9103F3D3A7D9}"/>
              </a:ext>
            </a:extLst>
          </p:cNvPr>
          <p:cNvSpPr txBox="1"/>
          <p:nvPr/>
        </p:nvSpPr>
        <p:spPr>
          <a:xfrm>
            <a:off x="322263" y="6017182"/>
            <a:ext cx="6096000" cy="369332"/>
          </a:xfrm>
          <a:prstGeom prst="rect">
            <a:avLst/>
          </a:prstGeom>
          <a:noFill/>
        </p:spPr>
        <p:txBody>
          <a:bodyPr wrap="square">
            <a:spAutoFit/>
          </a:bodyPr>
          <a:lstStyle/>
          <a:p>
            <a:r>
              <a:rPr lang="en-US" altLang="en-US" sz="1800" dirty="0">
                <a:solidFill>
                  <a:srgbClr val="C00000"/>
                </a:solidFill>
              </a:rPr>
              <a:t>Typical Rig Site Layout</a:t>
            </a:r>
            <a:endParaRPr lang="en-ID" dirty="0"/>
          </a:p>
        </p:txBody>
      </p:sp>
    </p:spTree>
    <p:extLst>
      <p:ext uri="{BB962C8B-B14F-4D97-AF65-F5344CB8AC3E}">
        <p14:creationId xmlns:p14="http://schemas.microsoft.com/office/powerpoint/2010/main" val="2208161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E20961A-8AA9-3F07-52B6-042585764083}"/>
              </a:ext>
            </a:extLst>
          </p:cNvPr>
          <p:cNvSpPr/>
          <p:nvPr/>
        </p:nvSpPr>
        <p:spPr>
          <a:xfrm>
            <a:off x="7591647" y="5135527"/>
            <a:ext cx="4199860" cy="1306315"/>
          </a:xfrm>
          <a:custGeom>
            <a:avLst/>
            <a:gdLst>
              <a:gd name="connsiteX0" fmla="*/ 10632 w 4199860"/>
              <a:gd name="connsiteY0" fmla="*/ 0 h 1499191"/>
              <a:gd name="connsiteX1" fmla="*/ 63795 w 4199860"/>
              <a:gd name="connsiteY1" fmla="*/ 0 h 1499191"/>
              <a:gd name="connsiteX2" fmla="*/ 255181 w 4199860"/>
              <a:gd name="connsiteY2" fmla="*/ 329609 h 1499191"/>
              <a:gd name="connsiteX3" fmla="*/ 584790 w 4199860"/>
              <a:gd name="connsiteY3" fmla="*/ 329609 h 1499191"/>
              <a:gd name="connsiteX4" fmla="*/ 744279 w 4199860"/>
              <a:gd name="connsiteY4" fmla="*/ 616688 h 1499191"/>
              <a:gd name="connsiteX5" fmla="*/ 1137683 w 4199860"/>
              <a:gd name="connsiteY5" fmla="*/ 606056 h 1499191"/>
              <a:gd name="connsiteX6" fmla="*/ 1307804 w 4199860"/>
              <a:gd name="connsiteY6" fmla="*/ 297712 h 1499191"/>
              <a:gd name="connsiteX7" fmla="*/ 1584251 w 4199860"/>
              <a:gd name="connsiteY7" fmla="*/ 297712 h 1499191"/>
              <a:gd name="connsiteX8" fmla="*/ 1988288 w 4199860"/>
              <a:gd name="connsiteY8" fmla="*/ 999460 h 1499191"/>
              <a:gd name="connsiteX9" fmla="*/ 3189767 w 4199860"/>
              <a:gd name="connsiteY9" fmla="*/ 978195 h 1499191"/>
              <a:gd name="connsiteX10" fmla="*/ 3572539 w 4199860"/>
              <a:gd name="connsiteY10" fmla="*/ 308344 h 1499191"/>
              <a:gd name="connsiteX11" fmla="*/ 3668232 w 4199860"/>
              <a:gd name="connsiteY11" fmla="*/ 287079 h 1499191"/>
              <a:gd name="connsiteX12" fmla="*/ 4199860 w 4199860"/>
              <a:gd name="connsiteY12" fmla="*/ 287079 h 1499191"/>
              <a:gd name="connsiteX13" fmla="*/ 4189227 w 4199860"/>
              <a:gd name="connsiteY13" fmla="*/ 1499191 h 1499191"/>
              <a:gd name="connsiteX14" fmla="*/ 0 w 4199860"/>
              <a:gd name="connsiteY14" fmla="*/ 1477925 h 1499191"/>
              <a:gd name="connsiteX15" fmla="*/ 10632 w 4199860"/>
              <a:gd name="connsiteY15" fmla="*/ 0 h 1499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99860" h="1499191">
                <a:moveTo>
                  <a:pt x="10632" y="0"/>
                </a:moveTo>
                <a:lnTo>
                  <a:pt x="63795" y="0"/>
                </a:lnTo>
                <a:lnTo>
                  <a:pt x="255181" y="329609"/>
                </a:lnTo>
                <a:lnTo>
                  <a:pt x="584790" y="329609"/>
                </a:lnTo>
                <a:lnTo>
                  <a:pt x="744279" y="616688"/>
                </a:lnTo>
                <a:lnTo>
                  <a:pt x="1137683" y="606056"/>
                </a:lnTo>
                <a:lnTo>
                  <a:pt x="1307804" y="297712"/>
                </a:lnTo>
                <a:lnTo>
                  <a:pt x="1584251" y="297712"/>
                </a:lnTo>
                <a:lnTo>
                  <a:pt x="1988288" y="999460"/>
                </a:lnTo>
                <a:lnTo>
                  <a:pt x="3189767" y="978195"/>
                </a:lnTo>
                <a:lnTo>
                  <a:pt x="3572539" y="308344"/>
                </a:lnTo>
                <a:lnTo>
                  <a:pt x="3668232" y="287079"/>
                </a:lnTo>
                <a:lnTo>
                  <a:pt x="4199860" y="287079"/>
                </a:lnTo>
                <a:cubicBezTo>
                  <a:pt x="4196316" y="691116"/>
                  <a:pt x="4192771" y="1095154"/>
                  <a:pt x="4189227" y="1499191"/>
                </a:cubicBezTo>
                <a:lnTo>
                  <a:pt x="0" y="1477925"/>
                </a:lnTo>
                <a:lnTo>
                  <a:pt x="10632" y="0"/>
                </a:lnTo>
                <a:close/>
              </a:path>
            </a:pathLst>
          </a:custGeom>
          <a:pattFill prst="pct60">
            <a:fgClr>
              <a:schemeClr val="accent4">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Freeform: Shape 3">
            <a:extLst>
              <a:ext uri="{FF2B5EF4-FFF2-40B4-BE49-F238E27FC236}">
                <a16:creationId xmlns:a16="http://schemas.microsoft.com/office/drawing/2014/main" id="{8C650B48-7A20-2824-A40D-FCAF9EB329F1}"/>
              </a:ext>
            </a:extLst>
          </p:cNvPr>
          <p:cNvSpPr/>
          <p:nvPr/>
        </p:nvSpPr>
        <p:spPr>
          <a:xfrm>
            <a:off x="265814" y="4784651"/>
            <a:ext cx="3931382" cy="1657191"/>
          </a:xfrm>
          <a:custGeom>
            <a:avLst/>
            <a:gdLst>
              <a:gd name="connsiteX0" fmla="*/ 0 w 3923414"/>
              <a:gd name="connsiteY0" fmla="*/ 21265 h 1616149"/>
              <a:gd name="connsiteX1" fmla="*/ 1850065 w 3923414"/>
              <a:gd name="connsiteY1" fmla="*/ 0 h 1616149"/>
              <a:gd name="connsiteX2" fmla="*/ 2030819 w 3923414"/>
              <a:gd name="connsiteY2" fmla="*/ 287079 h 1616149"/>
              <a:gd name="connsiteX3" fmla="*/ 3923414 w 3923414"/>
              <a:gd name="connsiteY3" fmla="*/ 329609 h 1616149"/>
              <a:gd name="connsiteX4" fmla="*/ 3923414 w 3923414"/>
              <a:gd name="connsiteY4" fmla="*/ 1616149 h 1616149"/>
              <a:gd name="connsiteX5" fmla="*/ 0 w 3923414"/>
              <a:gd name="connsiteY5" fmla="*/ 1573619 h 1616149"/>
              <a:gd name="connsiteX6" fmla="*/ 0 w 3923414"/>
              <a:gd name="connsiteY6" fmla="*/ 21265 h 161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3414" h="1616149">
                <a:moveTo>
                  <a:pt x="0" y="21265"/>
                </a:moveTo>
                <a:lnTo>
                  <a:pt x="1850065" y="0"/>
                </a:lnTo>
                <a:lnTo>
                  <a:pt x="2030819" y="287079"/>
                </a:lnTo>
                <a:lnTo>
                  <a:pt x="3923414" y="329609"/>
                </a:lnTo>
                <a:lnTo>
                  <a:pt x="3923414" y="1616149"/>
                </a:lnTo>
                <a:lnTo>
                  <a:pt x="0" y="1573619"/>
                </a:lnTo>
                <a:cubicBezTo>
                  <a:pt x="3544" y="1059712"/>
                  <a:pt x="7089" y="545805"/>
                  <a:pt x="0" y="21265"/>
                </a:cubicBezTo>
                <a:close/>
              </a:path>
            </a:pathLst>
          </a:custGeom>
          <a:pattFill prst="pct60">
            <a:fgClr>
              <a:schemeClr val="accent4">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3874813F-7FB4-4498-FAD0-A0F144AF08E4}"/>
              </a:ext>
            </a:extLst>
          </p:cNvPr>
          <p:cNvSpPr>
            <a:spLocks noGrp="1"/>
          </p:cNvSpPr>
          <p:nvPr>
            <p:ph type="title"/>
          </p:nvPr>
        </p:nvSpPr>
        <p:spPr/>
        <p:txBody>
          <a:bodyPr/>
          <a:lstStyle/>
          <a:p>
            <a:r>
              <a:rPr lang="en-US" dirty="0"/>
              <a:t>Elevated Well-Pad Design</a:t>
            </a:r>
            <a:endParaRPr lang="en-ID" dirty="0"/>
          </a:p>
        </p:txBody>
      </p:sp>
      <p:grpSp>
        <p:nvGrpSpPr>
          <p:cNvPr id="6" name="Group 5">
            <a:extLst>
              <a:ext uri="{FF2B5EF4-FFF2-40B4-BE49-F238E27FC236}">
                <a16:creationId xmlns:a16="http://schemas.microsoft.com/office/drawing/2014/main" id="{7D211C2F-C78E-73B9-32AF-ABC168AC1A38}"/>
              </a:ext>
            </a:extLst>
          </p:cNvPr>
          <p:cNvGrpSpPr/>
          <p:nvPr/>
        </p:nvGrpSpPr>
        <p:grpSpPr>
          <a:xfrm>
            <a:off x="235527" y="4771900"/>
            <a:ext cx="7938302" cy="641270"/>
            <a:chOff x="235527" y="4771900"/>
            <a:chExt cx="7938302" cy="641270"/>
          </a:xfrm>
        </p:grpSpPr>
        <p:cxnSp>
          <p:nvCxnSpPr>
            <p:cNvPr id="14" name="Straight Connector 13">
              <a:extLst>
                <a:ext uri="{FF2B5EF4-FFF2-40B4-BE49-F238E27FC236}">
                  <a16:creationId xmlns:a16="http://schemas.microsoft.com/office/drawing/2014/main" id="{F9F485F7-18F3-DF51-B40B-A8BD8030FED0}"/>
                </a:ext>
              </a:extLst>
            </p:cNvPr>
            <p:cNvCxnSpPr>
              <a:cxnSpLocks/>
            </p:cNvCxnSpPr>
            <p:nvPr/>
          </p:nvCxnSpPr>
          <p:spPr>
            <a:xfrm>
              <a:off x="7841321" y="5413170"/>
              <a:ext cx="332508" cy="0"/>
            </a:xfrm>
            <a:prstGeom prst="line">
              <a:avLst/>
            </a:prstGeom>
            <a:ln w="38100">
              <a:solidFill>
                <a:srgbClr val="CC66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905E24B-938B-693D-D3D2-3A702C0D6ACF}"/>
                </a:ext>
              </a:extLst>
            </p:cNvPr>
            <p:cNvCxnSpPr>
              <a:cxnSpLocks/>
            </p:cNvCxnSpPr>
            <p:nvPr/>
          </p:nvCxnSpPr>
          <p:spPr>
            <a:xfrm>
              <a:off x="2303637" y="5092535"/>
              <a:ext cx="5357751" cy="0"/>
            </a:xfrm>
            <a:prstGeom prst="line">
              <a:avLst/>
            </a:prstGeom>
            <a:ln w="38100">
              <a:solidFill>
                <a:srgbClr val="CC66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ADE323-0C5C-1BDB-04E9-E90A8E1F9117}"/>
                </a:ext>
              </a:extLst>
            </p:cNvPr>
            <p:cNvCxnSpPr/>
            <p:nvPr/>
          </p:nvCxnSpPr>
          <p:spPr>
            <a:xfrm>
              <a:off x="235527" y="4771900"/>
              <a:ext cx="1888177" cy="0"/>
            </a:xfrm>
            <a:prstGeom prst="line">
              <a:avLst/>
            </a:prstGeom>
            <a:ln w="38100">
              <a:solidFill>
                <a:srgbClr val="CC66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5FEABD0-C8E4-7BE2-70EF-2D8610DF3E48}"/>
                </a:ext>
              </a:extLst>
            </p:cNvPr>
            <p:cNvCxnSpPr>
              <a:cxnSpLocks/>
            </p:cNvCxnSpPr>
            <p:nvPr/>
          </p:nvCxnSpPr>
          <p:spPr>
            <a:xfrm>
              <a:off x="2123704" y="4771900"/>
              <a:ext cx="179933" cy="320635"/>
            </a:xfrm>
            <a:prstGeom prst="line">
              <a:avLst/>
            </a:prstGeom>
            <a:ln w="38100">
              <a:solidFill>
                <a:srgbClr val="CC66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787137F-C77C-0C05-EE87-289F990847B7}"/>
                </a:ext>
              </a:extLst>
            </p:cNvPr>
            <p:cNvCxnSpPr>
              <a:cxnSpLocks/>
            </p:cNvCxnSpPr>
            <p:nvPr/>
          </p:nvCxnSpPr>
          <p:spPr>
            <a:xfrm>
              <a:off x="7661388" y="5092535"/>
              <a:ext cx="179933" cy="320635"/>
            </a:xfrm>
            <a:prstGeom prst="line">
              <a:avLst/>
            </a:prstGeom>
            <a:ln w="38100">
              <a:solidFill>
                <a:srgbClr val="CC6600"/>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D176F6D6-1D1D-1FB5-BF4C-9C596CD7C2ED}"/>
              </a:ext>
            </a:extLst>
          </p:cNvPr>
          <p:cNvCxnSpPr>
            <a:cxnSpLocks/>
          </p:cNvCxnSpPr>
          <p:nvPr/>
        </p:nvCxnSpPr>
        <p:spPr>
          <a:xfrm>
            <a:off x="8173829" y="5413171"/>
            <a:ext cx="179933" cy="3206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E3A1808-0D2B-5FFE-A2A2-D564698AC05C}"/>
              </a:ext>
            </a:extLst>
          </p:cNvPr>
          <p:cNvCxnSpPr>
            <a:cxnSpLocks/>
          </p:cNvCxnSpPr>
          <p:nvPr/>
        </p:nvCxnSpPr>
        <p:spPr>
          <a:xfrm>
            <a:off x="8353762" y="5733806"/>
            <a:ext cx="3325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0A48CFA-CC78-1C93-DBB9-7D6611115FBB}"/>
              </a:ext>
            </a:extLst>
          </p:cNvPr>
          <p:cNvCxnSpPr>
            <a:cxnSpLocks/>
          </p:cNvCxnSpPr>
          <p:nvPr/>
        </p:nvCxnSpPr>
        <p:spPr>
          <a:xfrm>
            <a:off x="9198711" y="5413171"/>
            <a:ext cx="394740" cy="703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BEE4769-BBC5-191E-6F3F-950385A162E3}"/>
              </a:ext>
            </a:extLst>
          </p:cNvPr>
          <p:cNvCxnSpPr>
            <a:cxnSpLocks/>
          </p:cNvCxnSpPr>
          <p:nvPr/>
        </p:nvCxnSpPr>
        <p:spPr>
          <a:xfrm flipH="1">
            <a:off x="8686270" y="5413171"/>
            <a:ext cx="179933" cy="32063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5A5790-0C64-98A1-F532-8B7973D81B54}"/>
              </a:ext>
            </a:extLst>
          </p:cNvPr>
          <p:cNvCxnSpPr>
            <a:cxnSpLocks/>
          </p:cNvCxnSpPr>
          <p:nvPr/>
        </p:nvCxnSpPr>
        <p:spPr>
          <a:xfrm>
            <a:off x="8866203" y="5413170"/>
            <a:ext cx="332508" cy="0"/>
          </a:xfrm>
          <a:prstGeom prst="line">
            <a:avLst/>
          </a:prstGeom>
          <a:ln w="38100">
            <a:solidFill>
              <a:srgbClr val="CC66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CADB681-367B-5937-5947-FF23EF7CF125}"/>
              </a:ext>
            </a:extLst>
          </p:cNvPr>
          <p:cNvCxnSpPr>
            <a:cxnSpLocks/>
          </p:cNvCxnSpPr>
          <p:nvPr/>
        </p:nvCxnSpPr>
        <p:spPr>
          <a:xfrm>
            <a:off x="9593451" y="6116585"/>
            <a:ext cx="116237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8F486DF-9667-18A8-111B-C109660D5D1E}"/>
              </a:ext>
            </a:extLst>
          </p:cNvPr>
          <p:cNvCxnSpPr>
            <a:cxnSpLocks/>
          </p:cNvCxnSpPr>
          <p:nvPr/>
        </p:nvCxnSpPr>
        <p:spPr>
          <a:xfrm flipH="1">
            <a:off x="10755824" y="5413171"/>
            <a:ext cx="394740" cy="703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0765B7-9D2D-C5AB-E6A1-C44F0A26F766}"/>
              </a:ext>
            </a:extLst>
          </p:cNvPr>
          <p:cNvCxnSpPr>
            <a:cxnSpLocks/>
          </p:cNvCxnSpPr>
          <p:nvPr/>
        </p:nvCxnSpPr>
        <p:spPr>
          <a:xfrm>
            <a:off x="11150564" y="5413170"/>
            <a:ext cx="659144" cy="0"/>
          </a:xfrm>
          <a:prstGeom prst="line">
            <a:avLst/>
          </a:prstGeom>
          <a:ln w="38100">
            <a:solidFill>
              <a:srgbClr val="CC6600"/>
            </a:solidFill>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5170DCAD-C6A7-DD6B-1614-E84A259401E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197196" y="1512830"/>
            <a:ext cx="3408620" cy="4929013"/>
          </a:xfrm>
          <a:prstGeom prst="rect">
            <a:avLst/>
          </a:prstGeom>
        </p:spPr>
      </p:pic>
      <p:pic>
        <p:nvPicPr>
          <p:cNvPr id="38" name="Picture 37">
            <a:extLst>
              <a:ext uri="{FF2B5EF4-FFF2-40B4-BE49-F238E27FC236}">
                <a16:creationId xmlns:a16="http://schemas.microsoft.com/office/drawing/2014/main" id="{22444A75-5739-01B4-BAD5-C35B8D400774}"/>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922254" y="3869182"/>
            <a:ext cx="1023217" cy="1194182"/>
          </a:xfrm>
          <a:prstGeom prst="rect">
            <a:avLst/>
          </a:prstGeom>
        </p:spPr>
      </p:pic>
      <p:sp>
        <p:nvSpPr>
          <p:cNvPr id="39" name="Trapezoid 38">
            <a:extLst>
              <a:ext uri="{FF2B5EF4-FFF2-40B4-BE49-F238E27FC236}">
                <a16:creationId xmlns:a16="http://schemas.microsoft.com/office/drawing/2014/main" id="{8D0704FE-8EF3-9FC4-DF40-EE3FCFAFEB85}"/>
              </a:ext>
            </a:extLst>
          </p:cNvPr>
          <p:cNvSpPr/>
          <p:nvPr/>
        </p:nvSpPr>
        <p:spPr>
          <a:xfrm flipV="1">
            <a:off x="9229724" y="5464172"/>
            <a:ext cx="1889125" cy="652409"/>
          </a:xfrm>
          <a:prstGeom prst="trapezoid">
            <a:avLst>
              <a:gd name="adj" fmla="val 53713"/>
            </a:avLst>
          </a:prstGeom>
          <a:solidFill>
            <a:schemeClr val="accent5">
              <a:lumMod val="40000"/>
              <a:lumOff val="6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rapezoid 41">
            <a:extLst>
              <a:ext uri="{FF2B5EF4-FFF2-40B4-BE49-F238E27FC236}">
                <a16:creationId xmlns:a16="http://schemas.microsoft.com/office/drawing/2014/main" id="{77F62A34-B060-51F8-9B1C-87308C7C9653}"/>
              </a:ext>
            </a:extLst>
          </p:cNvPr>
          <p:cNvSpPr/>
          <p:nvPr/>
        </p:nvSpPr>
        <p:spPr>
          <a:xfrm flipV="1">
            <a:off x="8207555" y="5464169"/>
            <a:ext cx="625295" cy="269635"/>
          </a:xfrm>
          <a:prstGeom prst="trapezoid">
            <a:avLst>
              <a:gd name="adj" fmla="val 53713"/>
            </a:avLst>
          </a:prstGeom>
          <a:solidFill>
            <a:schemeClr val="accent5">
              <a:lumMod val="40000"/>
              <a:lumOff val="6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3" name="Trapezoid 42">
            <a:extLst>
              <a:ext uri="{FF2B5EF4-FFF2-40B4-BE49-F238E27FC236}">
                <a16:creationId xmlns:a16="http://schemas.microsoft.com/office/drawing/2014/main" id="{DF027B4D-D0F7-769A-2AD8-960292B261E4}"/>
              </a:ext>
            </a:extLst>
          </p:cNvPr>
          <p:cNvSpPr/>
          <p:nvPr/>
        </p:nvSpPr>
        <p:spPr>
          <a:xfrm flipV="1">
            <a:off x="8277226" y="5595463"/>
            <a:ext cx="490964" cy="138339"/>
          </a:xfrm>
          <a:prstGeom prst="trapezoid">
            <a:avLst>
              <a:gd name="adj" fmla="val 53713"/>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4" name="Trapezoid 43">
            <a:extLst>
              <a:ext uri="{FF2B5EF4-FFF2-40B4-BE49-F238E27FC236}">
                <a16:creationId xmlns:a16="http://schemas.microsoft.com/office/drawing/2014/main" id="{085C74AB-6944-354C-EC67-5D8B0B513435}"/>
              </a:ext>
            </a:extLst>
          </p:cNvPr>
          <p:cNvSpPr/>
          <p:nvPr/>
        </p:nvSpPr>
        <p:spPr>
          <a:xfrm flipV="1">
            <a:off x="9545338" y="6061073"/>
            <a:ext cx="1256011" cy="55507"/>
          </a:xfrm>
          <a:prstGeom prst="trapezoid">
            <a:avLst>
              <a:gd name="adj" fmla="val 53713"/>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0" name="Rectangle 39">
            <a:extLst>
              <a:ext uri="{FF2B5EF4-FFF2-40B4-BE49-F238E27FC236}">
                <a16:creationId xmlns:a16="http://schemas.microsoft.com/office/drawing/2014/main" id="{F4A23BB5-7A0A-AC24-A45D-7A8729FB8F76}"/>
              </a:ext>
            </a:extLst>
          </p:cNvPr>
          <p:cNvSpPr/>
          <p:nvPr/>
        </p:nvSpPr>
        <p:spPr>
          <a:xfrm>
            <a:off x="6026749" y="5165323"/>
            <a:ext cx="1745321" cy="45719"/>
          </a:xfrm>
          <a:prstGeom prst="rect">
            <a:avLst/>
          </a:prstGeom>
          <a:solidFill>
            <a:srgbClr val="FFFF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5" name="Straight Connector 44">
            <a:extLst>
              <a:ext uri="{FF2B5EF4-FFF2-40B4-BE49-F238E27FC236}">
                <a16:creationId xmlns:a16="http://schemas.microsoft.com/office/drawing/2014/main" id="{1C9701EB-78ED-E073-CA5D-8F2038717457}"/>
              </a:ext>
            </a:extLst>
          </p:cNvPr>
          <p:cNvCxnSpPr>
            <a:cxnSpLocks/>
          </p:cNvCxnSpPr>
          <p:nvPr/>
        </p:nvCxnSpPr>
        <p:spPr>
          <a:xfrm>
            <a:off x="8801854" y="5509846"/>
            <a:ext cx="452896" cy="0"/>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pic>
        <p:nvPicPr>
          <p:cNvPr id="47" name="Picture 46">
            <a:extLst>
              <a:ext uri="{FF2B5EF4-FFF2-40B4-BE49-F238E27FC236}">
                <a16:creationId xmlns:a16="http://schemas.microsoft.com/office/drawing/2014/main" id="{20EEB1DF-6EDD-8D18-4A92-2A417A8C967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82993" y="3685033"/>
            <a:ext cx="1328389" cy="996292"/>
          </a:xfrm>
          <a:prstGeom prst="rect">
            <a:avLst/>
          </a:prstGeom>
        </p:spPr>
      </p:pic>
      <p:sp>
        <p:nvSpPr>
          <p:cNvPr id="3" name="TextBox 2">
            <a:extLst>
              <a:ext uri="{FF2B5EF4-FFF2-40B4-BE49-F238E27FC236}">
                <a16:creationId xmlns:a16="http://schemas.microsoft.com/office/drawing/2014/main" id="{E47D93F2-460D-58B2-235B-1F24112B23BF}"/>
              </a:ext>
            </a:extLst>
          </p:cNvPr>
          <p:cNvSpPr txBox="1"/>
          <p:nvPr/>
        </p:nvSpPr>
        <p:spPr>
          <a:xfrm>
            <a:off x="7661388" y="4262407"/>
            <a:ext cx="3285643" cy="307777"/>
          </a:xfrm>
          <a:prstGeom prst="rect">
            <a:avLst/>
          </a:prstGeom>
          <a:noFill/>
        </p:spPr>
        <p:txBody>
          <a:bodyPr wrap="none" rtlCol="0">
            <a:spAutoFit/>
          </a:bodyPr>
          <a:lstStyle/>
          <a:p>
            <a:r>
              <a:rPr lang="en-US" sz="1400" dirty="0"/>
              <a:t>Drainage Line from Cellar to Mud Pond</a:t>
            </a:r>
            <a:endParaRPr lang="en-ID" sz="1400" dirty="0"/>
          </a:p>
        </p:txBody>
      </p:sp>
      <p:cxnSp>
        <p:nvCxnSpPr>
          <p:cNvPr id="8" name="Straight Arrow Connector 7">
            <a:extLst>
              <a:ext uri="{FF2B5EF4-FFF2-40B4-BE49-F238E27FC236}">
                <a16:creationId xmlns:a16="http://schemas.microsoft.com/office/drawing/2014/main" id="{AC8FAD38-4B89-3C90-8A21-85D6AE39D695}"/>
              </a:ext>
            </a:extLst>
          </p:cNvPr>
          <p:cNvCxnSpPr>
            <a:stCxn id="40" idx="3"/>
          </p:cNvCxnSpPr>
          <p:nvPr/>
        </p:nvCxnSpPr>
        <p:spPr>
          <a:xfrm flipV="1">
            <a:off x="7772070" y="4528789"/>
            <a:ext cx="283770" cy="65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796793D-FB80-8DA4-0162-7D3A1E369428}"/>
              </a:ext>
            </a:extLst>
          </p:cNvPr>
          <p:cNvSpPr txBox="1"/>
          <p:nvPr/>
        </p:nvSpPr>
        <p:spPr>
          <a:xfrm>
            <a:off x="8143506" y="4959928"/>
            <a:ext cx="875272" cy="523220"/>
          </a:xfrm>
          <a:prstGeom prst="rect">
            <a:avLst/>
          </a:prstGeom>
          <a:noFill/>
        </p:spPr>
        <p:txBody>
          <a:bodyPr wrap="square" rtlCol="0">
            <a:spAutoFit/>
          </a:bodyPr>
          <a:lstStyle/>
          <a:p>
            <a:r>
              <a:rPr lang="en-US" sz="1400" dirty="0"/>
              <a:t>Settling Pond</a:t>
            </a:r>
            <a:endParaRPr lang="en-ID" sz="1400" dirty="0"/>
          </a:p>
        </p:txBody>
      </p:sp>
      <p:sp>
        <p:nvSpPr>
          <p:cNvPr id="33" name="TextBox 32">
            <a:extLst>
              <a:ext uri="{FF2B5EF4-FFF2-40B4-BE49-F238E27FC236}">
                <a16:creationId xmlns:a16="http://schemas.microsoft.com/office/drawing/2014/main" id="{28A524EA-7731-9332-BF3F-F6999867132C}"/>
              </a:ext>
            </a:extLst>
          </p:cNvPr>
          <p:cNvSpPr txBox="1"/>
          <p:nvPr/>
        </p:nvSpPr>
        <p:spPr>
          <a:xfrm>
            <a:off x="9194950" y="5049170"/>
            <a:ext cx="1877117" cy="307777"/>
          </a:xfrm>
          <a:prstGeom prst="rect">
            <a:avLst/>
          </a:prstGeom>
          <a:noFill/>
        </p:spPr>
        <p:txBody>
          <a:bodyPr wrap="none" rtlCol="0">
            <a:spAutoFit/>
          </a:bodyPr>
          <a:lstStyle/>
          <a:p>
            <a:r>
              <a:rPr lang="en-US" sz="1400" dirty="0"/>
              <a:t>Water and Mud Pond</a:t>
            </a:r>
            <a:endParaRPr lang="en-ID" sz="1400" dirty="0"/>
          </a:p>
        </p:txBody>
      </p:sp>
      <p:sp>
        <p:nvSpPr>
          <p:cNvPr id="7" name="TextBox 6">
            <a:extLst>
              <a:ext uri="{FF2B5EF4-FFF2-40B4-BE49-F238E27FC236}">
                <a16:creationId xmlns:a16="http://schemas.microsoft.com/office/drawing/2014/main" id="{A22E95D0-88B2-CBB0-C6BC-CC0064105609}"/>
              </a:ext>
            </a:extLst>
          </p:cNvPr>
          <p:cNvSpPr txBox="1"/>
          <p:nvPr/>
        </p:nvSpPr>
        <p:spPr>
          <a:xfrm>
            <a:off x="7283303" y="1384949"/>
            <a:ext cx="4908698" cy="2308324"/>
          </a:xfrm>
          <a:prstGeom prst="rect">
            <a:avLst/>
          </a:prstGeom>
          <a:noFill/>
        </p:spPr>
        <p:txBody>
          <a:bodyPr wrap="square" rtlCol="0">
            <a:spAutoFit/>
          </a:bodyPr>
          <a:lstStyle/>
          <a:p>
            <a:pPr marL="285750" indent="-285750">
              <a:buFont typeface="Arial" panose="020B0604020202020204" pitchFamily="34" charset="0"/>
              <a:buChar char="•"/>
            </a:pPr>
            <a:r>
              <a:rPr lang="en-US" dirty="0"/>
              <a:t>Mini camp area could be higher elevation than rig elevation.</a:t>
            </a:r>
          </a:p>
          <a:p>
            <a:pPr marL="285750" indent="-285750">
              <a:buFont typeface="Arial" panose="020B0604020202020204" pitchFamily="34" charset="0"/>
              <a:buChar char="•"/>
            </a:pPr>
            <a:r>
              <a:rPr lang="en-US" dirty="0"/>
              <a:t>Distance between Cellar </a:t>
            </a:r>
            <a:r>
              <a:rPr lang="en-US" dirty="0">
                <a:sym typeface="Wingdings" panose="05000000000000000000" pitchFamily="2" charset="2"/>
              </a:rPr>
              <a:t> </a:t>
            </a:r>
            <a:r>
              <a:rPr lang="en-US" dirty="0"/>
              <a:t>Well accessibility after being drilled</a:t>
            </a:r>
          </a:p>
          <a:p>
            <a:pPr marL="285750" indent="-285750">
              <a:buFont typeface="Arial" panose="020B0604020202020204" pitchFamily="34" charset="0"/>
              <a:buChar char="•"/>
            </a:pPr>
            <a:r>
              <a:rPr lang="en-US" dirty="0"/>
              <a:t>Water flow by gravity to water pond.</a:t>
            </a:r>
          </a:p>
          <a:p>
            <a:pPr marL="285750" indent="-285750">
              <a:buFont typeface="Arial" panose="020B0604020202020204" pitchFamily="34" charset="0"/>
              <a:buChar char="•"/>
            </a:pPr>
            <a:r>
              <a:rPr lang="en-US" dirty="0"/>
              <a:t>SIMOP: Pipeline layout not interfere with Rig Equipment layout.</a:t>
            </a:r>
          </a:p>
          <a:p>
            <a:pPr marL="285750" indent="-285750">
              <a:buFont typeface="Arial" panose="020B0604020202020204" pitchFamily="34" charset="0"/>
              <a:buChar char="•"/>
            </a:pPr>
            <a:endParaRPr lang="en-US" dirty="0"/>
          </a:p>
        </p:txBody>
      </p:sp>
      <p:sp>
        <p:nvSpPr>
          <p:cNvPr id="9" name="TextBox 8">
            <a:extLst>
              <a:ext uri="{FF2B5EF4-FFF2-40B4-BE49-F238E27FC236}">
                <a16:creationId xmlns:a16="http://schemas.microsoft.com/office/drawing/2014/main" id="{80032DBD-C48F-AE74-F483-33F5F335281A}"/>
              </a:ext>
            </a:extLst>
          </p:cNvPr>
          <p:cNvSpPr txBox="1"/>
          <p:nvPr/>
        </p:nvSpPr>
        <p:spPr>
          <a:xfrm>
            <a:off x="2957793" y="3115933"/>
            <a:ext cx="1294295" cy="738664"/>
          </a:xfrm>
          <a:prstGeom prst="rect">
            <a:avLst/>
          </a:prstGeom>
          <a:noFill/>
        </p:spPr>
        <p:txBody>
          <a:bodyPr wrap="square" rtlCol="0">
            <a:spAutoFit/>
          </a:bodyPr>
          <a:lstStyle/>
          <a:p>
            <a:r>
              <a:rPr lang="en-US" sz="1400" dirty="0"/>
              <a:t>Access for Heavy Equipment </a:t>
            </a:r>
            <a:endParaRPr lang="en-ID" sz="1400" dirty="0"/>
          </a:p>
        </p:txBody>
      </p:sp>
      <p:sp>
        <p:nvSpPr>
          <p:cNvPr id="10" name="TextBox 9">
            <a:extLst>
              <a:ext uri="{FF2B5EF4-FFF2-40B4-BE49-F238E27FC236}">
                <a16:creationId xmlns:a16="http://schemas.microsoft.com/office/drawing/2014/main" id="{3D0B9D92-B8DF-5581-C6AF-0A7BB00D6B6F}"/>
              </a:ext>
            </a:extLst>
          </p:cNvPr>
          <p:cNvSpPr txBox="1"/>
          <p:nvPr/>
        </p:nvSpPr>
        <p:spPr>
          <a:xfrm>
            <a:off x="371123" y="3015834"/>
            <a:ext cx="1294295" cy="523220"/>
          </a:xfrm>
          <a:prstGeom prst="rect">
            <a:avLst/>
          </a:prstGeom>
          <a:noFill/>
        </p:spPr>
        <p:txBody>
          <a:bodyPr wrap="square" rtlCol="0">
            <a:spAutoFit/>
          </a:bodyPr>
          <a:lstStyle/>
          <a:p>
            <a:r>
              <a:rPr lang="en-US" sz="1400" dirty="0"/>
              <a:t>Place for Mini Camps</a:t>
            </a:r>
            <a:endParaRPr lang="en-ID" sz="1400" dirty="0"/>
          </a:p>
        </p:txBody>
      </p:sp>
    </p:spTree>
    <p:extLst>
      <p:ext uri="{BB962C8B-B14F-4D97-AF65-F5344CB8AC3E}">
        <p14:creationId xmlns:p14="http://schemas.microsoft.com/office/powerpoint/2010/main" val="35689215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36D41-F0C9-C450-8DEF-DA7D2389D7F1}"/>
              </a:ext>
            </a:extLst>
          </p:cNvPr>
          <p:cNvSpPr>
            <a:spLocks noGrp="1"/>
          </p:cNvSpPr>
          <p:nvPr>
            <p:ph type="title"/>
          </p:nvPr>
        </p:nvSpPr>
        <p:spPr/>
        <p:txBody>
          <a:bodyPr/>
          <a:lstStyle/>
          <a:p>
            <a:r>
              <a:rPr lang="en-US" dirty="0"/>
              <a:t>Layout higher elevation for Rig Mini Camps</a:t>
            </a:r>
            <a:endParaRPr lang="en-ID" dirty="0"/>
          </a:p>
        </p:txBody>
      </p:sp>
      <p:pic>
        <p:nvPicPr>
          <p:cNvPr id="4" name="Picture 3">
            <a:extLst>
              <a:ext uri="{FF2B5EF4-FFF2-40B4-BE49-F238E27FC236}">
                <a16:creationId xmlns:a16="http://schemas.microsoft.com/office/drawing/2014/main" id="{ED039C24-AB35-FD37-1CFA-04F5BEB800E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0167" y="1364795"/>
            <a:ext cx="6161779" cy="4621334"/>
          </a:xfrm>
          <a:prstGeom prst="rect">
            <a:avLst/>
          </a:prstGeom>
        </p:spPr>
      </p:pic>
      <p:pic>
        <p:nvPicPr>
          <p:cNvPr id="5" name="Picture 4">
            <a:extLst>
              <a:ext uri="{FF2B5EF4-FFF2-40B4-BE49-F238E27FC236}">
                <a16:creationId xmlns:a16="http://schemas.microsoft.com/office/drawing/2014/main" id="{D9D8069F-8C16-6A9A-4DFE-DB8E814DD66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379533" y="1364795"/>
            <a:ext cx="6161779" cy="4621334"/>
          </a:xfrm>
          <a:prstGeom prst="rect">
            <a:avLst/>
          </a:prstGeom>
        </p:spPr>
      </p:pic>
    </p:spTree>
    <p:extLst>
      <p:ext uri="{BB962C8B-B14F-4D97-AF65-F5344CB8AC3E}">
        <p14:creationId xmlns:p14="http://schemas.microsoft.com/office/powerpoint/2010/main" val="33354103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A152-6488-9D8F-EA6F-978A2A063A07}"/>
              </a:ext>
            </a:extLst>
          </p:cNvPr>
          <p:cNvSpPr>
            <a:spLocks noGrp="1"/>
          </p:cNvSpPr>
          <p:nvPr>
            <p:ph type="title"/>
          </p:nvPr>
        </p:nvSpPr>
        <p:spPr/>
        <p:txBody>
          <a:bodyPr/>
          <a:lstStyle/>
          <a:p>
            <a:r>
              <a:rPr lang="en-US" dirty="0"/>
              <a:t>Mud Pond Size and Design</a:t>
            </a:r>
            <a:endParaRPr lang="en-ID" dirty="0"/>
          </a:p>
        </p:txBody>
      </p:sp>
      <p:sp>
        <p:nvSpPr>
          <p:cNvPr id="7" name="Rectangle: Beveled 6">
            <a:extLst>
              <a:ext uri="{FF2B5EF4-FFF2-40B4-BE49-F238E27FC236}">
                <a16:creationId xmlns:a16="http://schemas.microsoft.com/office/drawing/2014/main" id="{6DAA267A-0400-0F52-6690-C1B6DA741EC4}"/>
              </a:ext>
            </a:extLst>
          </p:cNvPr>
          <p:cNvSpPr/>
          <p:nvPr/>
        </p:nvSpPr>
        <p:spPr>
          <a:xfrm>
            <a:off x="5677789" y="1850062"/>
            <a:ext cx="2668772" cy="1832344"/>
          </a:xfrm>
          <a:prstGeom prst="bevel">
            <a:avLst>
              <a:gd name="adj" fmla="val 165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Water Pond</a:t>
            </a:r>
          </a:p>
          <a:p>
            <a:pPr algn="ctr"/>
            <a:r>
              <a:rPr lang="en-US" dirty="0"/>
              <a:t>4000 M3</a:t>
            </a:r>
            <a:endParaRPr lang="en-ID" dirty="0"/>
          </a:p>
        </p:txBody>
      </p:sp>
      <p:sp>
        <p:nvSpPr>
          <p:cNvPr id="8" name="Rectangle: Beveled 7">
            <a:extLst>
              <a:ext uri="{FF2B5EF4-FFF2-40B4-BE49-F238E27FC236}">
                <a16:creationId xmlns:a16="http://schemas.microsoft.com/office/drawing/2014/main" id="{DE61B82B-01F7-BED3-BC66-BE961A8FB3DA}"/>
              </a:ext>
            </a:extLst>
          </p:cNvPr>
          <p:cNvSpPr/>
          <p:nvPr/>
        </p:nvSpPr>
        <p:spPr>
          <a:xfrm>
            <a:off x="5677789" y="3884424"/>
            <a:ext cx="2668772" cy="1832344"/>
          </a:xfrm>
          <a:prstGeom prst="bevel">
            <a:avLst>
              <a:gd name="adj" fmla="val 165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Mud Pond</a:t>
            </a:r>
          </a:p>
          <a:p>
            <a:pPr algn="ctr"/>
            <a:r>
              <a:rPr lang="en-US" dirty="0"/>
              <a:t>4000 M3</a:t>
            </a:r>
            <a:endParaRPr lang="en-ID" dirty="0"/>
          </a:p>
        </p:txBody>
      </p:sp>
      <p:sp>
        <p:nvSpPr>
          <p:cNvPr id="9" name="Rectangle: Beveled 8">
            <a:extLst>
              <a:ext uri="{FF2B5EF4-FFF2-40B4-BE49-F238E27FC236}">
                <a16:creationId xmlns:a16="http://schemas.microsoft.com/office/drawing/2014/main" id="{CBC26BBE-3593-C8AA-74B3-5CE14235866D}"/>
              </a:ext>
            </a:extLst>
          </p:cNvPr>
          <p:cNvSpPr/>
          <p:nvPr/>
        </p:nvSpPr>
        <p:spPr>
          <a:xfrm>
            <a:off x="4830728" y="1821742"/>
            <a:ext cx="570614" cy="3895026"/>
          </a:xfrm>
          <a:prstGeom prst="bevel">
            <a:avLst>
              <a:gd name="adj" fmla="val 16562"/>
            </a:avLst>
          </a:prstGeom>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dirty="0"/>
              <a:t>Settling Pond</a:t>
            </a:r>
            <a:endParaRPr lang="en-ID" dirty="0"/>
          </a:p>
        </p:txBody>
      </p:sp>
      <p:sp>
        <p:nvSpPr>
          <p:cNvPr id="10" name="Rectangle 9">
            <a:extLst>
              <a:ext uri="{FF2B5EF4-FFF2-40B4-BE49-F238E27FC236}">
                <a16:creationId xmlns:a16="http://schemas.microsoft.com/office/drawing/2014/main" id="{76A3F9D2-F8CB-7F54-60FE-C4D00CCDAD4C}"/>
              </a:ext>
            </a:extLst>
          </p:cNvPr>
          <p:cNvSpPr/>
          <p:nvPr/>
        </p:nvSpPr>
        <p:spPr>
          <a:xfrm>
            <a:off x="521207" y="3046241"/>
            <a:ext cx="1188720" cy="11887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C3300"/>
                </a:solidFill>
              </a:rPr>
              <a:t>Cellar</a:t>
            </a:r>
            <a:endParaRPr lang="en-ID" dirty="0">
              <a:solidFill>
                <a:srgbClr val="CC3300"/>
              </a:solidFill>
            </a:endParaRPr>
          </a:p>
        </p:txBody>
      </p:sp>
      <p:sp>
        <p:nvSpPr>
          <p:cNvPr id="11" name="Rectangle 10">
            <a:extLst>
              <a:ext uri="{FF2B5EF4-FFF2-40B4-BE49-F238E27FC236}">
                <a16:creationId xmlns:a16="http://schemas.microsoft.com/office/drawing/2014/main" id="{2BAE4732-E84F-5A4F-5234-5C6BC1560322}"/>
              </a:ext>
            </a:extLst>
          </p:cNvPr>
          <p:cNvSpPr/>
          <p:nvPr/>
        </p:nvSpPr>
        <p:spPr>
          <a:xfrm>
            <a:off x="1709927" y="3640601"/>
            <a:ext cx="3255478" cy="12332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12" name="TextBox 11">
            <a:extLst>
              <a:ext uri="{FF2B5EF4-FFF2-40B4-BE49-F238E27FC236}">
                <a16:creationId xmlns:a16="http://schemas.microsoft.com/office/drawing/2014/main" id="{B296C814-BB82-5056-CEA3-56DA3C79B459}"/>
              </a:ext>
            </a:extLst>
          </p:cNvPr>
          <p:cNvSpPr txBox="1"/>
          <p:nvPr/>
        </p:nvSpPr>
        <p:spPr>
          <a:xfrm>
            <a:off x="1741421" y="3217399"/>
            <a:ext cx="3089307" cy="923330"/>
          </a:xfrm>
          <a:prstGeom prst="rect">
            <a:avLst/>
          </a:prstGeom>
          <a:noFill/>
        </p:spPr>
        <p:txBody>
          <a:bodyPr wrap="none" rtlCol="0">
            <a:spAutoFit/>
          </a:bodyPr>
          <a:lstStyle/>
          <a:p>
            <a:r>
              <a:rPr lang="en-US" dirty="0"/>
              <a:t>Drainage f/ Cellar</a:t>
            </a:r>
          </a:p>
          <a:p>
            <a:endParaRPr lang="en-US" dirty="0"/>
          </a:p>
          <a:p>
            <a:r>
              <a:rPr lang="en-US" dirty="0"/>
              <a:t>Prefer open drainage system</a:t>
            </a:r>
            <a:endParaRPr lang="en-ID" dirty="0"/>
          </a:p>
        </p:txBody>
      </p:sp>
      <p:sp>
        <p:nvSpPr>
          <p:cNvPr id="3" name="TextBox 2">
            <a:extLst>
              <a:ext uri="{FF2B5EF4-FFF2-40B4-BE49-F238E27FC236}">
                <a16:creationId xmlns:a16="http://schemas.microsoft.com/office/drawing/2014/main" id="{197B1CD1-CE5E-E81B-CD58-0D62F555B161}"/>
              </a:ext>
            </a:extLst>
          </p:cNvPr>
          <p:cNvSpPr txBox="1"/>
          <p:nvPr/>
        </p:nvSpPr>
        <p:spPr>
          <a:xfrm>
            <a:off x="8361377" y="1972095"/>
            <a:ext cx="3572537" cy="1569660"/>
          </a:xfrm>
          <a:prstGeom prst="rect">
            <a:avLst/>
          </a:prstGeom>
          <a:noFill/>
        </p:spPr>
        <p:txBody>
          <a:bodyPr wrap="square" rtlCol="0">
            <a:spAutoFit/>
          </a:bodyPr>
          <a:lstStyle/>
          <a:p>
            <a:r>
              <a:rPr lang="en-US" sz="2400" dirty="0">
                <a:solidFill>
                  <a:schemeClr val="accent2">
                    <a:lumMod val="50000"/>
                  </a:schemeClr>
                </a:solidFill>
              </a:rPr>
              <a:t>Optional (due to limited area). Could be supply from other closest </a:t>
            </a:r>
            <a:r>
              <a:rPr lang="en-US" sz="2400" dirty="0" err="1">
                <a:solidFill>
                  <a:schemeClr val="accent2">
                    <a:lumMod val="50000"/>
                  </a:schemeClr>
                </a:solidFill>
              </a:rPr>
              <a:t>Wellpad</a:t>
            </a:r>
            <a:r>
              <a:rPr lang="en-US" sz="2400" dirty="0">
                <a:solidFill>
                  <a:schemeClr val="accent2">
                    <a:lumMod val="50000"/>
                  </a:schemeClr>
                </a:solidFill>
              </a:rPr>
              <a:t> Pond</a:t>
            </a:r>
            <a:endParaRPr lang="en-ID" sz="2400" dirty="0">
              <a:solidFill>
                <a:schemeClr val="accent2">
                  <a:lumMod val="50000"/>
                </a:schemeClr>
              </a:solidFill>
            </a:endParaRPr>
          </a:p>
        </p:txBody>
      </p:sp>
      <p:sp>
        <p:nvSpPr>
          <p:cNvPr id="13" name="TextBox 12">
            <a:extLst>
              <a:ext uri="{FF2B5EF4-FFF2-40B4-BE49-F238E27FC236}">
                <a16:creationId xmlns:a16="http://schemas.microsoft.com/office/drawing/2014/main" id="{63EB3D1D-A7DA-CB2E-D99E-1C1142F521D8}"/>
              </a:ext>
            </a:extLst>
          </p:cNvPr>
          <p:cNvSpPr txBox="1"/>
          <p:nvPr/>
        </p:nvSpPr>
        <p:spPr>
          <a:xfrm>
            <a:off x="8346561" y="4569763"/>
            <a:ext cx="1682127" cy="461665"/>
          </a:xfrm>
          <a:prstGeom prst="rect">
            <a:avLst/>
          </a:prstGeom>
          <a:noFill/>
        </p:spPr>
        <p:txBody>
          <a:bodyPr wrap="none" rtlCol="0">
            <a:spAutoFit/>
          </a:bodyPr>
          <a:lstStyle/>
          <a:p>
            <a:r>
              <a:rPr lang="en-US" sz="2400" dirty="0">
                <a:solidFill>
                  <a:schemeClr val="accent2">
                    <a:lumMod val="50000"/>
                  </a:schemeClr>
                </a:solidFill>
              </a:rPr>
              <a:t>Mandatory</a:t>
            </a:r>
            <a:endParaRPr lang="en-ID" sz="2400" dirty="0">
              <a:solidFill>
                <a:schemeClr val="accent2">
                  <a:lumMod val="50000"/>
                </a:schemeClr>
              </a:solidFill>
            </a:endParaRPr>
          </a:p>
        </p:txBody>
      </p:sp>
      <p:sp>
        <p:nvSpPr>
          <p:cNvPr id="4" name="Rectangle 3">
            <a:extLst>
              <a:ext uri="{FF2B5EF4-FFF2-40B4-BE49-F238E27FC236}">
                <a16:creationId xmlns:a16="http://schemas.microsoft.com/office/drawing/2014/main" id="{5DDE1BAB-CCD0-77EC-9789-EAC167154B9F}"/>
              </a:ext>
            </a:extLst>
          </p:cNvPr>
          <p:cNvSpPr/>
          <p:nvPr/>
        </p:nvSpPr>
        <p:spPr>
          <a:xfrm>
            <a:off x="5326912" y="4692482"/>
            <a:ext cx="350877" cy="18786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rgbClr val="CC3300"/>
              </a:solidFill>
            </a:endParaRPr>
          </a:p>
        </p:txBody>
      </p:sp>
      <p:sp>
        <p:nvSpPr>
          <p:cNvPr id="5" name="Rectangle 4">
            <a:extLst>
              <a:ext uri="{FF2B5EF4-FFF2-40B4-BE49-F238E27FC236}">
                <a16:creationId xmlns:a16="http://schemas.microsoft.com/office/drawing/2014/main" id="{BFD891FE-69A5-51DA-0D14-D617E40A8728}"/>
              </a:ext>
            </a:extLst>
          </p:cNvPr>
          <p:cNvSpPr/>
          <p:nvPr/>
        </p:nvSpPr>
        <p:spPr>
          <a:xfrm>
            <a:off x="5319504" y="2702447"/>
            <a:ext cx="350877" cy="18786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rgbClr val="CC3300"/>
              </a:solidFill>
            </a:endParaRPr>
          </a:p>
        </p:txBody>
      </p:sp>
    </p:spTree>
    <p:extLst>
      <p:ext uri="{BB962C8B-B14F-4D97-AF65-F5344CB8AC3E}">
        <p14:creationId xmlns:p14="http://schemas.microsoft.com/office/powerpoint/2010/main" val="23903189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D5832F3-3856-F5BC-818E-61AA8DE11F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0199" y="1186683"/>
            <a:ext cx="3627272" cy="5376822"/>
          </a:xfrm>
          <a:prstGeom prst="rect">
            <a:avLst/>
          </a:prstGeom>
        </p:spPr>
      </p:pic>
      <p:sp>
        <p:nvSpPr>
          <p:cNvPr id="2" name="Title 1">
            <a:extLst>
              <a:ext uri="{FF2B5EF4-FFF2-40B4-BE49-F238E27FC236}">
                <a16:creationId xmlns:a16="http://schemas.microsoft.com/office/drawing/2014/main" id="{D22FF509-2504-42F9-B824-0F481E976697}"/>
              </a:ext>
            </a:extLst>
          </p:cNvPr>
          <p:cNvSpPr>
            <a:spLocks noGrp="1"/>
          </p:cNvSpPr>
          <p:nvPr>
            <p:ph type="title"/>
          </p:nvPr>
        </p:nvSpPr>
        <p:spPr/>
        <p:txBody>
          <a:bodyPr>
            <a:normAutofit/>
          </a:bodyPr>
          <a:lstStyle/>
          <a:p>
            <a:r>
              <a:rPr lang="en-US" sz="3600" b="1" dirty="0">
                <a:solidFill>
                  <a:srgbClr val="CC3300"/>
                </a:solidFill>
              </a:rPr>
              <a:t>Rig Picture</a:t>
            </a:r>
            <a:endParaRPr lang="en-ID" sz="3600" b="1" dirty="0">
              <a:solidFill>
                <a:srgbClr val="CC3300"/>
              </a:solidFill>
            </a:endParaRPr>
          </a:p>
        </p:txBody>
      </p:sp>
      <p:pic>
        <p:nvPicPr>
          <p:cNvPr id="5" name="Picture 4">
            <a:extLst>
              <a:ext uri="{FF2B5EF4-FFF2-40B4-BE49-F238E27FC236}">
                <a16:creationId xmlns:a16="http://schemas.microsoft.com/office/drawing/2014/main" id="{DCED727C-4B31-68CA-8C05-29D396C06DD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532703" y="1186683"/>
            <a:ext cx="4138089" cy="2897312"/>
          </a:xfrm>
          <a:prstGeom prst="rect">
            <a:avLst/>
          </a:prstGeom>
        </p:spPr>
      </p:pic>
      <p:pic>
        <p:nvPicPr>
          <p:cNvPr id="6" name="Picture 5">
            <a:extLst>
              <a:ext uri="{FF2B5EF4-FFF2-40B4-BE49-F238E27FC236}">
                <a16:creationId xmlns:a16="http://schemas.microsoft.com/office/drawing/2014/main" id="{3585B83F-03FA-C68B-8BE7-446425078C43}"/>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134937" y="1186683"/>
            <a:ext cx="3290300" cy="3760342"/>
          </a:xfrm>
          <a:prstGeom prst="rect">
            <a:avLst/>
          </a:prstGeom>
        </p:spPr>
      </p:pic>
      <p:sp>
        <p:nvSpPr>
          <p:cNvPr id="8" name="TextBox 7">
            <a:extLst>
              <a:ext uri="{FF2B5EF4-FFF2-40B4-BE49-F238E27FC236}">
                <a16:creationId xmlns:a16="http://schemas.microsoft.com/office/drawing/2014/main" id="{ACEB13BB-0BB6-B068-F028-EB1185A7D185}"/>
              </a:ext>
            </a:extLst>
          </p:cNvPr>
          <p:cNvSpPr txBox="1"/>
          <p:nvPr/>
        </p:nvSpPr>
        <p:spPr>
          <a:xfrm>
            <a:off x="400199" y="6193043"/>
            <a:ext cx="1561646" cy="369332"/>
          </a:xfrm>
          <a:prstGeom prst="rect">
            <a:avLst/>
          </a:prstGeom>
          <a:noFill/>
        </p:spPr>
        <p:txBody>
          <a:bodyPr wrap="none" rtlCol="0">
            <a:spAutoFit/>
          </a:bodyPr>
          <a:lstStyle/>
          <a:p>
            <a:r>
              <a:rPr lang="en-US" dirty="0"/>
              <a:t>Rig Side View</a:t>
            </a:r>
            <a:endParaRPr lang="en-ID" dirty="0"/>
          </a:p>
        </p:txBody>
      </p:sp>
      <p:sp>
        <p:nvSpPr>
          <p:cNvPr id="9" name="TextBox 8">
            <a:extLst>
              <a:ext uri="{FF2B5EF4-FFF2-40B4-BE49-F238E27FC236}">
                <a16:creationId xmlns:a16="http://schemas.microsoft.com/office/drawing/2014/main" id="{3F5003B1-7A18-7037-7112-A537E8C9327F}"/>
              </a:ext>
            </a:extLst>
          </p:cNvPr>
          <p:cNvSpPr txBox="1"/>
          <p:nvPr/>
        </p:nvSpPr>
        <p:spPr>
          <a:xfrm>
            <a:off x="4134937" y="1186683"/>
            <a:ext cx="1561646" cy="369332"/>
          </a:xfrm>
          <a:prstGeom prst="rect">
            <a:avLst/>
          </a:prstGeom>
          <a:noFill/>
        </p:spPr>
        <p:txBody>
          <a:bodyPr wrap="none" rtlCol="0">
            <a:spAutoFit/>
          </a:bodyPr>
          <a:lstStyle/>
          <a:p>
            <a:r>
              <a:rPr lang="en-US" dirty="0"/>
              <a:t>Rig Side View</a:t>
            </a:r>
            <a:endParaRPr lang="en-ID" dirty="0"/>
          </a:p>
        </p:txBody>
      </p:sp>
      <p:sp>
        <p:nvSpPr>
          <p:cNvPr id="10" name="TextBox 9">
            <a:extLst>
              <a:ext uri="{FF2B5EF4-FFF2-40B4-BE49-F238E27FC236}">
                <a16:creationId xmlns:a16="http://schemas.microsoft.com/office/drawing/2014/main" id="{5613B1A4-ED9D-261A-EC4C-2D2AAA2A0045}"/>
              </a:ext>
            </a:extLst>
          </p:cNvPr>
          <p:cNvSpPr txBox="1"/>
          <p:nvPr/>
        </p:nvSpPr>
        <p:spPr>
          <a:xfrm>
            <a:off x="9378592" y="1186683"/>
            <a:ext cx="1540037" cy="369332"/>
          </a:xfrm>
          <a:prstGeom prst="rect">
            <a:avLst/>
          </a:prstGeom>
          <a:noFill/>
        </p:spPr>
        <p:txBody>
          <a:bodyPr wrap="none" rtlCol="0">
            <a:spAutoFit/>
          </a:bodyPr>
          <a:lstStyle/>
          <a:p>
            <a:r>
              <a:rPr lang="en-US" dirty="0"/>
              <a:t>Rig TOP View</a:t>
            </a:r>
            <a:endParaRPr lang="en-ID" dirty="0"/>
          </a:p>
        </p:txBody>
      </p:sp>
      <p:sp>
        <p:nvSpPr>
          <p:cNvPr id="3" name="TextBox 2">
            <a:extLst>
              <a:ext uri="{FF2B5EF4-FFF2-40B4-BE49-F238E27FC236}">
                <a16:creationId xmlns:a16="http://schemas.microsoft.com/office/drawing/2014/main" id="{59975CA0-5964-1D0E-AD87-6E1BF93C67D2}"/>
              </a:ext>
            </a:extLst>
          </p:cNvPr>
          <p:cNvSpPr txBox="1"/>
          <p:nvPr/>
        </p:nvSpPr>
        <p:spPr>
          <a:xfrm>
            <a:off x="8027581" y="4550735"/>
            <a:ext cx="2511650" cy="646331"/>
          </a:xfrm>
          <a:prstGeom prst="rect">
            <a:avLst/>
          </a:prstGeom>
          <a:noFill/>
        </p:spPr>
        <p:txBody>
          <a:bodyPr wrap="none" rtlCol="0">
            <a:spAutoFit/>
          </a:bodyPr>
          <a:lstStyle/>
          <a:p>
            <a:pPr marL="285750" indent="-285750">
              <a:buFont typeface="Arial" panose="020B0604020202020204" pitchFamily="34" charset="0"/>
              <a:buChar char="•"/>
            </a:pPr>
            <a:r>
              <a:rPr lang="en-US" dirty="0"/>
              <a:t>Rig Floor Size</a:t>
            </a:r>
          </a:p>
          <a:p>
            <a:pPr marL="285750" indent="-285750">
              <a:buFont typeface="Arial" panose="020B0604020202020204" pitchFamily="34" charset="0"/>
              <a:buChar char="•"/>
            </a:pPr>
            <a:r>
              <a:rPr lang="en-US" dirty="0"/>
              <a:t>Post Drilling Activity</a:t>
            </a:r>
            <a:endParaRPr lang="en-ID" dirty="0"/>
          </a:p>
        </p:txBody>
      </p:sp>
    </p:spTree>
    <p:extLst>
      <p:ext uri="{BB962C8B-B14F-4D97-AF65-F5344CB8AC3E}">
        <p14:creationId xmlns:p14="http://schemas.microsoft.com/office/powerpoint/2010/main" val="9445281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EAFEF78-1F52-F361-8306-475F2381CB87}"/>
              </a:ext>
            </a:extLst>
          </p:cNvPr>
          <p:cNvSpPr/>
          <p:nvPr/>
        </p:nvSpPr>
        <p:spPr>
          <a:xfrm>
            <a:off x="268448" y="4832061"/>
            <a:ext cx="5906319" cy="1730314"/>
          </a:xfrm>
          <a:prstGeom prst="rect">
            <a:avLst/>
          </a:prstGeom>
          <a:pattFill prst="pct80">
            <a:fgClr>
              <a:schemeClr val="accent4">
                <a:lumMod val="60000"/>
                <a:lumOff val="40000"/>
              </a:schemeClr>
            </a:fgClr>
            <a:bgClr>
              <a:schemeClr val="bg1"/>
            </a:bgClr>
          </a:patt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CD5832F3-3856-F5BC-818E-61AA8DE11F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338662" y="1185553"/>
            <a:ext cx="3627272" cy="5376822"/>
          </a:xfrm>
          <a:prstGeom prst="rect">
            <a:avLst/>
          </a:prstGeom>
        </p:spPr>
      </p:pic>
      <p:sp>
        <p:nvSpPr>
          <p:cNvPr id="2" name="Title 1">
            <a:extLst>
              <a:ext uri="{FF2B5EF4-FFF2-40B4-BE49-F238E27FC236}">
                <a16:creationId xmlns:a16="http://schemas.microsoft.com/office/drawing/2014/main" id="{D22FF509-2504-42F9-B824-0F481E976697}"/>
              </a:ext>
            </a:extLst>
          </p:cNvPr>
          <p:cNvSpPr>
            <a:spLocks noGrp="1"/>
          </p:cNvSpPr>
          <p:nvPr>
            <p:ph type="title"/>
          </p:nvPr>
        </p:nvSpPr>
        <p:spPr>
          <a:xfrm>
            <a:off x="521206" y="448056"/>
            <a:ext cx="9100965" cy="640080"/>
          </a:xfrm>
        </p:spPr>
        <p:txBody>
          <a:bodyPr>
            <a:normAutofit fontScale="90000"/>
          </a:bodyPr>
          <a:lstStyle/>
          <a:p>
            <a:r>
              <a:rPr lang="en-US" dirty="0"/>
              <a:t>Rig Picture: Side View for Determining Distance between Cellars</a:t>
            </a:r>
            <a:endParaRPr lang="en-ID" dirty="0"/>
          </a:p>
        </p:txBody>
      </p:sp>
      <p:pic>
        <p:nvPicPr>
          <p:cNvPr id="12" name="Picture 11">
            <a:extLst>
              <a:ext uri="{FF2B5EF4-FFF2-40B4-BE49-F238E27FC236}">
                <a16:creationId xmlns:a16="http://schemas.microsoft.com/office/drawing/2014/main" id="{B82453D4-094C-4B74-FDC5-48ABC3F19BD4}"/>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174768" y="4417889"/>
            <a:ext cx="585627" cy="2144486"/>
          </a:xfrm>
          <a:prstGeom prst="rect">
            <a:avLst/>
          </a:prstGeom>
        </p:spPr>
      </p:pic>
      <p:pic>
        <p:nvPicPr>
          <p:cNvPr id="13" name="Picture 12">
            <a:extLst>
              <a:ext uri="{FF2B5EF4-FFF2-40B4-BE49-F238E27FC236}">
                <a16:creationId xmlns:a16="http://schemas.microsoft.com/office/drawing/2014/main" id="{E3B624C6-C726-20FE-3DCB-D7A23C97EEC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606566" y="4429162"/>
            <a:ext cx="585627" cy="2144486"/>
          </a:xfrm>
          <a:prstGeom prst="rect">
            <a:avLst/>
          </a:prstGeom>
        </p:spPr>
      </p:pic>
      <p:cxnSp>
        <p:nvCxnSpPr>
          <p:cNvPr id="4" name="Straight Arrow Connector 3">
            <a:extLst>
              <a:ext uri="{FF2B5EF4-FFF2-40B4-BE49-F238E27FC236}">
                <a16:creationId xmlns:a16="http://schemas.microsoft.com/office/drawing/2014/main" id="{42DE4AF2-C7EF-37BD-3183-096D4C5C6518}"/>
              </a:ext>
            </a:extLst>
          </p:cNvPr>
          <p:cNvCxnSpPr>
            <a:cxnSpLocks/>
          </p:cNvCxnSpPr>
          <p:nvPr/>
        </p:nvCxnSpPr>
        <p:spPr>
          <a:xfrm>
            <a:off x="6760395" y="6205591"/>
            <a:ext cx="1273996" cy="0"/>
          </a:xfrm>
          <a:prstGeom prst="straightConnector1">
            <a:avLst/>
          </a:prstGeom>
          <a:ln w="1905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8FDFAE7-C461-205F-EC85-E9DDE6DB2ACD}"/>
              </a:ext>
            </a:extLst>
          </p:cNvPr>
          <p:cNvCxnSpPr/>
          <p:nvPr/>
        </p:nvCxnSpPr>
        <p:spPr>
          <a:xfrm>
            <a:off x="4900771" y="4343235"/>
            <a:ext cx="1566810" cy="0"/>
          </a:xfrm>
          <a:prstGeom prst="straightConnector1">
            <a:avLst/>
          </a:prstGeom>
          <a:ln w="1905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5FC9FA61-770C-F965-DB08-B48D926701B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029727" y="4420773"/>
            <a:ext cx="585627" cy="2144486"/>
          </a:xfrm>
          <a:prstGeom prst="rect">
            <a:avLst/>
          </a:prstGeom>
        </p:spPr>
      </p:pic>
      <p:cxnSp>
        <p:nvCxnSpPr>
          <p:cNvPr id="15" name="Straight Arrow Connector 14">
            <a:extLst>
              <a:ext uri="{FF2B5EF4-FFF2-40B4-BE49-F238E27FC236}">
                <a16:creationId xmlns:a16="http://schemas.microsoft.com/office/drawing/2014/main" id="{EC1200BE-7AA3-19E9-AAC0-6BA6089B5A99}"/>
              </a:ext>
            </a:extLst>
          </p:cNvPr>
          <p:cNvCxnSpPr/>
          <p:nvPr/>
        </p:nvCxnSpPr>
        <p:spPr>
          <a:xfrm>
            <a:off x="3332569" y="4343235"/>
            <a:ext cx="1566810" cy="0"/>
          </a:xfrm>
          <a:prstGeom prst="straightConnector1">
            <a:avLst/>
          </a:prstGeom>
          <a:ln w="1905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83B4F606-303C-B362-AC1D-8437D2523F6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25561" y="4417889"/>
            <a:ext cx="585627" cy="2144486"/>
          </a:xfrm>
          <a:prstGeom prst="rect">
            <a:avLst/>
          </a:prstGeom>
        </p:spPr>
      </p:pic>
      <p:cxnSp>
        <p:nvCxnSpPr>
          <p:cNvPr id="17" name="Straight Arrow Connector 16">
            <a:extLst>
              <a:ext uri="{FF2B5EF4-FFF2-40B4-BE49-F238E27FC236}">
                <a16:creationId xmlns:a16="http://schemas.microsoft.com/office/drawing/2014/main" id="{45D27C04-CD5B-B7D1-6C8A-5E694DD9783A}"/>
              </a:ext>
            </a:extLst>
          </p:cNvPr>
          <p:cNvCxnSpPr/>
          <p:nvPr/>
        </p:nvCxnSpPr>
        <p:spPr>
          <a:xfrm>
            <a:off x="1755730" y="4343235"/>
            <a:ext cx="1566810" cy="0"/>
          </a:xfrm>
          <a:prstGeom prst="straightConnector1">
            <a:avLst/>
          </a:prstGeom>
          <a:ln w="1905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5AE4B2B-2692-7528-66E8-821B6B6CA223}"/>
              </a:ext>
            </a:extLst>
          </p:cNvPr>
          <p:cNvCxnSpPr>
            <a:cxnSpLocks/>
          </p:cNvCxnSpPr>
          <p:nvPr/>
        </p:nvCxnSpPr>
        <p:spPr>
          <a:xfrm>
            <a:off x="6467581" y="6205591"/>
            <a:ext cx="291422" cy="0"/>
          </a:xfrm>
          <a:prstGeom prst="straightConnector1">
            <a:avLst/>
          </a:prstGeom>
          <a:ln w="1905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BFFC201-8B2E-11C1-C9C8-2D3819F27892}"/>
              </a:ext>
            </a:extLst>
          </p:cNvPr>
          <p:cNvSpPr txBox="1"/>
          <p:nvPr/>
        </p:nvSpPr>
        <p:spPr>
          <a:xfrm>
            <a:off x="7141769" y="6205591"/>
            <a:ext cx="801059" cy="307777"/>
          </a:xfrm>
          <a:prstGeom prst="rect">
            <a:avLst/>
          </a:prstGeom>
          <a:noFill/>
        </p:spPr>
        <p:txBody>
          <a:bodyPr wrap="square" rtlCol="0">
            <a:spAutoFit/>
          </a:bodyPr>
          <a:lstStyle/>
          <a:p>
            <a:r>
              <a:rPr lang="en-US" sz="1400" dirty="0"/>
              <a:t>13.5 m</a:t>
            </a:r>
            <a:endParaRPr lang="en-ID" sz="1400" dirty="0"/>
          </a:p>
        </p:txBody>
      </p:sp>
      <p:sp>
        <p:nvSpPr>
          <p:cNvPr id="25" name="TextBox 24">
            <a:extLst>
              <a:ext uri="{FF2B5EF4-FFF2-40B4-BE49-F238E27FC236}">
                <a16:creationId xmlns:a16="http://schemas.microsoft.com/office/drawing/2014/main" id="{569061D9-43E7-6776-AEB2-0CF1D97165AF}"/>
              </a:ext>
            </a:extLst>
          </p:cNvPr>
          <p:cNvSpPr txBox="1"/>
          <p:nvPr/>
        </p:nvSpPr>
        <p:spPr>
          <a:xfrm>
            <a:off x="6338661" y="6195479"/>
            <a:ext cx="801059" cy="307777"/>
          </a:xfrm>
          <a:prstGeom prst="rect">
            <a:avLst/>
          </a:prstGeom>
          <a:noFill/>
        </p:spPr>
        <p:txBody>
          <a:bodyPr wrap="square" rtlCol="0">
            <a:spAutoFit/>
          </a:bodyPr>
          <a:lstStyle/>
          <a:p>
            <a:r>
              <a:rPr lang="en-US" sz="1400" dirty="0"/>
              <a:t>1.5 m</a:t>
            </a:r>
            <a:endParaRPr lang="en-ID" sz="1400" dirty="0"/>
          </a:p>
        </p:txBody>
      </p:sp>
      <p:sp>
        <p:nvSpPr>
          <p:cNvPr id="26" name="TextBox 25">
            <a:extLst>
              <a:ext uri="{FF2B5EF4-FFF2-40B4-BE49-F238E27FC236}">
                <a16:creationId xmlns:a16="http://schemas.microsoft.com/office/drawing/2014/main" id="{E3D72FE5-B57E-AD19-1D5A-738AC394DFB3}"/>
              </a:ext>
            </a:extLst>
          </p:cNvPr>
          <p:cNvSpPr txBox="1"/>
          <p:nvPr/>
        </p:nvSpPr>
        <p:spPr>
          <a:xfrm>
            <a:off x="5380551" y="4006340"/>
            <a:ext cx="801059" cy="307777"/>
          </a:xfrm>
          <a:prstGeom prst="rect">
            <a:avLst/>
          </a:prstGeom>
          <a:noFill/>
        </p:spPr>
        <p:txBody>
          <a:bodyPr wrap="square" rtlCol="0">
            <a:spAutoFit/>
          </a:bodyPr>
          <a:lstStyle/>
          <a:p>
            <a:r>
              <a:rPr lang="en-US" sz="1400" dirty="0"/>
              <a:t>15.0 m</a:t>
            </a:r>
            <a:endParaRPr lang="en-ID" sz="1400" dirty="0"/>
          </a:p>
        </p:txBody>
      </p:sp>
      <p:sp>
        <p:nvSpPr>
          <p:cNvPr id="27" name="TextBox 26">
            <a:extLst>
              <a:ext uri="{FF2B5EF4-FFF2-40B4-BE49-F238E27FC236}">
                <a16:creationId xmlns:a16="http://schemas.microsoft.com/office/drawing/2014/main" id="{AC327874-1EA9-C1BC-D7CD-23B88C7D87A6}"/>
              </a:ext>
            </a:extLst>
          </p:cNvPr>
          <p:cNvSpPr txBox="1"/>
          <p:nvPr/>
        </p:nvSpPr>
        <p:spPr>
          <a:xfrm>
            <a:off x="3777221" y="4007162"/>
            <a:ext cx="801059" cy="307777"/>
          </a:xfrm>
          <a:prstGeom prst="rect">
            <a:avLst/>
          </a:prstGeom>
          <a:noFill/>
        </p:spPr>
        <p:txBody>
          <a:bodyPr wrap="square" rtlCol="0">
            <a:spAutoFit/>
          </a:bodyPr>
          <a:lstStyle/>
          <a:p>
            <a:r>
              <a:rPr lang="en-US" sz="1400" dirty="0"/>
              <a:t>15.0 m</a:t>
            </a:r>
            <a:endParaRPr lang="en-ID" sz="1400" dirty="0"/>
          </a:p>
        </p:txBody>
      </p:sp>
      <p:sp>
        <p:nvSpPr>
          <p:cNvPr id="28" name="TextBox 27">
            <a:extLst>
              <a:ext uri="{FF2B5EF4-FFF2-40B4-BE49-F238E27FC236}">
                <a16:creationId xmlns:a16="http://schemas.microsoft.com/office/drawing/2014/main" id="{FBFA97C3-6BF3-93C7-1077-30585816CD81}"/>
              </a:ext>
            </a:extLst>
          </p:cNvPr>
          <p:cNvSpPr txBox="1"/>
          <p:nvPr/>
        </p:nvSpPr>
        <p:spPr>
          <a:xfrm>
            <a:off x="2173891" y="4036901"/>
            <a:ext cx="801059" cy="307777"/>
          </a:xfrm>
          <a:prstGeom prst="rect">
            <a:avLst/>
          </a:prstGeom>
          <a:noFill/>
        </p:spPr>
        <p:txBody>
          <a:bodyPr wrap="square" rtlCol="0">
            <a:spAutoFit/>
          </a:bodyPr>
          <a:lstStyle/>
          <a:p>
            <a:r>
              <a:rPr lang="en-US" sz="1400" dirty="0"/>
              <a:t>15.0 m</a:t>
            </a:r>
            <a:endParaRPr lang="en-ID" sz="1400" dirty="0"/>
          </a:p>
        </p:txBody>
      </p:sp>
      <p:sp>
        <p:nvSpPr>
          <p:cNvPr id="29" name="TextBox 28">
            <a:extLst>
              <a:ext uri="{FF2B5EF4-FFF2-40B4-BE49-F238E27FC236}">
                <a16:creationId xmlns:a16="http://schemas.microsoft.com/office/drawing/2014/main" id="{07DB41BD-A1B7-9A34-2AC7-E23244AF8F65}"/>
              </a:ext>
            </a:extLst>
          </p:cNvPr>
          <p:cNvSpPr txBox="1"/>
          <p:nvPr/>
        </p:nvSpPr>
        <p:spPr>
          <a:xfrm>
            <a:off x="561262" y="1326721"/>
            <a:ext cx="5906319" cy="2862322"/>
          </a:xfrm>
          <a:prstGeom prst="rect">
            <a:avLst/>
          </a:prstGeom>
          <a:noFill/>
        </p:spPr>
        <p:txBody>
          <a:bodyPr wrap="square" rtlCol="0">
            <a:spAutoFit/>
          </a:bodyPr>
          <a:lstStyle/>
          <a:p>
            <a:pPr marL="285750" indent="-285750">
              <a:buFont typeface="Arial" panose="020B0604020202020204" pitchFamily="34" charset="0"/>
              <a:buChar char="•"/>
            </a:pPr>
            <a:r>
              <a:rPr lang="en-US" dirty="0"/>
              <a:t>When Rig Skid forward for next sequence well, the drilled well could be access for any well intervention such as:</a:t>
            </a:r>
          </a:p>
          <a:p>
            <a:pPr marL="742950" lvl="1" indent="-285750">
              <a:buFont typeface="Arial" panose="020B0604020202020204" pitchFamily="34" charset="0"/>
              <a:buChar char="•"/>
            </a:pPr>
            <a:r>
              <a:rPr lang="en-US" dirty="0"/>
              <a:t>Wireline operation</a:t>
            </a:r>
          </a:p>
          <a:p>
            <a:pPr marL="742950" lvl="1" indent="-285750">
              <a:buFont typeface="Arial" panose="020B0604020202020204" pitchFamily="34" charset="0"/>
              <a:buChar char="•"/>
            </a:pPr>
            <a:r>
              <a:rPr lang="en-US" dirty="0"/>
              <a:t>Well Test Pipe Installation</a:t>
            </a:r>
          </a:p>
          <a:p>
            <a:pPr marL="285750" indent="-285750">
              <a:buFont typeface="Arial" panose="020B0604020202020204" pitchFamily="34" charset="0"/>
              <a:buChar char="•"/>
            </a:pPr>
            <a:r>
              <a:rPr lang="en-US" dirty="0"/>
              <a:t>Distance between Cellar (Ideal Option): </a:t>
            </a:r>
            <a:r>
              <a:rPr lang="en-US" b="1" dirty="0">
                <a:solidFill>
                  <a:srgbClr val="C00000"/>
                </a:solidFill>
              </a:rPr>
              <a:t>13.5 - 15.0 Meters</a:t>
            </a:r>
          </a:p>
          <a:p>
            <a:pPr marL="742950" lvl="1" indent="-285750">
              <a:buFont typeface="Arial" panose="020B0604020202020204" pitchFamily="34" charset="0"/>
              <a:buChar char="•"/>
            </a:pPr>
            <a:r>
              <a:rPr lang="en-US" dirty="0"/>
              <a:t>Rotary Table </a:t>
            </a:r>
            <a:r>
              <a:rPr lang="en-US" dirty="0">
                <a:sym typeface="Wingdings" panose="05000000000000000000" pitchFamily="2" charset="2"/>
              </a:rPr>
              <a:t> end Rig Floor (back side): 13.5 m</a:t>
            </a:r>
          </a:p>
          <a:p>
            <a:pPr marL="742950" lvl="1" indent="-285750">
              <a:buFont typeface="Arial" panose="020B0604020202020204" pitchFamily="34" charset="0"/>
              <a:buChar char="•"/>
            </a:pPr>
            <a:r>
              <a:rPr lang="en-US" dirty="0">
                <a:sym typeface="Wingdings" panose="05000000000000000000" pitchFamily="2" charset="2"/>
              </a:rPr>
              <a:t>Half of Cellar Wide: 1.5 m</a:t>
            </a:r>
          </a:p>
          <a:p>
            <a:pPr marL="742950" lvl="1" indent="-285750">
              <a:buFont typeface="Arial" panose="020B0604020202020204" pitchFamily="34" charset="0"/>
              <a:buChar char="•"/>
            </a:pPr>
            <a:endParaRPr lang="en-ID" dirty="0"/>
          </a:p>
        </p:txBody>
      </p:sp>
    </p:spTree>
    <p:extLst>
      <p:ext uri="{BB962C8B-B14F-4D97-AF65-F5344CB8AC3E}">
        <p14:creationId xmlns:p14="http://schemas.microsoft.com/office/powerpoint/2010/main" val="21316023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F4B96-7274-8D62-33D2-EC7AE5CE23A7}"/>
              </a:ext>
            </a:extLst>
          </p:cNvPr>
          <p:cNvSpPr>
            <a:spLocks noGrp="1"/>
          </p:cNvSpPr>
          <p:nvPr>
            <p:ph type="title"/>
          </p:nvPr>
        </p:nvSpPr>
        <p:spPr/>
        <p:txBody>
          <a:bodyPr/>
          <a:lstStyle/>
          <a:p>
            <a:r>
              <a:rPr lang="en-US" dirty="0"/>
              <a:t>Surface Anticollision</a:t>
            </a:r>
          </a:p>
        </p:txBody>
      </p:sp>
      <p:pic>
        <p:nvPicPr>
          <p:cNvPr id="4" name="Picture 3">
            <a:extLst>
              <a:ext uri="{FF2B5EF4-FFF2-40B4-BE49-F238E27FC236}">
                <a16:creationId xmlns:a16="http://schemas.microsoft.com/office/drawing/2014/main" id="{0BF92BD1-9E02-8382-7E66-3F77663CE03B}"/>
              </a:ext>
            </a:extLst>
          </p:cNvPr>
          <p:cNvPicPr>
            <a:picLocks noChangeAspect="1"/>
          </p:cNvPicPr>
          <p:nvPr/>
        </p:nvPicPr>
        <p:blipFill>
          <a:blip r:embed="rId2"/>
          <a:stretch>
            <a:fillRect/>
          </a:stretch>
        </p:blipFill>
        <p:spPr>
          <a:xfrm>
            <a:off x="0" y="1612701"/>
            <a:ext cx="12192000" cy="3632598"/>
          </a:xfrm>
          <a:prstGeom prst="rect">
            <a:avLst/>
          </a:prstGeom>
        </p:spPr>
      </p:pic>
      <p:sp>
        <p:nvSpPr>
          <p:cNvPr id="5" name="Arrow: Right 4">
            <a:extLst>
              <a:ext uri="{FF2B5EF4-FFF2-40B4-BE49-F238E27FC236}">
                <a16:creationId xmlns:a16="http://schemas.microsoft.com/office/drawing/2014/main" id="{51942DC3-A917-199F-AA34-04860F5E46DA}"/>
              </a:ext>
            </a:extLst>
          </p:cNvPr>
          <p:cNvSpPr/>
          <p:nvPr/>
        </p:nvSpPr>
        <p:spPr>
          <a:xfrm>
            <a:off x="7983116" y="4167963"/>
            <a:ext cx="320911" cy="47846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C8949E61-0512-6068-9472-DFD75F02634E}"/>
              </a:ext>
            </a:extLst>
          </p:cNvPr>
          <p:cNvSpPr/>
          <p:nvPr/>
        </p:nvSpPr>
        <p:spPr>
          <a:xfrm>
            <a:off x="10655432" y="3597349"/>
            <a:ext cx="320911" cy="47846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902CD5E-FE46-58D9-E61C-DDB7D9B1D4BD}"/>
              </a:ext>
            </a:extLst>
          </p:cNvPr>
          <p:cNvSpPr txBox="1"/>
          <p:nvPr/>
        </p:nvSpPr>
        <p:spPr>
          <a:xfrm>
            <a:off x="1839432" y="5245299"/>
            <a:ext cx="829073" cy="369332"/>
          </a:xfrm>
          <a:prstGeom prst="rect">
            <a:avLst/>
          </a:prstGeom>
          <a:noFill/>
        </p:spPr>
        <p:txBody>
          <a:bodyPr wrap="none" rtlCol="0">
            <a:spAutoFit/>
          </a:bodyPr>
          <a:lstStyle/>
          <a:p>
            <a:r>
              <a:rPr lang="en-US" dirty="0">
                <a:highlight>
                  <a:srgbClr val="FFFF00"/>
                </a:highlight>
              </a:rPr>
              <a:t>SF &gt; 1</a:t>
            </a:r>
          </a:p>
        </p:txBody>
      </p:sp>
      <p:sp>
        <p:nvSpPr>
          <p:cNvPr id="9" name="TextBox 8">
            <a:extLst>
              <a:ext uri="{FF2B5EF4-FFF2-40B4-BE49-F238E27FC236}">
                <a16:creationId xmlns:a16="http://schemas.microsoft.com/office/drawing/2014/main" id="{B7E2B59D-3B02-913A-3C49-A2645A745511}"/>
              </a:ext>
            </a:extLst>
          </p:cNvPr>
          <p:cNvSpPr txBox="1"/>
          <p:nvPr/>
        </p:nvSpPr>
        <p:spPr>
          <a:xfrm>
            <a:off x="5000846" y="5241684"/>
            <a:ext cx="829073" cy="369332"/>
          </a:xfrm>
          <a:prstGeom prst="rect">
            <a:avLst/>
          </a:prstGeom>
          <a:noFill/>
        </p:spPr>
        <p:txBody>
          <a:bodyPr wrap="none" rtlCol="0">
            <a:spAutoFit/>
          </a:bodyPr>
          <a:lstStyle/>
          <a:p>
            <a:r>
              <a:rPr lang="en-US" dirty="0">
                <a:highlight>
                  <a:srgbClr val="FFFF00"/>
                </a:highlight>
              </a:rPr>
              <a:t>SF = 1</a:t>
            </a:r>
          </a:p>
        </p:txBody>
      </p:sp>
      <p:sp>
        <p:nvSpPr>
          <p:cNvPr id="10" name="TextBox 9">
            <a:extLst>
              <a:ext uri="{FF2B5EF4-FFF2-40B4-BE49-F238E27FC236}">
                <a16:creationId xmlns:a16="http://schemas.microsoft.com/office/drawing/2014/main" id="{905B3BE9-6FB3-4A8A-18A0-CBE4F217F4DA}"/>
              </a:ext>
            </a:extLst>
          </p:cNvPr>
          <p:cNvSpPr txBox="1"/>
          <p:nvPr/>
        </p:nvSpPr>
        <p:spPr>
          <a:xfrm>
            <a:off x="7983116" y="5241684"/>
            <a:ext cx="829073" cy="369332"/>
          </a:xfrm>
          <a:prstGeom prst="rect">
            <a:avLst/>
          </a:prstGeom>
          <a:noFill/>
        </p:spPr>
        <p:txBody>
          <a:bodyPr wrap="none" rtlCol="0">
            <a:spAutoFit/>
          </a:bodyPr>
          <a:lstStyle/>
          <a:p>
            <a:r>
              <a:rPr lang="en-US" dirty="0">
                <a:highlight>
                  <a:srgbClr val="FFFF00"/>
                </a:highlight>
              </a:rPr>
              <a:t>SF &lt; 1</a:t>
            </a:r>
          </a:p>
        </p:txBody>
      </p:sp>
      <p:sp>
        <p:nvSpPr>
          <p:cNvPr id="11" name="TextBox 10">
            <a:extLst>
              <a:ext uri="{FF2B5EF4-FFF2-40B4-BE49-F238E27FC236}">
                <a16:creationId xmlns:a16="http://schemas.microsoft.com/office/drawing/2014/main" id="{8F125E3B-4575-C8B6-3313-2C48DBC4A67C}"/>
              </a:ext>
            </a:extLst>
          </p:cNvPr>
          <p:cNvSpPr txBox="1"/>
          <p:nvPr/>
        </p:nvSpPr>
        <p:spPr>
          <a:xfrm>
            <a:off x="10655432" y="5251163"/>
            <a:ext cx="829073" cy="369332"/>
          </a:xfrm>
          <a:prstGeom prst="rect">
            <a:avLst/>
          </a:prstGeom>
          <a:noFill/>
        </p:spPr>
        <p:txBody>
          <a:bodyPr wrap="none" rtlCol="0">
            <a:spAutoFit/>
          </a:bodyPr>
          <a:lstStyle/>
          <a:p>
            <a:r>
              <a:rPr lang="en-US" dirty="0">
                <a:highlight>
                  <a:srgbClr val="FFFF00"/>
                </a:highlight>
              </a:rPr>
              <a:t>SF &lt; 1</a:t>
            </a:r>
          </a:p>
        </p:txBody>
      </p:sp>
      <p:sp>
        <p:nvSpPr>
          <p:cNvPr id="12" name="TextBox 11">
            <a:extLst>
              <a:ext uri="{FF2B5EF4-FFF2-40B4-BE49-F238E27FC236}">
                <a16:creationId xmlns:a16="http://schemas.microsoft.com/office/drawing/2014/main" id="{A863EC71-4608-E4E7-A9CD-C44C1D71E674}"/>
              </a:ext>
            </a:extLst>
          </p:cNvPr>
          <p:cNvSpPr txBox="1"/>
          <p:nvPr/>
        </p:nvSpPr>
        <p:spPr>
          <a:xfrm>
            <a:off x="534579" y="5620495"/>
            <a:ext cx="5803576" cy="646331"/>
          </a:xfrm>
          <a:prstGeom prst="rect">
            <a:avLst/>
          </a:prstGeom>
          <a:noFill/>
        </p:spPr>
        <p:txBody>
          <a:bodyPr wrap="none" rtlCol="0">
            <a:spAutoFit/>
          </a:bodyPr>
          <a:lstStyle/>
          <a:p>
            <a:r>
              <a:rPr lang="en-US" dirty="0">
                <a:highlight>
                  <a:srgbClr val="FFFF00"/>
                </a:highlight>
              </a:rPr>
              <a:t>SF = Separation Factor</a:t>
            </a:r>
          </a:p>
          <a:p>
            <a:r>
              <a:rPr lang="en-US" dirty="0">
                <a:highlight>
                  <a:srgbClr val="FFFF00"/>
                </a:highlight>
              </a:rPr>
              <a:t>SF = (Ellipse Radius-1 + Ellipse Radius-2)/ Jarak </a:t>
            </a:r>
            <a:r>
              <a:rPr lang="en-US" dirty="0" err="1">
                <a:highlight>
                  <a:srgbClr val="FFFF00"/>
                </a:highlight>
              </a:rPr>
              <a:t>lubang</a:t>
            </a:r>
            <a:r>
              <a:rPr lang="en-US" dirty="0">
                <a:highlight>
                  <a:srgbClr val="FFFF00"/>
                </a:highlight>
              </a:rPr>
              <a:t> </a:t>
            </a:r>
          </a:p>
        </p:txBody>
      </p:sp>
    </p:spTree>
    <p:extLst>
      <p:ext uri="{BB962C8B-B14F-4D97-AF65-F5344CB8AC3E}">
        <p14:creationId xmlns:p14="http://schemas.microsoft.com/office/powerpoint/2010/main" val="6800032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7124-4142-31E4-1925-1053B66211E3}"/>
              </a:ext>
            </a:extLst>
          </p:cNvPr>
          <p:cNvSpPr>
            <a:spLocks noGrp="1"/>
          </p:cNvSpPr>
          <p:nvPr>
            <p:ph type="title"/>
          </p:nvPr>
        </p:nvSpPr>
        <p:spPr>
          <a:xfrm>
            <a:off x="521207" y="448056"/>
            <a:ext cx="7942309" cy="640080"/>
          </a:xfrm>
        </p:spPr>
        <p:txBody>
          <a:bodyPr>
            <a:normAutofit/>
          </a:bodyPr>
          <a:lstStyle/>
          <a:p>
            <a:r>
              <a:rPr lang="en-ID" sz="3600" b="1" dirty="0">
                <a:solidFill>
                  <a:srgbClr val="C00000"/>
                </a:solidFill>
              </a:rPr>
              <a:t>PAD BB: Cellar Assignment</a:t>
            </a:r>
          </a:p>
        </p:txBody>
      </p:sp>
      <p:graphicFrame>
        <p:nvGraphicFramePr>
          <p:cNvPr id="3" name="Table 6">
            <a:extLst>
              <a:ext uri="{FF2B5EF4-FFF2-40B4-BE49-F238E27FC236}">
                <a16:creationId xmlns:a16="http://schemas.microsoft.com/office/drawing/2014/main" id="{94EAC596-02E7-6559-55B5-2F220F19FAC7}"/>
              </a:ext>
            </a:extLst>
          </p:cNvPr>
          <p:cNvGraphicFramePr>
            <a:graphicFrameLocks noGrp="1"/>
          </p:cNvGraphicFramePr>
          <p:nvPr/>
        </p:nvGraphicFramePr>
        <p:xfrm>
          <a:off x="8248522" y="1270000"/>
          <a:ext cx="3783586" cy="1828800"/>
        </p:xfrm>
        <a:graphic>
          <a:graphicData uri="http://schemas.openxmlformats.org/drawingml/2006/table">
            <a:tbl>
              <a:tblPr firstRow="1" bandRow="1">
                <a:tableStyleId>{5C22544A-7EE6-4342-B048-85BDC9FD1C3A}</a:tableStyleId>
              </a:tblPr>
              <a:tblGrid>
                <a:gridCol w="1891793">
                  <a:extLst>
                    <a:ext uri="{9D8B030D-6E8A-4147-A177-3AD203B41FA5}">
                      <a16:colId xmlns:a16="http://schemas.microsoft.com/office/drawing/2014/main" val="2493138020"/>
                    </a:ext>
                  </a:extLst>
                </a:gridCol>
                <a:gridCol w="1891793">
                  <a:extLst>
                    <a:ext uri="{9D8B030D-6E8A-4147-A177-3AD203B41FA5}">
                      <a16:colId xmlns:a16="http://schemas.microsoft.com/office/drawing/2014/main" val="3970110944"/>
                    </a:ext>
                  </a:extLst>
                </a:gridCol>
              </a:tblGrid>
              <a:tr h="336444">
                <a:tc>
                  <a:txBody>
                    <a:bodyPr/>
                    <a:lstStyle/>
                    <a:p>
                      <a:r>
                        <a:rPr lang="en-US" dirty="0"/>
                        <a:t>Well</a:t>
                      </a:r>
                      <a:endParaRPr lang="en-ID" dirty="0"/>
                    </a:p>
                  </a:txBody>
                  <a:tcPr/>
                </a:tc>
                <a:tc>
                  <a:txBody>
                    <a:bodyPr/>
                    <a:lstStyle/>
                    <a:p>
                      <a:r>
                        <a:rPr lang="en-US" dirty="0"/>
                        <a:t>Az</a:t>
                      </a:r>
                      <a:endParaRPr lang="en-ID" dirty="0"/>
                    </a:p>
                  </a:txBody>
                  <a:tcPr/>
                </a:tc>
                <a:extLst>
                  <a:ext uri="{0D108BD9-81ED-4DB2-BD59-A6C34878D82A}">
                    <a16:rowId xmlns:a16="http://schemas.microsoft.com/office/drawing/2014/main" val="634590027"/>
                  </a:ext>
                </a:extLst>
              </a:tr>
              <a:tr h="336444">
                <a:tc>
                  <a:txBody>
                    <a:bodyPr/>
                    <a:lstStyle/>
                    <a:p>
                      <a:r>
                        <a:rPr lang="en-US" dirty="0"/>
                        <a:t>PTH-BB-9</a:t>
                      </a:r>
                      <a:endParaRPr lang="en-ID" dirty="0"/>
                    </a:p>
                  </a:txBody>
                  <a:tcPr/>
                </a:tc>
                <a:tc>
                  <a:txBody>
                    <a:bodyPr/>
                    <a:lstStyle/>
                    <a:p>
                      <a:r>
                        <a:rPr lang="en-US" dirty="0"/>
                        <a:t>215</a:t>
                      </a:r>
                      <a:endParaRPr lang="en-ID" dirty="0"/>
                    </a:p>
                  </a:txBody>
                  <a:tcPr/>
                </a:tc>
                <a:extLst>
                  <a:ext uri="{0D108BD9-81ED-4DB2-BD59-A6C34878D82A}">
                    <a16:rowId xmlns:a16="http://schemas.microsoft.com/office/drawing/2014/main" val="256299305"/>
                  </a:ext>
                </a:extLst>
              </a:tr>
              <a:tr h="336444">
                <a:tc>
                  <a:txBody>
                    <a:bodyPr/>
                    <a:lstStyle/>
                    <a:p>
                      <a:r>
                        <a:rPr lang="en-US" dirty="0"/>
                        <a:t>PTH-BB-9A</a:t>
                      </a:r>
                      <a:endParaRPr lang="en-ID" dirty="0"/>
                    </a:p>
                  </a:txBody>
                  <a:tcPr/>
                </a:tc>
                <a:tc>
                  <a:txBody>
                    <a:bodyPr/>
                    <a:lstStyle/>
                    <a:p>
                      <a:r>
                        <a:rPr lang="en-US" dirty="0">
                          <a:solidFill>
                            <a:schemeClr val="tx1"/>
                          </a:solidFill>
                        </a:rPr>
                        <a:t>168</a:t>
                      </a:r>
                      <a:endParaRPr lang="en-ID" dirty="0">
                        <a:solidFill>
                          <a:schemeClr val="tx1"/>
                        </a:solidFill>
                      </a:endParaRPr>
                    </a:p>
                  </a:txBody>
                  <a:tcPr/>
                </a:tc>
                <a:extLst>
                  <a:ext uri="{0D108BD9-81ED-4DB2-BD59-A6C34878D82A}">
                    <a16:rowId xmlns:a16="http://schemas.microsoft.com/office/drawing/2014/main" val="4174879535"/>
                  </a:ext>
                </a:extLst>
              </a:tr>
              <a:tr h="336444">
                <a:tc>
                  <a:txBody>
                    <a:bodyPr/>
                    <a:lstStyle/>
                    <a:p>
                      <a:r>
                        <a:rPr lang="en-US" dirty="0"/>
                        <a:t>PTH-BB-9B</a:t>
                      </a:r>
                      <a:endParaRPr lang="en-ID" dirty="0"/>
                    </a:p>
                  </a:txBody>
                  <a:tcPr/>
                </a:tc>
                <a:tc>
                  <a:txBody>
                    <a:bodyPr/>
                    <a:lstStyle/>
                    <a:p>
                      <a:r>
                        <a:rPr lang="en-US" dirty="0"/>
                        <a:t>245</a:t>
                      </a:r>
                      <a:endParaRPr lang="en-ID" dirty="0"/>
                    </a:p>
                  </a:txBody>
                  <a:tcPr/>
                </a:tc>
                <a:extLst>
                  <a:ext uri="{0D108BD9-81ED-4DB2-BD59-A6C34878D82A}">
                    <a16:rowId xmlns:a16="http://schemas.microsoft.com/office/drawing/2014/main" val="2123661445"/>
                  </a:ext>
                </a:extLst>
              </a:tr>
              <a:tr h="336444">
                <a:tc>
                  <a:txBody>
                    <a:bodyPr/>
                    <a:lstStyle/>
                    <a:p>
                      <a:r>
                        <a:rPr lang="en-US" dirty="0"/>
                        <a:t>PTH-BB-9C</a:t>
                      </a:r>
                      <a:endParaRPr lang="en-ID" dirty="0"/>
                    </a:p>
                  </a:txBody>
                  <a:tcPr/>
                </a:tc>
                <a:tc>
                  <a:txBody>
                    <a:bodyPr/>
                    <a:lstStyle/>
                    <a:p>
                      <a:r>
                        <a:rPr lang="en-US" dirty="0"/>
                        <a:t>135</a:t>
                      </a:r>
                      <a:endParaRPr lang="en-ID" dirty="0"/>
                    </a:p>
                  </a:txBody>
                  <a:tcPr/>
                </a:tc>
                <a:extLst>
                  <a:ext uri="{0D108BD9-81ED-4DB2-BD59-A6C34878D82A}">
                    <a16:rowId xmlns:a16="http://schemas.microsoft.com/office/drawing/2014/main" val="553220450"/>
                  </a:ext>
                </a:extLst>
              </a:tr>
            </a:tbl>
          </a:graphicData>
        </a:graphic>
      </p:graphicFrame>
      <p:grpSp>
        <p:nvGrpSpPr>
          <p:cNvPr id="4" name="Group 3">
            <a:extLst>
              <a:ext uri="{FF2B5EF4-FFF2-40B4-BE49-F238E27FC236}">
                <a16:creationId xmlns:a16="http://schemas.microsoft.com/office/drawing/2014/main" id="{B50E1995-9D1C-0D6A-5EE5-BB7ED3B2D063}"/>
              </a:ext>
            </a:extLst>
          </p:cNvPr>
          <p:cNvGrpSpPr/>
          <p:nvPr/>
        </p:nvGrpSpPr>
        <p:grpSpPr>
          <a:xfrm>
            <a:off x="28536" y="1270000"/>
            <a:ext cx="8104410" cy="5044683"/>
            <a:chOff x="28536" y="629920"/>
            <a:chExt cx="8104410" cy="5044683"/>
          </a:xfrm>
        </p:grpSpPr>
        <p:pic>
          <p:nvPicPr>
            <p:cNvPr id="5" name="Picture 4">
              <a:extLst>
                <a:ext uri="{FF2B5EF4-FFF2-40B4-BE49-F238E27FC236}">
                  <a16:creationId xmlns:a16="http://schemas.microsoft.com/office/drawing/2014/main" id="{4D8A024F-6815-7FC7-766C-C7C68FCF779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6225" y="629920"/>
              <a:ext cx="7856721" cy="3513810"/>
            </a:xfrm>
            <a:prstGeom prst="rect">
              <a:avLst/>
            </a:prstGeom>
          </p:spPr>
        </p:pic>
        <p:grpSp>
          <p:nvGrpSpPr>
            <p:cNvPr id="6" name="Group 5">
              <a:extLst>
                <a:ext uri="{FF2B5EF4-FFF2-40B4-BE49-F238E27FC236}">
                  <a16:creationId xmlns:a16="http://schemas.microsoft.com/office/drawing/2014/main" id="{7046256A-96E7-997A-5B2B-15496A7B93CD}"/>
                </a:ext>
              </a:extLst>
            </p:cNvPr>
            <p:cNvGrpSpPr/>
            <p:nvPr/>
          </p:nvGrpSpPr>
          <p:grpSpPr>
            <a:xfrm>
              <a:off x="1388980" y="3688842"/>
              <a:ext cx="1448645" cy="1709944"/>
              <a:chOff x="3845032" y="4427339"/>
              <a:chExt cx="1448645" cy="1709944"/>
            </a:xfrm>
          </p:grpSpPr>
          <p:cxnSp>
            <p:nvCxnSpPr>
              <p:cNvPr id="16" name="Straight Arrow Connector 15">
                <a:extLst>
                  <a:ext uri="{FF2B5EF4-FFF2-40B4-BE49-F238E27FC236}">
                    <a16:creationId xmlns:a16="http://schemas.microsoft.com/office/drawing/2014/main" id="{1D8B86C8-73DE-42B9-E72C-9D20A2036C4B}"/>
                  </a:ext>
                </a:extLst>
              </p:cNvPr>
              <p:cNvCxnSpPr>
                <a:cxnSpLocks/>
              </p:cNvCxnSpPr>
              <p:nvPr/>
            </p:nvCxnSpPr>
            <p:spPr>
              <a:xfrm flipH="1">
                <a:off x="4419282" y="4427339"/>
                <a:ext cx="874395" cy="1313180"/>
              </a:xfrm>
              <a:prstGeom prst="straightConnector1">
                <a:avLst/>
              </a:prstGeom>
              <a:ln w="444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950D2CA-CC42-E754-7E44-0106DD81D22C}"/>
                  </a:ext>
                </a:extLst>
              </p:cNvPr>
              <p:cNvSpPr txBox="1"/>
              <p:nvPr/>
            </p:nvSpPr>
            <p:spPr>
              <a:xfrm>
                <a:off x="3845032" y="5767951"/>
                <a:ext cx="1239837" cy="369332"/>
              </a:xfrm>
              <a:prstGeom prst="rect">
                <a:avLst/>
              </a:prstGeom>
              <a:noFill/>
            </p:spPr>
            <p:txBody>
              <a:bodyPr wrap="square" rtlCol="0">
                <a:spAutoFit/>
              </a:bodyPr>
              <a:lstStyle/>
              <a:p>
                <a:r>
                  <a:rPr lang="en-US" dirty="0">
                    <a:solidFill>
                      <a:schemeClr val="accent5">
                        <a:lumMod val="50000"/>
                      </a:schemeClr>
                    </a:solidFill>
                  </a:rPr>
                  <a:t>PTH-BB-9</a:t>
                </a:r>
                <a:endParaRPr lang="en-ID" dirty="0">
                  <a:solidFill>
                    <a:schemeClr val="accent5">
                      <a:lumMod val="50000"/>
                    </a:schemeClr>
                  </a:solidFill>
                </a:endParaRPr>
              </a:p>
            </p:txBody>
          </p:sp>
        </p:grpSp>
        <p:grpSp>
          <p:nvGrpSpPr>
            <p:cNvPr id="7" name="Group 6">
              <a:extLst>
                <a:ext uri="{FF2B5EF4-FFF2-40B4-BE49-F238E27FC236}">
                  <a16:creationId xmlns:a16="http://schemas.microsoft.com/office/drawing/2014/main" id="{E6E85E6B-46FB-A7A4-3A00-3AEDF79594E2}"/>
                </a:ext>
              </a:extLst>
            </p:cNvPr>
            <p:cNvGrpSpPr/>
            <p:nvPr/>
          </p:nvGrpSpPr>
          <p:grpSpPr>
            <a:xfrm>
              <a:off x="3229441" y="3688841"/>
              <a:ext cx="1609688" cy="1985762"/>
              <a:chOff x="5173505" y="4427339"/>
              <a:chExt cx="1634129" cy="1779270"/>
            </a:xfrm>
          </p:grpSpPr>
          <p:cxnSp>
            <p:nvCxnSpPr>
              <p:cNvPr id="14" name="Straight Arrow Connector 13">
                <a:extLst>
                  <a:ext uri="{FF2B5EF4-FFF2-40B4-BE49-F238E27FC236}">
                    <a16:creationId xmlns:a16="http://schemas.microsoft.com/office/drawing/2014/main" id="{E44F72E8-FE80-D36A-D480-69B5A521B0D9}"/>
                  </a:ext>
                </a:extLst>
              </p:cNvPr>
              <p:cNvCxnSpPr>
                <a:cxnSpLocks/>
              </p:cNvCxnSpPr>
              <p:nvPr/>
            </p:nvCxnSpPr>
            <p:spPr>
              <a:xfrm>
                <a:off x="5293678" y="4427339"/>
                <a:ext cx="291116" cy="1431526"/>
              </a:xfrm>
              <a:prstGeom prst="straightConnector1">
                <a:avLst/>
              </a:prstGeom>
              <a:ln w="444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A4D2001-F53F-F5A3-C0C6-6B9182EBA59D}"/>
                  </a:ext>
                </a:extLst>
              </p:cNvPr>
              <p:cNvSpPr txBox="1"/>
              <p:nvPr/>
            </p:nvSpPr>
            <p:spPr>
              <a:xfrm>
                <a:off x="5173505" y="5875683"/>
                <a:ext cx="1634129" cy="330926"/>
              </a:xfrm>
              <a:prstGeom prst="rect">
                <a:avLst/>
              </a:prstGeom>
              <a:noFill/>
            </p:spPr>
            <p:txBody>
              <a:bodyPr wrap="square" rtlCol="0">
                <a:spAutoFit/>
              </a:bodyPr>
              <a:lstStyle/>
              <a:p>
                <a:r>
                  <a:rPr lang="en-US" dirty="0">
                    <a:solidFill>
                      <a:schemeClr val="accent5">
                        <a:lumMod val="50000"/>
                      </a:schemeClr>
                    </a:solidFill>
                  </a:rPr>
                  <a:t>PTH-BB-9A</a:t>
                </a:r>
                <a:endParaRPr lang="en-ID" dirty="0">
                  <a:solidFill>
                    <a:schemeClr val="accent5">
                      <a:lumMod val="50000"/>
                    </a:schemeClr>
                  </a:solidFill>
                </a:endParaRPr>
              </a:p>
            </p:txBody>
          </p:sp>
        </p:grpSp>
        <p:grpSp>
          <p:nvGrpSpPr>
            <p:cNvPr id="8" name="Group 7">
              <a:extLst>
                <a:ext uri="{FF2B5EF4-FFF2-40B4-BE49-F238E27FC236}">
                  <a16:creationId xmlns:a16="http://schemas.microsoft.com/office/drawing/2014/main" id="{84759278-8439-8781-10E6-05A0258C719C}"/>
                </a:ext>
              </a:extLst>
            </p:cNvPr>
            <p:cNvGrpSpPr/>
            <p:nvPr/>
          </p:nvGrpSpPr>
          <p:grpSpPr>
            <a:xfrm>
              <a:off x="28536" y="3700040"/>
              <a:ext cx="2282615" cy="1095579"/>
              <a:chOff x="2976404" y="4427339"/>
              <a:chExt cx="2317274" cy="981654"/>
            </a:xfrm>
          </p:grpSpPr>
          <p:cxnSp>
            <p:nvCxnSpPr>
              <p:cNvPr id="12" name="Straight Arrow Connector 11">
                <a:extLst>
                  <a:ext uri="{FF2B5EF4-FFF2-40B4-BE49-F238E27FC236}">
                    <a16:creationId xmlns:a16="http://schemas.microsoft.com/office/drawing/2014/main" id="{9C87F21A-F216-CB04-E823-507CB837418F}"/>
                  </a:ext>
                </a:extLst>
              </p:cNvPr>
              <p:cNvCxnSpPr>
                <a:cxnSpLocks/>
              </p:cNvCxnSpPr>
              <p:nvPr/>
            </p:nvCxnSpPr>
            <p:spPr>
              <a:xfrm flipH="1">
                <a:off x="3728226" y="4427339"/>
                <a:ext cx="1565452" cy="629641"/>
              </a:xfrm>
              <a:prstGeom prst="straightConnector1">
                <a:avLst/>
              </a:prstGeom>
              <a:ln w="444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6E21111-58F0-083B-EF77-29FC92EF0297}"/>
                  </a:ext>
                </a:extLst>
              </p:cNvPr>
              <p:cNvSpPr txBox="1"/>
              <p:nvPr/>
            </p:nvSpPr>
            <p:spPr>
              <a:xfrm>
                <a:off x="2976404" y="5078066"/>
                <a:ext cx="1381101" cy="330927"/>
              </a:xfrm>
              <a:prstGeom prst="rect">
                <a:avLst/>
              </a:prstGeom>
              <a:noFill/>
            </p:spPr>
            <p:txBody>
              <a:bodyPr wrap="square" rtlCol="0">
                <a:spAutoFit/>
              </a:bodyPr>
              <a:lstStyle/>
              <a:p>
                <a:r>
                  <a:rPr lang="en-US" dirty="0">
                    <a:solidFill>
                      <a:schemeClr val="accent5">
                        <a:lumMod val="50000"/>
                      </a:schemeClr>
                    </a:solidFill>
                  </a:rPr>
                  <a:t>PTH-BB-9B</a:t>
                </a:r>
                <a:endParaRPr lang="en-ID" dirty="0">
                  <a:solidFill>
                    <a:schemeClr val="accent5">
                      <a:lumMod val="50000"/>
                    </a:schemeClr>
                  </a:solidFill>
                </a:endParaRPr>
              </a:p>
            </p:txBody>
          </p:sp>
        </p:grpSp>
        <p:grpSp>
          <p:nvGrpSpPr>
            <p:cNvPr id="9" name="Group 8">
              <a:extLst>
                <a:ext uri="{FF2B5EF4-FFF2-40B4-BE49-F238E27FC236}">
                  <a16:creationId xmlns:a16="http://schemas.microsoft.com/office/drawing/2014/main" id="{9C7663BB-C12B-C5C3-C7EE-185FD412FF76}"/>
                </a:ext>
              </a:extLst>
            </p:cNvPr>
            <p:cNvGrpSpPr/>
            <p:nvPr/>
          </p:nvGrpSpPr>
          <p:grpSpPr>
            <a:xfrm>
              <a:off x="3840088" y="3700040"/>
              <a:ext cx="2755921" cy="1387663"/>
              <a:chOff x="5293678" y="4427339"/>
              <a:chExt cx="2797766" cy="1243366"/>
            </a:xfrm>
          </p:grpSpPr>
          <p:cxnSp>
            <p:nvCxnSpPr>
              <p:cNvPr id="10" name="Straight Arrow Connector 9">
                <a:extLst>
                  <a:ext uri="{FF2B5EF4-FFF2-40B4-BE49-F238E27FC236}">
                    <a16:creationId xmlns:a16="http://schemas.microsoft.com/office/drawing/2014/main" id="{C47A1223-E111-FE09-1F24-ECCC5D345E8E}"/>
                  </a:ext>
                </a:extLst>
              </p:cNvPr>
              <p:cNvCxnSpPr>
                <a:cxnSpLocks/>
              </p:cNvCxnSpPr>
              <p:nvPr/>
            </p:nvCxnSpPr>
            <p:spPr>
              <a:xfrm>
                <a:off x="5293678" y="4427339"/>
                <a:ext cx="1272776" cy="1048421"/>
              </a:xfrm>
              <a:prstGeom prst="straightConnector1">
                <a:avLst/>
              </a:prstGeom>
              <a:ln w="444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E57BA3F-27FB-D043-FCC0-445F9D0E9162}"/>
                  </a:ext>
                </a:extLst>
              </p:cNvPr>
              <p:cNvSpPr txBox="1"/>
              <p:nvPr/>
            </p:nvSpPr>
            <p:spPr>
              <a:xfrm>
                <a:off x="6566454" y="5339778"/>
                <a:ext cx="1524990" cy="330927"/>
              </a:xfrm>
              <a:prstGeom prst="rect">
                <a:avLst/>
              </a:prstGeom>
              <a:noFill/>
            </p:spPr>
            <p:txBody>
              <a:bodyPr wrap="square" rtlCol="0">
                <a:spAutoFit/>
              </a:bodyPr>
              <a:lstStyle/>
              <a:p>
                <a:r>
                  <a:rPr lang="en-US" dirty="0">
                    <a:solidFill>
                      <a:schemeClr val="accent5">
                        <a:lumMod val="50000"/>
                      </a:schemeClr>
                    </a:solidFill>
                  </a:rPr>
                  <a:t>PTH-BB-9C</a:t>
                </a:r>
                <a:endParaRPr lang="en-ID" dirty="0">
                  <a:solidFill>
                    <a:schemeClr val="accent5">
                      <a:lumMod val="50000"/>
                    </a:schemeClr>
                  </a:solidFill>
                </a:endParaRPr>
              </a:p>
            </p:txBody>
          </p:sp>
        </p:grpSp>
      </p:grpSp>
      <p:sp>
        <p:nvSpPr>
          <p:cNvPr id="18" name="TextBox 17">
            <a:extLst>
              <a:ext uri="{FF2B5EF4-FFF2-40B4-BE49-F238E27FC236}">
                <a16:creationId xmlns:a16="http://schemas.microsoft.com/office/drawing/2014/main" id="{C0FA2DDF-107E-0733-BA1B-2088EE2FDE3F}"/>
              </a:ext>
            </a:extLst>
          </p:cNvPr>
          <p:cNvSpPr txBox="1"/>
          <p:nvPr/>
        </p:nvSpPr>
        <p:spPr>
          <a:xfrm>
            <a:off x="6441897" y="4970902"/>
            <a:ext cx="5250093"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Cellar assignment refer to Well Trajectory</a:t>
            </a:r>
          </a:p>
          <a:p>
            <a:pPr marL="285750" indent="-285750">
              <a:buFont typeface="Arial" panose="020B0604020202020204" pitchFamily="34" charset="0"/>
              <a:buChar char="•"/>
            </a:pPr>
            <a:r>
              <a:rPr lang="en-US" dirty="0">
                <a:solidFill>
                  <a:srgbClr val="FF0000"/>
                </a:solidFill>
              </a:rPr>
              <a:t>Avoid any Crossing as possible</a:t>
            </a:r>
          </a:p>
          <a:p>
            <a:pPr marL="285750" indent="-285750">
              <a:buFont typeface="Arial" panose="020B0604020202020204" pitchFamily="34" charset="0"/>
              <a:buChar char="•"/>
            </a:pPr>
            <a:r>
              <a:rPr lang="en-US" dirty="0">
                <a:solidFill>
                  <a:srgbClr val="FF0000"/>
                </a:solidFill>
              </a:rPr>
              <a:t>Check well sequence to easy Rig Skidding</a:t>
            </a:r>
          </a:p>
          <a:p>
            <a:pPr marL="285750" indent="-285750">
              <a:buFont typeface="Arial" panose="020B0604020202020204" pitchFamily="34" charset="0"/>
              <a:buChar char="•"/>
            </a:pPr>
            <a:r>
              <a:rPr lang="en-US" dirty="0">
                <a:solidFill>
                  <a:srgbClr val="FF0000"/>
                </a:solidFill>
              </a:rPr>
              <a:t>Check Wellhead Height to avoid any obstruction during Rig Skidding</a:t>
            </a:r>
            <a:endParaRPr lang="en-ID" dirty="0">
              <a:solidFill>
                <a:srgbClr val="FF0000"/>
              </a:solidFill>
            </a:endParaRPr>
          </a:p>
        </p:txBody>
      </p:sp>
    </p:spTree>
    <p:extLst>
      <p:ext uri="{BB962C8B-B14F-4D97-AF65-F5344CB8AC3E}">
        <p14:creationId xmlns:p14="http://schemas.microsoft.com/office/powerpoint/2010/main" val="13851698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257D-A9EE-3A93-C2E3-1BC8D9B35F80}"/>
              </a:ext>
            </a:extLst>
          </p:cNvPr>
          <p:cNvSpPr>
            <a:spLocks noGrp="1"/>
          </p:cNvSpPr>
          <p:nvPr>
            <p:ph type="title"/>
          </p:nvPr>
        </p:nvSpPr>
        <p:spPr/>
        <p:txBody>
          <a:bodyPr/>
          <a:lstStyle/>
          <a:p>
            <a:r>
              <a:rPr lang="en-US" dirty="0"/>
              <a:t>Cellar Assignment, Optimized ?</a:t>
            </a:r>
            <a:endParaRPr lang="en-ID" dirty="0"/>
          </a:p>
        </p:txBody>
      </p:sp>
      <p:pic>
        <p:nvPicPr>
          <p:cNvPr id="4" name="Picture 3">
            <a:extLst>
              <a:ext uri="{FF2B5EF4-FFF2-40B4-BE49-F238E27FC236}">
                <a16:creationId xmlns:a16="http://schemas.microsoft.com/office/drawing/2014/main" id="{4E658AE1-7527-8555-CF0D-B0F332EA854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12170"/>
          <a:stretch/>
        </p:blipFill>
        <p:spPr>
          <a:xfrm>
            <a:off x="683980" y="1233377"/>
            <a:ext cx="8938201" cy="5504811"/>
          </a:xfrm>
          <a:prstGeom prst="rect">
            <a:avLst/>
          </a:prstGeom>
        </p:spPr>
      </p:pic>
    </p:spTree>
    <p:extLst>
      <p:ext uri="{BB962C8B-B14F-4D97-AF65-F5344CB8AC3E}">
        <p14:creationId xmlns:p14="http://schemas.microsoft.com/office/powerpoint/2010/main" val="19196143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257D-A9EE-3A93-C2E3-1BC8D9B35F80}"/>
              </a:ext>
            </a:extLst>
          </p:cNvPr>
          <p:cNvSpPr>
            <a:spLocks noGrp="1"/>
          </p:cNvSpPr>
          <p:nvPr>
            <p:ph type="title"/>
          </p:nvPr>
        </p:nvSpPr>
        <p:spPr>
          <a:xfrm>
            <a:off x="521207" y="448056"/>
            <a:ext cx="9579723" cy="640080"/>
          </a:xfrm>
        </p:spPr>
        <p:txBody>
          <a:bodyPr>
            <a:normAutofit/>
          </a:bodyPr>
          <a:lstStyle/>
          <a:p>
            <a:r>
              <a:rPr lang="en-US" dirty="0"/>
              <a:t>Additional Cellar to the Existing Pad. Is it safe?</a:t>
            </a:r>
            <a:endParaRPr lang="en-ID" dirty="0"/>
          </a:p>
        </p:txBody>
      </p:sp>
      <p:pic>
        <p:nvPicPr>
          <p:cNvPr id="5" name="Picture 4">
            <a:extLst>
              <a:ext uri="{FF2B5EF4-FFF2-40B4-BE49-F238E27FC236}">
                <a16:creationId xmlns:a16="http://schemas.microsoft.com/office/drawing/2014/main" id="{9767D0A9-345F-6235-ADFE-4886C8B6B3D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1576" y="1227907"/>
            <a:ext cx="4912030" cy="4231902"/>
          </a:xfrm>
          <a:prstGeom prst="rect">
            <a:avLst/>
          </a:prstGeom>
        </p:spPr>
      </p:pic>
      <p:pic>
        <p:nvPicPr>
          <p:cNvPr id="4" name="Picture 3">
            <a:extLst>
              <a:ext uri="{FF2B5EF4-FFF2-40B4-BE49-F238E27FC236}">
                <a16:creationId xmlns:a16="http://schemas.microsoft.com/office/drawing/2014/main" id="{812E19C1-973B-D0B4-1849-4C016531BEB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98395" y="1227907"/>
            <a:ext cx="4969772" cy="4231902"/>
          </a:xfrm>
          <a:prstGeom prst="rect">
            <a:avLst/>
          </a:prstGeom>
        </p:spPr>
      </p:pic>
      <p:sp>
        <p:nvSpPr>
          <p:cNvPr id="6" name="TextBox 5">
            <a:extLst>
              <a:ext uri="{FF2B5EF4-FFF2-40B4-BE49-F238E27FC236}">
                <a16:creationId xmlns:a16="http://schemas.microsoft.com/office/drawing/2014/main" id="{54A0B9E9-3E97-CB27-2661-0571C12FCE5D}"/>
              </a:ext>
            </a:extLst>
          </p:cNvPr>
          <p:cNvSpPr txBox="1"/>
          <p:nvPr/>
        </p:nvSpPr>
        <p:spPr>
          <a:xfrm>
            <a:off x="5311068" y="1796902"/>
            <a:ext cx="1546932" cy="1815882"/>
          </a:xfrm>
          <a:prstGeom prst="rect">
            <a:avLst/>
          </a:prstGeom>
          <a:noFill/>
        </p:spPr>
        <p:txBody>
          <a:bodyPr wrap="square" rtlCol="0">
            <a:spAutoFit/>
          </a:bodyPr>
          <a:lstStyle/>
          <a:p>
            <a:pPr algn="ctr"/>
            <a:r>
              <a:rPr lang="en-US" sz="2800" dirty="0">
                <a:solidFill>
                  <a:srgbClr val="FF0000"/>
                </a:solidFill>
              </a:rPr>
              <a:t>Well Collision Risk - High</a:t>
            </a:r>
            <a:endParaRPr lang="en-ID" sz="2800" dirty="0">
              <a:solidFill>
                <a:srgbClr val="FF0000"/>
              </a:solidFill>
            </a:endParaRPr>
          </a:p>
        </p:txBody>
      </p:sp>
    </p:spTree>
    <p:extLst>
      <p:ext uri="{BB962C8B-B14F-4D97-AF65-F5344CB8AC3E}">
        <p14:creationId xmlns:p14="http://schemas.microsoft.com/office/powerpoint/2010/main" val="1933687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1406936" cy="640080"/>
          </a:xfrm>
        </p:spPr>
        <p:txBody>
          <a:bodyPr>
            <a:noAutofit/>
          </a:bodyPr>
          <a:lstStyle/>
          <a:p>
            <a:r>
              <a:rPr lang="en-US" sz="4000" dirty="0"/>
              <a:t>Cellars Design-2: 3m X 3m X 0.8m depth</a:t>
            </a:r>
          </a:p>
        </p:txBody>
      </p:sp>
      <p:pic>
        <p:nvPicPr>
          <p:cNvPr id="3" name="Picture 2">
            <a:extLst>
              <a:ext uri="{FF2B5EF4-FFF2-40B4-BE49-F238E27FC236}">
                <a16:creationId xmlns:a16="http://schemas.microsoft.com/office/drawing/2014/main" id="{4D139E16-DC7A-8551-782E-A971F0DE6ED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18654" y="1197768"/>
            <a:ext cx="11554691" cy="4462464"/>
          </a:xfrm>
          <a:prstGeom prst="rect">
            <a:avLst/>
          </a:prstGeom>
        </p:spPr>
      </p:pic>
      <p:sp>
        <p:nvSpPr>
          <p:cNvPr id="5" name="Arrow: Right 4">
            <a:extLst>
              <a:ext uri="{FF2B5EF4-FFF2-40B4-BE49-F238E27FC236}">
                <a16:creationId xmlns:a16="http://schemas.microsoft.com/office/drawing/2014/main" id="{3B261BA9-654D-A92E-46C4-822C2628666D}"/>
              </a:ext>
            </a:extLst>
          </p:cNvPr>
          <p:cNvSpPr/>
          <p:nvPr/>
        </p:nvSpPr>
        <p:spPr>
          <a:xfrm>
            <a:off x="6096000" y="4081928"/>
            <a:ext cx="672935" cy="134191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D"/>
          </a:p>
        </p:txBody>
      </p:sp>
      <p:sp>
        <p:nvSpPr>
          <p:cNvPr id="7" name="TextBox 6">
            <a:extLst>
              <a:ext uri="{FF2B5EF4-FFF2-40B4-BE49-F238E27FC236}">
                <a16:creationId xmlns:a16="http://schemas.microsoft.com/office/drawing/2014/main" id="{64483ED4-7412-6F06-0BE7-2223BE076040}"/>
              </a:ext>
            </a:extLst>
          </p:cNvPr>
          <p:cNvSpPr txBox="1"/>
          <p:nvPr/>
        </p:nvSpPr>
        <p:spPr>
          <a:xfrm>
            <a:off x="1733107" y="5877585"/>
            <a:ext cx="3540641" cy="461665"/>
          </a:xfrm>
          <a:prstGeom prst="rect">
            <a:avLst/>
          </a:prstGeom>
          <a:noFill/>
        </p:spPr>
        <p:txBody>
          <a:bodyPr wrap="square">
            <a:spAutoFit/>
          </a:bodyPr>
          <a:lstStyle/>
          <a:p>
            <a:r>
              <a:rPr lang="en-US" sz="2400" b="1" dirty="0">
                <a:solidFill>
                  <a:schemeClr val="accent5">
                    <a:lumMod val="50000"/>
                  </a:schemeClr>
                </a:solidFill>
              </a:rPr>
              <a:t>3m X 3m X 1.2m depth</a:t>
            </a:r>
            <a:endParaRPr lang="en-ID" sz="2400" b="1" dirty="0">
              <a:solidFill>
                <a:schemeClr val="accent5">
                  <a:lumMod val="50000"/>
                </a:schemeClr>
              </a:solidFill>
            </a:endParaRPr>
          </a:p>
        </p:txBody>
      </p:sp>
      <p:sp>
        <p:nvSpPr>
          <p:cNvPr id="8" name="TextBox 7">
            <a:extLst>
              <a:ext uri="{FF2B5EF4-FFF2-40B4-BE49-F238E27FC236}">
                <a16:creationId xmlns:a16="http://schemas.microsoft.com/office/drawing/2014/main" id="{26C26E22-9FF1-BF6F-C209-D354BEFC80EA}"/>
              </a:ext>
            </a:extLst>
          </p:cNvPr>
          <p:cNvSpPr txBox="1"/>
          <p:nvPr/>
        </p:nvSpPr>
        <p:spPr>
          <a:xfrm>
            <a:off x="7796381" y="5877585"/>
            <a:ext cx="3540641" cy="461665"/>
          </a:xfrm>
          <a:prstGeom prst="rect">
            <a:avLst/>
          </a:prstGeom>
          <a:noFill/>
        </p:spPr>
        <p:txBody>
          <a:bodyPr wrap="square">
            <a:spAutoFit/>
          </a:bodyPr>
          <a:lstStyle/>
          <a:p>
            <a:r>
              <a:rPr lang="en-US" sz="2400" b="1" dirty="0">
                <a:solidFill>
                  <a:srgbClr val="C00000"/>
                </a:solidFill>
              </a:rPr>
              <a:t>3m X 3m X 0.8m depth</a:t>
            </a:r>
            <a:endParaRPr lang="en-ID" sz="2400" b="1" dirty="0">
              <a:solidFill>
                <a:srgbClr val="C00000"/>
              </a:solidFill>
            </a:endParaRPr>
          </a:p>
        </p:txBody>
      </p:sp>
      <p:sp>
        <p:nvSpPr>
          <p:cNvPr id="4" name="Rectangle 3">
            <a:extLst>
              <a:ext uri="{FF2B5EF4-FFF2-40B4-BE49-F238E27FC236}">
                <a16:creationId xmlns:a16="http://schemas.microsoft.com/office/drawing/2014/main" id="{4CF3F570-2BD0-14CC-FAA1-C12942C7D862}"/>
              </a:ext>
            </a:extLst>
          </p:cNvPr>
          <p:cNvSpPr/>
          <p:nvPr/>
        </p:nvSpPr>
        <p:spPr>
          <a:xfrm>
            <a:off x="10770781" y="5154310"/>
            <a:ext cx="1421219" cy="236392"/>
          </a:xfrm>
          <a:prstGeom prst="rect">
            <a:avLst/>
          </a:prstGeom>
          <a:gradFill>
            <a:gsLst>
              <a:gs pos="0">
                <a:schemeClr val="accent1">
                  <a:lumMod val="5000"/>
                  <a:lumOff val="95000"/>
                </a:schemeClr>
              </a:gs>
              <a:gs pos="46000">
                <a:schemeClr val="accent1">
                  <a:lumMod val="45000"/>
                  <a:lumOff val="55000"/>
                </a:schemeClr>
              </a:gs>
              <a:gs pos="62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TextBox 8">
            <a:extLst>
              <a:ext uri="{FF2B5EF4-FFF2-40B4-BE49-F238E27FC236}">
                <a16:creationId xmlns:a16="http://schemas.microsoft.com/office/drawing/2014/main" id="{E04E0356-EDF0-4C49-C313-23A948FB6465}"/>
              </a:ext>
            </a:extLst>
          </p:cNvPr>
          <p:cNvSpPr txBox="1"/>
          <p:nvPr/>
        </p:nvSpPr>
        <p:spPr>
          <a:xfrm>
            <a:off x="10504967" y="5370105"/>
            <a:ext cx="1687033" cy="307777"/>
          </a:xfrm>
          <a:prstGeom prst="rect">
            <a:avLst/>
          </a:prstGeom>
          <a:noFill/>
        </p:spPr>
        <p:txBody>
          <a:bodyPr wrap="square">
            <a:spAutoFit/>
          </a:bodyPr>
          <a:lstStyle/>
          <a:p>
            <a:r>
              <a:rPr lang="en-US" sz="1400" b="1" dirty="0">
                <a:solidFill>
                  <a:srgbClr val="C00000"/>
                </a:solidFill>
              </a:rPr>
              <a:t>Drainage to Pond</a:t>
            </a:r>
            <a:endParaRPr lang="en-ID" sz="1400" b="1" dirty="0">
              <a:solidFill>
                <a:srgbClr val="C00000"/>
              </a:solidFill>
            </a:endParaRPr>
          </a:p>
        </p:txBody>
      </p:sp>
      <p:sp>
        <p:nvSpPr>
          <p:cNvPr id="10" name="TextBox 9">
            <a:extLst>
              <a:ext uri="{FF2B5EF4-FFF2-40B4-BE49-F238E27FC236}">
                <a16:creationId xmlns:a16="http://schemas.microsoft.com/office/drawing/2014/main" id="{C10F3C2D-38E2-6E7B-F692-BB8944630D40}"/>
              </a:ext>
            </a:extLst>
          </p:cNvPr>
          <p:cNvSpPr txBox="1"/>
          <p:nvPr/>
        </p:nvSpPr>
        <p:spPr>
          <a:xfrm>
            <a:off x="5507664" y="1120035"/>
            <a:ext cx="1658679" cy="1200329"/>
          </a:xfrm>
          <a:prstGeom prst="rect">
            <a:avLst/>
          </a:prstGeom>
          <a:noFill/>
        </p:spPr>
        <p:txBody>
          <a:bodyPr wrap="square">
            <a:spAutoFit/>
          </a:bodyPr>
          <a:lstStyle/>
          <a:p>
            <a:r>
              <a:rPr lang="en-US" sz="2400" b="1" dirty="0">
                <a:solidFill>
                  <a:schemeClr val="accent5">
                    <a:lumMod val="50000"/>
                  </a:schemeClr>
                </a:solidFill>
              </a:rPr>
              <a:t>Wellhead &amp; BOP Stack</a:t>
            </a:r>
            <a:endParaRPr lang="en-ID" sz="2400" b="1" dirty="0">
              <a:solidFill>
                <a:schemeClr val="accent5">
                  <a:lumMod val="50000"/>
                </a:schemeClr>
              </a:solidFill>
            </a:endParaRPr>
          </a:p>
        </p:txBody>
      </p:sp>
    </p:spTree>
    <p:extLst>
      <p:ext uri="{BB962C8B-B14F-4D97-AF65-F5344CB8AC3E}">
        <p14:creationId xmlns:p14="http://schemas.microsoft.com/office/powerpoint/2010/main" val="41861144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1406936" cy="640080"/>
          </a:xfrm>
        </p:spPr>
        <p:txBody>
          <a:bodyPr>
            <a:noAutofit/>
          </a:bodyPr>
          <a:lstStyle/>
          <a:p>
            <a:r>
              <a:rPr lang="en-US" sz="4000" dirty="0"/>
              <a:t>Cellars Design-2: 3m X 3m X 0.8m depth</a:t>
            </a:r>
          </a:p>
        </p:txBody>
      </p:sp>
      <p:pic>
        <p:nvPicPr>
          <p:cNvPr id="4" name="Picture 3">
            <a:extLst>
              <a:ext uri="{FF2B5EF4-FFF2-40B4-BE49-F238E27FC236}">
                <a16:creationId xmlns:a16="http://schemas.microsoft.com/office/drawing/2014/main" id="{AA7B2A74-6FD0-D286-3F25-379DF7C851B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45225" y="1371838"/>
            <a:ext cx="5450775" cy="5038106"/>
          </a:xfrm>
          <a:prstGeom prst="rect">
            <a:avLst/>
          </a:prstGeom>
        </p:spPr>
      </p:pic>
      <p:pic>
        <p:nvPicPr>
          <p:cNvPr id="6" name="Picture 5">
            <a:extLst>
              <a:ext uri="{FF2B5EF4-FFF2-40B4-BE49-F238E27FC236}">
                <a16:creationId xmlns:a16="http://schemas.microsoft.com/office/drawing/2014/main" id="{1093782A-D1AF-508D-FF70-D971EBF1332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224676" y="1371837"/>
            <a:ext cx="5322100" cy="5038105"/>
          </a:xfrm>
          <a:prstGeom prst="rect">
            <a:avLst/>
          </a:prstGeom>
        </p:spPr>
      </p:pic>
      <p:sp>
        <p:nvSpPr>
          <p:cNvPr id="3" name="TextBox 2">
            <a:extLst>
              <a:ext uri="{FF2B5EF4-FFF2-40B4-BE49-F238E27FC236}">
                <a16:creationId xmlns:a16="http://schemas.microsoft.com/office/drawing/2014/main" id="{63BCEAE8-2426-BBA3-8D45-3B04E9B5BCAC}"/>
              </a:ext>
            </a:extLst>
          </p:cNvPr>
          <p:cNvSpPr txBox="1"/>
          <p:nvPr/>
        </p:nvSpPr>
        <p:spPr>
          <a:xfrm>
            <a:off x="4713091" y="4594060"/>
            <a:ext cx="7215052" cy="1815882"/>
          </a:xfrm>
          <a:prstGeom prst="rect">
            <a:avLst/>
          </a:prstGeom>
          <a:solidFill>
            <a:schemeClr val="tx1">
              <a:lumMod val="65000"/>
              <a:lumOff val="35000"/>
              <a:alpha val="33000"/>
            </a:schemeClr>
          </a:solidFill>
        </p:spPr>
        <p:txBody>
          <a:bodyPr wrap="none" rtlCol="0">
            <a:spAutoFit/>
          </a:bodyPr>
          <a:lstStyle/>
          <a:p>
            <a:r>
              <a:rPr lang="en-US" sz="2800" b="1" dirty="0">
                <a:solidFill>
                  <a:srgbClr val="FFC000"/>
                </a:solidFill>
              </a:rPr>
              <a:t>Advantage:</a:t>
            </a:r>
          </a:p>
          <a:p>
            <a:pPr marL="457200" indent="-457200">
              <a:buFont typeface="Arial" panose="020B0604020202020204" pitchFamily="34" charset="0"/>
              <a:buChar char="•"/>
            </a:pPr>
            <a:r>
              <a:rPr lang="en-US" sz="2800" b="1" dirty="0">
                <a:solidFill>
                  <a:srgbClr val="FFC000"/>
                </a:solidFill>
              </a:rPr>
              <a:t>More simple  </a:t>
            </a:r>
            <a:r>
              <a:rPr lang="en-US" sz="2800" b="1" dirty="0">
                <a:solidFill>
                  <a:srgbClr val="FFC000"/>
                </a:solidFill>
                <a:sym typeface="Wingdings" panose="05000000000000000000" pitchFamily="2" charset="2"/>
              </a:rPr>
              <a:t> Less Construction Cost</a:t>
            </a:r>
          </a:p>
          <a:p>
            <a:pPr marL="457200" indent="-457200">
              <a:buFont typeface="Arial" panose="020B0604020202020204" pitchFamily="34" charset="0"/>
              <a:buChar char="•"/>
            </a:pPr>
            <a:r>
              <a:rPr lang="en-US" sz="2800" b="1" dirty="0">
                <a:solidFill>
                  <a:srgbClr val="FFC000"/>
                </a:solidFill>
                <a:sym typeface="Wingdings" panose="05000000000000000000" pitchFamily="2" charset="2"/>
              </a:rPr>
              <a:t>Always dry cellar</a:t>
            </a:r>
          </a:p>
          <a:p>
            <a:pPr marL="457200" indent="-457200">
              <a:buFont typeface="Arial" panose="020B0604020202020204" pitchFamily="34" charset="0"/>
              <a:buChar char="•"/>
            </a:pPr>
            <a:r>
              <a:rPr lang="en-US" sz="2800" b="1" dirty="0">
                <a:solidFill>
                  <a:srgbClr val="FFC000"/>
                </a:solidFill>
                <a:sym typeface="Wingdings" panose="05000000000000000000" pitchFamily="2" charset="2"/>
              </a:rPr>
              <a:t>No risk accumulated H2S</a:t>
            </a:r>
            <a:endParaRPr lang="en-ID" sz="2800" b="1" dirty="0">
              <a:solidFill>
                <a:srgbClr val="FFC000"/>
              </a:solidFill>
            </a:endParaRPr>
          </a:p>
        </p:txBody>
      </p:sp>
    </p:spTree>
    <p:extLst>
      <p:ext uri="{BB962C8B-B14F-4D97-AF65-F5344CB8AC3E}">
        <p14:creationId xmlns:p14="http://schemas.microsoft.com/office/powerpoint/2010/main" val="12520628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646814" y="1286540"/>
            <a:ext cx="10898372" cy="740624"/>
          </a:xfrm>
        </p:spPr>
        <p:txBody>
          <a:bodyPr>
            <a:normAutofit/>
          </a:bodyPr>
          <a:lstStyle/>
          <a:p>
            <a:pPr algn="ctr"/>
            <a:r>
              <a:rPr lang="en-US" altLang="en-US" sz="4000" b="1" dirty="0">
                <a:solidFill>
                  <a:srgbClr val="D24726"/>
                </a:solidFill>
              </a:rPr>
              <a:t>30” Conductor Specification and Installation</a:t>
            </a:r>
          </a:p>
        </p:txBody>
      </p:sp>
    </p:spTree>
    <p:extLst>
      <p:ext uri="{BB962C8B-B14F-4D97-AF65-F5344CB8AC3E}">
        <p14:creationId xmlns:p14="http://schemas.microsoft.com/office/powerpoint/2010/main" val="28459057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670234" y="490282"/>
            <a:ext cx="10211125" cy="639763"/>
          </a:xfrm>
        </p:spPr>
        <p:txBody>
          <a:bodyPr anchor="t">
            <a:noAutofit/>
          </a:bodyPr>
          <a:lstStyle/>
          <a:p>
            <a:pPr eaLnBrk="1" hangingPunct="1"/>
            <a:r>
              <a:rPr lang="en-US" altLang="en-US" sz="4000" b="1" dirty="0">
                <a:solidFill>
                  <a:schemeClr val="accent6">
                    <a:lumMod val="50000"/>
                  </a:schemeClr>
                </a:solidFill>
              </a:rPr>
              <a:t>30” </a:t>
            </a:r>
            <a:r>
              <a:rPr lang="id-ID" altLang="en-US" sz="4000" b="1" dirty="0">
                <a:solidFill>
                  <a:schemeClr val="accent6">
                    <a:lumMod val="50000"/>
                  </a:schemeClr>
                </a:solidFill>
              </a:rPr>
              <a:t>CASING</a:t>
            </a:r>
            <a:r>
              <a:rPr lang="en-US" altLang="en-US" sz="4000" b="1" dirty="0">
                <a:solidFill>
                  <a:schemeClr val="accent6">
                    <a:lumMod val="50000"/>
                  </a:schemeClr>
                </a:solidFill>
              </a:rPr>
              <a:t> CONDUCTOR SPECIFICATION</a:t>
            </a:r>
          </a:p>
        </p:txBody>
      </p:sp>
      <p:graphicFrame>
        <p:nvGraphicFramePr>
          <p:cNvPr id="2" name="Table 1"/>
          <p:cNvGraphicFramePr>
            <a:graphicFrameLocks noGrp="1"/>
          </p:cNvGraphicFramePr>
          <p:nvPr/>
        </p:nvGraphicFramePr>
        <p:xfrm>
          <a:off x="670235" y="1240904"/>
          <a:ext cx="9002713" cy="3246325"/>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93109">
                  <a:extLst>
                    <a:ext uri="{9D8B030D-6E8A-4147-A177-3AD203B41FA5}">
                      <a16:colId xmlns:a16="http://schemas.microsoft.com/office/drawing/2014/main" val="20001"/>
                    </a:ext>
                  </a:extLst>
                </a:gridCol>
                <a:gridCol w="1089037">
                  <a:extLst>
                    <a:ext uri="{9D8B030D-6E8A-4147-A177-3AD203B41FA5}">
                      <a16:colId xmlns:a16="http://schemas.microsoft.com/office/drawing/2014/main" val="20002"/>
                    </a:ext>
                  </a:extLst>
                </a:gridCol>
                <a:gridCol w="1524654">
                  <a:extLst>
                    <a:ext uri="{9D8B030D-6E8A-4147-A177-3AD203B41FA5}">
                      <a16:colId xmlns:a16="http://schemas.microsoft.com/office/drawing/2014/main" val="20003"/>
                    </a:ext>
                  </a:extLst>
                </a:gridCol>
                <a:gridCol w="3267113">
                  <a:extLst>
                    <a:ext uri="{9D8B030D-6E8A-4147-A177-3AD203B41FA5}">
                      <a16:colId xmlns:a16="http://schemas.microsoft.com/office/drawing/2014/main" val="20004"/>
                    </a:ext>
                  </a:extLst>
                </a:gridCol>
              </a:tblGrid>
              <a:tr h="410475">
                <a:tc>
                  <a:txBody>
                    <a:bodyPr/>
                    <a:lstStyle/>
                    <a:p>
                      <a:r>
                        <a:rPr lang="id-ID" sz="2000" dirty="0"/>
                        <a:t>Manufacture</a:t>
                      </a:r>
                    </a:p>
                  </a:txBody>
                  <a:tcPr marL="84404" marR="84404" marT="45740" marB="45740">
                    <a:solidFill>
                      <a:srgbClr val="92D050"/>
                    </a:solidFill>
                  </a:tcPr>
                </a:tc>
                <a:tc>
                  <a:txBody>
                    <a:bodyPr/>
                    <a:lstStyle/>
                    <a:p>
                      <a:r>
                        <a:rPr lang="id-ID" sz="2000" dirty="0"/>
                        <a:t>Grade</a:t>
                      </a:r>
                    </a:p>
                  </a:txBody>
                  <a:tcPr marL="84404" marR="84404" marT="45740" marB="45740">
                    <a:solidFill>
                      <a:srgbClr val="92D050"/>
                    </a:solidFill>
                  </a:tcPr>
                </a:tc>
                <a:tc>
                  <a:txBody>
                    <a:bodyPr/>
                    <a:lstStyle/>
                    <a:p>
                      <a:r>
                        <a:rPr lang="id-ID" sz="2000" dirty="0"/>
                        <a:t>Lenght</a:t>
                      </a:r>
                    </a:p>
                  </a:txBody>
                  <a:tcPr marL="84404" marR="84404" marT="45740" marB="45740">
                    <a:solidFill>
                      <a:srgbClr val="92D050"/>
                    </a:solidFill>
                  </a:tcPr>
                </a:tc>
                <a:tc>
                  <a:txBody>
                    <a:bodyPr/>
                    <a:lstStyle/>
                    <a:p>
                      <a:r>
                        <a:rPr lang="id-ID" sz="2000" dirty="0"/>
                        <a:t>Weight</a:t>
                      </a:r>
                    </a:p>
                  </a:txBody>
                  <a:tcPr marL="84404" marR="84404" marT="45740" marB="45740">
                    <a:solidFill>
                      <a:srgbClr val="92D050"/>
                    </a:solidFill>
                  </a:tcPr>
                </a:tc>
                <a:tc>
                  <a:txBody>
                    <a:bodyPr/>
                    <a:lstStyle/>
                    <a:p>
                      <a:r>
                        <a:rPr lang="id-ID" sz="2000" dirty="0"/>
                        <a:t>Connection</a:t>
                      </a:r>
                    </a:p>
                  </a:txBody>
                  <a:tcPr marL="84404" marR="84404" marT="45740" marB="45740">
                    <a:solidFill>
                      <a:srgbClr val="92D050"/>
                    </a:solidFill>
                  </a:tcPr>
                </a:tc>
                <a:extLst>
                  <a:ext uri="{0D108BD9-81ED-4DB2-BD59-A6C34878D82A}">
                    <a16:rowId xmlns:a16="http://schemas.microsoft.com/office/drawing/2014/main" val="10000"/>
                  </a:ext>
                </a:extLst>
              </a:tr>
              <a:tr h="2835850">
                <a:tc>
                  <a:txBody>
                    <a:bodyPr/>
                    <a:lstStyle/>
                    <a:p>
                      <a:pPr marL="285750" indent="-285750">
                        <a:buFont typeface="Arial" pitchFamily="34" charset="0"/>
                        <a:buChar char="•"/>
                      </a:pPr>
                      <a:r>
                        <a:rPr lang="en-US" sz="2000" dirty="0"/>
                        <a:t>Spiral</a:t>
                      </a:r>
                    </a:p>
                    <a:p>
                      <a:pPr marL="285750" indent="-285750">
                        <a:buFont typeface="Arial" pitchFamily="34" charset="0"/>
                        <a:buChar char="•"/>
                      </a:pPr>
                      <a:r>
                        <a:rPr lang="id-ID" sz="2000" dirty="0"/>
                        <a:t>ERW</a:t>
                      </a:r>
                      <a:endParaRPr lang="en-US" sz="2000" dirty="0"/>
                    </a:p>
                    <a:p>
                      <a:pPr marL="285750" indent="-285750">
                        <a:buFont typeface="Arial" pitchFamily="34" charset="0"/>
                        <a:buChar char="•"/>
                      </a:pPr>
                      <a:r>
                        <a:rPr lang="en-US" sz="2000" dirty="0"/>
                        <a:t>SAW</a:t>
                      </a:r>
                    </a:p>
                    <a:p>
                      <a:pPr marL="285750" indent="-285750">
                        <a:buFont typeface="Arial" pitchFamily="34" charset="0"/>
                        <a:buChar char="•"/>
                      </a:pPr>
                      <a:r>
                        <a:rPr lang="id-ID" sz="2000" dirty="0">
                          <a:solidFill>
                            <a:srgbClr val="C00000"/>
                          </a:solidFill>
                        </a:rPr>
                        <a:t>Seamless</a:t>
                      </a:r>
                    </a:p>
                  </a:txBody>
                  <a:tcPr marL="84404" marR="84404" marT="45740" marB="45740">
                    <a:solidFill>
                      <a:srgbClr val="99FF99"/>
                    </a:solidFill>
                  </a:tcPr>
                </a:tc>
                <a:tc>
                  <a:txBody>
                    <a:bodyPr/>
                    <a:lstStyle/>
                    <a:p>
                      <a:pPr marL="285750" indent="-285750">
                        <a:buFont typeface="Arial" pitchFamily="34" charset="0"/>
                        <a:buChar char="•"/>
                      </a:pPr>
                      <a:r>
                        <a:rPr lang="id-ID" sz="2000" dirty="0"/>
                        <a:t>X-52</a:t>
                      </a:r>
                    </a:p>
                    <a:p>
                      <a:pPr marL="285750" indent="-285750">
                        <a:buFont typeface="Arial" pitchFamily="34" charset="0"/>
                        <a:buChar char="•"/>
                      </a:pPr>
                      <a:r>
                        <a:rPr lang="id-ID" sz="2000" dirty="0"/>
                        <a:t>X-56</a:t>
                      </a:r>
                    </a:p>
                    <a:p>
                      <a:pPr marL="285750" indent="-285750">
                        <a:buFont typeface="Arial" pitchFamily="34" charset="0"/>
                        <a:buChar char="•"/>
                      </a:pPr>
                      <a:r>
                        <a:rPr lang="id-ID" sz="2000" dirty="0"/>
                        <a:t>K-55</a:t>
                      </a:r>
                    </a:p>
                    <a:p>
                      <a:pPr marL="285750" indent="-285750">
                        <a:buFont typeface="Arial" pitchFamily="34" charset="0"/>
                        <a:buChar char="•"/>
                      </a:pPr>
                      <a:endParaRPr lang="id-ID" sz="2000" dirty="0"/>
                    </a:p>
                  </a:txBody>
                  <a:tcPr marL="84404" marR="84404" marT="45740" marB="45740">
                    <a:solidFill>
                      <a:srgbClr val="99FF99"/>
                    </a:solidFill>
                  </a:tcPr>
                </a:tc>
                <a:tc>
                  <a:txBody>
                    <a:bodyPr/>
                    <a:lstStyle/>
                    <a:p>
                      <a:pPr marL="285750" indent="-285750">
                        <a:buFont typeface="Arial" pitchFamily="34" charset="0"/>
                        <a:buChar char="•"/>
                      </a:pPr>
                      <a:r>
                        <a:rPr lang="id-ID" sz="2000" dirty="0"/>
                        <a:t>R-3</a:t>
                      </a:r>
                    </a:p>
                  </a:txBody>
                  <a:tcPr marL="84404" marR="84404" marT="45740" marB="45740">
                    <a:solidFill>
                      <a:srgbClr val="99FF99"/>
                    </a:solidFill>
                  </a:tcPr>
                </a:tc>
                <a:tc>
                  <a:txBody>
                    <a:bodyPr/>
                    <a:lstStyle/>
                    <a:p>
                      <a:pPr marL="285750" indent="-285750">
                        <a:buFont typeface="Arial" pitchFamily="34" charset="0"/>
                        <a:buChar char="•"/>
                      </a:pPr>
                      <a:r>
                        <a:rPr lang="id-ID" sz="2000" dirty="0"/>
                        <a:t>310 ppf</a:t>
                      </a:r>
                    </a:p>
                    <a:p>
                      <a:pPr marL="285750" indent="-285750">
                        <a:buFont typeface="Arial" pitchFamily="34" charset="0"/>
                        <a:buChar char="•"/>
                      </a:pPr>
                      <a:r>
                        <a:rPr lang="id-ID" sz="2000" dirty="0"/>
                        <a:t>133 ppf</a:t>
                      </a:r>
                    </a:p>
                    <a:p>
                      <a:pPr marL="285750" indent="-285750">
                        <a:buFont typeface="Arial" pitchFamily="34" charset="0"/>
                        <a:buChar char="•"/>
                      </a:pPr>
                      <a:r>
                        <a:rPr lang="id-ID" sz="2000" dirty="0"/>
                        <a:t>129 ppf</a:t>
                      </a:r>
                    </a:p>
                    <a:p>
                      <a:pPr marL="285750" indent="-285750">
                        <a:buFont typeface="Arial" pitchFamily="34" charset="0"/>
                        <a:buChar char="•"/>
                      </a:pPr>
                      <a:endParaRPr lang="id-ID" sz="2000" dirty="0"/>
                    </a:p>
                  </a:txBody>
                  <a:tcPr marL="84404" marR="84404" marT="45740" marB="45740">
                    <a:solidFill>
                      <a:srgbClr val="99FF99"/>
                    </a:solidFill>
                  </a:tcPr>
                </a:tc>
                <a:tc>
                  <a:txBody>
                    <a:bodyPr/>
                    <a:lstStyle/>
                    <a:p>
                      <a:pPr marL="285750" indent="-285750">
                        <a:buFont typeface="Arial" pitchFamily="34" charset="0"/>
                        <a:buChar char="•"/>
                      </a:pPr>
                      <a:r>
                        <a:rPr lang="id-ID" sz="2000" dirty="0"/>
                        <a:t>Bevel End</a:t>
                      </a:r>
                    </a:p>
                    <a:p>
                      <a:pPr marL="285750" indent="-285750">
                        <a:buFont typeface="Arial" pitchFamily="34" charset="0"/>
                        <a:buChar char="•"/>
                      </a:pPr>
                      <a:r>
                        <a:rPr lang="id-ID" sz="2000" dirty="0"/>
                        <a:t>Quick Connector</a:t>
                      </a:r>
                    </a:p>
                  </a:txBody>
                  <a:tcPr marL="84404" marR="84404" marT="45740" marB="45740">
                    <a:solidFill>
                      <a:srgbClr val="99FF99"/>
                    </a:solidFill>
                  </a:tcPr>
                </a:tc>
                <a:extLst>
                  <a:ext uri="{0D108BD9-81ED-4DB2-BD59-A6C34878D82A}">
                    <a16:rowId xmlns:a16="http://schemas.microsoft.com/office/drawing/2014/main" val="10001"/>
                  </a:ext>
                </a:extLst>
              </a:tr>
            </a:tbl>
          </a:graphicData>
        </a:graphic>
      </p:graphicFrame>
      <p:sp>
        <p:nvSpPr>
          <p:cNvPr id="45080" name="TextBox 2"/>
          <p:cNvSpPr txBox="1">
            <a:spLocks noChangeArrowheads="1"/>
          </p:cNvSpPr>
          <p:nvPr/>
        </p:nvSpPr>
        <p:spPr bwMode="auto">
          <a:xfrm>
            <a:off x="550696" y="4504058"/>
            <a:ext cx="90376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None/>
              <a:defRPr/>
            </a:pPr>
            <a:r>
              <a:rPr lang="en-US" altLang="en-US" sz="2000" dirty="0">
                <a:solidFill>
                  <a:srgbClr val="002060"/>
                </a:solidFill>
                <a:latin typeface="Times New Roman" panose="02020603050405020304" pitchFamily="18" charset="0"/>
              </a:rPr>
              <a:t>MANUFACTURED BY ROLLING METAL PLATE</a:t>
            </a:r>
            <a:r>
              <a:rPr lang="en-US" altLang="en-US" sz="2000" b="1" dirty="0">
                <a:solidFill>
                  <a:srgbClr val="FF0000"/>
                </a:solidFill>
                <a:latin typeface="Times New Roman" panose="02020603050405020304" pitchFamily="18" charset="0"/>
              </a:rPr>
              <a:t>:</a:t>
            </a:r>
          </a:p>
          <a:p>
            <a:pPr marL="342900" indent="-342900">
              <a:spcBef>
                <a:spcPct val="0"/>
              </a:spcBef>
              <a:defRPr/>
            </a:pPr>
            <a:r>
              <a:rPr lang="id-ID" altLang="en-US" sz="2000" dirty="0">
                <a:solidFill>
                  <a:srgbClr val="002060"/>
                </a:solidFill>
                <a:latin typeface="Times New Roman" panose="02020603050405020304" pitchFamily="18" charset="0"/>
              </a:rPr>
              <a:t>ERW: Electric Resistance Welded</a:t>
            </a:r>
            <a:endParaRPr lang="en-US" altLang="en-US" sz="2000" dirty="0">
              <a:solidFill>
                <a:srgbClr val="002060"/>
              </a:solidFill>
              <a:latin typeface="Times New Roman" panose="02020603050405020304" pitchFamily="18" charset="0"/>
            </a:endParaRPr>
          </a:p>
          <a:p>
            <a:pPr marL="342900" indent="-342900">
              <a:spcBef>
                <a:spcPct val="0"/>
              </a:spcBef>
              <a:defRPr/>
            </a:pPr>
            <a:r>
              <a:rPr lang="en-US" altLang="en-US" sz="2000" dirty="0">
                <a:solidFill>
                  <a:srgbClr val="002060"/>
                </a:solidFill>
                <a:latin typeface="Times New Roman" panose="02020603050405020304" pitchFamily="18" charset="0"/>
              </a:rPr>
              <a:t>SAW: Submerge Arc Welding</a:t>
            </a:r>
          </a:p>
          <a:p>
            <a:pPr marL="342900" indent="-342900">
              <a:spcBef>
                <a:spcPct val="0"/>
              </a:spcBef>
              <a:defRPr/>
            </a:pPr>
            <a:r>
              <a:rPr lang="en-US" altLang="en-US" sz="2000" dirty="0">
                <a:solidFill>
                  <a:srgbClr val="002060"/>
                </a:solidFill>
                <a:latin typeface="Times New Roman" panose="02020603050405020304" pitchFamily="18" charset="0"/>
              </a:rPr>
              <a:t>LSAW: Longitudinal Submerge Arc Welding</a:t>
            </a:r>
          </a:p>
        </p:txBody>
      </p:sp>
    </p:spTree>
    <p:extLst>
      <p:ext uri="{BB962C8B-B14F-4D97-AF65-F5344CB8AC3E}">
        <p14:creationId xmlns:p14="http://schemas.microsoft.com/office/powerpoint/2010/main" val="1276302553"/>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8368793" cy="640080"/>
          </a:xfrm>
        </p:spPr>
        <p:txBody>
          <a:bodyPr/>
          <a:lstStyle/>
          <a:p>
            <a:r>
              <a:rPr lang="en-US" sz="2800" b="1" dirty="0">
                <a:solidFill>
                  <a:srgbClr val="C00000"/>
                </a:solidFill>
              </a:rPr>
              <a:t>30” </a:t>
            </a:r>
            <a:r>
              <a:rPr lang="id-ID" sz="2800" b="1" dirty="0">
                <a:solidFill>
                  <a:srgbClr val="C00000"/>
                </a:solidFill>
              </a:rPr>
              <a:t>CASING </a:t>
            </a:r>
            <a:r>
              <a:rPr lang="en-US" sz="2800" b="1" dirty="0">
                <a:solidFill>
                  <a:srgbClr val="C00000"/>
                </a:solidFill>
              </a:rPr>
              <a:t>CONDUCTOR </a:t>
            </a:r>
            <a:r>
              <a:rPr lang="id-ID" sz="2800" b="1" dirty="0">
                <a:solidFill>
                  <a:srgbClr val="C00000"/>
                </a:solidFill>
              </a:rPr>
              <a:t>MANUFACTURE PROCESS</a:t>
            </a:r>
            <a:endParaRPr lang="en-US" dirty="0"/>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1207" y="1251258"/>
            <a:ext cx="2811273" cy="2380797"/>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25730" y="1261990"/>
            <a:ext cx="3093074" cy="1739854"/>
          </a:xfrm>
          <a:prstGeom prst="rect">
            <a:avLst/>
          </a:prstGeom>
        </p:spPr>
      </p:pic>
      <p:sp>
        <p:nvSpPr>
          <p:cNvPr id="8" name="Rectangle 7"/>
          <p:cNvSpPr/>
          <p:nvPr/>
        </p:nvSpPr>
        <p:spPr>
          <a:xfrm>
            <a:off x="380869" y="3632055"/>
            <a:ext cx="3147015" cy="338554"/>
          </a:xfrm>
          <a:prstGeom prst="rect">
            <a:avLst/>
          </a:prstGeom>
        </p:spPr>
        <p:txBody>
          <a:bodyPr wrap="none">
            <a:spAutoFit/>
          </a:bodyPr>
          <a:lstStyle/>
          <a:p>
            <a:pPr>
              <a:spcBef>
                <a:spcPct val="0"/>
              </a:spcBef>
              <a:defRPr/>
            </a:pPr>
            <a:r>
              <a:rPr lang="id-ID" altLang="en-US" sz="1600" b="1" dirty="0">
                <a:solidFill>
                  <a:srgbClr val="002060"/>
                </a:solidFill>
                <a:latin typeface="Times New Roman" panose="02020603050405020304" pitchFamily="18" charset="0"/>
              </a:rPr>
              <a:t>ERW: Electric Resistance Welded</a:t>
            </a:r>
            <a:endParaRPr lang="en-US" altLang="en-US" sz="1600" b="1" dirty="0">
              <a:solidFill>
                <a:srgbClr val="002060"/>
              </a:solidFill>
              <a:latin typeface="Times New Roman" panose="02020603050405020304" pitchFamily="18" charset="0"/>
            </a:endParaRPr>
          </a:p>
        </p:txBody>
      </p:sp>
      <p:sp>
        <p:nvSpPr>
          <p:cNvPr id="9" name="Rectangle 8"/>
          <p:cNvSpPr/>
          <p:nvPr/>
        </p:nvSpPr>
        <p:spPr>
          <a:xfrm>
            <a:off x="3724752" y="2929084"/>
            <a:ext cx="3094052" cy="369332"/>
          </a:xfrm>
          <a:prstGeom prst="rect">
            <a:avLst/>
          </a:prstGeom>
        </p:spPr>
        <p:txBody>
          <a:bodyPr wrap="none">
            <a:spAutoFit/>
          </a:bodyPr>
          <a:lstStyle/>
          <a:p>
            <a:pPr>
              <a:spcBef>
                <a:spcPct val="0"/>
              </a:spcBef>
              <a:defRPr/>
            </a:pPr>
            <a:r>
              <a:rPr lang="en-US" altLang="en-US" b="1" dirty="0">
                <a:solidFill>
                  <a:srgbClr val="002060"/>
                </a:solidFill>
                <a:latin typeface="Times New Roman" panose="02020603050405020304" pitchFamily="18" charset="0"/>
              </a:rPr>
              <a:t>SAW: Submerge Arc Welding</a:t>
            </a:r>
          </a:p>
        </p:txBody>
      </p:sp>
      <p:pic>
        <p:nvPicPr>
          <p:cNvPr id="10" name="Picture 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737962" y="3487838"/>
            <a:ext cx="3832407" cy="1856322"/>
          </a:xfrm>
          <a:prstGeom prst="rect">
            <a:avLst/>
          </a:prstGeom>
        </p:spPr>
      </p:pic>
      <p:sp>
        <p:nvSpPr>
          <p:cNvPr id="11" name="Rectangle 10"/>
          <p:cNvSpPr/>
          <p:nvPr/>
        </p:nvSpPr>
        <p:spPr>
          <a:xfrm>
            <a:off x="3675121" y="5401546"/>
            <a:ext cx="5353068" cy="584775"/>
          </a:xfrm>
          <a:prstGeom prst="rect">
            <a:avLst/>
          </a:prstGeom>
        </p:spPr>
        <p:txBody>
          <a:bodyPr wrap="none">
            <a:spAutoFit/>
          </a:bodyPr>
          <a:lstStyle/>
          <a:p>
            <a:r>
              <a:rPr lang="en-US" altLang="en-US" sz="1600" b="1" dirty="0">
                <a:solidFill>
                  <a:srgbClr val="002060"/>
                </a:solidFill>
                <a:latin typeface="Times New Roman" panose="02020603050405020304" pitchFamily="18" charset="0"/>
              </a:rPr>
              <a:t>LSAW: Longitudinal Submerge Arc Welding</a:t>
            </a:r>
          </a:p>
          <a:p>
            <a:r>
              <a:rPr lang="en-US" altLang="en-US" sz="1600" b="1" dirty="0">
                <a:solidFill>
                  <a:srgbClr val="002060"/>
                </a:solidFill>
                <a:latin typeface="Times New Roman" panose="02020603050405020304" pitchFamily="18" charset="0"/>
              </a:rPr>
              <a:t>DSAW: LSAW with double seam weld in inside and outside</a:t>
            </a:r>
            <a:endParaRPr lang="en-US" sz="1600" dirty="0"/>
          </a:p>
        </p:txBody>
      </p:sp>
      <p:pic>
        <p:nvPicPr>
          <p:cNvPr id="12" name="Picture 11">
            <a:extLst>
              <a:ext uri="{FF2B5EF4-FFF2-40B4-BE49-F238E27FC236}">
                <a16:creationId xmlns:a16="http://schemas.microsoft.com/office/drawing/2014/main" id="{F1A3D9E9-FA54-436B-8A5D-F326EC3A235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867521" y="1309428"/>
            <a:ext cx="3706405" cy="2712720"/>
          </a:xfrm>
          <a:prstGeom prst="rect">
            <a:avLst/>
          </a:prstGeom>
        </p:spPr>
      </p:pic>
      <p:sp>
        <p:nvSpPr>
          <p:cNvPr id="13" name="Rectangle 12">
            <a:extLst>
              <a:ext uri="{FF2B5EF4-FFF2-40B4-BE49-F238E27FC236}">
                <a16:creationId xmlns:a16="http://schemas.microsoft.com/office/drawing/2014/main" id="{AAFB8026-4B25-453D-BD19-F503F273FEB9}"/>
              </a:ext>
            </a:extLst>
          </p:cNvPr>
          <p:cNvSpPr/>
          <p:nvPr/>
        </p:nvSpPr>
        <p:spPr>
          <a:xfrm>
            <a:off x="7780447" y="4007939"/>
            <a:ext cx="1345305" cy="369332"/>
          </a:xfrm>
          <a:prstGeom prst="rect">
            <a:avLst/>
          </a:prstGeom>
        </p:spPr>
        <p:txBody>
          <a:bodyPr wrap="none">
            <a:spAutoFit/>
          </a:bodyPr>
          <a:lstStyle/>
          <a:p>
            <a:pPr>
              <a:spcBef>
                <a:spcPct val="0"/>
              </a:spcBef>
              <a:defRPr/>
            </a:pPr>
            <a:r>
              <a:rPr lang="en-US" altLang="en-US" b="1" dirty="0">
                <a:solidFill>
                  <a:srgbClr val="002060"/>
                </a:solidFill>
                <a:latin typeface="Times New Roman" panose="02020603050405020304" pitchFamily="18" charset="0"/>
              </a:rPr>
              <a:t>Spiral SAW</a:t>
            </a:r>
          </a:p>
        </p:txBody>
      </p:sp>
    </p:spTree>
    <p:extLst>
      <p:ext uri="{BB962C8B-B14F-4D97-AF65-F5344CB8AC3E}">
        <p14:creationId xmlns:p14="http://schemas.microsoft.com/office/powerpoint/2010/main" val="25922855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normAutofit/>
          </a:bodyPr>
          <a:lstStyle/>
          <a:p>
            <a:r>
              <a:rPr lang="id-ID" sz="3600" b="1" dirty="0">
                <a:solidFill>
                  <a:srgbClr val="C00000"/>
                </a:solidFill>
              </a:rPr>
              <a:t>CASING MANUFACTURE PROCESS</a:t>
            </a:r>
            <a:endParaRPr lang="en-US" altLang="en-US" sz="3600" b="1" dirty="0">
              <a:solidFill>
                <a:srgbClr val="C00000"/>
              </a:solidFill>
            </a:endParaRPr>
          </a:p>
        </p:txBody>
      </p:sp>
      <p:sp>
        <p:nvSpPr>
          <p:cNvPr id="56323"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786DA3FC-B902-43CF-8BD8-9515E4BF4B3B}" type="slidenum">
              <a:rPr lang="en-US" altLang="en-US" sz="1400"/>
              <a:pPr>
                <a:spcBef>
                  <a:spcPct val="0"/>
                </a:spcBef>
                <a:buFontTx/>
                <a:buNone/>
              </a:pPr>
              <a:t>77</a:t>
            </a:fld>
            <a:endParaRPr lang="en-US" altLang="en-US" sz="1400"/>
          </a:p>
        </p:txBody>
      </p:sp>
      <p:sp>
        <p:nvSpPr>
          <p:cNvPr id="46084" name="TextBox 2"/>
          <p:cNvSpPr txBox="1">
            <a:spLocks noChangeArrowheads="1"/>
          </p:cNvSpPr>
          <p:nvPr/>
        </p:nvSpPr>
        <p:spPr bwMode="auto">
          <a:xfrm>
            <a:off x="749301" y="1358900"/>
            <a:ext cx="11118849"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defRPr/>
            </a:pPr>
            <a:r>
              <a:rPr lang="id-ID" altLang="en-US" sz="2000" b="1" dirty="0">
                <a:solidFill>
                  <a:srgbClr val="C00000"/>
                </a:solidFill>
                <a:latin typeface="Times New Roman" panose="02020603050405020304" pitchFamily="18" charset="0"/>
              </a:rPr>
              <a:t>ERW: Electric Resistance Welded</a:t>
            </a:r>
            <a:endParaRPr lang="en-US" altLang="en-US" sz="2000" b="1" dirty="0">
              <a:solidFill>
                <a:srgbClr val="C00000"/>
              </a:solidFill>
              <a:latin typeface="Times New Roman" panose="02020603050405020304" pitchFamily="18" charset="0"/>
            </a:endParaRPr>
          </a:p>
          <a:p>
            <a:pPr marL="342900" indent="-342900">
              <a:spcBef>
                <a:spcPct val="0"/>
              </a:spcBef>
              <a:defRPr/>
            </a:pPr>
            <a:r>
              <a:rPr lang="en-US" altLang="en-US" sz="2000" dirty="0">
                <a:latin typeface="Times New Roman" panose="02020603050405020304" pitchFamily="18" charset="0"/>
              </a:rPr>
              <a:t>Manufactured by rolling metal and then welding it longitudinally across its length</a:t>
            </a:r>
          </a:p>
          <a:p>
            <a:pPr eaLnBrk="1" hangingPunct="1">
              <a:spcBef>
                <a:spcPct val="0"/>
              </a:spcBef>
              <a:buFontTx/>
              <a:buNone/>
              <a:defRPr/>
            </a:pPr>
            <a:r>
              <a:rPr lang="en-US" altLang="en-US" sz="2000" b="1" dirty="0">
                <a:solidFill>
                  <a:srgbClr val="C00000"/>
                </a:solidFill>
                <a:latin typeface="Times New Roman" panose="02020603050405020304" pitchFamily="18" charset="0"/>
              </a:rPr>
              <a:t>SAW: Submerge Arc Welding</a:t>
            </a:r>
          </a:p>
          <a:p>
            <a:pPr eaLnBrk="1" hangingPunct="1">
              <a:spcBef>
                <a:spcPct val="0"/>
              </a:spcBef>
              <a:buFontTx/>
              <a:buNone/>
              <a:defRPr/>
            </a:pPr>
            <a:r>
              <a:rPr lang="en-US" altLang="en-US" sz="2000" b="1" dirty="0">
                <a:solidFill>
                  <a:srgbClr val="C00000"/>
                </a:solidFill>
                <a:latin typeface="Times New Roman" panose="02020603050405020304" pitchFamily="18" charset="0"/>
              </a:rPr>
              <a:t>LSAW: Longitudinal Submerge Arc Welding, </a:t>
            </a:r>
          </a:p>
          <a:p>
            <a:pPr marL="342900" indent="-342900">
              <a:spcBef>
                <a:spcPct val="0"/>
              </a:spcBef>
              <a:defRPr/>
            </a:pPr>
            <a:r>
              <a:rPr lang="en-US" altLang="en-US" sz="2000" dirty="0">
                <a:latin typeface="Times New Roman" panose="02020603050405020304" pitchFamily="18" charset="0"/>
              </a:rPr>
              <a:t>Single seam weld on the outer surface</a:t>
            </a:r>
          </a:p>
          <a:p>
            <a:pPr eaLnBrk="1" hangingPunct="1">
              <a:spcBef>
                <a:spcPct val="0"/>
              </a:spcBef>
              <a:buFontTx/>
              <a:buNone/>
              <a:defRPr/>
            </a:pPr>
            <a:r>
              <a:rPr lang="en-US" altLang="en-US" sz="2000" b="1" dirty="0">
                <a:solidFill>
                  <a:srgbClr val="C00000"/>
                </a:solidFill>
                <a:latin typeface="Times New Roman" panose="02020603050405020304" pitchFamily="18" charset="0"/>
              </a:rPr>
              <a:t>DSAW: LSAW with double seam weld in inside and outside</a:t>
            </a:r>
          </a:p>
          <a:p>
            <a:pPr eaLnBrk="1" hangingPunct="1">
              <a:spcBef>
                <a:spcPct val="0"/>
              </a:spcBef>
              <a:buFontTx/>
              <a:buNone/>
              <a:defRPr/>
            </a:pPr>
            <a:r>
              <a:rPr lang="en-US" altLang="en-US" sz="2000" b="1" dirty="0">
                <a:solidFill>
                  <a:srgbClr val="C00000"/>
                </a:solidFill>
                <a:latin typeface="Times New Roman" panose="02020603050405020304" pitchFamily="18" charset="0"/>
              </a:rPr>
              <a:t>SPIRAL SAW</a:t>
            </a:r>
          </a:p>
          <a:p>
            <a:pPr eaLnBrk="1" hangingPunct="1">
              <a:spcBef>
                <a:spcPct val="0"/>
              </a:spcBef>
              <a:buFontTx/>
              <a:buNone/>
              <a:defRPr/>
            </a:pPr>
            <a:endParaRPr lang="en-US" altLang="en-US" sz="2000" b="1" dirty="0">
              <a:solidFill>
                <a:srgbClr val="C00000"/>
              </a:solidFill>
              <a:latin typeface="Times New Roman" panose="02020603050405020304" pitchFamily="18" charset="0"/>
            </a:endParaRPr>
          </a:p>
          <a:p>
            <a:pPr eaLnBrk="1" hangingPunct="1">
              <a:spcBef>
                <a:spcPct val="0"/>
              </a:spcBef>
              <a:buFontTx/>
              <a:buNone/>
              <a:defRPr/>
            </a:pPr>
            <a:endParaRPr lang="en-US" altLang="en-US" sz="2000" b="1" dirty="0">
              <a:solidFill>
                <a:srgbClr val="C00000"/>
              </a:solidFill>
              <a:latin typeface="Times New Roman" panose="02020603050405020304" pitchFamily="18" charset="0"/>
            </a:endParaRPr>
          </a:p>
          <a:p>
            <a:pPr eaLnBrk="1" hangingPunct="1">
              <a:spcBef>
                <a:spcPct val="0"/>
              </a:spcBef>
              <a:buFontTx/>
              <a:buNone/>
              <a:defRPr/>
            </a:pPr>
            <a:r>
              <a:rPr lang="en-US" altLang="en-US" sz="2000" b="1" dirty="0">
                <a:solidFill>
                  <a:srgbClr val="C00000"/>
                </a:solidFill>
                <a:latin typeface="Times New Roman" panose="02020603050405020304" pitchFamily="18" charset="0"/>
              </a:rPr>
              <a:t>SEAMLESS: </a:t>
            </a:r>
          </a:p>
          <a:p>
            <a:pPr marL="342900" indent="-342900">
              <a:spcBef>
                <a:spcPct val="0"/>
              </a:spcBef>
              <a:defRPr/>
            </a:pPr>
            <a:r>
              <a:rPr lang="en-US" altLang="en-US" sz="2000" dirty="0">
                <a:latin typeface="Times New Roman" panose="02020603050405020304" pitchFamily="18" charset="0"/>
              </a:rPr>
              <a:t>Manufactured by extruding the metal to the desired length. </a:t>
            </a:r>
            <a:r>
              <a:rPr lang="en-US" altLang="en-US" sz="2800" u="sng" dirty="0">
                <a:solidFill>
                  <a:srgbClr val="C00000"/>
                </a:solidFill>
                <a:latin typeface="Times New Roman" panose="02020603050405020304" pitchFamily="18" charset="0"/>
              </a:rPr>
              <a:t>20-30%</a:t>
            </a:r>
            <a:r>
              <a:rPr lang="en-US" altLang="en-US" sz="2000" dirty="0">
                <a:latin typeface="Times New Roman" panose="02020603050405020304" pitchFamily="18" charset="0"/>
              </a:rPr>
              <a:t> higher price than ERW casing</a:t>
            </a:r>
            <a:endParaRPr lang="id-ID" altLang="en-US" sz="2000" dirty="0">
              <a:latin typeface="Times New Roman" panose="02020603050405020304" pitchFamily="18" charset="0"/>
            </a:endParaRPr>
          </a:p>
        </p:txBody>
      </p:sp>
      <p:pic>
        <p:nvPicPr>
          <p:cNvPr id="56325" name="Picture 6" descr="http://travel-search-engines.com/wp-content/uploads/2012/07/money-icon.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788526" y="6191250"/>
            <a:ext cx="625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20" descr="Related imag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98418" y="2286000"/>
            <a:ext cx="20193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07448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E7970-D101-4015-E981-0AEACD0DEC7F}"/>
              </a:ext>
            </a:extLst>
          </p:cNvPr>
          <p:cNvSpPr>
            <a:spLocks noGrp="1"/>
          </p:cNvSpPr>
          <p:nvPr>
            <p:ph type="title"/>
          </p:nvPr>
        </p:nvSpPr>
        <p:spPr/>
        <p:txBody>
          <a:bodyPr/>
          <a:lstStyle/>
          <a:p>
            <a:r>
              <a:rPr lang="en-US" dirty="0" err="1"/>
              <a:t>Ketebalan</a:t>
            </a:r>
            <a:r>
              <a:rPr lang="en-US" dirty="0"/>
              <a:t> Pipa 30” </a:t>
            </a:r>
            <a:r>
              <a:rPr lang="en-US" dirty="0" err="1"/>
              <a:t>Konduktor</a:t>
            </a:r>
            <a:endParaRPr lang="en-ID" dirty="0"/>
          </a:p>
        </p:txBody>
      </p:sp>
      <p:sp>
        <p:nvSpPr>
          <p:cNvPr id="4" name="TextBox 3">
            <a:extLst>
              <a:ext uri="{FF2B5EF4-FFF2-40B4-BE49-F238E27FC236}">
                <a16:creationId xmlns:a16="http://schemas.microsoft.com/office/drawing/2014/main" id="{51A6B15E-9DF3-81B0-FE05-5D674FF6E1D0}"/>
              </a:ext>
            </a:extLst>
          </p:cNvPr>
          <p:cNvSpPr txBox="1"/>
          <p:nvPr/>
        </p:nvSpPr>
        <p:spPr>
          <a:xfrm>
            <a:off x="1113760" y="1629158"/>
            <a:ext cx="10156751" cy="3236207"/>
          </a:xfrm>
          <a:prstGeom prst="rect">
            <a:avLst/>
          </a:prstGeom>
          <a:noFill/>
        </p:spPr>
        <p:txBody>
          <a:bodyPr wrap="square">
            <a:spAutoFit/>
          </a:bodyPr>
          <a:lstStyle/>
          <a:p>
            <a:pPr marR="0" lvl="0" algn="just">
              <a:lnSpc>
                <a:spcPct val="107000"/>
              </a:lnSpc>
              <a:spcBef>
                <a:spcPts val="0"/>
              </a:spcBef>
              <a:spcAft>
                <a:spcPts val="0"/>
              </a:spcAft>
            </a:pPr>
            <a:r>
              <a:rPr lang="en-US" sz="2400" dirty="0" err="1">
                <a:effectLst/>
                <a:latin typeface="Calibri" panose="020F0502020204030204" pitchFamily="34" charset="0"/>
                <a:ea typeface="Calibri" panose="020F0502020204030204" pitchFamily="34" charset="0"/>
                <a:cs typeface="Calibri" panose="020F0502020204030204" pitchFamily="34" charset="0"/>
              </a:rPr>
              <a:t>Pemilihan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ketebalan</a:t>
            </a:r>
            <a:r>
              <a:rPr lang="en-US" sz="2400" dirty="0">
                <a:effectLst/>
                <a:latin typeface="Calibri" panose="020F0502020204030204" pitchFamily="34" charset="0"/>
                <a:ea typeface="Calibri" panose="020F0502020204030204" pitchFamily="34" charset="0"/>
                <a:cs typeface="Calibri" panose="020F0502020204030204" pitchFamily="34" charset="0"/>
              </a:rPr>
              <a:t> pipa 30” </a:t>
            </a:r>
            <a:r>
              <a:rPr lang="en-US" sz="2400" dirty="0" err="1">
                <a:effectLst/>
                <a:latin typeface="Calibri" panose="020F0502020204030204" pitchFamily="34" charset="0"/>
                <a:ea typeface="Calibri" panose="020F0502020204030204" pitchFamily="34" charset="0"/>
                <a:cs typeface="Calibri" panose="020F0502020204030204" pitchFamily="34" charset="0"/>
              </a:rPr>
              <a:t>Konduktor</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harus</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disesuaikan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dengan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metoda</a:t>
            </a:r>
            <a:r>
              <a:rPr lang="en-US" sz="2400" dirty="0">
                <a:effectLst/>
                <a:latin typeface="Calibri" panose="020F0502020204030204" pitchFamily="34" charset="0"/>
                <a:ea typeface="Calibri" panose="020F0502020204030204" pitchFamily="34" charset="0"/>
                <a:cs typeface="Calibri" panose="020F0502020204030204" pitchFamily="34" charset="0"/>
              </a:rPr>
              <a:t> pemasangan pipa </a:t>
            </a:r>
            <a:r>
              <a:rPr lang="en-US" sz="2400" dirty="0" err="1">
                <a:effectLst/>
                <a:latin typeface="Calibri" panose="020F0502020204030204" pitchFamily="34" charset="0"/>
                <a:ea typeface="Calibri" panose="020F0502020204030204" pitchFamily="34" charset="0"/>
                <a:cs typeface="Calibri" panose="020F0502020204030204" pitchFamily="34" charset="0"/>
              </a:rPr>
              <a:t>konduktor</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tersebut</a:t>
            </a:r>
            <a:r>
              <a:rPr lang="en-US" sz="2400" dirty="0">
                <a:effectLst/>
                <a:latin typeface="Calibri" panose="020F0502020204030204" pitchFamily="34" charset="0"/>
                <a:ea typeface="Calibri" panose="020F0502020204030204" pitchFamily="34" charset="0"/>
                <a:cs typeface="Calibri" panose="020F0502020204030204" pitchFamily="34" charset="0"/>
              </a:rPr>
              <a:t>:</a:t>
            </a:r>
          </a:p>
          <a:p>
            <a:pPr marR="0" lvl="0" algn="just">
              <a:lnSpc>
                <a:spcPct val="107000"/>
              </a:lnSpc>
              <a:spcBef>
                <a:spcPts val="0"/>
              </a:spcBef>
              <a:spcAft>
                <a:spcPts val="0"/>
              </a:spcAft>
            </a:pP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0"/>
              </a:spcAft>
              <a:buFont typeface="Courier New" panose="02070309020205020404" pitchFamily="49" charset="0"/>
              <a:buChar char="o"/>
            </a:pP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PILING</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sebaiknya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memakai</a:t>
            </a:r>
            <a:r>
              <a:rPr lang="en-US" sz="2400" dirty="0">
                <a:effectLst/>
                <a:latin typeface="Calibri" panose="020F0502020204030204" pitchFamily="34" charset="0"/>
                <a:ea typeface="Calibri" panose="020F0502020204030204" pitchFamily="34" charset="0"/>
                <a:cs typeface="Calibri" panose="020F0502020204030204" pitchFamily="34" charset="0"/>
              </a:rPr>
              <a:t> pipa </a:t>
            </a:r>
            <a:r>
              <a:rPr lang="en-US" sz="2400" dirty="0" err="1">
                <a:effectLst/>
                <a:latin typeface="Calibri" panose="020F0502020204030204" pitchFamily="34" charset="0"/>
                <a:ea typeface="Calibri" panose="020F0502020204030204" pitchFamily="34" charset="0"/>
                <a:cs typeface="Calibri" panose="020F0502020204030204" pitchFamily="34" charset="0"/>
              </a:rPr>
              <a:t>dengan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ketebalan</a:t>
            </a:r>
            <a:r>
              <a:rPr lang="en-US" sz="2400" dirty="0">
                <a:effectLst/>
                <a:latin typeface="Calibri" panose="020F0502020204030204" pitchFamily="34" charset="0"/>
                <a:ea typeface="Calibri" panose="020F0502020204030204" pitchFamily="34" charset="0"/>
                <a:cs typeface="Calibri" panose="020F0502020204030204" pitchFamily="34" charset="0"/>
              </a:rPr>
              <a:t> 1” </a:t>
            </a:r>
            <a:r>
              <a:rPr lang="en-US" sz="2400" dirty="0" err="1">
                <a:effectLst/>
                <a:latin typeface="Calibri" panose="020F0502020204030204" pitchFamily="34" charset="0"/>
                <a:ea typeface="Calibri" panose="020F0502020204030204" pitchFamily="34" charset="0"/>
                <a:cs typeface="Calibri" panose="020F0502020204030204" pitchFamily="34" charset="0"/>
              </a:rPr>
              <a:t>untuk</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mencegah</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kolap</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saat</a:t>
            </a:r>
            <a:r>
              <a:rPr lang="en-US" sz="2400" dirty="0">
                <a:effectLst/>
                <a:latin typeface="Calibri" panose="020F0502020204030204" pitchFamily="34" charset="0"/>
                <a:ea typeface="Calibri" panose="020F0502020204030204" pitchFamily="34" charset="0"/>
                <a:cs typeface="Calibri" panose="020F0502020204030204" pitchFamily="34" charset="0"/>
              </a:rPr>
              <a:t> pemasangan (hammer piling).</a:t>
            </a:r>
          </a:p>
          <a:p>
            <a:pPr marL="742950" marR="0" lvl="1" indent="-285750" algn="just">
              <a:lnSpc>
                <a:spcPct val="107000"/>
              </a:lnSpc>
              <a:spcBef>
                <a:spcPts val="0"/>
              </a:spcBef>
              <a:spcAft>
                <a:spcPts val="0"/>
              </a:spcAft>
              <a:buFont typeface="Courier New" panose="02070309020205020404" pitchFamily="49" charset="0"/>
              <a:buChar char="o"/>
            </a:pP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07000"/>
              </a:lnSpc>
              <a:spcBef>
                <a:spcPts val="0"/>
              </a:spcBef>
              <a:spcAft>
                <a:spcPts val="800"/>
              </a:spcAft>
              <a:buFont typeface="Courier New" panose="02070309020205020404" pitchFamily="49" charset="0"/>
              <a:buChar char="o"/>
            </a:pP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BOR dan CEMENT</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sebaiknya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memakai</a:t>
            </a:r>
            <a:r>
              <a:rPr lang="en-US" sz="2400" dirty="0">
                <a:effectLst/>
                <a:latin typeface="Calibri" panose="020F0502020204030204" pitchFamily="34" charset="0"/>
                <a:ea typeface="Calibri" panose="020F0502020204030204" pitchFamily="34" charset="0"/>
                <a:cs typeface="Calibri" panose="020F0502020204030204" pitchFamily="34" charset="0"/>
              </a:rPr>
              <a:t> pipa </a:t>
            </a:r>
            <a:r>
              <a:rPr lang="en-US" sz="2400" dirty="0" err="1">
                <a:effectLst/>
                <a:latin typeface="Calibri" panose="020F0502020204030204" pitchFamily="34" charset="0"/>
                <a:ea typeface="Calibri" panose="020F0502020204030204" pitchFamily="34" charset="0"/>
                <a:cs typeface="Calibri" panose="020F0502020204030204" pitchFamily="34" charset="0"/>
              </a:rPr>
              <a:t>dengan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ketebalan</a:t>
            </a:r>
            <a:r>
              <a:rPr lang="en-US" sz="2400" dirty="0">
                <a:effectLst/>
                <a:latin typeface="Calibri" panose="020F0502020204030204" pitchFamily="34" charset="0"/>
                <a:ea typeface="Calibri" panose="020F0502020204030204" pitchFamily="34" charset="0"/>
                <a:cs typeface="Calibri" panose="020F0502020204030204" pitchFamily="34" charset="0"/>
              </a:rPr>
              <a:t> 0.75” </a:t>
            </a:r>
            <a:r>
              <a:rPr lang="en-US" sz="2400" dirty="0" err="1">
                <a:effectLst/>
                <a:latin typeface="Calibri" panose="020F0502020204030204" pitchFamily="34" charset="0"/>
                <a:ea typeface="Calibri" panose="020F0502020204030204" pitchFamily="34" charset="0"/>
                <a:cs typeface="Calibri" panose="020F0502020204030204" pitchFamily="34" charset="0"/>
              </a:rPr>
              <a:t>atau</a:t>
            </a:r>
            <a:r>
              <a:rPr lang="en-US" sz="2400" dirty="0">
                <a:effectLst/>
                <a:latin typeface="Calibri" panose="020F0502020204030204" pitchFamily="34" charset="0"/>
                <a:ea typeface="Calibri" panose="020F0502020204030204" pitchFamily="34" charset="0"/>
                <a:cs typeface="Calibri" panose="020F0502020204030204" pitchFamily="34" charset="0"/>
              </a:rPr>
              <a:t> 0.5”. </a:t>
            </a:r>
            <a:r>
              <a:rPr lang="en-US" sz="2400" dirty="0" err="1">
                <a:effectLst/>
                <a:latin typeface="Calibri" panose="020F0502020204030204" pitchFamily="34" charset="0"/>
                <a:ea typeface="Calibri" panose="020F0502020204030204" pitchFamily="34" charset="0"/>
                <a:cs typeface="Calibri" panose="020F0502020204030204" pitchFamily="34" charset="0"/>
              </a:rPr>
              <a:t>Dengan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cara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ini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tidak</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ada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resiko</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konduktor</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kolap</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saat</a:t>
            </a:r>
            <a:r>
              <a:rPr lang="en-US" sz="2400" dirty="0">
                <a:effectLst/>
                <a:latin typeface="Calibri" panose="020F0502020204030204" pitchFamily="34" charset="0"/>
                <a:ea typeface="Calibri" panose="020F0502020204030204" pitchFamily="34" charset="0"/>
                <a:cs typeface="Calibri" panose="020F0502020204030204" pitchFamily="34" charset="0"/>
              </a:rPr>
              <a:t> pemasangan.</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810210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sz="4000" b="1" dirty="0">
                <a:solidFill>
                  <a:srgbClr val="002060"/>
                </a:solidFill>
                <a:latin typeface="Times New Roman" panose="02020603050405020304" pitchFamily="18" charset="0"/>
              </a:rPr>
              <a:t>30” Cost Comparison </a:t>
            </a:r>
            <a:endParaRPr lang="en-US" sz="4000" dirty="0"/>
          </a:p>
        </p:txBody>
      </p:sp>
      <p:graphicFrame>
        <p:nvGraphicFramePr>
          <p:cNvPr id="3" name="Table 4">
            <a:extLst>
              <a:ext uri="{FF2B5EF4-FFF2-40B4-BE49-F238E27FC236}">
                <a16:creationId xmlns:a16="http://schemas.microsoft.com/office/drawing/2014/main" id="{034869B7-2953-4CF1-82F9-7F1BBB8AA109}"/>
              </a:ext>
            </a:extLst>
          </p:cNvPr>
          <p:cNvGraphicFramePr>
            <a:graphicFrameLocks noGrp="1"/>
          </p:cNvGraphicFramePr>
          <p:nvPr/>
        </p:nvGraphicFramePr>
        <p:xfrm>
          <a:off x="284481" y="1374647"/>
          <a:ext cx="3830320" cy="2494280"/>
        </p:xfrm>
        <a:graphic>
          <a:graphicData uri="http://schemas.openxmlformats.org/drawingml/2006/table">
            <a:tbl>
              <a:tblPr firstRow="1" bandRow="1">
                <a:tableStyleId>{5C22544A-7EE6-4342-B048-85BDC9FD1C3A}</a:tableStyleId>
              </a:tblPr>
              <a:tblGrid>
                <a:gridCol w="1148155">
                  <a:extLst>
                    <a:ext uri="{9D8B030D-6E8A-4147-A177-3AD203B41FA5}">
                      <a16:colId xmlns:a16="http://schemas.microsoft.com/office/drawing/2014/main" val="2197685927"/>
                    </a:ext>
                  </a:extLst>
                </a:gridCol>
                <a:gridCol w="1168324">
                  <a:extLst>
                    <a:ext uri="{9D8B030D-6E8A-4147-A177-3AD203B41FA5}">
                      <a16:colId xmlns:a16="http://schemas.microsoft.com/office/drawing/2014/main" val="4054157987"/>
                    </a:ext>
                  </a:extLst>
                </a:gridCol>
                <a:gridCol w="1513841">
                  <a:extLst>
                    <a:ext uri="{9D8B030D-6E8A-4147-A177-3AD203B41FA5}">
                      <a16:colId xmlns:a16="http://schemas.microsoft.com/office/drawing/2014/main" val="4066764724"/>
                    </a:ext>
                  </a:extLst>
                </a:gridCol>
              </a:tblGrid>
              <a:tr h="370840">
                <a:tc>
                  <a:txBody>
                    <a:bodyPr/>
                    <a:lstStyle/>
                    <a:p>
                      <a:r>
                        <a:rPr lang="en-US" dirty="0"/>
                        <a:t>30” Casing</a:t>
                      </a:r>
                      <a:endParaRPr lang="en-ID" dirty="0"/>
                    </a:p>
                  </a:txBody>
                  <a:tcPr/>
                </a:tc>
                <a:tc>
                  <a:txBody>
                    <a:bodyPr/>
                    <a:lstStyle/>
                    <a:p>
                      <a:r>
                        <a:rPr lang="en-US" dirty="0"/>
                        <a:t>Welded</a:t>
                      </a:r>
                      <a:endParaRPr lang="en-ID" dirty="0"/>
                    </a:p>
                  </a:txBody>
                  <a:tcPr/>
                </a:tc>
                <a:tc>
                  <a:txBody>
                    <a:bodyPr/>
                    <a:lstStyle/>
                    <a:p>
                      <a:r>
                        <a:rPr lang="en-US" dirty="0"/>
                        <a:t>USD/</a:t>
                      </a:r>
                      <a:r>
                        <a:rPr lang="en-US" dirty="0" err="1"/>
                        <a:t>Jt</a:t>
                      </a:r>
                      <a:endParaRPr lang="en-ID" dirty="0"/>
                    </a:p>
                  </a:txBody>
                  <a:tcPr/>
                </a:tc>
                <a:extLst>
                  <a:ext uri="{0D108BD9-81ED-4DB2-BD59-A6C34878D82A}">
                    <a16:rowId xmlns:a16="http://schemas.microsoft.com/office/drawing/2014/main" val="1430926706"/>
                  </a:ext>
                </a:extLst>
              </a:tr>
              <a:tr h="370840">
                <a:tc rowSpan="5">
                  <a:txBody>
                    <a:bodyPr/>
                    <a:lstStyle/>
                    <a:p>
                      <a:r>
                        <a:rPr lang="en-US" dirty="0"/>
                        <a:t>1” Wall Thickness</a:t>
                      </a:r>
                      <a:endParaRPr lang="en-ID" dirty="0"/>
                    </a:p>
                  </a:txBody>
                  <a:tcPr/>
                </a:tc>
                <a:tc>
                  <a:txBody>
                    <a:bodyPr/>
                    <a:lstStyle/>
                    <a:p>
                      <a:r>
                        <a:rPr lang="en-US" dirty="0"/>
                        <a:t>ERW</a:t>
                      </a:r>
                      <a:endParaRPr lang="en-ID" dirty="0"/>
                    </a:p>
                  </a:txBody>
                  <a:tcPr/>
                </a:tc>
                <a:tc>
                  <a:txBody>
                    <a:bodyPr/>
                    <a:lstStyle/>
                    <a:p>
                      <a:endParaRPr lang="en-ID"/>
                    </a:p>
                  </a:txBody>
                  <a:tcPr/>
                </a:tc>
                <a:extLst>
                  <a:ext uri="{0D108BD9-81ED-4DB2-BD59-A6C34878D82A}">
                    <a16:rowId xmlns:a16="http://schemas.microsoft.com/office/drawing/2014/main" val="2264607298"/>
                  </a:ext>
                </a:extLst>
              </a:tr>
              <a:tr h="370840">
                <a:tc vMerge="1">
                  <a:txBody>
                    <a:bodyPr/>
                    <a:lstStyle/>
                    <a:p>
                      <a:endParaRPr lang="en-ID" dirty="0"/>
                    </a:p>
                  </a:txBody>
                  <a:tcPr/>
                </a:tc>
                <a:tc>
                  <a:txBody>
                    <a:bodyPr/>
                    <a:lstStyle/>
                    <a:p>
                      <a:r>
                        <a:rPr lang="en-US" dirty="0"/>
                        <a:t>LSAW</a:t>
                      </a:r>
                      <a:endParaRPr lang="en-ID" dirty="0"/>
                    </a:p>
                  </a:txBody>
                  <a:tcPr/>
                </a:tc>
                <a:tc>
                  <a:txBody>
                    <a:bodyPr/>
                    <a:lstStyle/>
                    <a:p>
                      <a:endParaRPr lang="en-ID"/>
                    </a:p>
                  </a:txBody>
                  <a:tcPr/>
                </a:tc>
                <a:extLst>
                  <a:ext uri="{0D108BD9-81ED-4DB2-BD59-A6C34878D82A}">
                    <a16:rowId xmlns:a16="http://schemas.microsoft.com/office/drawing/2014/main" val="2793252980"/>
                  </a:ext>
                </a:extLst>
              </a:tr>
              <a:tr h="370840">
                <a:tc vMerge="1">
                  <a:txBody>
                    <a:bodyPr/>
                    <a:lstStyle/>
                    <a:p>
                      <a:endParaRPr lang="en-ID" dirty="0"/>
                    </a:p>
                  </a:txBody>
                  <a:tcPr/>
                </a:tc>
                <a:tc>
                  <a:txBody>
                    <a:bodyPr/>
                    <a:lstStyle/>
                    <a:p>
                      <a:r>
                        <a:rPr lang="en-US" dirty="0"/>
                        <a:t>DSAW</a:t>
                      </a:r>
                      <a:endParaRPr lang="en-ID" dirty="0"/>
                    </a:p>
                  </a:txBody>
                  <a:tcPr/>
                </a:tc>
                <a:tc>
                  <a:txBody>
                    <a:bodyPr/>
                    <a:lstStyle/>
                    <a:p>
                      <a:endParaRPr lang="en-ID"/>
                    </a:p>
                  </a:txBody>
                  <a:tcPr/>
                </a:tc>
                <a:extLst>
                  <a:ext uri="{0D108BD9-81ED-4DB2-BD59-A6C34878D82A}">
                    <a16:rowId xmlns:a16="http://schemas.microsoft.com/office/drawing/2014/main" val="1271676829"/>
                  </a:ext>
                </a:extLst>
              </a:tr>
              <a:tr h="370840">
                <a:tc vMerge="1">
                  <a:txBody>
                    <a:bodyPr/>
                    <a:lstStyle/>
                    <a:p>
                      <a:endParaRPr lang="en-ID" dirty="0"/>
                    </a:p>
                  </a:txBody>
                  <a:tcPr/>
                </a:tc>
                <a:tc>
                  <a:txBody>
                    <a:bodyPr/>
                    <a:lstStyle/>
                    <a:p>
                      <a:r>
                        <a:rPr lang="en-US" dirty="0"/>
                        <a:t>SPIRAL</a:t>
                      </a:r>
                      <a:endParaRPr lang="en-ID" dirty="0"/>
                    </a:p>
                  </a:txBody>
                  <a:tcPr/>
                </a:tc>
                <a:tc>
                  <a:txBody>
                    <a:bodyPr/>
                    <a:lstStyle/>
                    <a:p>
                      <a:endParaRPr lang="en-ID" dirty="0"/>
                    </a:p>
                  </a:txBody>
                  <a:tcPr/>
                </a:tc>
                <a:extLst>
                  <a:ext uri="{0D108BD9-81ED-4DB2-BD59-A6C34878D82A}">
                    <a16:rowId xmlns:a16="http://schemas.microsoft.com/office/drawing/2014/main" val="531601083"/>
                  </a:ext>
                </a:extLst>
              </a:tr>
              <a:tr h="370840">
                <a:tc vMerge="1">
                  <a:txBody>
                    <a:bodyPr/>
                    <a:lstStyle/>
                    <a:p>
                      <a:endParaRPr lang="en-ID" dirty="0"/>
                    </a:p>
                  </a:txBody>
                  <a:tcPr/>
                </a:tc>
                <a:tc>
                  <a:txBody>
                    <a:bodyPr/>
                    <a:lstStyle/>
                    <a:p>
                      <a:r>
                        <a:rPr lang="en-US" dirty="0"/>
                        <a:t>Seamless</a:t>
                      </a:r>
                      <a:endParaRPr lang="en-ID" dirty="0"/>
                    </a:p>
                  </a:txBody>
                  <a:tcPr/>
                </a:tc>
                <a:tc>
                  <a:txBody>
                    <a:bodyPr/>
                    <a:lstStyle/>
                    <a:p>
                      <a:endParaRPr lang="en-ID" dirty="0"/>
                    </a:p>
                  </a:txBody>
                  <a:tcPr/>
                </a:tc>
                <a:extLst>
                  <a:ext uri="{0D108BD9-81ED-4DB2-BD59-A6C34878D82A}">
                    <a16:rowId xmlns:a16="http://schemas.microsoft.com/office/drawing/2014/main" val="1809581213"/>
                  </a:ext>
                </a:extLst>
              </a:tr>
            </a:tbl>
          </a:graphicData>
        </a:graphic>
      </p:graphicFrame>
      <p:graphicFrame>
        <p:nvGraphicFramePr>
          <p:cNvPr id="7" name="Table 4">
            <a:extLst>
              <a:ext uri="{FF2B5EF4-FFF2-40B4-BE49-F238E27FC236}">
                <a16:creationId xmlns:a16="http://schemas.microsoft.com/office/drawing/2014/main" id="{6A0DED05-9B7A-48EB-81C0-DBEE6E271C7A}"/>
              </a:ext>
            </a:extLst>
          </p:cNvPr>
          <p:cNvGraphicFramePr>
            <a:graphicFrameLocks noGrp="1"/>
          </p:cNvGraphicFramePr>
          <p:nvPr/>
        </p:nvGraphicFramePr>
        <p:xfrm>
          <a:off x="4180840" y="1374647"/>
          <a:ext cx="3830320" cy="2494280"/>
        </p:xfrm>
        <a:graphic>
          <a:graphicData uri="http://schemas.openxmlformats.org/drawingml/2006/table">
            <a:tbl>
              <a:tblPr firstRow="1" bandRow="1">
                <a:tableStyleId>{5C22544A-7EE6-4342-B048-85BDC9FD1C3A}</a:tableStyleId>
              </a:tblPr>
              <a:tblGrid>
                <a:gridCol w="1148155">
                  <a:extLst>
                    <a:ext uri="{9D8B030D-6E8A-4147-A177-3AD203B41FA5}">
                      <a16:colId xmlns:a16="http://schemas.microsoft.com/office/drawing/2014/main" val="2197685927"/>
                    </a:ext>
                  </a:extLst>
                </a:gridCol>
                <a:gridCol w="1168324">
                  <a:extLst>
                    <a:ext uri="{9D8B030D-6E8A-4147-A177-3AD203B41FA5}">
                      <a16:colId xmlns:a16="http://schemas.microsoft.com/office/drawing/2014/main" val="4054157987"/>
                    </a:ext>
                  </a:extLst>
                </a:gridCol>
                <a:gridCol w="1513841">
                  <a:extLst>
                    <a:ext uri="{9D8B030D-6E8A-4147-A177-3AD203B41FA5}">
                      <a16:colId xmlns:a16="http://schemas.microsoft.com/office/drawing/2014/main" val="4066764724"/>
                    </a:ext>
                  </a:extLst>
                </a:gridCol>
              </a:tblGrid>
              <a:tr h="370840">
                <a:tc>
                  <a:txBody>
                    <a:bodyPr/>
                    <a:lstStyle/>
                    <a:p>
                      <a:r>
                        <a:rPr lang="en-US" dirty="0"/>
                        <a:t>30” Casing</a:t>
                      </a:r>
                      <a:endParaRPr lang="en-ID" dirty="0"/>
                    </a:p>
                  </a:txBody>
                  <a:tcPr/>
                </a:tc>
                <a:tc>
                  <a:txBody>
                    <a:bodyPr/>
                    <a:lstStyle/>
                    <a:p>
                      <a:r>
                        <a:rPr lang="en-US" dirty="0"/>
                        <a:t>Welded</a:t>
                      </a:r>
                      <a:endParaRPr lang="en-ID" dirty="0"/>
                    </a:p>
                  </a:txBody>
                  <a:tcPr/>
                </a:tc>
                <a:tc>
                  <a:txBody>
                    <a:bodyPr/>
                    <a:lstStyle/>
                    <a:p>
                      <a:r>
                        <a:rPr lang="en-US" dirty="0"/>
                        <a:t>USD/</a:t>
                      </a:r>
                      <a:r>
                        <a:rPr lang="en-US" dirty="0" err="1"/>
                        <a:t>Jt</a:t>
                      </a:r>
                      <a:endParaRPr lang="en-ID" dirty="0"/>
                    </a:p>
                  </a:txBody>
                  <a:tcPr/>
                </a:tc>
                <a:extLst>
                  <a:ext uri="{0D108BD9-81ED-4DB2-BD59-A6C34878D82A}">
                    <a16:rowId xmlns:a16="http://schemas.microsoft.com/office/drawing/2014/main" val="1430926706"/>
                  </a:ext>
                </a:extLst>
              </a:tr>
              <a:tr h="370840">
                <a:tc rowSpan="5">
                  <a:txBody>
                    <a:bodyPr/>
                    <a:lstStyle/>
                    <a:p>
                      <a:r>
                        <a:rPr lang="en-US" dirty="0"/>
                        <a:t>0.75” Wall Thickness</a:t>
                      </a:r>
                      <a:endParaRPr lang="en-ID" dirty="0"/>
                    </a:p>
                  </a:txBody>
                  <a:tcPr/>
                </a:tc>
                <a:tc>
                  <a:txBody>
                    <a:bodyPr/>
                    <a:lstStyle/>
                    <a:p>
                      <a:r>
                        <a:rPr lang="en-US" dirty="0"/>
                        <a:t>ERW</a:t>
                      </a:r>
                      <a:endParaRPr lang="en-ID" dirty="0"/>
                    </a:p>
                  </a:txBody>
                  <a:tcPr/>
                </a:tc>
                <a:tc>
                  <a:txBody>
                    <a:bodyPr/>
                    <a:lstStyle/>
                    <a:p>
                      <a:endParaRPr lang="en-ID"/>
                    </a:p>
                  </a:txBody>
                  <a:tcPr/>
                </a:tc>
                <a:extLst>
                  <a:ext uri="{0D108BD9-81ED-4DB2-BD59-A6C34878D82A}">
                    <a16:rowId xmlns:a16="http://schemas.microsoft.com/office/drawing/2014/main" val="2264607298"/>
                  </a:ext>
                </a:extLst>
              </a:tr>
              <a:tr h="370840">
                <a:tc vMerge="1">
                  <a:txBody>
                    <a:bodyPr/>
                    <a:lstStyle/>
                    <a:p>
                      <a:endParaRPr lang="en-ID" dirty="0"/>
                    </a:p>
                  </a:txBody>
                  <a:tcPr/>
                </a:tc>
                <a:tc>
                  <a:txBody>
                    <a:bodyPr/>
                    <a:lstStyle/>
                    <a:p>
                      <a:r>
                        <a:rPr lang="en-US" dirty="0"/>
                        <a:t>LSAW</a:t>
                      </a:r>
                      <a:endParaRPr lang="en-ID" dirty="0"/>
                    </a:p>
                  </a:txBody>
                  <a:tcPr/>
                </a:tc>
                <a:tc>
                  <a:txBody>
                    <a:bodyPr/>
                    <a:lstStyle/>
                    <a:p>
                      <a:endParaRPr lang="en-ID"/>
                    </a:p>
                  </a:txBody>
                  <a:tcPr/>
                </a:tc>
                <a:extLst>
                  <a:ext uri="{0D108BD9-81ED-4DB2-BD59-A6C34878D82A}">
                    <a16:rowId xmlns:a16="http://schemas.microsoft.com/office/drawing/2014/main" val="2793252980"/>
                  </a:ext>
                </a:extLst>
              </a:tr>
              <a:tr h="370840">
                <a:tc vMerge="1">
                  <a:txBody>
                    <a:bodyPr/>
                    <a:lstStyle/>
                    <a:p>
                      <a:endParaRPr lang="en-ID" dirty="0"/>
                    </a:p>
                  </a:txBody>
                  <a:tcPr/>
                </a:tc>
                <a:tc>
                  <a:txBody>
                    <a:bodyPr/>
                    <a:lstStyle/>
                    <a:p>
                      <a:r>
                        <a:rPr lang="en-US" dirty="0"/>
                        <a:t>DSAW</a:t>
                      </a:r>
                      <a:endParaRPr lang="en-ID" dirty="0"/>
                    </a:p>
                  </a:txBody>
                  <a:tcPr/>
                </a:tc>
                <a:tc>
                  <a:txBody>
                    <a:bodyPr/>
                    <a:lstStyle/>
                    <a:p>
                      <a:endParaRPr lang="en-ID"/>
                    </a:p>
                  </a:txBody>
                  <a:tcPr/>
                </a:tc>
                <a:extLst>
                  <a:ext uri="{0D108BD9-81ED-4DB2-BD59-A6C34878D82A}">
                    <a16:rowId xmlns:a16="http://schemas.microsoft.com/office/drawing/2014/main" val="1271676829"/>
                  </a:ext>
                </a:extLst>
              </a:tr>
              <a:tr h="370840">
                <a:tc vMerge="1">
                  <a:txBody>
                    <a:bodyPr/>
                    <a:lstStyle/>
                    <a:p>
                      <a:endParaRPr lang="en-ID" dirty="0"/>
                    </a:p>
                  </a:txBody>
                  <a:tcPr/>
                </a:tc>
                <a:tc>
                  <a:txBody>
                    <a:bodyPr/>
                    <a:lstStyle/>
                    <a:p>
                      <a:r>
                        <a:rPr lang="en-US" dirty="0"/>
                        <a:t>SPIRAL</a:t>
                      </a:r>
                      <a:endParaRPr lang="en-ID" dirty="0"/>
                    </a:p>
                  </a:txBody>
                  <a:tcPr/>
                </a:tc>
                <a:tc>
                  <a:txBody>
                    <a:bodyPr/>
                    <a:lstStyle/>
                    <a:p>
                      <a:endParaRPr lang="en-ID" dirty="0"/>
                    </a:p>
                  </a:txBody>
                  <a:tcPr/>
                </a:tc>
                <a:extLst>
                  <a:ext uri="{0D108BD9-81ED-4DB2-BD59-A6C34878D82A}">
                    <a16:rowId xmlns:a16="http://schemas.microsoft.com/office/drawing/2014/main" val="531601083"/>
                  </a:ext>
                </a:extLst>
              </a:tr>
              <a:tr h="370840">
                <a:tc vMerge="1">
                  <a:txBody>
                    <a:bodyPr/>
                    <a:lstStyle/>
                    <a:p>
                      <a:endParaRPr lang="en-ID" dirty="0"/>
                    </a:p>
                  </a:txBody>
                  <a:tcPr/>
                </a:tc>
                <a:tc>
                  <a:txBody>
                    <a:bodyPr/>
                    <a:lstStyle/>
                    <a:p>
                      <a:r>
                        <a:rPr lang="en-US" dirty="0"/>
                        <a:t>Seamless</a:t>
                      </a:r>
                      <a:endParaRPr lang="en-ID" dirty="0"/>
                    </a:p>
                  </a:txBody>
                  <a:tcPr/>
                </a:tc>
                <a:tc>
                  <a:txBody>
                    <a:bodyPr/>
                    <a:lstStyle/>
                    <a:p>
                      <a:endParaRPr lang="en-ID" dirty="0"/>
                    </a:p>
                  </a:txBody>
                  <a:tcPr/>
                </a:tc>
                <a:extLst>
                  <a:ext uri="{0D108BD9-81ED-4DB2-BD59-A6C34878D82A}">
                    <a16:rowId xmlns:a16="http://schemas.microsoft.com/office/drawing/2014/main" val="1809581213"/>
                  </a:ext>
                </a:extLst>
              </a:tr>
            </a:tbl>
          </a:graphicData>
        </a:graphic>
      </p:graphicFrame>
      <p:graphicFrame>
        <p:nvGraphicFramePr>
          <p:cNvPr id="8" name="Table 4">
            <a:extLst>
              <a:ext uri="{FF2B5EF4-FFF2-40B4-BE49-F238E27FC236}">
                <a16:creationId xmlns:a16="http://schemas.microsoft.com/office/drawing/2014/main" id="{4D369ACE-7293-4591-8D46-30714FCF69C9}"/>
              </a:ext>
            </a:extLst>
          </p:cNvPr>
          <p:cNvGraphicFramePr>
            <a:graphicFrameLocks noGrp="1"/>
          </p:cNvGraphicFramePr>
          <p:nvPr/>
        </p:nvGraphicFramePr>
        <p:xfrm>
          <a:off x="8077199" y="1362454"/>
          <a:ext cx="3830320" cy="2494280"/>
        </p:xfrm>
        <a:graphic>
          <a:graphicData uri="http://schemas.openxmlformats.org/drawingml/2006/table">
            <a:tbl>
              <a:tblPr firstRow="1" bandRow="1">
                <a:tableStyleId>{5C22544A-7EE6-4342-B048-85BDC9FD1C3A}</a:tableStyleId>
              </a:tblPr>
              <a:tblGrid>
                <a:gridCol w="1148155">
                  <a:extLst>
                    <a:ext uri="{9D8B030D-6E8A-4147-A177-3AD203B41FA5}">
                      <a16:colId xmlns:a16="http://schemas.microsoft.com/office/drawing/2014/main" val="2197685927"/>
                    </a:ext>
                  </a:extLst>
                </a:gridCol>
                <a:gridCol w="1168324">
                  <a:extLst>
                    <a:ext uri="{9D8B030D-6E8A-4147-A177-3AD203B41FA5}">
                      <a16:colId xmlns:a16="http://schemas.microsoft.com/office/drawing/2014/main" val="4054157987"/>
                    </a:ext>
                  </a:extLst>
                </a:gridCol>
                <a:gridCol w="1513841">
                  <a:extLst>
                    <a:ext uri="{9D8B030D-6E8A-4147-A177-3AD203B41FA5}">
                      <a16:colId xmlns:a16="http://schemas.microsoft.com/office/drawing/2014/main" val="4066764724"/>
                    </a:ext>
                  </a:extLst>
                </a:gridCol>
              </a:tblGrid>
              <a:tr h="370840">
                <a:tc>
                  <a:txBody>
                    <a:bodyPr/>
                    <a:lstStyle/>
                    <a:p>
                      <a:r>
                        <a:rPr lang="en-US" dirty="0"/>
                        <a:t>30” Casing</a:t>
                      </a:r>
                      <a:endParaRPr lang="en-ID" dirty="0"/>
                    </a:p>
                  </a:txBody>
                  <a:tcPr/>
                </a:tc>
                <a:tc>
                  <a:txBody>
                    <a:bodyPr/>
                    <a:lstStyle/>
                    <a:p>
                      <a:r>
                        <a:rPr lang="en-US" dirty="0"/>
                        <a:t>Welded</a:t>
                      </a:r>
                      <a:endParaRPr lang="en-ID" dirty="0"/>
                    </a:p>
                  </a:txBody>
                  <a:tcPr/>
                </a:tc>
                <a:tc>
                  <a:txBody>
                    <a:bodyPr/>
                    <a:lstStyle/>
                    <a:p>
                      <a:r>
                        <a:rPr lang="en-US" dirty="0"/>
                        <a:t>USD/</a:t>
                      </a:r>
                      <a:r>
                        <a:rPr lang="en-US" dirty="0" err="1"/>
                        <a:t>Jt</a:t>
                      </a:r>
                      <a:endParaRPr lang="en-ID" dirty="0"/>
                    </a:p>
                  </a:txBody>
                  <a:tcPr/>
                </a:tc>
                <a:extLst>
                  <a:ext uri="{0D108BD9-81ED-4DB2-BD59-A6C34878D82A}">
                    <a16:rowId xmlns:a16="http://schemas.microsoft.com/office/drawing/2014/main" val="1430926706"/>
                  </a:ext>
                </a:extLst>
              </a:tr>
              <a:tr h="370840">
                <a:tc rowSpan="5">
                  <a:txBody>
                    <a:bodyPr/>
                    <a:lstStyle/>
                    <a:p>
                      <a:r>
                        <a:rPr lang="en-US" dirty="0"/>
                        <a:t>0.5” Wall Thickness</a:t>
                      </a:r>
                      <a:endParaRPr lang="en-ID" dirty="0"/>
                    </a:p>
                  </a:txBody>
                  <a:tcPr/>
                </a:tc>
                <a:tc>
                  <a:txBody>
                    <a:bodyPr/>
                    <a:lstStyle/>
                    <a:p>
                      <a:r>
                        <a:rPr lang="en-US" dirty="0"/>
                        <a:t>ERW</a:t>
                      </a:r>
                      <a:endParaRPr lang="en-ID" dirty="0"/>
                    </a:p>
                  </a:txBody>
                  <a:tcPr/>
                </a:tc>
                <a:tc>
                  <a:txBody>
                    <a:bodyPr/>
                    <a:lstStyle/>
                    <a:p>
                      <a:endParaRPr lang="en-ID"/>
                    </a:p>
                  </a:txBody>
                  <a:tcPr/>
                </a:tc>
                <a:extLst>
                  <a:ext uri="{0D108BD9-81ED-4DB2-BD59-A6C34878D82A}">
                    <a16:rowId xmlns:a16="http://schemas.microsoft.com/office/drawing/2014/main" val="2264607298"/>
                  </a:ext>
                </a:extLst>
              </a:tr>
              <a:tr h="370840">
                <a:tc vMerge="1">
                  <a:txBody>
                    <a:bodyPr/>
                    <a:lstStyle/>
                    <a:p>
                      <a:endParaRPr lang="en-ID" dirty="0"/>
                    </a:p>
                  </a:txBody>
                  <a:tcPr/>
                </a:tc>
                <a:tc>
                  <a:txBody>
                    <a:bodyPr/>
                    <a:lstStyle/>
                    <a:p>
                      <a:r>
                        <a:rPr lang="en-US" dirty="0"/>
                        <a:t>LSAW</a:t>
                      </a:r>
                      <a:endParaRPr lang="en-ID" dirty="0"/>
                    </a:p>
                  </a:txBody>
                  <a:tcPr/>
                </a:tc>
                <a:tc>
                  <a:txBody>
                    <a:bodyPr/>
                    <a:lstStyle/>
                    <a:p>
                      <a:endParaRPr lang="en-ID"/>
                    </a:p>
                  </a:txBody>
                  <a:tcPr/>
                </a:tc>
                <a:extLst>
                  <a:ext uri="{0D108BD9-81ED-4DB2-BD59-A6C34878D82A}">
                    <a16:rowId xmlns:a16="http://schemas.microsoft.com/office/drawing/2014/main" val="2793252980"/>
                  </a:ext>
                </a:extLst>
              </a:tr>
              <a:tr h="370840">
                <a:tc vMerge="1">
                  <a:txBody>
                    <a:bodyPr/>
                    <a:lstStyle/>
                    <a:p>
                      <a:endParaRPr lang="en-ID" dirty="0"/>
                    </a:p>
                  </a:txBody>
                  <a:tcPr/>
                </a:tc>
                <a:tc>
                  <a:txBody>
                    <a:bodyPr/>
                    <a:lstStyle/>
                    <a:p>
                      <a:r>
                        <a:rPr lang="en-US" dirty="0"/>
                        <a:t>DSAW</a:t>
                      </a:r>
                      <a:endParaRPr lang="en-ID" dirty="0"/>
                    </a:p>
                  </a:txBody>
                  <a:tcPr/>
                </a:tc>
                <a:tc>
                  <a:txBody>
                    <a:bodyPr/>
                    <a:lstStyle/>
                    <a:p>
                      <a:endParaRPr lang="en-ID"/>
                    </a:p>
                  </a:txBody>
                  <a:tcPr/>
                </a:tc>
                <a:extLst>
                  <a:ext uri="{0D108BD9-81ED-4DB2-BD59-A6C34878D82A}">
                    <a16:rowId xmlns:a16="http://schemas.microsoft.com/office/drawing/2014/main" val="1271676829"/>
                  </a:ext>
                </a:extLst>
              </a:tr>
              <a:tr h="370840">
                <a:tc vMerge="1">
                  <a:txBody>
                    <a:bodyPr/>
                    <a:lstStyle/>
                    <a:p>
                      <a:endParaRPr lang="en-ID" dirty="0"/>
                    </a:p>
                  </a:txBody>
                  <a:tcPr/>
                </a:tc>
                <a:tc>
                  <a:txBody>
                    <a:bodyPr/>
                    <a:lstStyle/>
                    <a:p>
                      <a:r>
                        <a:rPr lang="en-US" dirty="0"/>
                        <a:t>SPIRAL</a:t>
                      </a:r>
                      <a:endParaRPr lang="en-ID" dirty="0"/>
                    </a:p>
                  </a:txBody>
                  <a:tcPr/>
                </a:tc>
                <a:tc>
                  <a:txBody>
                    <a:bodyPr/>
                    <a:lstStyle/>
                    <a:p>
                      <a:endParaRPr lang="en-ID" dirty="0"/>
                    </a:p>
                  </a:txBody>
                  <a:tcPr/>
                </a:tc>
                <a:extLst>
                  <a:ext uri="{0D108BD9-81ED-4DB2-BD59-A6C34878D82A}">
                    <a16:rowId xmlns:a16="http://schemas.microsoft.com/office/drawing/2014/main" val="531601083"/>
                  </a:ext>
                </a:extLst>
              </a:tr>
              <a:tr h="370840">
                <a:tc vMerge="1">
                  <a:txBody>
                    <a:bodyPr/>
                    <a:lstStyle/>
                    <a:p>
                      <a:endParaRPr lang="en-ID" dirty="0"/>
                    </a:p>
                  </a:txBody>
                  <a:tcPr/>
                </a:tc>
                <a:tc>
                  <a:txBody>
                    <a:bodyPr/>
                    <a:lstStyle/>
                    <a:p>
                      <a:r>
                        <a:rPr lang="en-US" dirty="0"/>
                        <a:t>Seamless</a:t>
                      </a:r>
                      <a:endParaRPr lang="en-ID" dirty="0"/>
                    </a:p>
                  </a:txBody>
                  <a:tcPr/>
                </a:tc>
                <a:tc>
                  <a:txBody>
                    <a:bodyPr/>
                    <a:lstStyle/>
                    <a:p>
                      <a:endParaRPr lang="en-ID" dirty="0"/>
                    </a:p>
                  </a:txBody>
                  <a:tcPr/>
                </a:tc>
                <a:extLst>
                  <a:ext uri="{0D108BD9-81ED-4DB2-BD59-A6C34878D82A}">
                    <a16:rowId xmlns:a16="http://schemas.microsoft.com/office/drawing/2014/main" val="1809581213"/>
                  </a:ext>
                </a:extLst>
              </a:tr>
            </a:tbl>
          </a:graphicData>
        </a:graphic>
      </p:graphicFrame>
      <p:sp>
        <p:nvSpPr>
          <p:cNvPr id="9" name="Rectangle 8">
            <a:extLst>
              <a:ext uri="{FF2B5EF4-FFF2-40B4-BE49-F238E27FC236}">
                <a16:creationId xmlns:a16="http://schemas.microsoft.com/office/drawing/2014/main" id="{07A40FA0-60F9-4D11-949F-57905329FA5E}"/>
              </a:ext>
            </a:extLst>
          </p:cNvPr>
          <p:cNvSpPr/>
          <p:nvPr/>
        </p:nvSpPr>
        <p:spPr>
          <a:xfrm>
            <a:off x="189939" y="3885174"/>
            <a:ext cx="3333028" cy="338554"/>
          </a:xfrm>
          <a:prstGeom prst="rect">
            <a:avLst/>
          </a:prstGeom>
        </p:spPr>
        <p:txBody>
          <a:bodyPr wrap="none">
            <a:spAutoFit/>
          </a:bodyPr>
          <a:lstStyle/>
          <a:p>
            <a:pPr>
              <a:spcBef>
                <a:spcPct val="0"/>
              </a:spcBef>
              <a:defRPr/>
            </a:pPr>
            <a:r>
              <a:rPr lang="en-US" altLang="en-US" sz="1600" b="1" dirty="0">
                <a:solidFill>
                  <a:srgbClr val="002060"/>
                </a:solidFill>
                <a:latin typeface="Times New Roman" panose="02020603050405020304" pitchFamily="18" charset="0"/>
              </a:rPr>
              <a:t>Stronger pipe, for piling installation</a:t>
            </a:r>
          </a:p>
        </p:txBody>
      </p:sp>
      <p:sp>
        <p:nvSpPr>
          <p:cNvPr id="10" name="Rectangle 9">
            <a:extLst>
              <a:ext uri="{FF2B5EF4-FFF2-40B4-BE49-F238E27FC236}">
                <a16:creationId xmlns:a16="http://schemas.microsoft.com/office/drawing/2014/main" id="{C7A6E9E9-B3FC-4239-8881-BCD4109B030C}"/>
              </a:ext>
            </a:extLst>
          </p:cNvPr>
          <p:cNvSpPr/>
          <p:nvPr/>
        </p:nvSpPr>
        <p:spPr>
          <a:xfrm>
            <a:off x="4114801" y="3917070"/>
            <a:ext cx="3014415" cy="338554"/>
          </a:xfrm>
          <a:prstGeom prst="rect">
            <a:avLst/>
          </a:prstGeom>
        </p:spPr>
        <p:txBody>
          <a:bodyPr wrap="none">
            <a:spAutoFit/>
          </a:bodyPr>
          <a:lstStyle/>
          <a:p>
            <a:pPr>
              <a:spcBef>
                <a:spcPct val="0"/>
              </a:spcBef>
              <a:defRPr/>
            </a:pPr>
            <a:r>
              <a:rPr lang="en-US" altLang="en-US" sz="1600" b="1" dirty="0">
                <a:solidFill>
                  <a:srgbClr val="002060"/>
                </a:solidFill>
                <a:latin typeface="Times New Roman" panose="02020603050405020304" pitchFamily="18" charset="0"/>
              </a:rPr>
              <a:t>Thin pipe, for Auger installation</a:t>
            </a:r>
          </a:p>
        </p:txBody>
      </p:sp>
      <p:sp>
        <p:nvSpPr>
          <p:cNvPr id="11" name="Rectangle 10">
            <a:extLst>
              <a:ext uri="{FF2B5EF4-FFF2-40B4-BE49-F238E27FC236}">
                <a16:creationId xmlns:a16="http://schemas.microsoft.com/office/drawing/2014/main" id="{07316002-AA6D-4110-8DF0-CF6E6E094E13}"/>
              </a:ext>
            </a:extLst>
          </p:cNvPr>
          <p:cNvSpPr/>
          <p:nvPr/>
        </p:nvSpPr>
        <p:spPr>
          <a:xfrm>
            <a:off x="8011160" y="3856734"/>
            <a:ext cx="3014415" cy="338554"/>
          </a:xfrm>
          <a:prstGeom prst="rect">
            <a:avLst/>
          </a:prstGeom>
        </p:spPr>
        <p:txBody>
          <a:bodyPr wrap="none">
            <a:spAutoFit/>
          </a:bodyPr>
          <a:lstStyle/>
          <a:p>
            <a:pPr>
              <a:spcBef>
                <a:spcPct val="0"/>
              </a:spcBef>
              <a:defRPr/>
            </a:pPr>
            <a:r>
              <a:rPr lang="en-US" altLang="en-US" sz="1600" b="1" dirty="0">
                <a:solidFill>
                  <a:srgbClr val="002060"/>
                </a:solidFill>
                <a:latin typeface="Times New Roman" panose="02020603050405020304" pitchFamily="18" charset="0"/>
              </a:rPr>
              <a:t>Thin pipe, for Auger installation</a:t>
            </a:r>
          </a:p>
        </p:txBody>
      </p:sp>
      <p:pic>
        <p:nvPicPr>
          <p:cNvPr id="12" name="Picture 11">
            <a:extLst>
              <a:ext uri="{FF2B5EF4-FFF2-40B4-BE49-F238E27FC236}">
                <a16:creationId xmlns:a16="http://schemas.microsoft.com/office/drawing/2014/main" id="{C67FB4A6-0444-4FE8-81E5-14059F1A696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1207" y="4255624"/>
            <a:ext cx="1730802" cy="2307736"/>
          </a:xfrm>
          <a:prstGeom prst="rect">
            <a:avLst/>
          </a:prstGeom>
        </p:spPr>
      </p:pic>
      <p:pic>
        <p:nvPicPr>
          <p:cNvPr id="13" name="Picture 12">
            <a:extLst>
              <a:ext uri="{FF2B5EF4-FFF2-40B4-BE49-F238E27FC236}">
                <a16:creationId xmlns:a16="http://schemas.microsoft.com/office/drawing/2014/main" id="{9B8ED2F2-F22B-4C50-B2DA-B7204DACD76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272280" y="4358259"/>
            <a:ext cx="3647440" cy="2051685"/>
          </a:xfrm>
          <a:prstGeom prst="rect">
            <a:avLst/>
          </a:prstGeom>
        </p:spPr>
      </p:pic>
      <p:pic>
        <p:nvPicPr>
          <p:cNvPr id="14" name="Picture 13">
            <a:extLst>
              <a:ext uri="{FF2B5EF4-FFF2-40B4-BE49-F238E27FC236}">
                <a16:creationId xmlns:a16="http://schemas.microsoft.com/office/drawing/2014/main" id="{753039FC-959C-4F23-B004-67279C0FBCC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077199" y="4304901"/>
            <a:ext cx="3647440" cy="2105043"/>
          </a:xfrm>
          <a:prstGeom prst="rect">
            <a:avLst/>
          </a:prstGeom>
        </p:spPr>
      </p:pic>
    </p:spTree>
    <p:extLst>
      <p:ext uri="{BB962C8B-B14F-4D97-AF65-F5344CB8AC3E}">
        <p14:creationId xmlns:p14="http://schemas.microsoft.com/office/powerpoint/2010/main" val="25255399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772160" y="288741"/>
            <a:ext cx="10647680" cy="795780"/>
          </a:xfrm>
        </p:spPr>
        <p:txBody>
          <a:bodyPr>
            <a:normAutofit/>
          </a:bodyPr>
          <a:lstStyle/>
          <a:p>
            <a:pPr algn="ctr"/>
            <a:r>
              <a:rPr lang="en-US" altLang="en-US" sz="4000" b="1" dirty="0">
                <a:solidFill>
                  <a:srgbClr val="D24726"/>
                </a:solidFill>
              </a:rPr>
              <a:t>30” Conductor Setting Depth</a:t>
            </a:r>
          </a:p>
        </p:txBody>
      </p:sp>
      <p:sp>
        <p:nvSpPr>
          <p:cNvPr id="3" name="TextBox 2">
            <a:extLst>
              <a:ext uri="{FF2B5EF4-FFF2-40B4-BE49-F238E27FC236}">
                <a16:creationId xmlns:a16="http://schemas.microsoft.com/office/drawing/2014/main" id="{29E7B743-870A-E547-740A-F1F43F143314}"/>
              </a:ext>
            </a:extLst>
          </p:cNvPr>
          <p:cNvSpPr txBox="1"/>
          <p:nvPr/>
        </p:nvSpPr>
        <p:spPr>
          <a:xfrm>
            <a:off x="1095153" y="1430474"/>
            <a:ext cx="9781953" cy="3913059"/>
          </a:xfrm>
          <a:prstGeom prst="rect">
            <a:avLst/>
          </a:prstGeom>
          <a:noFill/>
        </p:spPr>
        <p:txBody>
          <a:bodyPr wrap="square">
            <a:spAutoFit/>
          </a:bodyPr>
          <a:lstStyle/>
          <a:p>
            <a:pPr marL="0" marR="0" algn="just">
              <a:lnSpc>
                <a:spcPct val="150000"/>
              </a:lnSpc>
              <a:spcBef>
                <a:spcPts val="0"/>
              </a:spcBef>
              <a:spcAft>
                <a:spcPts val="0"/>
              </a:spcAft>
            </a:pPr>
            <a:r>
              <a:rPr lang="en-US" sz="2400" dirty="0" err="1">
                <a:effectLst/>
                <a:latin typeface="Calibri" panose="020F0502020204030204" pitchFamily="34" charset="0"/>
                <a:ea typeface="Calibri" panose="020F0502020204030204" pitchFamily="34" charset="0"/>
                <a:cs typeface="Calibri" panose="020F0502020204030204" pitchFamily="34" charset="0"/>
              </a:rPr>
              <a:t>Kedalaman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P</a:t>
            </a:r>
            <a:r>
              <a:rPr lang="en-US" sz="2400" dirty="0">
                <a:effectLst/>
                <a:latin typeface="Calibri" panose="020F0502020204030204" pitchFamily="34" charset="0"/>
                <a:ea typeface="Calibri" panose="020F0502020204030204" pitchFamily="34" charset="0"/>
                <a:cs typeface="Calibri" panose="020F0502020204030204" pitchFamily="34" charset="0"/>
              </a:rPr>
              <a:t>ipa </a:t>
            </a:r>
            <a:r>
              <a:rPr lang="en-US" sz="2400" dirty="0" err="1">
                <a:effectLst/>
                <a:latin typeface="Calibri" panose="020F0502020204030204" pitchFamily="34" charset="0"/>
                <a:ea typeface="Calibri" panose="020F0502020204030204" pitchFamily="34" charset="0"/>
                <a:cs typeface="Calibri" panose="020F0502020204030204" pitchFamily="34" charset="0"/>
              </a:rPr>
              <a:t>Konduktor</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sebaiknya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mempertimbangkan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hal-hal</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berikut</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ini</a:t>
            </a:r>
            <a:r>
              <a:rPr lang="en-US" sz="2400" dirty="0">
                <a:effectLst/>
                <a:latin typeface="Calibri" panose="020F0502020204030204" pitchFamily="34" charset="0"/>
                <a:ea typeface="Calibri" panose="020F0502020204030204" pitchFamily="34" charset="0"/>
                <a:cs typeface="Calibri" panose="020F0502020204030204" pitchFamily="34" charset="0"/>
              </a:rPr>
              <a:t>:</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2400" dirty="0" err="1">
                <a:effectLst/>
                <a:latin typeface="Calibri" panose="020F0502020204030204" pitchFamily="34" charset="0"/>
                <a:ea typeface="Calibri" panose="020F0502020204030204" pitchFamily="34" charset="0"/>
                <a:cs typeface="Calibri" panose="020F0502020204030204" pitchFamily="34" charset="0"/>
              </a:rPr>
              <a:t>Kecukupan</a:t>
            </a:r>
            <a:r>
              <a:rPr lang="en-US" sz="2400" dirty="0">
                <a:effectLst/>
                <a:latin typeface="Calibri" panose="020F0502020204030204" pitchFamily="34" charset="0"/>
                <a:ea typeface="Calibri" panose="020F0502020204030204" pitchFamily="34" charset="0"/>
                <a:cs typeface="Calibri" panose="020F0502020204030204" pitchFamily="34" charset="0"/>
              </a:rPr>
              <a:t> ruang </a:t>
            </a:r>
            <a:r>
              <a:rPr lang="en-US" sz="2400" dirty="0" err="1">
                <a:effectLst/>
                <a:latin typeface="Calibri" panose="020F0502020204030204" pitchFamily="34" charset="0"/>
                <a:ea typeface="Calibri" panose="020F0502020204030204" pitchFamily="34" charset="0"/>
                <a:cs typeface="Calibri" panose="020F0502020204030204" pitchFamily="34" charset="0"/>
              </a:rPr>
              <a:t>kedalaman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untuk</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merangkai</a:t>
            </a:r>
            <a:r>
              <a:rPr lang="en-US" sz="2400" dirty="0">
                <a:effectLst/>
                <a:latin typeface="Calibri" panose="020F0502020204030204" pitchFamily="34" charset="0"/>
                <a:ea typeface="Calibri" panose="020F0502020204030204" pitchFamily="34" charset="0"/>
                <a:cs typeface="Calibri" panose="020F0502020204030204" pitchFamily="34" charset="0"/>
              </a:rPr>
              <a:t> BHA </a:t>
            </a:r>
            <a:r>
              <a:rPr lang="en-US" sz="2400" dirty="0" err="1">
                <a:effectLst/>
                <a:latin typeface="Calibri" panose="020F0502020204030204" pitchFamily="34" charset="0"/>
                <a:ea typeface="Calibri" panose="020F0502020204030204" pitchFamily="34" charset="0"/>
                <a:cs typeface="Calibri" panose="020F0502020204030204" pitchFamily="34" charset="0"/>
              </a:rPr>
              <a:t>lubang</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awal</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misalnya</a:t>
            </a:r>
            <a:r>
              <a:rPr lang="en-US" sz="2400" dirty="0">
                <a:effectLst/>
                <a:latin typeface="Calibri" panose="020F0502020204030204" pitchFamily="34" charset="0"/>
                <a:ea typeface="Calibri" panose="020F0502020204030204" pitchFamily="34" charset="0"/>
                <a:cs typeface="Calibri" panose="020F0502020204030204" pitchFamily="34" charset="0"/>
              </a:rPr>
              <a:t> directional BHA </a:t>
            </a:r>
            <a:r>
              <a:rPr lang="en-US" sz="2400" dirty="0" err="1">
                <a:effectLst/>
                <a:latin typeface="Calibri" panose="020F0502020204030204" pitchFamily="34" charset="0"/>
                <a:ea typeface="Calibri" panose="020F0502020204030204" pitchFamily="34" charset="0"/>
                <a:cs typeface="Calibri" panose="020F0502020204030204" pitchFamily="34" charset="0"/>
              </a:rPr>
              <a:t>untuk</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lubang</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permukaan</a:t>
            </a:r>
            <a:r>
              <a:rPr lang="en-US" sz="2400" dirty="0">
                <a:effectLst/>
                <a:latin typeface="Calibri" panose="020F0502020204030204" pitchFamily="34" charset="0"/>
                <a:ea typeface="Calibri" panose="020F0502020204030204" pitchFamily="34" charset="0"/>
                <a:cs typeface="Calibri" panose="020F0502020204030204" pitchFamily="34" charset="0"/>
              </a:rPr>
              <a:t> 26”.</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2400" dirty="0" err="1">
                <a:effectLst/>
                <a:latin typeface="Calibri" panose="020F0502020204030204" pitchFamily="34" charset="0"/>
                <a:ea typeface="Calibri" panose="020F0502020204030204" pitchFamily="34" charset="0"/>
                <a:cs typeface="Calibri" panose="020F0502020204030204" pitchFamily="34" charset="0"/>
              </a:rPr>
              <a:t>Resiko</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hilang</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lumpur</a:t>
            </a:r>
            <a:r>
              <a:rPr lang="en-US" sz="2400" dirty="0">
                <a:effectLst/>
                <a:latin typeface="Calibri" panose="020F0502020204030204" pitchFamily="34" charset="0"/>
                <a:ea typeface="Calibri" panose="020F0502020204030204" pitchFamily="34" charset="0"/>
                <a:cs typeface="Calibri" panose="020F0502020204030204" pitchFamily="34" charset="0"/>
              </a:rPr>
              <a:t> dimana </a:t>
            </a:r>
            <a:r>
              <a:rPr lang="en-US" sz="2400" dirty="0" err="1">
                <a:effectLst/>
                <a:latin typeface="Calibri" panose="020F0502020204030204" pitchFamily="34" charset="0"/>
                <a:ea typeface="Calibri" panose="020F0502020204030204" pitchFamily="34" charset="0"/>
                <a:cs typeface="Calibri" panose="020F0502020204030204" pitchFamily="34" charset="0"/>
              </a:rPr>
              <a:t>lumpur</a:t>
            </a:r>
            <a:r>
              <a:rPr lang="en-US" sz="2400" dirty="0">
                <a:effectLst/>
                <a:latin typeface="Calibri" panose="020F0502020204030204" pitchFamily="34" charset="0"/>
                <a:ea typeface="Calibri" panose="020F0502020204030204" pitchFamily="34" charset="0"/>
                <a:cs typeface="Calibri" panose="020F0502020204030204" pitchFamily="34" charset="0"/>
              </a:rPr>
              <a:t> yang </a:t>
            </a:r>
            <a:r>
              <a:rPr lang="en-US" sz="2400" dirty="0" err="1">
                <a:effectLst/>
                <a:latin typeface="Calibri" panose="020F0502020204030204" pitchFamily="34" charset="0"/>
                <a:ea typeface="Calibri" panose="020F0502020204030204" pitchFamily="34" charset="0"/>
                <a:cs typeface="Calibri" panose="020F0502020204030204" pitchFamily="34" charset="0"/>
              </a:rPr>
              <a:t>hilang</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bisa</a:t>
            </a:r>
            <a:r>
              <a:rPr lang="en-US" sz="2400" dirty="0">
                <a:effectLst/>
                <a:latin typeface="Calibri" panose="020F0502020204030204" pitchFamily="34" charset="0"/>
                <a:ea typeface="Calibri" panose="020F0502020204030204" pitchFamily="34" charset="0"/>
                <a:cs typeface="Calibri" panose="020F0502020204030204" pitchFamily="34" charset="0"/>
              </a:rPr>
              <a:t> leakage (bocor) </a:t>
            </a:r>
            <a:r>
              <a:rPr lang="en-US" sz="2400" dirty="0" err="1">
                <a:effectLst/>
                <a:latin typeface="Calibri" panose="020F0502020204030204" pitchFamily="34" charset="0"/>
                <a:ea typeface="Calibri" panose="020F0502020204030204" pitchFamily="34" charset="0"/>
                <a:cs typeface="Calibri" panose="020F0502020204030204" pitchFamily="34" charset="0"/>
              </a:rPr>
              <a:t>ke</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permukaan</a:t>
            </a:r>
            <a:r>
              <a:rPr lang="en-US" sz="2400" dirty="0">
                <a:effectLst/>
                <a:latin typeface="Calibri" panose="020F0502020204030204" pitchFamily="34" charset="0"/>
                <a:ea typeface="Calibri" panose="020F0502020204030204" pitchFamily="34" charset="0"/>
                <a:cs typeface="Calibri" panose="020F0502020204030204" pitchFamily="34" charset="0"/>
              </a:rPr>
              <a:t> dan </a:t>
            </a:r>
            <a:r>
              <a:rPr lang="en-US" sz="2400" dirty="0" err="1">
                <a:effectLst/>
                <a:latin typeface="Calibri" panose="020F0502020204030204" pitchFamily="34" charset="0"/>
                <a:ea typeface="Calibri" panose="020F0502020204030204" pitchFamily="34" charset="0"/>
                <a:cs typeface="Calibri" panose="020F0502020204030204" pitchFamily="34" charset="0"/>
              </a:rPr>
              <a:t>bisa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menimbulkan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pencemaran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lingkungan</a:t>
            </a:r>
            <a:r>
              <a:rPr lang="en-US" sz="2400" dirty="0">
                <a:effectLst/>
                <a:latin typeface="Calibri" panose="020F0502020204030204" pitchFamily="34" charset="0"/>
                <a:ea typeface="Calibri" panose="020F0502020204030204" pitchFamily="34" charset="0"/>
                <a:cs typeface="Calibri" panose="020F0502020204030204" pitchFamily="34" charset="0"/>
              </a:rPr>
              <a:t>.</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Calibri" panose="020F0502020204030204" pitchFamily="34" charset="0"/>
              </a:rPr>
              <a:t>Bisa </a:t>
            </a:r>
            <a:r>
              <a:rPr lang="en-US" sz="2400" dirty="0" err="1">
                <a:effectLst/>
                <a:latin typeface="Calibri" panose="020F0502020204030204" pitchFamily="34" charset="0"/>
                <a:ea typeface="Calibri" panose="020F0502020204030204" pitchFamily="34" charset="0"/>
                <a:cs typeface="Calibri" panose="020F0502020204030204" pitchFamily="34" charset="0"/>
              </a:rPr>
              <a:t>menutupi</a:t>
            </a:r>
            <a:r>
              <a:rPr lang="en-US" sz="2400" dirty="0">
                <a:effectLst/>
                <a:latin typeface="Calibri" panose="020F0502020204030204" pitchFamily="34" charset="0"/>
                <a:ea typeface="Calibri" panose="020F0502020204030204" pitchFamily="34" charset="0"/>
                <a:cs typeface="Calibri" panose="020F0502020204030204" pitchFamily="34" charset="0"/>
              </a:rPr>
              <a:t>/</a:t>
            </a:r>
            <a:r>
              <a:rPr lang="en-US" sz="2400" dirty="0" err="1">
                <a:effectLst/>
                <a:latin typeface="Calibri" panose="020F0502020204030204" pitchFamily="34" charset="0"/>
                <a:ea typeface="Calibri" panose="020F0502020204030204" pitchFamily="34" charset="0"/>
                <a:cs typeface="Calibri" panose="020F0502020204030204" pitchFamily="34" charset="0"/>
              </a:rPr>
              <a:t>mengkover</a:t>
            </a:r>
            <a:r>
              <a:rPr lang="en-US" sz="2400" dirty="0">
                <a:effectLst/>
                <a:latin typeface="Calibri" panose="020F0502020204030204" pitchFamily="34" charset="0"/>
                <a:ea typeface="Calibri" panose="020F0502020204030204" pitchFamily="34" charset="0"/>
                <a:cs typeface="Calibri" panose="020F0502020204030204" pitchFamily="34" charset="0"/>
              </a:rPr>
              <a:t> zona losses </a:t>
            </a:r>
            <a:r>
              <a:rPr lang="en-US" sz="2400" dirty="0" err="1">
                <a:effectLst/>
                <a:latin typeface="Calibri" panose="020F0502020204030204" pitchFamily="34" charset="0"/>
                <a:ea typeface="Calibri" panose="020F0502020204030204" pitchFamily="34" charset="0"/>
                <a:cs typeface="Calibri" panose="020F0502020204030204" pitchFamily="34" charset="0"/>
              </a:rPr>
              <a:t>permukaan</a:t>
            </a:r>
            <a:r>
              <a:rPr lang="en-US" sz="2400" dirty="0">
                <a:effectLst/>
                <a:latin typeface="Calibri" panose="020F0502020204030204" pitchFamily="34" charset="0"/>
                <a:ea typeface="Calibri" panose="020F0502020204030204" pitchFamily="34" charset="0"/>
                <a:cs typeface="Calibri" panose="020F0502020204030204" pitchFamily="34" charset="0"/>
              </a:rPr>
              <a:t>. </a:t>
            </a:r>
          </a:p>
          <a:p>
            <a:pPr marL="342900" marR="0" lvl="0" indent="-342900" algn="just">
              <a:lnSpc>
                <a:spcPct val="150000"/>
              </a:lnSpc>
              <a:spcBef>
                <a:spcPts val="0"/>
              </a:spcBef>
              <a:spcAft>
                <a:spcPts val="0"/>
              </a:spcAft>
              <a:buFont typeface="Symbol" panose="05050102010706020507" pitchFamily="18" charset="2"/>
              <a:buChar char=""/>
            </a:pPr>
            <a:r>
              <a:rPr lang="en-US" sz="2400" dirty="0" err="1">
                <a:effectLst/>
                <a:latin typeface="Calibri" panose="020F0502020204030204" pitchFamily="34" charset="0"/>
                <a:ea typeface="Calibri" panose="020F0502020204030204" pitchFamily="34" charset="0"/>
                <a:cs typeface="Calibri" panose="020F0502020204030204" pitchFamily="34" charset="0"/>
              </a:rPr>
              <a:t>Kemampuan</a:t>
            </a:r>
            <a:r>
              <a:rPr lang="en-US" sz="2400" dirty="0">
                <a:effectLst/>
                <a:latin typeface="Calibri" panose="020F0502020204030204" pitchFamily="34" charset="0"/>
                <a:ea typeface="Calibri" panose="020F0502020204030204" pitchFamily="34" charset="0"/>
                <a:cs typeface="Calibri" panose="020F0502020204030204" pitchFamily="34" charset="0"/>
              </a:rPr>
              <a:t> alat </a:t>
            </a:r>
            <a:r>
              <a:rPr lang="en-US" sz="2400" dirty="0" err="1">
                <a:effectLst/>
                <a:latin typeface="Calibri" panose="020F0502020204030204" pitchFamily="34" charset="0"/>
                <a:ea typeface="Calibri" panose="020F0502020204030204" pitchFamily="34" charset="0"/>
                <a:cs typeface="Calibri" panose="020F0502020204030204" pitchFamily="34" charset="0"/>
              </a:rPr>
              <a:t>pemasang</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konduktor</a:t>
            </a:r>
            <a:r>
              <a:rPr lang="en-US" sz="2400" dirty="0">
                <a:effectLst/>
                <a:latin typeface="Calibri" panose="020F0502020204030204" pitchFamily="34" charset="0"/>
                <a:ea typeface="Calibri" panose="020F0502020204030204" pitchFamily="34" charset="0"/>
                <a:cs typeface="Calibri" panose="020F0502020204030204" pitchFamily="34" charset="0"/>
              </a:rPr>
              <a:t>.</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820988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3D88C-6E34-4F71-B3B0-FECD379C4011}"/>
              </a:ext>
            </a:extLst>
          </p:cNvPr>
          <p:cNvSpPr>
            <a:spLocks noGrp="1"/>
          </p:cNvSpPr>
          <p:nvPr>
            <p:ph type="title"/>
          </p:nvPr>
        </p:nvSpPr>
        <p:spPr/>
        <p:txBody>
          <a:bodyPr/>
          <a:lstStyle/>
          <a:p>
            <a:r>
              <a:rPr lang="en-US" dirty="0"/>
              <a:t>Conductor Depth Illustration</a:t>
            </a:r>
            <a:endParaRPr lang="en-ID" dirty="0"/>
          </a:p>
        </p:txBody>
      </p:sp>
      <p:pic>
        <p:nvPicPr>
          <p:cNvPr id="4" name="Picture 3">
            <a:extLst>
              <a:ext uri="{FF2B5EF4-FFF2-40B4-BE49-F238E27FC236}">
                <a16:creationId xmlns:a16="http://schemas.microsoft.com/office/drawing/2014/main" id="{2FCCD354-5F94-476A-A8D2-FA1F02739B7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4487" y="1265701"/>
            <a:ext cx="8307833" cy="5264649"/>
          </a:xfrm>
          <a:prstGeom prst="rect">
            <a:avLst/>
          </a:prstGeom>
        </p:spPr>
      </p:pic>
      <p:sp>
        <p:nvSpPr>
          <p:cNvPr id="6" name="TextBox 5">
            <a:extLst>
              <a:ext uri="{FF2B5EF4-FFF2-40B4-BE49-F238E27FC236}">
                <a16:creationId xmlns:a16="http://schemas.microsoft.com/office/drawing/2014/main" id="{07663138-94C0-49DC-A768-F3858DB7BC05}"/>
              </a:ext>
            </a:extLst>
          </p:cNvPr>
          <p:cNvSpPr txBox="1"/>
          <p:nvPr/>
        </p:nvSpPr>
        <p:spPr>
          <a:xfrm>
            <a:off x="9653453" y="189465"/>
            <a:ext cx="1933543" cy="369332"/>
          </a:xfrm>
          <a:prstGeom prst="rect">
            <a:avLst/>
          </a:prstGeom>
          <a:noFill/>
        </p:spPr>
        <p:txBody>
          <a:bodyPr wrap="none" rtlCol="0">
            <a:spAutoFit/>
          </a:bodyPr>
          <a:lstStyle/>
          <a:p>
            <a:r>
              <a:rPr lang="en-US" b="1" dirty="0">
                <a:solidFill>
                  <a:srgbClr val="C00000"/>
                </a:solidFill>
              </a:rPr>
              <a:t>26” BHA Length</a:t>
            </a:r>
            <a:endParaRPr lang="en-ID" b="1" dirty="0">
              <a:solidFill>
                <a:srgbClr val="C00000"/>
              </a:solidFill>
            </a:endParaRPr>
          </a:p>
        </p:txBody>
      </p:sp>
      <p:pic>
        <p:nvPicPr>
          <p:cNvPr id="3" name="Picture 2">
            <a:extLst>
              <a:ext uri="{FF2B5EF4-FFF2-40B4-BE49-F238E27FC236}">
                <a16:creationId xmlns:a16="http://schemas.microsoft.com/office/drawing/2014/main" id="{2239884B-8A6B-49B0-BD2C-A5EDEC34A45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51440" y="1265701"/>
            <a:ext cx="3446042" cy="2483339"/>
          </a:xfrm>
          <a:prstGeom prst="rect">
            <a:avLst/>
          </a:prstGeom>
        </p:spPr>
      </p:pic>
      <p:sp>
        <p:nvSpPr>
          <p:cNvPr id="7" name="Rectangle 6">
            <a:extLst>
              <a:ext uri="{FF2B5EF4-FFF2-40B4-BE49-F238E27FC236}">
                <a16:creationId xmlns:a16="http://schemas.microsoft.com/office/drawing/2014/main" id="{A8BB2F3C-FECF-40C7-B5CA-8145FD9BDE30}"/>
              </a:ext>
            </a:extLst>
          </p:cNvPr>
          <p:cNvSpPr/>
          <p:nvPr/>
        </p:nvSpPr>
        <p:spPr>
          <a:xfrm>
            <a:off x="8451440" y="1808480"/>
            <a:ext cx="3446042" cy="1320800"/>
          </a:xfrm>
          <a:prstGeom prst="rect">
            <a:avLst/>
          </a:prstGeom>
          <a:solidFill>
            <a:srgbClr val="FFCC00">
              <a:alpha val="1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Box 7">
            <a:extLst>
              <a:ext uri="{FF2B5EF4-FFF2-40B4-BE49-F238E27FC236}">
                <a16:creationId xmlns:a16="http://schemas.microsoft.com/office/drawing/2014/main" id="{7344B9E3-88D1-4436-BCA3-C285968B948F}"/>
              </a:ext>
            </a:extLst>
          </p:cNvPr>
          <p:cNvSpPr txBox="1"/>
          <p:nvPr/>
        </p:nvSpPr>
        <p:spPr>
          <a:xfrm>
            <a:off x="8451440" y="3898025"/>
            <a:ext cx="331384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26” Directional BHA length = &gt; 58 m</a:t>
            </a:r>
          </a:p>
          <a:p>
            <a:pPr marL="285750" indent="-285750">
              <a:buFont typeface="Arial" panose="020B0604020202020204" pitchFamily="34" charset="0"/>
              <a:buChar char="•"/>
            </a:pPr>
            <a:r>
              <a:rPr lang="en-US" dirty="0"/>
              <a:t>Option-3 and 4, we could run 26” Directional BHA without any drill out rotary BHA</a:t>
            </a:r>
          </a:p>
          <a:p>
            <a:pPr marL="285750" indent="-285750">
              <a:buFont typeface="Arial" panose="020B0604020202020204" pitchFamily="34" charset="0"/>
              <a:buChar char="•"/>
            </a:pPr>
            <a:r>
              <a:rPr lang="en-US" dirty="0"/>
              <a:t>Rig time saving = 20 hours</a:t>
            </a:r>
          </a:p>
          <a:p>
            <a:pPr marL="285750" indent="-285750">
              <a:buFont typeface="Arial" panose="020B0604020202020204" pitchFamily="34" charset="0"/>
              <a:buChar char="•"/>
            </a:pPr>
            <a:endParaRPr lang="en-ID" dirty="0"/>
          </a:p>
        </p:txBody>
      </p:sp>
      <p:sp>
        <p:nvSpPr>
          <p:cNvPr id="9" name="TextBox 8">
            <a:extLst>
              <a:ext uri="{FF2B5EF4-FFF2-40B4-BE49-F238E27FC236}">
                <a16:creationId xmlns:a16="http://schemas.microsoft.com/office/drawing/2014/main" id="{58B82789-453E-4F0E-8FE6-1898C7508A4C}"/>
              </a:ext>
            </a:extLst>
          </p:cNvPr>
          <p:cNvSpPr txBox="1"/>
          <p:nvPr/>
        </p:nvSpPr>
        <p:spPr>
          <a:xfrm>
            <a:off x="853440" y="4114800"/>
            <a:ext cx="365760" cy="523220"/>
          </a:xfrm>
          <a:prstGeom prst="rect">
            <a:avLst/>
          </a:prstGeom>
          <a:solidFill>
            <a:srgbClr val="FFCC00"/>
          </a:solidFill>
          <a:ln w="25400">
            <a:solidFill>
              <a:srgbClr val="002060"/>
            </a:solidFill>
          </a:ln>
        </p:spPr>
        <p:txBody>
          <a:bodyPr wrap="square" rtlCol="0">
            <a:spAutoFit/>
          </a:bodyPr>
          <a:lstStyle/>
          <a:p>
            <a:r>
              <a:rPr lang="en-US" sz="2800" dirty="0"/>
              <a:t>1</a:t>
            </a:r>
            <a:endParaRPr lang="en-ID" sz="2800" dirty="0"/>
          </a:p>
        </p:txBody>
      </p:sp>
      <p:sp>
        <p:nvSpPr>
          <p:cNvPr id="10" name="TextBox 9">
            <a:extLst>
              <a:ext uri="{FF2B5EF4-FFF2-40B4-BE49-F238E27FC236}">
                <a16:creationId xmlns:a16="http://schemas.microsoft.com/office/drawing/2014/main" id="{959B3EDB-1E4E-4522-AA53-C1E546560DAB}"/>
              </a:ext>
            </a:extLst>
          </p:cNvPr>
          <p:cNvSpPr txBox="1"/>
          <p:nvPr/>
        </p:nvSpPr>
        <p:spPr>
          <a:xfrm>
            <a:off x="2997200" y="4913687"/>
            <a:ext cx="365760" cy="523220"/>
          </a:xfrm>
          <a:prstGeom prst="rect">
            <a:avLst/>
          </a:prstGeom>
          <a:solidFill>
            <a:srgbClr val="FFCC00"/>
          </a:solidFill>
          <a:ln w="25400">
            <a:solidFill>
              <a:srgbClr val="002060"/>
            </a:solidFill>
          </a:ln>
        </p:spPr>
        <p:txBody>
          <a:bodyPr wrap="square" rtlCol="0">
            <a:spAutoFit/>
          </a:bodyPr>
          <a:lstStyle/>
          <a:p>
            <a:r>
              <a:rPr lang="en-US" sz="2800" dirty="0"/>
              <a:t>2</a:t>
            </a:r>
            <a:endParaRPr lang="en-ID" sz="2800" dirty="0"/>
          </a:p>
        </p:txBody>
      </p:sp>
      <p:sp>
        <p:nvSpPr>
          <p:cNvPr id="11" name="TextBox 10">
            <a:extLst>
              <a:ext uri="{FF2B5EF4-FFF2-40B4-BE49-F238E27FC236}">
                <a16:creationId xmlns:a16="http://schemas.microsoft.com/office/drawing/2014/main" id="{AAA941A5-6765-4B42-B934-8FFF9B4BC5D0}"/>
              </a:ext>
            </a:extLst>
          </p:cNvPr>
          <p:cNvSpPr txBox="1"/>
          <p:nvPr/>
        </p:nvSpPr>
        <p:spPr>
          <a:xfrm>
            <a:off x="5080000" y="5750560"/>
            <a:ext cx="365760" cy="523220"/>
          </a:xfrm>
          <a:prstGeom prst="rect">
            <a:avLst/>
          </a:prstGeom>
          <a:solidFill>
            <a:srgbClr val="FFCC00"/>
          </a:solidFill>
          <a:ln w="25400">
            <a:solidFill>
              <a:srgbClr val="002060"/>
            </a:solidFill>
          </a:ln>
        </p:spPr>
        <p:txBody>
          <a:bodyPr wrap="square" rtlCol="0">
            <a:spAutoFit/>
          </a:bodyPr>
          <a:lstStyle/>
          <a:p>
            <a:r>
              <a:rPr lang="en-US" sz="2800" dirty="0"/>
              <a:t>3</a:t>
            </a:r>
            <a:endParaRPr lang="en-ID" sz="2800" dirty="0"/>
          </a:p>
        </p:txBody>
      </p:sp>
      <p:sp>
        <p:nvSpPr>
          <p:cNvPr id="12" name="TextBox 11">
            <a:extLst>
              <a:ext uri="{FF2B5EF4-FFF2-40B4-BE49-F238E27FC236}">
                <a16:creationId xmlns:a16="http://schemas.microsoft.com/office/drawing/2014/main" id="{774C5B5C-7EC1-49DF-8D5D-63D88E7DBDFC}"/>
              </a:ext>
            </a:extLst>
          </p:cNvPr>
          <p:cNvSpPr txBox="1"/>
          <p:nvPr/>
        </p:nvSpPr>
        <p:spPr>
          <a:xfrm>
            <a:off x="6817360" y="5935420"/>
            <a:ext cx="365760" cy="523220"/>
          </a:xfrm>
          <a:prstGeom prst="rect">
            <a:avLst/>
          </a:prstGeom>
          <a:solidFill>
            <a:srgbClr val="FFCC00"/>
          </a:solidFill>
          <a:ln w="25400">
            <a:solidFill>
              <a:srgbClr val="002060"/>
            </a:solidFill>
          </a:ln>
        </p:spPr>
        <p:txBody>
          <a:bodyPr wrap="square" rtlCol="0">
            <a:spAutoFit/>
          </a:bodyPr>
          <a:lstStyle/>
          <a:p>
            <a:r>
              <a:rPr lang="en-US" sz="2800" dirty="0"/>
              <a:t>4</a:t>
            </a:r>
            <a:endParaRPr lang="en-ID" sz="2800" dirty="0"/>
          </a:p>
        </p:txBody>
      </p:sp>
    </p:spTree>
    <p:extLst>
      <p:ext uri="{BB962C8B-B14F-4D97-AF65-F5344CB8AC3E}">
        <p14:creationId xmlns:p14="http://schemas.microsoft.com/office/powerpoint/2010/main" val="30174005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3D88C-6E34-4F71-B3B0-FECD379C4011}"/>
              </a:ext>
            </a:extLst>
          </p:cNvPr>
          <p:cNvSpPr>
            <a:spLocks noGrp="1"/>
          </p:cNvSpPr>
          <p:nvPr>
            <p:ph type="title"/>
          </p:nvPr>
        </p:nvSpPr>
        <p:spPr/>
        <p:txBody>
          <a:bodyPr/>
          <a:lstStyle/>
          <a:p>
            <a:r>
              <a:rPr lang="en-US" dirty="0"/>
              <a:t>Conductor Depth Illustration</a:t>
            </a:r>
            <a:endParaRPr lang="en-ID" dirty="0"/>
          </a:p>
        </p:txBody>
      </p:sp>
      <p:pic>
        <p:nvPicPr>
          <p:cNvPr id="4" name="Picture 3">
            <a:extLst>
              <a:ext uri="{FF2B5EF4-FFF2-40B4-BE49-F238E27FC236}">
                <a16:creationId xmlns:a16="http://schemas.microsoft.com/office/drawing/2014/main" id="{2FCCD354-5F94-476A-A8D2-FA1F02739B7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4487" y="1286021"/>
            <a:ext cx="8307833" cy="5264649"/>
          </a:xfrm>
          <a:prstGeom prst="rect">
            <a:avLst/>
          </a:prstGeom>
        </p:spPr>
      </p:pic>
      <p:sp>
        <p:nvSpPr>
          <p:cNvPr id="6" name="TextBox 5">
            <a:extLst>
              <a:ext uri="{FF2B5EF4-FFF2-40B4-BE49-F238E27FC236}">
                <a16:creationId xmlns:a16="http://schemas.microsoft.com/office/drawing/2014/main" id="{07663138-94C0-49DC-A768-F3858DB7BC05}"/>
              </a:ext>
            </a:extLst>
          </p:cNvPr>
          <p:cNvSpPr txBox="1"/>
          <p:nvPr/>
        </p:nvSpPr>
        <p:spPr>
          <a:xfrm>
            <a:off x="9653453" y="189465"/>
            <a:ext cx="1933543" cy="369332"/>
          </a:xfrm>
          <a:prstGeom prst="rect">
            <a:avLst/>
          </a:prstGeom>
          <a:noFill/>
        </p:spPr>
        <p:txBody>
          <a:bodyPr wrap="none" rtlCol="0">
            <a:spAutoFit/>
          </a:bodyPr>
          <a:lstStyle/>
          <a:p>
            <a:r>
              <a:rPr lang="en-US" b="1" dirty="0">
                <a:solidFill>
                  <a:srgbClr val="C00000"/>
                </a:solidFill>
              </a:rPr>
              <a:t>26” BHA Length</a:t>
            </a:r>
            <a:endParaRPr lang="en-ID" b="1" dirty="0">
              <a:solidFill>
                <a:srgbClr val="C00000"/>
              </a:solidFill>
            </a:endParaRPr>
          </a:p>
        </p:txBody>
      </p:sp>
      <p:sp>
        <p:nvSpPr>
          <p:cNvPr id="9" name="TextBox 8">
            <a:extLst>
              <a:ext uri="{FF2B5EF4-FFF2-40B4-BE49-F238E27FC236}">
                <a16:creationId xmlns:a16="http://schemas.microsoft.com/office/drawing/2014/main" id="{58B82789-453E-4F0E-8FE6-1898C7508A4C}"/>
              </a:ext>
            </a:extLst>
          </p:cNvPr>
          <p:cNvSpPr txBox="1"/>
          <p:nvPr/>
        </p:nvSpPr>
        <p:spPr>
          <a:xfrm>
            <a:off x="853440" y="4114800"/>
            <a:ext cx="365760" cy="523220"/>
          </a:xfrm>
          <a:prstGeom prst="rect">
            <a:avLst/>
          </a:prstGeom>
          <a:solidFill>
            <a:srgbClr val="FFCC00"/>
          </a:solidFill>
          <a:ln w="25400">
            <a:solidFill>
              <a:srgbClr val="002060"/>
            </a:solidFill>
          </a:ln>
        </p:spPr>
        <p:txBody>
          <a:bodyPr wrap="square" rtlCol="0">
            <a:spAutoFit/>
          </a:bodyPr>
          <a:lstStyle/>
          <a:p>
            <a:r>
              <a:rPr lang="en-US" sz="2800" dirty="0"/>
              <a:t>1</a:t>
            </a:r>
            <a:endParaRPr lang="en-ID" sz="2800" dirty="0"/>
          </a:p>
        </p:txBody>
      </p:sp>
      <p:sp>
        <p:nvSpPr>
          <p:cNvPr id="10" name="TextBox 9">
            <a:extLst>
              <a:ext uri="{FF2B5EF4-FFF2-40B4-BE49-F238E27FC236}">
                <a16:creationId xmlns:a16="http://schemas.microsoft.com/office/drawing/2014/main" id="{959B3EDB-1E4E-4522-AA53-C1E546560DAB}"/>
              </a:ext>
            </a:extLst>
          </p:cNvPr>
          <p:cNvSpPr txBox="1"/>
          <p:nvPr/>
        </p:nvSpPr>
        <p:spPr>
          <a:xfrm>
            <a:off x="2997200" y="4913687"/>
            <a:ext cx="365760" cy="523220"/>
          </a:xfrm>
          <a:prstGeom prst="rect">
            <a:avLst/>
          </a:prstGeom>
          <a:solidFill>
            <a:srgbClr val="FFCC00"/>
          </a:solidFill>
          <a:ln w="25400">
            <a:solidFill>
              <a:srgbClr val="002060"/>
            </a:solidFill>
          </a:ln>
        </p:spPr>
        <p:txBody>
          <a:bodyPr wrap="square" rtlCol="0">
            <a:spAutoFit/>
          </a:bodyPr>
          <a:lstStyle/>
          <a:p>
            <a:r>
              <a:rPr lang="en-US" sz="2800" dirty="0"/>
              <a:t>2</a:t>
            </a:r>
            <a:endParaRPr lang="en-ID" sz="2800" dirty="0"/>
          </a:p>
        </p:txBody>
      </p:sp>
      <p:sp>
        <p:nvSpPr>
          <p:cNvPr id="11" name="TextBox 10">
            <a:extLst>
              <a:ext uri="{FF2B5EF4-FFF2-40B4-BE49-F238E27FC236}">
                <a16:creationId xmlns:a16="http://schemas.microsoft.com/office/drawing/2014/main" id="{AAA941A5-6765-4B42-B934-8FFF9B4BC5D0}"/>
              </a:ext>
            </a:extLst>
          </p:cNvPr>
          <p:cNvSpPr txBox="1"/>
          <p:nvPr/>
        </p:nvSpPr>
        <p:spPr>
          <a:xfrm>
            <a:off x="5080000" y="5750560"/>
            <a:ext cx="365760" cy="523220"/>
          </a:xfrm>
          <a:prstGeom prst="rect">
            <a:avLst/>
          </a:prstGeom>
          <a:solidFill>
            <a:srgbClr val="FFCC00"/>
          </a:solidFill>
          <a:ln w="25400">
            <a:solidFill>
              <a:srgbClr val="002060"/>
            </a:solidFill>
          </a:ln>
        </p:spPr>
        <p:txBody>
          <a:bodyPr wrap="square" rtlCol="0">
            <a:spAutoFit/>
          </a:bodyPr>
          <a:lstStyle/>
          <a:p>
            <a:r>
              <a:rPr lang="en-US" sz="2800" dirty="0"/>
              <a:t>3</a:t>
            </a:r>
            <a:endParaRPr lang="en-ID" sz="2800" dirty="0"/>
          </a:p>
        </p:txBody>
      </p:sp>
      <p:sp>
        <p:nvSpPr>
          <p:cNvPr id="12" name="TextBox 11">
            <a:extLst>
              <a:ext uri="{FF2B5EF4-FFF2-40B4-BE49-F238E27FC236}">
                <a16:creationId xmlns:a16="http://schemas.microsoft.com/office/drawing/2014/main" id="{774C5B5C-7EC1-49DF-8D5D-63D88E7DBDFC}"/>
              </a:ext>
            </a:extLst>
          </p:cNvPr>
          <p:cNvSpPr txBox="1"/>
          <p:nvPr/>
        </p:nvSpPr>
        <p:spPr>
          <a:xfrm>
            <a:off x="6817360" y="5935420"/>
            <a:ext cx="365760" cy="523220"/>
          </a:xfrm>
          <a:prstGeom prst="rect">
            <a:avLst/>
          </a:prstGeom>
          <a:solidFill>
            <a:srgbClr val="FFCC00"/>
          </a:solidFill>
          <a:ln w="25400">
            <a:solidFill>
              <a:srgbClr val="002060"/>
            </a:solidFill>
          </a:ln>
        </p:spPr>
        <p:txBody>
          <a:bodyPr wrap="square" rtlCol="0">
            <a:spAutoFit/>
          </a:bodyPr>
          <a:lstStyle/>
          <a:p>
            <a:r>
              <a:rPr lang="en-US" sz="2800" dirty="0"/>
              <a:t>4</a:t>
            </a:r>
            <a:endParaRPr lang="en-ID" sz="2800" dirty="0"/>
          </a:p>
        </p:txBody>
      </p:sp>
      <p:graphicFrame>
        <p:nvGraphicFramePr>
          <p:cNvPr id="5" name="Table 12">
            <a:extLst>
              <a:ext uri="{FF2B5EF4-FFF2-40B4-BE49-F238E27FC236}">
                <a16:creationId xmlns:a16="http://schemas.microsoft.com/office/drawing/2014/main" id="{C8821E8C-BA28-4CA3-85D8-70650CDC1269}"/>
              </a:ext>
            </a:extLst>
          </p:cNvPr>
          <p:cNvGraphicFramePr>
            <a:graphicFrameLocks noGrp="1"/>
          </p:cNvGraphicFramePr>
          <p:nvPr/>
        </p:nvGraphicFramePr>
        <p:xfrm>
          <a:off x="8402320" y="1265701"/>
          <a:ext cx="3586480" cy="3942080"/>
        </p:xfrm>
        <a:graphic>
          <a:graphicData uri="http://schemas.openxmlformats.org/drawingml/2006/table">
            <a:tbl>
              <a:tblPr firstRow="1" bandRow="1">
                <a:tableStyleId>{5C22544A-7EE6-4342-B048-85BDC9FD1C3A}</a:tableStyleId>
              </a:tblPr>
              <a:tblGrid>
                <a:gridCol w="1793240">
                  <a:extLst>
                    <a:ext uri="{9D8B030D-6E8A-4147-A177-3AD203B41FA5}">
                      <a16:colId xmlns:a16="http://schemas.microsoft.com/office/drawing/2014/main" val="3783327961"/>
                    </a:ext>
                  </a:extLst>
                </a:gridCol>
                <a:gridCol w="1793240">
                  <a:extLst>
                    <a:ext uri="{9D8B030D-6E8A-4147-A177-3AD203B41FA5}">
                      <a16:colId xmlns:a16="http://schemas.microsoft.com/office/drawing/2014/main" val="2524540038"/>
                    </a:ext>
                  </a:extLst>
                </a:gridCol>
              </a:tblGrid>
              <a:tr h="370840">
                <a:tc>
                  <a:txBody>
                    <a:bodyPr/>
                    <a:lstStyle/>
                    <a:p>
                      <a:r>
                        <a:rPr lang="en-US" dirty="0"/>
                        <a:t>Option-1 &amp; 2</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Option-3 &amp; 4</a:t>
                      </a:r>
                      <a:endParaRPr lang="en-ID" dirty="0"/>
                    </a:p>
                  </a:txBody>
                  <a:tcPr/>
                </a:tc>
                <a:extLst>
                  <a:ext uri="{0D108BD9-81ED-4DB2-BD59-A6C34878D82A}">
                    <a16:rowId xmlns:a16="http://schemas.microsoft.com/office/drawing/2014/main" val="2699650473"/>
                  </a:ext>
                </a:extLst>
              </a:tr>
              <a:tr h="370840">
                <a:tc>
                  <a:txBody>
                    <a:bodyPr/>
                    <a:lstStyle/>
                    <a:p>
                      <a:r>
                        <a:rPr lang="en-US" dirty="0"/>
                        <a:t>MU Rotary BHA</a:t>
                      </a:r>
                    </a:p>
                    <a:p>
                      <a:r>
                        <a:rPr lang="en-US" dirty="0"/>
                        <a:t>RIH</a:t>
                      </a:r>
                    </a:p>
                    <a:p>
                      <a:r>
                        <a:rPr lang="en-US" dirty="0"/>
                        <a:t>Drill to 70 m</a:t>
                      </a:r>
                    </a:p>
                    <a:p>
                      <a:r>
                        <a:rPr lang="en-US" dirty="0"/>
                        <a:t>POOH</a:t>
                      </a:r>
                    </a:p>
                    <a:p>
                      <a:r>
                        <a:rPr lang="en-US" dirty="0"/>
                        <a:t>MU DD BHA</a:t>
                      </a:r>
                    </a:p>
                    <a:p>
                      <a:r>
                        <a:rPr lang="en-US" dirty="0"/>
                        <a:t>RIH</a:t>
                      </a:r>
                    </a:p>
                    <a:p>
                      <a:r>
                        <a:rPr lang="en-US" dirty="0"/>
                        <a:t>Drill to TD</a:t>
                      </a:r>
                    </a:p>
                    <a:p>
                      <a:r>
                        <a:rPr lang="en-US" dirty="0"/>
                        <a:t>POOH</a:t>
                      </a:r>
                      <a:endParaRPr lang="en-ID" dirty="0"/>
                    </a:p>
                  </a:txBody>
                  <a:tcPr/>
                </a:tc>
                <a:tc>
                  <a:txBody>
                    <a:bodyPr/>
                    <a:lstStyle/>
                    <a:p>
                      <a:endParaRPr lang="en-US" dirty="0"/>
                    </a:p>
                    <a:p>
                      <a:endParaRPr lang="en-US" dirty="0"/>
                    </a:p>
                    <a:p>
                      <a:r>
                        <a:rPr lang="en-US" dirty="0"/>
                        <a:t>    20 hours</a:t>
                      </a:r>
                    </a:p>
                    <a:p>
                      <a:endParaRPr lang="en-US" dirty="0"/>
                    </a:p>
                    <a:p>
                      <a:r>
                        <a:rPr lang="en-US" dirty="0"/>
                        <a:t>MU DD BHA</a:t>
                      </a:r>
                    </a:p>
                    <a:p>
                      <a:r>
                        <a:rPr lang="en-US" dirty="0"/>
                        <a:t>RIH</a:t>
                      </a:r>
                    </a:p>
                    <a:p>
                      <a:r>
                        <a:rPr lang="en-US" dirty="0"/>
                        <a:t>Drill to TD</a:t>
                      </a:r>
                    </a:p>
                    <a:p>
                      <a:r>
                        <a:rPr lang="en-US" dirty="0"/>
                        <a:t>POOH</a:t>
                      </a:r>
                      <a:endParaRPr lang="en-ID" dirty="0"/>
                    </a:p>
                  </a:txBody>
                  <a:tcPr/>
                </a:tc>
                <a:extLst>
                  <a:ext uri="{0D108BD9-81ED-4DB2-BD59-A6C34878D82A}">
                    <a16:rowId xmlns:a16="http://schemas.microsoft.com/office/drawing/2014/main" val="753760722"/>
                  </a:ext>
                </a:extLst>
              </a:tr>
              <a:tr h="370840">
                <a:tc>
                  <a:txBody>
                    <a:bodyPr/>
                    <a:lstStyle/>
                    <a:p>
                      <a:r>
                        <a:rPr lang="en-US" dirty="0"/>
                        <a:t>Additional cost for Auger and Casing = </a:t>
                      </a:r>
                      <a:endParaRPr lang="en-ID" dirty="0"/>
                    </a:p>
                  </a:txBody>
                  <a:tcPr/>
                </a:tc>
                <a:tc>
                  <a:txBody>
                    <a:bodyPr/>
                    <a:lstStyle/>
                    <a:p>
                      <a:r>
                        <a:rPr lang="en-US" dirty="0"/>
                        <a:t>Rig time saving = 20 hours</a:t>
                      </a:r>
                    </a:p>
                    <a:p>
                      <a:r>
                        <a:rPr lang="en-ID" dirty="0"/>
                        <a:t>USD 58 K</a:t>
                      </a:r>
                    </a:p>
                  </a:txBody>
                  <a:tcPr/>
                </a:tc>
                <a:extLst>
                  <a:ext uri="{0D108BD9-81ED-4DB2-BD59-A6C34878D82A}">
                    <a16:rowId xmlns:a16="http://schemas.microsoft.com/office/drawing/2014/main" val="2117291650"/>
                  </a:ext>
                </a:extLst>
              </a:tr>
              <a:tr h="370840">
                <a:tc gridSpan="2">
                  <a:txBody>
                    <a:bodyPr/>
                    <a:lstStyle/>
                    <a:p>
                      <a:r>
                        <a:rPr lang="en-US" dirty="0"/>
                        <a:t>Potential Cost Saving: </a:t>
                      </a:r>
                      <a:endParaRPr lang="en-ID" dirty="0"/>
                    </a:p>
                  </a:txBody>
                  <a:tcPr/>
                </a:tc>
                <a:tc hMerge="1">
                  <a:txBody>
                    <a:bodyPr/>
                    <a:lstStyle/>
                    <a:p>
                      <a:endParaRPr lang="en-ID" dirty="0"/>
                    </a:p>
                  </a:txBody>
                  <a:tcPr/>
                </a:tc>
                <a:extLst>
                  <a:ext uri="{0D108BD9-81ED-4DB2-BD59-A6C34878D82A}">
                    <a16:rowId xmlns:a16="http://schemas.microsoft.com/office/drawing/2014/main" val="247752676"/>
                  </a:ext>
                </a:extLst>
              </a:tr>
            </a:tbl>
          </a:graphicData>
        </a:graphic>
      </p:graphicFrame>
      <p:sp>
        <p:nvSpPr>
          <p:cNvPr id="13" name="Right Brace 12">
            <a:extLst>
              <a:ext uri="{FF2B5EF4-FFF2-40B4-BE49-F238E27FC236}">
                <a16:creationId xmlns:a16="http://schemas.microsoft.com/office/drawing/2014/main" id="{A5E6B7FD-FAFB-403E-BB67-69DC7D221132}"/>
              </a:ext>
            </a:extLst>
          </p:cNvPr>
          <p:cNvSpPr/>
          <p:nvPr/>
        </p:nvSpPr>
        <p:spPr>
          <a:xfrm>
            <a:off x="10200640" y="1778000"/>
            <a:ext cx="172720" cy="985520"/>
          </a:xfrm>
          <a:prstGeom prst="rightBrace">
            <a:avLst/>
          </a:prstGeom>
          <a:ln w="19050">
            <a:prstDash val="sysDash"/>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spTree>
    <p:extLst>
      <p:ext uri="{BB962C8B-B14F-4D97-AF65-F5344CB8AC3E}">
        <p14:creationId xmlns:p14="http://schemas.microsoft.com/office/powerpoint/2010/main" val="7161755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FF509-2504-42F9-B824-0F481E976697}"/>
              </a:ext>
            </a:extLst>
          </p:cNvPr>
          <p:cNvSpPr>
            <a:spLocks noGrp="1"/>
          </p:cNvSpPr>
          <p:nvPr>
            <p:ph type="title"/>
          </p:nvPr>
        </p:nvSpPr>
        <p:spPr/>
        <p:txBody>
          <a:bodyPr>
            <a:normAutofit fontScale="90000"/>
          </a:bodyPr>
          <a:lstStyle/>
          <a:p>
            <a:r>
              <a:rPr lang="en-US" dirty="0"/>
              <a:t>Advantages to set Deeper 30” Conductor Depth</a:t>
            </a:r>
            <a:endParaRPr lang="en-ID" dirty="0"/>
          </a:p>
        </p:txBody>
      </p:sp>
      <p:sp>
        <p:nvSpPr>
          <p:cNvPr id="3" name="TextBox 2">
            <a:extLst>
              <a:ext uri="{FF2B5EF4-FFF2-40B4-BE49-F238E27FC236}">
                <a16:creationId xmlns:a16="http://schemas.microsoft.com/office/drawing/2014/main" id="{B1755FC1-13DC-49E1-A1C8-151DB2BB95BA}"/>
              </a:ext>
            </a:extLst>
          </p:cNvPr>
          <p:cNvSpPr txBox="1"/>
          <p:nvPr/>
        </p:nvSpPr>
        <p:spPr>
          <a:xfrm>
            <a:off x="741680" y="1478280"/>
            <a:ext cx="10163026"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t>Rig time saving since it could run directional BHA instead of initiated with Rotary BHA to provide sufficient space for Directional BHA</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If any surface losses, has been cured during </a:t>
            </a:r>
            <a:r>
              <a:rPr lang="en-US" sz="2400" dirty="0" err="1"/>
              <a:t>Augering</a:t>
            </a:r>
            <a:r>
              <a:rPr lang="en-US" sz="2400" dirty="0"/>
              <a:t> operation which much less operating daily rate.</a:t>
            </a:r>
            <a:endParaRPr lang="en-ID" sz="2400" dirty="0"/>
          </a:p>
        </p:txBody>
      </p:sp>
      <p:sp>
        <p:nvSpPr>
          <p:cNvPr id="4" name="TextBox 3">
            <a:extLst>
              <a:ext uri="{FF2B5EF4-FFF2-40B4-BE49-F238E27FC236}">
                <a16:creationId xmlns:a16="http://schemas.microsoft.com/office/drawing/2014/main" id="{59894939-BF96-481A-BB9F-6A9418BF7DC6}"/>
              </a:ext>
            </a:extLst>
          </p:cNvPr>
          <p:cNvSpPr txBox="1"/>
          <p:nvPr/>
        </p:nvSpPr>
        <p:spPr>
          <a:xfrm>
            <a:off x="831499" y="3807416"/>
            <a:ext cx="8553624" cy="369332"/>
          </a:xfrm>
          <a:prstGeom prst="rect">
            <a:avLst/>
          </a:prstGeom>
          <a:noFill/>
        </p:spPr>
        <p:txBody>
          <a:bodyPr wrap="none" rtlCol="0">
            <a:spAutoFit/>
          </a:bodyPr>
          <a:lstStyle/>
          <a:p>
            <a:r>
              <a:rPr lang="en-US" dirty="0">
                <a:solidFill>
                  <a:srgbClr val="C00000"/>
                </a:solidFill>
                <a:highlight>
                  <a:srgbClr val="FFFF00"/>
                </a:highlight>
              </a:rPr>
              <a:t>Note: However, it need to confirm what the maximum depth that Auger could drill.</a:t>
            </a:r>
            <a:endParaRPr lang="en-ID" dirty="0">
              <a:solidFill>
                <a:srgbClr val="C00000"/>
              </a:solidFill>
              <a:highlight>
                <a:srgbClr val="FFFF00"/>
              </a:highlight>
            </a:endParaRPr>
          </a:p>
        </p:txBody>
      </p:sp>
    </p:spTree>
    <p:extLst>
      <p:ext uri="{BB962C8B-B14F-4D97-AF65-F5344CB8AC3E}">
        <p14:creationId xmlns:p14="http://schemas.microsoft.com/office/powerpoint/2010/main" val="18953948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7124-4142-31E4-1925-1053B66211E3}"/>
              </a:ext>
            </a:extLst>
          </p:cNvPr>
          <p:cNvSpPr>
            <a:spLocks noGrp="1"/>
          </p:cNvSpPr>
          <p:nvPr>
            <p:ph type="title"/>
          </p:nvPr>
        </p:nvSpPr>
        <p:spPr/>
        <p:txBody>
          <a:bodyPr>
            <a:normAutofit/>
          </a:bodyPr>
          <a:lstStyle/>
          <a:p>
            <a:r>
              <a:rPr lang="en-US" altLang="en-US" sz="3600" b="1" dirty="0" err="1">
                <a:solidFill>
                  <a:srgbClr val="C00000"/>
                </a:solidFill>
              </a:rPr>
              <a:t>WellPad</a:t>
            </a:r>
            <a:r>
              <a:rPr lang="en-US" altLang="en-US" sz="3600" b="1" dirty="0">
                <a:solidFill>
                  <a:srgbClr val="C00000"/>
                </a:solidFill>
              </a:rPr>
              <a:t> Surface Location</a:t>
            </a:r>
            <a:endParaRPr lang="en-ID" sz="3600" b="1" dirty="0">
              <a:solidFill>
                <a:srgbClr val="C00000"/>
              </a:solidFill>
            </a:endParaRPr>
          </a:p>
        </p:txBody>
      </p:sp>
      <p:sp>
        <p:nvSpPr>
          <p:cNvPr id="3" name="Freeform 10">
            <a:extLst>
              <a:ext uri="{FF2B5EF4-FFF2-40B4-BE49-F238E27FC236}">
                <a16:creationId xmlns:a16="http://schemas.microsoft.com/office/drawing/2014/main" id="{8BBA4E7E-20BE-38D0-297C-15FF4EFAEAB0}"/>
              </a:ext>
            </a:extLst>
          </p:cNvPr>
          <p:cNvSpPr/>
          <p:nvPr/>
        </p:nvSpPr>
        <p:spPr>
          <a:xfrm>
            <a:off x="1091454" y="2758256"/>
            <a:ext cx="8001000" cy="2309812"/>
          </a:xfrm>
          <a:custGeom>
            <a:avLst/>
            <a:gdLst>
              <a:gd name="connsiteX0" fmla="*/ 0 w 6943725"/>
              <a:gd name="connsiteY0" fmla="*/ 1576009 h 1604584"/>
              <a:gd name="connsiteX1" fmla="*/ 0 w 6943725"/>
              <a:gd name="connsiteY1" fmla="*/ 1576009 h 1604584"/>
              <a:gd name="connsiteX2" fmla="*/ 114300 w 6943725"/>
              <a:gd name="connsiteY2" fmla="*/ 1533147 h 1604584"/>
              <a:gd name="connsiteX3" fmla="*/ 271462 w 6943725"/>
              <a:gd name="connsiteY3" fmla="*/ 1490284 h 1604584"/>
              <a:gd name="connsiteX4" fmla="*/ 328612 w 6943725"/>
              <a:gd name="connsiteY4" fmla="*/ 1461709 h 1604584"/>
              <a:gd name="connsiteX5" fmla="*/ 428625 w 6943725"/>
              <a:gd name="connsiteY5" fmla="*/ 1433134 h 1604584"/>
              <a:gd name="connsiteX6" fmla="*/ 471487 w 6943725"/>
              <a:gd name="connsiteY6" fmla="*/ 1418847 h 1604584"/>
              <a:gd name="connsiteX7" fmla="*/ 528637 w 6943725"/>
              <a:gd name="connsiteY7" fmla="*/ 1404559 h 1604584"/>
              <a:gd name="connsiteX8" fmla="*/ 571500 w 6943725"/>
              <a:gd name="connsiteY8" fmla="*/ 1390272 h 1604584"/>
              <a:gd name="connsiteX9" fmla="*/ 671512 w 6943725"/>
              <a:gd name="connsiteY9" fmla="*/ 1375984 h 1604584"/>
              <a:gd name="connsiteX10" fmla="*/ 785812 w 6943725"/>
              <a:gd name="connsiteY10" fmla="*/ 1347409 h 1604584"/>
              <a:gd name="connsiteX11" fmla="*/ 857250 w 6943725"/>
              <a:gd name="connsiteY11" fmla="*/ 1333122 h 1604584"/>
              <a:gd name="connsiteX12" fmla="*/ 957262 w 6943725"/>
              <a:gd name="connsiteY12" fmla="*/ 1304547 h 1604584"/>
              <a:gd name="connsiteX13" fmla="*/ 1014412 w 6943725"/>
              <a:gd name="connsiteY13" fmla="*/ 1275972 h 1604584"/>
              <a:gd name="connsiteX14" fmla="*/ 1143000 w 6943725"/>
              <a:gd name="connsiteY14" fmla="*/ 1175959 h 1604584"/>
              <a:gd name="connsiteX15" fmla="*/ 1185862 w 6943725"/>
              <a:gd name="connsiteY15" fmla="*/ 1147384 h 1604584"/>
              <a:gd name="connsiteX16" fmla="*/ 1271587 w 6943725"/>
              <a:gd name="connsiteY16" fmla="*/ 1047372 h 1604584"/>
              <a:gd name="connsiteX17" fmla="*/ 1357312 w 6943725"/>
              <a:gd name="connsiteY17" fmla="*/ 990222 h 1604584"/>
              <a:gd name="connsiteX18" fmla="*/ 1400175 w 6943725"/>
              <a:gd name="connsiteY18" fmla="*/ 961647 h 1604584"/>
              <a:gd name="connsiteX19" fmla="*/ 1485900 w 6943725"/>
              <a:gd name="connsiteY19" fmla="*/ 933072 h 1604584"/>
              <a:gd name="connsiteX20" fmla="*/ 1528762 w 6943725"/>
              <a:gd name="connsiteY20" fmla="*/ 904497 h 1604584"/>
              <a:gd name="connsiteX21" fmla="*/ 1585912 w 6943725"/>
              <a:gd name="connsiteY21" fmla="*/ 890209 h 1604584"/>
              <a:gd name="connsiteX22" fmla="*/ 1628775 w 6943725"/>
              <a:gd name="connsiteY22" fmla="*/ 875922 h 1604584"/>
              <a:gd name="connsiteX23" fmla="*/ 1714500 w 6943725"/>
              <a:gd name="connsiteY23" fmla="*/ 818772 h 1604584"/>
              <a:gd name="connsiteX24" fmla="*/ 1757362 w 6943725"/>
              <a:gd name="connsiteY24" fmla="*/ 790197 h 1604584"/>
              <a:gd name="connsiteX25" fmla="*/ 1814512 w 6943725"/>
              <a:gd name="connsiteY25" fmla="*/ 761622 h 1604584"/>
              <a:gd name="connsiteX26" fmla="*/ 1857375 w 6943725"/>
              <a:gd name="connsiteY26" fmla="*/ 718759 h 1604584"/>
              <a:gd name="connsiteX27" fmla="*/ 1914525 w 6943725"/>
              <a:gd name="connsiteY27" fmla="*/ 690184 h 1604584"/>
              <a:gd name="connsiteX28" fmla="*/ 2043112 w 6943725"/>
              <a:gd name="connsiteY28" fmla="*/ 618747 h 1604584"/>
              <a:gd name="connsiteX29" fmla="*/ 2085975 w 6943725"/>
              <a:gd name="connsiteY29" fmla="*/ 575884 h 1604584"/>
              <a:gd name="connsiteX30" fmla="*/ 2128837 w 6943725"/>
              <a:gd name="connsiteY30" fmla="*/ 547309 h 1604584"/>
              <a:gd name="connsiteX31" fmla="*/ 2200275 w 6943725"/>
              <a:gd name="connsiteY31" fmla="*/ 490159 h 1604584"/>
              <a:gd name="connsiteX32" fmla="*/ 2286000 w 6943725"/>
              <a:gd name="connsiteY32" fmla="*/ 404434 h 1604584"/>
              <a:gd name="connsiteX33" fmla="*/ 2314575 w 6943725"/>
              <a:gd name="connsiteY33" fmla="*/ 361572 h 1604584"/>
              <a:gd name="connsiteX34" fmla="*/ 2400300 w 6943725"/>
              <a:gd name="connsiteY34" fmla="*/ 290134 h 1604584"/>
              <a:gd name="connsiteX35" fmla="*/ 2428875 w 6943725"/>
              <a:gd name="connsiteY35" fmla="*/ 247272 h 1604584"/>
              <a:gd name="connsiteX36" fmla="*/ 2514600 w 6943725"/>
              <a:gd name="connsiteY36" fmla="*/ 190122 h 1604584"/>
              <a:gd name="connsiteX37" fmla="*/ 2586037 w 6943725"/>
              <a:gd name="connsiteY37" fmla="*/ 132972 h 1604584"/>
              <a:gd name="connsiteX38" fmla="*/ 2628900 w 6943725"/>
              <a:gd name="connsiteY38" fmla="*/ 104397 h 1604584"/>
              <a:gd name="connsiteX39" fmla="*/ 2800350 w 6943725"/>
              <a:gd name="connsiteY39" fmla="*/ 61534 h 1604584"/>
              <a:gd name="connsiteX40" fmla="*/ 3000375 w 6943725"/>
              <a:gd name="connsiteY40" fmla="*/ 47247 h 1604584"/>
              <a:gd name="connsiteX41" fmla="*/ 3371850 w 6943725"/>
              <a:gd name="connsiteY41" fmla="*/ 32959 h 1604584"/>
              <a:gd name="connsiteX42" fmla="*/ 3457575 w 6943725"/>
              <a:gd name="connsiteY42" fmla="*/ 4384 h 1604584"/>
              <a:gd name="connsiteX43" fmla="*/ 3543300 w 6943725"/>
              <a:gd name="connsiteY43" fmla="*/ 47247 h 1604584"/>
              <a:gd name="connsiteX44" fmla="*/ 3586162 w 6943725"/>
              <a:gd name="connsiteY44" fmla="*/ 75822 h 1604584"/>
              <a:gd name="connsiteX45" fmla="*/ 3714750 w 6943725"/>
              <a:gd name="connsiteY45" fmla="*/ 118684 h 1604584"/>
              <a:gd name="connsiteX46" fmla="*/ 3800475 w 6943725"/>
              <a:gd name="connsiteY46" fmla="*/ 147259 h 1604584"/>
              <a:gd name="connsiteX47" fmla="*/ 3943350 w 6943725"/>
              <a:gd name="connsiteY47" fmla="*/ 161547 h 1604584"/>
              <a:gd name="connsiteX48" fmla="*/ 3986212 w 6943725"/>
              <a:gd name="connsiteY48" fmla="*/ 190122 h 1604584"/>
              <a:gd name="connsiteX49" fmla="*/ 4000500 w 6943725"/>
              <a:gd name="connsiteY49" fmla="*/ 232984 h 1604584"/>
              <a:gd name="connsiteX50" fmla="*/ 4029075 w 6943725"/>
              <a:gd name="connsiteY50" fmla="*/ 275847 h 1604584"/>
              <a:gd name="connsiteX51" fmla="*/ 4071937 w 6943725"/>
              <a:gd name="connsiteY51" fmla="*/ 318709 h 1604584"/>
              <a:gd name="connsiteX52" fmla="*/ 4143375 w 6943725"/>
              <a:gd name="connsiteY52" fmla="*/ 390147 h 1604584"/>
              <a:gd name="connsiteX53" fmla="*/ 4186237 w 6943725"/>
              <a:gd name="connsiteY53" fmla="*/ 475872 h 1604584"/>
              <a:gd name="connsiteX54" fmla="*/ 4229100 w 6943725"/>
              <a:gd name="connsiteY54" fmla="*/ 504447 h 1604584"/>
              <a:gd name="connsiteX55" fmla="*/ 4300537 w 6943725"/>
              <a:gd name="connsiteY55" fmla="*/ 590172 h 1604584"/>
              <a:gd name="connsiteX56" fmla="*/ 4343400 w 6943725"/>
              <a:gd name="connsiteY56" fmla="*/ 618747 h 1604584"/>
              <a:gd name="connsiteX57" fmla="*/ 4414837 w 6943725"/>
              <a:gd name="connsiteY57" fmla="*/ 675897 h 1604584"/>
              <a:gd name="connsiteX58" fmla="*/ 4543425 w 6943725"/>
              <a:gd name="connsiteY58" fmla="*/ 775909 h 1604584"/>
              <a:gd name="connsiteX59" fmla="*/ 4629150 w 6943725"/>
              <a:gd name="connsiteY59" fmla="*/ 804484 h 1604584"/>
              <a:gd name="connsiteX60" fmla="*/ 4686300 w 6943725"/>
              <a:gd name="connsiteY60" fmla="*/ 833059 h 1604584"/>
              <a:gd name="connsiteX61" fmla="*/ 4957762 w 6943725"/>
              <a:gd name="connsiteY61" fmla="*/ 861634 h 1604584"/>
              <a:gd name="connsiteX62" fmla="*/ 5043487 w 6943725"/>
              <a:gd name="connsiteY62" fmla="*/ 875922 h 1604584"/>
              <a:gd name="connsiteX63" fmla="*/ 5214937 w 6943725"/>
              <a:gd name="connsiteY63" fmla="*/ 890209 h 1604584"/>
              <a:gd name="connsiteX64" fmla="*/ 5357812 w 6943725"/>
              <a:gd name="connsiteY64" fmla="*/ 918784 h 1604584"/>
              <a:gd name="connsiteX65" fmla="*/ 5400675 w 6943725"/>
              <a:gd name="connsiteY65" fmla="*/ 947359 h 1604584"/>
              <a:gd name="connsiteX66" fmla="*/ 5529262 w 6943725"/>
              <a:gd name="connsiteY66" fmla="*/ 1047372 h 1604584"/>
              <a:gd name="connsiteX67" fmla="*/ 5657850 w 6943725"/>
              <a:gd name="connsiteY67" fmla="*/ 1090234 h 1604584"/>
              <a:gd name="connsiteX68" fmla="*/ 5700712 w 6943725"/>
              <a:gd name="connsiteY68" fmla="*/ 1104522 h 1604584"/>
              <a:gd name="connsiteX69" fmla="*/ 5800725 w 6943725"/>
              <a:gd name="connsiteY69" fmla="*/ 1147384 h 1604584"/>
              <a:gd name="connsiteX70" fmla="*/ 5843587 w 6943725"/>
              <a:gd name="connsiteY70" fmla="*/ 1175959 h 1604584"/>
              <a:gd name="connsiteX71" fmla="*/ 5929312 w 6943725"/>
              <a:gd name="connsiteY71" fmla="*/ 1218822 h 1604584"/>
              <a:gd name="connsiteX72" fmla="*/ 6057900 w 6943725"/>
              <a:gd name="connsiteY72" fmla="*/ 1318834 h 1604584"/>
              <a:gd name="connsiteX73" fmla="*/ 6100762 w 6943725"/>
              <a:gd name="connsiteY73" fmla="*/ 1347409 h 1604584"/>
              <a:gd name="connsiteX74" fmla="*/ 6157912 w 6943725"/>
              <a:gd name="connsiteY74" fmla="*/ 1361697 h 1604584"/>
              <a:gd name="connsiteX75" fmla="*/ 6200775 w 6943725"/>
              <a:gd name="connsiteY75" fmla="*/ 1375984 h 1604584"/>
              <a:gd name="connsiteX76" fmla="*/ 6372225 w 6943725"/>
              <a:gd name="connsiteY76" fmla="*/ 1390272 h 1604584"/>
              <a:gd name="connsiteX77" fmla="*/ 6757987 w 6943725"/>
              <a:gd name="connsiteY77" fmla="*/ 1518859 h 1604584"/>
              <a:gd name="connsiteX78" fmla="*/ 6843712 w 6943725"/>
              <a:gd name="connsiteY78" fmla="*/ 1547434 h 1604584"/>
              <a:gd name="connsiteX79" fmla="*/ 6886575 w 6943725"/>
              <a:gd name="connsiteY79" fmla="*/ 1561722 h 1604584"/>
              <a:gd name="connsiteX80" fmla="*/ 6943725 w 6943725"/>
              <a:gd name="connsiteY80" fmla="*/ 1604584 h 1604584"/>
              <a:gd name="connsiteX81" fmla="*/ 0 w 6943725"/>
              <a:gd name="connsiteY81" fmla="*/ 1576009 h 1604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6943725" h="1604584">
                <a:moveTo>
                  <a:pt x="0" y="1576009"/>
                </a:moveTo>
                <a:lnTo>
                  <a:pt x="0" y="1576009"/>
                </a:lnTo>
                <a:cubicBezTo>
                  <a:pt x="38100" y="1561722"/>
                  <a:pt x="75461" y="1545284"/>
                  <a:pt x="114300" y="1533147"/>
                </a:cubicBezTo>
                <a:cubicBezTo>
                  <a:pt x="141218" y="1524735"/>
                  <a:pt x="230455" y="1507859"/>
                  <a:pt x="271462" y="1490284"/>
                </a:cubicBezTo>
                <a:cubicBezTo>
                  <a:pt x="291038" y="1481894"/>
                  <a:pt x="309035" y="1470099"/>
                  <a:pt x="328612" y="1461709"/>
                </a:cubicBezTo>
                <a:cubicBezTo>
                  <a:pt x="362861" y="1447031"/>
                  <a:pt x="392385" y="1443488"/>
                  <a:pt x="428625" y="1433134"/>
                </a:cubicBezTo>
                <a:cubicBezTo>
                  <a:pt x="443106" y="1428997"/>
                  <a:pt x="457006" y="1422984"/>
                  <a:pt x="471487" y="1418847"/>
                </a:cubicBezTo>
                <a:cubicBezTo>
                  <a:pt x="490368" y="1413452"/>
                  <a:pt x="509756" y="1409953"/>
                  <a:pt x="528637" y="1404559"/>
                </a:cubicBezTo>
                <a:cubicBezTo>
                  <a:pt x="543118" y="1400422"/>
                  <a:pt x="556732" y="1393226"/>
                  <a:pt x="571500" y="1390272"/>
                </a:cubicBezTo>
                <a:cubicBezTo>
                  <a:pt x="604522" y="1383668"/>
                  <a:pt x="638294" y="1381520"/>
                  <a:pt x="671512" y="1375984"/>
                </a:cubicBezTo>
                <a:cubicBezTo>
                  <a:pt x="829526" y="1349648"/>
                  <a:pt x="675379" y="1375017"/>
                  <a:pt x="785812" y="1347409"/>
                </a:cubicBezTo>
                <a:cubicBezTo>
                  <a:pt x="809371" y="1341519"/>
                  <a:pt x="833544" y="1338390"/>
                  <a:pt x="857250" y="1333122"/>
                </a:cubicBezTo>
                <a:cubicBezTo>
                  <a:pt x="882341" y="1327546"/>
                  <a:pt x="931565" y="1315560"/>
                  <a:pt x="957262" y="1304547"/>
                </a:cubicBezTo>
                <a:cubicBezTo>
                  <a:pt x="976838" y="1296157"/>
                  <a:pt x="996149" y="1286930"/>
                  <a:pt x="1014412" y="1275972"/>
                </a:cubicBezTo>
                <a:cubicBezTo>
                  <a:pt x="1169168" y="1183118"/>
                  <a:pt x="1045130" y="1257518"/>
                  <a:pt x="1143000" y="1175959"/>
                </a:cubicBezTo>
                <a:cubicBezTo>
                  <a:pt x="1156191" y="1164966"/>
                  <a:pt x="1173720" y="1159526"/>
                  <a:pt x="1185862" y="1147384"/>
                </a:cubicBezTo>
                <a:cubicBezTo>
                  <a:pt x="1252965" y="1080281"/>
                  <a:pt x="1201606" y="1101802"/>
                  <a:pt x="1271587" y="1047372"/>
                </a:cubicBezTo>
                <a:cubicBezTo>
                  <a:pt x="1298696" y="1026288"/>
                  <a:pt x="1328737" y="1009272"/>
                  <a:pt x="1357312" y="990222"/>
                </a:cubicBezTo>
                <a:cubicBezTo>
                  <a:pt x="1371600" y="980697"/>
                  <a:pt x="1383885" y="967077"/>
                  <a:pt x="1400175" y="961647"/>
                </a:cubicBezTo>
                <a:lnTo>
                  <a:pt x="1485900" y="933072"/>
                </a:lnTo>
                <a:cubicBezTo>
                  <a:pt x="1500187" y="923547"/>
                  <a:pt x="1512979" y="911261"/>
                  <a:pt x="1528762" y="904497"/>
                </a:cubicBezTo>
                <a:cubicBezTo>
                  <a:pt x="1546811" y="896762"/>
                  <a:pt x="1567031" y="895603"/>
                  <a:pt x="1585912" y="890209"/>
                </a:cubicBezTo>
                <a:cubicBezTo>
                  <a:pt x="1600393" y="886072"/>
                  <a:pt x="1614487" y="880684"/>
                  <a:pt x="1628775" y="875922"/>
                </a:cubicBezTo>
                <a:lnTo>
                  <a:pt x="1714500" y="818772"/>
                </a:lnTo>
                <a:cubicBezTo>
                  <a:pt x="1728787" y="809247"/>
                  <a:pt x="1742004" y="797876"/>
                  <a:pt x="1757362" y="790197"/>
                </a:cubicBezTo>
                <a:cubicBezTo>
                  <a:pt x="1776412" y="780672"/>
                  <a:pt x="1797181" y="774002"/>
                  <a:pt x="1814512" y="761622"/>
                </a:cubicBezTo>
                <a:cubicBezTo>
                  <a:pt x="1830954" y="749878"/>
                  <a:pt x="1840933" y="730503"/>
                  <a:pt x="1857375" y="718759"/>
                </a:cubicBezTo>
                <a:cubicBezTo>
                  <a:pt x="1874706" y="706379"/>
                  <a:pt x="1896262" y="701142"/>
                  <a:pt x="1914525" y="690184"/>
                </a:cubicBezTo>
                <a:cubicBezTo>
                  <a:pt x="2037344" y="616493"/>
                  <a:pt x="1956898" y="647484"/>
                  <a:pt x="2043112" y="618747"/>
                </a:cubicBezTo>
                <a:cubicBezTo>
                  <a:pt x="2057400" y="604459"/>
                  <a:pt x="2070453" y="588819"/>
                  <a:pt x="2085975" y="575884"/>
                </a:cubicBezTo>
                <a:cubicBezTo>
                  <a:pt x="2099166" y="564891"/>
                  <a:pt x="2116695" y="559451"/>
                  <a:pt x="2128837" y="547309"/>
                </a:cubicBezTo>
                <a:cubicBezTo>
                  <a:pt x="2193462" y="482684"/>
                  <a:pt x="2116830" y="517975"/>
                  <a:pt x="2200275" y="490159"/>
                </a:cubicBezTo>
                <a:cubicBezTo>
                  <a:pt x="2267617" y="389147"/>
                  <a:pt x="2179670" y="510764"/>
                  <a:pt x="2286000" y="404434"/>
                </a:cubicBezTo>
                <a:cubicBezTo>
                  <a:pt x="2298142" y="392292"/>
                  <a:pt x="2302433" y="373714"/>
                  <a:pt x="2314575" y="361572"/>
                </a:cubicBezTo>
                <a:cubicBezTo>
                  <a:pt x="2426964" y="249183"/>
                  <a:pt x="2283265" y="430575"/>
                  <a:pt x="2400300" y="290134"/>
                </a:cubicBezTo>
                <a:cubicBezTo>
                  <a:pt x="2411293" y="276943"/>
                  <a:pt x="2415952" y="258579"/>
                  <a:pt x="2428875" y="247272"/>
                </a:cubicBezTo>
                <a:cubicBezTo>
                  <a:pt x="2454721" y="224657"/>
                  <a:pt x="2514600" y="190122"/>
                  <a:pt x="2514600" y="190122"/>
                </a:cubicBezTo>
                <a:cubicBezTo>
                  <a:pt x="2562770" y="117867"/>
                  <a:pt x="2517026" y="167477"/>
                  <a:pt x="2586037" y="132972"/>
                </a:cubicBezTo>
                <a:cubicBezTo>
                  <a:pt x="2601396" y="125293"/>
                  <a:pt x="2613208" y="111371"/>
                  <a:pt x="2628900" y="104397"/>
                </a:cubicBezTo>
                <a:cubicBezTo>
                  <a:pt x="2682357" y="80639"/>
                  <a:pt x="2742381" y="67331"/>
                  <a:pt x="2800350" y="61534"/>
                </a:cubicBezTo>
                <a:cubicBezTo>
                  <a:pt x="2866863" y="54883"/>
                  <a:pt x="2933614" y="50585"/>
                  <a:pt x="3000375" y="47247"/>
                </a:cubicBezTo>
                <a:cubicBezTo>
                  <a:pt x="3124137" y="41059"/>
                  <a:pt x="3248025" y="37722"/>
                  <a:pt x="3371850" y="32959"/>
                </a:cubicBezTo>
                <a:cubicBezTo>
                  <a:pt x="3400425" y="23434"/>
                  <a:pt x="3432513" y="-12324"/>
                  <a:pt x="3457575" y="4384"/>
                </a:cubicBezTo>
                <a:cubicBezTo>
                  <a:pt x="3580410" y="86275"/>
                  <a:pt x="3424995" y="-11906"/>
                  <a:pt x="3543300" y="47247"/>
                </a:cubicBezTo>
                <a:cubicBezTo>
                  <a:pt x="3558658" y="54926"/>
                  <a:pt x="3570471" y="68848"/>
                  <a:pt x="3586162" y="75822"/>
                </a:cubicBezTo>
                <a:cubicBezTo>
                  <a:pt x="3586182" y="75831"/>
                  <a:pt x="3693309" y="111537"/>
                  <a:pt x="3714750" y="118684"/>
                </a:cubicBezTo>
                <a:cubicBezTo>
                  <a:pt x="3714757" y="118686"/>
                  <a:pt x="3800467" y="147258"/>
                  <a:pt x="3800475" y="147259"/>
                </a:cubicBezTo>
                <a:lnTo>
                  <a:pt x="3943350" y="161547"/>
                </a:lnTo>
                <a:cubicBezTo>
                  <a:pt x="3957637" y="171072"/>
                  <a:pt x="3975485" y="176714"/>
                  <a:pt x="3986212" y="190122"/>
                </a:cubicBezTo>
                <a:cubicBezTo>
                  <a:pt x="3995620" y="201882"/>
                  <a:pt x="3993765" y="219514"/>
                  <a:pt x="4000500" y="232984"/>
                </a:cubicBezTo>
                <a:cubicBezTo>
                  <a:pt x="4008179" y="248343"/>
                  <a:pt x="4018082" y="262655"/>
                  <a:pt x="4029075" y="275847"/>
                </a:cubicBezTo>
                <a:cubicBezTo>
                  <a:pt x="4042010" y="291369"/>
                  <a:pt x="4059002" y="303187"/>
                  <a:pt x="4071937" y="318709"/>
                </a:cubicBezTo>
                <a:cubicBezTo>
                  <a:pt x="4131468" y="390147"/>
                  <a:pt x="4064793" y="337760"/>
                  <a:pt x="4143375" y="390147"/>
                </a:cubicBezTo>
                <a:cubicBezTo>
                  <a:pt x="4154995" y="425008"/>
                  <a:pt x="4158540" y="448175"/>
                  <a:pt x="4186237" y="475872"/>
                </a:cubicBezTo>
                <a:cubicBezTo>
                  <a:pt x="4198379" y="488014"/>
                  <a:pt x="4214812" y="494922"/>
                  <a:pt x="4229100" y="504447"/>
                </a:cubicBezTo>
                <a:cubicBezTo>
                  <a:pt x="4257196" y="546590"/>
                  <a:pt x="4259286" y="555796"/>
                  <a:pt x="4300537" y="590172"/>
                </a:cubicBezTo>
                <a:cubicBezTo>
                  <a:pt x="4313729" y="601165"/>
                  <a:pt x="4329112" y="609222"/>
                  <a:pt x="4343400" y="618747"/>
                </a:cubicBezTo>
                <a:cubicBezTo>
                  <a:pt x="4407306" y="714605"/>
                  <a:pt x="4332025" y="620689"/>
                  <a:pt x="4414837" y="675897"/>
                </a:cubicBezTo>
                <a:cubicBezTo>
                  <a:pt x="4488800" y="725205"/>
                  <a:pt x="4429304" y="737869"/>
                  <a:pt x="4543425" y="775909"/>
                </a:cubicBezTo>
                <a:cubicBezTo>
                  <a:pt x="4572000" y="785434"/>
                  <a:pt x="4602209" y="791014"/>
                  <a:pt x="4629150" y="804484"/>
                </a:cubicBezTo>
                <a:cubicBezTo>
                  <a:pt x="4648200" y="814009"/>
                  <a:pt x="4665900" y="826939"/>
                  <a:pt x="4686300" y="833059"/>
                </a:cubicBezTo>
                <a:cubicBezTo>
                  <a:pt x="4745432" y="850799"/>
                  <a:pt x="4931433" y="859609"/>
                  <a:pt x="4957762" y="861634"/>
                </a:cubicBezTo>
                <a:cubicBezTo>
                  <a:pt x="4986337" y="866397"/>
                  <a:pt x="5014695" y="872723"/>
                  <a:pt x="5043487" y="875922"/>
                </a:cubicBezTo>
                <a:cubicBezTo>
                  <a:pt x="5100484" y="882255"/>
                  <a:pt x="5158115" y="882461"/>
                  <a:pt x="5214937" y="890209"/>
                </a:cubicBezTo>
                <a:cubicBezTo>
                  <a:pt x="5263060" y="896771"/>
                  <a:pt x="5357812" y="918784"/>
                  <a:pt x="5357812" y="918784"/>
                </a:cubicBezTo>
                <a:cubicBezTo>
                  <a:pt x="5372100" y="928309"/>
                  <a:pt x="5387483" y="936366"/>
                  <a:pt x="5400675" y="947359"/>
                </a:cubicBezTo>
                <a:cubicBezTo>
                  <a:pt x="5449987" y="988453"/>
                  <a:pt x="5457037" y="1023297"/>
                  <a:pt x="5529262" y="1047372"/>
                </a:cubicBezTo>
                <a:lnTo>
                  <a:pt x="5657850" y="1090234"/>
                </a:lnTo>
                <a:cubicBezTo>
                  <a:pt x="5672137" y="1094996"/>
                  <a:pt x="5687242" y="1097787"/>
                  <a:pt x="5700712" y="1104522"/>
                </a:cubicBezTo>
                <a:cubicBezTo>
                  <a:pt x="5771332" y="1139832"/>
                  <a:pt x="5737656" y="1126362"/>
                  <a:pt x="5800725" y="1147384"/>
                </a:cubicBezTo>
                <a:cubicBezTo>
                  <a:pt x="5815012" y="1156909"/>
                  <a:pt x="5828229" y="1168280"/>
                  <a:pt x="5843587" y="1175959"/>
                </a:cubicBezTo>
                <a:cubicBezTo>
                  <a:pt x="5908026" y="1208179"/>
                  <a:pt x="5867892" y="1167639"/>
                  <a:pt x="5929312" y="1218822"/>
                </a:cubicBezTo>
                <a:cubicBezTo>
                  <a:pt x="6063604" y="1330731"/>
                  <a:pt x="5841239" y="1174393"/>
                  <a:pt x="6057900" y="1318834"/>
                </a:cubicBezTo>
                <a:cubicBezTo>
                  <a:pt x="6072187" y="1328359"/>
                  <a:pt x="6084103" y="1343244"/>
                  <a:pt x="6100762" y="1347409"/>
                </a:cubicBezTo>
                <a:cubicBezTo>
                  <a:pt x="6119812" y="1352172"/>
                  <a:pt x="6139031" y="1356303"/>
                  <a:pt x="6157912" y="1361697"/>
                </a:cubicBezTo>
                <a:cubicBezTo>
                  <a:pt x="6172393" y="1365834"/>
                  <a:pt x="6185847" y="1373994"/>
                  <a:pt x="6200775" y="1375984"/>
                </a:cubicBezTo>
                <a:cubicBezTo>
                  <a:pt x="6257620" y="1383563"/>
                  <a:pt x="6315075" y="1385509"/>
                  <a:pt x="6372225" y="1390272"/>
                </a:cubicBezTo>
                <a:lnTo>
                  <a:pt x="6757987" y="1518859"/>
                </a:lnTo>
                <a:lnTo>
                  <a:pt x="6843712" y="1547434"/>
                </a:lnTo>
                <a:cubicBezTo>
                  <a:pt x="6858000" y="1552197"/>
                  <a:pt x="6874044" y="1553368"/>
                  <a:pt x="6886575" y="1561722"/>
                </a:cubicBezTo>
                <a:cubicBezTo>
                  <a:pt x="6935041" y="1594033"/>
                  <a:pt x="6917295" y="1578155"/>
                  <a:pt x="6943725" y="1604584"/>
                </a:cubicBezTo>
                <a:lnTo>
                  <a:pt x="0" y="1576009"/>
                </a:lnTo>
                <a:close/>
              </a:path>
            </a:pathLst>
          </a:cu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4" name="Picture 6" descr="DSC00314">
            <a:extLst>
              <a:ext uri="{FF2B5EF4-FFF2-40B4-BE49-F238E27FC236}">
                <a16:creationId xmlns:a16="http://schemas.microsoft.com/office/drawing/2014/main" id="{16E1B83F-7BA3-B571-74D4-22AE8E04A3BA}"/>
              </a:ext>
            </a:extLst>
          </p:cNvPr>
          <p:cNvPicPr preferRelativeResize="0">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616147" y="1992758"/>
            <a:ext cx="3810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descr="DSC00314">
            <a:extLst>
              <a:ext uri="{FF2B5EF4-FFF2-40B4-BE49-F238E27FC236}">
                <a16:creationId xmlns:a16="http://schemas.microsoft.com/office/drawing/2014/main" id="{85769E68-79BB-6005-2238-C8FA832AC890}"/>
              </a:ext>
            </a:extLst>
          </p:cNvPr>
          <p:cNvPicPr preferRelativeResize="0">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741670" y="3154602"/>
            <a:ext cx="3810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B7268AC-998F-6D7B-144D-1259924C63E0}"/>
              </a:ext>
            </a:extLst>
          </p:cNvPr>
          <p:cNvSpPr txBox="1"/>
          <p:nvPr/>
        </p:nvSpPr>
        <p:spPr>
          <a:xfrm>
            <a:off x="3079360" y="2174714"/>
            <a:ext cx="1386918" cy="646331"/>
          </a:xfrm>
          <a:prstGeom prst="rect">
            <a:avLst/>
          </a:prstGeom>
          <a:noFill/>
        </p:spPr>
        <p:txBody>
          <a:bodyPr wrap="none">
            <a:spAutoFit/>
          </a:bodyPr>
          <a:lstStyle/>
          <a:p>
            <a:pPr algn="r">
              <a:defRPr/>
            </a:pPr>
            <a:r>
              <a:rPr lang="en-US" dirty="0">
                <a:solidFill>
                  <a:srgbClr val="C00000"/>
                </a:solidFill>
              </a:rPr>
              <a:t>High </a:t>
            </a:r>
          </a:p>
          <a:p>
            <a:pPr algn="r">
              <a:defRPr/>
            </a:pPr>
            <a:r>
              <a:rPr lang="en-US" dirty="0">
                <a:solidFill>
                  <a:srgbClr val="C00000"/>
                </a:solidFill>
              </a:rPr>
              <a:t>Drilling Risk</a:t>
            </a:r>
          </a:p>
        </p:txBody>
      </p:sp>
      <p:sp>
        <p:nvSpPr>
          <p:cNvPr id="7" name="TextBox 6">
            <a:extLst>
              <a:ext uri="{FF2B5EF4-FFF2-40B4-BE49-F238E27FC236}">
                <a16:creationId xmlns:a16="http://schemas.microsoft.com/office/drawing/2014/main" id="{EA73EE82-1F90-67F9-2408-FF21CECFE08B}"/>
              </a:ext>
            </a:extLst>
          </p:cNvPr>
          <p:cNvSpPr txBox="1"/>
          <p:nvPr/>
        </p:nvSpPr>
        <p:spPr>
          <a:xfrm>
            <a:off x="7073506" y="3312655"/>
            <a:ext cx="1535998" cy="646331"/>
          </a:xfrm>
          <a:prstGeom prst="rect">
            <a:avLst/>
          </a:prstGeom>
          <a:noFill/>
        </p:spPr>
        <p:txBody>
          <a:bodyPr wrap="none">
            <a:spAutoFit/>
          </a:bodyPr>
          <a:lstStyle/>
          <a:p>
            <a:pPr>
              <a:defRPr/>
            </a:pPr>
            <a:r>
              <a:rPr lang="en-US" dirty="0">
                <a:solidFill>
                  <a:srgbClr val="C00000"/>
                </a:solidFill>
              </a:rPr>
              <a:t>Medium-Low</a:t>
            </a:r>
          </a:p>
          <a:p>
            <a:pPr>
              <a:defRPr/>
            </a:pPr>
            <a:r>
              <a:rPr lang="en-US" dirty="0">
                <a:solidFill>
                  <a:srgbClr val="C00000"/>
                </a:solidFill>
              </a:rPr>
              <a:t>Drilling Risk</a:t>
            </a:r>
          </a:p>
        </p:txBody>
      </p:sp>
      <p:grpSp>
        <p:nvGrpSpPr>
          <p:cNvPr id="8" name="Group 7">
            <a:extLst>
              <a:ext uri="{FF2B5EF4-FFF2-40B4-BE49-F238E27FC236}">
                <a16:creationId xmlns:a16="http://schemas.microsoft.com/office/drawing/2014/main" id="{8B0904C7-3DC2-4636-92E0-02C294662560}"/>
              </a:ext>
            </a:extLst>
          </p:cNvPr>
          <p:cNvGrpSpPr/>
          <p:nvPr/>
        </p:nvGrpSpPr>
        <p:grpSpPr>
          <a:xfrm>
            <a:off x="3164612" y="2884120"/>
            <a:ext cx="3189958" cy="1297173"/>
            <a:chOff x="3349065" y="4625162"/>
            <a:chExt cx="3189958" cy="1297173"/>
          </a:xfrm>
        </p:grpSpPr>
        <p:sp>
          <p:nvSpPr>
            <p:cNvPr id="9" name="Freeform: Shape 8">
              <a:extLst>
                <a:ext uri="{FF2B5EF4-FFF2-40B4-BE49-F238E27FC236}">
                  <a16:creationId xmlns:a16="http://schemas.microsoft.com/office/drawing/2014/main" id="{D3957F9B-DC15-DF28-1F9A-EC1AA45AA686}"/>
                </a:ext>
              </a:extLst>
            </p:cNvPr>
            <p:cNvSpPr/>
            <p:nvPr/>
          </p:nvSpPr>
          <p:spPr>
            <a:xfrm>
              <a:off x="4986670" y="4646428"/>
              <a:ext cx="1552353" cy="1275907"/>
            </a:xfrm>
            <a:custGeom>
              <a:avLst/>
              <a:gdLst>
                <a:gd name="connsiteX0" fmla="*/ 0 w 1552353"/>
                <a:gd name="connsiteY0" fmla="*/ 0 h 1275907"/>
                <a:gd name="connsiteX1" fmla="*/ 287079 w 1552353"/>
                <a:gd name="connsiteY1" fmla="*/ 510363 h 1275907"/>
                <a:gd name="connsiteX2" fmla="*/ 1552353 w 1552353"/>
                <a:gd name="connsiteY2" fmla="*/ 1275907 h 1275907"/>
                <a:gd name="connsiteX3" fmla="*/ 1552353 w 1552353"/>
                <a:gd name="connsiteY3" fmla="*/ 1275907 h 1275907"/>
              </a:gdLst>
              <a:ahLst/>
              <a:cxnLst>
                <a:cxn ang="0">
                  <a:pos x="connsiteX0" y="connsiteY0"/>
                </a:cxn>
                <a:cxn ang="0">
                  <a:pos x="connsiteX1" y="connsiteY1"/>
                </a:cxn>
                <a:cxn ang="0">
                  <a:pos x="connsiteX2" y="connsiteY2"/>
                </a:cxn>
                <a:cxn ang="0">
                  <a:pos x="connsiteX3" y="connsiteY3"/>
                </a:cxn>
              </a:cxnLst>
              <a:rect l="l" t="t" r="r" b="b"/>
              <a:pathLst>
                <a:path w="1552353" h="1275907">
                  <a:moveTo>
                    <a:pt x="0" y="0"/>
                  </a:moveTo>
                  <a:cubicBezTo>
                    <a:pt x="14177" y="148856"/>
                    <a:pt x="28354" y="297712"/>
                    <a:pt x="287079" y="510363"/>
                  </a:cubicBezTo>
                  <a:cubicBezTo>
                    <a:pt x="545805" y="723014"/>
                    <a:pt x="1552353" y="1275907"/>
                    <a:pt x="1552353" y="1275907"/>
                  </a:cubicBezTo>
                  <a:lnTo>
                    <a:pt x="1552353" y="1275907"/>
                  </a:ln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sp>
          <p:nvSpPr>
            <p:cNvPr id="10" name="Freeform: Shape 9">
              <a:extLst>
                <a:ext uri="{FF2B5EF4-FFF2-40B4-BE49-F238E27FC236}">
                  <a16:creationId xmlns:a16="http://schemas.microsoft.com/office/drawing/2014/main" id="{3B42B35C-50F3-7818-EE29-B6FE29B90CE7}"/>
                </a:ext>
              </a:extLst>
            </p:cNvPr>
            <p:cNvSpPr/>
            <p:nvPr/>
          </p:nvSpPr>
          <p:spPr>
            <a:xfrm flipH="1">
              <a:off x="3349065" y="4625162"/>
              <a:ext cx="1552353" cy="1275907"/>
            </a:xfrm>
            <a:custGeom>
              <a:avLst/>
              <a:gdLst>
                <a:gd name="connsiteX0" fmla="*/ 0 w 1552353"/>
                <a:gd name="connsiteY0" fmla="*/ 0 h 1275907"/>
                <a:gd name="connsiteX1" fmla="*/ 287079 w 1552353"/>
                <a:gd name="connsiteY1" fmla="*/ 510363 h 1275907"/>
                <a:gd name="connsiteX2" fmla="*/ 1552353 w 1552353"/>
                <a:gd name="connsiteY2" fmla="*/ 1275907 h 1275907"/>
                <a:gd name="connsiteX3" fmla="*/ 1552353 w 1552353"/>
                <a:gd name="connsiteY3" fmla="*/ 1275907 h 1275907"/>
              </a:gdLst>
              <a:ahLst/>
              <a:cxnLst>
                <a:cxn ang="0">
                  <a:pos x="connsiteX0" y="connsiteY0"/>
                </a:cxn>
                <a:cxn ang="0">
                  <a:pos x="connsiteX1" y="connsiteY1"/>
                </a:cxn>
                <a:cxn ang="0">
                  <a:pos x="connsiteX2" y="connsiteY2"/>
                </a:cxn>
                <a:cxn ang="0">
                  <a:pos x="connsiteX3" y="connsiteY3"/>
                </a:cxn>
              </a:cxnLst>
              <a:rect l="l" t="t" r="r" b="b"/>
              <a:pathLst>
                <a:path w="1552353" h="1275907">
                  <a:moveTo>
                    <a:pt x="0" y="0"/>
                  </a:moveTo>
                  <a:cubicBezTo>
                    <a:pt x="14177" y="148856"/>
                    <a:pt x="28354" y="297712"/>
                    <a:pt x="287079" y="510363"/>
                  </a:cubicBezTo>
                  <a:cubicBezTo>
                    <a:pt x="545805" y="723014"/>
                    <a:pt x="1552353" y="1275907"/>
                    <a:pt x="1552353" y="1275907"/>
                  </a:cubicBezTo>
                  <a:lnTo>
                    <a:pt x="1552353" y="1275907"/>
                  </a:ln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grpSp>
      <p:grpSp>
        <p:nvGrpSpPr>
          <p:cNvPr id="11" name="Group 10">
            <a:extLst>
              <a:ext uri="{FF2B5EF4-FFF2-40B4-BE49-F238E27FC236}">
                <a16:creationId xmlns:a16="http://schemas.microsoft.com/office/drawing/2014/main" id="{7D706CFC-5768-09DF-B3F0-96884AF69FA6}"/>
              </a:ext>
            </a:extLst>
          </p:cNvPr>
          <p:cNvGrpSpPr/>
          <p:nvPr/>
        </p:nvGrpSpPr>
        <p:grpSpPr>
          <a:xfrm>
            <a:off x="5361888" y="4111379"/>
            <a:ext cx="3189958" cy="1297173"/>
            <a:chOff x="3349065" y="4625162"/>
            <a:chExt cx="3189958" cy="1297173"/>
          </a:xfrm>
        </p:grpSpPr>
        <p:sp>
          <p:nvSpPr>
            <p:cNvPr id="12" name="Freeform: Shape 11">
              <a:extLst>
                <a:ext uri="{FF2B5EF4-FFF2-40B4-BE49-F238E27FC236}">
                  <a16:creationId xmlns:a16="http://schemas.microsoft.com/office/drawing/2014/main" id="{D164CBA2-3CC0-BA60-3DCC-F78BAC52DC4B}"/>
                </a:ext>
              </a:extLst>
            </p:cNvPr>
            <p:cNvSpPr/>
            <p:nvPr/>
          </p:nvSpPr>
          <p:spPr>
            <a:xfrm>
              <a:off x="4986670" y="4646428"/>
              <a:ext cx="1552353" cy="1275907"/>
            </a:xfrm>
            <a:custGeom>
              <a:avLst/>
              <a:gdLst>
                <a:gd name="connsiteX0" fmla="*/ 0 w 1552353"/>
                <a:gd name="connsiteY0" fmla="*/ 0 h 1275907"/>
                <a:gd name="connsiteX1" fmla="*/ 287079 w 1552353"/>
                <a:gd name="connsiteY1" fmla="*/ 510363 h 1275907"/>
                <a:gd name="connsiteX2" fmla="*/ 1552353 w 1552353"/>
                <a:gd name="connsiteY2" fmla="*/ 1275907 h 1275907"/>
                <a:gd name="connsiteX3" fmla="*/ 1552353 w 1552353"/>
                <a:gd name="connsiteY3" fmla="*/ 1275907 h 1275907"/>
              </a:gdLst>
              <a:ahLst/>
              <a:cxnLst>
                <a:cxn ang="0">
                  <a:pos x="connsiteX0" y="connsiteY0"/>
                </a:cxn>
                <a:cxn ang="0">
                  <a:pos x="connsiteX1" y="connsiteY1"/>
                </a:cxn>
                <a:cxn ang="0">
                  <a:pos x="connsiteX2" y="connsiteY2"/>
                </a:cxn>
                <a:cxn ang="0">
                  <a:pos x="connsiteX3" y="connsiteY3"/>
                </a:cxn>
              </a:cxnLst>
              <a:rect l="l" t="t" r="r" b="b"/>
              <a:pathLst>
                <a:path w="1552353" h="1275907">
                  <a:moveTo>
                    <a:pt x="0" y="0"/>
                  </a:moveTo>
                  <a:cubicBezTo>
                    <a:pt x="14177" y="148856"/>
                    <a:pt x="28354" y="297712"/>
                    <a:pt x="287079" y="510363"/>
                  </a:cubicBezTo>
                  <a:cubicBezTo>
                    <a:pt x="545805" y="723014"/>
                    <a:pt x="1552353" y="1275907"/>
                    <a:pt x="1552353" y="1275907"/>
                  </a:cubicBezTo>
                  <a:lnTo>
                    <a:pt x="1552353" y="1275907"/>
                  </a:ln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sp>
          <p:nvSpPr>
            <p:cNvPr id="13" name="Freeform: Shape 12">
              <a:extLst>
                <a:ext uri="{FF2B5EF4-FFF2-40B4-BE49-F238E27FC236}">
                  <a16:creationId xmlns:a16="http://schemas.microsoft.com/office/drawing/2014/main" id="{C3442249-9D44-62D7-4DD1-A82338ECA3C4}"/>
                </a:ext>
              </a:extLst>
            </p:cNvPr>
            <p:cNvSpPr/>
            <p:nvPr/>
          </p:nvSpPr>
          <p:spPr>
            <a:xfrm flipH="1">
              <a:off x="3349065" y="4625162"/>
              <a:ext cx="1552353" cy="1275907"/>
            </a:xfrm>
            <a:custGeom>
              <a:avLst/>
              <a:gdLst>
                <a:gd name="connsiteX0" fmla="*/ 0 w 1552353"/>
                <a:gd name="connsiteY0" fmla="*/ 0 h 1275907"/>
                <a:gd name="connsiteX1" fmla="*/ 287079 w 1552353"/>
                <a:gd name="connsiteY1" fmla="*/ 510363 h 1275907"/>
                <a:gd name="connsiteX2" fmla="*/ 1552353 w 1552353"/>
                <a:gd name="connsiteY2" fmla="*/ 1275907 h 1275907"/>
                <a:gd name="connsiteX3" fmla="*/ 1552353 w 1552353"/>
                <a:gd name="connsiteY3" fmla="*/ 1275907 h 1275907"/>
              </a:gdLst>
              <a:ahLst/>
              <a:cxnLst>
                <a:cxn ang="0">
                  <a:pos x="connsiteX0" y="connsiteY0"/>
                </a:cxn>
                <a:cxn ang="0">
                  <a:pos x="connsiteX1" y="connsiteY1"/>
                </a:cxn>
                <a:cxn ang="0">
                  <a:pos x="connsiteX2" y="connsiteY2"/>
                </a:cxn>
                <a:cxn ang="0">
                  <a:pos x="connsiteX3" y="connsiteY3"/>
                </a:cxn>
              </a:cxnLst>
              <a:rect l="l" t="t" r="r" b="b"/>
              <a:pathLst>
                <a:path w="1552353" h="1275907">
                  <a:moveTo>
                    <a:pt x="0" y="0"/>
                  </a:moveTo>
                  <a:cubicBezTo>
                    <a:pt x="14177" y="148856"/>
                    <a:pt x="28354" y="297712"/>
                    <a:pt x="287079" y="510363"/>
                  </a:cubicBezTo>
                  <a:cubicBezTo>
                    <a:pt x="545805" y="723014"/>
                    <a:pt x="1552353" y="1275907"/>
                    <a:pt x="1552353" y="1275907"/>
                  </a:cubicBezTo>
                  <a:lnTo>
                    <a:pt x="1552353" y="1275907"/>
                  </a:ln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ID"/>
            </a:p>
          </p:txBody>
        </p:sp>
      </p:grpSp>
      <p:sp>
        <p:nvSpPr>
          <p:cNvPr id="14" name="TextBox 13">
            <a:extLst>
              <a:ext uri="{FF2B5EF4-FFF2-40B4-BE49-F238E27FC236}">
                <a16:creationId xmlns:a16="http://schemas.microsoft.com/office/drawing/2014/main" id="{D69D00F1-B854-A1B5-4830-6E86B78BF0FB}"/>
              </a:ext>
            </a:extLst>
          </p:cNvPr>
          <p:cNvSpPr txBox="1"/>
          <p:nvPr/>
        </p:nvSpPr>
        <p:spPr>
          <a:xfrm rot="19157046">
            <a:off x="3047467" y="3376158"/>
            <a:ext cx="1258871" cy="369332"/>
          </a:xfrm>
          <a:prstGeom prst="rect">
            <a:avLst/>
          </a:prstGeom>
          <a:noFill/>
        </p:spPr>
        <p:txBody>
          <a:bodyPr wrap="none" rtlCol="0">
            <a:spAutoFit/>
          </a:bodyPr>
          <a:lstStyle/>
          <a:p>
            <a:r>
              <a:rPr lang="en-US" dirty="0">
                <a:solidFill>
                  <a:srgbClr val="FFFF00"/>
                </a:solidFill>
              </a:rPr>
              <a:t>Ruble area</a:t>
            </a:r>
            <a:endParaRPr lang="en-ID" dirty="0">
              <a:solidFill>
                <a:srgbClr val="FFFF00"/>
              </a:solidFill>
            </a:endParaRPr>
          </a:p>
        </p:txBody>
      </p:sp>
      <p:sp>
        <p:nvSpPr>
          <p:cNvPr id="15" name="TextBox 14">
            <a:extLst>
              <a:ext uri="{FF2B5EF4-FFF2-40B4-BE49-F238E27FC236}">
                <a16:creationId xmlns:a16="http://schemas.microsoft.com/office/drawing/2014/main" id="{2489FA3F-5733-4E75-F2FB-536738241DF5}"/>
              </a:ext>
            </a:extLst>
          </p:cNvPr>
          <p:cNvSpPr txBox="1"/>
          <p:nvPr/>
        </p:nvSpPr>
        <p:spPr>
          <a:xfrm rot="2241289">
            <a:off x="4943790" y="3183565"/>
            <a:ext cx="1258871" cy="369332"/>
          </a:xfrm>
          <a:prstGeom prst="rect">
            <a:avLst/>
          </a:prstGeom>
          <a:noFill/>
        </p:spPr>
        <p:txBody>
          <a:bodyPr wrap="none" rtlCol="0">
            <a:spAutoFit/>
          </a:bodyPr>
          <a:lstStyle/>
          <a:p>
            <a:r>
              <a:rPr lang="en-US" dirty="0">
                <a:solidFill>
                  <a:srgbClr val="FFFF00"/>
                </a:solidFill>
              </a:rPr>
              <a:t>Ruble area</a:t>
            </a:r>
            <a:endParaRPr lang="en-ID" dirty="0">
              <a:solidFill>
                <a:srgbClr val="FFFF00"/>
              </a:solidFill>
            </a:endParaRPr>
          </a:p>
        </p:txBody>
      </p:sp>
      <p:sp>
        <p:nvSpPr>
          <p:cNvPr id="16" name="TextBox 15">
            <a:extLst>
              <a:ext uri="{FF2B5EF4-FFF2-40B4-BE49-F238E27FC236}">
                <a16:creationId xmlns:a16="http://schemas.microsoft.com/office/drawing/2014/main" id="{E0D63F6C-54EB-6B81-72E1-24CE1E130C57}"/>
              </a:ext>
            </a:extLst>
          </p:cNvPr>
          <p:cNvSpPr txBox="1"/>
          <p:nvPr/>
        </p:nvSpPr>
        <p:spPr>
          <a:xfrm rot="2241289">
            <a:off x="7212069" y="4476679"/>
            <a:ext cx="1258871" cy="369332"/>
          </a:xfrm>
          <a:prstGeom prst="rect">
            <a:avLst/>
          </a:prstGeom>
          <a:noFill/>
        </p:spPr>
        <p:txBody>
          <a:bodyPr wrap="none" rtlCol="0">
            <a:spAutoFit/>
          </a:bodyPr>
          <a:lstStyle/>
          <a:p>
            <a:r>
              <a:rPr lang="en-US" dirty="0">
                <a:solidFill>
                  <a:srgbClr val="FFFF00"/>
                </a:solidFill>
              </a:rPr>
              <a:t>Ruble area</a:t>
            </a:r>
            <a:endParaRPr lang="en-ID" dirty="0">
              <a:solidFill>
                <a:srgbClr val="FFFF00"/>
              </a:solidFill>
            </a:endParaRPr>
          </a:p>
        </p:txBody>
      </p:sp>
    </p:spTree>
    <p:extLst>
      <p:ext uri="{BB962C8B-B14F-4D97-AF65-F5344CB8AC3E}">
        <p14:creationId xmlns:p14="http://schemas.microsoft.com/office/powerpoint/2010/main" val="17196541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7124-4142-31E4-1925-1053B66211E3}"/>
              </a:ext>
            </a:extLst>
          </p:cNvPr>
          <p:cNvSpPr>
            <a:spLocks noGrp="1"/>
          </p:cNvSpPr>
          <p:nvPr>
            <p:ph type="title"/>
          </p:nvPr>
        </p:nvSpPr>
        <p:spPr/>
        <p:txBody>
          <a:bodyPr>
            <a:normAutofit/>
          </a:bodyPr>
          <a:lstStyle/>
          <a:p>
            <a:r>
              <a:rPr lang="en-ID" sz="3600" b="1" dirty="0">
                <a:solidFill>
                  <a:srgbClr val="C00000"/>
                </a:solidFill>
              </a:rPr>
              <a:t>30” Conductor Depth</a:t>
            </a:r>
          </a:p>
        </p:txBody>
      </p:sp>
      <p:grpSp>
        <p:nvGrpSpPr>
          <p:cNvPr id="47" name="Group 46">
            <a:extLst>
              <a:ext uri="{FF2B5EF4-FFF2-40B4-BE49-F238E27FC236}">
                <a16:creationId xmlns:a16="http://schemas.microsoft.com/office/drawing/2014/main" id="{04305882-1FB7-8331-4B99-235D8AD099F7}"/>
              </a:ext>
            </a:extLst>
          </p:cNvPr>
          <p:cNvGrpSpPr/>
          <p:nvPr/>
        </p:nvGrpSpPr>
        <p:grpSpPr>
          <a:xfrm>
            <a:off x="729343" y="1855402"/>
            <a:ext cx="9012028" cy="4184419"/>
            <a:chOff x="729343" y="1855402"/>
            <a:chExt cx="9012028" cy="4184419"/>
          </a:xfrm>
        </p:grpSpPr>
        <p:sp>
          <p:nvSpPr>
            <p:cNvPr id="3" name="Freeform 10">
              <a:extLst>
                <a:ext uri="{FF2B5EF4-FFF2-40B4-BE49-F238E27FC236}">
                  <a16:creationId xmlns:a16="http://schemas.microsoft.com/office/drawing/2014/main" id="{21608415-C90B-EA4C-C72E-3872E78E2AD6}"/>
                </a:ext>
              </a:extLst>
            </p:cNvPr>
            <p:cNvSpPr/>
            <p:nvPr/>
          </p:nvSpPr>
          <p:spPr>
            <a:xfrm>
              <a:off x="991458" y="2662563"/>
              <a:ext cx="8001000" cy="2196364"/>
            </a:xfrm>
            <a:custGeom>
              <a:avLst/>
              <a:gdLst>
                <a:gd name="connsiteX0" fmla="*/ 0 w 6943725"/>
                <a:gd name="connsiteY0" fmla="*/ 1576009 h 1604584"/>
                <a:gd name="connsiteX1" fmla="*/ 0 w 6943725"/>
                <a:gd name="connsiteY1" fmla="*/ 1576009 h 1604584"/>
                <a:gd name="connsiteX2" fmla="*/ 114300 w 6943725"/>
                <a:gd name="connsiteY2" fmla="*/ 1533147 h 1604584"/>
                <a:gd name="connsiteX3" fmla="*/ 271462 w 6943725"/>
                <a:gd name="connsiteY3" fmla="*/ 1490284 h 1604584"/>
                <a:gd name="connsiteX4" fmla="*/ 328612 w 6943725"/>
                <a:gd name="connsiteY4" fmla="*/ 1461709 h 1604584"/>
                <a:gd name="connsiteX5" fmla="*/ 428625 w 6943725"/>
                <a:gd name="connsiteY5" fmla="*/ 1433134 h 1604584"/>
                <a:gd name="connsiteX6" fmla="*/ 471487 w 6943725"/>
                <a:gd name="connsiteY6" fmla="*/ 1418847 h 1604584"/>
                <a:gd name="connsiteX7" fmla="*/ 528637 w 6943725"/>
                <a:gd name="connsiteY7" fmla="*/ 1404559 h 1604584"/>
                <a:gd name="connsiteX8" fmla="*/ 571500 w 6943725"/>
                <a:gd name="connsiteY8" fmla="*/ 1390272 h 1604584"/>
                <a:gd name="connsiteX9" fmla="*/ 671512 w 6943725"/>
                <a:gd name="connsiteY9" fmla="*/ 1375984 h 1604584"/>
                <a:gd name="connsiteX10" fmla="*/ 785812 w 6943725"/>
                <a:gd name="connsiteY10" fmla="*/ 1347409 h 1604584"/>
                <a:gd name="connsiteX11" fmla="*/ 857250 w 6943725"/>
                <a:gd name="connsiteY11" fmla="*/ 1333122 h 1604584"/>
                <a:gd name="connsiteX12" fmla="*/ 957262 w 6943725"/>
                <a:gd name="connsiteY12" fmla="*/ 1304547 h 1604584"/>
                <a:gd name="connsiteX13" fmla="*/ 1014412 w 6943725"/>
                <a:gd name="connsiteY13" fmla="*/ 1275972 h 1604584"/>
                <a:gd name="connsiteX14" fmla="*/ 1143000 w 6943725"/>
                <a:gd name="connsiteY14" fmla="*/ 1175959 h 1604584"/>
                <a:gd name="connsiteX15" fmla="*/ 1185862 w 6943725"/>
                <a:gd name="connsiteY15" fmla="*/ 1147384 h 1604584"/>
                <a:gd name="connsiteX16" fmla="*/ 1271587 w 6943725"/>
                <a:gd name="connsiteY16" fmla="*/ 1047372 h 1604584"/>
                <a:gd name="connsiteX17" fmla="*/ 1357312 w 6943725"/>
                <a:gd name="connsiteY17" fmla="*/ 990222 h 1604584"/>
                <a:gd name="connsiteX18" fmla="*/ 1400175 w 6943725"/>
                <a:gd name="connsiteY18" fmla="*/ 961647 h 1604584"/>
                <a:gd name="connsiteX19" fmla="*/ 1485900 w 6943725"/>
                <a:gd name="connsiteY19" fmla="*/ 933072 h 1604584"/>
                <a:gd name="connsiteX20" fmla="*/ 1528762 w 6943725"/>
                <a:gd name="connsiteY20" fmla="*/ 904497 h 1604584"/>
                <a:gd name="connsiteX21" fmla="*/ 1585912 w 6943725"/>
                <a:gd name="connsiteY21" fmla="*/ 890209 h 1604584"/>
                <a:gd name="connsiteX22" fmla="*/ 1628775 w 6943725"/>
                <a:gd name="connsiteY22" fmla="*/ 875922 h 1604584"/>
                <a:gd name="connsiteX23" fmla="*/ 1714500 w 6943725"/>
                <a:gd name="connsiteY23" fmla="*/ 818772 h 1604584"/>
                <a:gd name="connsiteX24" fmla="*/ 1757362 w 6943725"/>
                <a:gd name="connsiteY24" fmla="*/ 790197 h 1604584"/>
                <a:gd name="connsiteX25" fmla="*/ 1814512 w 6943725"/>
                <a:gd name="connsiteY25" fmla="*/ 761622 h 1604584"/>
                <a:gd name="connsiteX26" fmla="*/ 1857375 w 6943725"/>
                <a:gd name="connsiteY26" fmla="*/ 718759 h 1604584"/>
                <a:gd name="connsiteX27" fmla="*/ 1914525 w 6943725"/>
                <a:gd name="connsiteY27" fmla="*/ 690184 h 1604584"/>
                <a:gd name="connsiteX28" fmla="*/ 2043112 w 6943725"/>
                <a:gd name="connsiteY28" fmla="*/ 618747 h 1604584"/>
                <a:gd name="connsiteX29" fmla="*/ 2085975 w 6943725"/>
                <a:gd name="connsiteY29" fmla="*/ 575884 h 1604584"/>
                <a:gd name="connsiteX30" fmla="*/ 2128837 w 6943725"/>
                <a:gd name="connsiteY30" fmla="*/ 547309 h 1604584"/>
                <a:gd name="connsiteX31" fmla="*/ 2200275 w 6943725"/>
                <a:gd name="connsiteY31" fmla="*/ 490159 h 1604584"/>
                <a:gd name="connsiteX32" fmla="*/ 2286000 w 6943725"/>
                <a:gd name="connsiteY32" fmla="*/ 404434 h 1604584"/>
                <a:gd name="connsiteX33" fmla="*/ 2314575 w 6943725"/>
                <a:gd name="connsiteY33" fmla="*/ 361572 h 1604584"/>
                <a:gd name="connsiteX34" fmla="*/ 2400300 w 6943725"/>
                <a:gd name="connsiteY34" fmla="*/ 290134 h 1604584"/>
                <a:gd name="connsiteX35" fmla="*/ 2428875 w 6943725"/>
                <a:gd name="connsiteY35" fmla="*/ 247272 h 1604584"/>
                <a:gd name="connsiteX36" fmla="*/ 2514600 w 6943725"/>
                <a:gd name="connsiteY36" fmla="*/ 190122 h 1604584"/>
                <a:gd name="connsiteX37" fmla="*/ 2586037 w 6943725"/>
                <a:gd name="connsiteY37" fmla="*/ 132972 h 1604584"/>
                <a:gd name="connsiteX38" fmla="*/ 2628900 w 6943725"/>
                <a:gd name="connsiteY38" fmla="*/ 104397 h 1604584"/>
                <a:gd name="connsiteX39" fmla="*/ 2800350 w 6943725"/>
                <a:gd name="connsiteY39" fmla="*/ 61534 h 1604584"/>
                <a:gd name="connsiteX40" fmla="*/ 3000375 w 6943725"/>
                <a:gd name="connsiteY40" fmla="*/ 47247 h 1604584"/>
                <a:gd name="connsiteX41" fmla="*/ 3371850 w 6943725"/>
                <a:gd name="connsiteY41" fmla="*/ 32959 h 1604584"/>
                <a:gd name="connsiteX42" fmla="*/ 3457575 w 6943725"/>
                <a:gd name="connsiteY42" fmla="*/ 4384 h 1604584"/>
                <a:gd name="connsiteX43" fmla="*/ 3543300 w 6943725"/>
                <a:gd name="connsiteY43" fmla="*/ 47247 h 1604584"/>
                <a:gd name="connsiteX44" fmla="*/ 3586162 w 6943725"/>
                <a:gd name="connsiteY44" fmla="*/ 75822 h 1604584"/>
                <a:gd name="connsiteX45" fmla="*/ 3714750 w 6943725"/>
                <a:gd name="connsiteY45" fmla="*/ 118684 h 1604584"/>
                <a:gd name="connsiteX46" fmla="*/ 3800475 w 6943725"/>
                <a:gd name="connsiteY46" fmla="*/ 147259 h 1604584"/>
                <a:gd name="connsiteX47" fmla="*/ 3943350 w 6943725"/>
                <a:gd name="connsiteY47" fmla="*/ 161547 h 1604584"/>
                <a:gd name="connsiteX48" fmla="*/ 3986212 w 6943725"/>
                <a:gd name="connsiteY48" fmla="*/ 190122 h 1604584"/>
                <a:gd name="connsiteX49" fmla="*/ 4000500 w 6943725"/>
                <a:gd name="connsiteY49" fmla="*/ 232984 h 1604584"/>
                <a:gd name="connsiteX50" fmla="*/ 4029075 w 6943725"/>
                <a:gd name="connsiteY50" fmla="*/ 275847 h 1604584"/>
                <a:gd name="connsiteX51" fmla="*/ 4071937 w 6943725"/>
                <a:gd name="connsiteY51" fmla="*/ 318709 h 1604584"/>
                <a:gd name="connsiteX52" fmla="*/ 4143375 w 6943725"/>
                <a:gd name="connsiteY52" fmla="*/ 390147 h 1604584"/>
                <a:gd name="connsiteX53" fmla="*/ 4186237 w 6943725"/>
                <a:gd name="connsiteY53" fmla="*/ 475872 h 1604584"/>
                <a:gd name="connsiteX54" fmla="*/ 4229100 w 6943725"/>
                <a:gd name="connsiteY54" fmla="*/ 504447 h 1604584"/>
                <a:gd name="connsiteX55" fmla="*/ 4300537 w 6943725"/>
                <a:gd name="connsiteY55" fmla="*/ 590172 h 1604584"/>
                <a:gd name="connsiteX56" fmla="*/ 4343400 w 6943725"/>
                <a:gd name="connsiteY56" fmla="*/ 618747 h 1604584"/>
                <a:gd name="connsiteX57" fmla="*/ 4414837 w 6943725"/>
                <a:gd name="connsiteY57" fmla="*/ 675897 h 1604584"/>
                <a:gd name="connsiteX58" fmla="*/ 4543425 w 6943725"/>
                <a:gd name="connsiteY58" fmla="*/ 775909 h 1604584"/>
                <a:gd name="connsiteX59" fmla="*/ 4629150 w 6943725"/>
                <a:gd name="connsiteY59" fmla="*/ 804484 h 1604584"/>
                <a:gd name="connsiteX60" fmla="*/ 4686300 w 6943725"/>
                <a:gd name="connsiteY60" fmla="*/ 833059 h 1604584"/>
                <a:gd name="connsiteX61" fmla="*/ 4957762 w 6943725"/>
                <a:gd name="connsiteY61" fmla="*/ 861634 h 1604584"/>
                <a:gd name="connsiteX62" fmla="*/ 5043487 w 6943725"/>
                <a:gd name="connsiteY62" fmla="*/ 875922 h 1604584"/>
                <a:gd name="connsiteX63" fmla="*/ 5214937 w 6943725"/>
                <a:gd name="connsiteY63" fmla="*/ 890209 h 1604584"/>
                <a:gd name="connsiteX64" fmla="*/ 5357812 w 6943725"/>
                <a:gd name="connsiteY64" fmla="*/ 918784 h 1604584"/>
                <a:gd name="connsiteX65" fmla="*/ 5400675 w 6943725"/>
                <a:gd name="connsiteY65" fmla="*/ 947359 h 1604584"/>
                <a:gd name="connsiteX66" fmla="*/ 5529262 w 6943725"/>
                <a:gd name="connsiteY66" fmla="*/ 1047372 h 1604584"/>
                <a:gd name="connsiteX67" fmla="*/ 5657850 w 6943725"/>
                <a:gd name="connsiteY67" fmla="*/ 1090234 h 1604584"/>
                <a:gd name="connsiteX68" fmla="*/ 5700712 w 6943725"/>
                <a:gd name="connsiteY68" fmla="*/ 1104522 h 1604584"/>
                <a:gd name="connsiteX69" fmla="*/ 5800725 w 6943725"/>
                <a:gd name="connsiteY69" fmla="*/ 1147384 h 1604584"/>
                <a:gd name="connsiteX70" fmla="*/ 5843587 w 6943725"/>
                <a:gd name="connsiteY70" fmla="*/ 1175959 h 1604584"/>
                <a:gd name="connsiteX71" fmla="*/ 5929312 w 6943725"/>
                <a:gd name="connsiteY71" fmla="*/ 1218822 h 1604584"/>
                <a:gd name="connsiteX72" fmla="*/ 6057900 w 6943725"/>
                <a:gd name="connsiteY72" fmla="*/ 1318834 h 1604584"/>
                <a:gd name="connsiteX73" fmla="*/ 6100762 w 6943725"/>
                <a:gd name="connsiteY73" fmla="*/ 1347409 h 1604584"/>
                <a:gd name="connsiteX74" fmla="*/ 6157912 w 6943725"/>
                <a:gd name="connsiteY74" fmla="*/ 1361697 h 1604584"/>
                <a:gd name="connsiteX75" fmla="*/ 6200775 w 6943725"/>
                <a:gd name="connsiteY75" fmla="*/ 1375984 h 1604584"/>
                <a:gd name="connsiteX76" fmla="*/ 6372225 w 6943725"/>
                <a:gd name="connsiteY76" fmla="*/ 1390272 h 1604584"/>
                <a:gd name="connsiteX77" fmla="*/ 6757987 w 6943725"/>
                <a:gd name="connsiteY77" fmla="*/ 1518859 h 1604584"/>
                <a:gd name="connsiteX78" fmla="*/ 6843712 w 6943725"/>
                <a:gd name="connsiteY78" fmla="*/ 1547434 h 1604584"/>
                <a:gd name="connsiteX79" fmla="*/ 6886575 w 6943725"/>
                <a:gd name="connsiteY79" fmla="*/ 1561722 h 1604584"/>
                <a:gd name="connsiteX80" fmla="*/ 6943725 w 6943725"/>
                <a:gd name="connsiteY80" fmla="*/ 1604584 h 1604584"/>
                <a:gd name="connsiteX81" fmla="*/ 0 w 6943725"/>
                <a:gd name="connsiteY81" fmla="*/ 1576009 h 1604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6943725" h="1604584">
                  <a:moveTo>
                    <a:pt x="0" y="1576009"/>
                  </a:moveTo>
                  <a:lnTo>
                    <a:pt x="0" y="1576009"/>
                  </a:lnTo>
                  <a:cubicBezTo>
                    <a:pt x="38100" y="1561722"/>
                    <a:pt x="75461" y="1545284"/>
                    <a:pt x="114300" y="1533147"/>
                  </a:cubicBezTo>
                  <a:cubicBezTo>
                    <a:pt x="141218" y="1524735"/>
                    <a:pt x="230455" y="1507859"/>
                    <a:pt x="271462" y="1490284"/>
                  </a:cubicBezTo>
                  <a:cubicBezTo>
                    <a:pt x="291038" y="1481894"/>
                    <a:pt x="309035" y="1470099"/>
                    <a:pt x="328612" y="1461709"/>
                  </a:cubicBezTo>
                  <a:cubicBezTo>
                    <a:pt x="362861" y="1447031"/>
                    <a:pt x="392385" y="1443488"/>
                    <a:pt x="428625" y="1433134"/>
                  </a:cubicBezTo>
                  <a:cubicBezTo>
                    <a:pt x="443106" y="1428997"/>
                    <a:pt x="457006" y="1422984"/>
                    <a:pt x="471487" y="1418847"/>
                  </a:cubicBezTo>
                  <a:cubicBezTo>
                    <a:pt x="490368" y="1413452"/>
                    <a:pt x="509756" y="1409953"/>
                    <a:pt x="528637" y="1404559"/>
                  </a:cubicBezTo>
                  <a:cubicBezTo>
                    <a:pt x="543118" y="1400422"/>
                    <a:pt x="556732" y="1393226"/>
                    <a:pt x="571500" y="1390272"/>
                  </a:cubicBezTo>
                  <a:cubicBezTo>
                    <a:pt x="604522" y="1383668"/>
                    <a:pt x="638294" y="1381520"/>
                    <a:pt x="671512" y="1375984"/>
                  </a:cubicBezTo>
                  <a:cubicBezTo>
                    <a:pt x="829526" y="1349648"/>
                    <a:pt x="675379" y="1375017"/>
                    <a:pt x="785812" y="1347409"/>
                  </a:cubicBezTo>
                  <a:cubicBezTo>
                    <a:pt x="809371" y="1341519"/>
                    <a:pt x="833544" y="1338390"/>
                    <a:pt x="857250" y="1333122"/>
                  </a:cubicBezTo>
                  <a:cubicBezTo>
                    <a:pt x="882341" y="1327546"/>
                    <a:pt x="931565" y="1315560"/>
                    <a:pt x="957262" y="1304547"/>
                  </a:cubicBezTo>
                  <a:cubicBezTo>
                    <a:pt x="976838" y="1296157"/>
                    <a:pt x="996149" y="1286930"/>
                    <a:pt x="1014412" y="1275972"/>
                  </a:cubicBezTo>
                  <a:cubicBezTo>
                    <a:pt x="1169168" y="1183118"/>
                    <a:pt x="1045130" y="1257518"/>
                    <a:pt x="1143000" y="1175959"/>
                  </a:cubicBezTo>
                  <a:cubicBezTo>
                    <a:pt x="1156191" y="1164966"/>
                    <a:pt x="1173720" y="1159526"/>
                    <a:pt x="1185862" y="1147384"/>
                  </a:cubicBezTo>
                  <a:cubicBezTo>
                    <a:pt x="1252965" y="1080281"/>
                    <a:pt x="1201606" y="1101802"/>
                    <a:pt x="1271587" y="1047372"/>
                  </a:cubicBezTo>
                  <a:cubicBezTo>
                    <a:pt x="1298696" y="1026288"/>
                    <a:pt x="1328737" y="1009272"/>
                    <a:pt x="1357312" y="990222"/>
                  </a:cubicBezTo>
                  <a:cubicBezTo>
                    <a:pt x="1371600" y="980697"/>
                    <a:pt x="1383885" y="967077"/>
                    <a:pt x="1400175" y="961647"/>
                  </a:cubicBezTo>
                  <a:lnTo>
                    <a:pt x="1485900" y="933072"/>
                  </a:lnTo>
                  <a:cubicBezTo>
                    <a:pt x="1500187" y="923547"/>
                    <a:pt x="1512979" y="911261"/>
                    <a:pt x="1528762" y="904497"/>
                  </a:cubicBezTo>
                  <a:cubicBezTo>
                    <a:pt x="1546811" y="896762"/>
                    <a:pt x="1567031" y="895603"/>
                    <a:pt x="1585912" y="890209"/>
                  </a:cubicBezTo>
                  <a:cubicBezTo>
                    <a:pt x="1600393" y="886072"/>
                    <a:pt x="1614487" y="880684"/>
                    <a:pt x="1628775" y="875922"/>
                  </a:cubicBezTo>
                  <a:lnTo>
                    <a:pt x="1714500" y="818772"/>
                  </a:lnTo>
                  <a:cubicBezTo>
                    <a:pt x="1728787" y="809247"/>
                    <a:pt x="1742004" y="797876"/>
                    <a:pt x="1757362" y="790197"/>
                  </a:cubicBezTo>
                  <a:cubicBezTo>
                    <a:pt x="1776412" y="780672"/>
                    <a:pt x="1797181" y="774002"/>
                    <a:pt x="1814512" y="761622"/>
                  </a:cubicBezTo>
                  <a:cubicBezTo>
                    <a:pt x="1830954" y="749878"/>
                    <a:pt x="1840933" y="730503"/>
                    <a:pt x="1857375" y="718759"/>
                  </a:cubicBezTo>
                  <a:cubicBezTo>
                    <a:pt x="1874706" y="706379"/>
                    <a:pt x="1896262" y="701142"/>
                    <a:pt x="1914525" y="690184"/>
                  </a:cubicBezTo>
                  <a:cubicBezTo>
                    <a:pt x="2037344" y="616493"/>
                    <a:pt x="1956898" y="647484"/>
                    <a:pt x="2043112" y="618747"/>
                  </a:cubicBezTo>
                  <a:cubicBezTo>
                    <a:pt x="2057400" y="604459"/>
                    <a:pt x="2070453" y="588819"/>
                    <a:pt x="2085975" y="575884"/>
                  </a:cubicBezTo>
                  <a:cubicBezTo>
                    <a:pt x="2099166" y="564891"/>
                    <a:pt x="2116695" y="559451"/>
                    <a:pt x="2128837" y="547309"/>
                  </a:cubicBezTo>
                  <a:cubicBezTo>
                    <a:pt x="2193462" y="482684"/>
                    <a:pt x="2116830" y="517975"/>
                    <a:pt x="2200275" y="490159"/>
                  </a:cubicBezTo>
                  <a:cubicBezTo>
                    <a:pt x="2267617" y="389147"/>
                    <a:pt x="2179670" y="510764"/>
                    <a:pt x="2286000" y="404434"/>
                  </a:cubicBezTo>
                  <a:cubicBezTo>
                    <a:pt x="2298142" y="392292"/>
                    <a:pt x="2302433" y="373714"/>
                    <a:pt x="2314575" y="361572"/>
                  </a:cubicBezTo>
                  <a:cubicBezTo>
                    <a:pt x="2426964" y="249183"/>
                    <a:pt x="2283265" y="430575"/>
                    <a:pt x="2400300" y="290134"/>
                  </a:cubicBezTo>
                  <a:cubicBezTo>
                    <a:pt x="2411293" y="276943"/>
                    <a:pt x="2415952" y="258579"/>
                    <a:pt x="2428875" y="247272"/>
                  </a:cubicBezTo>
                  <a:cubicBezTo>
                    <a:pt x="2454721" y="224657"/>
                    <a:pt x="2514600" y="190122"/>
                    <a:pt x="2514600" y="190122"/>
                  </a:cubicBezTo>
                  <a:cubicBezTo>
                    <a:pt x="2562770" y="117867"/>
                    <a:pt x="2517026" y="167477"/>
                    <a:pt x="2586037" y="132972"/>
                  </a:cubicBezTo>
                  <a:cubicBezTo>
                    <a:pt x="2601396" y="125293"/>
                    <a:pt x="2613208" y="111371"/>
                    <a:pt x="2628900" y="104397"/>
                  </a:cubicBezTo>
                  <a:cubicBezTo>
                    <a:pt x="2682357" y="80639"/>
                    <a:pt x="2742381" y="67331"/>
                    <a:pt x="2800350" y="61534"/>
                  </a:cubicBezTo>
                  <a:cubicBezTo>
                    <a:pt x="2866863" y="54883"/>
                    <a:pt x="2933614" y="50585"/>
                    <a:pt x="3000375" y="47247"/>
                  </a:cubicBezTo>
                  <a:cubicBezTo>
                    <a:pt x="3124137" y="41059"/>
                    <a:pt x="3248025" y="37722"/>
                    <a:pt x="3371850" y="32959"/>
                  </a:cubicBezTo>
                  <a:cubicBezTo>
                    <a:pt x="3400425" y="23434"/>
                    <a:pt x="3432513" y="-12324"/>
                    <a:pt x="3457575" y="4384"/>
                  </a:cubicBezTo>
                  <a:cubicBezTo>
                    <a:pt x="3580410" y="86275"/>
                    <a:pt x="3424995" y="-11906"/>
                    <a:pt x="3543300" y="47247"/>
                  </a:cubicBezTo>
                  <a:cubicBezTo>
                    <a:pt x="3558658" y="54926"/>
                    <a:pt x="3570471" y="68848"/>
                    <a:pt x="3586162" y="75822"/>
                  </a:cubicBezTo>
                  <a:cubicBezTo>
                    <a:pt x="3586182" y="75831"/>
                    <a:pt x="3693309" y="111537"/>
                    <a:pt x="3714750" y="118684"/>
                  </a:cubicBezTo>
                  <a:cubicBezTo>
                    <a:pt x="3714757" y="118686"/>
                    <a:pt x="3800467" y="147258"/>
                    <a:pt x="3800475" y="147259"/>
                  </a:cubicBezTo>
                  <a:lnTo>
                    <a:pt x="3943350" y="161547"/>
                  </a:lnTo>
                  <a:cubicBezTo>
                    <a:pt x="3957637" y="171072"/>
                    <a:pt x="3975485" y="176714"/>
                    <a:pt x="3986212" y="190122"/>
                  </a:cubicBezTo>
                  <a:cubicBezTo>
                    <a:pt x="3995620" y="201882"/>
                    <a:pt x="3993765" y="219514"/>
                    <a:pt x="4000500" y="232984"/>
                  </a:cubicBezTo>
                  <a:cubicBezTo>
                    <a:pt x="4008179" y="248343"/>
                    <a:pt x="4018082" y="262655"/>
                    <a:pt x="4029075" y="275847"/>
                  </a:cubicBezTo>
                  <a:cubicBezTo>
                    <a:pt x="4042010" y="291369"/>
                    <a:pt x="4059002" y="303187"/>
                    <a:pt x="4071937" y="318709"/>
                  </a:cubicBezTo>
                  <a:cubicBezTo>
                    <a:pt x="4131468" y="390147"/>
                    <a:pt x="4064793" y="337760"/>
                    <a:pt x="4143375" y="390147"/>
                  </a:cubicBezTo>
                  <a:cubicBezTo>
                    <a:pt x="4154995" y="425008"/>
                    <a:pt x="4158540" y="448175"/>
                    <a:pt x="4186237" y="475872"/>
                  </a:cubicBezTo>
                  <a:cubicBezTo>
                    <a:pt x="4198379" y="488014"/>
                    <a:pt x="4214812" y="494922"/>
                    <a:pt x="4229100" y="504447"/>
                  </a:cubicBezTo>
                  <a:cubicBezTo>
                    <a:pt x="4257196" y="546590"/>
                    <a:pt x="4259286" y="555796"/>
                    <a:pt x="4300537" y="590172"/>
                  </a:cubicBezTo>
                  <a:cubicBezTo>
                    <a:pt x="4313729" y="601165"/>
                    <a:pt x="4329112" y="609222"/>
                    <a:pt x="4343400" y="618747"/>
                  </a:cubicBezTo>
                  <a:cubicBezTo>
                    <a:pt x="4407306" y="714605"/>
                    <a:pt x="4332025" y="620689"/>
                    <a:pt x="4414837" y="675897"/>
                  </a:cubicBezTo>
                  <a:cubicBezTo>
                    <a:pt x="4488800" y="725205"/>
                    <a:pt x="4429304" y="737869"/>
                    <a:pt x="4543425" y="775909"/>
                  </a:cubicBezTo>
                  <a:cubicBezTo>
                    <a:pt x="4572000" y="785434"/>
                    <a:pt x="4602209" y="791014"/>
                    <a:pt x="4629150" y="804484"/>
                  </a:cubicBezTo>
                  <a:cubicBezTo>
                    <a:pt x="4648200" y="814009"/>
                    <a:pt x="4665900" y="826939"/>
                    <a:pt x="4686300" y="833059"/>
                  </a:cubicBezTo>
                  <a:cubicBezTo>
                    <a:pt x="4745432" y="850799"/>
                    <a:pt x="4931433" y="859609"/>
                    <a:pt x="4957762" y="861634"/>
                  </a:cubicBezTo>
                  <a:cubicBezTo>
                    <a:pt x="4986337" y="866397"/>
                    <a:pt x="5014695" y="872723"/>
                    <a:pt x="5043487" y="875922"/>
                  </a:cubicBezTo>
                  <a:cubicBezTo>
                    <a:pt x="5100484" y="882255"/>
                    <a:pt x="5158115" y="882461"/>
                    <a:pt x="5214937" y="890209"/>
                  </a:cubicBezTo>
                  <a:cubicBezTo>
                    <a:pt x="5263060" y="896771"/>
                    <a:pt x="5357812" y="918784"/>
                    <a:pt x="5357812" y="918784"/>
                  </a:cubicBezTo>
                  <a:cubicBezTo>
                    <a:pt x="5372100" y="928309"/>
                    <a:pt x="5387483" y="936366"/>
                    <a:pt x="5400675" y="947359"/>
                  </a:cubicBezTo>
                  <a:cubicBezTo>
                    <a:pt x="5449987" y="988453"/>
                    <a:pt x="5457037" y="1023297"/>
                    <a:pt x="5529262" y="1047372"/>
                  </a:cubicBezTo>
                  <a:lnTo>
                    <a:pt x="5657850" y="1090234"/>
                  </a:lnTo>
                  <a:cubicBezTo>
                    <a:pt x="5672137" y="1094996"/>
                    <a:pt x="5687242" y="1097787"/>
                    <a:pt x="5700712" y="1104522"/>
                  </a:cubicBezTo>
                  <a:cubicBezTo>
                    <a:pt x="5771332" y="1139832"/>
                    <a:pt x="5737656" y="1126362"/>
                    <a:pt x="5800725" y="1147384"/>
                  </a:cubicBezTo>
                  <a:cubicBezTo>
                    <a:pt x="5815012" y="1156909"/>
                    <a:pt x="5828229" y="1168280"/>
                    <a:pt x="5843587" y="1175959"/>
                  </a:cubicBezTo>
                  <a:cubicBezTo>
                    <a:pt x="5908026" y="1208179"/>
                    <a:pt x="5867892" y="1167639"/>
                    <a:pt x="5929312" y="1218822"/>
                  </a:cubicBezTo>
                  <a:cubicBezTo>
                    <a:pt x="6063604" y="1330731"/>
                    <a:pt x="5841239" y="1174393"/>
                    <a:pt x="6057900" y="1318834"/>
                  </a:cubicBezTo>
                  <a:cubicBezTo>
                    <a:pt x="6072187" y="1328359"/>
                    <a:pt x="6084103" y="1343244"/>
                    <a:pt x="6100762" y="1347409"/>
                  </a:cubicBezTo>
                  <a:cubicBezTo>
                    <a:pt x="6119812" y="1352172"/>
                    <a:pt x="6139031" y="1356303"/>
                    <a:pt x="6157912" y="1361697"/>
                  </a:cubicBezTo>
                  <a:cubicBezTo>
                    <a:pt x="6172393" y="1365834"/>
                    <a:pt x="6185847" y="1373994"/>
                    <a:pt x="6200775" y="1375984"/>
                  </a:cubicBezTo>
                  <a:cubicBezTo>
                    <a:pt x="6257620" y="1383563"/>
                    <a:pt x="6315075" y="1385509"/>
                    <a:pt x="6372225" y="1390272"/>
                  </a:cubicBezTo>
                  <a:lnTo>
                    <a:pt x="6757987" y="1518859"/>
                  </a:lnTo>
                  <a:lnTo>
                    <a:pt x="6843712" y="1547434"/>
                  </a:lnTo>
                  <a:cubicBezTo>
                    <a:pt x="6858000" y="1552197"/>
                    <a:pt x="6874044" y="1553368"/>
                    <a:pt x="6886575" y="1561722"/>
                  </a:cubicBezTo>
                  <a:cubicBezTo>
                    <a:pt x="6935041" y="1594033"/>
                    <a:pt x="6917295" y="1578155"/>
                    <a:pt x="6943725" y="1604584"/>
                  </a:cubicBezTo>
                  <a:lnTo>
                    <a:pt x="0" y="1576009"/>
                  </a:lnTo>
                  <a:close/>
                </a:path>
              </a:pathLst>
            </a:cu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4" name="Picture 6" descr="DSC00314">
              <a:extLst>
                <a:ext uri="{FF2B5EF4-FFF2-40B4-BE49-F238E27FC236}">
                  <a16:creationId xmlns:a16="http://schemas.microsoft.com/office/drawing/2014/main" id="{9FA7B086-8137-C253-E203-62E999186276}"/>
                </a:ext>
              </a:extLst>
            </p:cNvPr>
            <p:cNvPicPr preferRelativeResize="0">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525250" y="1855402"/>
              <a:ext cx="3810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descr="DSC00314">
              <a:extLst>
                <a:ext uri="{FF2B5EF4-FFF2-40B4-BE49-F238E27FC236}">
                  <a16:creationId xmlns:a16="http://schemas.microsoft.com/office/drawing/2014/main" id="{2A24B28C-E709-5F84-C2DD-4B5C1C6E8DC3}"/>
                </a:ext>
              </a:extLst>
            </p:cNvPr>
            <p:cNvPicPr preferRelativeResize="0">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634843" y="3030156"/>
              <a:ext cx="3810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CF706FF-178B-C824-E7D1-505F52B319FE}"/>
                </a:ext>
              </a:extLst>
            </p:cNvPr>
            <p:cNvSpPr txBox="1"/>
            <p:nvPr/>
          </p:nvSpPr>
          <p:spPr>
            <a:xfrm>
              <a:off x="2979364" y="2079021"/>
              <a:ext cx="1386918" cy="646331"/>
            </a:xfrm>
            <a:prstGeom prst="rect">
              <a:avLst/>
            </a:prstGeom>
            <a:noFill/>
          </p:spPr>
          <p:txBody>
            <a:bodyPr wrap="none">
              <a:spAutoFit/>
            </a:bodyPr>
            <a:lstStyle/>
            <a:p>
              <a:pPr algn="r">
                <a:defRPr/>
              </a:pPr>
              <a:r>
                <a:rPr lang="en-US" dirty="0">
                  <a:solidFill>
                    <a:srgbClr val="C00000"/>
                  </a:solidFill>
                </a:rPr>
                <a:t>High </a:t>
              </a:r>
            </a:p>
            <a:p>
              <a:pPr algn="r">
                <a:defRPr/>
              </a:pPr>
              <a:r>
                <a:rPr lang="en-US" dirty="0">
                  <a:solidFill>
                    <a:srgbClr val="C00000"/>
                  </a:solidFill>
                </a:rPr>
                <a:t>Drilling Risk</a:t>
              </a:r>
            </a:p>
          </p:txBody>
        </p:sp>
        <p:sp>
          <p:nvSpPr>
            <p:cNvPr id="7" name="TextBox 6">
              <a:extLst>
                <a:ext uri="{FF2B5EF4-FFF2-40B4-BE49-F238E27FC236}">
                  <a16:creationId xmlns:a16="http://schemas.microsoft.com/office/drawing/2014/main" id="{C29E4213-4BA4-2853-40CC-792512A1BE10}"/>
                </a:ext>
              </a:extLst>
            </p:cNvPr>
            <p:cNvSpPr txBox="1"/>
            <p:nvPr/>
          </p:nvSpPr>
          <p:spPr>
            <a:xfrm>
              <a:off x="6973510" y="3216962"/>
              <a:ext cx="1535998" cy="646331"/>
            </a:xfrm>
            <a:prstGeom prst="rect">
              <a:avLst/>
            </a:prstGeom>
            <a:noFill/>
          </p:spPr>
          <p:txBody>
            <a:bodyPr wrap="none">
              <a:spAutoFit/>
            </a:bodyPr>
            <a:lstStyle/>
            <a:p>
              <a:pPr>
                <a:defRPr/>
              </a:pPr>
              <a:r>
                <a:rPr lang="en-US" dirty="0">
                  <a:solidFill>
                    <a:srgbClr val="C00000"/>
                  </a:solidFill>
                </a:rPr>
                <a:t>Medium-Low</a:t>
              </a:r>
            </a:p>
            <a:p>
              <a:pPr>
                <a:defRPr/>
              </a:pPr>
              <a:r>
                <a:rPr lang="en-US" dirty="0">
                  <a:solidFill>
                    <a:srgbClr val="C00000"/>
                  </a:solidFill>
                </a:rPr>
                <a:t>Drilling Risk</a:t>
              </a:r>
            </a:p>
          </p:txBody>
        </p:sp>
        <p:sp>
          <p:nvSpPr>
            <p:cNvPr id="8" name="TextBox 7">
              <a:extLst>
                <a:ext uri="{FF2B5EF4-FFF2-40B4-BE49-F238E27FC236}">
                  <a16:creationId xmlns:a16="http://schemas.microsoft.com/office/drawing/2014/main" id="{51179380-128E-E051-A80C-DC09C50E50E6}"/>
                </a:ext>
              </a:extLst>
            </p:cNvPr>
            <p:cNvSpPr txBox="1"/>
            <p:nvPr/>
          </p:nvSpPr>
          <p:spPr>
            <a:xfrm rot="19157046">
              <a:off x="2947471" y="3280465"/>
              <a:ext cx="1258871" cy="369332"/>
            </a:xfrm>
            <a:prstGeom prst="rect">
              <a:avLst/>
            </a:prstGeom>
            <a:noFill/>
          </p:spPr>
          <p:txBody>
            <a:bodyPr wrap="none" rtlCol="0">
              <a:spAutoFit/>
            </a:bodyPr>
            <a:lstStyle/>
            <a:p>
              <a:r>
                <a:rPr lang="en-US" dirty="0">
                  <a:solidFill>
                    <a:srgbClr val="FFFF00"/>
                  </a:solidFill>
                </a:rPr>
                <a:t>Ruble area</a:t>
              </a:r>
              <a:endParaRPr lang="en-ID" dirty="0">
                <a:solidFill>
                  <a:srgbClr val="FFFF00"/>
                </a:solidFill>
              </a:endParaRPr>
            </a:p>
          </p:txBody>
        </p:sp>
        <p:sp>
          <p:nvSpPr>
            <p:cNvPr id="9" name="TextBox 8">
              <a:extLst>
                <a:ext uri="{FF2B5EF4-FFF2-40B4-BE49-F238E27FC236}">
                  <a16:creationId xmlns:a16="http://schemas.microsoft.com/office/drawing/2014/main" id="{ADD5E0AA-CD35-F9A7-66E7-E0C2F467DA07}"/>
                </a:ext>
              </a:extLst>
            </p:cNvPr>
            <p:cNvSpPr txBox="1"/>
            <p:nvPr/>
          </p:nvSpPr>
          <p:spPr>
            <a:xfrm rot="2241289">
              <a:off x="4843794" y="3087872"/>
              <a:ext cx="1258871" cy="369332"/>
            </a:xfrm>
            <a:prstGeom prst="rect">
              <a:avLst/>
            </a:prstGeom>
            <a:noFill/>
          </p:spPr>
          <p:txBody>
            <a:bodyPr wrap="none" rtlCol="0">
              <a:spAutoFit/>
            </a:bodyPr>
            <a:lstStyle/>
            <a:p>
              <a:r>
                <a:rPr lang="en-US" dirty="0">
                  <a:solidFill>
                    <a:srgbClr val="FFFF00"/>
                  </a:solidFill>
                </a:rPr>
                <a:t>Ruble area</a:t>
              </a:r>
              <a:endParaRPr lang="en-ID" dirty="0">
                <a:solidFill>
                  <a:srgbClr val="FFFF00"/>
                </a:solidFill>
              </a:endParaRPr>
            </a:p>
          </p:txBody>
        </p:sp>
        <p:pic>
          <p:nvPicPr>
            <p:cNvPr id="10" name="Picture 6" descr="DSC00314">
              <a:extLst>
                <a:ext uri="{FF2B5EF4-FFF2-40B4-BE49-F238E27FC236}">
                  <a16:creationId xmlns:a16="http://schemas.microsoft.com/office/drawing/2014/main" id="{BB16D809-8F9D-6006-8915-248FC03A6742}"/>
                </a:ext>
              </a:extLst>
            </p:cNvPr>
            <p:cNvPicPr preferRelativeResize="0">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35654" y="3040231"/>
              <a:ext cx="3810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0">
              <a:extLst>
                <a:ext uri="{FF2B5EF4-FFF2-40B4-BE49-F238E27FC236}">
                  <a16:creationId xmlns:a16="http://schemas.microsoft.com/office/drawing/2014/main" id="{088B84A8-2A04-0D2B-BAC3-4301558FA635}"/>
                </a:ext>
              </a:extLst>
            </p:cNvPr>
            <p:cNvGrpSpPr/>
            <p:nvPr/>
          </p:nvGrpSpPr>
          <p:grpSpPr>
            <a:xfrm>
              <a:off x="2862563" y="3910181"/>
              <a:ext cx="127181" cy="1377391"/>
              <a:chOff x="4412974" y="5132907"/>
              <a:chExt cx="127181" cy="1377391"/>
            </a:xfrm>
          </p:grpSpPr>
          <p:sp>
            <p:nvSpPr>
              <p:cNvPr id="12" name="Rectangle 11">
                <a:extLst>
                  <a:ext uri="{FF2B5EF4-FFF2-40B4-BE49-F238E27FC236}">
                    <a16:creationId xmlns:a16="http://schemas.microsoft.com/office/drawing/2014/main" id="{7FD18273-E86E-45DE-C806-DC11B0DF698B}"/>
                  </a:ext>
                </a:extLst>
              </p:cNvPr>
              <p:cNvSpPr/>
              <p:nvPr/>
            </p:nvSpPr>
            <p:spPr>
              <a:xfrm>
                <a:off x="4412974" y="5132907"/>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13" name="Rectangle 12">
                <a:extLst>
                  <a:ext uri="{FF2B5EF4-FFF2-40B4-BE49-F238E27FC236}">
                    <a16:creationId xmlns:a16="http://schemas.microsoft.com/office/drawing/2014/main" id="{E7C46D1A-84D4-2A3F-F224-28D08D2B72CD}"/>
                  </a:ext>
                </a:extLst>
              </p:cNvPr>
              <p:cNvSpPr/>
              <p:nvPr/>
            </p:nvSpPr>
            <p:spPr>
              <a:xfrm>
                <a:off x="4412974" y="5414378"/>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14" name="Rectangle 13">
                <a:extLst>
                  <a:ext uri="{FF2B5EF4-FFF2-40B4-BE49-F238E27FC236}">
                    <a16:creationId xmlns:a16="http://schemas.microsoft.com/office/drawing/2014/main" id="{3BDC9586-AB3A-6172-70A3-5BCC79BDB16C}"/>
                  </a:ext>
                </a:extLst>
              </p:cNvPr>
              <p:cNvSpPr/>
              <p:nvPr/>
            </p:nvSpPr>
            <p:spPr>
              <a:xfrm>
                <a:off x="4412974" y="5688358"/>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15" name="Rectangle 14">
                <a:extLst>
                  <a:ext uri="{FF2B5EF4-FFF2-40B4-BE49-F238E27FC236}">
                    <a16:creationId xmlns:a16="http://schemas.microsoft.com/office/drawing/2014/main" id="{91BE5FBC-E305-2806-0BE2-B73F5E6667F7}"/>
                  </a:ext>
                </a:extLst>
              </p:cNvPr>
              <p:cNvSpPr/>
              <p:nvPr/>
            </p:nvSpPr>
            <p:spPr>
              <a:xfrm>
                <a:off x="4412974" y="5962338"/>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16" name="Rectangle 15">
                <a:extLst>
                  <a:ext uri="{FF2B5EF4-FFF2-40B4-BE49-F238E27FC236}">
                    <a16:creationId xmlns:a16="http://schemas.microsoft.com/office/drawing/2014/main" id="{1D2DC85C-0F11-35FD-6B27-29ACD9AD4BD5}"/>
                  </a:ext>
                </a:extLst>
              </p:cNvPr>
              <p:cNvSpPr/>
              <p:nvPr/>
            </p:nvSpPr>
            <p:spPr>
              <a:xfrm>
                <a:off x="4412974" y="6236318"/>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grpSp>
        <p:grpSp>
          <p:nvGrpSpPr>
            <p:cNvPr id="17" name="Group 16">
              <a:extLst>
                <a:ext uri="{FF2B5EF4-FFF2-40B4-BE49-F238E27FC236}">
                  <a16:creationId xmlns:a16="http://schemas.microsoft.com/office/drawing/2014/main" id="{58E4637B-12AA-1C61-4842-66A7F11F5377}"/>
                </a:ext>
              </a:extLst>
            </p:cNvPr>
            <p:cNvGrpSpPr/>
            <p:nvPr/>
          </p:nvGrpSpPr>
          <p:grpSpPr>
            <a:xfrm>
              <a:off x="6761752" y="3909377"/>
              <a:ext cx="127181" cy="829431"/>
              <a:chOff x="4911117" y="5132907"/>
              <a:chExt cx="127181" cy="829431"/>
            </a:xfrm>
          </p:grpSpPr>
          <p:sp>
            <p:nvSpPr>
              <p:cNvPr id="18" name="Rectangle 17">
                <a:extLst>
                  <a:ext uri="{FF2B5EF4-FFF2-40B4-BE49-F238E27FC236}">
                    <a16:creationId xmlns:a16="http://schemas.microsoft.com/office/drawing/2014/main" id="{066B9387-3306-D506-A2DC-36F93CDD69C6}"/>
                  </a:ext>
                </a:extLst>
              </p:cNvPr>
              <p:cNvSpPr/>
              <p:nvPr/>
            </p:nvSpPr>
            <p:spPr>
              <a:xfrm>
                <a:off x="4911117" y="5132907"/>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19" name="Rectangle 18">
                <a:extLst>
                  <a:ext uri="{FF2B5EF4-FFF2-40B4-BE49-F238E27FC236}">
                    <a16:creationId xmlns:a16="http://schemas.microsoft.com/office/drawing/2014/main" id="{39ADAF5D-F29E-D959-F34B-C7C0EF6AD0EF}"/>
                  </a:ext>
                </a:extLst>
              </p:cNvPr>
              <p:cNvSpPr/>
              <p:nvPr/>
            </p:nvSpPr>
            <p:spPr>
              <a:xfrm>
                <a:off x="4911117" y="5414378"/>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20" name="Rectangle 19">
                <a:extLst>
                  <a:ext uri="{FF2B5EF4-FFF2-40B4-BE49-F238E27FC236}">
                    <a16:creationId xmlns:a16="http://schemas.microsoft.com/office/drawing/2014/main" id="{279D5868-9181-D670-D668-3275F53CEB55}"/>
                  </a:ext>
                </a:extLst>
              </p:cNvPr>
              <p:cNvSpPr/>
              <p:nvPr/>
            </p:nvSpPr>
            <p:spPr>
              <a:xfrm>
                <a:off x="4911117" y="5688358"/>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grpSp>
        <p:grpSp>
          <p:nvGrpSpPr>
            <p:cNvPr id="21" name="Group 20">
              <a:extLst>
                <a:ext uri="{FF2B5EF4-FFF2-40B4-BE49-F238E27FC236}">
                  <a16:creationId xmlns:a16="http://schemas.microsoft.com/office/drawing/2014/main" id="{DAF0A142-3909-5F8E-F435-E475DF7FD32D}"/>
                </a:ext>
              </a:extLst>
            </p:cNvPr>
            <p:cNvGrpSpPr/>
            <p:nvPr/>
          </p:nvGrpSpPr>
          <p:grpSpPr>
            <a:xfrm>
              <a:off x="4652159" y="2719162"/>
              <a:ext cx="127181" cy="829431"/>
              <a:chOff x="4911117" y="5132907"/>
              <a:chExt cx="127181" cy="829431"/>
            </a:xfrm>
          </p:grpSpPr>
          <p:sp>
            <p:nvSpPr>
              <p:cNvPr id="22" name="Rectangle 21">
                <a:extLst>
                  <a:ext uri="{FF2B5EF4-FFF2-40B4-BE49-F238E27FC236}">
                    <a16:creationId xmlns:a16="http://schemas.microsoft.com/office/drawing/2014/main" id="{49852CD2-2E16-DC08-A016-3933BB64AA27}"/>
                  </a:ext>
                </a:extLst>
              </p:cNvPr>
              <p:cNvSpPr/>
              <p:nvPr/>
            </p:nvSpPr>
            <p:spPr>
              <a:xfrm>
                <a:off x="4911117" y="5132907"/>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23" name="Rectangle 22">
                <a:extLst>
                  <a:ext uri="{FF2B5EF4-FFF2-40B4-BE49-F238E27FC236}">
                    <a16:creationId xmlns:a16="http://schemas.microsoft.com/office/drawing/2014/main" id="{39C777EC-059F-59F6-807B-6044BAF3A0C2}"/>
                  </a:ext>
                </a:extLst>
              </p:cNvPr>
              <p:cNvSpPr/>
              <p:nvPr/>
            </p:nvSpPr>
            <p:spPr>
              <a:xfrm>
                <a:off x="4911117" y="5414378"/>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24" name="Rectangle 23">
                <a:extLst>
                  <a:ext uri="{FF2B5EF4-FFF2-40B4-BE49-F238E27FC236}">
                    <a16:creationId xmlns:a16="http://schemas.microsoft.com/office/drawing/2014/main" id="{BF8CCCE8-19E4-2A0B-CB2E-53E01464F204}"/>
                  </a:ext>
                </a:extLst>
              </p:cNvPr>
              <p:cNvSpPr/>
              <p:nvPr/>
            </p:nvSpPr>
            <p:spPr>
              <a:xfrm>
                <a:off x="4911117" y="5688358"/>
                <a:ext cx="127181" cy="2739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a:p>
            </p:txBody>
          </p:sp>
        </p:grpSp>
        <p:cxnSp>
          <p:nvCxnSpPr>
            <p:cNvPr id="25" name="Straight Arrow Connector 24">
              <a:extLst>
                <a:ext uri="{FF2B5EF4-FFF2-40B4-BE49-F238E27FC236}">
                  <a16:creationId xmlns:a16="http://schemas.microsoft.com/office/drawing/2014/main" id="{29914C46-3147-0168-D475-90216A57DE38}"/>
                </a:ext>
              </a:extLst>
            </p:cNvPr>
            <p:cNvCxnSpPr>
              <a:cxnSpLocks/>
            </p:cNvCxnSpPr>
            <p:nvPr/>
          </p:nvCxnSpPr>
          <p:spPr>
            <a:xfrm>
              <a:off x="4779340" y="3674853"/>
              <a:ext cx="1552640"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C6007F9-F4FC-2003-A4C3-9CF5BA7C356C}"/>
                </a:ext>
              </a:extLst>
            </p:cNvPr>
            <p:cNvSpPr/>
            <p:nvPr/>
          </p:nvSpPr>
          <p:spPr>
            <a:xfrm>
              <a:off x="4665820" y="3556954"/>
              <a:ext cx="105720" cy="729337"/>
            </a:xfrm>
            <a:prstGeom prst="rect">
              <a:avLst/>
            </a:prstGeom>
            <a:solidFill>
              <a:srgbClr val="FFCC00"/>
            </a:solidFill>
            <a:ln>
              <a:prstDash val="dashDo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dirty="0"/>
            </a:p>
          </p:txBody>
        </p:sp>
        <p:sp>
          <p:nvSpPr>
            <p:cNvPr id="27" name="TextBox 26">
              <a:extLst>
                <a:ext uri="{FF2B5EF4-FFF2-40B4-BE49-F238E27FC236}">
                  <a16:creationId xmlns:a16="http://schemas.microsoft.com/office/drawing/2014/main" id="{8CE7C7BA-49B4-3B88-E32C-AEA74EDEB649}"/>
                </a:ext>
              </a:extLst>
            </p:cNvPr>
            <p:cNvSpPr txBox="1"/>
            <p:nvPr/>
          </p:nvSpPr>
          <p:spPr>
            <a:xfrm>
              <a:off x="6825342" y="4478925"/>
              <a:ext cx="1164486" cy="276999"/>
            </a:xfrm>
            <a:prstGeom prst="rect">
              <a:avLst/>
            </a:prstGeom>
            <a:noFill/>
          </p:spPr>
          <p:txBody>
            <a:bodyPr wrap="none" rtlCol="0">
              <a:spAutoFit/>
            </a:bodyPr>
            <a:lstStyle/>
            <a:p>
              <a:r>
                <a:rPr lang="en-US" sz="1200" dirty="0">
                  <a:solidFill>
                    <a:srgbClr val="FFFF00"/>
                  </a:solidFill>
                </a:rPr>
                <a:t>30” Conductor</a:t>
              </a:r>
              <a:endParaRPr lang="en-ID" sz="1200" dirty="0">
                <a:solidFill>
                  <a:srgbClr val="FFFF00"/>
                </a:solidFill>
              </a:endParaRPr>
            </a:p>
          </p:txBody>
        </p:sp>
        <p:sp>
          <p:nvSpPr>
            <p:cNvPr id="28" name="TextBox 27">
              <a:extLst>
                <a:ext uri="{FF2B5EF4-FFF2-40B4-BE49-F238E27FC236}">
                  <a16:creationId xmlns:a16="http://schemas.microsoft.com/office/drawing/2014/main" id="{8F227CA3-12DC-F20F-02AA-EAE1A41D7281}"/>
                </a:ext>
              </a:extLst>
            </p:cNvPr>
            <p:cNvSpPr txBox="1"/>
            <p:nvPr/>
          </p:nvSpPr>
          <p:spPr>
            <a:xfrm>
              <a:off x="4706672" y="4024215"/>
              <a:ext cx="766557" cy="276999"/>
            </a:xfrm>
            <a:prstGeom prst="rect">
              <a:avLst/>
            </a:prstGeom>
            <a:noFill/>
          </p:spPr>
          <p:txBody>
            <a:bodyPr wrap="none" rtlCol="0">
              <a:spAutoFit/>
            </a:bodyPr>
            <a:lstStyle/>
            <a:p>
              <a:r>
                <a:rPr lang="en-US" sz="1200" dirty="0">
                  <a:solidFill>
                    <a:srgbClr val="FFFF00"/>
                  </a:solidFill>
                </a:rPr>
                <a:t>26” Hole</a:t>
              </a:r>
              <a:endParaRPr lang="en-ID" sz="1200" dirty="0">
                <a:solidFill>
                  <a:srgbClr val="FFFF00"/>
                </a:solidFill>
              </a:endParaRPr>
            </a:p>
          </p:txBody>
        </p:sp>
        <p:sp>
          <p:nvSpPr>
            <p:cNvPr id="29" name="Rectangle 28">
              <a:extLst>
                <a:ext uri="{FF2B5EF4-FFF2-40B4-BE49-F238E27FC236}">
                  <a16:creationId xmlns:a16="http://schemas.microsoft.com/office/drawing/2014/main" id="{AD5B332B-2E9B-551E-AA0E-6F514CC57C6F}"/>
                </a:ext>
              </a:extLst>
            </p:cNvPr>
            <p:cNvSpPr/>
            <p:nvPr/>
          </p:nvSpPr>
          <p:spPr>
            <a:xfrm>
              <a:off x="2869557" y="5301419"/>
              <a:ext cx="105720" cy="729337"/>
            </a:xfrm>
            <a:prstGeom prst="rect">
              <a:avLst/>
            </a:prstGeom>
            <a:solidFill>
              <a:srgbClr val="FFCC00"/>
            </a:solidFill>
            <a:ln>
              <a:prstDash val="dashDo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dirty="0"/>
            </a:p>
          </p:txBody>
        </p:sp>
        <p:sp>
          <p:nvSpPr>
            <p:cNvPr id="30" name="Rectangle 29">
              <a:extLst>
                <a:ext uri="{FF2B5EF4-FFF2-40B4-BE49-F238E27FC236}">
                  <a16:creationId xmlns:a16="http://schemas.microsoft.com/office/drawing/2014/main" id="{02907633-B21D-E514-C273-C70E80E00C01}"/>
                </a:ext>
              </a:extLst>
            </p:cNvPr>
            <p:cNvSpPr/>
            <p:nvPr/>
          </p:nvSpPr>
          <p:spPr>
            <a:xfrm>
              <a:off x="6772482" y="4752905"/>
              <a:ext cx="105720" cy="729337"/>
            </a:xfrm>
            <a:prstGeom prst="rect">
              <a:avLst/>
            </a:prstGeom>
            <a:solidFill>
              <a:srgbClr val="FFCC00"/>
            </a:solidFill>
            <a:ln>
              <a:prstDash val="dashDo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D" dirty="0"/>
            </a:p>
          </p:txBody>
        </p:sp>
        <p:sp>
          <p:nvSpPr>
            <p:cNvPr id="31" name="TextBox 30">
              <a:extLst>
                <a:ext uri="{FF2B5EF4-FFF2-40B4-BE49-F238E27FC236}">
                  <a16:creationId xmlns:a16="http://schemas.microsoft.com/office/drawing/2014/main" id="{566BAB6B-174D-F014-28AE-00C3CF16713E}"/>
                </a:ext>
              </a:extLst>
            </p:cNvPr>
            <p:cNvSpPr txBox="1"/>
            <p:nvPr/>
          </p:nvSpPr>
          <p:spPr>
            <a:xfrm>
              <a:off x="2995327" y="5762822"/>
              <a:ext cx="766557" cy="276999"/>
            </a:xfrm>
            <a:prstGeom prst="rect">
              <a:avLst/>
            </a:prstGeom>
            <a:noFill/>
          </p:spPr>
          <p:txBody>
            <a:bodyPr wrap="none" rtlCol="0">
              <a:spAutoFit/>
            </a:bodyPr>
            <a:lstStyle/>
            <a:p>
              <a:r>
                <a:rPr lang="en-US" sz="1200" dirty="0">
                  <a:solidFill>
                    <a:srgbClr val="C00000"/>
                  </a:solidFill>
                </a:rPr>
                <a:t>26” Hole</a:t>
              </a:r>
              <a:endParaRPr lang="en-ID" sz="1200" dirty="0">
                <a:solidFill>
                  <a:srgbClr val="C00000"/>
                </a:solidFill>
              </a:endParaRPr>
            </a:p>
          </p:txBody>
        </p:sp>
        <p:sp>
          <p:nvSpPr>
            <p:cNvPr id="32" name="TextBox 31">
              <a:extLst>
                <a:ext uri="{FF2B5EF4-FFF2-40B4-BE49-F238E27FC236}">
                  <a16:creationId xmlns:a16="http://schemas.microsoft.com/office/drawing/2014/main" id="{7AA84545-AAEA-F7B1-360C-B04CF31C5B06}"/>
                </a:ext>
              </a:extLst>
            </p:cNvPr>
            <p:cNvSpPr txBox="1"/>
            <p:nvPr/>
          </p:nvSpPr>
          <p:spPr>
            <a:xfrm>
              <a:off x="6825342" y="5233056"/>
              <a:ext cx="766557" cy="276999"/>
            </a:xfrm>
            <a:prstGeom prst="rect">
              <a:avLst/>
            </a:prstGeom>
            <a:noFill/>
          </p:spPr>
          <p:txBody>
            <a:bodyPr wrap="none" rtlCol="0">
              <a:spAutoFit/>
            </a:bodyPr>
            <a:lstStyle/>
            <a:p>
              <a:r>
                <a:rPr lang="en-US" sz="1200" dirty="0">
                  <a:solidFill>
                    <a:srgbClr val="C00000"/>
                  </a:solidFill>
                </a:rPr>
                <a:t>26” Hole</a:t>
              </a:r>
              <a:endParaRPr lang="en-ID" sz="1200" dirty="0">
                <a:solidFill>
                  <a:srgbClr val="C00000"/>
                </a:solidFill>
              </a:endParaRPr>
            </a:p>
          </p:txBody>
        </p:sp>
        <p:cxnSp>
          <p:nvCxnSpPr>
            <p:cNvPr id="33" name="Straight Arrow Connector 32">
              <a:extLst>
                <a:ext uri="{FF2B5EF4-FFF2-40B4-BE49-F238E27FC236}">
                  <a16:creationId xmlns:a16="http://schemas.microsoft.com/office/drawing/2014/main" id="{3152F056-F20F-6111-4CF3-D0C773D79E31}"/>
                </a:ext>
              </a:extLst>
            </p:cNvPr>
            <p:cNvCxnSpPr>
              <a:cxnSpLocks/>
            </p:cNvCxnSpPr>
            <p:nvPr/>
          </p:nvCxnSpPr>
          <p:spPr>
            <a:xfrm>
              <a:off x="6888933" y="4775324"/>
              <a:ext cx="2232742"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A306C94-3100-3C64-3427-6C4B2E25A319}"/>
                </a:ext>
              </a:extLst>
            </p:cNvPr>
            <p:cNvCxnSpPr>
              <a:cxnSpLocks/>
            </p:cNvCxnSpPr>
            <p:nvPr/>
          </p:nvCxnSpPr>
          <p:spPr>
            <a:xfrm flipH="1">
              <a:off x="729343" y="5342327"/>
              <a:ext cx="2140214"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5" name="Isosceles Triangle 34">
              <a:extLst>
                <a:ext uri="{FF2B5EF4-FFF2-40B4-BE49-F238E27FC236}">
                  <a16:creationId xmlns:a16="http://schemas.microsoft.com/office/drawing/2014/main" id="{BF9AA364-35E8-608B-EB7A-72D2527F3EC0}"/>
                </a:ext>
              </a:extLst>
            </p:cNvPr>
            <p:cNvSpPr/>
            <p:nvPr/>
          </p:nvSpPr>
          <p:spPr>
            <a:xfrm rot="5400000">
              <a:off x="4957097" y="3472755"/>
              <a:ext cx="45719" cy="407461"/>
            </a:xfrm>
            <a:prstGeom prst="triangle">
              <a:avLst/>
            </a:prstGeom>
            <a:solidFill>
              <a:srgbClr val="FFCC66"/>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Isosceles Triangle 35">
              <a:extLst>
                <a:ext uri="{FF2B5EF4-FFF2-40B4-BE49-F238E27FC236}">
                  <a16:creationId xmlns:a16="http://schemas.microsoft.com/office/drawing/2014/main" id="{BF41D99C-C55F-E398-B79D-25F32D34CD02}"/>
                </a:ext>
              </a:extLst>
            </p:cNvPr>
            <p:cNvSpPr/>
            <p:nvPr/>
          </p:nvSpPr>
          <p:spPr>
            <a:xfrm rot="16200000" flipH="1">
              <a:off x="4431638" y="3471122"/>
              <a:ext cx="45719" cy="407461"/>
            </a:xfrm>
            <a:prstGeom prst="triangle">
              <a:avLst/>
            </a:prstGeom>
            <a:solidFill>
              <a:srgbClr val="FFCC66"/>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7" name="Isosceles Triangle 36">
              <a:extLst>
                <a:ext uri="{FF2B5EF4-FFF2-40B4-BE49-F238E27FC236}">
                  <a16:creationId xmlns:a16="http://schemas.microsoft.com/office/drawing/2014/main" id="{327608BD-7D03-F826-FEAB-2F44DB88CA5F}"/>
                </a:ext>
              </a:extLst>
            </p:cNvPr>
            <p:cNvSpPr/>
            <p:nvPr/>
          </p:nvSpPr>
          <p:spPr>
            <a:xfrm rot="5400000">
              <a:off x="3172924" y="4579387"/>
              <a:ext cx="45719" cy="407461"/>
            </a:xfrm>
            <a:prstGeom prst="triangle">
              <a:avLst/>
            </a:prstGeom>
            <a:solidFill>
              <a:srgbClr val="FFCC66"/>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Isosceles Triangle 37">
              <a:extLst>
                <a:ext uri="{FF2B5EF4-FFF2-40B4-BE49-F238E27FC236}">
                  <a16:creationId xmlns:a16="http://schemas.microsoft.com/office/drawing/2014/main" id="{BFF8D7AB-6936-A730-AD77-660ECEAE273C}"/>
                </a:ext>
              </a:extLst>
            </p:cNvPr>
            <p:cNvSpPr/>
            <p:nvPr/>
          </p:nvSpPr>
          <p:spPr>
            <a:xfrm rot="16200000" flipH="1">
              <a:off x="2630689" y="4577754"/>
              <a:ext cx="45719" cy="407461"/>
            </a:xfrm>
            <a:prstGeom prst="triangle">
              <a:avLst/>
            </a:prstGeom>
            <a:solidFill>
              <a:srgbClr val="FFCC66"/>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9" name="Isosceles Triangle 38">
              <a:extLst>
                <a:ext uri="{FF2B5EF4-FFF2-40B4-BE49-F238E27FC236}">
                  <a16:creationId xmlns:a16="http://schemas.microsoft.com/office/drawing/2014/main" id="{4A0DBEE5-5D51-A5E6-57A1-A0BF24D32E38}"/>
                </a:ext>
              </a:extLst>
            </p:cNvPr>
            <p:cNvSpPr/>
            <p:nvPr/>
          </p:nvSpPr>
          <p:spPr>
            <a:xfrm rot="5400000">
              <a:off x="7069804" y="4602246"/>
              <a:ext cx="45719" cy="407461"/>
            </a:xfrm>
            <a:prstGeom prst="triangle">
              <a:avLst/>
            </a:prstGeom>
            <a:solidFill>
              <a:srgbClr val="FFCC66"/>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0" name="Isosceles Triangle 39">
              <a:extLst>
                <a:ext uri="{FF2B5EF4-FFF2-40B4-BE49-F238E27FC236}">
                  <a16:creationId xmlns:a16="http://schemas.microsoft.com/office/drawing/2014/main" id="{42D9E22E-B32D-8DC1-1902-95B95617FCE9}"/>
                </a:ext>
              </a:extLst>
            </p:cNvPr>
            <p:cNvSpPr/>
            <p:nvPr/>
          </p:nvSpPr>
          <p:spPr>
            <a:xfrm rot="16200000" flipH="1">
              <a:off x="6544345" y="4600613"/>
              <a:ext cx="45719" cy="407461"/>
            </a:xfrm>
            <a:prstGeom prst="triangle">
              <a:avLst/>
            </a:prstGeom>
            <a:solidFill>
              <a:srgbClr val="FFCC66"/>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TextBox 40">
              <a:extLst>
                <a:ext uri="{FF2B5EF4-FFF2-40B4-BE49-F238E27FC236}">
                  <a16:creationId xmlns:a16="http://schemas.microsoft.com/office/drawing/2014/main" id="{764CEA5E-CFF2-E374-5A57-D01738519E48}"/>
                </a:ext>
              </a:extLst>
            </p:cNvPr>
            <p:cNvSpPr txBox="1"/>
            <p:nvPr/>
          </p:nvSpPr>
          <p:spPr>
            <a:xfrm>
              <a:off x="4684990" y="3654201"/>
              <a:ext cx="974947" cy="246221"/>
            </a:xfrm>
            <a:prstGeom prst="rect">
              <a:avLst/>
            </a:prstGeom>
            <a:noFill/>
          </p:spPr>
          <p:txBody>
            <a:bodyPr wrap="none" rtlCol="0">
              <a:spAutoFit/>
            </a:bodyPr>
            <a:lstStyle/>
            <a:p>
              <a:r>
                <a:rPr lang="en-US" sz="1000" dirty="0">
                  <a:solidFill>
                    <a:srgbClr val="FFFF00"/>
                  </a:solidFill>
                </a:rPr>
                <a:t>Surface losses</a:t>
              </a:r>
              <a:endParaRPr lang="en-ID" sz="1000" dirty="0">
                <a:solidFill>
                  <a:srgbClr val="FFFF00"/>
                </a:solidFill>
              </a:endParaRPr>
            </a:p>
          </p:txBody>
        </p:sp>
        <p:sp>
          <p:nvSpPr>
            <p:cNvPr id="42" name="TextBox 41">
              <a:extLst>
                <a:ext uri="{FF2B5EF4-FFF2-40B4-BE49-F238E27FC236}">
                  <a16:creationId xmlns:a16="http://schemas.microsoft.com/office/drawing/2014/main" id="{9658DEC2-F83A-EC8D-54D8-EAD3DBFF50A4}"/>
                </a:ext>
              </a:extLst>
            </p:cNvPr>
            <p:cNvSpPr txBox="1"/>
            <p:nvPr/>
          </p:nvSpPr>
          <p:spPr>
            <a:xfrm>
              <a:off x="5837497" y="4587021"/>
              <a:ext cx="974947" cy="246221"/>
            </a:xfrm>
            <a:prstGeom prst="rect">
              <a:avLst/>
            </a:prstGeom>
            <a:noFill/>
          </p:spPr>
          <p:txBody>
            <a:bodyPr wrap="none" rtlCol="0">
              <a:spAutoFit/>
            </a:bodyPr>
            <a:lstStyle/>
            <a:p>
              <a:r>
                <a:rPr lang="en-US" sz="1000" dirty="0">
                  <a:solidFill>
                    <a:srgbClr val="FFFF00"/>
                  </a:solidFill>
                </a:rPr>
                <a:t>Surface losses</a:t>
              </a:r>
              <a:endParaRPr lang="en-ID" sz="1000" dirty="0">
                <a:solidFill>
                  <a:srgbClr val="FFFF00"/>
                </a:solidFill>
              </a:endParaRPr>
            </a:p>
          </p:txBody>
        </p:sp>
        <p:sp>
          <p:nvSpPr>
            <p:cNvPr id="43" name="TextBox 42">
              <a:extLst>
                <a:ext uri="{FF2B5EF4-FFF2-40B4-BE49-F238E27FC236}">
                  <a16:creationId xmlns:a16="http://schemas.microsoft.com/office/drawing/2014/main" id="{36800294-A396-C12E-F72D-1E5CB601C2F7}"/>
                </a:ext>
              </a:extLst>
            </p:cNvPr>
            <p:cNvSpPr txBox="1"/>
            <p:nvPr/>
          </p:nvSpPr>
          <p:spPr>
            <a:xfrm>
              <a:off x="3340692" y="4652213"/>
              <a:ext cx="974947" cy="246221"/>
            </a:xfrm>
            <a:prstGeom prst="rect">
              <a:avLst/>
            </a:prstGeom>
            <a:noFill/>
          </p:spPr>
          <p:txBody>
            <a:bodyPr wrap="none" rtlCol="0">
              <a:spAutoFit/>
            </a:bodyPr>
            <a:lstStyle/>
            <a:p>
              <a:r>
                <a:rPr lang="en-US" sz="1000" dirty="0">
                  <a:solidFill>
                    <a:srgbClr val="FFFF00"/>
                  </a:solidFill>
                </a:rPr>
                <a:t>Surface losses</a:t>
              </a:r>
              <a:endParaRPr lang="en-ID" sz="1000" dirty="0">
                <a:solidFill>
                  <a:srgbClr val="FFFF00"/>
                </a:solidFill>
              </a:endParaRPr>
            </a:p>
          </p:txBody>
        </p:sp>
        <p:sp>
          <p:nvSpPr>
            <p:cNvPr id="44" name="TextBox 43">
              <a:extLst>
                <a:ext uri="{FF2B5EF4-FFF2-40B4-BE49-F238E27FC236}">
                  <a16:creationId xmlns:a16="http://schemas.microsoft.com/office/drawing/2014/main" id="{E8B5D0CA-9D15-53E3-DCFE-7AF05F25183D}"/>
                </a:ext>
              </a:extLst>
            </p:cNvPr>
            <p:cNvSpPr txBox="1"/>
            <p:nvPr/>
          </p:nvSpPr>
          <p:spPr>
            <a:xfrm>
              <a:off x="8879532" y="4522072"/>
              <a:ext cx="861839" cy="461665"/>
            </a:xfrm>
            <a:prstGeom prst="rect">
              <a:avLst/>
            </a:prstGeom>
            <a:noFill/>
          </p:spPr>
          <p:txBody>
            <a:bodyPr wrap="none" rtlCol="0">
              <a:spAutoFit/>
            </a:bodyPr>
            <a:lstStyle/>
            <a:p>
              <a:r>
                <a:rPr lang="en-US" sz="1200" dirty="0">
                  <a:solidFill>
                    <a:srgbClr val="C00000"/>
                  </a:solidFill>
                </a:rPr>
                <a:t>Low Risk</a:t>
              </a:r>
            </a:p>
            <a:p>
              <a:r>
                <a:rPr lang="en-US" sz="1200" dirty="0">
                  <a:solidFill>
                    <a:srgbClr val="C00000"/>
                  </a:solidFill>
                </a:rPr>
                <a:t>Broaching</a:t>
              </a:r>
              <a:endParaRPr lang="en-ID" sz="1200" dirty="0">
                <a:solidFill>
                  <a:srgbClr val="C00000"/>
                </a:solidFill>
              </a:endParaRPr>
            </a:p>
          </p:txBody>
        </p:sp>
        <p:sp>
          <p:nvSpPr>
            <p:cNvPr id="45" name="TextBox 44">
              <a:extLst>
                <a:ext uri="{FF2B5EF4-FFF2-40B4-BE49-F238E27FC236}">
                  <a16:creationId xmlns:a16="http://schemas.microsoft.com/office/drawing/2014/main" id="{576C30B3-72E0-C435-59F9-FFA17625903C}"/>
                </a:ext>
              </a:extLst>
            </p:cNvPr>
            <p:cNvSpPr txBox="1"/>
            <p:nvPr/>
          </p:nvSpPr>
          <p:spPr>
            <a:xfrm>
              <a:off x="5819113" y="3420896"/>
              <a:ext cx="861839" cy="461665"/>
            </a:xfrm>
            <a:prstGeom prst="rect">
              <a:avLst/>
            </a:prstGeom>
            <a:noFill/>
          </p:spPr>
          <p:txBody>
            <a:bodyPr wrap="none" rtlCol="0">
              <a:spAutoFit/>
            </a:bodyPr>
            <a:lstStyle/>
            <a:p>
              <a:r>
                <a:rPr lang="en-US" sz="1200" dirty="0">
                  <a:solidFill>
                    <a:srgbClr val="C00000"/>
                  </a:solidFill>
                </a:rPr>
                <a:t>High Risk</a:t>
              </a:r>
            </a:p>
            <a:p>
              <a:r>
                <a:rPr lang="en-US" sz="1200" dirty="0">
                  <a:solidFill>
                    <a:srgbClr val="C00000"/>
                  </a:solidFill>
                </a:rPr>
                <a:t>Broaching</a:t>
              </a:r>
              <a:endParaRPr lang="en-ID" sz="1200" dirty="0">
                <a:solidFill>
                  <a:srgbClr val="C00000"/>
                </a:solidFill>
              </a:endParaRPr>
            </a:p>
          </p:txBody>
        </p:sp>
        <p:sp>
          <p:nvSpPr>
            <p:cNvPr id="46" name="TextBox 45">
              <a:extLst>
                <a:ext uri="{FF2B5EF4-FFF2-40B4-BE49-F238E27FC236}">
                  <a16:creationId xmlns:a16="http://schemas.microsoft.com/office/drawing/2014/main" id="{42459089-AB8E-10ED-D5DE-F4C771C83EEF}"/>
                </a:ext>
              </a:extLst>
            </p:cNvPr>
            <p:cNvSpPr txBox="1"/>
            <p:nvPr/>
          </p:nvSpPr>
          <p:spPr>
            <a:xfrm>
              <a:off x="761920" y="5111494"/>
              <a:ext cx="879215" cy="461665"/>
            </a:xfrm>
            <a:prstGeom prst="rect">
              <a:avLst/>
            </a:prstGeom>
            <a:noFill/>
          </p:spPr>
          <p:txBody>
            <a:bodyPr wrap="none" rtlCol="0">
              <a:spAutoFit/>
            </a:bodyPr>
            <a:lstStyle/>
            <a:p>
              <a:r>
                <a:rPr lang="en-US" sz="1200" dirty="0">
                  <a:solidFill>
                    <a:srgbClr val="C00000"/>
                  </a:solidFill>
                </a:rPr>
                <a:t>No Risk of</a:t>
              </a:r>
            </a:p>
            <a:p>
              <a:r>
                <a:rPr lang="en-US" sz="1200" dirty="0">
                  <a:solidFill>
                    <a:srgbClr val="C00000"/>
                  </a:solidFill>
                </a:rPr>
                <a:t>Broaching</a:t>
              </a:r>
              <a:endParaRPr lang="en-ID" sz="1200" dirty="0">
                <a:solidFill>
                  <a:srgbClr val="C00000"/>
                </a:solidFill>
              </a:endParaRPr>
            </a:p>
          </p:txBody>
        </p:sp>
      </p:grpSp>
    </p:spTree>
    <p:extLst>
      <p:ext uri="{BB962C8B-B14F-4D97-AF65-F5344CB8AC3E}">
        <p14:creationId xmlns:p14="http://schemas.microsoft.com/office/powerpoint/2010/main" val="23051221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309BD-0F19-DD4B-B4EA-A0C2A3EB25FA}"/>
              </a:ext>
            </a:extLst>
          </p:cNvPr>
          <p:cNvSpPr>
            <a:spLocks noGrp="1"/>
          </p:cNvSpPr>
          <p:nvPr>
            <p:ph type="title"/>
          </p:nvPr>
        </p:nvSpPr>
        <p:spPr>
          <a:xfrm>
            <a:off x="521207" y="448056"/>
            <a:ext cx="7580802" cy="640080"/>
          </a:xfrm>
        </p:spPr>
        <p:txBody>
          <a:bodyPr>
            <a:normAutofit/>
          </a:bodyPr>
          <a:lstStyle/>
          <a:p>
            <a:r>
              <a:rPr lang="en-US" sz="3600" dirty="0">
                <a:solidFill>
                  <a:srgbClr val="C00000"/>
                </a:solidFill>
              </a:rPr>
              <a:t>Cellar Off Center and Rig Alignment</a:t>
            </a:r>
          </a:p>
        </p:txBody>
      </p:sp>
      <p:pic>
        <p:nvPicPr>
          <p:cNvPr id="4" name="Picture 3">
            <a:extLst>
              <a:ext uri="{FF2B5EF4-FFF2-40B4-BE49-F238E27FC236}">
                <a16:creationId xmlns:a16="http://schemas.microsoft.com/office/drawing/2014/main" id="{D0822226-AEB2-18B1-91F4-6C2F5A357B5C}"/>
              </a:ext>
            </a:extLst>
          </p:cNvPr>
          <p:cNvPicPr>
            <a:picLocks noChangeAspect="1"/>
          </p:cNvPicPr>
          <p:nvPr/>
        </p:nvPicPr>
        <p:blipFill>
          <a:blip r:embed="rId2"/>
          <a:stretch>
            <a:fillRect/>
          </a:stretch>
        </p:blipFill>
        <p:spPr>
          <a:xfrm>
            <a:off x="0" y="4063253"/>
            <a:ext cx="12192000" cy="1559744"/>
          </a:xfrm>
          <a:prstGeom prst="rect">
            <a:avLst/>
          </a:prstGeom>
        </p:spPr>
      </p:pic>
      <p:pic>
        <p:nvPicPr>
          <p:cNvPr id="5" name="Picture 4">
            <a:extLst>
              <a:ext uri="{FF2B5EF4-FFF2-40B4-BE49-F238E27FC236}">
                <a16:creationId xmlns:a16="http://schemas.microsoft.com/office/drawing/2014/main" id="{A136E355-56A5-736D-F755-4BCA02137314}"/>
              </a:ext>
            </a:extLst>
          </p:cNvPr>
          <p:cNvPicPr>
            <a:picLocks noChangeAspect="1"/>
          </p:cNvPicPr>
          <p:nvPr/>
        </p:nvPicPr>
        <p:blipFill>
          <a:blip r:embed="rId3"/>
          <a:stretch>
            <a:fillRect/>
          </a:stretch>
        </p:blipFill>
        <p:spPr>
          <a:xfrm>
            <a:off x="0" y="1617770"/>
            <a:ext cx="12192000" cy="1559744"/>
          </a:xfrm>
          <a:prstGeom prst="rect">
            <a:avLst/>
          </a:prstGeom>
        </p:spPr>
      </p:pic>
      <p:sp>
        <p:nvSpPr>
          <p:cNvPr id="6" name="TextBox 5">
            <a:extLst>
              <a:ext uri="{FF2B5EF4-FFF2-40B4-BE49-F238E27FC236}">
                <a16:creationId xmlns:a16="http://schemas.microsoft.com/office/drawing/2014/main" id="{3B08697E-DB69-2E22-2649-02AB213956EB}"/>
              </a:ext>
            </a:extLst>
          </p:cNvPr>
          <p:cNvSpPr txBox="1"/>
          <p:nvPr/>
        </p:nvSpPr>
        <p:spPr>
          <a:xfrm>
            <a:off x="3597784" y="1237223"/>
            <a:ext cx="4366452" cy="400110"/>
          </a:xfrm>
          <a:prstGeom prst="rect">
            <a:avLst/>
          </a:prstGeom>
          <a:noFill/>
        </p:spPr>
        <p:txBody>
          <a:bodyPr wrap="none" rtlCol="0">
            <a:spAutoFit/>
          </a:bodyPr>
          <a:lstStyle/>
          <a:p>
            <a:r>
              <a:rPr lang="en-US" sz="2000" b="1" dirty="0">
                <a:solidFill>
                  <a:srgbClr val="002060"/>
                </a:solidFill>
              </a:rPr>
              <a:t>Case-1: All Conductor Center Align</a:t>
            </a:r>
            <a:endParaRPr lang="en-ID" sz="2000" b="1" dirty="0">
              <a:solidFill>
                <a:srgbClr val="002060"/>
              </a:solidFill>
            </a:endParaRPr>
          </a:p>
        </p:txBody>
      </p:sp>
      <p:sp>
        <p:nvSpPr>
          <p:cNvPr id="7" name="TextBox 6">
            <a:extLst>
              <a:ext uri="{FF2B5EF4-FFF2-40B4-BE49-F238E27FC236}">
                <a16:creationId xmlns:a16="http://schemas.microsoft.com/office/drawing/2014/main" id="{E85679FB-ADCE-456E-9442-FC83ED166290}"/>
              </a:ext>
            </a:extLst>
          </p:cNvPr>
          <p:cNvSpPr txBox="1"/>
          <p:nvPr/>
        </p:nvSpPr>
        <p:spPr>
          <a:xfrm>
            <a:off x="3572937" y="3663143"/>
            <a:ext cx="5094215" cy="400110"/>
          </a:xfrm>
          <a:prstGeom prst="rect">
            <a:avLst/>
          </a:prstGeom>
          <a:noFill/>
        </p:spPr>
        <p:txBody>
          <a:bodyPr wrap="none" rtlCol="0">
            <a:spAutoFit/>
          </a:bodyPr>
          <a:lstStyle/>
          <a:p>
            <a:r>
              <a:rPr lang="en-US" sz="2000" b="1" dirty="0">
                <a:solidFill>
                  <a:srgbClr val="002060"/>
                </a:solidFill>
              </a:rPr>
              <a:t>Case-2: Alignment Conductor </a:t>
            </a:r>
            <a:r>
              <a:rPr lang="en-US" sz="2000" b="1" dirty="0">
                <a:solidFill>
                  <a:srgbClr val="FF0000"/>
                </a:solidFill>
              </a:rPr>
              <a:t>Off-Center</a:t>
            </a:r>
            <a:endParaRPr lang="en-ID" sz="2000" b="1" dirty="0">
              <a:solidFill>
                <a:srgbClr val="FF0000"/>
              </a:solidFill>
            </a:endParaRPr>
          </a:p>
        </p:txBody>
      </p:sp>
      <p:sp>
        <p:nvSpPr>
          <p:cNvPr id="8" name="TextBox 7">
            <a:extLst>
              <a:ext uri="{FF2B5EF4-FFF2-40B4-BE49-F238E27FC236}">
                <a16:creationId xmlns:a16="http://schemas.microsoft.com/office/drawing/2014/main" id="{75EDABF7-EF2D-6601-9E86-0BB53AB8FF43}"/>
              </a:ext>
            </a:extLst>
          </p:cNvPr>
          <p:cNvSpPr txBox="1"/>
          <p:nvPr/>
        </p:nvSpPr>
        <p:spPr>
          <a:xfrm>
            <a:off x="237858" y="5622997"/>
            <a:ext cx="10190738" cy="1015663"/>
          </a:xfrm>
          <a:prstGeom prst="rect">
            <a:avLst/>
          </a:prstGeom>
          <a:noFill/>
        </p:spPr>
        <p:txBody>
          <a:bodyPr wrap="none" rtlCol="0">
            <a:spAutoFit/>
          </a:bodyPr>
          <a:lstStyle/>
          <a:p>
            <a:r>
              <a:rPr lang="en-US" sz="2000" b="1" dirty="0">
                <a:solidFill>
                  <a:srgbClr val="002060"/>
                </a:solidFill>
              </a:rPr>
              <a:t>Case-2: </a:t>
            </a:r>
          </a:p>
          <a:p>
            <a:pPr marL="342900" indent="-342900">
              <a:buFont typeface="Arial" panose="020B0604020202020204" pitchFamily="34" charset="0"/>
              <a:buChar char="•"/>
            </a:pPr>
            <a:r>
              <a:rPr lang="en-US" sz="2000" b="1" dirty="0">
                <a:solidFill>
                  <a:srgbClr val="002060"/>
                </a:solidFill>
              </a:rPr>
              <a:t>Do alignment line to have Minimum Off Center of Conductor </a:t>
            </a:r>
            <a:r>
              <a:rPr lang="en-US" sz="2000" b="1" dirty="0">
                <a:solidFill>
                  <a:schemeClr val="tx2">
                    <a:lumMod val="50000"/>
                  </a:schemeClr>
                </a:solidFill>
              </a:rPr>
              <a:t>Center</a:t>
            </a:r>
          </a:p>
          <a:p>
            <a:pPr marL="342900" indent="-342900">
              <a:buFont typeface="Arial" panose="020B0604020202020204" pitchFamily="34" charset="0"/>
              <a:buChar char="•"/>
            </a:pPr>
            <a:r>
              <a:rPr lang="en-US" sz="2000" b="1" dirty="0">
                <a:solidFill>
                  <a:schemeClr val="tx2">
                    <a:lumMod val="50000"/>
                  </a:schemeClr>
                </a:solidFill>
              </a:rPr>
              <a:t>Set the center of skidding rail to have Tolerable Off Center deviation up to </a:t>
            </a:r>
            <a:r>
              <a:rPr lang="en-US" sz="2000" b="1" dirty="0">
                <a:solidFill>
                  <a:srgbClr val="FF0000"/>
                </a:solidFill>
              </a:rPr>
              <a:t>10 cm</a:t>
            </a:r>
            <a:endParaRPr lang="en-ID" sz="2000" b="1" dirty="0">
              <a:solidFill>
                <a:srgbClr val="FF0000"/>
              </a:solidFill>
            </a:endParaRPr>
          </a:p>
        </p:txBody>
      </p:sp>
      <p:cxnSp>
        <p:nvCxnSpPr>
          <p:cNvPr id="9" name="Straight Arrow Connector 8">
            <a:extLst>
              <a:ext uri="{FF2B5EF4-FFF2-40B4-BE49-F238E27FC236}">
                <a16:creationId xmlns:a16="http://schemas.microsoft.com/office/drawing/2014/main" id="{D6213C4D-EE84-0635-9E9C-EFA62974A180}"/>
              </a:ext>
            </a:extLst>
          </p:cNvPr>
          <p:cNvCxnSpPr/>
          <p:nvPr/>
        </p:nvCxnSpPr>
        <p:spPr>
          <a:xfrm>
            <a:off x="9338653" y="4459013"/>
            <a:ext cx="0" cy="297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54EF8E-5A1B-582E-C0B0-E4338392E373}"/>
              </a:ext>
            </a:extLst>
          </p:cNvPr>
          <p:cNvCxnSpPr>
            <a:cxnSpLocks/>
          </p:cNvCxnSpPr>
          <p:nvPr/>
        </p:nvCxnSpPr>
        <p:spPr>
          <a:xfrm flipV="1">
            <a:off x="9338653" y="4862171"/>
            <a:ext cx="0" cy="297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221DE209-7A77-5C87-197E-F57C8A547B64}"/>
              </a:ext>
            </a:extLst>
          </p:cNvPr>
          <p:cNvCxnSpPr>
            <a:cxnSpLocks/>
          </p:cNvCxnSpPr>
          <p:nvPr/>
        </p:nvCxnSpPr>
        <p:spPr>
          <a:xfrm rot="16200000" flipV="1">
            <a:off x="8987790" y="5205901"/>
            <a:ext cx="1564176" cy="665824"/>
          </a:xfrm>
          <a:prstGeom prst="bentConnector3">
            <a:avLst>
              <a:gd name="adj1" fmla="val 100513"/>
            </a:avLst>
          </a:prstGeom>
          <a:ln w="28575">
            <a:solidFill>
              <a:srgbClr val="FF0000"/>
            </a:solidFill>
            <a:prstDash val="sys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51CE957-F93F-8F7A-E9C1-B60CA9F81A47}"/>
              </a:ext>
            </a:extLst>
          </p:cNvPr>
          <p:cNvCxnSpPr/>
          <p:nvPr/>
        </p:nvCxnSpPr>
        <p:spPr>
          <a:xfrm>
            <a:off x="10733927" y="4530284"/>
            <a:ext cx="0" cy="297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A1FA93B-20B2-9D16-8AC3-0AEBCA945DEA}"/>
              </a:ext>
            </a:extLst>
          </p:cNvPr>
          <p:cNvCxnSpPr>
            <a:cxnSpLocks/>
          </p:cNvCxnSpPr>
          <p:nvPr/>
        </p:nvCxnSpPr>
        <p:spPr>
          <a:xfrm flipV="1">
            <a:off x="10733927" y="4899407"/>
            <a:ext cx="0" cy="297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4B0B1BF-A950-FAF1-F064-704CFD6EB080}"/>
              </a:ext>
            </a:extLst>
          </p:cNvPr>
          <p:cNvCxnSpPr/>
          <p:nvPr/>
        </p:nvCxnSpPr>
        <p:spPr>
          <a:xfrm>
            <a:off x="6713822" y="4532553"/>
            <a:ext cx="0" cy="297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AE7C089-40FD-3FC7-F2DC-D76254685A56}"/>
              </a:ext>
            </a:extLst>
          </p:cNvPr>
          <p:cNvCxnSpPr>
            <a:cxnSpLocks/>
          </p:cNvCxnSpPr>
          <p:nvPr/>
        </p:nvCxnSpPr>
        <p:spPr>
          <a:xfrm flipV="1">
            <a:off x="6713822" y="4937980"/>
            <a:ext cx="0" cy="297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FCDB8A1-2955-CE44-50C0-A69DA2425942}"/>
              </a:ext>
            </a:extLst>
          </p:cNvPr>
          <p:cNvCxnSpPr/>
          <p:nvPr/>
        </p:nvCxnSpPr>
        <p:spPr>
          <a:xfrm>
            <a:off x="4023888" y="4452206"/>
            <a:ext cx="0" cy="297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68699B2-B80C-877F-26DC-4F07D8912B6E}"/>
              </a:ext>
            </a:extLst>
          </p:cNvPr>
          <p:cNvCxnSpPr>
            <a:cxnSpLocks/>
          </p:cNvCxnSpPr>
          <p:nvPr/>
        </p:nvCxnSpPr>
        <p:spPr>
          <a:xfrm flipV="1">
            <a:off x="4023888" y="4862171"/>
            <a:ext cx="0" cy="297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7942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1B9D4-B119-9136-5639-E57E970D0C1A}"/>
              </a:ext>
            </a:extLst>
          </p:cNvPr>
          <p:cNvSpPr>
            <a:spLocks noGrp="1"/>
          </p:cNvSpPr>
          <p:nvPr>
            <p:ph type="title"/>
          </p:nvPr>
        </p:nvSpPr>
        <p:spPr>
          <a:xfrm>
            <a:off x="521207" y="448056"/>
            <a:ext cx="8580263" cy="640080"/>
          </a:xfrm>
        </p:spPr>
        <p:txBody>
          <a:bodyPr>
            <a:noAutofit/>
          </a:bodyPr>
          <a:lstStyle/>
          <a:p>
            <a:r>
              <a:rPr lang="en-US" sz="3600" dirty="0">
                <a:solidFill>
                  <a:srgbClr val="C00000"/>
                </a:solidFill>
              </a:rPr>
              <a:t>Maximum Conductor - Rig Off Center</a:t>
            </a:r>
            <a:endParaRPr lang="en-ID" sz="3600" dirty="0"/>
          </a:p>
        </p:txBody>
      </p:sp>
      <p:sp>
        <p:nvSpPr>
          <p:cNvPr id="6" name="TextBox 5">
            <a:extLst>
              <a:ext uri="{FF2B5EF4-FFF2-40B4-BE49-F238E27FC236}">
                <a16:creationId xmlns:a16="http://schemas.microsoft.com/office/drawing/2014/main" id="{7EF046C0-C78B-8C29-22D8-6CC8E3BCEDFB}"/>
              </a:ext>
            </a:extLst>
          </p:cNvPr>
          <p:cNvSpPr txBox="1"/>
          <p:nvPr/>
        </p:nvSpPr>
        <p:spPr>
          <a:xfrm>
            <a:off x="8202355" y="1490008"/>
            <a:ext cx="3858581"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1">
                    <a:lumMod val="95000"/>
                    <a:lumOff val="5000"/>
                  </a:schemeClr>
                </a:solidFill>
              </a:rPr>
              <a:t>Refer to 30” Conductor ID and 20” Collar OD, </a:t>
            </a:r>
            <a:r>
              <a:rPr lang="en-US" sz="2400" dirty="0">
                <a:solidFill>
                  <a:srgbClr val="C00000"/>
                </a:solidFill>
              </a:rPr>
              <a:t>maximum off center </a:t>
            </a:r>
            <a:r>
              <a:rPr lang="en-US" sz="2400" dirty="0"/>
              <a:t>between Casing Conductor Center and Rig Center &lt; </a:t>
            </a:r>
            <a:r>
              <a:rPr lang="en-US" sz="2400" b="1" dirty="0">
                <a:solidFill>
                  <a:srgbClr val="C00000"/>
                </a:solidFill>
              </a:rPr>
              <a:t>10 Cm</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ID" sz="2400" dirty="0"/>
              <a:t>When running 20” casing, it will push the 20” Casing Center to alignment with Rig Center.</a:t>
            </a:r>
          </a:p>
        </p:txBody>
      </p:sp>
      <p:pic>
        <p:nvPicPr>
          <p:cNvPr id="3" name="Picture 2">
            <a:extLst>
              <a:ext uri="{FF2B5EF4-FFF2-40B4-BE49-F238E27FC236}">
                <a16:creationId xmlns:a16="http://schemas.microsoft.com/office/drawing/2014/main" id="{71901F47-E344-9ADA-D478-62DECF96F45B}"/>
              </a:ext>
            </a:extLst>
          </p:cNvPr>
          <p:cNvPicPr>
            <a:picLocks noChangeAspect="1"/>
          </p:cNvPicPr>
          <p:nvPr/>
        </p:nvPicPr>
        <p:blipFill>
          <a:blip r:embed="rId2"/>
          <a:stretch>
            <a:fillRect/>
          </a:stretch>
        </p:blipFill>
        <p:spPr>
          <a:xfrm>
            <a:off x="290893" y="1334261"/>
            <a:ext cx="7752927" cy="4586535"/>
          </a:xfrm>
          <a:prstGeom prst="rect">
            <a:avLst/>
          </a:prstGeom>
        </p:spPr>
      </p:pic>
    </p:spTree>
    <p:extLst>
      <p:ext uri="{BB962C8B-B14F-4D97-AF65-F5344CB8AC3E}">
        <p14:creationId xmlns:p14="http://schemas.microsoft.com/office/powerpoint/2010/main" val="2183962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8F879-E003-D042-742D-9068F5F7B7E2}"/>
              </a:ext>
            </a:extLst>
          </p:cNvPr>
          <p:cNvSpPr>
            <a:spLocks noGrp="1"/>
          </p:cNvSpPr>
          <p:nvPr>
            <p:ph type="title"/>
          </p:nvPr>
        </p:nvSpPr>
        <p:spPr/>
        <p:txBody>
          <a:bodyPr/>
          <a:lstStyle/>
          <a:p>
            <a:r>
              <a:rPr lang="en-US" sz="2800" dirty="0">
                <a:solidFill>
                  <a:srgbClr val="C00000"/>
                </a:solidFill>
              </a:rPr>
              <a:t>Cellar Off Center and Rig Alignment</a:t>
            </a:r>
            <a:endParaRPr lang="en-ID" dirty="0"/>
          </a:p>
        </p:txBody>
      </p:sp>
      <p:sp>
        <p:nvSpPr>
          <p:cNvPr id="5" name="TextBox 4">
            <a:extLst>
              <a:ext uri="{FF2B5EF4-FFF2-40B4-BE49-F238E27FC236}">
                <a16:creationId xmlns:a16="http://schemas.microsoft.com/office/drawing/2014/main" id="{CEC07A63-FA32-4474-0F7F-93853D690E8E}"/>
              </a:ext>
            </a:extLst>
          </p:cNvPr>
          <p:cNvSpPr txBox="1"/>
          <p:nvPr/>
        </p:nvSpPr>
        <p:spPr>
          <a:xfrm>
            <a:off x="680484" y="1286337"/>
            <a:ext cx="10526232" cy="4989956"/>
          </a:xfrm>
          <a:prstGeom prst="rect">
            <a:avLst/>
          </a:prstGeom>
          <a:noFill/>
        </p:spPr>
        <p:txBody>
          <a:bodyPr wrap="square">
            <a:spAutoFit/>
          </a:bodyPr>
          <a:lstStyle/>
          <a:p>
            <a:pPr marL="0" marR="0" algn="just">
              <a:lnSpc>
                <a:spcPct val="107000"/>
              </a:lnSpc>
              <a:spcBef>
                <a:spcPts val="0"/>
              </a:spcBef>
              <a:spcAft>
                <a:spcPts val="0"/>
              </a:spcAft>
            </a:pP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Off center pipa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konduktor</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ini</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bisa</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dimitigasi</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saat</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pekerjaan</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pemasangan pipa </a:t>
            </a: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konduktor</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a:t>
            </a:r>
            <a:endParaRPr lang="en-ID" sz="24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000" dirty="0" err="1">
                <a:effectLst/>
                <a:latin typeface="Calibri" panose="020F0502020204030204" pitchFamily="34" charset="0"/>
                <a:ea typeface="Calibri" panose="020F0502020204030204" pitchFamily="34" charset="0"/>
                <a:cs typeface="Calibri" panose="020F0502020204030204" pitchFamily="34" charset="0"/>
              </a:rPr>
              <a:t>Jangan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gunakan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titik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semua</a:t>
            </a:r>
            <a:r>
              <a:rPr lang="en-US" sz="2000" dirty="0">
                <a:effectLst/>
                <a:latin typeface="Calibri" panose="020F0502020204030204" pitchFamily="34" charset="0"/>
                <a:ea typeface="Calibri" panose="020F0502020204030204" pitchFamily="34" charset="0"/>
                <a:cs typeface="Calibri" panose="020F0502020204030204" pitchFamily="34" charset="0"/>
              </a:rPr>
              <a:t> cellar </a:t>
            </a:r>
            <a:r>
              <a:rPr lang="en-US" sz="2000" dirty="0" err="1">
                <a:effectLst/>
                <a:latin typeface="Calibri" panose="020F0502020204030204" pitchFamily="34" charset="0"/>
                <a:ea typeface="Calibri" panose="020F0502020204030204" pitchFamily="34" charset="0"/>
                <a:cs typeface="Calibri" panose="020F0502020204030204" pitchFamily="34" charset="0"/>
              </a:rPr>
              <a:t>dari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sistem</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koordinat</a:t>
            </a:r>
            <a:r>
              <a:rPr lang="en-US" sz="2000" dirty="0">
                <a:effectLst/>
                <a:latin typeface="Calibri" panose="020F0502020204030204" pitchFamily="34" charset="0"/>
                <a:ea typeface="Calibri" panose="020F0502020204030204" pitchFamily="34" charset="0"/>
                <a:cs typeface="Calibri" panose="020F0502020204030204" pitchFamily="34" charset="0"/>
              </a:rPr>
              <a:t> yang </a:t>
            </a:r>
            <a:r>
              <a:rPr lang="en-US" sz="2000" dirty="0" err="1">
                <a:effectLst/>
                <a:latin typeface="Calibri" panose="020F0502020204030204" pitchFamily="34" charset="0"/>
                <a:ea typeface="Calibri" panose="020F0502020204030204" pitchFamily="34" charset="0"/>
                <a:cs typeface="Calibri" panose="020F0502020204030204" pitchFamily="34" charset="0"/>
              </a:rPr>
              <a:t>telah</a:t>
            </a:r>
            <a:r>
              <a:rPr lang="en-US" sz="2000" dirty="0">
                <a:effectLst/>
                <a:latin typeface="Calibri" panose="020F0502020204030204" pitchFamily="34" charset="0"/>
                <a:ea typeface="Calibri" panose="020F0502020204030204" pitchFamily="34" charset="0"/>
                <a:cs typeface="Calibri" panose="020F0502020204030204" pitchFamily="34" charset="0"/>
              </a:rPr>
              <a:t> diberikan oleh baik team drilling </a:t>
            </a:r>
            <a:r>
              <a:rPr lang="en-US" sz="2000" dirty="0" err="1">
                <a:effectLst/>
                <a:latin typeface="Calibri" panose="020F0502020204030204" pitchFamily="34" charset="0"/>
                <a:ea typeface="Calibri" panose="020F0502020204030204" pitchFamily="34" charset="0"/>
                <a:cs typeface="Calibri" panose="020F0502020204030204" pitchFamily="34" charset="0"/>
              </a:rPr>
              <a:t>atau</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dari</a:t>
            </a:r>
            <a:r>
              <a:rPr lang="en-US" sz="2000" dirty="0">
                <a:effectLst/>
                <a:latin typeface="Calibri" panose="020F0502020204030204" pitchFamily="34" charset="0"/>
                <a:ea typeface="Calibri" panose="020F0502020204030204" pitchFamily="34" charset="0"/>
                <a:cs typeface="Calibri" panose="020F0502020204030204" pitchFamily="34" charset="0"/>
              </a:rPr>
              <a:t> team Sub-Surface.  </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000" dirty="0" err="1">
                <a:effectLst/>
                <a:latin typeface="Calibri" panose="020F0502020204030204" pitchFamily="34" charset="0"/>
                <a:ea typeface="Calibri" panose="020F0502020204030204" pitchFamily="34" charset="0"/>
                <a:cs typeface="Calibri" panose="020F0502020204030204" pitchFamily="34" charset="0"/>
              </a:rPr>
              <a:t>Titik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koordinat</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hanya</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untuk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menentukan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posisi</a:t>
            </a:r>
            <a:r>
              <a:rPr lang="en-US" sz="2000" dirty="0">
                <a:effectLst/>
                <a:latin typeface="Calibri" panose="020F0502020204030204" pitchFamily="34" charset="0"/>
                <a:ea typeface="Calibri" panose="020F0502020204030204" pitchFamily="34" charset="0"/>
                <a:cs typeface="Calibri" panose="020F0502020204030204" pitchFamily="34" charset="0"/>
              </a:rPr>
              <a:t> 2 cellar paling </a:t>
            </a:r>
            <a:r>
              <a:rPr lang="en-US" sz="2000" dirty="0" err="1">
                <a:effectLst/>
                <a:latin typeface="Calibri" panose="020F0502020204030204" pitchFamily="34" charset="0"/>
                <a:ea typeface="Calibri" panose="020F0502020204030204" pitchFamily="34" charset="0"/>
                <a:cs typeface="Calibri" panose="020F0502020204030204" pitchFamily="34" charset="0"/>
              </a:rPr>
              <a:t>ujung</a:t>
            </a:r>
            <a:r>
              <a:rPr lang="en-US" sz="2000" dirty="0">
                <a:effectLst/>
                <a:latin typeface="Calibri" panose="020F0502020204030204" pitchFamily="34" charset="0"/>
                <a:ea typeface="Calibri" panose="020F0502020204030204" pitchFamily="34" charset="0"/>
                <a:cs typeface="Calibri" panose="020F0502020204030204" pitchFamily="34" charset="0"/>
              </a:rPr>
              <a:t>. </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Calibri" panose="020F0502020204030204" pitchFamily="34" charset="0"/>
              </a:rPr>
              <a:t>Kemudian </a:t>
            </a:r>
            <a:r>
              <a:rPr lang="en-US" sz="2000" dirty="0" err="1">
                <a:effectLst/>
                <a:latin typeface="Calibri" panose="020F0502020204030204" pitchFamily="34" charset="0"/>
                <a:ea typeface="Calibri" panose="020F0502020204030204" pitchFamily="34" charset="0"/>
                <a:cs typeface="Calibri" panose="020F0502020204030204" pitchFamily="34" charset="0"/>
              </a:rPr>
              <a:t>untuk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menentukan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posisi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beberapa</a:t>
            </a:r>
            <a:r>
              <a:rPr lang="en-US" sz="2000" dirty="0">
                <a:effectLst/>
                <a:latin typeface="Calibri" panose="020F0502020204030204" pitchFamily="34" charset="0"/>
                <a:ea typeface="Calibri" panose="020F0502020204030204" pitchFamily="34" charset="0"/>
                <a:cs typeface="Calibri" panose="020F0502020204030204" pitchFamily="34" charset="0"/>
              </a:rPr>
              <a:t> cellar yang </a:t>
            </a:r>
            <a:r>
              <a:rPr lang="en-US" sz="2000" dirty="0" err="1">
                <a:effectLst/>
                <a:latin typeface="Calibri" panose="020F0502020204030204" pitchFamily="34" charset="0"/>
                <a:ea typeface="Calibri" panose="020F0502020204030204" pitchFamily="34" charset="0"/>
                <a:cs typeface="Calibri" panose="020F0502020204030204" pitchFamily="34" charset="0"/>
              </a:rPr>
              <a:t>ditengah</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dengan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menarik</a:t>
            </a:r>
            <a:r>
              <a:rPr lang="en-US" sz="2000" dirty="0">
                <a:effectLst/>
                <a:latin typeface="Calibri" panose="020F0502020204030204" pitchFamily="34" charset="0"/>
                <a:ea typeface="Calibri" panose="020F0502020204030204" pitchFamily="34" charset="0"/>
                <a:cs typeface="Calibri" panose="020F0502020204030204" pitchFamily="34" charset="0"/>
              </a:rPr>
              <a:t> garis </a:t>
            </a:r>
            <a:r>
              <a:rPr lang="en-US" sz="2000" dirty="0" err="1">
                <a:effectLst/>
                <a:latin typeface="Calibri" panose="020F0502020204030204" pitchFamily="34" charset="0"/>
                <a:ea typeface="Calibri" panose="020F0502020204030204" pitchFamily="34" charset="0"/>
                <a:cs typeface="Calibri" panose="020F0502020204030204" pitchFamily="34" charset="0"/>
              </a:rPr>
              <a:t>lurus</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dari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titik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tangah</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dari</a:t>
            </a:r>
            <a:r>
              <a:rPr lang="en-US" sz="2000" dirty="0">
                <a:effectLst/>
                <a:latin typeface="Calibri" panose="020F0502020204030204" pitchFamily="34" charset="0"/>
                <a:ea typeface="Calibri" panose="020F0502020204030204" pitchFamily="34" charset="0"/>
                <a:cs typeface="Calibri" panose="020F0502020204030204" pitchFamily="34" charset="0"/>
              </a:rPr>
              <a:t> 2 cellar paling </a:t>
            </a:r>
            <a:r>
              <a:rPr lang="en-US" sz="2000" dirty="0" err="1">
                <a:effectLst/>
                <a:latin typeface="Calibri" panose="020F0502020204030204" pitchFamily="34" charset="0"/>
                <a:ea typeface="Calibri" panose="020F0502020204030204" pitchFamily="34" charset="0"/>
                <a:cs typeface="Calibri" panose="020F0502020204030204" pitchFamily="34" charset="0"/>
              </a:rPr>
              <a:t>ujung</a:t>
            </a:r>
            <a:r>
              <a:rPr lang="en-US" sz="2000" dirty="0">
                <a:effectLst/>
                <a:latin typeface="Calibri" panose="020F0502020204030204" pitchFamily="34" charset="0"/>
                <a:ea typeface="Calibri" panose="020F0502020204030204" pitchFamily="34" charset="0"/>
                <a:cs typeface="Calibri" panose="020F0502020204030204" pitchFamily="34" charset="0"/>
              </a:rPr>
              <a:t>. </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Calibri" panose="020F0502020204030204" pitchFamily="34" charset="0"/>
              </a:rPr>
              <a:t>Kemudian </a:t>
            </a:r>
            <a:r>
              <a:rPr lang="en-US" sz="2000" dirty="0" err="1">
                <a:effectLst/>
                <a:latin typeface="Calibri" panose="020F0502020204030204" pitchFamily="34" charset="0"/>
                <a:ea typeface="Calibri" panose="020F0502020204030204" pitchFamily="34" charset="0"/>
                <a:cs typeface="Calibri" panose="020F0502020204030204" pitchFamily="34" charset="0"/>
              </a:rPr>
              <a:t>titik-titik</a:t>
            </a:r>
            <a:r>
              <a:rPr lang="en-US" sz="2000" dirty="0">
                <a:effectLst/>
                <a:latin typeface="Calibri" panose="020F0502020204030204" pitchFamily="34" charset="0"/>
                <a:ea typeface="Calibri" panose="020F0502020204030204" pitchFamily="34" charset="0"/>
                <a:cs typeface="Calibri" panose="020F0502020204030204" pitchFamily="34" charset="0"/>
              </a:rPr>
              <a:t> cellar </a:t>
            </a:r>
            <a:r>
              <a:rPr lang="en-US" sz="2000" dirty="0" err="1">
                <a:effectLst/>
                <a:latin typeface="Calibri" panose="020F0502020204030204" pitchFamily="34" charset="0"/>
                <a:ea typeface="Calibri" panose="020F0502020204030204" pitchFamily="34" charset="0"/>
                <a:cs typeface="Calibri" panose="020F0502020204030204" pitchFamily="34" charset="0"/>
              </a:rPr>
              <a:t>bagian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tengah</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ditentukan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dari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jarak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antar</a:t>
            </a:r>
            <a:r>
              <a:rPr lang="en-US" sz="2000" dirty="0">
                <a:effectLst/>
                <a:latin typeface="Calibri" panose="020F0502020204030204" pitchFamily="34" charset="0"/>
                <a:ea typeface="Calibri" panose="020F0502020204030204" pitchFamily="34" charset="0"/>
                <a:cs typeface="Calibri" panose="020F0502020204030204" pitchFamily="34" charset="0"/>
              </a:rPr>
              <a:t> cellar. </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Calibri" panose="020F0502020204030204" pitchFamily="34" charset="0"/>
              </a:rPr>
              <a:t>Setelah </a:t>
            </a:r>
            <a:r>
              <a:rPr lang="en-US" sz="2000" dirty="0" err="1">
                <a:effectLst/>
                <a:latin typeface="Calibri" panose="020F0502020204030204" pitchFamily="34" charset="0"/>
                <a:ea typeface="Calibri" panose="020F0502020204030204" pitchFamily="34" charset="0"/>
                <a:cs typeface="Calibri" panose="020F0502020204030204" pitchFamily="34" charset="0"/>
              </a:rPr>
              <a:t>semua</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konduktor</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terpasang</a:t>
            </a:r>
            <a:r>
              <a:rPr lang="en-US" sz="2000" dirty="0">
                <a:effectLst/>
                <a:latin typeface="Calibri" panose="020F0502020204030204" pitchFamily="34" charset="0"/>
                <a:ea typeface="Calibri" panose="020F0502020204030204" pitchFamily="34" charset="0"/>
                <a:cs typeface="Calibri" panose="020F0502020204030204" pitchFamily="34" charset="0"/>
              </a:rPr>
              <a:t>, lakukan GPS </a:t>
            </a:r>
            <a:r>
              <a:rPr lang="en-US" sz="2000" dirty="0" err="1">
                <a:effectLst/>
                <a:latin typeface="Calibri" panose="020F0502020204030204" pitchFamily="34" charset="0"/>
                <a:ea typeface="Calibri" panose="020F0502020204030204" pitchFamily="34" charset="0"/>
                <a:cs typeface="Calibri" panose="020F0502020204030204" pitchFamily="34" charset="0"/>
              </a:rPr>
              <a:t>ulang</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untuk</a:t>
            </a:r>
            <a:r>
              <a:rPr lang="en-US" sz="2000" dirty="0">
                <a:effectLst/>
                <a:latin typeface="Calibri" panose="020F0502020204030204" pitchFamily="34" charset="0"/>
                <a:ea typeface="Calibri" panose="020F0502020204030204" pitchFamily="34" charset="0"/>
                <a:cs typeface="Calibri" panose="020F0502020204030204" pitchFamily="34" charset="0"/>
              </a:rPr>
              <a:t> memberikan definitive </a:t>
            </a:r>
            <a:r>
              <a:rPr lang="en-US" sz="2000" dirty="0" err="1">
                <a:effectLst/>
                <a:latin typeface="Calibri" panose="020F0502020204030204" pitchFamily="34" charset="0"/>
                <a:ea typeface="Calibri" panose="020F0502020204030204" pitchFamily="34" charset="0"/>
                <a:cs typeface="Calibri" panose="020F0502020204030204" pitchFamily="34" charset="0"/>
              </a:rPr>
              <a:t>koordinat</a:t>
            </a:r>
            <a:r>
              <a:rPr lang="en-US" sz="2000" dirty="0">
                <a:effectLst/>
                <a:latin typeface="Calibri" panose="020F0502020204030204" pitchFamily="34" charset="0"/>
                <a:ea typeface="Calibri" panose="020F0502020204030204" pitchFamily="34" charset="0"/>
                <a:cs typeface="Calibri" panose="020F0502020204030204" pitchFamily="34" charset="0"/>
              </a:rPr>
              <a:t> masing-masing cellar/</a:t>
            </a:r>
            <a:r>
              <a:rPr lang="en-US" sz="2000" dirty="0" err="1">
                <a:effectLst/>
                <a:latin typeface="Calibri" panose="020F0502020204030204" pitchFamily="34" charset="0"/>
                <a:ea typeface="Calibri" panose="020F0502020204030204" pitchFamily="34" charset="0"/>
                <a:cs typeface="Calibri" panose="020F0502020204030204" pitchFamily="34" charset="0"/>
              </a:rPr>
              <a:t>sumur</a:t>
            </a:r>
            <a:r>
              <a:rPr lang="en-US" sz="2000" dirty="0">
                <a:effectLst/>
                <a:latin typeface="Calibri" panose="020F0502020204030204" pitchFamily="34" charset="0"/>
                <a:ea typeface="Calibri" panose="020F0502020204030204" pitchFamily="34" charset="0"/>
                <a:cs typeface="Calibri" panose="020F0502020204030204" pitchFamily="34" charset="0"/>
              </a:rPr>
              <a:t>. Definitive </a:t>
            </a:r>
            <a:r>
              <a:rPr lang="en-US" sz="2000" dirty="0" err="1">
                <a:effectLst/>
                <a:latin typeface="Calibri" panose="020F0502020204030204" pitchFamily="34" charset="0"/>
                <a:ea typeface="Calibri" panose="020F0502020204030204" pitchFamily="34" charset="0"/>
                <a:cs typeface="Calibri" panose="020F0502020204030204" pitchFamily="34" charset="0"/>
              </a:rPr>
              <a:t>Koordinat</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ini</a:t>
            </a:r>
            <a:r>
              <a:rPr lang="en-US" sz="2000" dirty="0">
                <a:effectLst/>
                <a:latin typeface="Calibri" panose="020F0502020204030204" pitchFamily="34" charset="0"/>
                <a:ea typeface="Calibri" panose="020F0502020204030204" pitchFamily="34" charset="0"/>
                <a:cs typeface="Calibri" panose="020F0502020204030204" pitchFamily="34" charset="0"/>
              </a:rPr>
              <a:t> yang </a:t>
            </a:r>
            <a:r>
              <a:rPr lang="en-US" sz="2000" dirty="0" err="1">
                <a:effectLst/>
                <a:latin typeface="Calibri" panose="020F0502020204030204" pitchFamily="34" charset="0"/>
                <a:ea typeface="Calibri" panose="020F0502020204030204" pitchFamily="34" charset="0"/>
                <a:cs typeface="Calibri" panose="020F0502020204030204" pitchFamily="34" charset="0"/>
              </a:rPr>
              <a:t>akan</a:t>
            </a:r>
            <a:r>
              <a:rPr lang="en-US" sz="2000" dirty="0">
                <a:effectLst/>
                <a:latin typeface="Calibri" panose="020F0502020204030204" pitchFamily="34" charset="0"/>
                <a:ea typeface="Calibri" panose="020F0502020204030204" pitchFamily="34" charset="0"/>
                <a:cs typeface="Calibri" panose="020F0502020204030204" pitchFamily="34" charset="0"/>
              </a:rPr>
              <a:t> dipakai oleh team drilling dan Sub-Surface </a:t>
            </a:r>
            <a:r>
              <a:rPr lang="en-US" sz="2000" dirty="0" err="1">
                <a:effectLst/>
                <a:latin typeface="Calibri" panose="020F0502020204030204" pitchFamily="34" charset="0"/>
                <a:ea typeface="Calibri" panose="020F0502020204030204" pitchFamily="34" charset="0"/>
                <a:cs typeface="Calibri" panose="020F0502020204030204" pitchFamily="34" charset="0"/>
              </a:rPr>
              <a:t>dalam</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perencanaan</a:t>
            </a:r>
            <a:r>
              <a:rPr lang="en-US" sz="2000" dirty="0">
                <a:effectLst/>
                <a:latin typeface="Calibri" panose="020F0502020204030204" pitchFamily="34" charset="0"/>
                <a:ea typeface="Calibri" panose="020F0502020204030204" pitchFamily="34" charset="0"/>
                <a:cs typeface="Calibri" panose="020F0502020204030204" pitchFamily="34" charset="0"/>
              </a:rPr>
              <a:t> dan drilling program.</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536272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Pre-Welded 2 Joints of 30” Conductors</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21207" y="1214404"/>
            <a:ext cx="4112882" cy="5363817"/>
          </a:xfrm>
          <a:prstGeom prst="rect">
            <a:avLst/>
          </a:prstGeom>
        </p:spPr>
      </p:pic>
      <p:pic>
        <p:nvPicPr>
          <p:cNvPr id="5" name="Picture 4"/>
          <p:cNvPicPr>
            <a:picLocks noChangeAspect="1"/>
          </p:cNvPicPr>
          <p:nvPr/>
        </p:nvPicPr>
        <p:blipFill>
          <a:blip r:embed="rId3"/>
          <a:stretch>
            <a:fillRect/>
          </a:stretch>
        </p:blipFill>
        <p:spPr>
          <a:xfrm>
            <a:off x="4775303" y="4963879"/>
            <a:ext cx="3317819" cy="1614342"/>
          </a:xfrm>
          <a:prstGeom prst="rect">
            <a:avLst/>
          </a:prstGeom>
        </p:spPr>
      </p:pic>
      <p:pic>
        <p:nvPicPr>
          <p:cNvPr id="3" name="Picture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775303" y="1291159"/>
            <a:ext cx="6838858" cy="3672720"/>
          </a:xfrm>
          <a:prstGeom prst="rect">
            <a:avLst/>
          </a:prstGeom>
        </p:spPr>
      </p:pic>
      <p:sp>
        <p:nvSpPr>
          <p:cNvPr id="6" name="TextBox 5"/>
          <p:cNvSpPr txBox="1"/>
          <p:nvPr/>
        </p:nvSpPr>
        <p:spPr>
          <a:xfrm>
            <a:off x="8093122" y="5071366"/>
            <a:ext cx="3753135"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Do not use Rig to install 30” Conductor </a:t>
            </a:r>
            <a:r>
              <a:rPr lang="en-US" sz="2400" dirty="0">
                <a:solidFill>
                  <a:srgbClr val="FF0000"/>
                </a:solidFill>
              </a:rPr>
              <a:t>if hard surface formation</a:t>
            </a:r>
          </a:p>
        </p:txBody>
      </p:sp>
    </p:spTree>
    <p:extLst>
      <p:ext uri="{BB962C8B-B14F-4D97-AF65-F5344CB8AC3E}">
        <p14:creationId xmlns:p14="http://schemas.microsoft.com/office/powerpoint/2010/main" val="10146237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Persiapan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Umum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Sebelum</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Dimulainya</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11" name="Rectangle 10">
            <a:extLst>
              <a:ext uri="{FF2B5EF4-FFF2-40B4-BE49-F238E27FC236}">
                <a16:creationId xmlns:a16="http://schemas.microsoft.com/office/drawing/2014/main" id="{0A378644-540E-962B-692D-FB65E974E4F7}"/>
              </a:ext>
            </a:extLst>
          </p:cNvPr>
          <p:cNvSpPr/>
          <p:nvPr/>
        </p:nvSpPr>
        <p:spPr>
          <a:xfrm>
            <a:off x="2551813" y="1587615"/>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a:latin typeface="Cavolini" panose="03000502040302020204" pitchFamily="66" charset="0"/>
                <a:cs typeface="Cavolini" panose="03000502040302020204" pitchFamily="66" charset="0"/>
              </a:rPr>
              <a:t>Persiapan </a:t>
            </a:r>
            <a:r>
              <a:rPr lang="en-US" altLang="en-US" sz="2400" b="1" dirty="0" err="1">
                <a:latin typeface="Cavolini" panose="03000502040302020204" pitchFamily="66" charset="0"/>
                <a:cs typeface="Cavolini" panose="03000502040302020204" pitchFamily="66" charset="0"/>
              </a:rPr>
              <a:t>Suplai</a:t>
            </a:r>
            <a:r>
              <a:rPr lang="en-US" altLang="en-US" sz="2400" b="1" dirty="0">
                <a:latin typeface="Cavolini" panose="03000502040302020204" pitchFamily="66" charset="0"/>
                <a:cs typeface="Cavolini" panose="03000502040302020204" pitchFamily="66" charset="0"/>
              </a:rPr>
              <a:t> Air (Water) Untuk </a:t>
            </a:r>
            <a:r>
              <a:rPr lang="en-US" altLang="en-US" sz="2400" b="1" dirty="0" err="1">
                <a:latin typeface="Cavolini" panose="03000502040302020204" pitchFamily="66" charset="0"/>
                <a:cs typeface="Cavolini" panose="03000502040302020204" pitchFamily="66" charset="0"/>
              </a:rPr>
              <a:t>Pengeboran</a:t>
            </a:r>
            <a:endParaRPr lang="en-ID" sz="2400" b="1" dirty="0">
              <a:latin typeface="Cavolini" panose="03000502040302020204" pitchFamily="66" charset="0"/>
              <a:cs typeface="Cavolini" panose="03000502040302020204" pitchFamily="66" charset="0"/>
            </a:endParaRPr>
          </a:p>
        </p:txBody>
      </p:sp>
      <p:sp>
        <p:nvSpPr>
          <p:cNvPr id="12" name="Rectangle 11">
            <a:extLst>
              <a:ext uri="{FF2B5EF4-FFF2-40B4-BE49-F238E27FC236}">
                <a16:creationId xmlns:a16="http://schemas.microsoft.com/office/drawing/2014/main" id="{75E85C1B-72DA-6786-B82D-FD52ABFF8D39}"/>
              </a:ext>
            </a:extLst>
          </p:cNvPr>
          <p:cNvSpPr/>
          <p:nvPr/>
        </p:nvSpPr>
        <p:spPr>
          <a:xfrm>
            <a:off x="1418757" y="1554239"/>
            <a:ext cx="891363" cy="765544"/>
          </a:xfrm>
          <a:prstGeom prst="rect">
            <a:avLst/>
          </a:prstGeom>
          <a:solidFill>
            <a:schemeClr val="accent4">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TextBox 3">
            <a:extLst>
              <a:ext uri="{FF2B5EF4-FFF2-40B4-BE49-F238E27FC236}">
                <a16:creationId xmlns:a16="http://schemas.microsoft.com/office/drawing/2014/main" id="{63F55B2E-AB07-E47C-58C7-EAA4D5FD1D65}"/>
              </a:ext>
            </a:extLst>
          </p:cNvPr>
          <p:cNvSpPr txBox="1"/>
          <p:nvPr/>
        </p:nvSpPr>
        <p:spPr>
          <a:xfrm>
            <a:off x="2636874" y="2550473"/>
            <a:ext cx="4884671" cy="1432508"/>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Water Pipe Line</a:t>
            </a:r>
          </a:p>
          <a:p>
            <a:pPr marL="285750" indent="-285750">
              <a:lnSpc>
                <a:spcPct val="150000"/>
              </a:lnSpc>
              <a:buFont typeface="Arial" panose="020B0604020202020204" pitchFamily="34" charset="0"/>
              <a:buChar char="•"/>
            </a:pPr>
            <a:r>
              <a:rPr lang="en-US"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Steel Pipe and HDPE Water line</a:t>
            </a:r>
          </a:p>
          <a:p>
            <a:pPr marL="285750" indent="-285750">
              <a:lnSpc>
                <a:spcPct val="150000"/>
              </a:lnSpc>
              <a:buFont typeface="Arial" panose="020B0604020202020204" pitchFamily="34" charset="0"/>
              <a:buChar char="•"/>
            </a:pPr>
            <a:endParaRPr lang="en-ID"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endParaRPr>
          </a:p>
        </p:txBody>
      </p:sp>
    </p:spTree>
    <p:extLst>
      <p:ext uri="{BB962C8B-B14F-4D97-AF65-F5344CB8AC3E}">
        <p14:creationId xmlns:p14="http://schemas.microsoft.com/office/powerpoint/2010/main" val="39264772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464024"/>
            <a:ext cx="8229600" cy="678976"/>
          </a:xfrm>
        </p:spPr>
        <p:txBody>
          <a:bodyPr>
            <a:normAutofit/>
          </a:bodyPr>
          <a:lstStyle/>
          <a:p>
            <a:r>
              <a:rPr lang="en-US" sz="3200" b="1" dirty="0">
                <a:solidFill>
                  <a:schemeClr val="accent2">
                    <a:lumMod val="75000"/>
                  </a:schemeClr>
                </a:solidFill>
              </a:rPr>
              <a:t>WATER SUPPLY – 1300 GPM</a:t>
            </a:r>
          </a:p>
        </p:txBody>
      </p:sp>
      <p:pic>
        <p:nvPicPr>
          <p:cNvPr id="3" name="Picture 2"/>
          <p:cNvPicPr>
            <a:picLocks noChangeAspect="1"/>
          </p:cNvPicPr>
          <p:nvPr/>
        </p:nvPicPr>
        <p:blipFill>
          <a:blip r:embed="rId2"/>
          <a:stretch>
            <a:fillRect/>
          </a:stretch>
        </p:blipFill>
        <p:spPr>
          <a:xfrm>
            <a:off x="2057400" y="1415955"/>
            <a:ext cx="7620000" cy="4949391"/>
          </a:xfrm>
          <a:prstGeom prst="rect">
            <a:avLst/>
          </a:prstGeom>
        </p:spPr>
      </p:pic>
    </p:spTree>
    <p:extLst>
      <p:ext uri="{BB962C8B-B14F-4D97-AF65-F5344CB8AC3E}">
        <p14:creationId xmlns:p14="http://schemas.microsoft.com/office/powerpoint/2010/main" val="37718672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2">
                    <a:lumMod val="75000"/>
                  </a:schemeClr>
                </a:solidFill>
              </a:rPr>
              <a:t>Water Supply</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752600" y="1752600"/>
            <a:ext cx="8609169"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48680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910" y="504967"/>
            <a:ext cx="9741090" cy="556146"/>
          </a:xfrm>
        </p:spPr>
        <p:txBody>
          <a:bodyPr>
            <a:noAutofit/>
          </a:bodyPr>
          <a:lstStyle/>
          <a:p>
            <a:r>
              <a:rPr lang="en-US" sz="3600" b="1" dirty="0">
                <a:solidFill>
                  <a:schemeClr val="accent2">
                    <a:lumMod val="75000"/>
                  </a:schemeClr>
                </a:solidFill>
              </a:rPr>
              <a:t>WATER SUPPLY – 1300 GPM</a:t>
            </a:r>
          </a:p>
        </p:txBody>
      </p:sp>
      <p:sp>
        <p:nvSpPr>
          <p:cNvPr id="4" name="TextBox 3"/>
          <p:cNvSpPr txBox="1"/>
          <p:nvPr/>
        </p:nvSpPr>
        <p:spPr>
          <a:xfrm>
            <a:off x="545910" y="1202525"/>
            <a:ext cx="6373505" cy="5262979"/>
          </a:xfrm>
          <a:prstGeom prst="rect">
            <a:avLst/>
          </a:prstGeom>
          <a:noFill/>
        </p:spPr>
        <p:txBody>
          <a:bodyPr wrap="square" rtlCol="0">
            <a:spAutoFit/>
          </a:bodyPr>
          <a:lstStyle/>
          <a:p>
            <a:pPr marL="285750" indent="-285750">
              <a:buFont typeface="Arial" panose="020B0604020202020204" pitchFamily="34" charset="0"/>
              <a:buChar char="•"/>
            </a:pPr>
            <a:r>
              <a:rPr lang="en-US" sz="2400" b="1" dirty="0">
                <a:solidFill>
                  <a:srgbClr val="006600"/>
                </a:solidFill>
              </a:rPr>
              <a:t>Water Sources:</a:t>
            </a:r>
          </a:p>
          <a:p>
            <a:pPr marL="742950" lvl="1" indent="-285750">
              <a:buFont typeface="Arial" panose="020B0604020202020204" pitchFamily="34" charset="0"/>
              <a:buChar char="•"/>
            </a:pPr>
            <a:r>
              <a:rPr lang="en-US" sz="2400" b="1" dirty="0">
                <a:solidFill>
                  <a:srgbClr val="006600"/>
                </a:solidFill>
              </a:rPr>
              <a:t>Water pH?</a:t>
            </a:r>
          </a:p>
          <a:p>
            <a:pPr marL="742950" lvl="1" indent="-285750">
              <a:buFont typeface="Arial" panose="020B0604020202020204" pitchFamily="34" charset="0"/>
              <a:buChar char="•"/>
            </a:pPr>
            <a:r>
              <a:rPr lang="en-US" sz="2400" b="1" dirty="0">
                <a:solidFill>
                  <a:srgbClr val="006600"/>
                </a:solidFill>
              </a:rPr>
              <a:t>Water Flow rate.</a:t>
            </a:r>
          </a:p>
          <a:p>
            <a:pPr marL="742950" lvl="1" indent="-285750">
              <a:buFont typeface="Arial" panose="020B0604020202020204" pitchFamily="34" charset="0"/>
              <a:buChar char="•"/>
            </a:pPr>
            <a:r>
              <a:rPr lang="en-US" sz="2400" b="1" dirty="0">
                <a:solidFill>
                  <a:srgbClr val="006600"/>
                </a:solidFill>
              </a:rPr>
              <a:t>Distance and elevation</a:t>
            </a:r>
          </a:p>
          <a:p>
            <a:pPr marL="742950" lvl="1" indent="-285750">
              <a:buFont typeface="Arial" panose="020B0604020202020204" pitchFamily="34" charset="0"/>
              <a:buChar char="•"/>
            </a:pPr>
            <a:r>
              <a:rPr lang="en-US" sz="2400" b="1" dirty="0">
                <a:solidFill>
                  <a:srgbClr val="006600"/>
                </a:solidFill>
              </a:rPr>
              <a:t>Community issue</a:t>
            </a:r>
          </a:p>
          <a:p>
            <a:pPr marL="285750" indent="-285750">
              <a:buFont typeface="Arial" panose="020B0604020202020204" pitchFamily="34" charset="0"/>
              <a:buChar char="•"/>
            </a:pPr>
            <a:endParaRPr lang="en-US" sz="2400" b="1" dirty="0">
              <a:solidFill>
                <a:srgbClr val="006600"/>
              </a:solidFill>
            </a:endParaRPr>
          </a:p>
          <a:p>
            <a:pPr marL="285750" indent="-285750">
              <a:buFont typeface="Arial" panose="020B0604020202020204" pitchFamily="34" charset="0"/>
              <a:buChar char="•"/>
            </a:pPr>
            <a:r>
              <a:rPr lang="en-US" sz="2400" b="1" dirty="0">
                <a:solidFill>
                  <a:srgbClr val="006600"/>
                </a:solidFill>
              </a:rPr>
              <a:t>Pipe Line Sizes:</a:t>
            </a:r>
          </a:p>
          <a:p>
            <a:pPr marL="742950" lvl="1" indent="-285750">
              <a:buFont typeface="Arial" panose="020B0604020202020204" pitchFamily="34" charset="0"/>
              <a:buChar char="•"/>
            </a:pPr>
            <a:r>
              <a:rPr lang="en-US" sz="2400" b="1" dirty="0">
                <a:solidFill>
                  <a:srgbClr val="006600"/>
                </a:solidFill>
                <a:sym typeface="Wingdings" panose="05000000000000000000" pitchFamily="2" charset="2"/>
              </a:rPr>
              <a:t>2 lines of 8”ODx6”ID HDPE pipe OR</a:t>
            </a:r>
          </a:p>
          <a:p>
            <a:pPr marL="742950" lvl="1" indent="-285750">
              <a:buFont typeface="Arial" panose="020B0604020202020204" pitchFamily="34" charset="0"/>
              <a:buChar char="•"/>
            </a:pPr>
            <a:r>
              <a:rPr lang="en-US" sz="2400" b="1" dirty="0">
                <a:solidFill>
                  <a:srgbClr val="006600"/>
                </a:solidFill>
              </a:rPr>
              <a:t>2 line of steel pipe</a:t>
            </a:r>
          </a:p>
          <a:p>
            <a:pPr marL="742950" lvl="1" indent="-285750">
              <a:buFont typeface="Arial" panose="020B0604020202020204" pitchFamily="34" charset="0"/>
              <a:buChar char="•"/>
            </a:pPr>
            <a:endParaRPr lang="en-US" sz="2400" b="1" dirty="0">
              <a:solidFill>
                <a:srgbClr val="006600"/>
              </a:solidFill>
            </a:endParaRPr>
          </a:p>
          <a:p>
            <a:pPr marL="285750" indent="-285750">
              <a:buFont typeface="Arial" panose="020B0604020202020204" pitchFamily="34" charset="0"/>
              <a:buChar char="•"/>
            </a:pPr>
            <a:r>
              <a:rPr lang="en-US" sz="2400" b="1" dirty="0">
                <a:solidFill>
                  <a:srgbClr val="006600"/>
                </a:solidFill>
              </a:rPr>
              <a:t>Water Pond Storage</a:t>
            </a:r>
          </a:p>
          <a:p>
            <a:pPr marL="742950" lvl="1" indent="-285750">
              <a:buFont typeface="Arial" panose="020B0604020202020204" pitchFamily="34" charset="0"/>
              <a:buChar char="•"/>
            </a:pPr>
            <a:r>
              <a:rPr lang="en-US" sz="2400" b="1" dirty="0">
                <a:solidFill>
                  <a:srgbClr val="006600"/>
                </a:solidFill>
              </a:rPr>
              <a:t>8000 – 10000 m3</a:t>
            </a:r>
          </a:p>
          <a:p>
            <a:pPr marL="742950" lvl="1" indent="-285750">
              <a:buFont typeface="Arial" panose="020B0604020202020204" pitchFamily="34" charset="0"/>
              <a:buChar char="•"/>
            </a:pPr>
            <a:r>
              <a:rPr lang="en-US" sz="2400" b="1" dirty="0">
                <a:solidFill>
                  <a:srgbClr val="006600"/>
                </a:solidFill>
              </a:rPr>
              <a:t>If no water source </a:t>
            </a:r>
            <a:r>
              <a:rPr lang="en-US" sz="2400" b="1" dirty="0">
                <a:solidFill>
                  <a:srgbClr val="006600"/>
                </a:solidFill>
                <a:sym typeface="Wingdings" panose="05000000000000000000" pitchFamily="2" charset="2"/>
              </a:rPr>
              <a:t> bigger water pons  up 100.000 m3</a:t>
            </a:r>
            <a:endParaRPr lang="en-US" sz="2400" b="1" dirty="0">
              <a:solidFill>
                <a:srgbClr val="006600"/>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13347" y="3234519"/>
            <a:ext cx="5578653" cy="3623481"/>
          </a:xfrm>
          <a:prstGeom prst="rect">
            <a:avLst/>
          </a:prstGeom>
        </p:spPr>
      </p:pic>
      <p:pic>
        <p:nvPicPr>
          <p:cNvPr id="5" name="Picture 4"/>
          <p:cNvPicPr>
            <a:picLocks noChangeAspect="1"/>
          </p:cNvPicPr>
          <p:nvPr/>
        </p:nvPicPr>
        <p:blipFill>
          <a:blip r:embed="rId3"/>
          <a:stretch>
            <a:fillRect/>
          </a:stretch>
        </p:blipFill>
        <p:spPr>
          <a:xfrm>
            <a:off x="8744163" y="1346985"/>
            <a:ext cx="2747252" cy="1828171"/>
          </a:xfrm>
          <a:prstGeom prst="rect">
            <a:avLst/>
          </a:prstGeom>
        </p:spPr>
      </p:pic>
      <p:pic>
        <p:nvPicPr>
          <p:cNvPr id="7" name="Picture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0272" y="1320489"/>
            <a:ext cx="3238286" cy="1842927"/>
          </a:xfrm>
          <a:prstGeom prst="rect">
            <a:avLst/>
          </a:prstGeom>
        </p:spPr>
      </p:pic>
    </p:spTree>
    <p:extLst>
      <p:ext uri="{BB962C8B-B14F-4D97-AF65-F5344CB8AC3E}">
        <p14:creationId xmlns:p14="http://schemas.microsoft.com/office/powerpoint/2010/main" val="25611614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a:xfrm>
            <a:off x="575480" y="324643"/>
            <a:ext cx="8229600" cy="649288"/>
          </a:xfrm>
        </p:spPr>
        <p:txBody>
          <a:bodyPr>
            <a:normAutofit/>
          </a:bodyPr>
          <a:lstStyle/>
          <a:p>
            <a:r>
              <a:rPr lang="en-US" altLang="en-US" sz="3600" b="1" dirty="0">
                <a:solidFill>
                  <a:srgbClr val="C00000"/>
                </a:solidFill>
              </a:rPr>
              <a:t>WATER SUPPLY – 1400 GPM</a:t>
            </a:r>
          </a:p>
        </p:txBody>
      </p:sp>
      <p:pic>
        <p:nvPicPr>
          <p:cNvPr id="96259" name="Picture 6" descr="Related image"/>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433962" y="1951630"/>
            <a:ext cx="1758038" cy="175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flipH="1">
            <a:off x="401945" y="1253302"/>
            <a:ext cx="10918209" cy="2862322"/>
          </a:xfrm>
          <a:prstGeom prst="rect">
            <a:avLst/>
          </a:prstGeom>
          <a:noFill/>
        </p:spPr>
        <p:txBody>
          <a:bodyPr wrap="square">
            <a:spAutoFit/>
          </a:bodyPr>
          <a:lstStyle/>
          <a:p>
            <a:pPr>
              <a:defRPr/>
            </a:pPr>
            <a:r>
              <a:rPr lang="en-US" sz="2000" b="1" dirty="0">
                <a:solidFill>
                  <a:schemeClr val="accent6">
                    <a:lumMod val="50000"/>
                  </a:schemeClr>
                </a:solidFill>
              </a:rPr>
              <a:t>WATER PIPE LINE: Use Galvanize or Steel Pipe Line instead of HDPE:</a:t>
            </a:r>
          </a:p>
          <a:p>
            <a:pPr marL="342900" indent="-342900">
              <a:buFont typeface="Arial" panose="020B0604020202020204" pitchFamily="34" charset="0"/>
              <a:buChar char="•"/>
              <a:defRPr/>
            </a:pPr>
            <a:r>
              <a:rPr lang="en-US" sz="2000" dirty="0">
                <a:solidFill>
                  <a:schemeClr val="accent6">
                    <a:lumMod val="50000"/>
                  </a:schemeClr>
                </a:solidFill>
              </a:rPr>
              <a:t>Less pressure drop due to friction</a:t>
            </a:r>
          </a:p>
          <a:p>
            <a:pPr marL="342900" indent="-342900">
              <a:buFont typeface="Arial" panose="020B0604020202020204" pitchFamily="34" charset="0"/>
              <a:buChar char="•"/>
              <a:defRPr/>
            </a:pPr>
            <a:r>
              <a:rPr lang="en-US" sz="2000" dirty="0">
                <a:solidFill>
                  <a:schemeClr val="accent6">
                    <a:lumMod val="50000"/>
                  </a:schemeClr>
                </a:solidFill>
              </a:rPr>
              <a:t>Higher Burst Pressure capacity </a:t>
            </a:r>
            <a:r>
              <a:rPr lang="en-US" sz="2000" dirty="0">
                <a:solidFill>
                  <a:schemeClr val="accent6">
                    <a:lumMod val="50000"/>
                  </a:schemeClr>
                </a:solidFill>
                <a:sym typeface="Wingdings" panose="05000000000000000000" pitchFamily="2" charset="2"/>
              </a:rPr>
              <a:t> allow to utilize maximum water pump </a:t>
            </a:r>
            <a:r>
              <a:rPr lang="en-US" sz="2000" b="1" dirty="0">
                <a:solidFill>
                  <a:srgbClr val="C00000"/>
                </a:solidFill>
                <a:sym typeface="Wingdings" panose="05000000000000000000" pitchFamily="2" charset="2"/>
              </a:rPr>
              <a:t>FLOW RATE </a:t>
            </a:r>
            <a:r>
              <a:rPr lang="en-US" sz="2000" dirty="0">
                <a:solidFill>
                  <a:schemeClr val="accent6">
                    <a:lumMod val="50000"/>
                  </a:schemeClr>
                </a:solidFill>
                <a:sym typeface="Wingdings" panose="05000000000000000000" pitchFamily="2" charset="2"/>
              </a:rPr>
              <a:t>and </a:t>
            </a:r>
            <a:r>
              <a:rPr lang="en-US" sz="2000" b="1" dirty="0">
                <a:solidFill>
                  <a:srgbClr val="C00000"/>
                </a:solidFill>
                <a:sym typeface="Wingdings" panose="05000000000000000000" pitchFamily="2" charset="2"/>
              </a:rPr>
              <a:t>PRESSURE capacity</a:t>
            </a:r>
            <a:r>
              <a:rPr lang="en-US" sz="2000" dirty="0">
                <a:solidFill>
                  <a:schemeClr val="accent6">
                    <a:lumMod val="50000"/>
                  </a:schemeClr>
                </a:solidFill>
                <a:sym typeface="Wingdings" panose="05000000000000000000" pitchFamily="2" charset="2"/>
              </a:rPr>
              <a:t>.</a:t>
            </a:r>
            <a:endParaRPr lang="en-US" sz="2000" dirty="0">
              <a:solidFill>
                <a:schemeClr val="accent6">
                  <a:lumMod val="50000"/>
                </a:schemeClr>
              </a:solidFill>
            </a:endParaRPr>
          </a:p>
          <a:p>
            <a:pPr marL="800100" lvl="1" indent="-342900">
              <a:buFont typeface="Arial" panose="020B0604020202020204" pitchFamily="34" charset="0"/>
              <a:buChar char="•"/>
              <a:defRPr/>
            </a:pPr>
            <a:r>
              <a:rPr lang="en-US" sz="2000" b="1" dirty="0">
                <a:solidFill>
                  <a:srgbClr val="C00000"/>
                </a:solidFill>
              </a:rPr>
              <a:t>Water Pump: 600 psi</a:t>
            </a:r>
          </a:p>
          <a:p>
            <a:pPr marL="800100" lvl="1" indent="-342900">
              <a:buFont typeface="Arial" panose="020B0604020202020204" pitchFamily="34" charset="0"/>
              <a:buChar char="•"/>
              <a:defRPr/>
            </a:pPr>
            <a:r>
              <a:rPr lang="en-US" sz="2000" b="1" dirty="0">
                <a:solidFill>
                  <a:srgbClr val="C00000"/>
                </a:solidFill>
              </a:rPr>
              <a:t>Steel Pipe: </a:t>
            </a:r>
            <a:r>
              <a:rPr lang="en-US" sz="2000" b="1" u="sng" dirty="0">
                <a:solidFill>
                  <a:srgbClr val="C00000"/>
                </a:solidFill>
              </a:rPr>
              <a:t>+</a:t>
            </a:r>
            <a:r>
              <a:rPr lang="en-US" sz="2000" b="1" dirty="0">
                <a:solidFill>
                  <a:srgbClr val="C00000"/>
                </a:solidFill>
              </a:rPr>
              <a:t>1000 psi</a:t>
            </a:r>
          </a:p>
          <a:p>
            <a:pPr marL="800100" lvl="1" indent="-342900">
              <a:buFont typeface="Arial" panose="020B0604020202020204" pitchFamily="34" charset="0"/>
              <a:buChar char="•"/>
              <a:defRPr/>
            </a:pPr>
            <a:r>
              <a:rPr lang="en-US" sz="2000" b="1" dirty="0">
                <a:solidFill>
                  <a:srgbClr val="C00000"/>
                </a:solidFill>
              </a:rPr>
              <a:t>HDPE Pipe: 300 psi.</a:t>
            </a:r>
          </a:p>
          <a:p>
            <a:pPr marL="342900" indent="-342900">
              <a:buFont typeface="Arial" panose="020B0604020202020204" pitchFamily="34" charset="0"/>
              <a:buChar char="•"/>
              <a:defRPr/>
            </a:pPr>
            <a:r>
              <a:rPr lang="en-US" sz="2000" dirty="0">
                <a:solidFill>
                  <a:schemeClr val="accent6">
                    <a:lumMod val="50000"/>
                  </a:schemeClr>
                </a:solidFill>
              </a:rPr>
              <a:t>Less water pump requirement </a:t>
            </a:r>
            <a:r>
              <a:rPr lang="en-US" sz="2000" dirty="0">
                <a:solidFill>
                  <a:schemeClr val="accent6">
                    <a:lumMod val="50000"/>
                  </a:schemeClr>
                </a:solidFill>
                <a:sym typeface="Wingdings" panose="05000000000000000000" pitchFamily="2" charset="2"/>
              </a:rPr>
              <a:t> </a:t>
            </a:r>
            <a:r>
              <a:rPr lang="en-US" sz="2000" dirty="0">
                <a:solidFill>
                  <a:schemeClr val="accent6">
                    <a:lumMod val="50000"/>
                  </a:schemeClr>
                </a:solidFill>
              </a:rPr>
              <a:t>Less Personnel requirement </a:t>
            </a:r>
            <a:r>
              <a:rPr lang="en-US" sz="2000" dirty="0">
                <a:solidFill>
                  <a:schemeClr val="accent6">
                    <a:lumMod val="50000"/>
                  </a:schemeClr>
                </a:solidFill>
                <a:sym typeface="Wingdings" panose="05000000000000000000" pitchFamily="2" charset="2"/>
              </a:rPr>
              <a:t> Less Community issue</a:t>
            </a:r>
          </a:p>
          <a:p>
            <a:pPr marL="342900" indent="-342900">
              <a:buFont typeface="Arial" panose="020B0604020202020204" pitchFamily="34" charset="0"/>
              <a:buChar char="•"/>
              <a:defRPr/>
            </a:pPr>
            <a:r>
              <a:rPr lang="en-US" sz="2000" dirty="0">
                <a:solidFill>
                  <a:schemeClr val="accent6">
                    <a:lumMod val="50000"/>
                  </a:schemeClr>
                </a:solidFill>
                <a:sym typeface="Wingdings" panose="05000000000000000000" pitchFamily="2" charset="2"/>
              </a:rPr>
              <a:t>Easy to repair if any pipe leak</a:t>
            </a:r>
            <a:endParaRPr lang="en-US" sz="2000" dirty="0">
              <a:solidFill>
                <a:schemeClr val="accent6">
                  <a:lumMod val="50000"/>
                </a:schemeClr>
              </a:solidFill>
            </a:endParaRPr>
          </a:p>
        </p:txBody>
      </p:sp>
      <p:pic>
        <p:nvPicPr>
          <p:cNvPr id="96261" name="Picture 5"/>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7923213" y="4719639"/>
            <a:ext cx="2760662"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2" name="Picture 7"/>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5861050" y="4719638"/>
            <a:ext cx="198755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3" name="Picture 8"/>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bwMode="auto">
          <a:xfrm>
            <a:off x="1538289" y="4719638"/>
            <a:ext cx="24479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4" name="Picture 10"/>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bwMode="auto">
          <a:xfrm>
            <a:off x="4005264" y="4719638"/>
            <a:ext cx="178117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63907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Optimasi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Rectangle 1">
            <a:extLst>
              <a:ext uri="{FF2B5EF4-FFF2-40B4-BE49-F238E27FC236}">
                <a16:creationId xmlns:a16="http://schemas.microsoft.com/office/drawing/2014/main" id="{DA7BD951-32F0-EBB7-4734-9615E2BDA736}"/>
              </a:ext>
            </a:extLst>
          </p:cNvPr>
          <p:cNvSpPr/>
          <p:nvPr/>
        </p:nvSpPr>
        <p:spPr>
          <a:xfrm>
            <a:off x="2668772" y="1299750"/>
            <a:ext cx="8389088" cy="765544"/>
          </a:xfrm>
          <a:prstGeom prst="rect">
            <a:avLst/>
          </a:prstGeom>
          <a:solidFill>
            <a:schemeClr val="accent6">
              <a:lumMod val="40000"/>
              <a:lumOff val="6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Optimasi</a:t>
            </a:r>
            <a:r>
              <a:rPr lang="en-US" altLang="en-US" sz="2400" b="1"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Kedalam</a:t>
            </a:r>
            <a:r>
              <a:rPr lang="en-US" altLang="en-US" sz="2400" b="1"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 Akhir (TD) </a:t>
            </a:r>
            <a:r>
              <a:rPr lang="en-US" altLang="en-US" sz="2400" b="1" dirty="0" err="1">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sumur</a:t>
            </a:r>
            <a:r>
              <a:rPr lang="en-US" altLang="en-US" sz="2400" b="1"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 </a:t>
            </a:r>
            <a:r>
              <a:rPr lang="en-US" altLang="en-US" sz="2400" b="1" dirty="0" err="1">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berdasarkan</a:t>
            </a:r>
            <a:r>
              <a:rPr lang="en-US" altLang="en-US" sz="2400" b="1"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 data Feed Zone</a:t>
            </a:r>
            <a:endParaRPr lang="en-ID" sz="2400" b="1"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1535717" y="1299750"/>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4.1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2668772" y="2196428"/>
            <a:ext cx="8389088" cy="748783"/>
          </a:xfrm>
          <a:prstGeom prst="rect">
            <a:avLst/>
          </a:prstGeom>
          <a:solidFill>
            <a:schemeClr val="accent6">
              <a:lumMod val="60000"/>
              <a:lumOff val="4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s-ES" altLang="en-US" sz="2400" b="1" dirty="0" err="1">
                <a:solidFill>
                  <a:schemeClr val="accent6">
                    <a:lumMod val="50000"/>
                  </a:schemeClr>
                </a:solidFill>
                <a:latin typeface="Cavolini" panose="03000502040302020204" pitchFamily="66" charset="0"/>
                <a:cs typeface="Cavolini" panose="03000502040302020204" pitchFamily="66" charset="0"/>
              </a:rPr>
              <a:t>Pemilihan</a:t>
            </a:r>
            <a:r>
              <a:rPr lang="es-ES" altLang="en-US" sz="2400" b="1" dirty="0">
                <a:solidFill>
                  <a:schemeClr val="accent6">
                    <a:lumMod val="50000"/>
                  </a:schemeClr>
                </a:solidFill>
                <a:latin typeface="Cavolini" panose="03000502040302020204" pitchFamily="66" charset="0"/>
                <a:cs typeface="Cavolini" panose="03000502040302020204" pitchFamily="66" charset="0"/>
              </a:rPr>
              <a:t> </a:t>
            </a:r>
            <a:r>
              <a:rPr lang="es-ES" altLang="en-US" sz="2400"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sz="2400" b="1" dirty="0">
                <a:solidFill>
                  <a:schemeClr val="accent6">
                    <a:lumMod val="50000"/>
                  </a:schemeClr>
                </a:solidFill>
                <a:latin typeface="Cavolini" panose="03000502040302020204" pitchFamily="66" charset="0"/>
                <a:cs typeface="Cavolini" panose="03000502040302020204" pitchFamily="66" charset="0"/>
              </a:rPr>
              <a:t> dan </a:t>
            </a:r>
            <a:r>
              <a:rPr lang="es-ES" altLang="en-US" sz="2400" b="1" dirty="0" err="1">
                <a:solidFill>
                  <a:schemeClr val="accent6">
                    <a:lumMod val="50000"/>
                  </a:schemeClr>
                </a:solidFill>
                <a:latin typeface="Cavolini" panose="03000502040302020204" pitchFamily="66" charset="0"/>
                <a:cs typeface="Cavolini" panose="03000502040302020204" pitchFamily="66" charset="0"/>
              </a:rPr>
              <a:t>Ukuran</a:t>
            </a:r>
            <a:r>
              <a:rPr lang="es-ES" altLang="en-US" sz="2400" b="1" dirty="0">
                <a:solidFill>
                  <a:schemeClr val="accent6">
                    <a:lumMod val="50000"/>
                  </a:schemeClr>
                </a:solidFill>
                <a:latin typeface="Cavolini" panose="03000502040302020204" pitchFamily="66" charset="0"/>
                <a:cs typeface="Cavolini" panose="03000502040302020204" pitchFamily="66" charset="0"/>
              </a:rPr>
              <a:t> </a:t>
            </a:r>
            <a:r>
              <a:rPr lang="es-ES" altLang="en-US" sz="2400"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sz="2400" b="1" dirty="0">
                <a:solidFill>
                  <a:schemeClr val="accent6">
                    <a:lumMod val="50000"/>
                  </a:schemeClr>
                </a:solidFill>
                <a:latin typeface="Cavolini" panose="03000502040302020204" pitchFamily="66" charset="0"/>
                <a:cs typeface="Cavolini" panose="03000502040302020204" pitchFamily="66" charset="0"/>
              </a:rPr>
              <a:t> Panas </a:t>
            </a:r>
            <a:r>
              <a:rPr lang="es-ES" altLang="en-US" sz="2400" b="1" dirty="0" err="1">
                <a:solidFill>
                  <a:schemeClr val="accent6">
                    <a:lumMod val="50000"/>
                  </a:schemeClr>
                </a:solidFill>
                <a:latin typeface="Cavolini" panose="03000502040302020204" pitchFamily="66" charset="0"/>
                <a:cs typeface="Cavolini" panose="03000502040302020204" pitchFamily="66" charset="0"/>
              </a:rPr>
              <a:t>Bumi</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5" name="Rectangle 4">
            <a:extLst>
              <a:ext uri="{FF2B5EF4-FFF2-40B4-BE49-F238E27FC236}">
                <a16:creationId xmlns:a16="http://schemas.microsoft.com/office/drawing/2014/main" id="{FEA18FA2-826B-D284-53B8-B37906FB6BBA}"/>
              </a:ext>
            </a:extLst>
          </p:cNvPr>
          <p:cNvSpPr/>
          <p:nvPr/>
        </p:nvSpPr>
        <p:spPr>
          <a:xfrm>
            <a:off x="2668772" y="3085497"/>
            <a:ext cx="8389088" cy="748783"/>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Spesifikasi</a:t>
            </a:r>
            <a:r>
              <a:rPr lang="en-US" altLang="en-US" sz="2400" b="1" dirty="0">
                <a:latin typeface="Cavolini" panose="03000502040302020204" pitchFamily="66" charset="0"/>
                <a:cs typeface="Cavolini" panose="03000502040302020204" pitchFamily="66" charset="0"/>
              </a:rPr>
              <a:t> Casing dan Strategi </a:t>
            </a:r>
            <a:r>
              <a:rPr lang="en-US" altLang="en-US" sz="2400" b="1" dirty="0" err="1">
                <a:latin typeface="Cavolini" panose="03000502040302020204" pitchFamily="66" charset="0"/>
                <a:cs typeface="Cavolini" panose="03000502040302020204" pitchFamily="66" charset="0"/>
              </a:rPr>
              <a:t>Pembelian</a:t>
            </a:r>
            <a:r>
              <a:rPr lang="en-US" altLang="en-US" sz="2400" b="1" dirty="0">
                <a:latin typeface="Cavolini" panose="03000502040302020204" pitchFamily="66" charset="0"/>
                <a:cs typeface="Cavolini" panose="03000502040302020204" pitchFamily="66" charset="0"/>
              </a:rPr>
              <a:t> Casing</a:t>
            </a:r>
            <a:endParaRPr lang="en-ID" sz="2400" b="1" dirty="0">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1535716" y="2196428"/>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4.2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7" name="Rectangle 6">
            <a:extLst>
              <a:ext uri="{FF2B5EF4-FFF2-40B4-BE49-F238E27FC236}">
                <a16:creationId xmlns:a16="http://schemas.microsoft.com/office/drawing/2014/main" id="{EEC3DBDE-A9D3-E986-BC78-CB0BDA109893}"/>
              </a:ext>
            </a:extLst>
          </p:cNvPr>
          <p:cNvSpPr/>
          <p:nvPr/>
        </p:nvSpPr>
        <p:spPr>
          <a:xfrm>
            <a:off x="1535716" y="3052121"/>
            <a:ext cx="891363" cy="765544"/>
          </a:xfrm>
          <a:prstGeom prst="rect">
            <a:avLst/>
          </a:prstGeom>
          <a:solidFill>
            <a:srgbClr val="FFCC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4.3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11" name="Rectangle 10">
            <a:extLst>
              <a:ext uri="{FF2B5EF4-FFF2-40B4-BE49-F238E27FC236}">
                <a16:creationId xmlns:a16="http://schemas.microsoft.com/office/drawing/2014/main" id="{0A378644-540E-962B-692D-FB65E974E4F7}"/>
              </a:ext>
            </a:extLst>
          </p:cNvPr>
          <p:cNvSpPr/>
          <p:nvPr/>
        </p:nvSpPr>
        <p:spPr>
          <a:xfrm>
            <a:off x="2668772" y="3979925"/>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Effisiensi</a:t>
            </a:r>
            <a:r>
              <a:rPr lang="en-US" altLang="en-US" sz="2400" b="1" dirty="0">
                <a:latin typeface="Cavolini" panose="03000502040302020204" pitchFamily="66" charset="0"/>
                <a:cs typeface="Cavolini" panose="03000502040302020204" pitchFamily="66" charset="0"/>
              </a:rPr>
              <a:t> Pemasangan Wellhead</a:t>
            </a:r>
            <a:endParaRPr lang="en-ID" sz="2400" b="1" dirty="0">
              <a:latin typeface="Cavolini" panose="03000502040302020204" pitchFamily="66" charset="0"/>
              <a:cs typeface="Cavolini" panose="03000502040302020204" pitchFamily="66" charset="0"/>
            </a:endParaRPr>
          </a:p>
        </p:txBody>
      </p:sp>
      <p:sp>
        <p:nvSpPr>
          <p:cNvPr id="12" name="Rectangle 11">
            <a:extLst>
              <a:ext uri="{FF2B5EF4-FFF2-40B4-BE49-F238E27FC236}">
                <a16:creationId xmlns:a16="http://schemas.microsoft.com/office/drawing/2014/main" id="{75E85C1B-72DA-6786-B82D-FD52ABFF8D39}"/>
              </a:ext>
            </a:extLst>
          </p:cNvPr>
          <p:cNvSpPr/>
          <p:nvPr/>
        </p:nvSpPr>
        <p:spPr>
          <a:xfrm>
            <a:off x="1535716" y="3948547"/>
            <a:ext cx="891363" cy="765544"/>
          </a:xfrm>
          <a:prstGeom prst="rect">
            <a:avLst/>
          </a:prstGeom>
          <a:solidFill>
            <a:schemeClr val="accent4">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4.4</a:t>
            </a:r>
            <a:endParaRPr lang="en-ID" sz="2400" b="1" dirty="0">
              <a:solidFill>
                <a:srgbClr val="FFFF00"/>
              </a:solidFill>
              <a:latin typeface="Cavolini" panose="03000502040302020204" pitchFamily="66" charset="0"/>
              <a:cs typeface="Cavolini" panose="03000502040302020204" pitchFamily="66" charset="0"/>
            </a:endParaRPr>
          </a:p>
        </p:txBody>
      </p:sp>
      <p:sp>
        <p:nvSpPr>
          <p:cNvPr id="13" name="Rectangle 12">
            <a:extLst>
              <a:ext uri="{FF2B5EF4-FFF2-40B4-BE49-F238E27FC236}">
                <a16:creationId xmlns:a16="http://schemas.microsoft.com/office/drawing/2014/main" id="{8F2D8D1F-AF01-B51A-0A8F-EA5D508CAEDD}"/>
              </a:ext>
            </a:extLst>
          </p:cNvPr>
          <p:cNvSpPr/>
          <p:nvPr/>
        </p:nvSpPr>
        <p:spPr>
          <a:xfrm>
            <a:off x="2668772" y="4881167"/>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Pemilihan</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Teknologi</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Terbaru</a:t>
            </a:r>
            <a:r>
              <a:rPr lang="en-US" altLang="en-US" sz="2400" b="1" dirty="0">
                <a:latin typeface="Cavolini" panose="03000502040302020204" pitchFamily="66" charset="0"/>
                <a:cs typeface="Cavolini" panose="03000502040302020204" pitchFamily="66" charset="0"/>
              </a:rPr>
              <a:t> Drilling Bit </a:t>
            </a:r>
            <a:endParaRPr lang="en-ID" sz="2400" b="1" dirty="0">
              <a:latin typeface="Cavolini" panose="03000502040302020204" pitchFamily="66" charset="0"/>
              <a:cs typeface="Cavolini" panose="03000502040302020204" pitchFamily="66" charset="0"/>
            </a:endParaRPr>
          </a:p>
        </p:txBody>
      </p:sp>
      <p:sp>
        <p:nvSpPr>
          <p:cNvPr id="14" name="Rectangle 13">
            <a:extLst>
              <a:ext uri="{FF2B5EF4-FFF2-40B4-BE49-F238E27FC236}">
                <a16:creationId xmlns:a16="http://schemas.microsoft.com/office/drawing/2014/main" id="{780B02AB-F421-7230-5DF7-05605EBED893}"/>
              </a:ext>
            </a:extLst>
          </p:cNvPr>
          <p:cNvSpPr/>
          <p:nvPr/>
        </p:nvSpPr>
        <p:spPr>
          <a:xfrm>
            <a:off x="1535714" y="4881167"/>
            <a:ext cx="891363" cy="765544"/>
          </a:xfrm>
          <a:prstGeom prst="rect">
            <a:avLst/>
          </a:prstGeom>
          <a:solidFill>
            <a:schemeClr val="accent2">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4.5</a:t>
            </a:r>
            <a:endParaRPr lang="en-ID" sz="2400" b="1" dirty="0">
              <a:solidFill>
                <a:srgbClr val="FFFF00"/>
              </a:solidFill>
              <a:latin typeface="Cavolini" panose="03000502040302020204" pitchFamily="66" charset="0"/>
              <a:cs typeface="Cavolini" panose="03000502040302020204" pitchFamily="66" charset="0"/>
            </a:endParaRPr>
          </a:p>
        </p:txBody>
      </p:sp>
      <p:sp>
        <p:nvSpPr>
          <p:cNvPr id="15" name="Rectangle 14">
            <a:extLst>
              <a:ext uri="{FF2B5EF4-FFF2-40B4-BE49-F238E27FC236}">
                <a16:creationId xmlns:a16="http://schemas.microsoft.com/office/drawing/2014/main" id="{EBCD37BC-CAF0-44CE-E79F-6B237AEC37DB}"/>
              </a:ext>
            </a:extLst>
          </p:cNvPr>
          <p:cNvSpPr/>
          <p:nvPr/>
        </p:nvSpPr>
        <p:spPr>
          <a:xfrm>
            <a:off x="2668772" y="5782409"/>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a:latin typeface="Cavolini" panose="03000502040302020204" pitchFamily="66" charset="0"/>
                <a:cs typeface="Cavolini" panose="03000502040302020204" pitchFamily="66" charset="0"/>
              </a:rPr>
              <a:t>Optimum Desain BHA (Bottom Hole Assembly)</a:t>
            </a:r>
            <a:endParaRPr lang="en-ID" sz="2400" b="1" dirty="0">
              <a:latin typeface="Cavolini" panose="03000502040302020204" pitchFamily="66" charset="0"/>
              <a:cs typeface="Cavolini" panose="03000502040302020204" pitchFamily="66" charset="0"/>
            </a:endParaRPr>
          </a:p>
        </p:txBody>
      </p:sp>
      <p:sp>
        <p:nvSpPr>
          <p:cNvPr id="16" name="Rectangle 15">
            <a:extLst>
              <a:ext uri="{FF2B5EF4-FFF2-40B4-BE49-F238E27FC236}">
                <a16:creationId xmlns:a16="http://schemas.microsoft.com/office/drawing/2014/main" id="{F108DC46-8FA9-E264-4DD7-912F2F26FC0D}"/>
              </a:ext>
            </a:extLst>
          </p:cNvPr>
          <p:cNvSpPr/>
          <p:nvPr/>
        </p:nvSpPr>
        <p:spPr>
          <a:xfrm>
            <a:off x="1535714" y="5782409"/>
            <a:ext cx="891363" cy="765544"/>
          </a:xfrm>
          <a:prstGeom prst="rect">
            <a:avLst/>
          </a:prstGeom>
          <a:solidFill>
            <a:schemeClr val="accent2">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4.6</a:t>
            </a:r>
            <a:endParaRPr lang="en-ID" sz="2400" b="1" dirty="0">
              <a:solidFill>
                <a:srgbClr val="FFFF00"/>
              </a:solidFill>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40017250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Optimasi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Rectangle 1">
            <a:extLst>
              <a:ext uri="{FF2B5EF4-FFF2-40B4-BE49-F238E27FC236}">
                <a16:creationId xmlns:a16="http://schemas.microsoft.com/office/drawing/2014/main" id="{DA7BD951-32F0-EBB7-4734-9615E2BDA736}"/>
              </a:ext>
            </a:extLst>
          </p:cNvPr>
          <p:cNvSpPr/>
          <p:nvPr/>
        </p:nvSpPr>
        <p:spPr>
          <a:xfrm>
            <a:off x="2668772" y="1299750"/>
            <a:ext cx="8389088" cy="765544"/>
          </a:xfrm>
          <a:prstGeom prst="rect">
            <a:avLst/>
          </a:prstGeom>
          <a:solidFill>
            <a:schemeClr val="accent6">
              <a:lumMod val="40000"/>
              <a:lumOff val="6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solidFill>
                  <a:schemeClr val="accent6">
                    <a:lumMod val="50000"/>
                  </a:schemeClr>
                </a:solidFill>
                <a:ea typeface="Verdana" panose="020B0604030504040204" pitchFamily="34" charset="0"/>
                <a:cs typeface="Biome Light" panose="020B0502040204020203" pitchFamily="34" charset="0"/>
              </a:rPr>
              <a:t>Optimasi</a:t>
            </a:r>
            <a:r>
              <a:rPr lang="en-US" altLang="en-US" sz="2400" b="1" dirty="0">
                <a:solidFill>
                  <a:schemeClr val="accent6">
                    <a:lumMod val="50000"/>
                  </a:schemeClr>
                </a:solidFill>
                <a:ea typeface="Verdana" panose="020B0604030504040204" pitchFamily="34" charset="0"/>
                <a:cs typeface="Biome Light" panose="020B0502040204020203" pitchFamily="34" charset="0"/>
              </a:rPr>
              <a:t> </a:t>
            </a:r>
            <a:r>
              <a:rPr lang="en-US" altLang="en-US" sz="2400" b="1" dirty="0" err="1">
                <a:solidFill>
                  <a:schemeClr val="accent6">
                    <a:lumMod val="50000"/>
                  </a:schemeClr>
                </a:solidFill>
                <a:ea typeface="Verdana" panose="020B0604030504040204" pitchFamily="34" charset="0"/>
                <a:cs typeface="Biome Light" panose="020B0502040204020203" pitchFamily="34" charset="0"/>
              </a:rPr>
              <a:t>Kedalam</a:t>
            </a:r>
            <a:r>
              <a:rPr lang="en-US" altLang="en-US" sz="2400" b="1" dirty="0">
                <a:solidFill>
                  <a:schemeClr val="accent6">
                    <a:lumMod val="50000"/>
                  </a:schemeClr>
                </a:solidFill>
                <a:ea typeface="Verdana" panose="020B0604030504040204" pitchFamily="34" charset="0"/>
                <a:cs typeface="Biome Light" panose="020B0502040204020203" pitchFamily="34" charset="0"/>
              </a:rPr>
              <a:t> Akhir (TD) </a:t>
            </a:r>
            <a:r>
              <a:rPr lang="en-US" altLang="en-US" sz="2400" b="1" dirty="0" err="1">
                <a:solidFill>
                  <a:schemeClr val="accent6">
                    <a:lumMod val="50000"/>
                  </a:schemeClr>
                </a:solidFill>
                <a:ea typeface="Verdana" panose="020B0604030504040204" pitchFamily="34" charset="0"/>
                <a:cs typeface="Biome Light" panose="020B0502040204020203" pitchFamily="34" charset="0"/>
              </a:rPr>
              <a:t>sumur</a:t>
            </a:r>
            <a:r>
              <a:rPr lang="en-US" altLang="en-US" sz="2400" b="1" dirty="0">
                <a:solidFill>
                  <a:schemeClr val="accent6">
                    <a:lumMod val="50000"/>
                  </a:schemeClr>
                </a:solidFill>
                <a:ea typeface="Verdana" panose="020B0604030504040204" pitchFamily="34" charset="0"/>
                <a:cs typeface="Biome Light" panose="020B0502040204020203" pitchFamily="34" charset="0"/>
              </a:rPr>
              <a:t> </a:t>
            </a:r>
            <a:r>
              <a:rPr lang="en-US" altLang="en-US" sz="2400" b="1" dirty="0" err="1">
                <a:solidFill>
                  <a:schemeClr val="accent6">
                    <a:lumMod val="50000"/>
                  </a:schemeClr>
                </a:solidFill>
                <a:ea typeface="Verdana" panose="020B0604030504040204" pitchFamily="34" charset="0"/>
                <a:cs typeface="Biome Light" panose="020B0502040204020203" pitchFamily="34" charset="0"/>
              </a:rPr>
              <a:t>berdasarkan</a:t>
            </a:r>
            <a:r>
              <a:rPr lang="en-US" altLang="en-US" sz="2400" b="1" dirty="0">
                <a:solidFill>
                  <a:schemeClr val="accent6">
                    <a:lumMod val="50000"/>
                  </a:schemeClr>
                </a:solidFill>
                <a:ea typeface="Verdana" panose="020B0604030504040204" pitchFamily="34" charset="0"/>
                <a:cs typeface="Biome Light" panose="020B0502040204020203" pitchFamily="34" charset="0"/>
              </a:rPr>
              <a:t> data Feed Zone</a:t>
            </a:r>
            <a:endParaRPr lang="en-ID" sz="2400" b="1" dirty="0">
              <a:solidFill>
                <a:schemeClr val="accent6">
                  <a:lumMod val="50000"/>
                </a:schemeClr>
              </a:solidFill>
              <a:ea typeface="Verdana" panose="020B0604030504040204" pitchFamily="34" charset="0"/>
              <a:cs typeface="Biome Light" panose="020B0502040204020203" pitchFamily="34"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1535717" y="1299750"/>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rPr>
              <a:t>4.1</a:t>
            </a:r>
            <a:endParaRPr lang="en-ID" sz="2400" b="1" dirty="0">
              <a:solidFill>
                <a:schemeClr val="accent6">
                  <a:lumMod val="50000"/>
                </a:schemeClr>
              </a:solidFill>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pic>
        <p:nvPicPr>
          <p:cNvPr id="9" name="Picture 5">
            <a:extLst>
              <a:ext uri="{FF2B5EF4-FFF2-40B4-BE49-F238E27FC236}">
                <a16:creationId xmlns:a16="http://schemas.microsoft.com/office/drawing/2014/main" id="{E1D20AF5-BD25-BD77-270F-0A664F106DBA}"/>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2723803" y="2957846"/>
            <a:ext cx="8174569" cy="3742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4">
            <a:extLst>
              <a:ext uri="{FF2B5EF4-FFF2-40B4-BE49-F238E27FC236}">
                <a16:creationId xmlns:a16="http://schemas.microsoft.com/office/drawing/2014/main" id="{C02A4636-C60A-820F-1209-EDC3BC678A29}"/>
              </a:ext>
            </a:extLst>
          </p:cNvPr>
          <p:cNvSpPr txBox="1">
            <a:spLocks noChangeArrowheads="1"/>
          </p:cNvSpPr>
          <p:nvPr/>
        </p:nvSpPr>
        <p:spPr bwMode="auto">
          <a:xfrm>
            <a:off x="2668772" y="2065294"/>
            <a:ext cx="7772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 typeface="Wingdings" panose="05000000000000000000" pitchFamily="2" charset="2"/>
              <a:buChar char="ü"/>
            </a:pPr>
            <a:r>
              <a:rPr lang="en-US" altLang="en-US" sz="2800" dirty="0">
                <a:solidFill>
                  <a:srgbClr val="D24726"/>
                </a:solidFill>
                <a:latin typeface="Times New Roman" panose="02020603050405020304" pitchFamily="18" charset="0"/>
                <a:cs typeface="Arial" panose="020B0604020202020204" pitchFamily="34" charset="0"/>
              </a:rPr>
              <a:t>DEEPER</a:t>
            </a:r>
            <a:r>
              <a:rPr lang="en-US" altLang="en-US" sz="2800" dirty="0">
                <a:solidFill>
                  <a:srgbClr val="FFC000"/>
                </a:solidFill>
                <a:latin typeface="Times New Roman" panose="02020603050405020304" pitchFamily="18" charset="0"/>
                <a:cs typeface="Arial" panose="020B0604020202020204" pitchFamily="34" charset="0"/>
              </a:rPr>
              <a:t> Total Depth </a:t>
            </a:r>
            <a:r>
              <a:rPr lang="en-US" altLang="en-US" sz="2800" dirty="0">
                <a:solidFill>
                  <a:srgbClr val="FFC000"/>
                </a:solidFill>
                <a:latin typeface="Times New Roman" panose="02020603050405020304" pitchFamily="18" charset="0"/>
                <a:cs typeface="Arial" panose="020B0604020202020204" pitchFamily="34" charset="0"/>
                <a:sym typeface="Wingdings" panose="05000000000000000000" pitchFamily="2" charset="2"/>
              </a:rPr>
              <a:t> </a:t>
            </a:r>
            <a:r>
              <a:rPr lang="en-US" altLang="en-US" sz="2800" dirty="0">
                <a:solidFill>
                  <a:srgbClr val="D24726"/>
                </a:solidFill>
                <a:latin typeface="Times New Roman" panose="02020603050405020304" pitchFamily="18" charset="0"/>
                <a:cs typeface="Arial" panose="020B0604020202020204" pitchFamily="34" charset="0"/>
                <a:sym typeface="Wingdings" panose="05000000000000000000" pitchFamily="2" charset="2"/>
              </a:rPr>
              <a:t>COSTLY</a:t>
            </a:r>
          </a:p>
          <a:p>
            <a:pPr eaLnBrk="1" hangingPunct="1">
              <a:spcBef>
                <a:spcPct val="0"/>
              </a:spcBef>
              <a:buFont typeface="Wingdings" panose="05000000000000000000" pitchFamily="2" charset="2"/>
              <a:buChar char="ü"/>
            </a:pPr>
            <a:r>
              <a:rPr lang="en-US" altLang="en-US" sz="2400" dirty="0">
                <a:solidFill>
                  <a:srgbClr val="002060"/>
                </a:solidFill>
                <a:latin typeface="Times New Roman" panose="02020603050405020304" pitchFamily="18" charset="0"/>
                <a:cs typeface="Arial" panose="020B0604020202020204" pitchFamily="34" charset="0"/>
                <a:sym typeface="Wingdings" panose="05000000000000000000" pitchFamily="2" charset="2"/>
              </a:rPr>
              <a:t>Optimize well TD refer to Feed Zone study</a:t>
            </a:r>
            <a:endParaRPr lang="en-US" altLang="en-US" sz="2400" dirty="0">
              <a:solidFill>
                <a:srgbClr val="002060"/>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8694701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6939280" y="1447112"/>
            <a:ext cx="5070749" cy="2901367"/>
          </a:xfrm>
        </p:spPr>
        <p:txBody>
          <a:bodyPr>
            <a:noAutofit/>
          </a:bodyPr>
          <a:lstStyle/>
          <a:p>
            <a:r>
              <a:rPr lang="en-US" altLang="en-US" sz="3600" b="1" dirty="0">
                <a:solidFill>
                  <a:srgbClr val="002060"/>
                </a:solidFill>
              </a:rPr>
              <a:t>Hence, Cost/MW increased with depth (more drilling cost with almost no increase in production gain).</a:t>
            </a:r>
          </a:p>
        </p:txBody>
      </p:sp>
      <p:sp>
        <p:nvSpPr>
          <p:cNvPr id="22532"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F75A769B-E326-4428-B852-23BF57FB7499}" type="slidenum">
              <a:rPr lang="en-US" altLang="en-US" sz="1400"/>
              <a:pPr>
                <a:spcBef>
                  <a:spcPct val="0"/>
                </a:spcBef>
                <a:buFontTx/>
                <a:buNone/>
              </a:pPr>
              <a:t>97</a:t>
            </a:fld>
            <a:endParaRPr lang="en-US" altLang="en-US" sz="1400"/>
          </a:p>
        </p:txBody>
      </p:sp>
      <p:sp>
        <p:nvSpPr>
          <p:cNvPr id="12" name="Title 1"/>
          <p:cNvSpPr txBox="1">
            <a:spLocks/>
          </p:cNvSpPr>
          <p:nvPr/>
        </p:nvSpPr>
        <p:spPr bwMode="auto">
          <a:xfrm>
            <a:off x="1250002" y="-78581"/>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ＭＳ Ｐゴシック" pitchFamily="34" charset="-128"/>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a:defRPr/>
            </a:pPr>
            <a:r>
              <a:rPr lang="en-US" altLang="en-US" b="1" kern="0" dirty="0">
                <a:solidFill>
                  <a:srgbClr val="002060"/>
                </a:solidFill>
              </a:rPr>
              <a:t>Well Cost Per Megawatt</a:t>
            </a:r>
          </a:p>
        </p:txBody>
      </p:sp>
      <p:grpSp>
        <p:nvGrpSpPr>
          <p:cNvPr id="2" name="Group 1">
            <a:extLst>
              <a:ext uri="{FF2B5EF4-FFF2-40B4-BE49-F238E27FC236}">
                <a16:creationId xmlns:a16="http://schemas.microsoft.com/office/drawing/2014/main" id="{4EE7DB56-627F-4D06-A1F9-26D218C59EFC}"/>
              </a:ext>
            </a:extLst>
          </p:cNvPr>
          <p:cNvGrpSpPr/>
          <p:nvPr/>
        </p:nvGrpSpPr>
        <p:grpSpPr>
          <a:xfrm>
            <a:off x="1001718" y="1425575"/>
            <a:ext cx="5680075" cy="5238750"/>
            <a:chOff x="1926278" y="1425575"/>
            <a:chExt cx="5680075" cy="5238750"/>
          </a:xfrm>
        </p:grpSpPr>
        <p:pic>
          <p:nvPicPr>
            <p:cNvPr id="22531"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926278" y="1425575"/>
              <a:ext cx="5680075" cy="52387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cxnSp>
          <p:nvCxnSpPr>
            <p:cNvPr id="7" name="Straight Connector 6"/>
            <p:cNvCxnSpPr/>
            <p:nvPr/>
          </p:nvCxnSpPr>
          <p:spPr>
            <a:xfrm>
              <a:off x="5364802" y="1885950"/>
              <a:ext cx="0" cy="4419600"/>
            </a:xfrm>
            <a:prstGeom prst="line">
              <a:avLst/>
            </a:prstGeom>
            <a:ln w="19050">
              <a:solidFill>
                <a:schemeClr val="tx1"/>
              </a:solidFill>
              <a:prstDash val="dash"/>
            </a:ln>
          </p:spPr>
          <p:style>
            <a:lnRef idx="1">
              <a:schemeClr val="accent2"/>
            </a:lnRef>
            <a:fillRef idx="0">
              <a:schemeClr val="accent2"/>
            </a:fillRef>
            <a:effectRef idx="0">
              <a:schemeClr val="accent2"/>
            </a:effectRef>
            <a:fontRef idx="minor">
              <a:schemeClr val="tx1"/>
            </a:fontRef>
          </p:style>
        </p:cxnSp>
        <p:sp>
          <p:nvSpPr>
            <p:cNvPr id="22534" name="TextBox 7"/>
            <p:cNvSpPr txBox="1">
              <a:spLocks noChangeArrowheads="1"/>
            </p:cNvSpPr>
            <p:nvPr/>
          </p:nvSpPr>
          <p:spPr bwMode="auto">
            <a:xfrm>
              <a:off x="4482153" y="2571751"/>
              <a:ext cx="7200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200">
                  <a:cs typeface="Arial" panose="020B0604020202020204" pitchFamily="34" charset="0"/>
                </a:rPr>
                <a:t>Shallow</a:t>
              </a:r>
            </a:p>
          </p:txBody>
        </p:sp>
        <p:sp>
          <p:nvSpPr>
            <p:cNvPr id="22535" name="TextBox 8"/>
            <p:cNvSpPr txBox="1">
              <a:spLocks noChangeArrowheads="1"/>
            </p:cNvSpPr>
            <p:nvPr/>
          </p:nvSpPr>
          <p:spPr bwMode="auto">
            <a:xfrm>
              <a:off x="5521966" y="2589213"/>
              <a:ext cx="56038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200">
                  <a:cs typeface="Arial" panose="020B0604020202020204" pitchFamily="34" charset="0"/>
                </a:rPr>
                <a:t>Deep</a:t>
              </a:r>
            </a:p>
          </p:txBody>
        </p:sp>
        <p:cxnSp>
          <p:nvCxnSpPr>
            <p:cNvPr id="16" name="Straight Arrow Connector 15"/>
            <p:cNvCxnSpPr/>
            <p:nvPr/>
          </p:nvCxnSpPr>
          <p:spPr>
            <a:xfrm flipH="1">
              <a:off x="4366266" y="2847975"/>
              <a:ext cx="998537"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5364803" y="2847975"/>
              <a:ext cx="923925"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3" name="Freeform 12"/>
            <p:cNvSpPr/>
            <p:nvPr/>
          </p:nvSpPr>
          <p:spPr>
            <a:xfrm>
              <a:off x="3720152" y="2089150"/>
              <a:ext cx="3810000" cy="3530600"/>
            </a:xfrm>
            <a:custGeom>
              <a:avLst/>
              <a:gdLst>
                <a:gd name="connsiteX0" fmla="*/ 0 w 3236495"/>
                <a:gd name="connsiteY0" fmla="*/ 2394284 h 2394284"/>
                <a:gd name="connsiteX1" fmla="*/ 517358 w 3236495"/>
                <a:gd name="connsiteY1" fmla="*/ 2225842 h 2394284"/>
                <a:gd name="connsiteX2" fmla="*/ 1576137 w 3236495"/>
                <a:gd name="connsiteY2" fmla="*/ 1780674 h 2394284"/>
                <a:gd name="connsiteX3" fmla="*/ 2346158 w 3236495"/>
                <a:gd name="connsiteY3" fmla="*/ 1299410 h 2394284"/>
                <a:gd name="connsiteX4" fmla="*/ 2887579 w 3236495"/>
                <a:gd name="connsiteY4" fmla="*/ 625642 h 2394284"/>
                <a:gd name="connsiteX5" fmla="*/ 3236495 w 3236495"/>
                <a:gd name="connsiteY5" fmla="*/ 0 h 2394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6495" h="2394284">
                  <a:moveTo>
                    <a:pt x="0" y="2394284"/>
                  </a:moveTo>
                  <a:cubicBezTo>
                    <a:pt x="127334" y="2361197"/>
                    <a:pt x="254669" y="2328110"/>
                    <a:pt x="517358" y="2225842"/>
                  </a:cubicBezTo>
                  <a:cubicBezTo>
                    <a:pt x="780047" y="2123574"/>
                    <a:pt x="1271337" y="1935079"/>
                    <a:pt x="1576137" y="1780674"/>
                  </a:cubicBezTo>
                  <a:cubicBezTo>
                    <a:pt x="1880937" y="1626269"/>
                    <a:pt x="2127584" y="1491915"/>
                    <a:pt x="2346158" y="1299410"/>
                  </a:cubicBezTo>
                  <a:cubicBezTo>
                    <a:pt x="2564732" y="1106905"/>
                    <a:pt x="2739190" y="842210"/>
                    <a:pt x="2887579" y="625642"/>
                  </a:cubicBezTo>
                  <a:cubicBezTo>
                    <a:pt x="3035969" y="409074"/>
                    <a:pt x="3136232" y="204537"/>
                    <a:pt x="3236495" y="0"/>
                  </a:cubicBezTo>
                </a:path>
              </a:pathLst>
            </a:custGeom>
            <a:noFill/>
            <a:ln w="57150">
              <a:solidFill>
                <a:srgbClr val="FF0000"/>
              </a:solidFill>
              <a:prstDash val="sysDash"/>
              <a:headEnd type="ova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spTree>
    <p:extLst>
      <p:ext uri="{BB962C8B-B14F-4D97-AF65-F5344CB8AC3E}">
        <p14:creationId xmlns:p14="http://schemas.microsoft.com/office/powerpoint/2010/main" val="2802011102"/>
      </p:ext>
    </p:extLst>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078173" y="216898"/>
            <a:ext cx="10836324" cy="1025525"/>
          </a:xfrm>
        </p:spPr>
        <p:txBody>
          <a:bodyPr>
            <a:noAutofit/>
          </a:bodyPr>
          <a:lstStyle/>
          <a:p>
            <a:r>
              <a:rPr lang="en-US" altLang="en-US" sz="4000" b="1" dirty="0">
                <a:solidFill>
                  <a:srgbClr val="002060"/>
                </a:solidFill>
              </a:rPr>
              <a:t>Pad XX Case Study (ABC 28 &amp; ABC 30)</a:t>
            </a:r>
          </a:p>
        </p:txBody>
      </p:sp>
      <p:sp>
        <p:nvSpPr>
          <p:cNvPr id="23555"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5E870C65-B481-40A4-9A38-125D44DB325D}" type="slidenum">
              <a:rPr lang="en-US" altLang="en-US" sz="1400"/>
              <a:pPr>
                <a:spcBef>
                  <a:spcPct val="0"/>
                </a:spcBef>
                <a:buFontTx/>
                <a:buNone/>
              </a:pPr>
              <a:t>98</a:t>
            </a:fld>
            <a:endParaRPr lang="en-US" altLang="en-US" sz="1400"/>
          </a:p>
        </p:txBody>
      </p:sp>
      <p:pic>
        <p:nvPicPr>
          <p:cNvPr id="23556" name="Picture 4"/>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824552" y="1242423"/>
            <a:ext cx="5791200"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a:spLocks/>
          </p:cNvSpPr>
          <p:nvPr/>
        </p:nvSpPr>
        <p:spPr bwMode="auto">
          <a:xfrm>
            <a:off x="6823881" y="1549864"/>
            <a:ext cx="5090616" cy="2391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ＭＳ Ｐゴシック" pitchFamily="34" charset="-128"/>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marL="457200" indent="-457200" algn="l">
              <a:buFont typeface="Arial" panose="020B0604020202020204" pitchFamily="34" charset="0"/>
              <a:buChar char="•"/>
              <a:defRPr/>
            </a:pPr>
            <a:r>
              <a:rPr lang="en-US" sz="2800" kern="0" dirty="0">
                <a:solidFill>
                  <a:srgbClr val="002060"/>
                </a:solidFill>
              </a:rPr>
              <a:t>Drilling shallow well at Pad XX will reduce well cost by $700k per well (13% saving) and reduce the Cost/MW to $578 k/MW </a:t>
            </a:r>
            <a:r>
              <a:rPr lang="en-US" sz="2800" b="1" kern="0" dirty="0">
                <a:solidFill>
                  <a:srgbClr val="002060"/>
                </a:solidFill>
              </a:rPr>
              <a:t>(13% reduction).</a:t>
            </a:r>
          </a:p>
        </p:txBody>
      </p:sp>
      <p:pic>
        <p:nvPicPr>
          <p:cNvPr id="23558" name="Picture 6"/>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624652" y="4296773"/>
            <a:ext cx="4381500"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02280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Optimasi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3023066" y="1377721"/>
            <a:ext cx="8389088" cy="748783"/>
          </a:xfrm>
          <a:prstGeom prst="rect">
            <a:avLst/>
          </a:prstGeom>
          <a:solidFill>
            <a:schemeClr val="accent6">
              <a:lumMod val="60000"/>
              <a:lumOff val="4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s-ES" altLang="en-US" sz="2400" b="1" dirty="0" err="1">
                <a:solidFill>
                  <a:schemeClr val="accent6">
                    <a:lumMod val="50000"/>
                  </a:schemeClr>
                </a:solidFill>
                <a:latin typeface="Cavolini" panose="03000502040302020204" pitchFamily="66" charset="0"/>
                <a:cs typeface="Cavolini" panose="03000502040302020204" pitchFamily="66" charset="0"/>
              </a:rPr>
              <a:t>Pemilihan</a:t>
            </a:r>
            <a:r>
              <a:rPr lang="es-ES" altLang="en-US" sz="2400" b="1" dirty="0">
                <a:solidFill>
                  <a:schemeClr val="accent6">
                    <a:lumMod val="50000"/>
                  </a:schemeClr>
                </a:solidFill>
                <a:latin typeface="Cavolini" panose="03000502040302020204" pitchFamily="66" charset="0"/>
                <a:cs typeface="Cavolini" panose="03000502040302020204" pitchFamily="66" charset="0"/>
              </a:rPr>
              <a:t> </a:t>
            </a:r>
            <a:r>
              <a:rPr lang="es-ES" altLang="en-US" sz="2400"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sz="2400" b="1" dirty="0">
                <a:solidFill>
                  <a:schemeClr val="accent6">
                    <a:lumMod val="50000"/>
                  </a:schemeClr>
                </a:solidFill>
                <a:latin typeface="Cavolini" panose="03000502040302020204" pitchFamily="66" charset="0"/>
                <a:cs typeface="Cavolini" panose="03000502040302020204" pitchFamily="66" charset="0"/>
              </a:rPr>
              <a:t> dan </a:t>
            </a:r>
            <a:r>
              <a:rPr lang="es-ES" altLang="en-US" sz="2400" b="1" dirty="0" err="1">
                <a:solidFill>
                  <a:schemeClr val="accent6">
                    <a:lumMod val="50000"/>
                  </a:schemeClr>
                </a:solidFill>
                <a:latin typeface="Cavolini" panose="03000502040302020204" pitchFamily="66" charset="0"/>
                <a:cs typeface="Cavolini" panose="03000502040302020204" pitchFamily="66" charset="0"/>
              </a:rPr>
              <a:t>Ukuran</a:t>
            </a:r>
            <a:r>
              <a:rPr lang="es-ES" altLang="en-US" sz="2400" b="1" dirty="0">
                <a:solidFill>
                  <a:schemeClr val="accent6">
                    <a:lumMod val="50000"/>
                  </a:schemeClr>
                </a:solidFill>
                <a:latin typeface="Cavolini" panose="03000502040302020204" pitchFamily="66" charset="0"/>
                <a:cs typeface="Cavolini" panose="03000502040302020204" pitchFamily="66" charset="0"/>
              </a:rPr>
              <a:t> </a:t>
            </a:r>
            <a:r>
              <a:rPr lang="es-ES" altLang="en-US" sz="2400"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sz="2400" b="1" dirty="0">
                <a:solidFill>
                  <a:schemeClr val="accent6">
                    <a:lumMod val="50000"/>
                  </a:schemeClr>
                </a:solidFill>
                <a:latin typeface="Cavolini" panose="03000502040302020204" pitchFamily="66" charset="0"/>
                <a:cs typeface="Cavolini" panose="03000502040302020204" pitchFamily="66" charset="0"/>
              </a:rPr>
              <a:t> Panas </a:t>
            </a:r>
            <a:r>
              <a:rPr lang="es-ES" altLang="en-US" sz="2400" b="1" dirty="0" err="1">
                <a:solidFill>
                  <a:schemeClr val="accent6">
                    <a:lumMod val="50000"/>
                  </a:schemeClr>
                </a:solidFill>
                <a:latin typeface="Cavolini" panose="03000502040302020204" pitchFamily="66" charset="0"/>
                <a:cs typeface="Cavolini" panose="03000502040302020204" pitchFamily="66" charset="0"/>
              </a:rPr>
              <a:t>Bumi</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1890010" y="1377721"/>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4.2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TextBox 1">
            <a:extLst>
              <a:ext uri="{FF2B5EF4-FFF2-40B4-BE49-F238E27FC236}">
                <a16:creationId xmlns:a16="http://schemas.microsoft.com/office/drawing/2014/main" id="{227AB8C2-14C7-F564-8040-707CDFD0107E}"/>
              </a:ext>
            </a:extLst>
          </p:cNvPr>
          <p:cNvSpPr txBox="1"/>
          <p:nvPr/>
        </p:nvSpPr>
        <p:spPr>
          <a:xfrm>
            <a:off x="3023066" y="2404104"/>
            <a:ext cx="2569934" cy="97084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Big Bore Hole</a:t>
            </a:r>
          </a:p>
          <a:p>
            <a:pPr marL="285750" indent="-285750">
              <a:lnSpc>
                <a:spcPct val="150000"/>
              </a:lnSpc>
              <a:buFont typeface="Arial" panose="020B0604020202020204" pitchFamily="34" charset="0"/>
              <a:buChar char="•"/>
            </a:pPr>
            <a:r>
              <a:rPr lang="en-US" sz="2000"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Standard Hole </a:t>
            </a:r>
          </a:p>
        </p:txBody>
      </p:sp>
    </p:spTree>
    <p:extLst>
      <p:ext uri="{BB962C8B-B14F-4D97-AF65-F5344CB8AC3E}">
        <p14:creationId xmlns:p14="http://schemas.microsoft.com/office/powerpoint/2010/main" val="9948739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B068E-91FB-77B6-586C-82D25FFBBFF2}"/>
              </a:ext>
            </a:extLst>
          </p:cNvPr>
          <p:cNvSpPr>
            <a:spLocks noGrp="1"/>
          </p:cNvSpPr>
          <p:nvPr>
            <p:ph type="title"/>
          </p:nvPr>
        </p:nvSpPr>
        <p:spPr>
          <a:xfrm>
            <a:off x="521207" y="448056"/>
            <a:ext cx="10621714" cy="640080"/>
          </a:xfrm>
        </p:spPr>
        <p:txBody>
          <a:bodyPr>
            <a:normAutofit/>
          </a:bodyPr>
          <a:lstStyle/>
          <a:p>
            <a:r>
              <a:rPr lang="en-US" dirty="0"/>
              <a:t>Well Design: </a:t>
            </a:r>
            <a:r>
              <a:rPr lang="en-US" b="1" dirty="0">
                <a:solidFill>
                  <a:srgbClr val="C00000"/>
                </a:solidFill>
              </a:rPr>
              <a:t>STANDARD</a:t>
            </a:r>
            <a:r>
              <a:rPr lang="en-US" dirty="0"/>
              <a:t> Hole OR </a:t>
            </a:r>
            <a:r>
              <a:rPr lang="en-US" b="1" dirty="0">
                <a:solidFill>
                  <a:srgbClr val="C00000"/>
                </a:solidFill>
              </a:rPr>
              <a:t>BIG BORE Hole</a:t>
            </a:r>
            <a:endParaRPr lang="en-ID" b="1" dirty="0">
              <a:solidFill>
                <a:srgbClr val="C00000"/>
              </a:solidFill>
            </a:endParaRPr>
          </a:p>
        </p:txBody>
      </p:sp>
      <p:pic>
        <p:nvPicPr>
          <p:cNvPr id="4" name="Picture 3">
            <a:extLst>
              <a:ext uri="{FF2B5EF4-FFF2-40B4-BE49-F238E27FC236}">
                <a16:creationId xmlns:a16="http://schemas.microsoft.com/office/drawing/2014/main" id="{7E48AD52-25EC-6A5D-8596-63CAE1877F82}"/>
              </a:ext>
            </a:extLst>
          </p:cNvPr>
          <p:cNvPicPr>
            <a:picLocks noChangeAspect="1"/>
          </p:cNvPicPr>
          <p:nvPr/>
        </p:nvPicPr>
        <p:blipFill>
          <a:blip r:embed="rId2"/>
          <a:stretch>
            <a:fillRect/>
          </a:stretch>
        </p:blipFill>
        <p:spPr>
          <a:xfrm>
            <a:off x="9741818" y="1244008"/>
            <a:ext cx="2130165" cy="5613992"/>
          </a:xfrm>
          <a:prstGeom prst="rect">
            <a:avLst/>
          </a:prstGeom>
        </p:spPr>
      </p:pic>
      <p:graphicFrame>
        <p:nvGraphicFramePr>
          <p:cNvPr id="5" name="Table 5">
            <a:extLst>
              <a:ext uri="{FF2B5EF4-FFF2-40B4-BE49-F238E27FC236}">
                <a16:creationId xmlns:a16="http://schemas.microsoft.com/office/drawing/2014/main" id="{5FCD5256-E527-1D1F-5E40-6FCCE6E14CB4}"/>
              </a:ext>
            </a:extLst>
          </p:cNvPr>
          <p:cNvGraphicFramePr>
            <a:graphicFrameLocks noGrp="1"/>
          </p:cNvGraphicFramePr>
          <p:nvPr/>
        </p:nvGraphicFramePr>
        <p:xfrm>
          <a:off x="2581939" y="1244008"/>
          <a:ext cx="7028121" cy="5532120"/>
        </p:xfrm>
        <a:graphic>
          <a:graphicData uri="http://schemas.openxmlformats.org/drawingml/2006/table">
            <a:tbl>
              <a:tblPr firstRow="1" bandRow="1">
                <a:tableStyleId>{5C22544A-7EE6-4342-B048-85BDC9FD1C3A}</a:tableStyleId>
              </a:tblPr>
              <a:tblGrid>
                <a:gridCol w="1777410">
                  <a:extLst>
                    <a:ext uri="{9D8B030D-6E8A-4147-A177-3AD203B41FA5}">
                      <a16:colId xmlns:a16="http://schemas.microsoft.com/office/drawing/2014/main" val="1489851701"/>
                    </a:ext>
                  </a:extLst>
                </a:gridCol>
                <a:gridCol w="3519377">
                  <a:extLst>
                    <a:ext uri="{9D8B030D-6E8A-4147-A177-3AD203B41FA5}">
                      <a16:colId xmlns:a16="http://schemas.microsoft.com/office/drawing/2014/main" val="1423644752"/>
                    </a:ext>
                  </a:extLst>
                </a:gridCol>
                <a:gridCol w="1731334">
                  <a:extLst>
                    <a:ext uri="{9D8B030D-6E8A-4147-A177-3AD203B41FA5}">
                      <a16:colId xmlns:a16="http://schemas.microsoft.com/office/drawing/2014/main" val="4008796999"/>
                    </a:ext>
                  </a:extLst>
                </a:gridCol>
              </a:tblGrid>
              <a:tr h="370840">
                <a:tc>
                  <a:txBody>
                    <a:bodyPr/>
                    <a:lstStyle/>
                    <a:p>
                      <a:r>
                        <a:rPr lang="en-US" dirty="0">
                          <a:solidFill>
                            <a:srgbClr val="FFFF00"/>
                          </a:solidFill>
                        </a:rPr>
                        <a:t>Standard Hole</a:t>
                      </a:r>
                      <a:endParaRPr lang="en-ID" dirty="0">
                        <a:solidFill>
                          <a:srgbClr val="FFFF00"/>
                        </a:solidFill>
                      </a:endParaRPr>
                    </a:p>
                  </a:txBody>
                  <a:tcPr/>
                </a:tc>
                <a:tc>
                  <a:txBody>
                    <a:bodyPr/>
                    <a:lstStyle/>
                    <a:p>
                      <a:pPr algn="ctr"/>
                      <a:r>
                        <a:rPr lang="en-US" dirty="0"/>
                        <a:t>Comparison Description</a:t>
                      </a:r>
                      <a:endParaRPr lang="en-ID" dirty="0"/>
                    </a:p>
                  </a:txBody>
                  <a:tcPr/>
                </a:tc>
                <a:tc>
                  <a:txBody>
                    <a:bodyPr/>
                    <a:lstStyle/>
                    <a:p>
                      <a:r>
                        <a:rPr lang="en-US" dirty="0">
                          <a:solidFill>
                            <a:srgbClr val="FFFF00"/>
                          </a:solidFill>
                        </a:rPr>
                        <a:t>Big Bore Hole</a:t>
                      </a:r>
                      <a:endParaRPr lang="en-ID" dirty="0">
                        <a:solidFill>
                          <a:srgbClr val="FFFF00"/>
                        </a:solidFill>
                      </a:endParaRPr>
                    </a:p>
                  </a:txBody>
                  <a:tcPr/>
                </a:tc>
                <a:extLst>
                  <a:ext uri="{0D108BD9-81ED-4DB2-BD59-A6C34878D82A}">
                    <a16:rowId xmlns:a16="http://schemas.microsoft.com/office/drawing/2014/main" val="2488493071"/>
                  </a:ext>
                </a:extLst>
              </a:tr>
              <a:tr h="370840">
                <a:tc gridSpan="3">
                  <a:txBody>
                    <a:bodyPr/>
                    <a:lstStyle/>
                    <a:p>
                      <a:pPr algn="ctr"/>
                      <a:r>
                        <a:rPr lang="en-US" b="1" dirty="0">
                          <a:solidFill>
                            <a:srgbClr val="C00000"/>
                          </a:solidFill>
                        </a:rPr>
                        <a:t>ABOVE TOR (Top Of Reservoir)</a:t>
                      </a:r>
                      <a:endParaRPr lang="en-ID" b="1" dirty="0">
                        <a:solidFill>
                          <a:srgbClr val="C00000"/>
                        </a:solidFill>
                      </a:endParaRPr>
                    </a:p>
                  </a:txBody>
                  <a:tcPr/>
                </a:tc>
                <a:tc hMerge="1">
                  <a:txBody>
                    <a:bodyPr/>
                    <a:lstStyle/>
                    <a:p>
                      <a:pPr algn="ctr"/>
                      <a:endParaRPr lang="en-ID" dirty="0"/>
                    </a:p>
                  </a:txBody>
                  <a:tcPr/>
                </a:tc>
                <a:tc hMerge="1">
                  <a:txBody>
                    <a:bodyPr/>
                    <a:lstStyle/>
                    <a:p>
                      <a:pPr algn="ctr"/>
                      <a:endParaRPr lang="en-ID" dirty="0"/>
                    </a:p>
                  </a:txBody>
                  <a:tcPr/>
                </a:tc>
                <a:extLst>
                  <a:ext uri="{0D108BD9-81ED-4DB2-BD59-A6C34878D82A}">
                    <a16:rowId xmlns:a16="http://schemas.microsoft.com/office/drawing/2014/main" val="1147212204"/>
                  </a:ext>
                </a:extLst>
              </a:tr>
              <a:tr h="370840">
                <a:tc>
                  <a:txBody>
                    <a:bodyPr/>
                    <a:lstStyle/>
                    <a:p>
                      <a:pPr algn="ctr"/>
                      <a:r>
                        <a:rPr lang="en-US" dirty="0"/>
                        <a:t>4</a:t>
                      </a:r>
                      <a:endParaRPr lang="en-ID" dirty="0"/>
                    </a:p>
                  </a:txBody>
                  <a:tcPr/>
                </a:tc>
                <a:tc>
                  <a:txBody>
                    <a:bodyPr/>
                    <a:lstStyle/>
                    <a:p>
                      <a:pPr algn="ctr"/>
                      <a:r>
                        <a:rPr lang="en-US" dirty="0"/>
                        <a:t>Number of casing size &amp; Wellhead</a:t>
                      </a:r>
                      <a:endParaRPr lang="en-ID" dirty="0"/>
                    </a:p>
                  </a:txBody>
                  <a:tcPr/>
                </a:tc>
                <a:tc>
                  <a:txBody>
                    <a:bodyPr/>
                    <a:lstStyle/>
                    <a:p>
                      <a:pPr algn="ctr"/>
                      <a:r>
                        <a:rPr lang="en-US" dirty="0"/>
                        <a:t>3</a:t>
                      </a:r>
                      <a:endParaRPr lang="en-ID" dirty="0"/>
                    </a:p>
                  </a:txBody>
                  <a:tcPr/>
                </a:tc>
                <a:extLst>
                  <a:ext uri="{0D108BD9-81ED-4DB2-BD59-A6C34878D82A}">
                    <a16:rowId xmlns:a16="http://schemas.microsoft.com/office/drawing/2014/main" val="3648543099"/>
                  </a:ext>
                </a:extLst>
              </a:tr>
              <a:tr h="370840">
                <a:tc>
                  <a:txBody>
                    <a:bodyPr/>
                    <a:lstStyle/>
                    <a:p>
                      <a:pPr algn="ctr"/>
                      <a:r>
                        <a:rPr lang="en-US" dirty="0"/>
                        <a:t>4</a:t>
                      </a:r>
                      <a:endParaRPr lang="en-ID" dirty="0"/>
                    </a:p>
                  </a:txBody>
                  <a:tcPr/>
                </a:tc>
                <a:tc>
                  <a:txBody>
                    <a:bodyPr/>
                    <a:lstStyle/>
                    <a:p>
                      <a:pPr algn="ctr"/>
                      <a:r>
                        <a:rPr lang="en-US" dirty="0"/>
                        <a:t>BOP and Wellhead installation, Cementing Job, Dumping Cement, WOC</a:t>
                      </a:r>
                      <a:endParaRPr lang="en-ID" dirty="0"/>
                    </a:p>
                  </a:txBody>
                  <a:tcPr/>
                </a:tc>
                <a:tc>
                  <a:txBody>
                    <a:bodyPr/>
                    <a:lstStyle/>
                    <a:p>
                      <a:pPr algn="ctr"/>
                      <a:r>
                        <a:rPr lang="en-US" dirty="0"/>
                        <a:t>3</a:t>
                      </a:r>
                      <a:endParaRPr lang="en-ID" dirty="0"/>
                    </a:p>
                  </a:txBody>
                  <a:tcPr/>
                </a:tc>
                <a:extLst>
                  <a:ext uri="{0D108BD9-81ED-4DB2-BD59-A6C34878D82A}">
                    <a16:rowId xmlns:a16="http://schemas.microsoft.com/office/drawing/2014/main" val="189291462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4</a:t>
                      </a:r>
                      <a:endParaRPr lang="en-ID" dirty="0"/>
                    </a:p>
                  </a:txBody>
                  <a:tcPr/>
                </a:tc>
                <a:tc>
                  <a:txBody>
                    <a:bodyPr/>
                    <a:lstStyle/>
                    <a:p>
                      <a:pPr algn="ctr"/>
                      <a:r>
                        <a:rPr lang="en-US" dirty="0"/>
                        <a:t>Minimum BHA Size and Trip</a:t>
                      </a:r>
                      <a:endParaRPr lang="en-ID" dirty="0"/>
                    </a:p>
                  </a:txBody>
                  <a:tcPr/>
                </a:tc>
                <a:tc>
                  <a:txBody>
                    <a:bodyPr/>
                    <a:lstStyle/>
                    <a:p>
                      <a:pPr algn="ctr"/>
                      <a:r>
                        <a:rPr lang="en-US" dirty="0"/>
                        <a:t>3</a:t>
                      </a:r>
                      <a:endParaRPr lang="en-ID" dirty="0"/>
                    </a:p>
                  </a:txBody>
                  <a:tcPr/>
                </a:tc>
                <a:extLst>
                  <a:ext uri="{0D108BD9-81ED-4DB2-BD59-A6C34878D82A}">
                    <a16:rowId xmlns:a16="http://schemas.microsoft.com/office/drawing/2014/main" val="2063204342"/>
                  </a:ext>
                </a:extLst>
              </a:tr>
              <a:tr h="370840">
                <a:tc>
                  <a:txBody>
                    <a:bodyPr/>
                    <a:lstStyle/>
                    <a:p>
                      <a:pPr algn="ctr"/>
                      <a:r>
                        <a:rPr lang="en-US" dirty="0"/>
                        <a:t>4</a:t>
                      </a:r>
                      <a:endParaRPr lang="en-ID" dirty="0"/>
                    </a:p>
                  </a:txBody>
                  <a:tcPr/>
                </a:tc>
                <a:tc>
                  <a:txBody>
                    <a:bodyPr/>
                    <a:lstStyle/>
                    <a:p>
                      <a:pPr algn="ctr"/>
                      <a:r>
                        <a:rPr lang="en-US" dirty="0"/>
                        <a:t>No of Bit Size</a:t>
                      </a:r>
                      <a:endParaRPr lang="en-ID" dirty="0"/>
                    </a:p>
                  </a:txBody>
                  <a:tcPr/>
                </a:tc>
                <a:tc>
                  <a:txBody>
                    <a:bodyPr/>
                    <a:lstStyle/>
                    <a:p>
                      <a:pPr algn="ctr"/>
                      <a:r>
                        <a:rPr lang="en-US" dirty="0"/>
                        <a:t>3</a:t>
                      </a:r>
                      <a:endParaRPr lang="en-ID" dirty="0"/>
                    </a:p>
                  </a:txBody>
                  <a:tcPr/>
                </a:tc>
                <a:extLst>
                  <a:ext uri="{0D108BD9-81ED-4DB2-BD59-A6C34878D82A}">
                    <a16:rowId xmlns:a16="http://schemas.microsoft.com/office/drawing/2014/main" val="1035928045"/>
                  </a:ext>
                </a:extLst>
              </a:tr>
              <a:tr h="370840">
                <a:tc gridSpan="3">
                  <a:txBody>
                    <a:bodyPr/>
                    <a:lstStyle/>
                    <a:p>
                      <a:pPr algn="ctr"/>
                      <a:r>
                        <a:rPr lang="en-US" b="1" dirty="0">
                          <a:solidFill>
                            <a:srgbClr val="C00000"/>
                          </a:solidFill>
                        </a:rPr>
                        <a:t>BELOW TOR (Top Of Reservoir)</a:t>
                      </a:r>
                      <a:endParaRPr lang="en-ID" b="1" dirty="0">
                        <a:solidFill>
                          <a:srgbClr val="C00000"/>
                        </a:solidFill>
                      </a:endParaRPr>
                    </a:p>
                  </a:txBody>
                  <a:tcPr/>
                </a:tc>
                <a:tc hMerge="1">
                  <a:txBody>
                    <a:bodyPr/>
                    <a:lstStyle/>
                    <a:p>
                      <a:pPr algn="ctr"/>
                      <a:endParaRPr lang="en-ID" dirty="0"/>
                    </a:p>
                  </a:txBody>
                  <a:tcPr/>
                </a:tc>
                <a:tc hMerge="1">
                  <a:txBody>
                    <a:bodyPr/>
                    <a:lstStyle/>
                    <a:p>
                      <a:pPr algn="ctr"/>
                      <a:endParaRPr lang="en-ID" dirty="0"/>
                    </a:p>
                  </a:txBody>
                  <a:tcPr/>
                </a:tc>
                <a:extLst>
                  <a:ext uri="{0D108BD9-81ED-4DB2-BD59-A6C34878D82A}">
                    <a16:rowId xmlns:a16="http://schemas.microsoft.com/office/drawing/2014/main" val="1899248587"/>
                  </a:ext>
                </a:extLst>
              </a:tr>
              <a:tr h="370840">
                <a:tc>
                  <a:txBody>
                    <a:bodyPr/>
                    <a:lstStyle/>
                    <a:p>
                      <a:pPr algn="ctr"/>
                      <a:r>
                        <a:rPr lang="en-US" dirty="0"/>
                        <a:t>1 up to 2</a:t>
                      </a:r>
                      <a:endParaRPr lang="en-ID" dirty="0"/>
                    </a:p>
                  </a:txBody>
                  <a:tcPr/>
                </a:tc>
                <a:tc>
                  <a:txBody>
                    <a:bodyPr/>
                    <a:lstStyle/>
                    <a:p>
                      <a:pPr algn="ctr"/>
                      <a:r>
                        <a:rPr lang="en-US" dirty="0"/>
                        <a:t>Number of casing size </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 up to 3</a:t>
                      </a:r>
                      <a:endParaRPr lang="en-ID" dirty="0"/>
                    </a:p>
                  </a:txBody>
                  <a:tcPr/>
                </a:tc>
                <a:extLst>
                  <a:ext uri="{0D108BD9-81ED-4DB2-BD59-A6C34878D82A}">
                    <a16:rowId xmlns:a16="http://schemas.microsoft.com/office/drawing/2014/main" val="2880223474"/>
                  </a:ext>
                </a:extLst>
              </a:tr>
              <a:tr h="370840">
                <a:tc>
                  <a:txBody>
                    <a:bodyPr/>
                    <a:lstStyle/>
                    <a:p>
                      <a:pPr algn="ctr"/>
                      <a:r>
                        <a:rPr lang="en-US" dirty="0"/>
                        <a:t>8-1/2 &amp; 6-1/8</a:t>
                      </a:r>
                      <a:endParaRPr lang="en-ID" dirty="0"/>
                    </a:p>
                  </a:txBody>
                  <a:tcPr/>
                </a:tc>
                <a:tc>
                  <a:txBody>
                    <a:bodyPr/>
                    <a:lstStyle/>
                    <a:p>
                      <a:pPr algn="ctr"/>
                      <a:r>
                        <a:rPr lang="en-US" dirty="0"/>
                        <a:t>Hole Size, in</a:t>
                      </a:r>
                      <a:endParaRPr lang="en-ID" dirty="0"/>
                    </a:p>
                  </a:txBody>
                  <a:tcPr/>
                </a:tc>
                <a:tc>
                  <a:txBody>
                    <a:bodyPr/>
                    <a:lstStyle/>
                    <a:p>
                      <a:pPr algn="ctr"/>
                      <a:r>
                        <a:rPr lang="en-US" dirty="0"/>
                        <a:t>12-1/4”, 9-7/8”, 7-7/8”</a:t>
                      </a:r>
                      <a:endParaRPr lang="en-ID" dirty="0"/>
                    </a:p>
                  </a:txBody>
                  <a:tcPr/>
                </a:tc>
                <a:extLst>
                  <a:ext uri="{0D108BD9-81ED-4DB2-BD59-A6C34878D82A}">
                    <a16:rowId xmlns:a16="http://schemas.microsoft.com/office/drawing/2014/main" val="3011716492"/>
                  </a:ext>
                </a:extLst>
              </a:tr>
              <a:tr h="370840">
                <a:tc>
                  <a:txBody>
                    <a:bodyPr/>
                    <a:lstStyle/>
                    <a:p>
                      <a:pPr algn="ctr"/>
                      <a:r>
                        <a:rPr lang="en-US" dirty="0"/>
                        <a:t>5” and 3-1/2”</a:t>
                      </a:r>
                      <a:endParaRPr lang="en-ID" dirty="0"/>
                    </a:p>
                  </a:txBody>
                  <a:tcPr/>
                </a:tc>
                <a:tc>
                  <a:txBody>
                    <a:bodyPr/>
                    <a:lstStyle/>
                    <a:p>
                      <a:pPr algn="ctr"/>
                      <a:r>
                        <a:rPr lang="en-US" dirty="0"/>
                        <a:t>Drill Pipe Size</a:t>
                      </a:r>
                      <a:endParaRPr lang="en-ID" dirty="0"/>
                    </a:p>
                  </a:txBody>
                  <a:tcPr/>
                </a:tc>
                <a:tc>
                  <a:txBody>
                    <a:bodyPr/>
                    <a:lstStyle/>
                    <a:p>
                      <a:pPr algn="ctr"/>
                      <a:r>
                        <a:rPr lang="en-US" dirty="0"/>
                        <a:t>5” only</a:t>
                      </a:r>
                      <a:endParaRPr lang="en-ID" dirty="0"/>
                    </a:p>
                  </a:txBody>
                  <a:tcPr/>
                </a:tc>
                <a:extLst>
                  <a:ext uri="{0D108BD9-81ED-4DB2-BD59-A6C34878D82A}">
                    <a16:rowId xmlns:a16="http://schemas.microsoft.com/office/drawing/2014/main" val="783841342"/>
                  </a:ext>
                </a:extLst>
              </a:tr>
              <a:tr h="370840">
                <a:tc>
                  <a:txBody>
                    <a:bodyPr/>
                    <a:lstStyle/>
                    <a:p>
                      <a:pPr algn="ctr"/>
                      <a:r>
                        <a:rPr lang="en-US" dirty="0"/>
                        <a:t>6-1/2” &amp; 4-3/4”</a:t>
                      </a:r>
                      <a:endParaRPr lang="en-ID" dirty="0"/>
                    </a:p>
                  </a:txBody>
                  <a:tcPr/>
                </a:tc>
                <a:tc>
                  <a:txBody>
                    <a:bodyPr/>
                    <a:lstStyle/>
                    <a:p>
                      <a:pPr algn="ctr"/>
                      <a:r>
                        <a:rPr lang="en-US" dirty="0"/>
                        <a:t>MM and MWD</a:t>
                      </a:r>
                      <a:endParaRPr lang="en-ID" dirty="0"/>
                    </a:p>
                  </a:txBody>
                  <a:tcPr/>
                </a:tc>
                <a:tc>
                  <a:txBody>
                    <a:bodyPr/>
                    <a:lstStyle/>
                    <a:p>
                      <a:pPr algn="ctr"/>
                      <a:r>
                        <a:rPr lang="en-US" dirty="0"/>
                        <a:t>8” and 6-1/2”</a:t>
                      </a:r>
                      <a:endParaRPr lang="en-ID" dirty="0"/>
                    </a:p>
                  </a:txBody>
                  <a:tcPr/>
                </a:tc>
                <a:extLst>
                  <a:ext uri="{0D108BD9-81ED-4DB2-BD59-A6C34878D82A}">
                    <a16:rowId xmlns:a16="http://schemas.microsoft.com/office/drawing/2014/main" val="2918852706"/>
                  </a:ext>
                </a:extLst>
              </a:tr>
              <a:tr h="370840">
                <a:tc>
                  <a:txBody>
                    <a:bodyPr/>
                    <a:lstStyle/>
                    <a:p>
                      <a:pPr algn="ctr"/>
                      <a:r>
                        <a:rPr lang="en-US" dirty="0"/>
                        <a:t>Less</a:t>
                      </a:r>
                      <a:endParaRPr lang="en-ID" dirty="0"/>
                    </a:p>
                  </a:txBody>
                  <a:tcPr/>
                </a:tc>
                <a:tc>
                  <a:txBody>
                    <a:bodyPr/>
                    <a:lstStyle/>
                    <a:p>
                      <a:pPr algn="ctr"/>
                      <a:r>
                        <a:rPr lang="en-US" dirty="0"/>
                        <a:t>Production Flow</a:t>
                      </a:r>
                      <a:endParaRPr lang="en-ID" dirty="0"/>
                    </a:p>
                  </a:txBody>
                  <a:tcPr/>
                </a:tc>
                <a:tc>
                  <a:txBody>
                    <a:bodyPr/>
                    <a:lstStyle/>
                    <a:p>
                      <a:pPr algn="ctr"/>
                      <a:r>
                        <a:rPr lang="en-US" dirty="0"/>
                        <a:t>Bigger</a:t>
                      </a:r>
                      <a:endParaRPr lang="en-ID" dirty="0"/>
                    </a:p>
                  </a:txBody>
                  <a:tcPr/>
                </a:tc>
                <a:extLst>
                  <a:ext uri="{0D108BD9-81ED-4DB2-BD59-A6C34878D82A}">
                    <a16:rowId xmlns:a16="http://schemas.microsoft.com/office/drawing/2014/main" val="2756102719"/>
                  </a:ext>
                </a:extLst>
              </a:tr>
            </a:tbl>
          </a:graphicData>
        </a:graphic>
      </p:graphicFrame>
      <p:pic>
        <p:nvPicPr>
          <p:cNvPr id="6" name="Picture 5">
            <a:extLst>
              <a:ext uri="{FF2B5EF4-FFF2-40B4-BE49-F238E27FC236}">
                <a16:creationId xmlns:a16="http://schemas.microsoft.com/office/drawing/2014/main" id="{FC5FA1BB-AAF6-5E5F-C687-C4E62A161647}"/>
              </a:ext>
            </a:extLst>
          </p:cNvPr>
          <p:cNvPicPr>
            <a:picLocks noChangeAspect="1"/>
          </p:cNvPicPr>
          <p:nvPr/>
        </p:nvPicPr>
        <p:blipFill>
          <a:blip r:embed="rId3"/>
          <a:stretch>
            <a:fillRect/>
          </a:stretch>
        </p:blipFill>
        <p:spPr>
          <a:xfrm>
            <a:off x="320742" y="1244008"/>
            <a:ext cx="2152786" cy="5613992"/>
          </a:xfrm>
          <a:prstGeom prst="rect">
            <a:avLst/>
          </a:prstGeom>
        </p:spPr>
      </p:pic>
    </p:spTree>
    <p:extLst>
      <p:ext uri="{BB962C8B-B14F-4D97-AF65-F5344CB8AC3E}">
        <p14:creationId xmlns:p14="http://schemas.microsoft.com/office/powerpoint/2010/main" val="38129216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B068E-91FB-77B6-586C-82D25FFBBFF2}"/>
              </a:ext>
            </a:extLst>
          </p:cNvPr>
          <p:cNvSpPr>
            <a:spLocks noGrp="1"/>
          </p:cNvSpPr>
          <p:nvPr>
            <p:ph type="title"/>
          </p:nvPr>
        </p:nvSpPr>
        <p:spPr>
          <a:xfrm>
            <a:off x="521207" y="448056"/>
            <a:ext cx="8505835" cy="640080"/>
          </a:xfrm>
        </p:spPr>
        <p:txBody>
          <a:bodyPr>
            <a:normAutofit fontScale="90000"/>
          </a:bodyPr>
          <a:lstStyle/>
          <a:p>
            <a:r>
              <a:rPr lang="en-US" dirty="0"/>
              <a:t>Ideal Well Design: Big Bore Casing Schematic, Dual String</a:t>
            </a:r>
            <a:endParaRPr lang="en-ID" dirty="0"/>
          </a:p>
        </p:txBody>
      </p:sp>
      <p:sp>
        <p:nvSpPr>
          <p:cNvPr id="6" name="TextBox 5">
            <a:extLst>
              <a:ext uri="{FF2B5EF4-FFF2-40B4-BE49-F238E27FC236}">
                <a16:creationId xmlns:a16="http://schemas.microsoft.com/office/drawing/2014/main" id="{8D04CF5A-9EDA-CDBE-9794-686B09D0E201}"/>
              </a:ext>
            </a:extLst>
          </p:cNvPr>
          <p:cNvSpPr txBox="1"/>
          <p:nvPr/>
        </p:nvSpPr>
        <p:spPr>
          <a:xfrm>
            <a:off x="7324929" y="1456659"/>
            <a:ext cx="4668598"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20” casing depth (400 – 550 m-MD) depend on 13-3/8” production casing depth.</a:t>
            </a:r>
          </a:p>
          <a:p>
            <a:pPr marL="285750" indent="-285750">
              <a:buFont typeface="Arial" panose="020B0604020202020204" pitchFamily="34" charset="0"/>
              <a:buChar char="•"/>
            </a:pPr>
            <a:r>
              <a:rPr lang="en-US" sz="2400" dirty="0"/>
              <a:t>13-3/8” production setting depth will be advised by Sub-surface team. </a:t>
            </a:r>
          </a:p>
          <a:p>
            <a:pPr marL="285750" indent="-285750">
              <a:buFont typeface="Arial" panose="020B0604020202020204" pitchFamily="34" charset="0"/>
              <a:buChar char="•"/>
            </a:pPr>
            <a:r>
              <a:rPr lang="en-US" sz="2400" dirty="0"/>
              <a:t>13-3/8” shoe depth as deep as possible to reduce long 12-1/4” hole section.</a:t>
            </a:r>
            <a:endParaRPr lang="en-ID" sz="2400" dirty="0"/>
          </a:p>
        </p:txBody>
      </p:sp>
      <p:pic>
        <p:nvPicPr>
          <p:cNvPr id="7" name="Picture 6">
            <a:extLst>
              <a:ext uri="{FF2B5EF4-FFF2-40B4-BE49-F238E27FC236}">
                <a16:creationId xmlns:a16="http://schemas.microsoft.com/office/drawing/2014/main" id="{7F25C072-9F7A-92EE-89EC-6477CD8126F9}"/>
              </a:ext>
            </a:extLst>
          </p:cNvPr>
          <p:cNvPicPr>
            <a:picLocks noChangeAspect="1"/>
          </p:cNvPicPr>
          <p:nvPr/>
        </p:nvPicPr>
        <p:blipFill>
          <a:blip r:embed="rId2"/>
          <a:stretch>
            <a:fillRect/>
          </a:stretch>
        </p:blipFill>
        <p:spPr>
          <a:xfrm>
            <a:off x="336697" y="1246554"/>
            <a:ext cx="6914708" cy="5611445"/>
          </a:xfrm>
          <a:prstGeom prst="rect">
            <a:avLst/>
          </a:prstGeom>
        </p:spPr>
      </p:pic>
    </p:spTree>
    <p:extLst>
      <p:ext uri="{BB962C8B-B14F-4D97-AF65-F5344CB8AC3E}">
        <p14:creationId xmlns:p14="http://schemas.microsoft.com/office/powerpoint/2010/main" val="28452045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37F65E-1AD8-D99F-846B-6D9ED4FCB38E}"/>
              </a:ext>
            </a:extLst>
          </p:cNvPr>
          <p:cNvPicPr>
            <a:picLocks noChangeAspect="1"/>
          </p:cNvPicPr>
          <p:nvPr/>
        </p:nvPicPr>
        <p:blipFill>
          <a:blip r:embed="rId2"/>
          <a:stretch>
            <a:fillRect/>
          </a:stretch>
        </p:blipFill>
        <p:spPr>
          <a:xfrm>
            <a:off x="67888" y="1212112"/>
            <a:ext cx="6997546" cy="5645888"/>
          </a:xfrm>
          <a:prstGeom prst="rect">
            <a:avLst/>
          </a:prstGeom>
        </p:spPr>
      </p:pic>
      <p:sp>
        <p:nvSpPr>
          <p:cNvPr id="2" name="Title 1">
            <a:extLst>
              <a:ext uri="{FF2B5EF4-FFF2-40B4-BE49-F238E27FC236}">
                <a16:creationId xmlns:a16="http://schemas.microsoft.com/office/drawing/2014/main" id="{275B068E-91FB-77B6-586C-82D25FFBBFF2}"/>
              </a:ext>
            </a:extLst>
          </p:cNvPr>
          <p:cNvSpPr>
            <a:spLocks noGrp="1"/>
          </p:cNvSpPr>
          <p:nvPr>
            <p:ph type="title"/>
          </p:nvPr>
        </p:nvSpPr>
        <p:spPr>
          <a:xfrm>
            <a:off x="521207" y="448056"/>
            <a:ext cx="11047016" cy="640080"/>
          </a:xfrm>
        </p:spPr>
        <p:txBody>
          <a:bodyPr>
            <a:normAutofit fontScale="90000"/>
          </a:bodyPr>
          <a:lstStyle/>
          <a:p>
            <a:r>
              <a:rPr lang="en-US" dirty="0"/>
              <a:t>Well Design: </a:t>
            </a:r>
            <a:r>
              <a:rPr lang="en-US" b="1" dirty="0">
                <a:solidFill>
                  <a:srgbClr val="C00000"/>
                </a:solidFill>
              </a:rPr>
              <a:t>INTERMEDIATE – PRODUCTION </a:t>
            </a:r>
            <a:r>
              <a:rPr lang="en-US" dirty="0"/>
              <a:t>Hole Section </a:t>
            </a:r>
            <a:r>
              <a:rPr lang="en-US" dirty="0">
                <a:solidFill>
                  <a:srgbClr val="C00000"/>
                </a:solidFill>
              </a:rPr>
              <a:t>with Contingency Plan</a:t>
            </a:r>
            <a:endParaRPr lang="en-ID" dirty="0">
              <a:solidFill>
                <a:srgbClr val="C00000"/>
              </a:solidFill>
            </a:endParaRPr>
          </a:p>
        </p:txBody>
      </p:sp>
      <p:sp>
        <p:nvSpPr>
          <p:cNvPr id="4" name="TextBox 3">
            <a:extLst>
              <a:ext uri="{FF2B5EF4-FFF2-40B4-BE49-F238E27FC236}">
                <a16:creationId xmlns:a16="http://schemas.microsoft.com/office/drawing/2014/main" id="{203CB0CF-62BA-8A48-945A-768B73E7C605}"/>
              </a:ext>
            </a:extLst>
          </p:cNvPr>
          <p:cNvSpPr txBox="1"/>
          <p:nvPr/>
        </p:nvSpPr>
        <p:spPr>
          <a:xfrm>
            <a:off x="7038753" y="1382231"/>
            <a:ext cx="5071731" cy="5632311"/>
          </a:xfrm>
          <a:prstGeom prst="rect">
            <a:avLst/>
          </a:prstGeom>
          <a:noFill/>
        </p:spPr>
        <p:txBody>
          <a:bodyPr wrap="square" rtlCol="0">
            <a:spAutoFit/>
          </a:bodyPr>
          <a:lstStyle/>
          <a:p>
            <a:pPr marL="0" lvl="1"/>
            <a:r>
              <a:rPr lang="en-US" sz="2000" dirty="0">
                <a:solidFill>
                  <a:srgbClr val="C00000"/>
                </a:solidFill>
              </a:rPr>
              <a:t>INTERMEDIATE</a:t>
            </a:r>
            <a:r>
              <a:rPr lang="en-US" sz="2000" dirty="0"/>
              <a:t> Hole: If 13-3/8” Liner is un-able set at top of reservoir </a:t>
            </a:r>
            <a:r>
              <a:rPr lang="en-US" sz="2000" dirty="0">
                <a:sym typeface="Wingdings" panose="05000000000000000000" pitchFamily="2" charset="2"/>
              </a:rPr>
              <a:t></a:t>
            </a:r>
            <a:r>
              <a:rPr lang="en-US" sz="2000" dirty="0"/>
              <a:t> Contingency Plan:</a:t>
            </a:r>
          </a:p>
          <a:p>
            <a:pPr marL="342900" lvl="1" indent="-342900">
              <a:buFont typeface="Arial" panose="020B0604020202020204" pitchFamily="34" charset="0"/>
              <a:buChar char="•"/>
            </a:pPr>
            <a:r>
              <a:rPr lang="en-US" sz="2000" dirty="0"/>
              <a:t>Drill 12-1/4” to top of reservoir and set 9-5/8” Liner and cemented.</a:t>
            </a:r>
          </a:p>
          <a:p>
            <a:pPr marL="285750" indent="-285750">
              <a:buFont typeface="Arial" panose="020B0604020202020204" pitchFamily="34" charset="0"/>
              <a:buChar char="•"/>
            </a:pPr>
            <a:endParaRPr lang="en-US" sz="2000" dirty="0"/>
          </a:p>
          <a:p>
            <a:r>
              <a:rPr lang="en-US" sz="2000" dirty="0">
                <a:solidFill>
                  <a:srgbClr val="C00000"/>
                </a:solidFill>
              </a:rPr>
              <a:t>PRODUCTION</a:t>
            </a:r>
            <a:r>
              <a:rPr lang="en-US" sz="2000" dirty="0"/>
              <a:t> Hole: If any problem during drilling, and need set perforated liner earlier </a:t>
            </a:r>
            <a:r>
              <a:rPr lang="en-US" sz="2000" dirty="0">
                <a:sym typeface="Wingdings" panose="05000000000000000000" pitchFamily="2" charset="2"/>
              </a:rPr>
              <a:t> </a:t>
            </a:r>
            <a:r>
              <a:rPr lang="en-US" sz="2000" dirty="0"/>
              <a:t>Contingency Plan:</a:t>
            </a:r>
          </a:p>
          <a:p>
            <a:pPr marL="342900" indent="-342900">
              <a:buFont typeface="Arial" panose="020B0604020202020204" pitchFamily="34" charset="0"/>
              <a:buChar char="•"/>
            </a:pPr>
            <a:r>
              <a:rPr lang="en-US" sz="2000" dirty="0"/>
              <a:t>Drill 12-1/4” hole as deep as possible and set 10-3/4” perforated casing. </a:t>
            </a:r>
          </a:p>
          <a:p>
            <a:pPr marL="342900" indent="-342900">
              <a:buFont typeface="Arial" panose="020B0604020202020204" pitchFamily="34" charset="0"/>
              <a:buChar char="•"/>
            </a:pPr>
            <a:r>
              <a:rPr lang="en-US" sz="2000" dirty="0"/>
              <a:t>If not reach TD </a:t>
            </a:r>
            <a:r>
              <a:rPr lang="en-US" sz="2000" dirty="0">
                <a:sym typeface="Wingdings" panose="05000000000000000000" pitchFamily="2" charset="2"/>
              </a:rPr>
              <a:t> </a:t>
            </a:r>
            <a:r>
              <a:rPr lang="en-US" sz="2000" dirty="0"/>
              <a:t>Drill 9-7/8” hole as deep as possible and set 8-5/8” perforated casing. </a:t>
            </a:r>
          </a:p>
          <a:p>
            <a:pPr marL="342900" indent="-342900">
              <a:buFont typeface="Arial" panose="020B0604020202020204" pitchFamily="34" charset="0"/>
              <a:buChar char="•"/>
            </a:pPr>
            <a:r>
              <a:rPr lang="en-US" sz="2000" dirty="0"/>
              <a:t>If not reach TD </a:t>
            </a:r>
            <a:r>
              <a:rPr lang="en-US" sz="2000" dirty="0">
                <a:sym typeface="Wingdings" panose="05000000000000000000" pitchFamily="2" charset="2"/>
              </a:rPr>
              <a:t> </a:t>
            </a:r>
            <a:r>
              <a:rPr lang="en-US" sz="2000" dirty="0"/>
              <a:t>Drill 7-7/8” hole as deep as possible and set 7” perforated casing. </a:t>
            </a:r>
          </a:p>
          <a:p>
            <a:pPr marL="285750" indent="-285750">
              <a:buFont typeface="Arial" panose="020B0604020202020204" pitchFamily="34" charset="0"/>
              <a:buChar char="•"/>
            </a:pPr>
            <a:endParaRPr lang="en-ID" sz="2000" dirty="0"/>
          </a:p>
        </p:txBody>
      </p:sp>
      <p:cxnSp>
        <p:nvCxnSpPr>
          <p:cNvPr id="9" name="Straight Arrow Connector 8">
            <a:extLst>
              <a:ext uri="{FF2B5EF4-FFF2-40B4-BE49-F238E27FC236}">
                <a16:creationId xmlns:a16="http://schemas.microsoft.com/office/drawing/2014/main" id="{658DBAE7-8EBE-8D96-C9A9-BF20C85B4232}"/>
              </a:ext>
            </a:extLst>
          </p:cNvPr>
          <p:cNvCxnSpPr/>
          <p:nvPr/>
        </p:nvCxnSpPr>
        <p:spPr>
          <a:xfrm flipH="1">
            <a:off x="6251944" y="2700670"/>
            <a:ext cx="1020726" cy="499730"/>
          </a:xfrm>
          <a:prstGeom prst="straightConnector1">
            <a:avLst/>
          </a:prstGeom>
          <a:ln w="31750">
            <a:solidFill>
              <a:srgbClr val="C00000"/>
            </a:solidFill>
            <a:prstDash val="dashDot"/>
            <a:headEnd type="ova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9635FCC8-FFD9-C93E-DBA5-0E3BB4818066}"/>
              </a:ext>
            </a:extLst>
          </p:cNvPr>
          <p:cNvCxnSpPr>
            <a:cxnSpLocks/>
          </p:cNvCxnSpPr>
          <p:nvPr/>
        </p:nvCxnSpPr>
        <p:spPr>
          <a:xfrm flipH="1">
            <a:off x="4348716" y="4357876"/>
            <a:ext cx="2820336" cy="1692050"/>
          </a:xfrm>
          <a:prstGeom prst="straightConnector1">
            <a:avLst/>
          </a:prstGeom>
          <a:ln w="31750">
            <a:solidFill>
              <a:srgbClr val="C00000"/>
            </a:solidFill>
            <a:prstDash val="dashDot"/>
            <a:headEnd type="ova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790551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Optimasi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5" name="Rectangle 4">
            <a:extLst>
              <a:ext uri="{FF2B5EF4-FFF2-40B4-BE49-F238E27FC236}">
                <a16:creationId xmlns:a16="http://schemas.microsoft.com/office/drawing/2014/main" id="{FEA18FA2-826B-D284-53B8-B37906FB6BBA}"/>
              </a:ext>
            </a:extLst>
          </p:cNvPr>
          <p:cNvSpPr/>
          <p:nvPr/>
        </p:nvSpPr>
        <p:spPr>
          <a:xfrm>
            <a:off x="2583711" y="1405553"/>
            <a:ext cx="8389088" cy="748783"/>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Spesifikasi</a:t>
            </a:r>
            <a:r>
              <a:rPr lang="en-US" altLang="en-US" sz="2400" b="1" dirty="0">
                <a:latin typeface="Cavolini" panose="03000502040302020204" pitchFamily="66" charset="0"/>
                <a:cs typeface="Cavolini" panose="03000502040302020204" pitchFamily="66" charset="0"/>
              </a:rPr>
              <a:t> Casing dan Strategi </a:t>
            </a:r>
            <a:r>
              <a:rPr lang="en-US" altLang="en-US" sz="2400" b="1" dirty="0" err="1">
                <a:latin typeface="Cavolini" panose="03000502040302020204" pitchFamily="66" charset="0"/>
                <a:cs typeface="Cavolini" panose="03000502040302020204" pitchFamily="66" charset="0"/>
              </a:rPr>
              <a:t>Pembelian</a:t>
            </a:r>
            <a:r>
              <a:rPr lang="en-US" altLang="en-US" sz="2400" b="1" dirty="0">
                <a:latin typeface="Cavolini" panose="03000502040302020204" pitchFamily="66" charset="0"/>
                <a:cs typeface="Cavolini" panose="03000502040302020204" pitchFamily="66" charset="0"/>
              </a:rPr>
              <a:t> Casing</a:t>
            </a:r>
            <a:endParaRPr lang="en-ID" sz="2400" b="1" dirty="0">
              <a:latin typeface="Cavolini" panose="03000502040302020204" pitchFamily="66" charset="0"/>
              <a:cs typeface="Cavolini" panose="03000502040302020204" pitchFamily="66" charset="0"/>
            </a:endParaRPr>
          </a:p>
        </p:txBody>
      </p:sp>
      <p:sp>
        <p:nvSpPr>
          <p:cNvPr id="7" name="Rectangle 6">
            <a:extLst>
              <a:ext uri="{FF2B5EF4-FFF2-40B4-BE49-F238E27FC236}">
                <a16:creationId xmlns:a16="http://schemas.microsoft.com/office/drawing/2014/main" id="{EEC3DBDE-A9D3-E986-BC78-CB0BDA109893}"/>
              </a:ext>
            </a:extLst>
          </p:cNvPr>
          <p:cNvSpPr/>
          <p:nvPr/>
        </p:nvSpPr>
        <p:spPr>
          <a:xfrm>
            <a:off x="1450655" y="1372177"/>
            <a:ext cx="891363" cy="765544"/>
          </a:xfrm>
          <a:prstGeom prst="rect">
            <a:avLst/>
          </a:prstGeom>
          <a:solidFill>
            <a:srgbClr val="FFCC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4.3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9" name="Title 1">
            <a:extLst>
              <a:ext uri="{FF2B5EF4-FFF2-40B4-BE49-F238E27FC236}">
                <a16:creationId xmlns:a16="http://schemas.microsoft.com/office/drawing/2014/main" id="{A9A15258-5A0F-8628-4FF9-31E3EAA73B9A}"/>
              </a:ext>
            </a:extLst>
          </p:cNvPr>
          <p:cNvSpPr txBox="1">
            <a:spLocks/>
          </p:cNvSpPr>
          <p:nvPr/>
        </p:nvSpPr>
        <p:spPr>
          <a:xfrm>
            <a:off x="2498748" y="2303451"/>
            <a:ext cx="8548480" cy="2400213"/>
          </a:xfrm>
          <a:prstGeom prst="rect">
            <a:avLst/>
          </a:prstGeom>
        </p:spPr>
        <p:txBody>
          <a:bodyPr vert="horz" lIns="91440" tIns="45720" rIns="91440" bIns="45720" rtlCol="0" anchor="b" anchorCtr="0">
            <a:norm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pPr marL="457200" indent="-457200">
              <a:lnSpc>
                <a:spcPct val="150000"/>
              </a:lnSpc>
              <a:buAutoNum type="arabicPeriod"/>
            </a:pPr>
            <a:r>
              <a:rPr lang="en-US" altLang="en-US" sz="2000" dirty="0">
                <a:solidFill>
                  <a:schemeClr val="accent6">
                    <a:lumMod val="75000"/>
                  </a:schemeClr>
                </a:solidFill>
                <a:latin typeface="Cavolini" panose="03000502040302020204" pitchFamily="66" charset="0"/>
                <a:cs typeface="Cavolini" panose="03000502040302020204" pitchFamily="66" charset="0"/>
              </a:rPr>
              <a:t>Seamless or Non-Seamless (Spiral, ERW, SAW) </a:t>
            </a:r>
          </a:p>
          <a:p>
            <a:pPr marL="457200" indent="-457200">
              <a:lnSpc>
                <a:spcPct val="150000"/>
              </a:lnSpc>
              <a:buAutoNum type="arabicPeriod"/>
            </a:pPr>
            <a:r>
              <a:rPr lang="en-US" altLang="en-US" sz="2000" dirty="0">
                <a:solidFill>
                  <a:schemeClr val="accent6">
                    <a:lumMod val="75000"/>
                  </a:schemeClr>
                </a:solidFill>
                <a:latin typeface="Cavolini" panose="03000502040302020204" pitchFamily="66" charset="0"/>
                <a:cs typeface="Cavolini" panose="03000502040302020204" pitchFamily="66" charset="0"/>
              </a:rPr>
              <a:t>Casing Connection Type</a:t>
            </a:r>
          </a:p>
          <a:p>
            <a:pPr marL="457200" indent="-457200">
              <a:lnSpc>
                <a:spcPct val="150000"/>
              </a:lnSpc>
              <a:buAutoNum type="arabicPeriod"/>
            </a:pPr>
            <a:r>
              <a:rPr lang="en-US" altLang="en-US" sz="2000" dirty="0">
                <a:solidFill>
                  <a:schemeClr val="accent6">
                    <a:lumMod val="75000"/>
                  </a:schemeClr>
                </a:solidFill>
                <a:latin typeface="Cavolini" panose="03000502040302020204" pitchFamily="66" charset="0"/>
                <a:cs typeface="Cavolini" panose="03000502040302020204" pitchFamily="66" charset="0"/>
              </a:rPr>
              <a:t>Comparison between Long string vs Tie Back Design</a:t>
            </a:r>
          </a:p>
          <a:p>
            <a:pPr marL="457200" indent="-457200">
              <a:lnSpc>
                <a:spcPct val="150000"/>
              </a:lnSpc>
              <a:buAutoNum type="arabicPeriod"/>
            </a:pPr>
            <a:r>
              <a:rPr lang="en-US" altLang="en-US" sz="2000" dirty="0">
                <a:solidFill>
                  <a:schemeClr val="accent6">
                    <a:lumMod val="75000"/>
                  </a:schemeClr>
                </a:solidFill>
                <a:latin typeface="Cavolini" panose="03000502040302020204" pitchFamily="66" charset="0"/>
                <a:cs typeface="Cavolini" panose="03000502040302020204" pitchFamily="66" charset="0"/>
              </a:rPr>
              <a:t>Casing Liner Adapter Design</a:t>
            </a:r>
          </a:p>
          <a:p>
            <a:pPr marL="457200" indent="-457200">
              <a:lnSpc>
                <a:spcPct val="150000"/>
              </a:lnSpc>
              <a:buAutoNum type="arabicPeriod"/>
            </a:pPr>
            <a:r>
              <a:rPr lang="en-US" altLang="en-US" sz="2000" dirty="0">
                <a:solidFill>
                  <a:schemeClr val="accent6">
                    <a:lumMod val="75000"/>
                  </a:schemeClr>
                </a:solidFill>
                <a:latin typeface="Cavolini" panose="03000502040302020204" pitchFamily="66" charset="0"/>
                <a:cs typeface="Cavolini" panose="03000502040302020204" pitchFamily="66" charset="0"/>
              </a:rPr>
              <a:t>Casing Procurement Strategy</a:t>
            </a:r>
          </a:p>
        </p:txBody>
      </p:sp>
    </p:spTree>
    <p:extLst>
      <p:ext uri="{BB962C8B-B14F-4D97-AF65-F5344CB8AC3E}">
        <p14:creationId xmlns:p14="http://schemas.microsoft.com/office/powerpoint/2010/main" val="16267309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670235" y="490282"/>
            <a:ext cx="8229600" cy="639763"/>
          </a:xfrm>
        </p:spPr>
        <p:txBody>
          <a:bodyPr anchor="t">
            <a:noAutofit/>
          </a:bodyPr>
          <a:lstStyle/>
          <a:p>
            <a:pPr eaLnBrk="1" hangingPunct="1"/>
            <a:r>
              <a:rPr lang="id-ID" altLang="en-US" sz="4000" b="1" dirty="0">
                <a:solidFill>
                  <a:schemeClr val="accent6">
                    <a:lumMod val="50000"/>
                  </a:schemeClr>
                </a:solidFill>
              </a:rPr>
              <a:t>CASING</a:t>
            </a:r>
            <a:r>
              <a:rPr lang="en-US" altLang="en-US" sz="4000" b="1" dirty="0">
                <a:solidFill>
                  <a:schemeClr val="accent6">
                    <a:lumMod val="50000"/>
                  </a:schemeClr>
                </a:solidFill>
              </a:rPr>
              <a:t> SPECIFICATION</a:t>
            </a:r>
          </a:p>
        </p:txBody>
      </p:sp>
      <p:graphicFrame>
        <p:nvGraphicFramePr>
          <p:cNvPr id="2" name="Table 1"/>
          <p:cNvGraphicFramePr>
            <a:graphicFrameLocks noGrp="1"/>
          </p:cNvGraphicFramePr>
          <p:nvPr/>
        </p:nvGraphicFramePr>
        <p:xfrm>
          <a:off x="670235" y="1240904"/>
          <a:ext cx="9002713" cy="3246325"/>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93109">
                  <a:extLst>
                    <a:ext uri="{9D8B030D-6E8A-4147-A177-3AD203B41FA5}">
                      <a16:colId xmlns:a16="http://schemas.microsoft.com/office/drawing/2014/main" val="20001"/>
                    </a:ext>
                  </a:extLst>
                </a:gridCol>
                <a:gridCol w="1089037">
                  <a:extLst>
                    <a:ext uri="{9D8B030D-6E8A-4147-A177-3AD203B41FA5}">
                      <a16:colId xmlns:a16="http://schemas.microsoft.com/office/drawing/2014/main" val="20002"/>
                    </a:ext>
                  </a:extLst>
                </a:gridCol>
                <a:gridCol w="1524654">
                  <a:extLst>
                    <a:ext uri="{9D8B030D-6E8A-4147-A177-3AD203B41FA5}">
                      <a16:colId xmlns:a16="http://schemas.microsoft.com/office/drawing/2014/main" val="20003"/>
                    </a:ext>
                  </a:extLst>
                </a:gridCol>
                <a:gridCol w="3267113">
                  <a:extLst>
                    <a:ext uri="{9D8B030D-6E8A-4147-A177-3AD203B41FA5}">
                      <a16:colId xmlns:a16="http://schemas.microsoft.com/office/drawing/2014/main" val="20004"/>
                    </a:ext>
                  </a:extLst>
                </a:gridCol>
              </a:tblGrid>
              <a:tr h="410475">
                <a:tc>
                  <a:txBody>
                    <a:bodyPr/>
                    <a:lstStyle/>
                    <a:p>
                      <a:r>
                        <a:rPr lang="id-ID" sz="2000" dirty="0"/>
                        <a:t>Manufacture</a:t>
                      </a:r>
                    </a:p>
                  </a:txBody>
                  <a:tcPr marL="84404" marR="84404" marT="45740" marB="45740">
                    <a:solidFill>
                      <a:srgbClr val="92D050"/>
                    </a:solidFill>
                  </a:tcPr>
                </a:tc>
                <a:tc>
                  <a:txBody>
                    <a:bodyPr/>
                    <a:lstStyle/>
                    <a:p>
                      <a:r>
                        <a:rPr lang="id-ID" sz="2000" dirty="0"/>
                        <a:t>Grade</a:t>
                      </a:r>
                    </a:p>
                  </a:txBody>
                  <a:tcPr marL="84404" marR="84404" marT="45740" marB="45740">
                    <a:solidFill>
                      <a:srgbClr val="92D050"/>
                    </a:solidFill>
                  </a:tcPr>
                </a:tc>
                <a:tc>
                  <a:txBody>
                    <a:bodyPr/>
                    <a:lstStyle/>
                    <a:p>
                      <a:r>
                        <a:rPr lang="id-ID" sz="2000" dirty="0"/>
                        <a:t>Lenght</a:t>
                      </a:r>
                    </a:p>
                  </a:txBody>
                  <a:tcPr marL="84404" marR="84404" marT="45740" marB="45740">
                    <a:solidFill>
                      <a:srgbClr val="92D050"/>
                    </a:solidFill>
                  </a:tcPr>
                </a:tc>
                <a:tc>
                  <a:txBody>
                    <a:bodyPr/>
                    <a:lstStyle/>
                    <a:p>
                      <a:r>
                        <a:rPr lang="id-ID" sz="2000" dirty="0"/>
                        <a:t>Weight</a:t>
                      </a:r>
                    </a:p>
                  </a:txBody>
                  <a:tcPr marL="84404" marR="84404" marT="45740" marB="45740">
                    <a:solidFill>
                      <a:srgbClr val="92D050"/>
                    </a:solidFill>
                  </a:tcPr>
                </a:tc>
                <a:tc>
                  <a:txBody>
                    <a:bodyPr/>
                    <a:lstStyle/>
                    <a:p>
                      <a:r>
                        <a:rPr lang="id-ID" sz="2000" dirty="0"/>
                        <a:t>Connection</a:t>
                      </a:r>
                      <a:r>
                        <a:rPr lang="en-US" sz="2000" dirty="0"/>
                        <a:t> Type</a:t>
                      </a:r>
                      <a:endParaRPr lang="id-ID" sz="2000" dirty="0"/>
                    </a:p>
                  </a:txBody>
                  <a:tcPr marL="84404" marR="84404" marT="45740" marB="45740">
                    <a:solidFill>
                      <a:srgbClr val="92D050"/>
                    </a:solidFill>
                  </a:tcPr>
                </a:tc>
                <a:extLst>
                  <a:ext uri="{0D108BD9-81ED-4DB2-BD59-A6C34878D82A}">
                    <a16:rowId xmlns:a16="http://schemas.microsoft.com/office/drawing/2014/main" val="10000"/>
                  </a:ext>
                </a:extLst>
              </a:tr>
              <a:tr h="2835850">
                <a:tc>
                  <a:txBody>
                    <a:bodyPr/>
                    <a:lstStyle/>
                    <a:p>
                      <a:pPr marL="0" indent="0">
                        <a:buFont typeface="Arial" pitchFamily="34" charset="0"/>
                        <a:buNone/>
                      </a:pPr>
                      <a:r>
                        <a:rPr lang="en-US" sz="2000" dirty="0"/>
                        <a:t>Non Seamless:</a:t>
                      </a:r>
                    </a:p>
                    <a:p>
                      <a:pPr marL="285750" indent="-285750">
                        <a:buFont typeface="Arial" pitchFamily="34" charset="0"/>
                        <a:buChar char="•"/>
                      </a:pPr>
                      <a:r>
                        <a:rPr lang="en-US" sz="2000" dirty="0"/>
                        <a:t>Spiral</a:t>
                      </a:r>
                    </a:p>
                    <a:p>
                      <a:pPr marL="285750" indent="-285750">
                        <a:buFont typeface="Arial" pitchFamily="34" charset="0"/>
                        <a:buChar char="•"/>
                      </a:pPr>
                      <a:r>
                        <a:rPr lang="id-ID" sz="2000" dirty="0"/>
                        <a:t>ERW</a:t>
                      </a:r>
                      <a:endParaRPr lang="en-US" sz="2000" dirty="0"/>
                    </a:p>
                    <a:p>
                      <a:pPr marL="285750" indent="-285750">
                        <a:buFont typeface="Arial" pitchFamily="34" charset="0"/>
                        <a:buChar char="•"/>
                      </a:pPr>
                      <a:r>
                        <a:rPr lang="en-US" sz="2000" dirty="0"/>
                        <a:t>SAW</a:t>
                      </a:r>
                    </a:p>
                    <a:p>
                      <a:pPr marL="285750" indent="-285750">
                        <a:buFont typeface="Arial" pitchFamily="34" charset="0"/>
                        <a:buChar char="•"/>
                      </a:pPr>
                      <a:endParaRPr lang="id-ID" sz="2000" dirty="0"/>
                    </a:p>
                    <a:p>
                      <a:pPr marL="0" indent="0">
                        <a:buFont typeface="Arial" pitchFamily="34" charset="0"/>
                        <a:buNone/>
                      </a:pPr>
                      <a:r>
                        <a:rPr lang="id-ID" sz="2000" dirty="0"/>
                        <a:t>Seamless</a:t>
                      </a:r>
                    </a:p>
                  </a:txBody>
                  <a:tcPr marL="84404" marR="84404" marT="45740" marB="45740">
                    <a:solidFill>
                      <a:srgbClr val="99FF99"/>
                    </a:solidFill>
                  </a:tcPr>
                </a:tc>
                <a:tc>
                  <a:txBody>
                    <a:bodyPr/>
                    <a:lstStyle/>
                    <a:p>
                      <a:pPr marL="285750" indent="-285750">
                        <a:buFont typeface="Arial" pitchFamily="34" charset="0"/>
                        <a:buChar char="•"/>
                      </a:pPr>
                      <a:r>
                        <a:rPr lang="id-ID" sz="2000" dirty="0"/>
                        <a:t>X-52</a:t>
                      </a:r>
                    </a:p>
                    <a:p>
                      <a:pPr marL="285750" indent="-285750">
                        <a:buFont typeface="Arial" pitchFamily="34" charset="0"/>
                        <a:buChar char="•"/>
                      </a:pPr>
                      <a:r>
                        <a:rPr lang="id-ID" sz="2000" dirty="0"/>
                        <a:t>X-56</a:t>
                      </a:r>
                    </a:p>
                    <a:p>
                      <a:pPr marL="285750" indent="-285750">
                        <a:buFont typeface="Arial" pitchFamily="34" charset="0"/>
                        <a:buChar char="•"/>
                      </a:pPr>
                      <a:r>
                        <a:rPr lang="id-ID" sz="2000" dirty="0"/>
                        <a:t>K-55</a:t>
                      </a:r>
                    </a:p>
                    <a:p>
                      <a:pPr marL="285750" indent="-285750">
                        <a:buFont typeface="Arial" pitchFamily="34" charset="0"/>
                        <a:buChar char="•"/>
                      </a:pPr>
                      <a:r>
                        <a:rPr lang="id-ID" sz="2000" dirty="0"/>
                        <a:t>L-80</a:t>
                      </a:r>
                    </a:p>
                    <a:p>
                      <a:pPr marL="285750" indent="-285750">
                        <a:buFont typeface="Arial" pitchFamily="34" charset="0"/>
                        <a:buChar char="•"/>
                      </a:pPr>
                      <a:r>
                        <a:rPr lang="id-ID" sz="2000" dirty="0"/>
                        <a:t>N-80</a:t>
                      </a:r>
                    </a:p>
                    <a:p>
                      <a:pPr marL="285750" indent="-285750">
                        <a:buFont typeface="Arial" pitchFamily="34" charset="0"/>
                        <a:buChar char="•"/>
                      </a:pPr>
                      <a:r>
                        <a:rPr lang="id-ID" sz="2000" dirty="0"/>
                        <a:t>C-90</a:t>
                      </a:r>
                    </a:p>
                    <a:p>
                      <a:pPr marL="285750" indent="-285750">
                        <a:buFont typeface="Arial" pitchFamily="34" charset="0"/>
                        <a:buChar char="•"/>
                      </a:pPr>
                      <a:r>
                        <a:rPr lang="id-ID" sz="2000" dirty="0"/>
                        <a:t>C-95</a:t>
                      </a:r>
                    </a:p>
                    <a:p>
                      <a:pPr marL="285750" indent="-285750">
                        <a:buFont typeface="Arial" pitchFamily="34" charset="0"/>
                        <a:buChar char="•"/>
                      </a:pPr>
                      <a:r>
                        <a:rPr lang="id-ID" sz="2000" dirty="0"/>
                        <a:t>P110</a:t>
                      </a:r>
                    </a:p>
                    <a:p>
                      <a:pPr marL="285750" indent="-285750">
                        <a:buFont typeface="Arial" pitchFamily="34" charset="0"/>
                        <a:buChar char="•"/>
                      </a:pPr>
                      <a:r>
                        <a:rPr lang="id-ID" sz="2000" dirty="0"/>
                        <a:t>Cr13</a:t>
                      </a:r>
                    </a:p>
                  </a:txBody>
                  <a:tcPr marL="84404" marR="84404" marT="45740" marB="45740">
                    <a:solidFill>
                      <a:srgbClr val="99FF99"/>
                    </a:solidFill>
                  </a:tcPr>
                </a:tc>
                <a:tc>
                  <a:txBody>
                    <a:bodyPr/>
                    <a:lstStyle/>
                    <a:p>
                      <a:pPr marL="285750" indent="-285750">
                        <a:buFont typeface="Arial" pitchFamily="34" charset="0"/>
                        <a:buChar char="•"/>
                      </a:pPr>
                      <a:r>
                        <a:rPr lang="id-ID" sz="2000" dirty="0"/>
                        <a:t>R-2</a:t>
                      </a:r>
                    </a:p>
                    <a:p>
                      <a:pPr marL="285750" indent="-285750">
                        <a:buFont typeface="Arial" pitchFamily="34" charset="0"/>
                        <a:buChar char="•"/>
                      </a:pPr>
                      <a:r>
                        <a:rPr lang="id-ID" sz="2000" dirty="0"/>
                        <a:t>R-3</a:t>
                      </a:r>
                    </a:p>
                  </a:txBody>
                  <a:tcPr marL="84404" marR="84404" marT="45740" marB="45740">
                    <a:solidFill>
                      <a:srgbClr val="99FF99"/>
                    </a:solidFill>
                  </a:tcPr>
                </a:tc>
                <a:tc>
                  <a:txBody>
                    <a:bodyPr/>
                    <a:lstStyle/>
                    <a:p>
                      <a:pPr marL="285750" indent="-285750">
                        <a:buFont typeface="Arial" pitchFamily="34" charset="0"/>
                        <a:buChar char="•"/>
                      </a:pPr>
                      <a:r>
                        <a:rPr lang="id-ID" sz="2000" dirty="0"/>
                        <a:t>310 ppf</a:t>
                      </a:r>
                    </a:p>
                    <a:p>
                      <a:pPr marL="285750" indent="-285750">
                        <a:buFont typeface="Arial" pitchFamily="34" charset="0"/>
                        <a:buChar char="•"/>
                      </a:pPr>
                      <a:r>
                        <a:rPr lang="id-ID" sz="2000" dirty="0"/>
                        <a:t>133 ppf</a:t>
                      </a:r>
                    </a:p>
                    <a:p>
                      <a:pPr marL="285750" indent="-285750">
                        <a:buFont typeface="Arial" pitchFamily="34" charset="0"/>
                        <a:buChar char="•"/>
                      </a:pPr>
                      <a:r>
                        <a:rPr lang="id-ID" sz="2000" dirty="0"/>
                        <a:t>129 ppf</a:t>
                      </a:r>
                    </a:p>
                    <a:p>
                      <a:pPr marL="285750" indent="-285750">
                        <a:buFont typeface="Arial" pitchFamily="34" charset="0"/>
                        <a:buChar char="•"/>
                      </a:pPr>
                      <a:r>
                        <a:rPr lang="id-ID" sz="2000" dirty="0"/>
                        <a:t>72</a:t>
                      </a:r>
                      <a:r>
                        <a:rPr lang="id-ID" sz="2000" baseline="0" dirty="0"/>
                        <a:t> ppf</a:t>
                      </a:r>
                    </a:p>
                    <a:p>
                      <a:pPr marL="285750" indent="-285750">
                        <a:buFont typeface="Arial" pitchFamily="34" charset="0"/>
                        <a:buChar char="•"/>
                      </a:pPr>
                      <a:r>
                        <a:rPr lang="id-ID" sz="2000" baseline="0" dirty="0"/>
                        <a:t>68 ppf</a:t>
                      </a:r>
                    </a:p>
                    <a:p>
                      <a:pPr marL="285750" indent="-285750">
                        <a:buFont typeface="Arial" pitchFamily="34" charset="0"/>
                        <a:buChar char="•"/>
                      </a:pPr>
                      <a:r>
                        <a:rPr lang="id-ID" sz="2000" baseline="0" dirty="0"/>
                        <a:t>53.5 ppf</a:t>
                      </a:r>
                    </a:p>
                    <a:p>
                      <a:pPr marL="285750" indent="-285750">
                        <a:buFont typeface="Arial" pitchFamily="34" charset="0"/>
                        <a:buChar char="•"/>
                      </a:pPr>
                      <a:r>
                        <a:rPr lang="id-ID" sz="2000" baseline="0" dirty="0"/>
                        <a:t>47 ppf</a:t>
                      </a:r>
                    </a:p>
                    <a:p>
                      <a:pPr marL="285750" indent="-285750">
                        <a:buFont typeface="Arial" pitchFamily="34" charset="0"/>
                        <a:buChar char="•"/>
                      </a:pPr>
                      <a:r>
                        <a:rPr lang="en-US" sz="2000" baseline="0" dirty="0" err="1"/>
                        <a:t>etc</a:t>
                      </a:r>
                      <a:endParaRPr lang="id-ID" sz="2000" dirty="0"/>
                    </a:p>
                  </a:txBody>
                  <a:tcPr marL="84404" marR="84404" marT="45740" marB="45740">
                    <a:solidFill>
                      <a:srgbClr val="99FF99"/>
                    </a:solidFill>
                  </a:tcPr>
                </a:tc>
                <a:tc>
                  <a:txBody>
                    <a:bodyPr/>
                    <a:lstStyle/>
                    <a:p>
                      <a:pPr marL="285750" indent="-285750">
                        <a:buFont typeface="Arial" pitchFamily="34" charset="0"/>
                        <a:buChar char="•"/>
                      </a:pPr>
                      <a:r>
                        <a:rPr lang="id-ID" sz="2000" dirty="0"/>
                        <a:t>Bevel End</a:t>
                      </a:r>
                    </a:p>
                    <a:p>
                      <a:pPr marL="285750" indent="-285750">
                        <a:buFont typeface="Arial" pitchFamily="34" charset="0"/>
                        <a:buChar char="•"/>
                      </a:pPr>
                      <a:r>
                        <a:rPr lang="id-ID" sz="2000" dirty="0"/>
                        <a:t>BTC, STC, LTC</a:t>
                      </a:r>
                      <a:endParaRPr lang="en-US" sz="2000" dirty="0"/>
                    </a:p>
                    <a:p>
                      <a:pPr marL="285750" indent="-285750">
                        <a:buFont typeface="Arial" pitchFamily="34" charset="0"/>
                        <a:buChar char="•"/>
                      </a:pPr>
                      <a:r>
                        <a:rPr lang="en-US" sz="2000" dirty="0"/>
                        <a:t>SCC</a:t>
                      </a:r>
                      <a:r>
                        <a:rPr lang="en-US" sz="2000" baseline="0" dirty="0"/>
                        <a:t> (Special Clearance Coupling)</a:t>
                      </a:r>
                      <a:endParaRPr lang="id-ID" sz="2000" dirty="0"/>
                    </a:p>
                    <a:p>
                      <a:pPr marL="285750" indent="-285750">
                        <a:buFont typeface="Arial" pitchFamily="34" charset="0"/>
                        <a:buChar char="•"/>
                      </a:pPr>
                      <a:r>
                        <a:rPr lang="id-ID" sz="2000" dirty="0"/>
                        <a:t>Semi</a:t>
                      </a:r>
                      <a:r>
                        <a:rPr lang="id-ID" sz="2000" baseline="0" dirty="0"/>
                        <a:t> </a:t>
                      </a:r>
                      <a:r>
                        <a:rPr lang="id-ID" sz="2000" dirty="0"/>
                        <a:t>Premium</a:t>
                      </a:r>
                    </a:p>
                    <a:p>
                      <a:pPr marL="285750" indent="-285750">
                        <a:buFont typeface="Arial" pitchFamily="34" charset="0"/>
                        <a:buChar char="•"/>
                      </a:pPr>
                      <a:r>
                        <a:rPr lang="id-ID" sz="2000" dirty="0"/>
                        <a:t>Quick Connector</a:t>
                      </a:r>
                    </a:p>
                    <a:p>
                      <a:pPr marL="285750" indent="-285750">
                        <a:buFont typeface="Arial" pitchFamily="34" charset="0"/>
                        <a:buChar char="•"/>
                      </a:pPr>
                      <a:r>
                        <a:rPr lang="id-ID" sz="2000" dirty="0"/>
                        <a:t>Premium</a:t>
                      </a:r>
                    </a:p>
                  </a:txBody>
                  <a:tcPr marL="84404" marR="84404" marT="45740" marB="45740">
                    <a:solidFill>
                      <a:srgbClr val="99FF99"/>
                    </a:solidFill>
                  </a:tcPr>
                </a:tc>
                <a:extLst>
                  <a:ext uri="{0D108BD9-81ED-4DB2-BD59-A6C34878D82A}">
                    <a16:rowId xmlns:a16="http://schemas.microsoft.com/office/drawing/2014/main" val="10001"/>
                  </a:ext>
                </a:extLst>
              </a:tr>
            </a:tbl>
          </a:graphicData>
        </a:graphic>
      </p:graphicFrame>
      <p:sp>
        <p:nvSpPr>
          <p:cNvPr id="45080" name="TextBox 2"/>
          <p:cNvSpPr txBox="1">
            <a:spLocks noChangeArrowheads="1"/>
          </p:cNvSpPr>
          <p:nvPr/>
        </p:nvSpPr>
        <p:spPr bwMode="auto">
          <a:xfrm>
            <a:off x="550696" y="4504058"/>
            <a:ext cx="9037638"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None/>
              <a:defRPr/>
            </a:pPr>
            <a:r>
              <a:rPr lang="en-US" altLang="en-US" sz="2000" dirty="0">
                <a:solidFill>
                  <a:srgbClr val="002060"/>
                </a:solidFill>
                <a:latin typeface="Times New Roman" panose="02020603050405020304" pitchFamily="18" charset="0"/>
              </a:rPr>
              <a:t>MANUFACTURED BY ROLLING METAL PLATE </a:t>
            </a:r>
            <a:r>
              <a:rPr lang="en-US" altLang="en-US" sz="2000" b="1" dirty="0">
                <a:solidFill>
                  <a:srgbClr val="FF0000"/>
                </a:solidFill>
                <a:latin typeface="Times New Roman" panose="02020603050405020304" pitchFamily="18" charset="0"/>
              </a:rPr>
              <a:t>(30” &amp; 20”):</a:t>
            </a:r>
          </a:p>
          <a:p>
            <a:pPr marL="342900" indent="-342900">
              <a:spcBef>
                <a:spcPct val="0"/>
              </a:spcBef>
              <a:defRPr/>
            </a:pPr>
            <a:r>
              <a:rPr lang="id-ID" altLang="en-US" sz="2000" dirty="0">
                <a:solidFill>
                  <a:srgbClr val="002060"/>
                </a:solidFill>
                <a:latin typeface="Times New Roman" panose="02020603050405020304" pitchFamily="18" charset="0"/>
              </a:rPr>
              <a:t>ERW: Electric Resistance Welded</a:t>
            </a:r>
            <a:endParaRPr lang="en-US" altLang="en-US" sz="2000" dirty="0">
              <a:solidFill>
                <a:srgbClr val="002060"/>
              </a:solidFill>
              <a:latin typeface="Times New Roman" panose="02020603050405020304" pitchFamily="18" charset="0"/>
            </a:endParaRPr>
          </a:p>
          <a:p>
            <a:pPr marL="342900" indent="-342900">
              <a:spcBef>
                <a:spcPct val="0"/>
              </a:spcBef>
              <a:defRPr/>
            </a:pPr>
            <a:r>
              <a:rPr lang="en-US" altLang="en-US" sz="2000" dirty="0">
                <a:solidFill>
                  <a:srgbClr val="002060"/>
                </a:solidFill>
                <a:latin typeface="Times New Roman" panose="02020603050405020304" pitchFamily="18" charset="0"/>
              </a:rPr>
              <a:t>SAW: Submerge Arc Welding</a:t>
            </a:r>
          </a:p>
          <a:p>
            <a:pPr marL="342900" indent="-342900">
              <a:spcBef>
                <a:spcPct val="0"/>
              </a:spcBef>
              <a:defRPr/>
            </a:pPr>
            <a:r>
              <a:rPr lang="en-US" altLang="en-US" sz="2000" dirty="0">
                <a:solidFill>
                  <a:srgbClr val="002060"/>
                </a:solidFill>
                <a:latin typeface="Times New Roman" panose="02020603050405020304" pitchFamily="18" charset="0"/>
              </a:rPr>
              <a:t>LSAW: Longitudinal Submerge Arc Welding</a:t>
            </a:r>
          </a:p>
          <a:p>
            <a:pPr eaLnBrk="1" hangingPunct="1">
              <a:spcBef>
                <a:spcPct val="0"/>
              </a:spcBef>
              <a:buFontTx/>
              <a:buNone/>
              <a:defRPr/>
            </a:pPr>
            <a:r>
              <a:rPr lang="en-US" altLang="en-US" sz="2000" dirty="0">
                <a:solidFill>
                  <a:srgbClr val="002060"/>
                </a:solidFill>
                <a:latin typeface="Times New Roman" panose="02020603050405020304" pitchFamily="18" charset="0"/>
              </a:rPr>
              <a:t>SEAMLESS </a:t>
            </a:r>
            <a:r>
              <a:rPr lang="en-US" altLang="en-US" sz="2000" b="1" dirty="0">
                <a:solidFill>
                  <a:srgbClr val="FF0000"/>
                </a:solidFill>
                <a:latin typeface="Times New Roman" panose="02020603050405020304" pitchFamily="18" charset="0"/>
              </a:rPr>
              <a:t>(13-3/8”, 10-3/4”, 8-5/8” and 7”)</a:t>
            </a:r>
            <a:r>
              <a:rPr lang="en-US" altLang="en-US" sz="2000" dirty="0">
                <a:solidFill>
                  <a:srgbClr val="002060"/>
                </a:solidFill>
                <a:latin typeface="Times New Roman" panose="02020603050405020304" pitchFamily="18" charset="0"/>
              </a:rPr>
              <a:t>: </a:t>
            </a:r>
          </a:p>
          <a:p>
            <a:pPr marL="342900" indent="-342900">
              <a:spcBef>
                <a:spcPct val="0"/>
              </a:spcBef>
              <a:defRPr/>
            </a:pPr>
            <a:r>
              <a:rPr lang="en-US" altLang="en-US" sz="2000" dirty="0">
                <a:solidFill>
                  <a:srgbClr val="002060"/>
                </a:solidFill>
                <a:latin typeface="Times New Roman" panose="02020603050405020304" pitchFamily="18" charset="0"/>
              </a:rPr>
              <a:t>Manufactured by extruding the metal to the desired length. </a:t>
            </a:r>
          </a:p>
          <a:p>
            <a:pPr marL="342900" indent="-342900">
              <a:spcBef>
                <a:spcPct val="0"/>
              </a:spcBef>
              <a:defRPr/>
            </a:pPr>
            <a:r>
              <a:rPr lang="en-US" altLang="en-US" dirty="0">
                <a:solidFill>
                  <a:srgbClr val="FF0000"/>
                </a:solidFill>
                <a:latin typeface="Times New Roman" panose="02020603050405020304" pitchFamily="18" charset="0"/>
              </a:rPr>
              <a:t>20-30%</a:t>
            </a:r>
            <a:r>
              <a:rPr lang="en-US" altLang="en-US" sz="2000" dirty="0">
                <a:solidFill>
                  <a:srgbClr val="002060"/>
                </a:solidFill>
                <a:latin typeface="Times New Roman" panose="02020603050405020304" pitchFamily="18" charset="0"/>
              </a:rPr>
              <a:t> higher price than ERW casing</a:t>
            </a:r>
            <a:endParaRPr lang="id-ID" altLang="en-US" sz="2000" dirty="0">
              <a:solidFill>
                <a:srgbClr val="002060"/>
              </a:solidFill>
              <a:latin typeface="Times New Roman" panose="02020603050405020304" pitchFamily="18" charset="0"/>
            </a:endParaRPr>
          </a:p>
        </p:txBody>
      </p:sp>
      <p:pic>
        <p:nvPicPr>
          <p:cNvPr id="6" name="Picture 4"/>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rot="5400000">
            <a:off x="8975772" y="4526757"/>
            <a:ext cx="3276600" cy="138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817030" y="1309845"/>
            <a:ext cx="1489986" cy="2271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3558432"/>
      </p:ext>
    </p:extLst>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73716" y="488128"/>
            <a:ext cx="8229600" cy="639763"/>
          </a:xfrm>
        </p:spPr>
        <p:txBody>
          <a:bodyPr anchor="t">
            <a:noAutofit/>
          </a:bodyPr>
          <a:lstStyle/>
          <a:p>
            <a:pPr eaLnBrk="1" hangingPunct="1"/>
            <a:r>
              <a:rPr lang="id-ID" altLang="en-US" sz="4000" b="1" dirty="0">
                <a:solidFill>
                  <a:schemeClr val="accent6">
                    <a:lumMod val="50000"/>
                  </a:schemeClr>
                </a:solidFill>
              </a:rPr>
              <a:t>SEAMLESS VS ERW CASING</a:t>
            </a:r>
            <a:endParaRPr lang="en-US" altLang="en-US" sz="4000" b="1" dirty="0">
              <a:solidFill>
                <a:schemeClr val="accent6">
                  <a:lumMod val="50000"/>
                </a:schemeClr>
              </a:solidFill>
            </a:endParaRPr>
          </a:p>
        </p:txBody>
      </p:sp>
      <p:graphicFrame>
        <p:nvGraphicFramePr>
          <p:cNvPr id="2" name="Table 1"/>
          <p:cNvGraphicFramePr>
            <a:graphicFrameLocks noGrp="1"/>
          </p:cNvGraphicFramePr>
          <p:nvPr/>
        </p:nvGraphicFramePr>
        <p:xfrm>
          <a:off x="673716" y="1272782"/>
          <a:ext cx="10399594" cy="3774279"/>
        </p:xfrm>
        <a:graphic>
          <a:graphicData uri="http://schemas.openxmlformats.org/drawingml/2006/table">
            <a:tbl>
              <a:tblPr firstRow="1" bandRow="1">
                <a:tableStyleId>{5C22544A-7EE6-4342-B048-85BDC9FD1C3A}</a:tableStyleId>
              </a:tblPr>
              <a:tblGrid>
                <a:gridCol w="5199797">
                  <a:extLst>
                    <a:ext uri="{9D8B030D-6E8A-4147-A177-3AD203B41FA5}">
                      <a16:colId xmlns:a16="http://schemas.microsoft.com/office/drawing/2014/main" val="20000"/>
                    </a:ext>
                  </a:extLst>
                </a:gridCol>
                <a:gridCol w="5199797">
                  <a:extLst>
                    <a:ext uri="{9D8B030D-6E8A-4147-A177-3AD203B41FA5}">
                      <a16:colId xmlns:a16="http://schemas.microsoft.com/office/drawing/2014/main" val="20001"/>
                    </a:ext>
                  </a:extLst>
                </a:gridCol>
              </a:tblGrid>
              <a:tr h="419663">
                <a:tc>
                  <a:txBody>
                    <a:bodyPr/>
                    <a:lstStyle/>
                    <a:p>
                      <a:r>
                        <a:rPr lang="id-ID" sz="2400" dirty="0">
                          <a:solidFill>
                            <a:srgbClr val="FFFF99"/>
                          </a:solidFill>
                        </a:rPr>
                        <a:t>Seamless Casing</a:t>
                      </a:r>
                    </a:p>
                  </a:txBody>
                  <a:tcPr marT="45724" marB="45724"/>
                </a:tc>
                <a:tc>
                  <a:txBody>
                    <a:bodyPr/>
                    <a:lstStyle/>
                    <a:p>
                      <a:r>
                        <a:rPr lang="en-US" sz="2400" dirty="0">
                          <a:solidFill>
                            <a:srgbClr val="FFFF99"/>
                          </a:solidFill>
                        </a:rPr>
                        <a:t>R</a:t>
                      </a:r>
                      <a:r>
                        <a:rPr lang="id-ID" sz="2400" dirty="0">
                          <a:solidFill>
                            <a:srgbClr val="FFFF99"/>
                          </a:solidFill>
                        </a:rPr>
                        <a:t>oll</a:t>
                      </a:r>
                      <a:r>
                        <a:rPr lang="en-US" sz="2400" dirty="0" err="1">
                          <a:solidFill>
                            <a:srgbClr val="FFFF99"/>
                          </a:solidFill>
                        </a:rPr>
                        <a:t>ed</a:t>
                      </a:r>
                      <a:r>
                        <a:rPr lang="id-ID" sz="2400" dirty="0">
                          <a:solidFill>
                            <a:srgbClr val="FFFF99"/>
                          </a:solidFill>
                        </a:rPr>
                        <a:t> </a:t>
                      </a:r>
                      <a:r>
                        <a:rPr lang="en-US" sz="2400" dirty="0">
                          <a:solidFill>
                            <a:srgbClr val="FFFF99"/>
                          </a:solidFill>
                        </a:rPr>
                        <a:t>M</a:t>
                      </a:r>
                      <a:r>
                        <a:rPr lang="id-ID" sz="2400" dirty="0">
                          <a:solidFill>
                            <a:srgbClr val="FFFF99"/>
                          </a:solidFill>
                        </a:rPr>
                        <a:t>etal </a:t>
                      </a:r>
                      <a:r>
                        <a:rPr lang="en-US" sz="2400" dirty="0">
                          <a:solidFill>
                            <a:srgbClr val="FFFF99"/>
                          </a:solidFill>
                        </a:rPr>
                        <a:t>P</a:t>
                      </a:r>
                      <a:r>
                        <a:rPr lang="id-ID" sz="2400" dirty="0">
                          <a:solidFill>
                            <a:srgbClr val="FFFF99"/>
                          </a:solidFill>
                        </a:rPr>
                        <a:t>late </a:t>
                      </a:r>
                    </a:p>
                  </a:txBody>
                  <a:tcPr marT="45724" marB="45724"/>
                </a:tc>
                <a:extLst>
                  <a:ext uri="{0D108BD9-81ED-4DB2-BD59-A6C34878D82A}">
                    <a16:rowId xmlns:a16="http://schemas.microsoft.com/office/drawing/2014/main" val="10000"/>
                  </a:ext>
                </a:extLst>
              </a:tr>
              <a:tr h="1426853">
                <a:tc>
                  <a:txBody>
                    <a:bodyPr/>
                    <a:lstStyle/>
                    <a:p>
                      <a:r>
                        <a:rPr lang="id-ID" sz="2400" dirty="0">
                          <a:solidFill>
                            <a:schemeClr val="accent6">
                              <a:lumMod val="75000"/>
                            </a:schemeClr>
                          </a:solidFill>
                        </a:rPr>
                        <a:t>Advantage:</a:t>
                      </a:r>
                    </a:p>
                    <a:p>
                      <a:pPr marL="342900" indent="-342900">
                        <a:buFont typeface="Arial" pitchFamily="34" charset="0"/>
                        <a:buChar char="•"/>
                      </a:pPr>
                      <a:r>
                        <a:rPr lang="en-US" sz="2400" dirty="0">
                          <a:solidFill>
                            <a:schemeClr val="accent6">
                              <a:lumMod val="75000"/>
                            </a:schemeClr>
                          </a:solidFill>
                        </a:rPr>
                        <a:t>Good </a:t>
                      </a:r>
                      <a:r>
                        <a:rPr lang="id-ID" sz="2400" dirty="0">
                          <a:solidFill>
                            <a:schemeClr val="accent6">
                              <a:lumMod val="75000"/>
                            </a:schemeClr>
                          </a:solidFill>
                        </a:rPr>
                        <a:t>Casing</a:t>
                      </a:r>
                      <a:r>
                        <a:rPr lang="id-ID" sz="2400" baseline="0" dirty="0">
                          <a:solidFill>
                            <a:schemeClr val="accent6">
                              <a:lumMod val="75000"/>
                            </a:schemeClr>
                          </a:solidFill>
                        </a:rPr>
                        <a:t> Integrity</a:t>
                      </a:r>
                    </a:p>
                    <a:p>
                      <a:pPr marL="342900" indent="-342900">
                        <a:buFont typeface="Arial" pitchFamily="34" charset="0"/>
                        <a:buChar char="•"/>
                      </a:pPr>
                      <a:r>
                        <a:rPr lang="id-ID" sz="2400" baseline="0" dirty="0">
                          <a:solidFill>
                            <a:schemeClr val="accent6">
                              <a:lumMod val="75000"/>
                            </a:schemeClr>
                          </a:solidFill>
                        </a:rPr>
                        <a:t>Gas Well</a:t>
                      </a:r>
                    </a:p>
                    <a:p>
                      <a:pPr marL="342900" indent="-342900">
                        <a:buFont typeface="Arial" pitchFamily="34" charset="0"/>
                        <a:buChar char="•"/>
                      </a:pPr>
                      <a:r>
                        <a:rPr lang="id-ID" sz="2400" baseline="0" dirty="0">
                          <a:solidFill>
                            <a:schemeClr val="accent6">
                              <a:lumMod val="75000"/>
                            </a:schemeClr>
                          </a:solidFill>
                        </a:rPr>
                        <a:t>Suitable for high pressure</a:t>
                      </a:r>
                      <a:endParaRPr lang="id-ID" sz="2400" dirty="0">
                        <a:solidFill>
                          <a:schemeClr val="accent6">
                            <a:lumMod val="75000"/>
                          </a:schemeClr>
                        </a:solidFill>
                      </a:endParaRPr>
                    </a:p>
                  </a:txBody>
                  <a:tcPr marT="45724" marB="45724"/>
                </a:tc>
                <a:tc>
                  <a:txBody>
                    <a:bodyPr/>
                    <a:lstStyle/>
                    <a:p>
                      <a:r>
                        <a:rPr lang="id-ID" sz="2400" dirty="0">
                          <a:solidFill>
                            <a:schemeClr val="accent6">
                              <a:lumMod val="75000"/>
                            </a:schemeClr>
                          </a:solidFill>
                        </a:rPr>
                        <a:t>Advantage:</a:t>
                      </a:r>
                    </a:p>
                    <a:p>
                      <a:pPr marL="342900" indent="-342900">
                        <a:buFont typeface="Arial" pitchFamily="34" charset="0"/>
                        <a:buChar char="•"/>
                      </a:pPr>
                      <a:r>
                        <a:rPr lang="id-ID" sz="2400" dirty="0">
                          <a:solidFill>
                            <a:schemeClr val="accent6">
                              <a:lumMod val="75000"/>
                            </a:schemeClr>
                          </a:solidFill>
                        </a:rPr>
                        <a:t>Cheaper</a:t>
                      </a:r>
                    </a:p>
                    <a:p>
                      <a:pPr marL="342900" marR="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lang="id-ID" sz="2400" dirty="0">
                          <a:solidFill>
                            <a:schemeClr val="accent6">
                              <a:lumMod val="75000"/>
                            </a:schemeClr>
                          </a:solidFill>
                        </a:rPr>
                        <a:t>Shorter</a:t>
                      </a:r>
                      <a:r>
                        <a:rPr lang="id-ID" sz="2400" baseline="0" dirty="0">
                          <a:solidFill>
                            <a:schemeClr val="accent6">
                              <a:lumMod val="75000"/>
                            </a:schemeClr>
                          </a:solidFill>
                        </a:rPr>
                        <a:t> </a:t>
                      </a:r>
                      <a:r>
                        <a:rPr lang="id-ID" sz="2400" dirty="0">
                          <a:solidFill>
                            <a:schemeClr val="accent6">
                              <a:lumMod val="75000"/>
                            </a:schemeClr>
                          </a:solidFill>
                        </a:rPr>
                        <a:t>Delivery Time</a:t>
                      </a:r>
                    </a:p>
                  </a:txBody>
                  <a:tcPr marT="45724" marB="45724"/>
                </a:tc>
                <a:extLst>
                  <a:ext uri="{0D108BD9-81ED-4DB2-BD59-A6C34878D82A}">
                    <a16:rowId xmlns:a16="http://schemas.microsoft.com/office/drawing/2014/main" val="10001"/>
                  </a:ext>
                </a:extLst>
              </a:tr>
              <a:tr h="1762583">
                <a:tc>
                  <a:txBody>
                    <a:bodyPr/>
                    <a:lstStyle/>
                    <a:p>
                      <a:r>
                        <a:rPr lang="id-ID" sz="2400" dirty="0">
                          <a:solidFill>
                            <a:schemeClr val="accent6">
                              <a:lumMod val="75000"/>
                            </a:schemeClr>
                          </a:solidFill>
                        </a:rPr>
                        <a:t>Dis-Advantage:</a:t>
                      </a:r>
                    </a:p>
                    <a:p>
                      <a:pPr marL="342900" indent="-342900">
                        <a:buFont typeface="Arial" pitchFamily="34" charset="0"/>
                        <a:buChar char="•"/>
                      </a:pPr>
                      <a:r>
                        <a:rPr lang="id-ID" sz="2400" dirty="0">
                          <a:solidFill>
                            <a:schemeClr val="accent6">
                              <a:lumMod val="75000"/>
                            </a:schemeClr>
                          </a:solidFill>
                        </a:rPr>
                        <a:t>Expensive</a:t>
                      </a:r>
                    </a:p>
                    <a:p>
                      <a:pPr marL="342900" indent="-342900">
                        <a:buFont typeface="Arial" pitchFamily="34" charset="0"/>
                        <a:buChar char="•"/>
                      </a:pPr>
                      <a:r>
                        <a:rPr lang="id-ID" sz="2400" dirty="0">
                          <a:solidFill>
                            <a:schemeClr val="accent6">
                              <a:lumMod val="75000"/>
                            </a:schemeClr>
                          </a:solidFill>
                        </a:rPr>
                        <a:t>Longer Delivery Time</a:t>
                      </a:r>
                    </a:p>
                  </a:txBody>
                  <a:tcPr marT="45724" marB="45724"/>
                </a:tc>
                <a:tc>
                  <a:txBody>
                    <a:bodyPr/>
                    <a:lstStyle/>
                    <a:p>
                      <a:r>
                        <a:rPr lang="id-ID" sz="2400" dirty="0">
                          <a:solidFill>
                            <a:schemeClr val="accent6">
                              <a:lumMod val="75000"/>
                            </a:schemeClr>
                          </a:solidFill>
                        </a:rPr>
                        <a:t>Dis-Advantage:</a:t>
                      </a:r>
                    </a:p>
                    <a:p>
                      <a:pPr marL="342900" indent="-342900">
                        <a:buFont typeface="Arial" pitchFamily="34" charset="0"/>
                        <a:buChar char="•"/>
                      </a:pPr>
                      <a:r>
                        <a:rPr lang="en-US" sz="2400" dirty="0">
                          <a:solidFill>
                            <a:schemeClr val="accent6">
                              <a:lumMod val="75000"/>
                            </a:schemeClr>
                          </a:solidFill>
                        </a:rPr>
                        <a:t>Fair</a:t>
                      </a:r>
                      <a:r>
                        <a:rPr lang="en-US" sz="2400" baseline="0" dirty="0">
                          <a:solidFill>
                            <a:schemeClr val="accent6">
                              <a:lumMod val="75000"/>
                            </a:schemeClr>
                          </a:solidFill>
                        </a:rPr>
                        <a:t> </a:t>
                      </a:r>
                      <a:r>
                        <a:rPr lang="id-ID" sz="2400" dirty="0">
                          <a:solidFill>
                            <a:schemeClr val="accent6">
                              <a:lumMod val="75000"/>
                            </a:schemeClr>
                          </a:solidFill>
                        </a:rPr>
                        <a:t>Casing Integrity</a:t>
                      </a:r>
                    </a:p>
                    <a:p>
                      <a:pPr marL="342900" indent="-342900">
                        <a:buFont typeface="Arial" pitchFamily="34" charset="0"/>
                        <a:buChar char="•"/>
                      </a:pPr>
                      <a:r>
                        <a:rPr lang="id-ID" sz="2400" dirty="0">
                          <a:solidFill>
                            <a:schemeClr val="accent6">
                              <a:lumMod val="75000"/>
                            </a:schemeClr>
                          </a:solidFill>
                        </a:rPr>
                        <a:t>Not suitable for high</a:t>
                      </a:r>
                      <a:r>
                        <a:rPr lang="id-ID" sz="2400" baseline="0" dirty="0">
                          <a:solidFill>
                            <a:schemeClr val="accent6">
                              <a:lumMod val="75000"/>
                            </a:schemeClr>
                          </a:solidFill>
                        </a:rPr>
                        <a:t> pressure</a:t>
                      </a:r>
                    </a:p>
                    <a:p>
                      <a:pPr marL="342900" indent="-342900">
                        <a:buFont typeface="Arial" pitchFamily="34" charset="0"/>
                        <a:buChar char="•"/>
                      </a:pPr>
                      <a:r>
                        <a:rPr lang="en-US" sz="2400" baseline="0" dirty="0">
                          <a:solidFill>
                            <a:schemeClr val="accent6">
                              <a:lumMod val="75000"/>
                            </a:schemeClr>
                          </a:solidFill>
                        </a:rPr>
                        <a:t>Poor </a:t>
                      </a:r>
                      <a:r>
                        <a:rPr lang="id-ID" sz="2400" baseline="0" dirty="0">
                          <a:solidFill>
                            <a:schemeClr val="accent6">
                              <a:lumMod val="75000"/>
                            </a:schemeClr>
                          </a:solidFill>
                        </a:rPr>
                        <a:t>CO2 and H2S resistance</a:t>
                      </a:r>
                      <a:endParaRPr lang="id-ID" sz="2400" dirty="0">
                        <a:solidFill>
                          <a:schemeClr val="accent6">
                            <a:lumMod val="75000"/>
                          </a:schemeClr>
                        </a:solidFill>
                      </a:endParaRPr>
                    </a:p>
                  </a:txBody>
                  <a:tcPr marT="45724" marB="45724"/>
                </a:tc>
                <a:extLst>
                  <a:ext uri="{0D108BD9-81ED-4DB2-BD59-A6C34878D82A}">
                    <a16:rowId xmlns:a16="http://schemas.microsoft.com/office/drawing/2014/main" val="10002"/>
                  </a:ext>
                </a:extLst>
              </a:tr>
            </a:tbl>
          </a:graphicData>
        </a:graphic>
      </p:graphicFrame>
      <p:sp>
        <p:nvSpPr>
          <p:cNvPr id="5" name="Content Placeholder 4"/>
          <p:cNvSpPr txBox="1">
            <a:spLocks/>
          </p:cNvSpPr>
          <p:nvPr/>
        </p:nvSpPr>
        <p:spPr bwMode="auto">
          <a:xfrm>
            <a:off x="5851193" y="5183098"/>
            <a:ext cx="5704764"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algn="just" eaLnBrk="1" hangingPunct="1">
              <a:buFont typeface="Wingdings" pitchFamily="2" charset="2"/>
              <a:buChar char="v"/>
              <a:defRPr/>
            </a:pPr>
            <a:r>
              <a:rPr lang="id-ID" sz="2400" dirty="0">
                <a:solidFill>
                  <a:srgbClr val="002060"/>
                </a:solidFill>
                <a:latin typeface="Tahoma" pitchFamily="34" charset="0"/>
                <a:cs typeface="Tahoma" pitchFamily="34" charset="0"/>
              </a:rPr>
              <a:t>30” Conductor</a:t>
            </a:r>
            <a:endParaRPr lang="en-US" sz="2400" dirty="0">
              <a:solidFill>
                <a:srgbClr val="002060"/>
              </a:solidFill>
              <a:latin typeface="Tahoma" pitchFamily="34" charset="0"/>
              <a:cs typeface="Tahoma" pitchFamily="34" charset="0"/>
            </a:endParaRPr>
          </a:p>
          <a:p>
            <a:pPr algn="just" eaLnBrk="1" hangingPunct="1">
              <a:buFont typeface="Wingdings" pitchFamily="2" charset="2"/>
              <a:buChar char="v"/>
              <a:defRPr/>
            </a:pPr>
            <a:r>
              <a:rPr lang="id-ID" sz="2400" dirty="0">
                <a:solidFill>
                  <a:srgbClr val="002060"/>
                </a:solidFill>
                <a:latin typeface="Tahoma" pitchFamily="34" charset="0"/>
                <a:cs typeface="Tahoma" pitchFamily="34" charset="0"/>
              </a:rPr>
              <a:t>20” Surface Casing</a:t>
            </a:r>
            <a:endParaRPr lang="id-ID" sz="2400" dirty="0">
              <a:solidFill>
                <a:srgbClr val="002060"/>
              </a:solidFill>
              <a:latin typeface="Arial" charset="0"/>
            </a:endParaRPr>
          </a:p>
        </p:txBody>
      </p:sp>
      <p:sp>
        <p:nvSpPr>
          <p:cNvPr id="53266" name="Content Placeholder 4"/>
          <p:cNvSpPr txBox="1">
            <a:spLocks/>
          </p:cNvSpPr>
          <p:nvPr/>
        </p:nvSpPr>
        <p:spPr bwMode="auto">
          <a:xfrm>
            <a:off x="510368" y="5183098"/>
            <a:ext cx="5340825" cy="1147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buFont typeface="Wingdings" pitchFamily="2" charset="2"/>
              <a:buChar char="v"/>
              <a:defRPr/>
            </a:pPr>
            <a:r>
              <a:rPr lang="id-ID" sz="2400" dirty="0">
                <a:solidFill>
                  <a:schemeClr val="accent6">
                    <a:lumMod val="50000"/>
                  </a:schemeClr>
                </a:solidFill>
                <a:latin typeface="Tahoma" pitchFamily="34" charset="0"/>
                <a:cs typeface="Tahoma" pitchFamily="34" charset="0"/>
              </a:rPr>
              <a:t>13-3/8” Production </a:t>
            </a:r>
            <a:r>
              <a:rPr lang="en-US" sz="2400" dirty="0">
                <a:solidFill>
                  <a:schemeClr val="accent6">
                    <a:lumMod val="50000"/>
                  </a:schemeClr>
                </a:solidFill>
                <a:latin typeface="Tahoma" pitchFamily="34" charset="0"/>
                <a:cs typeface="Tahoma" pitchFamily="34" charset="0"/>
              </a:rPr>
              <a:t>Casing</a:t>
            </a:r>
            <a:endParaRPr lang="en-US" altLang="en-US" sz="2400" dirty="0">
              <a:solidFill>
                <a:schemeClr val="accent6">
                  <a:lumMod val="50000"/>
                </a:schemeClr>
              </a:solidFill>
              <a:latin typeface="Tahoma" panose="020B0604030504040204" pitchFamily="34" charset="0"/>
              <a:cs typeface="Tahoma" panose="020B0604030504040204" pitchFamily="34" charset="0"/>
            </a:endParaRPr>
          </a:p>
          <a:p>
            <a:pPr algn="just" eaLnBrk="1" hangingPunct="1">
              <a:spcBef>
                <a:spcPct val="0"/>
              </a:spcBef>
              <a:buFont typeface="Wingdings" panose="05000000000000000000" pitchFamily="2" charset="2"/>
              <a:buChar char="v"/>
              <a:defRPr/>
            </a:pPr>
            <a:r>
              <a:rPr lang="id-ID" altLang="en-US" sz="2400" dirty="0">
                <a:solidFill>
                  <a:schemeClr val="accent6">
                    <a:lumMod val="50000"/>
                  </a:schemeClr>
                </a:solidFill>
                <a:latin typeface="Tahoma" panose="020B0604030504040204" pitchFamily="34" charset="0"/>
                <a:cs typeface="Tahoma" panose="020B0604030504040204" pitchFamily="34" charset="0"/>
              </a:rPr>
              <a:t>10-3/4”</a:t>
            </a:r>
            <a:r>
              <a:rPr lang="en-US" altLang="en-US" sz="2400" dirty="0">
                <a:solidFill>
                  <a:schemeClr val="accent6">
                    <a:lumMod val="50000"/>
                  </a:schemeClr>
                </a:solidFill>
                <a:latin typeface="Tahoma" panose="020B0604030504040204" pitchFamily="34" charset="0"/>
                <a:cs typeface="Tahoma" panose="020B0604030504040204" pitchFamily="34" charset="0"/>
              </a:rPr>
              <a:t>, 8-5/8”, 7”</a:t>
            </a:r>
            <a:r>
              <a:rPr lang="id-ID" altLang="en-US" sz="2400" dirty="0">
                <a:solidFill>
                  <a:schemeClr val="accent6">
                    <a:lumMod val="50000"/>
                  </a:schemeClr>
                </a:solidFill>
                <a:latin typeface="Tahoma" panose="020B0604030504040204" pitchFamily="34" charset="0"/>
                <a:cs typeface="Tahoma" panose="020B0604030504040204" pitchFamily="34" charset="0"/>
              </a:rPr>
              <a:t> Perforated Liner</a:t>
            </a:r>
            <a:endParaRPr lang="id-ID" altLang="en-US" sz="2400" dirty="0">
              <a:solidFill>
                <a:schemeClr val="accent6">
                  <a:lumMod val="50000"/>
                </a:schemeClr>
              </a:solidFill>
              <a:cs typeface="Tahoma" panose="020B0604030504040204" pitchFamily="34" charset="0"/>
            </a:endParaRPr>
          </a:p>
        </p:txBody>
      </p:sp>
      <p:pic>
        <p:nvPicPr>
          <p:cNvPr id="58387" name="Picture 20" descr="Related image"/>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355893" y="6112644"/>
            <a:ext cx="9906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4046512"/>
      </p:ext>
    </p:extLst>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9DF5-BF3E-FE0F-D912-B6C618BAD1C9}"/>
              </a:ext>
            </a:extLst>
          </p:cNvPr>
          <p:cNvSpPr>
            <a:spLocks noGrp="1"/>
          </p:cNvSpPr>
          <p:nvPr>
            <p:ph type="title"/>
          </p:nvPr>
        </p:nvSpPr>
        <p:spPr>
          <a:xfrm>
            <a:off x="521207" y="448056"/>
            <a:ext cx="10345267" cy="640080"/>
          </a:xfrm>
        </p:spPr>
        <p:txBody>
          <a:bodyPr>
            <a:normAutofit/>
          </a:bodyPr>
          <a:lstStyle/>
          <a:p>
            <a:r>
              <a:rPr lang="en-ID" dirty="0" err="1"/>
              <a:t>Tipikal</a:t>
            </a:r>
            <a:r>
              <a:rPr lang="en-ID" dirty="0"/>
              <a:t> </a:t>
            </a:r>
            <a:r>
              <a:rPr lang="en-ID" dirty="0" err="1"/>
              <a:t>spesifikasi</a:t>
            </a:r>
            <a:r>
              <a:rPr lang="en-ID" dirty="0"/>
              <a:t> casing yang </a:t>
            </a:r>
            <a:r>
              <a:rPr lang="en-ID" dirty="0" err="1"/>
              <a:t>umum</a:t>
            </a:r>
            <a:r>
              <a:rPr lang="en-ID" dirty="0"/>
              <a:t> </a:t>
            </a:r>
            <a:r>
              <a:rPr lang="en-ID" dirty="0" err="1"/>
              <a:t>dipakai</a:t>
            </a:r>
            <a:r>
              <a:rPr lang="en-ID" dirty="0"/>
              <a:t> </a:t>
            </a:r>
            <a:r>
              <a:rPr lang="en-ID" dirty="0" err="1"/>
              <a:t>sumur</a:t>
            </a:r>
            <a:r>
              <a:rPr lang="en-ID" dirty="0"/>
              <a:t> Big Bore</a:t>
            </a:r>
          </a:p>
        </p:txBody>
      </p:sp>
      <p:pic>
        <p:nvPicPr>
          <p:cNvPr id="4" name="Picture 3" descr="Table&#10;&#10;Description automatically generated">
            <a:extLst>
              <a:ext uri="{FF2B5EF4-FFF2-40B4-BE49-F238E27FC236}">
                <a16:creationId xmlns:a16="http://schemas.microsoft.com/office/drawing/2014/main" id="{A21C19AC-F795-120A-6F8C-94BD1AC96AEE}"/>
              </a:ext>
            </a:extLst>
          </p:cNvPr>
          <p:cNvPicPr>
            <a:picLocks noChangeAspect="1"/>
          </p:cNvPicPr>
          <p:nvPr/>
        </p:nvPicPr>
        <p:blipFill>
          <a:blip r:embed="rId2"/>
          <a:stretch>
            <a:fillRect/>
          </a:stretch>
        </p:blipFill>
        <p:spPr>
          <a:xfrm>
            <a:off x="238220" y="1368143"/>
            <a:ext cx="11734040" cy="4106914"/>
          </a:xfrm>
          <a:prstGeom prst="rect">
            <a:avLst/>
          </a:prstGeom>
        </p:spPr>
      </p:pic>
    </p:spTree>
    <p:extLst>
      <p:ext uri="{BB962C8B-B14F-4D97-AF65-F5344CB8AC3E}">
        <p14:creationId xmlns:p14="http://schemas.microsoft.com/office/powerpoint/2010/main" val="3580216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705378" y="-107853"/>
            <a:ext cx="8229600" cy="1143000"/>
          </a:xfrm>
        </p:spPr>
        <p:txBody>
          <a:bodyPr>
            <a:normAutofit/>
          </a:bodyPr>
          <a:lstStyle/>
          <a:p>
            <a:pPr eaLnBrk="1" hangingPunct="1"/>
            <a:r>
              <a:rPr lang="en-US" altLang="en-US" sz="4000" b="1" dirty="0">
                <a:solidFill>
                  <a:schemeClr val="accent6">
                    <a:lumMod val="50000"/>
                  </a:schemeClr>
                </a:solidFill>
              </a:rPr>
              <a:t>CASING </a:t>
            </a:r>
            <a:r>
              <a:rPr lang="id-ID" altLang="en-US" sz="4000" b="1" dirty="0">
                <a:solidFill>
                  <a:schemeClr val="accent6">
                    <a:lumMod val="50000"/>
                  </a:schemeClr>
                </a:solidFill>
              </a:rPr>
              <a:t>CONNECTION</a:t>
            </a:r>
            <a:endParaRPr lang="en-US" altLang="en-US" sz="4000" b="1" dirty="0">
              <a:solidFill>
                <a:schemeClr val="accent6">
                  <a:lumMod val="50000"/>
                </a:schemeClr>
              </a:solidFill>
            </a:endParaRPr>
          </a:p>
        </p:txBody>
      </p:sp>
      <p:pic>
        <p:nvPicPr>
          <p:cNvPr id="23555" name="Picture 3"/>
          <p:cNvPicPr>
            <a:picLocks noChangeAspect="1" noChangeArrowheads="1"/>
          </p:cNvPicPr>
          <p:nvPr/>
        </p:nvPicPr>
        <p:blipFill>
          <a:blip r:embed="rId3"/>
          <a:srcRect/>
          <a:stretch>
            <a:fillRect/>
          </a:stretch>
        </p:blipFill>
        <p:spPr bwMode="auto">
          <a:xfrm>
            <a:off x="309349" y="1289240"/>
            <a:ext cx="7239000" cy="48768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399"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072303" y="3821540"/>
            <a:ext cx="1354721" cy="206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9400" name="Group 3"/>
          <p:cNvGrpSpPr>
            <a:grpSpLocks/>
          </p:cNvGrpSpPr>
          <p:nvPr/>
        </p:nvGrpSpPr>
        <p:grpSpPr bwMode="auto">
          <a:xfrm>
            <a:off x="400821" y="3542377"/>
            <a:ext cx="1342527" cy="2623662"/>
            <a:chOff x="9163050" y="2535124"/>
            <a:chExt cx="2571750" cy="5514975"/>
          </a:xfrm>
        </p:grpSpPr>
        <p:pic>
          <p:nvPicPr>
            <p:cNvPr id="59402" name="Picture 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163050" y="2535124"/>
              <a:ext cx="819150"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403" name="Picture 3"/>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0134600" y="2535124"/>
              <a:ext cx="1600200" cy="5328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2" name="TextBox 11"/>
          <p:cNvSpPr txBox="1"/>
          <p:nvPr/>
        </p:nvSpPr>
        <p:spPr>
          <a:xfrm>
            <a:off x="7543402" y="1289240"/>
            <a:ext cx="4338850" cy="5016758"/>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accent6">
                    <a:lumMod val="50000"/>
                  </a:schemeClr>
                </a:solidFill>
              </a:rPr>
              <a:t>30” Casing, </a:t>
            </a:r>
            <a:r>
              <a:rPr lang="en-US" sz="2000" b="1" dirty="0">
                <a:solidFill>
                  <a:srgbClr val="C00000"/>
                </a:solidFill>
              </a:rPr>
              <a:t>ERW or Spiral SAW</a:t>
            </a:r>
            <a:r>
              <a:rPr lang="en-US" sz="2000" b="1" dirty="0">
                <a:solidFill>
                  <a:schemeClr val="accent6">
                    <a:lumMod val="50000"/>
                  </a:schemeClr>
                </a:solidFill>
              </a:rPr>
              <a:t>, 0.75” WT, R-3, Plain End</a:t>
            </a:r>
          </a:p>
          <a:p>
            <a:pPr marL="285750" indent="-285750">
              <a:buFont typeface="Arial" panose="020B0604020202020204" pitchFamily="34" charset="0"/>
              <a:buChar char="•"/>
            </a:pPr>
            <a:endParaRPr lang="en-US" sz="2000" b="1" dirty="0">
              <a:solidFill>
                <a:schemeClr val="accent6">
                  <a:lumMod val="50000"/>
                </a:schemeClr>
              </a:solidFill>
            </a:endParaRPr>
          </a:p>
          <a:p>
            <a:pPr marL="285750" indent="-285750">
              <a:buFont typeface="Arial" panose="020B0604020202020204" pitchFamily="34" charset="0"/>
              <a:buChar char="•"/>
            </a:pPr>
            <a:r>
              <a:rPr lang="en-US" sz="2000" b="1" dirty="0">
                <a:solidFill>
                  <a:schemeClr val="accent6">
                    <a:lumMod val="50000"/>
                  </a:schemeClr>
                </a:solidFill>
              </a:rPr>
              <a:t>20” Casing, </a:t>
            </a:r>
            <a:r>
              <a:rPr lang="en-US" sz="2000" b="1" dirty="0">
                <a:solidFill>
                  <a:srgbClr val="C00000"/>
                </a:solidFill>
              </a:rPr>
              <a:t>ERW or SAW</a:t>
            </a:r>
            <a:r>
              <a:rPr lang="en-US" sz="2000" b="1" dirty="0">
                <a:solidFill>
                  <a:schemeClr val="accent6">
                    <a:lumMod val="50000"/>
                  </a:schemeClr>
                </a:solidFill>
              </a:rPr>
              <a:t>, 133 </a:t>
            </a:r>
            <a:r>
              <a:rPr lang="en-US" sz="2000" b="1" dirty="0" err="1">
                <a:solidFill>
                  <a:schemeClr val="accent6">
                    <a:lumMod val="50000"/>
                  </a:schemeClr>
                </a:solidFill>
              </a:rPr>
              <a:t>ppf</a:t>
            </a:r>
            <a:r>
              <a:rPr lang="en-US" sz="2000" b="1" dirty="0">
                <a:solidFill>
                  <a:schemeClr val="accent6">
                    <a:lumMod val="50000"/>
                  </a:schemeClr>
                </a:solidFill>
              </a:rPr>
              <a:t>, K-55 (X-56), R-3, </a:t>
            </a:r>
            <a:r>
              <a:rPr lang="en-US" sz="2000" b="1" dirty="0">
                <a:solidFill>
                  <a:srgbClr val="C00000"/>
                </a:solidFill>
              </a:rPr>
              <a:t>3TPI CONNECTOR</a:t>
            </a:r>
          </a:p>
          <a:p>
            <a:pPr marL="285750" indent="-285750">
              <a:buFont typeface="Arial" panose="020B0604020202020204" pitchFamily="34" charset="0"/>
              <a:buChar char="•"/>
            </a:pPr>
            <a:endParaRPr lang="en-US" sz="2000" b="1" dirty="0">
              <a:solidFill>
                <a:schemeClr val="accent6">
                  <a:lumMod val="50000"/>
                </a:schemeClr>
              </a:solidFill>
            </a:endParaRPr>
          </a:p>
          <a:p>
            <a:pPr marL="285750" indent="-285750">
              <a:buFont typeface="Arial" panose="020B0604020202020204" pitchFamily="34" charset="0"/>
              <a:buChar char="•"/>
            </a:pPr>
            <a:r>
              <a:rPr lang="en-US" sz="2000" b="1" dirty="0">
                <a:solidFill>
                  <a:schemeClr val="accent6">
                    <a:lumMod val="50000"/>
                  </a:schemeClr>
                </a:solidFill>
              </a:rPr>
              <a:t>13-3/8” Casing, Seamless, 68-72 </a:t>
            </a:r>
            <a:r>
              <a:rPr lang="en-US" sz="2000" b="1" dirty="0" err="1">
                <a:solidFill>
                  <a:schemeClr val="accent6">
                    <a:lumMod val="50000"/>
                  </a:schemeClr>
                </a:solidFill>
              </a:rPr>
              <a:t>ppf</a:t>
            </a:r>
            <a:r>
              <a:rPr lang="en-US" sz="2000" b="1" dirty="0">
                <a:solidFill>
                  <a:schemeClr val="accent6">
                    <a:lumMod val="50000"/>
                  </a:schemeClr>
                </a:solidFill>
              </a:rPr>
              <a:t>, L-80, R-3, </a:t>
            </a:r>
            <a:r>
              <a:rPr lang="en-US" sz="2000" b="1" dirty="0">
                <a:solidFill>
                  <a:srgbClr val="C00000"/>
                </a:solidFill>
              </a:rPr>
              <a:t>PREMIUM</a:t>
            </a:r>
          </a:p>
          <a:p>
            <a:pPr marL="285750" indent="-285750">
              <a:buFont typeface="Arial" panose="020B0604020202020204" pitchFamily="34" charset="0"/>
              <a:buChar char="•"/>
            </a:pPr>
            <a:endParaRPr lang="en-US" sz="2000" b="1" dirty="0">
              <a:solidFill>
                <a:schemeClr val="accent6">
                  <a:lumMod val="50000"/>
                </a:schemeClr>
              </a:solidFill>
            </a:endParaRPr>
          </a:p>
          <a:p>
            <a:pPr marL="285750" indent="-285750">
              <a:buFont typeface="Arial" panose="020B0604020202020204" pitchFamily="34" charset="0"/>
              <a:buChar char="•"/>
            </a:pPr>
            <a:r>
              <a:rPr lang="en-US" sz="2000" b="1" dirty="0">
                <a:solidFill>
                  <a:schemeClr val="accent6">
                    <a:lumMod val="50000"/>
                  </a:schemeClr>
                </a:solidFill>
              </a:rPr>
              <a:t>10-3/4” Perforated Casing, 40 </a:t>
            </a:r>
            <a:r>
              <a:rPr lang="en-US" sz="2000" b="1" dirty="0" err="1">
                <a:solidFill>
                  <a:schemeClr val="accent6">
                    <a:lumMod val="50000"/>
                  </a:schemeClr>
                </a:solidFill>
              </a:rPr>
              <a:t>ppf</a:t>
            </a:r>
            <a:r>
              <a:rPr lang="en-US" sz="2000" b="1" dirty="0">
                <a:solidFill>
                  <a:schemeClr val="accent6">
                    <a:lumMod val="50000"/>
                  </a:schemeClr>
                </a:solidFill>
              </a:rPr>
              <a:t>, K-55/L-80, R-3, </a:t>
            </a:r>
            <a:r>
              <a:rPr lang="en-US" sz="2000" b="1" dirty="0">
                <a:solidFill>
                  <a:srgbClr val="C00000"/>
                </a:solidFill>
              </a:rPr>
              <a:t>SCC BTC</a:t>
            </a:r>
          </a:p>
          <a:p>
            <a:pPr marL="285750" indent="-285750">
              <a:buFont typeface="Arial" panose="020B0604020202020204" pitchFamily="34" charset="0"/>
              <a:buChar char="•"/>
            </a:pPr>
            <a:r>
              <a:rPr lang="en-US" sz="2000" b="1" dirty="0">
                <a:solidFill>
                  <a:schemeClr val="accent6">
                    <a:lumMod val="50000"/>
                  </a:schemeClr>
                </a:solidFill>
              </a:rPr>
              <a:t>8-5/8” Perforated Casing, 28 </a:t>
            </a:r>
            <a:r>
              <a:rPr lang="en-US" sz="2000" b="1" dirty="0" err="1">
                <a:solidFill>
                  <a:schemeClr val="accent6">
                    <a:lumMod val="50000"/>
                  </a:schemeClr>
                </a:solidFill>
              </a:rPr>
              <a:t>ppf</a:t>
            </a:r>
            <a:r>
              <a:rPr lang="en-US" sz="2000" b="1" dirty="0">
                <a:solidFill>
                  <a:schemeClr val="accent6">
                    <a:lumMod val="50000"/>
                  </a:schemeClr>
                </a:solidFill>
              </a:rPr>
              <a:t>, K-55/L-80, R-3, </a:t>
            </a:r>
            <a:r>
              <a:rPr lang="en-US" sz="2000" b="1" dirty="0">
                <a:solidFill>
                  <a:srgbClr val="C00000"/>
                </a:solidFill>
              </a:rPr>
              <a:t>SCC BTC</a:t>
            </a:r>
          </a:p>
          <a:p>
            <a:pPr marL="285750" indent="-285750">
              <a:buFont typeface="Arial" panose="020B0604020202020204" pitchFamily="34" charset="0"/>
              <a:buChar char="•"/>
            </a:pPr>
            <a:r>
              <a:rPr lang="en-US" sz="2000" b="1" dirty="0">
                <a:solidFill>
                  <a:schemeClr val="accent6">
                    <a:lumMod val="50000"/>
                  </a:schemeClr>
                </a:solidFill>
              </a:rPr>
              <a:t>7” Perforated Casing, 23 </a:t>
            </a:r>
            <a:r>
              <a:rPr lang="en-US" sz="2000" b="1" dirty="0" err="1">
                <a:solidFill>
                  <a:schemeClr val="accent6">
                    <a:lumMod val="50000"/>
                  </a:schemeClr>
                </a:solidFill>
              </a:rPr>
              <a:t>ppf</a:t>
            </a:r>
            <a:r>
              <a:rPr lang="en-US" sz="2000" b="1" dirty="0">
                <a:solidFill>
                  <a:schemeClr val="accent6">
                    <a:lumMod val="50000"/>
                  </a:schemeClr>
                </a:solidFill>
              </a:rPr>
              <a:t>, K-55/L-80, R-3, </a:t>
            </a:r>
            <a:r>
              <a:rPr lang="en-US" sz="2000" b="1" dirty="0">
                <a:solidFill>
                  <a:srgbClr val="C00000"/>
                </a:solidFill>
              </a:rPr>
              <a:t>SCC BTC</a:t>
            </a:r>
          </a:p>
        </p:txBody>
      </p:sp>
    </p:spTree>
    <p:extLst>
      <p:ext uri="{BB962C8B-B14F-4D97-AF65-F5344CB8AC3E}">
        <p14:creationId xmlns:p14="http://schemas.microsoft.com/office/powerpoint/2010/main" val="2360530321"/>
      </p:ext>
    </p:extLst>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645994" y="-135273"/>
            <a:ext cx="9617122" cy="1143000"/>
          </a:xfrm>
        </p:spPr>
        <p:txBody>
          <a:bodyPr>
            <a:noAutofit/>
          </a:bodyPr>
          <a:lstStyle/>
          <a:p>
            <a:pPr eaLnBrk="1" hangingPunct="1"/>
            <a:r>
              <a:rPr lang="id-ID" altLang="en-US" sz="4000" b="1" dirty="0">
                <a:solidFill>
                  <a:srgbClr val="C00000"/>
                </a:solidFill>
              </a:rPr>
              <a:t>BUTRESS</a:t>
            </a:r>
            <a:r>
              <a:rPr lang="id-ID" altLang="en-US" sz="4000" b="1" dirty="0">
                <a:solidFill>
                  <a:schemeClr val="accent6">
                    <a:lumMod val="50000"/>
                  </a:schemeClr>
                </a:solidFill>
              </a:rPr>
              <a:t> </a:t>
            </a:r>
            <a:r>
              <a:rPr lang="en-US" altLang="en-US" sz="4000" b="1" dirty="0">
                <a:solidFill>
                  <a:schemeClr val="accent6">
                    <a:lumMod val="50000"/>
                  </a:schemeClr>
                </a:solidFill>
              </a:rPr>
              <a:t>vs QUICK </a:t>
            </a:r>
            <a:r>
              <a:rPr lang="id-ID" altLang="en-US" sz="4000" b="1" dirty="0">
                <a:solidFill>
                  <a:schemeClr val="accent6">
                    <a:lumMod val="50000"/>
                  </a:schemeClr>
                </a:solidFill>
              </a:rPr>
              <a:t>Connection </a:t>
            </a:r>
            <a:r>
              <a:rPr lang="en-US" altLang="en-US" sz="4000" b="1" dirty="0">
                <a:solidFill>
                  <a:schemeClr val="accent6">
                    <a:lumMod val="50000"/>
                  </a:schemeClr>
                </a:solidFill>
              </a:rPr>
              <a:t>Thread</a:t>
            </a:r>
          </a:p>
        </p:txBody>
      </p:sp>
      <p:graphicFrame>
        <p:nvGraphicFramePr>
          <p:cNvPr id="2" name="Table 1"/>
          <p:cNvGraphicFramePr>
            <a:graphicFrameLocks noGrp="1"/>
          </p:cNvGraphicFramePr>
          <p:nvPr/>
        </p:nvGraphicFramePr>
        <p:xfrm>
          <a:off x="645994" y="1315801"/>
          <a:ext cx="10654352" cy="2290770"/>
        </p:xfrm>
        <a:graphic>
          <a:graphicData uri="http://schemas.openxmlformats.org/drawingml/2006/table">
            <a:tbl>
              <a:tblPr firstRow="1" bandRow="1">
                <a:tableStyleId>{5C22544A-7EE6-4342-B048-85BDC9FD1C3A}</a:tableStyleId>
              </a:tblPr>
              <a:tblGrid>
                <a:gridCol w="3790491">
                  <a:extLst>
                    <a:ext uri="{9D8B030D-6E8A-4147-A177-3AD203B41FA5}">
                      <a16:colId xmlns:a16="http://schemas.microsoft.com/office/drawing/2014/main" val="20000"/>
                    </a:ext>
                  </a:extLst>
                </a:gridCol>
                <a:gridCol w="6863861">
                  <a:extLst>
                    <a:ext uri="{9D8B030D-6E8A-4147-A177-3AD203B41FA5}">
                      <a16:colId xmlns:a16="http://schemas.microsoft.com/office/drawing/2014/main" val="20001"/>
                    </a:ext>
                  </a:extLst>
                </a:gridCol>
              </a:tblGrid>
              <a:tr h="370642">
                <a:tc>
                  <a:txBody>
                    <a:bodyPr/>
                    <a:lstStyle/>
                    <a:p>
                      <a:r>
                        <a:rPr lang="id-ID" sz="1800" dirty="0">
                          <a:solidFill>
                            <a:srgbClr val="FFFF99"/>
                          </a:solidFill>
                        </a:rPr>
                        <a:t>Pro</a:t>
                      </a:r>
                      <a:r>
                        <a:rPr lang="en-US" sz="1800" dirty="0">
                          <a:solidFill>
                            <a:srgbClr val="FFFF99"/>
                          </a:solidFill>
                        </a:rPr>
                        <a:t>s - </a:t>
                      </a:r>
                      <a:r>
                        <a:rPr lang="en-US" sz="1800" dirty="0" err="1">
                          <a:solidFill>
                            <a:srgbClr val="FFFF99"/>
                          </a:solidFill>
                        </a:rPr>
                        <a:t>Butress</a:t>
                      </a:r>
                      <a:endParaRPr lang="id-ID" sz="1800" dirty="0">
                        <a:solidFill>
                          <a:srgbClr val="FFFF99"/>
                        </a:solidFill>
                      </a:endParaRPr>
                    </a:p>
                  </a:txBody>
                  <a:tcPr marT="45664" marB="45664"/>
                </a:tc>
                <a:tc>
                  <a:txBody>
                    <a:bodyPr/>
                    <a:lstStyle/>
                    <a:p>
                      <a:r>
                        <a:rPr lang="id-ID" sz="1800" dirty="0">
                          <a:solidFill>
                            <a:srgbClr val="FFFF99"/>
                          </a:solidFill>
                        </a:rPr>
                        <a:t>Con</a:t>
                      </a:r>
                      <a:r>
                        <a:rPr lang="en-US" sz="1800" dirty="0">
                          <a:solidFill>
                            <a:srgbClr val="FFFF99"/>
                          </a:solidFill>
                        </a:rPr>
                        <a:t>s - </a:t>
                      </a:r>
                      <a:r>
                        <a:rPr lang="en-US" sz="1800" dirty="0" err="1">
                          <a:solidFill>
                            <a:srgbClr val="FFFF99"/>
                          </a:solidFill>
                        </a:rPr>
                        <a:t>Butress</a:t>
                      </a:r>
                      <a:endParaRPr lang="id-ID" sz="1800" dirty="0">
                        <a:solidFill>
                          <a:srgbClr val="FFFF99"/>
                        </a:solidFill>
                      </a:endParaRPr>
                    </a:p>
                  </a:txBody>
                  <a:tcPr marT="45664" marB="45664"/>
                </a:tc>
                <a:extLst>
                  <a:ext uri="{0D108BD9-81ED-4DB2-BD59-A6C34878D82A}">
                    <a16:rowId xmlns:a16="http://schemas.microsoft.com/office/drawing/2014/main" val="10000"/>
                  </a:ext>
                </a:extLst>
              </a:tr>
              <a:tr h="1920120">
                <a:tc>
                  <a:txBody>
                    <a:bodyPr/>
                    <a:lstStyle/>
                    <a:p>
                      <a:pPr marL="285750" indent="-285750">
                        <a:buFont typeface="Arial" pitchFamily="34" charset="0"/>
                        <a:buChar char="•"/>
                      </a:pPr>
                      <a:r>
                        <a:rPr lang="id-ID" sz="1800" dirty="0"/>
                        <a:t>Cheap</a:t>
                      </a:r>
                      <a:r>
                        <a:rPr lang="en-US" sz="1800" dirty="0"/>
                        <a:t> price casing connection</a:t>
                      </a:r>
                      <a:endParaRPr lang="id-ID" sz="1800" dirty="0"/>
                    </a:p>
                    <a:p>
                      <a:pPr marL="285750" indent="-285750">
                        <a:buFont typeface="Arial" pitchFamily="34" charset="0"/>
                        <a:buChar char="•"/>
                      </a:pPr>
                      <a:r>
                        <a:rPr lang="id-ID" sz="1800" dirty="0"/>
                        <a:t>MU</a:t>
                      </a:r>
                      <a:r>
                        <a:rPr lang="id-ID" sz="1800" baseline="0" dirty="0"/>
                        <a:t> to tri-angle mark </a:t>
                      </a:r>
                      <a:r>
                        <a:rPr lang="id-ID" sz="1800" baseline="0" dirty="0">
                          <a:sym typeface="Wingdings" pitchFamily="2" charset="2"/>
                        </a:rPr>
                        <a:t> no torque turn monitoring</a:t>
                      </a:r>
                    </a:p>
                    <a:p>
                      <a:pPr marL="285750" indent="-285750">
                        <a:buFont typeface="Arial" pitchFamily="34" charset="0"/>
                        <a:buChar char="•"/>
                      </a:pPr>
                      <a:r>
                        <a:rPr lang="id-ID" sz="1800" baseline="0" dirty="0">
                          <a:sym typeface="Wingdings" pitchFamily="2" charset="2"/>
                        </a:rPr>
                        <a:t>API</a:t>
                      </a:r>
                      <a:endParaRPr lang="id-ID" sz="1800" dirty="0"/>
                    </a:p>
                  </a:txBody>
                  <a:tcPr marT="45664" marB="45664"/>
                </a:tc>
                <a:tc>
                  <a:txBody>
                    <a:bodyPr/>
                    <a:lstStyle/>
                    <a:p>
                      <a:pPr marL="285750" indent="-285750">
                        <a:buFont typeface="Arial" pitchFamily="34" charset="0"/>
                        <a:buChar char="•"/>
                      </a:pPr>
                      <a:r>
                        <a:rPr lang="id-ID" sz="1800" dirty="0"/>
                        <a:t>Not</a:t>
                      </a:r>
                      <a:r>
                        <a:rPr lang="id-ID" sz="1800" baseline="0" dirty="0"/>
                        <a:t> for gas well</a:t>
                      </a:r>
                    </a:p>
                    <a:p>
                      <a:pPr marL="285750" indent="-285750">
                        <a:buFont typeface="Arial" pitchFamily="34" charset="0"/>
                        <a:buChar char="•"/>
                      </a:pPr>
                      <a:r>
                        <a:rPr lang="id-ID" sz="1800" baseline="0" dirty="0"/>
                        <a:t>Low Temperature and pressure</a:t>
                      </a:r>
                    </a:p>
                    <a:p>
                      <a:pPr marL="285750" indent="-285750">
                        <a:buFont typeface="Arial" pitchFamily="34" charset="0"/>
                        <a:buChar char="•"/>
                      </a:pPr>
                      <a:r>
                        <a:rPr lang="id-ID" sz="1800" baseline="0" dirty="0"/>
                        <a:t>Limit DLS</a:t>
                      </a:r>
                    </a:p>
                    <a:p>
                      <a:pPr marL="285750" indent="-285750">
                        <a:buFont typeface="Arial" pitchFamily="34" charset="0"/>
                        <a:buChar char="•"/>
                      </a:pPr>
                      <a:r>
                        <a:rPr lang="id-ID" sz="2400" b="1" u="sng" baseline="0" dirty="0">
                          <a:solidFill>
                            <a:srgbClr val="FF0000"/>
                          </a:solidFill>
                        </a:rPr>
                        <a:t>Longer time to MU</a:t>
                      </a:r>
                      <a:r>
                        <a:rPr lang="en-US" sz="2400" b="1" u="sng" baseline="0" dirty="0">
                          <a:solidFill>
                            <a:srgbClr val="FF0000"/>
                          </a:solidFill>
                        </a:rPr>
                        <a:t> (i.e. 20” casing </a:t>
                      </a:r>
                      <a:r>
                        <a:rPr lang="en-US" sz="2400" b="1" u="sng" baseline="0" dirty="0">
                          <a:solidFill>
                            <a:srgbClr val="FF0000"/>
                          </a:solidFill>
                          <a:sym typeface="Wingdings" panose="05000000000000000000" pitchFamily="2" charset="2"/>
                        </a:rPr>
                        <a:t> 20-30 minutes per joint</a:t>
                      </a:r>
                      <a:endParaRPr lang="en-US" sz="2400" b="1" u="sng" baseline="0" dirty="0">
                        <a:solidFill>
                          <a:srgbClr val="FF0000"/>
                        </a:solidFill>
                      </a:endParaRPr>
                    </a:p>
                    <a:p>
                      <a:pPr marL="285750" indent="-285750">
                        <a:buFont typeface="Arial" pitchFamily="34" charset="0"/>
                        <a:buChar char="•"/>
                      </a:pPr>
                      <a:endParaRPr lang="id-ID" sz="1800" dirty="0"/>
                    </a:p>
                  </a:txBody>
                  <a:tcPr marT="45664" marB="45664"/>
                </a:tc>
                <a:extLst>
                  <a:ext uri="{0D108BD9-81ED-4DB2-BD59-A6C34878D82A}">
                    <a16:rowId xmlns:a16="http://schemas.microsoft.com/office/drawing/2014/main" val="10001"/>
                  </a:ext>
                </a:extLst>
              </a:tr>
            </a:tbl>
          </a:graphicData>
        </a:graphic>
      </p:graphicFrame>
      <p:pic>
        <p:nvPicPr>
          <p:cNvPr id="61454"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45994" y="3666888"/>
            <a:ext cx="1843088" cy="206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55"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527307" y="3666888"/>
            <a:ext cx="1843087"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ight Arrow 5"/>
          <p:cNvSpPr/>
          <p:nvPr/>
        </p:nvSpPr>
        <p:spPr>
          <a:xfrm>
            <a:off x="2627194" y="3936763"/>
            <a:ext cx="762000" cy="1524000"/>
          </a:xfrm>
          <a:prstGeom prst="rightArrow">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1457" name="TextBox 6"/>
          <p:cNvSpPr txBox="1">
            <a:spLocks noChangeArrowheads="1"/>
          </p:cNvSpPr>
          <p:nvPr/>
        </p:nvSpPr>
        <p:spPr bwMode="auto">
          <a:xfrm>
            <a:off x="5370394" y="3706577"/>
            <a:ext cx="5135478"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2000" dirty="0">
                <a:solidFill>
                  <a:schemeClr val="accent6">
                    <a:lumMod val="50000"/>
                  </a:schemeClr>
                </a:solidFill>
                <a:latin typeface="Times New Roman" panose="02020603050405020304" pitchFamily="18" charset="0"/>
              </a:rPr>
              <a:t>3 TPI (Thread Per Inch) Connection</a:t>
            </a:r>
          </a:p>
          <a:p>
            <a:pPr>
              <a:spcBef>
                <a:spcPct val="0"/>
              </a:spcBef>
            </a:pPr>
            <a:r>
              <a:rPr lang="en-US" altLang="en-US" sz="2000" dirty="0">
                <a:solidFill>
                  <a:schemeClr val="accent6">
                    <a:lumMod val="50000"/>
                  </a:schemeClr>
                </a:solidFill>
                <a:latin typeface="Times New Roman" panose="02020603050405020304" pitchFamily="18" charset="0"/>
              </a:rPr>
              <a:t>&lt; 5 minutes per joint</a:t>
            </a:r>
          </a:p>
          <a:p>
            <a:pPr>
              <a:spcBef>
                <a:spcPct val="0"/>
              </a:spcBef>
            </a:pPr>
            <a:r>
              <a:rPr lang="en-US" altLang="en-US" sz="2000" dirty="0">
                <a:solidFill>
                  <a:schemeClr val="accent6">
                    <a:lumMod val="50000"/>
                  </a:schemeClr>
                </a:solidFill>
                <a:latin typeface="Times New Roman" panose="02020603050405020304" pitchFamily="18" charset="0"/>
              </a:rPr>
              <a:t>15 minutes rig time saving.</a:t>
            </a:r>
          </a:p>
          <a:p>
            <a:pPr>
              <a:spcBef>
                <a:spcPct val="0"/>
              </a:spcBef>
            </a:pPr>
            <a:r>
              <a:rPr lang="en-US" altLang="en-US" sz="2000" dirty="0">
                <a:solidFill>
                  <a:schemeClr val="accent6">
                    <a:lumMod val="50000"/>
                  </a:schemeClr>
                </a:solidFill>
                <a:latin typeface="Times New Roman" panose="02020603050405020304" pitchFamily="18" charset="0"/>
              </a:rPr>
              <a:t>Rig Cost = USD 3000 /</a:t>
            </a:r>
            <a:r>
              <a:rPr lang="en-US" altLang="en-US" sz="2000" dirty="0" err="1">
                <a:solidFill>
                  <a:schemeClr val="accent6">
                    <a:lumMod val="50000"/>
                  </a:schemeClr>
                </a:solidFill>
                <a:latin typeface="Times New Roman" panose="02020603050405020304" pitchFamily="18" charset="0"/>
              </a:rPr>
              <a:t>hrs</a:t>
            </a:r>
            <a:endParaRPr lang="en-US" altLang="en-US" sz="2000" dirty="0">
              <a:solidFill>
                <a:schemeClr val="accent6">
                  <a:lumMod val="50000"/>
                </a:schemeClr>
              </a:solidFill>
              <a:latin typeface="Times New Roman" panose="02020603050405020304" pitchFamily="18" charset="0"/>
            </a:endParaRPr>
          </a:p>
          <a:p>
            <a:pPr>
              <a:spcBef>
                <a:spcPct val="0"/>
              </a:spcBef>
            </a:pPr>
            <a:r>
              <a:rPr lang="en-US" altLang="en-US" sz="2000" dirty="0">
                <a:solidFill>
                  <a:schemeClr val="accent6">
                    <a:lumMod val="50000"/>
                  </a:schemeClr>
                </a:solidFill>
                <a:latin typeface="Times New Roman" panose="02020603050405020304" pitchFamily="18" charset="0"/>
              </a:rPr>
              <a:t>Cost saving per joint: USD 750.</a:t>
            </a:r>
          </a:p>
          <a:p>
            <a:pPr lvl="1">
              <a:spcBef>
                <a:spcPct val="0"/>
              </a:spcBef>
            </a:pPr>
            <a:r>
              <a:rPr lang="en-US" altLang="en-US" sz="1600" dirty="0">
                <a:solidFill>
                  <a:schemeClr val="accent6">
                    <a:lumMod val="50000"/>
                  </a:schemeClr>
                </a:solidFill>
                <a:latin typeface="Times New Roman" panose="02020603050405020304" pitchFamily="18" charset="0"/>
              </a:rPr>
              <a:t>Additional Cost for 3 TPI connection: USD 200</a:t>
            </a:r>
          </a:p>
          <a:p>
            <a:pPr lvl="1">
              <a:spcBef>
                <a:spcPct val="0"/>
              </a:spcBef>
            </a:pPr>
            <a:r>
              <a:rPr lang="en-US" altLang="en-US" sz="1600" dirty="0">
                <a:solidFill>
                  <a:schemeClr val="accent6">
                    <a:lumMod val="50000"/>
                  </a:schemeClr>
                </a:solidFill>
                <a:latin typeface="Times New Roman" panose="02020603050405020304" pitchFamily="18" charset="0"/>
              </a:rPr>
              <a:t>Net cost saving: USD 550 /</a:t>
            </a:r>
            <a:r>
              <a:rPr lang="en-US" altLang="en-US" sz="1600" dirty="0" err="1">
                <a:solidFill>
                  <a:schemeClr val="accent6">
                    <a:lumMod val="50000"/>
                  </a:schemeClr>
                </a:solidFill>
                <a:latin typeface="Times New Roman" panose="02020603050405020304" pitchFamily="18" charset="0"/>
              </a:rPr>
              <a:t>jt</a:t>
            </a:r>
            <a:endParaRPr lang="en-US" altLang="en-US" sz="1600" dirty="0">
              <a:solidFill>
                <a:schemeClr val="accent6">
                  <a:lumMod val="50000"/>
                </a:schemeClr>
              </a:solidFill>
              <a:latin typeface="Times New Roman" panose="02020603050405020304" pitchFamily="18" charset="0"/>
            </a:endParaRPr>
          </a:p>
          <a:p>
            <a:pPr lvl="1">
              <a:spcBef>
                <a:spcPct val="0"/>
              </a:spcBef>
            </a:pPr>
            <a:r>
              <a:rPr lang="en-US" altLang="en-US" sz="1600" dirty="0">
                <a:solidFill>
                  <a:schemeClr val="accent6">
                    <a:lumMod val="50000"/>
                  </a:schemeClr>
                </a:solidFill>
                <a:latin typeface="Times New Roman" panose="02020603050405020304" pitchFamily="18" charset="0"/>
              </a:rPr>
              <a:t>45 joint per well: </a:t>
            </a:r>
            <a:r>
              <a:rPr lang="en-US" altLang="en-US" sz="1600" b="1" dirty="0">
                <a:solidFill>
                  <a:srgbClr val="C00000"/>
                </a:solidFill>
                <a:latin typeface="Times New Roman" panose="02020603050405020304" pitchFamily="18" charset="0"/>
              </a:rPr>
              <a:t>USD 24750</a:t>
            </a:r>
          </a:p>
        </p:txBody>
      </p:sp>
      <p:pic>
        <p:nvPicPr>
          <p:cNvPr id="61458" name="Picture 21" descr="Image result for Cost savi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506008" y="5635376"/>
            <a:ext cx="2039998" cy="96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3818800"/>
      </p:ext>
    </p:extLst>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4CCDD-2C50-4D7B-B959-C892B9F0C740}"/>
              </a:ext>
            </a:extLst>
          </p:cNvPr>
          <p:cNvSpPr>
            <a:spLocks noGrp="1"/>
          </p:cNvSpPr>
          <p:nvPr>
            <p:ph type="title"/>
          </p:nvPr>
        </p:nvSpPr>
        <p:spPr>
          <a:xfrm>
            <a:off x="521207" y="448056"/>
            <a:ext cx="8686588" cy="640080"/>
          </a:xfrm>
        </p:spPr>
        <p:txBody>
          <a:bodyPr>
            <a:normAutofit/>
          </a:bodyPr>
          <a:lstStyle/>
          <a:p>
            <a:r>
              <a:rPr lang="en-US" sz="3600" b="1" dirty="0">
                <a:solidFill>
                  <a:srgbClr val="002060"/>
                </a:solidFill>
              </a:rPr>
              <a:t>20” Casing </a:t>
            </a:r>
            <a:r>
              <a:rPr lang="en-US" sz="3600" b="1" dirty="0">
                <a:solidFill>
                  <a:srgbClr val="C00000"/>
                </a:solidFill>
              </a:rPr>
              <a:t>Thread</a:t>
            </a:r>
            <a:r>
              <a:rPr lang="en-US" sz="3600" b="1" dirty="0">
                <a:solidFill>
                  <a:srgbClr val="002060"/>
                </a:solidFill>
              </a:rPr>
              <a:t> List and Comparison</a:t>
            </a:r>
            <a:endParaRPr lang="en-ID" sz="3600" b="1" dirty="0">
              <a:solidFill>
                <a:srgbClr val="002060"/>
              </a:solidFill>
            </a:endParaRPr>
          </a:p>
        </p:txBody>
      </p:sp>
      <p:graphicFrame>
        <p:nvGraphicFramePr>
          <p:cNvPr id="5" name="Table 5">
            <a:extLst>
              <a:ext uri="{FF2B5EF4-FFF2-40B4-BE49-F238E27FC236}">
                <a16:creationId xmlns:a16="http://schemas.microsoft.com/office/drawing/2014/main" id="{A5BC2F80-C1D0-4362-BCE9-D127D2AED1E4}"/>
              </a:ext>
            </a:extLst>
          </p:cNvPr>
          <p:cNvGraphicFramePr>
            <a:graphicFrameLocks noGrp="1"/>
          </p:cNvGraphicFramePr>
          <p:nvPr/>
        </p:nvGraphicFramePr>
        <p:xfrm>
          <a:off x="777358" y="1495843"/>
          <a:ext cx="8770680" cy="3413760"/>
        </p:xfrm>
        <a:graphic>
          <a:graphicData uri="http://schemas.openxmlformats.org/drawingml/2006/table">
            <a:tbl>
              <a:tblPr firstRow="1" bandRow="1">
                <a:tableStyleId>{5C22544A-7EE6-4342-B048-85BDC9FD1C3A}</a:tableStyleId>
              </a:tblPr>
              <a:tblGrid>
                <a:gridCol w="2923560">
                  <a:extLst>
                    <a:ext uri="{9D8B030D-6E8A-4147-A177-3AD203B41FA5}">
                      <a16:colId xmlns:a16="http://schemas.microsoft.com/office/drawing/2014/main" val="3380303404"/>
                    </a:ext>
                  </a:extLst>
                </a:gridCol>
                <a:gridCol w="2923560">
                  <a:extLst>
                    <a:ext uri="{9D8B030D-6E8A-4147-A177-3AD203B41FA5}">
                      <a16:colId xmlns:a16="http://schemas.microsoft.com/office/drawing/2014/main" val="460406808"/>
                    </a:ext>
                  </a:extLst>
                </a:gridCol>
                <a:gridCol w="2923560">
                  <a:extLst>
                    <a:ext uri="{9D8B030D-6E8A-4147-A177-3AD203B41FA5}">
                      <a16:colId xmlns:a16="http://schemas.microsoft.com/office/drawing/2014/main" val="1535098498"/>
                    </a:ext>
                  </a:extLst>
                </a:gridCol>
              </a:tblGrid>
              <a:tr h="370840">
                <a:tc>
                  <a:txBody>
                    <a:bodyPr/>
                    <a:lstStyle/>
                    <a:p>
                      <a:r>
                        <a:rPr lang="en-US" dirty="0"/>
                        <a:t>Thread Name</a:t>
                      </a:r>
                      <a:endParaRPr lang="en-ID" dirty="0"/>
                    </a:p>
                  </a:txBody>
                  <a:tcPr/>
                </a:tc>
                <a:tc>
                  <a:txBody>
                    <a:bodyPr/>
                    <a:lstStyle/>
                    <a:p>
                      <a:r>
                        <a:rPr lang="en-ID" dirty="0"/>
                        <a:t>Number of Threads</a:t>
                      </a:r>
                    </a:p>
                  </a:txBody>
                  <a:tcPr/>
                </a:tc>
                <a:tc>
                  <a:txBody>
                    <a:bodyPr/>
                    <a:lstStyle/>
                    <a:p>
                      <a:r>
                        <a:rPr lang="en-US" dirty="0"/>
                        <a:t>Remark</a:t>
                      </a:r>
                      <a:endParaRPr lang="en-ID" dirty="0"/>
                    </a:p>
                  </a:txBody>
                  <a:tcPr/>
                </a:tc>
                <a:extLst>
                  <a:ext uri="{0D108BD9-81ED-4DB2-BD59-A6C34878D82A}">
                    <a16:rowId xmlns:a16="http://schemas.microsoft.com/office/drawing/2014/main" val="3379565714"/>
                  </a:ext>
                </a:extLst>
              </a:tr>
              <a:tr h="370840">
                <a:tc>
                  <a:txBody>
                    <a:bodyPr/>
                    <a:lstStyle/>
                    <a:p>
                      <a:r>
                        <a:rPr lang="en-US" dirty="0"/>
                        <a:t>BTC, </a:t>
                      </a:r>
                    </a:p>
                    <a:p>
                      <a:r>
                        <a:rPr lang="en-US" dirty="0" err="1"/>
                        <a:t>Geoconn</a:t>
                      </a:r>
                      <a:r>
                        <a:rPr lang="en-US" dirty="0"/>
                        <a:t>, </a:t>
                      </a:r>
                    </a:p>
                    <a:p>
                      <a:r>
                        <a:rPr lang="en-US" dirty="0" err="1"/>
                        <a:t>GPButt</a:t>
                      </a:r>
                      <a:r>
                        <a:rPr lang="en-US" dirty="0"/>
                        <a:t>, </a:t>
                      </a:r>
                    </a:p>
                    <a:p>
                      <a:r>
                        <a:rPr lang="en-ID" dirty="0"/>
                        <a:t>TMK UP CWB</a:t>
                      </a:r>
                    </a:p>
                  </a:txBody>
                  <a:tcPr/>
                </a:tc>
                <a:tc>
                  <a:txBody>
                    <a:bodyPr/>
                    <a:lstStyle/>
                    <a:p>
                      <a:r>
                        <a:rPr lang="en-US" dirty="0"/>
                        <a:t>5 TPI (Thread Per Inch)</a:t>
                      </a:r>
                      <a:endParaRPr lang="en-ID" dirty="0"/>
                    </a:p>
                  </a:txBody>
                  <a:tcPr/>
                </a:tc>
                <a:tc>
                  <a:txBody>
                    <a:bodyPr/>
                    <a:lstStyle/>
                    <a:p>
                      <a:endParaRPr lang="en-US" dirty="0"/>
                    </a:p>
                    <a:p>
                      <a:r>
                        <a:rPr lang="en-US" dirty="0"/>
                        <a:t>BTC Compatible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BTC Compatible</a:t>
                      </a:r>
                      <a:endParaRPr lang="en-ID"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BTC Compatible</a:t>
                      </a:r>
                      <a:endParaRPr lang="en-ID" dirty="0"/>
                    </a:p>
                  </a:txBody>
                  <a:tcPr/>
                </a:tc>
                <a:extLst>
                  <a:ext uri="{0D108BD9-81ED-4DB2-BD59-A6C34878D82A}">
                    <a16:rowId xmlns:a16="http://schemas.microsoft.com/office/drawing/2014/main" val="3712283320"/>
                  </a:ext>
                </a:extLst>
              </a:tr>
              <a:tr h="370840">
                <a:tc>
                  <a:txBody>
                    <a:bodyPr/>
                    <a:lstStyle/>
                    <a:p>
                      <a:r>
                        <a:rPr lang="en-US" dirty="0"/>
                        <a:t>GP3P</a:t>
                      </a:r>
                      <a:endParaRPr lang="en-ID" dirty="0"/>
                    </a:p>
                  </a:txBody>
                  <a:tcPr/>
                </a:tc>
                <a:tc>
                  <a:txBody>
                    <a:bodyPr/>
                    <a:lstStyle/>
                    <a:p>
                      <a:r>
                        <a:rPr lang="en-US" dirty="0"/>
                        <a:t>3TPI</a:t>
                      </a:r>
                      <a:endParaRPr lang="en-ID" dirty="0"/>
                    </a:p>
                  </a:txBody>
                  <a:tcPr/>
                </a:tc>
                <a:tc>
                  <a:txBody>
                    <a:bodyPr/>
                    <a:lstStyle/>
                    <a:p>
                      <a:endParaRPr lang="en-ID"/>
                    </a:p>
                  </a:txBody>
                  <a:tcPr/>
                </a:tc>
                <a:extLst>
                  <a:ext uri="{0D108BD9-81ED-4DB2-BD59-A6C34878D82A}">
                    <a16:rowId xmlns:a16="http://schemas.microsoft.com/office/drawing/2014/main" val="2704255622"/>
                  </a:ext>
                </a:extLst>
              </a:tr>
              <a:tr h="370840">
                <a:tc>
                  <a:txBody>
                    <a:bodyPr/>
                    <a:lstStyle/>
                    <a:p>
                      <a:r>
                        <a:rPr lang="en-US" dirty="0"/>
                        <a:t>Big Omega, Big Omega E</a:t>
                      </a:r>
                      <a:endParaRPr lang="en-ID" dirty="0"/>
                    </a:p>
                  </a:txBody>
                  <a:tcPr/>
                </a:tc>
                <a:tc>
                  <a:txBody>
                    <a:bodyPr/>
                    <a:lstStyle/>
                    <a:p>
                      <a:r>
                        <a:rPr lang="en-US" dirty="0"/>
                        <a:t>3TPI</a:t>
                      </a:r>
                      <a:endParaRPr lang="en-ID" dirty="0"/>
                    </a:p>
                  </a:txBody>
                  <a:tcPr/>
                </a:tc>
                <a:tc>
                  <a:txBody>
                    <a:bodyPr/>
                    <a:lstStyle/>
                    <a:p>
                      <a:endParaRPr lang="en-ID"/>
                    </a:p>
                  </a:txBody>
                  <a:tcPr/>
                </a:tc>
                <a:extLst>
                  <a:ext uri="{0D108BD9-81ED-4DB2-BD59-A6C34878D82A}">
                    <a16:rowId xmlns:a16="http://schemas.microsoft.com/office/drawing/2014/main" val="4113162412"/>
                  </a:ext>
                </a:extLst>
              </a:tr>
              <a:tr h="370840">
                <a:tc>
                  <a:txBody>
                    <a:bodyPr/>
                    <a:lstStyle/>
                    <a:p>
                      <a:r>
                        <a:rPr lang="en-US" dirty="0"/>
                        <a:t>Tenaris ER</a:t>
                      </a:r>
                      <a:endParaRPr lang="en-ID" dirty="0"/>
                    </a:p>
                  </a:txBody>
                  <a:tcPr/>
                </a:tc>
                <a:tc>
                  <a:txBody>
                    <a:bodyPr/>
                    <a:lstStyle/>
                    <a:p>
                      <a:r>
                        <a:rPr lang="en-US" dirty="0"/>
                        <a:t>3TPI</a:t>
                      </a:r>
                      <a:endParaRPr lang="en-ID" dirty="0"/>
                    </a:p>
                  </a:txBody>
                  <a:tcPr/>
                </a:tc>
                <a:tc>
                  <a:txBody>
                    <a:bodyPr/>
                    <a:lstStyle/>
                    <a:p>
                      <a:endParaRPr lang="en-ID"/>
                    </a:p>
                  </a:txBody>
                  <a:tcPr/>
                </a:tc>
                <a:extLst>
                  <a:ext uri="{0D108BD9-81ED-4DB2-BD59-A6C34878D82A}">
                    <a16:rowId xmlns:a16="http://schemas.microsoft.com/office/drawing/2014/main" val="3843093809"/>
                  </a:ext>
                </a:extLst>
              </a:tr>
              <a:tr h="370840">
                <a:tc>
                  <a:txBody>
                    <a:bodyPr/>
                    <a:lstStyle/>
                    <a:p>
                      <a:r>
                        <a:rPr lang="en-US" dirty="0"/>
                        <a:t>Hunting Seal Lock Boss</a:t>
                      </a:r>
                      <a:endParaRPr lang="en-ID" dirty="0"/>
                    </a:p>
                  </a:txBody>
                  <a:tcPr/>
                </a:tc>
                <a:tc>
                  <a:txBody>
                    <a:bodyPr/>
                    <a:lstStyle/>
                    <a:p>
                      <a:r>
                        <a:rPr lang="en-US" dirty="0"/>
                        <a:t>3TPI</a:t>
                      </a:r>
                      <a:endParaRPr lang="en-ID" dirty="0"/>
                    </a:p>
                  </a:txBody>
                  <a:tcPr/>
                </a:tc>
                <a:tc>
                  <a:txBody>
                    <a:bodyPr/>
                    <a:lstStyle/>
                    <a:p>
                      <a:endParaRPr lang="en-ID"/>
                    </a:p>
                  </a:txBody>
                  <a:tcPr/>
                </a:tc>
                <a:extLst>
                  <a:ext uri="{0D108BD9-81ED-4DB2-BD59-A6C34878D82A}">
                    <a16:rowId xmlns:a16="http://schemas.microsoft.com/office/drawing/2014/main" val="2746387678"/>
                  </a:ext>
                </a:extLst>
              </a:tr>
              <a:tr h="370840">
                <a:tc>
                  <a:txBody>
                    <a:bodyPr/>
                    <a:lstStyle/>
                    <a:p>
                      <a:r>
                        <a:rPr lang="en-ID" dirty="0"/>
                        <a:t>TMK UP Magna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3TPI</a:t>
                      </a:r>
                      <a:endParaRPr lang="en-ID" dirty="0"/>
                    </a:p>
                  </a:txBody>
                  <a:tcPr/>
                </a:tc>
                <a:tc>
                  <a:txBody>
                    <a:bodyPr/>
                    <a:lstStyle/>
                    <a:p>
                      <a:endParaRPr lang="en-ID" dirty="0"/>
                    </a:p>
                  </a:txBody>
                  <a:tcPr/>
                </a:tc>
                <a:extLst>
                  <a:ext uri="{0D108BD9-81ED-4DB2-BD59-A6C34878D82A}">
                    <a16:rowId xmlns:a16="http://schemas.microsoft.com/office/drawing/2014/main" val="3140412787"/>
                  </a:ext>
                </a:extLst>
              </a:tr>
            </a:tbl>
          </a:graphicData>
        </a:graphic>
      </p:graphicFrame>
      <p:pic>
        <p:nvPicPr>
          <p:cNvPr id="7" name="Picture 6">
            <a:extLst>
              <a:ext uri="{FF2B5EF4-FFF2-40B4-BE49-F238E27FC236}">
                <a16:creationId xmlns:a16="http://schemas.microsoft.com/office/drawing/2014/main" id="{EC3C2EA4-171E-4154-B579-8156CE91B04D}"/>
              </a:ext>
            </a:extLst>
          </p:cNvPr>
          <p:cNvPicPr>
            <a:picLocks noChangeAspect="1"/>
          </p:cNvPicPr>
          <p:nvPr/>
        </p:nvPicPr>
        <p:blipFill>
          <a:blip r:embed="rId2"/>
          <a:stretch>
            <a:fillRect/>
          </a:stretch>
        </p:blipFill>
        <p:spPr>
          <a:xfrm>
            <a:off x="10053648" y="2675483"/>
            <a:ext cx="717133" cy="3213653"/>
          </a:xfrm>
          <a:prstGeom prst="rect">
            <a:avLst/>
          </a:prstGeom>
        </p:spPr>
      </p:pic>
      <p:sp>
        <p:nvSpPr>
          <p:cNvPr id="9" name="TextBox 8">
            <a:extLst>
              <a:ext uri="{FF2B5EF4-FFF2-40B4-BE49-F238E27FC236}">
                <a16:creationId xmlns:a16="http://schemas.microsoft.com/office/drawing/2014/main" id="{0975F07F-8C10-426C-B2ED-9319CA480828}"/>
              </a:ext>
            </a:extLst>
          </p:cNvPr>
          <p:cNvSpPr txBox="1"/>
          <p:nvPr/>
        </p:nvSpPr>
        <p:spPr>
          <a:xfrm>
            <a:off x="9849511" y="5925330"/>
            <a:ext cx="1310463" cy="369332"/>
          </a:xfrm>
          <a:prstGeom prst="rect">
            <a:avLst/>
          </a:prstGeom>
          <a:noFill/>
        </p:spPr>
        <p:txBody>
          <a:bodyPr wrap="square">
            <a:spAutoFit/>
          </a:bodyPr>
          <a:lstStyle/>
          <a:p>
            <a:r>
              <a:rPr lang="en-US" dirty="0" err="1"/>
              <a:t>Geoconn</a:t>
            </a:r>
            <a:endParaRPr lang="en-ID" dirty="0"/>
          </a:p>
        </p:txBody>
      </p:sp>
    </p:spTree>
    <p:extLst>
      <p:ext uri="{BB962C8B-B14F-4D97-AF65-F5344CB8AC3E}">
        <p14:creationId xmlns:p14="http://schemas.microsoft.com/office/powerpoint/2010/main" val="30879377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1676400" y="1256304"/>
            <a:ext cx="8839200" cy="1561324"/>
          </a:xfrm>
        </p:spPr>
        <p:txBody>
          <a:bodyPr>
            <a:noAutofit/>
          </a:bodyPr>
          <a:lstStyle/>
          <a:p>
            <a:pPr algn="ctr">
              <a:lnSpc>
                <a:spcPct val="150000"/>
              </a:lnSpc>
            </a:pPr>
            <a:r>
              <a:rPr lang="en-US" altLang="en-US" sz="3600" b="1" dirty="0">
                <a:solidFill>
                  <a:srgbClr val="D24726"/>
                </a:solidFill>
              </a:rPr>
              <a:t>13-3/8” Casing Design:</a:t>
            </a:r>
            <a:br>
              <a:rPr lang="en-US" altLang="en-US" sz="3600" b="1" dirty="0">
                <a:solidFill>
                  <a:srgbClr val="D24726"/>
                </a:solidFill>
              </a:rPr>
            </a:br>
            <a:r>
              <a:rPr lang="en-US" altLang="en-US" sz="3600" b="1" dirty="0">
                <a:solidFill>
                  <a:srgbClr val="D24726"/>
                </a:solidFill>
              </a:rPr>
              <a:t>Tie Back instead of Long String </a:t>
            </a:r>
          </a:p>
        </p:txBody>
      </p:sp>
      <p:sp>
        <p:nvSpPr>
          <p:cNvPr id="41987"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15CA882A-1E86-4EB9-94A9-0A7DE4FAED5E}" type="slidenum">
              <a:rPr lang="en-US" altLang="en-US" sz="1400"/>
              <a:pPr>
                <a:spcBef>
                  <a:spcPct val="0"/>
                </a:spcBef>
                <a:buFontTx/>
                <a:buNone/>
              </a:pPr>
              <a:t>110</a:t>
            </a:fld>
            <a:endParaRPr lang="en-US" altLang="en-US" sz="1400"/>
          </a:p>
        </p:txBody>
      </p:sp>
    </p:spTree>
    <p:extLst>
      <p:ext uri="{BB962C8B-B14F-4D97-AF65-F5344CB8AC3E}">
        <p14:creationId xmlns:p14="http://schemas.microsoft.com/office/powerpoint/2010/main" val="24840452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434" y="277761"/>
            <a:ext cx="4404719" cy="759212"/>
          </a:xfrm>
        </p:spPr>
        <p:txBody>
          <a:bodyPr>
            <a:noAutofit/>
          </a:bodyPr>
          <a:lstStyle/>
          <a:p>
            <a:r>
              <a:rPr lang="en-US" sz="3200" b="1" dirty="0">
                <a:solidFill>
                  <a:srgbClr val="C00000"/>
                </a:solidFill>
              </a:rPr>
              <a:t>Casing Schematic</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4401" y="1290972"/>
            <a:ext cx="4351419" cy="5451021"/>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41710" y="0"/>
            <a:ext cx="6258297" cy="6741994"/>
          </a:xfrm>
          <a:prstGeom prst="rect">
            <a:avLst/>
          </a:prstGeom>
        </p:spPr>
      </p:pic>
      <p:cxnSp>
        <p:nvCxnSpPr>
          <p:cNvPr id="6" name="Straight Arrow Connector 5">
            <a:extLst>
              <a:ext uri="{FF2B5EF4-FFF2-40B4-BE49-F238E27FC236}">
                <a16:creationId xmlns:a16="http://schemas.microsoft.com/office/drawing/2014/main" id="{C4FBC21D-3593-467F-AF68-9508AB85E69D}"/>
              </a:ext>
            </a:extLst>
          </p:cNvPr>
          <p:cNvCxnSpPr>
            <a:cxnSpLocks/>
          </p:cNvCxnSpPr>
          <p:nvPr/>
        </p:nvCxnSpPr>
        <p:spPr>
          <a:xfrm>
            <a:off x="1635760" y="2956560"/>
            <a:ext cx="4846320" cy="0"/>
          </a:xfrm>
          <a:prstGeom prst="straightConnector1">
            <a:avLst/>
          </a:prstGeom>
          <a:ln w="25400">
            <a:prstDash val="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1D30711-AC01-4C79-B25F-CDC2CDA5C9B7}"/>
              </a:ext>
            </a:extLst>
          </p:cNvPr>
          <p:cNvCxnSpPr>
            <a:cxnSpLocks/>
          </p:cNvCxnSpPr>
          <p:nvPr/>
        </p:nvCxnSpPr>
        <p:spPr>
          <a:xfrm>
            <a:off x="4318000" y="4541520"/>
            <a:ext cx="5039360" cy="0"/>
          </a:xfrm>
          <a:prstGeom prst="straightConnector1">
            <a:avLst/>
          </a:prstGeom>
          <a:ln w="25400">
            <a:prstDash val="dash"/>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051836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461" y="201352"/>
            <a:ext cx="10515600" cy="576571"/>
          </a:xfrm>
        </p:spPr>
        <p:txBody>
          <a:bodyPr>
            <a:normAutofit/>
          </a:bodyPr>
          <a:lstStyle/>
          <a:p>
            <a:r>
              <a:rPr lang="en-US" dirty="0"/>
              <a:t>Running Operation</a:t>
            </a:r>
          </a:p>
        </p:txBody>
      </p:sp>
      <p:graphicFrame>
        <p:nvGraphicFramePr>
          <p:cNvPr id="4" name="Table 3"/>
          <p:cNvGraphicFramePr>
            <a:graphicFrameLocks noGrp="1"/>
          </p:cNvGraphicFramePr>
          <p:nvPr/>
        </p:nvGraphicFramePr>
        <p:xfrm>
          <a:off x="335280" y="777923"/>
          <a:ext cx="11480800" cy="6040120"/>
        </p:xfrm>
        <a:graphic>
          <a:graphicData uri="http://schemas.openxmlformats.org/drawingml/2006/table">
            <a:tbl>
              <a:tblPr firstRow="1" bandRow="1">
                <a:tableStyleId>{5C22544A-7EE6-4342-B048-85BDC9FD1C3A}</a:tableStyleId>
              </a:tblPr>
              <a:tblGrid>
                <a:gridCol w="5913120">
                  <a:extLst>
                    <a:ext uri="{9D8B030D-6E8A-4147-A177-3AD203B41FA5}">
                      <a16:colId xmlns:a16="http://schemas.microsoft.com/office/drawing/2014/main" val="1835959271"/>
                    </a:ext>
                  </a:extLst>
                </a:gridCol>
                <a:gridCol w="5567680">
                  <a:extLst>
                    <a:ext uri="{9D8B030D-6E8A-4147-A177-3AD203B41FA5}">
                      <a16:colId xmlns:a16="http://schemas.microsoft.com/office/drawing/2014/main" val="4131689637"/>
                    </a:ext>
                  </a:extLst>
                </a:gridCol>
              </a:tblGrid>
              <a:tr h="370840">
                <a:tc>
                  <a:txBody>
                    <a:bodyPr/>
                    <a:lstStyle/>
                    <a:p>
                      <a:r>
                        <a:rPr lang="en-US" dirty="0"/>
                        <a:t>Tie Back Design</a:t>
                      </a:r>
                    </a:p>
                  </a:txBody>
                  <a:tcPr/>
                </a:tc>
                <a:tc>
                  <a:txBody>
                    <a:bodyPr/>
                    <a:lstStyle/>
                    <a:p>
                      <a:r>
                        <a:rPr lang="en-US" dirty="0"/>
                        <a:t>Long String Design</a:t>
                      </a:r>
                    </a:p>
                  </a:txBody>
                  <a:tcPr/>
                </a:tc>
                <a:extLst>
                  <a:ext uri="{0D108BD9-81ED-4DB2-BD59-A6C34878D82A}">
                    <a16:rowId xmlns:a16="http://schemas.microsoft.com/office/drawing/2014/main" val="2890001865"/>
                  </a:ext>
                </a:extLst>
              </a:tr>
              <a:tr h="370840">
                <a:tc>
                  <a:txBody>
                    <a:bodyPr/>
                    <a:lstStyle/>
                    <a:p>
                      <a:r>
                        <a:rPr lang="en-US" b="1" dirty="0"/>
                        <a:t>Liner Run:</a:t>
                      </a:r>
                    </a:p>
                    <a:p>
                      <a:pPr marL="285750" indent="-285750">
                        <a:buFont typeface="Arial" panose="020B0604020202020204" pitchFamily="34" charset="0"/>
                        <a:buChar char="•"/>
                      </a:pPr>
                      <a:r>
                        <a:rPr lang="en-US" dirty="0"/>
                        <a:t>MU and run 13-3/8” Liner (TOL – 50 m above 20” FS)</a:t>
                      </a:r>
                    </a:p>
                    <a:p>
                      <a:pPr marL="285750" indent="-285750">
                        <a:buFont typeface="Arial" panose="020B0604020202020204" pitchFamily="34" charset="0"/>
                        <a:buChar char="•"/>
                      </a:pPr>
                      <a:r>
                        <a:rPr lang="en-US" dirty="0"/>
                        <a:t>MU</a:t>
                      </a:r>
                      <a:r>
                        <a:rPr lang="en-US" baseline="0" dirty="0"/>
                        <a:t> 20” X 13-3/8” Liner Adapter</a:t>
                      </a:r>
                    </a:p>
                    <a:p>
                      <a:pPr marL="285750" indent="-285750">
                        <a:buFont typeface="Arial" panose="020B0604020202020204" pitchFamily="34" charset="0"/>
                        <a:buChar char="•"/>
                      </a:pPr>
                      <a:r>
                        <a:rPr lang="en-US" baseline="0" dirty="0"/>
                        <a:t>Run with running string (HWDP + DP)</a:t>
                      </a:r>
                    </a:p>
                    <a:p>
                      <a:pPr marL="285750" indent="-285750">
                        <a:buFont typeface="Arial" panose="020B0604020202020204" pitchFamily="34" charset="0"/>
                        <a:buChar char="•"/>
                      </a:pPr>
                      <a:r>
                        <a:rPr lang="en-US" baseline="0" dirty="0"/>
                        <a:t>Cementing</a:t>
                      </a:r>
                    </a:p>
                    <a:p>
                      <a:pPr marL="285750" indent="-285750">
                        <a:buFont typeface="Arial" panose="020B0604020202020204" pitchFamily="34" charset="0"/>
                        <a:buChar char="•"/>
                      </a:pPr>
                      <a:r>
                        <a:rPr lang="en-US" baseline="0" dirty="0"/>
                        <a:t>POOH Running String</a:t>
                      </a:r>
                    </a:p>
                    <a:p>
                      <a:pPr marL="285750" indent="-285750">
                        <a:buFont typeface="Arial" panose="020B0604020202020204" pitchFamily="34" charset="0"/>
                        <a:buChar char="•"/>
                      </a:pPr>
                      <a:r>
                        <a:rPr lang="en-US" baseline="0" dirty="0"/>
                        <a:t>Wait On Cement</a:t>
                      </a:r>
                    </a:p>
                    <a:p>
                      <a:pPr marL="285750" indent="-285750">
                        <a:buFont typeface="Arial" panose="020B0604020202020204" pitchFamily="34" charset="0"/>
                        <a:buChar char="•"/>
                      </a:pPr>
                      <a:r>
                        <a:rPr lang="en-US" baseline="0" dirty="0"/>
                        <a:t>Run Clean Out BHA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solidFill>
                            <a:srgbClr val="C00000"/>
                          </a:solidFill>
                        </a:rPr>
                        <a:t>Remedial Cement if required</a:t>
                      </a:r>
                    </a:p>
                    <a:p>
                      <a:pPr marL="285750" indent="-285750">
                        <a:buFont typeface="Arial" panose="020B0604020202020204" pitchFamily="34" charset="0"/>
                        <a:buChar char="•"/>
                      </a:pPr>
                      <a:r>
                        <a:rPr lang="en-US" dirty="0"/>
                        <a:t>Pressure Liner Lap</a:t>
                      </a:r>
                    </a:p>
                  </a:txBody>
                  <a:tcPr/>
                </a:tc>
                <a:tc rowSpan="2">
                  <a:txBody>
                    <a:bodyPr/>
                    <a:lstStyle/>
                    <a:p>
                      <a:r>
                        <a:rPr lang="en-US" b="1" dirty="0"/>
                        <a:t>Single Run:</a:t>
                      </a:r>
                    </a:p>
                    <a:p>
                      <a:pPr marL="285750" indent="-285750">
                        <a:buFont typeface="Arial" panose="020B0604020202020204" pitchFamily="34" charset="0"/>
                        <a:buChar char="•"/>
                      </a:pPr>
                      <a:r>
                        <a:rPr lang="en-US" dirty="0"/>
                        <a:t>MU and run 13-3/8” Casing to surface</a:t>
                      </a:r>
                    </a:p>
                    <a:p>
                      <a:pPr marL="285750" indent="-285750">
                        <a:buFont typeface="Arial" panose="020B0604020202020204" pitchFamily="34" charset="0"/>
                        <a:buChar char="•"/>
                      </a:pPr>
                      <a:r>
                        <a:rPr lang="en-US" baseline="0" dirty="0"/>
                        <a:t>Run with Inner string (HWDP + DP)</a:t>
                      </a:r>
                    </a:p>
                    <a:p>
                      <a:pPr marL="285750" indent="-285750">
                        <a:buFont typeface="Arial" panose="020B0604020202020204" pitchFamily="34" charset="0"/>
                        <a:buChar char="•"/>
                      </a:pPr>
                      <a:r>
                        <a:rPr lang="en-US" baseline="0" dirty="0"/>
                        <a:t>Cementing</a:t>
                      </a:r>
                    </a:p>
                    <a:p>
                      <a:pPr marL="742950" lvl="1" indent="-285750">
                        <a:buFont typeface="Arial" panose="020B0604020202020204" pitchFamily="34" charset="0"/>
                        <a:buChar char="•"/>
                      </a:pPr>
                      <a:r>
                        <a:rPr lang="en-US" baseline="0" dirty="0">
                          <a:solidFill>
                            <a:srgbClr val="C00000"/>
                          </a:solidFill>
                        </a:rPr>
                        <a:t>Remedial Cement if required</a:t>
                      </a:r>
                    </a:p>
                    <a:p>
                      <a:pPr marL="285750" indent="-285750">
                        <a:buFont typeface="Arial" panose="020B0604020202020204" pitchFamily="34" charset="0"/>
                        <a:buChar char="•"/>
                      </a:pPr>
                      <a:r>
                        <a:rPr lang="en-US" baseline="0" dirty="0"/>
                        <a:t>POOH Inner String</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Wait On Cement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Remedial Cement if required</a:t>
                      </a:r>
                    </a:p>
                    <a:p>
                      <a:pPr marL="285750" indent="-285750">
                        <a:buFont typeface="Arial" panose="020B0604020202020204" pitchFamily="34" charset="0"/>
                        <a:buChar char="•"/>
                      </a:pPr>
                      <a:r>
                        <a:rPr lang="en-US" dirty="0"/>
                        <a:t>Lift BOP and Cut</a:t>
                      </a:r>
                      <a:r>
                        <a:rPr lang="en-US" baseline="0" dirty="0"/>
                        <a:t> 13-3/8” Casing and Laid Down</a:t>
                      </a:r>
                    </a:p>
                    <a:p>
                      <a:pPr marL="285750" indent="-285750">
                        <a:buFont typeface="Arial" panose="020B0604020202020204" pitchFamily="34" charset="0"/>
                        <a:buChar char="•"/>
                      </a:pPr>
                      <a:r>
                        <a:rPr lang="en-US" dirty="0"/>
                        <a:t>ND BOP</a:t>
                      </a:r>
                    </a:p>
                    <a:p>
                      <a:pPr marL="285750" indent="-285750">
                        <a:buFont typeface="Arial" panose="020B0604020202020204" pitchFamily="34" charset="0"/>
                        <a:buChar char="•"/>
                      </a:pPr>
                      <a:r>
                        <a:rPr lang="en-US" dirty="0"/>
                        <a:t>Cut 20” casing and Final Cut 13-3/8” casing.</a:t>
                      </a:r>
                    </a:p>
                    <a:p>
                      <a:pPr marL="742950" lvl="1" indent="-285750">
                        <a:buFont typeface="Arial" panose="020B0604020202020204" pitchFamily="34" charset="0"/>
                        <a:buChar char="•"/>
                      </a:pPr>
                      <a:r>
                        <a:rPr lang="en-US" dirty="0"/>
                        <a:t>Risk of heat expose</a:t>
                      </a:r>
                      <a:r>
                        <a:rPr lang="en-US" baseline="0" dirty="0"/>
                        <a:t> 13-3/8” casing due to cutting torch</a:t>
                      </a:r>
                      <a:endParaRPr lang="en-US" dirty="0"/>
                    </a:p>
                    <a:p>
                      <a:pPr marL="285750" indent="-285750">
                        <a:buFont typeface="Arial" panose="020B0604020202020204" pitchFamily="34" charset="0"/>
                        <a:buChar char="•"/>
                      </a:pPr>
                      <a:r>
                        <a:rPr lang="en-US" dirty="0"/>
                        <a:t>Weld section A to 13-3/8” casing </a:t>
                      </a:r>
                    </a:p>
                    <a:p>
                      <a:pPr marL="742950" lvl="1" indent="-285750">
                        <a:buFont typeface="Arial" panose="020B0604020202020204" pitchFamily="34" charset="0"/>
                        <a:buChar char="•"/>
                      </a:pPr>
                      <a:r>
                        <a:rPr lang="en-US" dirty="0"/>
                        <a:t>More rig Time (No pre-welded)</a:t>
                      </a:r>
                    </a:p>
                    <a:p>
                      <a:pPr marL="285750" indent="-285750">
                        <a:buFont typeface="Arial" panose="020B0604020202020204" pitchFamily="34" charset="0"/>
                        <a:buChar char="•"/>
                      </a:pPr>
                      <a:r>
                        <a:rPr lang="en-US" dirty="0"/>
                        <a:t>NU Master Valve</a:t>
                      </a:r>
                    </a:p>
                    <a:p>
                      <a:pPr marL="285750" indent="-285750">
                        <a:buFont typeface="Arial" panose="020B0604020202020204" pitchFamily="34" charset="0"/>
                        <a:buChar char="•"/>
                      </a:pPr>
                      <a:r>
                        <a:rPr lang="en-US" dirty="0"/>
                        <a:t>NU BOP</a:t>
                      </a:r>
                    </a:p>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993984303"/>
                  </a:ext>
                </a:extLst>
              </a:tr>
              <a:tr h="370840">
                <a:tc>
                  <a:txBody>
                    <a:bodyPr/>
                    <a:lstStyle/>
                    <a:p>
                      <a:pPr marL="0" indent="0">
                        <a:buFont typeface="Arial" panose="020B0604020202020204" pitchFamily="34" charset="0"/>
                        <a:buNone/>
                      </a:pPr>
                      <a:r>
                        <a:rPr lang="en-US" b="1" dirty="0"/>
                        <a:t>Tie Back</a:t>
                      </a:r>
                      <a:r>
                        <a:rPr lang="en-US" b="1" baseline="0" dirty="0"/>
                        <a:t> Run:</a:t>
                      </a:r>
                      <a:endParaRPr lang="en-US" b="1" dirty="0"/>
                    </a:p>
                    <a:p>
                      <a:pPr marL="285750" indent="-285750">
                        <a:buFont typeface="Arial" panose="020B0604020202020204" pitchFamily="34" charset="0"/>
                        <a:buChar char="•"/>
                      </a:pPr>
                      <a:r>
                        <a:rPr lang="en-US" dirty="0"/>
                        <a:t>ND BOP</a:t>
                      </a:r>
                    </a:p>
                    <a:p>
                      <a:pPr marL="285750" indent="-285750">
                        <a:buFont typeface="Arial" panose="020B0604020202020204" pitchFamily="34" charset="0"/>
                        <a:buChar char="•"/>
                      </a:pPr>
                      <a:r>
                        <a:rPr lang="en-US" dirty="0"/>
                        <a:t>Cut 20” casing </a:t>
                      </a:r>
                    </a:p>
                    <a:p>
                      <a:pPr marL="285750" indent="-285750">
                        <a:buFont typeface="Arial" panose="020B0604020202020204" pitchFamily="34" charset="0"/>
                        <a:buChar char="•"/>
                      </a:pPr>
                      <a:r>
                        <a:rPr lang="en-US" dirty="0"/>
                        <a:t>MU and run 13-3/8” Tie Back Casing to surface</a:t>
                      </a:r>
                    </a:p>
                    <a:p>
                      <a:pPr marL="285750" indent="-285750">
                        <a:buFont typeface="Arial" panose="020B0604020202020204" pitchFamily="34" charset="0"/>
                        <a:buChar char="•"/>
                      </a:pPr>
                      <a:r>
                        <a:rPr lang="en-US" dirty="0"/>
                        <a:t>MU</a:t>
                      </a:r>
                      <a:r>
                        <a:rPr lang="en-US" baseline="0" dirty="0"/>
                        <a:t> Pre-Welded Wellhead and Land on C Plate</a:t>
                      </a:r>
                    </a:p>
                    <a:p>
                      <a:pPr marL="285750" indent="-285750">
                        <a:buFont typeface="Arial" panose="020B0604020202020204" pitchFamily="34" charset="0"/>
                        <a:buChar char="•"/>
                      </a:pPr>
                      <a:r>
                        <a:rPr lang="en-US" baseline="0" dirty="0"/>
                        <a:t>Run inner string and stab into FC</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Cementing. </a:t>
                      </a:r>
                      <a:r>
                        <a:rPr lang="en-US" b="1" baseline="0" dirty="0">
                          <a:solidFill>
                            <a:srgbClr val="C00000"/>
                          </a:solidFill>
                        </a:rPr>
                        <a:t>NO Wait On Cement (Casing has been landed on C Plate prior cementing job).</a:t>
                      </a:r>
                    </a:p>
                    <a:p>
                      <a:pPr marL="285750" indent="-285750">
                        <a:buFont typeface="Arial" panose="020B0604020202020204" pitchFamily="34" charset="0"/>
                        <a:buChar char="•"/>
                      </a:pPr>
                      <a:r>
                        <a:rPr lang="en-US" dirty="0"/>
                        <a:t>NU Master Valve</a:t>
                      </a:r>
                    </a:p>
                    <a:p>
                      <a:pPr marL="285750" indent="-285750">
                        <a:buFont typeface="Arial" panose="020B0604020202020204" pitchFamily="34" charset="0"/>
                        <a:buChar char="•"/>
                      </a:pPr>
                      <a:r>
                        <a:rPr lang="en-US" dirty="0"/>
                        <a:t>NU BOP</a:t>
                      </a:r>
                    </a:p>
                  </a:txBody>
                  <a:tcPr/>
                </a:tc>
                <a:tc vMerge="1">
                  <a:txBody>
                    <a:bodyPr/>
                    <a:lstStyle/>
                    <a:p>
                      <a:endParaRPr lang="en-US" dirty="0"/>
                    </a:p>
                  </a:txBody>
                  <a:tcPr/>
                </a:tc>
                <a:extLst>
                  <a:ext uri="{0D108BD9-81ED-4DB2-BD59-A6C34878D82A}">
                    <a16:rowId xmlns:a16="http://schemas.microsoft.com/office/drawing/2014/main" val="2318439909"/>
                  </a:ext>
                </a:extLst>
              </a:tr>
            </a:tbl>
          </a:graphicData>
        </a:graphic>
      </p:graphicFrame>
    </p:spTree>
    <p:extLst>
      <p:ext uri="{BB962C8B-B14F-4D97-AF65-F5344CB8AC3E}">
        <p14:creationId xmlns:p14="http://schemas.microsoft.com/office/powerpoint/2010/main" val="7549589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Running Operation – 13-3/8” Liner &amp; Tie Back</a:t>
            </a: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40632" y="1535177"/>
            <a:ext cx="4832036" cy="4722363"/>
          </a:xfrm>
          <a:prstGeom prst="rect">
            <a:avLst/>
          </a:prstGeom>
        </p:spPr>
      </p:pic>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8597" y="1535177"/>
            <a:ext cx="3290755" cy="4722363"/>
          </a:xfrm>
          <a:prstGeom prst="rect">
            <a:avLst/>
          </a:prstGeom>
        </p:spPr>
      </p:pic>
    </p:spTree>
    <p:extLst>
      <p:ext uri="{BB962C8B-B14F-4D97-AF65-F5344CB8AC3E}">
        <p14:creationId xmlns:p14="http://schemas.microsoft.com/office/powerpoint/2010/main" val="14617426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Operation – 13-3/8” Tie Back Casing</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9131" y="1690688"/>
            <a:ext cx="4654881" cy="3887177"/>
          </a:xfrm>
          <a:prstGeom prst="rect">
            <a:avLst/>
          </a:prstGeom>
        </p:spPr>
      </p:pic>
      <p:sp>
        <p:nvSpPr>
          <p:cNvPr id="3" name="TextBox 2"/>
          <p:cNvSpPr txBox="1"/>
          <p:nvPr/>
        </p:nvSpPr>
        <p:spPr>
          <a:xfrm>
            <a:off x="4940491" y="1690688"/>
            <a:ext cx="6987652" cy="5016758"/>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accent6">
                    <a:lumMod val="50000"/>
                  </a:schemeClr>
                </a:solidFill>
              </a:rPr>
              <a:t>The 13-3/8” Tie Back Casing will be run with PRE-WELDED Wellhead for rig time saving.</a:t>
            </a:r>
          </a:p>
          <a:p>
            <a:pPr marL="285750" indent="-285750">
              <a:buFont typeface="Arial" panose="020B0604020202020204" pitchFamily="34" charset="0"/>
              <a:buChar char="•"/>
            </a:pPr>
            <a:r>
              <a:rPr lang="en-US" sz="2000" dirty="0">
                <a:solidFill>
                  <a:schemeClr val="accent6">
                    <a:lumMod val="50000"/>
                  </a:schemeClr>
                </a:solidFill>
              </a:rPr>
              <a:t>PRE-WELDED Wellhead will be landed on C Plate on 20” casing before cementing </a:t>
            </a:r>
            <a:r>
              <a:rPr lang="en-US" sz="2000" dirty="0">
                <a:solidFill>
                  <a:schemeClr val="accent6">
                    <a:lumMod val="50000"/>
                  </a:schemeClr>
                </a:solidFill>
                <a:sym typeface="Wingdings" panose="05000000000000000000" pitchFamily="2" charset="2"/>
              </a:rPr>
              <a:t> No Wait On Cement is required, we could NU BOP direct after cementing Job.</a:t>
            </a:r>
          </a:p>
          <a:p>
            <a:pPr marL="285750" indent="-285750">
              <a:buFont typeface="Arial" panose="020B0604020202020204" pitchFamily="34" charset="0"/>
              <a:buChar char="•"/>
            </a:pPr>
            <a:r>
              <a:rPr lang="en-US" sz="2000" dirty="0">
                <a:solidFill>
                  <a:schemeClr val="accent6">
                    <a:lumMod val="50000"/>
                  </a:schemeClr>
                </a:solidFill>
                <a:sym typeface="Wingdings" panose="05000000000000000000" pitchFamily="2" charset="2"/>
              </a:rPr>
              <a:t>The 13-3/8” Tie Back Casing will be cemented with </a:t>
            </a:r>
            <a:r>
              <a:rPr lang="en-US" sz="2000" b="1" dirty="0">
                <a:solidFill>
                  <a:schemeClr val="accent6">
                    <a:lumMod val="50000"/>
                  </a:schemeClr>
                </a:solidFill>
                <a:sym typeface="Wingdings" panose="05000000000000000000" pitchFamily="2" charset="2"/>
              </a:rPr>
              <a:t>heavy cement slurry 16.2 </a:t>
            </a:r>
            <a:r>
              <a:rPr lang="en-US" sz="2000" b="1"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 almost double than water gradient. </a:t>
            </a:r>
          </a:p>
          <a:p>
            <a:pPr marL="742950" lvl="1" indent="-285750">
              <a:buFont typeface="Arial" panose="020B0604020202020204" pitchFamily="34" charset="0"/>
              <a:buChar char="•"/>
            </a:pPr>
            <a:r>
              <a:rPr lang="en-US" sz="2000" dirty="0">
                <a:solidFill>
                  <a:schemeClr val="accent6">
                    <a:lumMod val="50000"/>
                  </a:schemeClr>
                </a:solidFill>
                <a:sym typeface="Wingdings" panose="05000000000000000000" pitchFamily="2" charset="2"/>
              </a:rPr>
              <a:t>Heavy Cement slurry will easier to remove water in annulus comparing lighter cement used in long string cementing (13.5 </a:t>
            </a:r>
            <a:r>
              <a:rPr lang="en-US" sz="2000"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a:t>
            </a:r>
          </a:p>
          <a:p>
            <a:pPr marL="742950" lvl="1" indent="-285750">
              <a:buFont typeface="Arial" panose="020B0604020202020204" pitchFamily="34" charset="0"/>
              <a:buChar char="•"/>
            </a:pPr>
            <a:r>
              <a:rPr lang="en-US" sz="2000" dirty="0">
                <a:solidFill>
                  <a:schemeClr val="accent6">
                    <a:lumMod val="50000"/>
                  </a:schemeClr>
                </a:solidFill>
                <a:sym typeface="Wingdings" panose="05000000000000000000" pitchFamily="2" charset="2"/>
              </a:rPr>
              <a:t>Easier to get Free Water in 16.2 </a:t>
            </a:r>
            <a:r>
              <a:rPr lang="en-US" sz="2000"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 Cement slurry comparing lighter cement used in long string cementing (13.5 </a:t>
            </a:r>
            <a:r>
              <a:rPr lang="en-US" sz="2000"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a:t>
            </a:r>
          </a:p>
          <a:p>
            <a:pPr marL="742950" lvl="1" indent="-285750">
              <a:buFont typeface="Arial" panose="020B0604020202020204" pitchFamily="34" charset="0"/>
              <a:buChar char="•"/>
            </a:pPr>
            <a:r>
              <a:rPr lang="en-US" sz="2000" dirty="0">
                <a:solidFill>
                  <a:schemeClr val="accent6">
                    <a:lumMod val="50000"/>
                  </a:schemeClr>
                </a:solidFill>
              </a:rPr>
              <a:t>Much less risk of water trap along 20” X 13-3/8” casing annulus </a:t>
            </a:r>
            <a:r>
              <a:rPr lang="en-US" sz="2000" dirty="0">
                <a:solidFill>
                  <a:schemeClr val="accent6">
                    <a:lumMod val="50000"/>
                  </a:schemeClr>
                </a:solidFill>
                <a:sym typeface="Wingdings" panose="05000000000000000000" pitchFamily="2" charset="2"/>
              </a:rPr>
              <a:t> No well integrity issue.</a:t>
            </a:r>
            <a:endParaRPr lang="en-US" sz="2000" dirty="0">
              <a:solidFill>
                <a:schemeClr val="accent6">
                  <a:lumMod val="50000"/>
                </a:schemeClr>
              </a:solidFill>
            </a:endParaRPr>
          </a:p>
          <a:p>
            <a:pPr marL="742950" lvl="1" indent="-285750">
              <a:buFont typeface="Arial" panose="020B0604020202020204" pitchFamily="34" charset="0"/>
              <a:buChar char="•"/>
            </a:pPr>
            <a:endParaRPr lang="en-US" sz="2000" dirty="0">
              <a:solidFill>
                <a:schemeClr val="accent6">
                  <a:lumMod val="50000"/>
                </a:schemeClr>
              </a:solidFill>
            </a:endParaRPr>
          </a:p>
        </p:txBody>
      </p:sp>
    </p:spTree>
    <p:extLst>
      <p:ext uri="{BB962C8B-B14F-4D97-AF65-F5344CB8AC3E}">
        <p14:creationId xmlns:p14="http://schemas.microsoft.com/office/powerpoint/2010/main" val="136360392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791" y="146761"/>
            <a:ext cx="10515600" cy="767639"/>
          </a:xfrm>
        </p:spPr>
        <p:txBody>
          <a:bodyPr/>
          <a:lstStyle/>
          <a:p>
            <a:r>
              <a:rPr lang="en-US" dirty="0"/>
              <a:t>Risk Of Losses While Cementing</a:t>
            </a:r>
          </a:p>
        </p:txBody>
      </p:sp>
      <p:sp>
        <p:nvSpPr>
          <p:cNvPr id="7" name="TextBox 6"/>
          <p:cNvSpPr txBox="1"/>
          <p:nvPr/>
        </p:nvSpPr>
        <p:spPr>
          <a:xfrm>
            <a:off x="4831308" y="1351508"/>
            <a:ext cx="7074039"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75000"/>
                  </a:schemeClr>
                </a:solidFill>
              </a:rPr>
              <a:t>Tie Back System: Hydrostatic pressure during 13-3/8” Liner Casing cementing is </a:t>
            </a:r>
            <a:r>
              <a:rPr lang="en-US" sz="2400" b="1" dirty="0">
                <a:solidFill>
                  <a:srgbClr val="C00000"/>
                </a:solidFill>
              </a:rPr>
              <a:t>278 psi (1,7 ppg) </a:t>
            </a:r>
            <a:r>
              <a:rPr lang="en-US" sz="2400" dirty="0">
                <a:solidFill>
                  <a:schemeClr val="accent6">
                    <a:lumMod val="75000"/>
                  </a:schemeClr>
                </a:solidFill>
              </a:rPr>
              <a:t>less </a:t>
            </a:r>
            <a:r>
              <a:rPr lang="en-US" sz="2400" dirty="0">
                <a:solidFill>
                  <a:schemeClr val="accent6">
                    <a:lumMod val="75000"/>
                  </a:schemeClr>
                </a:solidFill>
                <a:sym typeface="Wingdings" panose="05000000000000000000" pitchFamily="2" charset="2"/>
              </a:rPr>
              <a:t> </a:t>
            </a:r>
            <a:r>
              <a:rPr lang="en-US" sz="2400" dirty="0">
                <a:solidFill>
                  <a:schemeClr val="accent6">
                    <a:lumMod val="75000"/>
                  </a:schemeClr>
                </a:solidFill>
              </a:rPr>
              <a:t>Less risk of loss circulation while cementing </a:t>
            </a:r>
            <a:r>
              <a:rPr lang="en-US" sz="2400" dirty="0">
                <a:solidFill>
                  <a:schemeClr val="accent6">
                    <a:lumMod val="75000"/>
                  </a:schemeClr>
                </a:solidFill>
                <a:sym typeface="Wingdings" panose="05000000000000000000" pitchFamily="2" charset="2"/>
              </a:rPr>
              <a:t> lower probability for remedial cementing job.</a:t>
            </a:r>
          </a:p>
          <a:p>
            <a:pPr marL="285750" indent="-285750">
              <a:buFont typeface="Arial" panose="020B0604020202020204" pitchFamily="34" charset="0"/>
              <a:buChar char="•"/>
            </a:pPr>
            <a:endParaRPr lang="en-US" sz="2400" dirty="0">
              <a:solidFill>
                <a:schemeClr val="accent6">
                  <a:lumMod val="75000"/>
                </a:schemeClr>
              </a:solidFill>
            </a:endParaRPr>
          </a:p>
          <a:p>
            <a:pPr marL="285750" indent="-285750">
              <a:buFont typeface="Arial" panose="020B0604020202020204" pitchFamily="34" charset="0"/>
              <a:buChar char="•"/>
            </a:pPr>
            <a:r>
              <a:rPr lang="en-US" sz="2400" dirty="0">
                <a:solidFill>
                  <a:schemeClr val="accent6">
                    <a:lumMod val="75000"/>
                  </a:schemeClr>
                </a:solidFill>
              </a:rPr>
              <a:t>Tie Back System: Single 16.2 ppg Cement Slurry: easier to get Free Water Recipe </a:t>
            </a:r>
            <a:r>
              <a:rPr lang="en-US" sz="2400" dirty="0">
                <a:solidFill>
                  <a:schemeClr val="accent6">
                    <a:lumMod val="75000"/>
                  </a:schemeClr>
                </a:solidFill>
                <a:sym typeface="Wingdings" panose="05000000000000000000" pitchFamily="2" charset="2"/>
              </a:rPr>
              <a:t> less risk of water trap in cement when hard  less risk casing collapse when expose to hot temperature when flowing well.</a:t>
            </a:r>
            <a:endParaRPr lang="en-US" sz="2400" dirty="0">
              <a:solidFill>
                <a:schemeClr val="accent6">
                  <a:lumMod val="75000"/>
                </a:schemeClr>
              </a:solidFill>
            </a:endParaRPr>
          </a:p>
        </p:txBody>
      </p:sp>
      <p:pic>
        <p:nvPicPr>
          <p:cNvPr id="8" name="Picture 7">
            <a:extLst>
              <a:ext uri="{FF2B5EF4-FFF2-40B4-BE49-F238E27FC236}">
                <a16:creationId xmlns:a16="http://schemas.microsoft.com/office/drawing/2014/main" id="{4BC64FCA-50AD-4344-8103-26451C13C392}"/>
              </a:ext>
            </a:extLst>
          </p:cNvPr>
          <p:cNvPicPr>
            <a:picLocks noChangeAspect="1"/>
          </p:cNvPicPr>
          <p:nvPr/>
        </p:nvPicPr>
        <p:blipFill>
          <a:blip r:embed="rId2"/>
          <a:stretch>
            <a:fillRect/>
          </a:stretch>
        </p:blipFill>
        <p:spPr>
          <a:xfrm>
            <a:off x="694799" y="1351507"/>
            <a:ext cx="4136509" cy="5155225"/>
          </a:xfrm>
          <a:prstGeom prst="rect">
            <a:avLst/>
          </a:prstGeom>
        </p:spPr>
      </p:pic>
    </p:spTree>
    <p:extLst>
      <p:ext uri="{BB962C8B-B14F-4D97-AF65-F5344CB8AC3E}">
        <p14:creationId xmlns:p14="http://schemas.microsoft.com/office/powerpoint/2010/main" val="42344587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791" y="146761"/>
            <a:ext cx="10515600" cy="767639"/>
          </a:xfrm>
        </p:spPr>
        <p:txBody>
          <a:bodyPr/>
          <a:lstStyle/>
          <a:p>
            <a:r>
              <a:rPr lang="en-US" dirty="0"/>
              <a:t>Cement Quality in 20” X 13-3/8” Case Hole</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458249"/>
            <a:ext cx="5610116" cy="3941501"/>
          </a:xfrm>
          <a:prstGeom prst="rect">
            <a:avLst/>
          </a:prstGeom>
        </p:spPr>
      </p:pic>
      <p:sp>
        <p:nvSpPr>
          <p:cNvPr id="5" name="TextBox 4"/>
          <p:cNvSpPr txBox="1"/>
          <p:nvPr/>
        </p:nvSpPr>
        <p:spPr>
          <a:xfrm>
            <a:off x="4872251" y="1190057"/>
            <a:ext cx="7042244" cy="5632311"/>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accent6">
                    <a:lumMod val="50000"/>
                  </a:schemeClr>
                </a:solidFill>
                <a:sym typeface="Wingdings" panose="05000000000000000000" pitchFamily="2" charset="2"/>
              </a:rPr>
              <a:t>The 13-3/8” Tie Back Casing will be cemented with </a:t>
            </a:r>
            <a:r>
              <a:rPr lang="en-US" sz="2000" b="1" dirty="0">
                <a:solidFill>
                  <a:schemeClr val="accent6">
                    <a:lumMod val="50000"/>
                  </a:schemeClr>
                </a:solidFill>
                <a:sym typeface="Wingdings" panose="05000000000000000000" pitchFamily="2" charset="2"/>
              </a:rPr>
              <a:t>heavy cement slurry 16.2 </a:t>
            </a:r>
            <a:r>
              <a:rPr lang="en-US" sz="2000" b="1"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 almost double than water gradient. </a:t>
            </a:r>
          </a:p>
          <a:p>
            <a:pPr marL="742950" lvl="1" indent="-285750">
              <a:buFont typeface="Arial" panose="020B0604020202020204" pitchFamily="34" charset="0"/>
              <a:buChar char="•"/>
            </a:pPr>
            <a:r>
              <a:rPr lang="en-US" sz="2000" dirty="0">
                <a:solidFill>
                  <a:schemeClr val="accent6">
                    <a:lumMod val="50000"/>
                  </a:schemeClr>
                </a:solidFill>
                <a:sym typeface="Wingdings" panose="05000000000000000000" pitchFamily="2" charset="2"/>
              </a:rPr>
              <a:t>Heavy Cement slurry will easier to remove water in annulus comparing lighter cement used in long string cementing (13.5 </a:t>
            </a:r>
            <a:r>
              <a:rPr lang="en-US" sz="2000"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a:t>
            </a:r>
          </a:p>
          <a:p>
            <a:pPr marL="742950" lvl="1" indent="-285750">
              <a:buFont typeface="Arial" panose="020B0604020202020204" pitchFamily="34" charset="0"/>
              <a:buChar char="•"/>
            </a:pPr>
            <a:r>
              <a:rPr lang="en-US" sz="2000" dirty="0">
                <a:solidFill>
                  <a:schemeClr val="accent6">
                    <a:lumMod val="50000"/>
                  </a:schemeClr>
                </a:solidFill>
                <a:sym typeface="Wingdings" panose="05000000000000000000" pitchFamily="2" charset="2"/>
              </a:rPr>
              <a:t>Easier to get Free Water in 16.2 </a:t>
            </a:r>
            <a:r>
              <a:rPr lang="en-US" sz="2000"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 Cement slurry comparing lighter cement used in long string cementing (13.5 </a:t>
            </a:r>
            <a:r>
              <a:rPr lang="en-US" sz="2000"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a:t>
            </a:r>
          </a:p>
          <a:p>
            <a:pPr marL="742950" lvl="1" indent="-285750">
              <a:buFont typeface="Arial" panose="020B0604020202020204" pitchFamily="34" charset="0"/>
              <a:buChar char="•"/>
            </a:pPr>
            <a:r>
              <a:rPr lang="en-US" sz="2000" dirty="0">
                <a:solidFill>
                  <a:schemeClr val="accent6">
                    <a:lumMod val="50000"/>
                  </a:schemeClr>
                </a:solidFill>
              </a:rPr>
              <a:t>Less risk of water trap along 20” X 13-3/8” casing annulus (short Liner Lap) </a:t>
            </a:r>
            <a:r>
              <a:rPr lang="en-US" sz="2000" dirty="0">
                <a:solidFill>
                  <a:schemeClr val="accent6">
                    <a:lumMod val="50000"/>
                  </a:schemeClr>
                </a:solidFill>
                <a:sym typeface="Wingdings" panose="05000000000000000000" pitchFamily="2" charset="2"/>
              </a:rPr>
              <a:t> No well integrity issue.</a:t>
            </a:r>
          </a:p>
          <a:p>
            <a:pPr marL="285750" indent="-285750">
              <a:buFont typeface="Arial" panose="020B0604020202020204" pitchFamily="34" charset="0"/>
              <a:buChar char="•"/>
            </a:pPr>
            <a:r>
              <a:rPr lang="en-US" sz="2000" dirty="0">
                <a:solidFill>
                  <a:schemeClr val="accent6">
                    <a:lumMod val="50000"/>
                  </a:schemeClr>
                </a:solidFill>
              </a:rPr>
              <a:t>The 13-3/8” Tie Back casing will cemented after liner lap being pressure tested to 16,5 </a:t>
            </a:r>
            <a:r>
              <a:rPr lang="en-US" sz="2000" dirty="0" err="1">
                <a:solidFill>
                  <a:schemeClr val="accent6">
                    <a:lumMod val="50000"/>
                  </a:schemeClr>
                </a:solidFill>
              </a:rPr>
              <a:t>ppg</a:t>
            </a:r>
            <a:r>
              <a:rPr lang="en-US" sz="2000" dirty="0">
                <a:solidFill>
                  <a:schemeClr val="accent6">
                    <a:lumMod val="50000"/>
                  </a:schemeClr>
                </a:solidFill>
              </a:rPr>
              <a:t> EMW </a:t>
            </a:r>
            <a:r>
              <a:rPr lang="en-US" sz="2000" dirty="0">
                <a:solidFill>
                  <a:schemeClr val="accent6">
                    <a:lumMod val="50000"/>
                  </a:schemeClr>
                </a:solidFill>
                <a:sym typeface="Wingdings" panose="05000000000000000000" pitchFamily="2" charset="2"/>
              </a:rPr>
              <a:t> to ensure no losses when pumping 16,2 </a:t>
            </a:r>
            <a:r>
              <a:rPr lang="en-US" sz="2000" dirty="0" err="1">
                <a:solidFill>
                  <a:schemeClr val="accent6">
                    <a:lumMod val="50000"/>
                  </a:schemeClr>
                </a:solidFill>
                <a:sym typeface="Wingdings" panose="05000000000000000000" pitchFamily="2" charset="2"/>
              </a:rPr>
              <a:t>ppg</a:t>
            </a:r>
            <a:r>
              <a:rPr lang="en-US" sz="2000" dirty="0">
                <a:solidFill>
                  <a:schemeClr val="accent6">
                    <a:lumMod val="50000"/>
                  </a:schemeClr>
                </a:solidFill>
                <a:sym typeface="Wingdings" panose="05000000000000000000" pitchFamily="2" charset="2"/>
              </a:rPr>
              <a:t> cement slurry. Until today, no fail on Tie back cementing job.</a:t>
            </a:r>
          </a:p>
          <a:p>
            <a:pPr marL="285750" indent="-285750">
              <a:buFont typeface="Arial" panose="020B0604020202020204" pitchFamily="34" charset="0"/>
              <a:buChar char="•"/>
            </a:pPr>
            <a:r>
              <a:rPr lang="en-US" sz="2000" dirty="0">
                <a:solidFill>
                  <a:schemeClr val="accent6">
                    <a:lumMod val="50000"/>
                  </a:schemeClr>
                </a:solidFill>
              </a:rPr>
              <a:t>Good cementing quality with 16.2 </a:t>
            </a:r>
            <a:r>
              <a:rPr lang="en-US" sz="2000" dirty="0" err="1">
                <a:solidFill>
                  <a:schemeClr val="accent6">
                    <a:lumMod val="50000"/>
                  </a:schemeClr>
                </a:solidFill>
              </a:rPr>
              <a:t>ppg</a:t>
            </a:r>
            <a:r>
              <a:rPr lang="en-US" sz="2000" dirty="0">
                <a:solidFill>
                  <a:schemeClr val="accent6">
                    <a:lumMod val="50000"/>
                  </a:schemeClr>
                </a:solidFill>
              </a:rPr>
              <a:t> slurry </a:t>
            </a:r>
            <a:r>
              <a:rPr lang="en-US" sz="2000" dirty="0">
                <a:solidFill>
                  <a:schemeClr val="accent6">
                    <a:lumMod val="50000"/>
                  </a:schemeClr>
                </a:solidFill>
                <a:sym typeface="Wingdings" panose="05000000000000000000" pitchFamily="2" charset="2"/>
              </a:rPr>
              <a:t> better anchoring for 13-3/8” production casing  less casing and wellhead expansion growth. </a:t>
            </a:r>
            <a:endParaRPr lang="en-US" sz="2000" dirty="0">
              <a:solidFill>
                <a:schemeClr val="accent6">
                  <a:lumMod val="50000"/>
                </a:schemeClr>
              </a:solidFill>
            </a:endParaRPr>
          </a:p>
        </p:txBody>
      </p:sp>
    </p:spTree>
    <p:extLst>
      <p:ext uri="{BB962C8B-B14F-4D97-AF65-F5344CB8AC3E}">
        <p14:creationId xmlns:p14="http://schemas.microsoft.com/office/powerpoint/2010/main" val="226850793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82" y="0"/>
            <a:ext cx="11230970" cy="890469"/>
          </a:xfrm>
        </p:spPr>
        <p:txBody>
          <a:bodyPr/>
          <a:lstStyle/>
          <a:p>
            <a:r>
              <a:rPr lang="en-US" dirty="0"/>
              <a:t>Remedial Cementing – Tie Back Design</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8363" y="890470"/>
            <a:ext cx="7016078" cy="4882534"/>
          </a:xfrm>
          <a:prstGeom prst="rect">
            <a:avLst/>
          </a:prstGeom>
        </p:spPr>
      </p:pic>
      <p:sp>
        <p:nvSpPr>
          <p:cNvPr id="5" name="TextBox 4"/>
          <p:cNvSpPr txBox="1"/>
          <p:nvPr/>
        </p:nvSpPr>
        <p:spPr>
          <a:xfrm>
            <a:off x="7075216" y="1180730"/>
            <a:ext cx="4948461" cy="4093428"/>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accent6">
                    <a:lumMod val="75000"/>
                  </a:schemeClr>
                </a:solidFill>
              </a:rPr>
              <a:t>If any losses during cementing, do remedial cementing by dropping or squeezing 50-150 </a:t>
            </a:r>
            <a:r>
              <a:rPr lang="en-US" sz="2000" dirty="0" err="1">
                <a:solidFill>
                  <a:schemeClr val="accent6">
                    <a:lumMod val="75000"/>
                  </a:schemeClr>
                </a:solidFill>
              </a:rPr>
              <a:t>bbls</a:t>
            </a:r>
            <a:r>
              <a:rPr lang="en-US" sz="2000" dirty="0">
                <a:solidFill>
                  <a:schemeClr val="accent6">
                    <a:lumMod val="75000"/>
                  </a:schemeClr>
                </a:solidFill>
              </a:rPr>
              <a:t> of 15.8 pp cement </a:t>
            </a:r>
            <a:r>
              <a:rPr lang="en-US" sz="2000" dirty="0">
                <a:solidFill>
                  <a:schemeClr val="accent6">
                    <a:lumMod val="75000"/>
                  </a:schemeClr>
                </a:solidFill>
                <a:sym typeface="Wingdings" panose="05000000000000000000" pitchFamily="2" charset="2"/>
              </a:rPr>
              <a:t> until we could pressure test liner lap to 16.5 ppg EMW.</a:t>
            </a:r>
          </a:p>
          <a:p>
            <a:pPr marL="285750" indent="-285750">
              <a:buFont typeface="Arial" panose="020B0604020202020204" pitchFamily="34" charset="0"/>
              <a:buChar char="•"/>
            </a:pPr>
            <a:r>
              <a:rPr lang="en-US" sz="2000" dirty="0">
                <a:solidFill>
                  <a:schemeClr val="accent6">
                    <a:lumMod val="75000"/>
                  </a:schemeClr>
                </a:solidFill>
              </a:rPr>
              <a:t>It is easier since shorter length for remedial cement </a:t>
            </a:r>
            <a:r>
              <a:rPr lang="en-US" sz="2000" dirty="0">
                <a:solidFill>
                  <a:schemeClr val="accent6">
                    <a:lumMod val="75000"/>
                  </a:schemeClr>
                </a:solidFill>
                <a:sym typeface="Wingdings" panose="05000000000000000000" pitchFamily="2" charset="2"/>
              </a:rPr>
              <a:t> 30-50 m liner lap and open hole annulus.</a:t>
            </a:r>
          </a:p>
          <a:p>
            <a:pPr marL="285750" indent="-285750">
              <a:buFont typeface="Arial" panose="020B0604020202020204" pitchFamily="34" charset="0"/>
              <a:buChar char="•"/>
            </a:pPr>
            <a:r>
              <a:rPr lang="en-US" sz="2000" dirty="0">
                <a:solidFill>
                  <a:schemeClr val="accent6">
                    <a:lumMod val="75000"/>
                  </a:schemeClr>
                </a:solidFill>
                <a:sym typeface="Wingdings" panose="05000000000000000000" pitchFamily="2" charset="2"/>
              </a:rPr>
              <a:t>If no injectivity rate: </a:t>
            </a:r>
          </a:p>
          <a:p>
            <a:pPr marL="742950" lvl="1" indent="-285750">
              <a:buFont typeface="Arial" panose="020B0604020202020204" pitchFamily="34" charset="0"/>
              <a:buChar char="•"/>
            </a:pPr>
            <a:r>
              <a:rPr lang="en-US" sz="2000" dirty="0">
                <a:solidFill>
                  <a:schemeClr val="accent6">
                    <a:lumMod val="75000"/>
                  </a:schemeClr>
                </a:solidFill>
                <a:sym typeface="Wingdings" panose="05000000000000000000" pitchFamily="2" charset="2"/>
              </a:rPr>
              <a:t>Pressure test liner lap to 16.5 </a:t>
            </a:r>
            <a:r>
              <a:rPr lang="en-US" sz="2000" dirty="0" err="1">
                <a:solidFill>
                  <a:schemeClr val="accent6">
                    <a:lumMod val="75000"/>
                  </a:schemeClr>
                </a:solidFill>
                <a:sym typeface="Wingdings" panose="05000000000000000000" pitchFamily="2" charset="2"/>
              </a:rPr>
              <a:t>ppg</a:t>
            </a:r>
            <a:r>
              <a:rPr lang="en-US" sz="2000" dirty="0">
                <a:solidFill>
                  <a:schemeClr val="accent6">
                    <a:lumMod val="75000"/>
                  </a:schemeClr>
                </a:solidFill>
                <a:sym typeface="Wingdings" panose="05000000000000000000" pitchFamily="2" charset="2"/>
              </a:rPr>
              <a:t> EMW, if leaked, squeeze cement.</a:t>
            </a:r>
          </a:p>
          <a:p>
            <a:pPr marL="742950" lvl="1" indent="-285750">
              <a:buFont typeface="Arial" panose="020B0604020202020204" pitchFamily="34" charset="0"/>
              <a:buChar char="•"/>
            </a:pPr>
            <a:r>
              <a:rPr lang="en-US" sz="2000" dirty="0">
                <a:solidFill>
                  <a:schemeClr val="accent6">
                    <a:lumMod val="75000"/>
                  </a:schemeClr>
                </a:solidFill>
              </a:rPr>
              <a:t>Run and cement 13-3/8” Tie Back.</a:t>
            </a:r>
          </a:p>
          <a:p>
            <a:pPr marL="285750" indent="-285750">
              <a:buFont typeface="Arial" panose="020B0604020202020204" pitchFamily="34" charset="0"/>
              <a:buChar char="•"/>
            </a:pPr>
            <a:r>
              <a:rPr lang="en-US" sz="2000" dirty="0">
                <a:solidFill>
                  <a:schemeClr val="accent6">
                    <a:lumMod val="75000"/>
                  </a:schemeClr>
                </a:solidFill>
              </a:rPr>
              <a:t>Good Casing and Cementing Integrity.</a:t>
            </a:r>
          </a:p>
        </p:txBody>
      </p:sp>
      <p:sp>
        <p:nvSpPr>
          <p:cNvPr id="6" name="TextBox 5"/>
          <p:cNvSpPr txBox="1"/>
          <p:nvPr/>
        </p:nvSpPr>
        <p:spPr>
          <a:xfrm>
            <a:off x="304800" y="5805608"/>
            <a:ext cx="8432800" cy="646331"/>
          </a:xfrm>
          <a:prstGeom prst="rect">
            <a:avLst/>
          </a:prstGeom>
          <a:solidFill>
            <a:schemeClr val="accent4"/>
          </a:solidFill>
        </p:spPr>
        <p:txBody>
          <a:bodyPr wrap="square" rtlCol="0">
            <a:spAutoFit/>
          </a:bodyPr>
          <a:lstStyle/>
          <a:p>
            <a:r>
              <a:rPr lang="en-US" b="1" dirty="0">
                <a:solidFill>
                  <a:srgbClr val="C00000"/>
                </a:solidFill>
              </a:rPr>
              <a:t>If any Total Losses during remedial cement and fail cured with cement plug:</a:t>
            </a:r>
          </a:p>
          <a:p>
            <a:pPr marL="285750" indent="-285750">
              <a:buFont typeface="Arial" panose="020B0604020202020204" pitchFamily="34" charset="0"/>
              <a:buChar char="•"/>
            </a:pPr>
            <a:r>
              <a:rPr lang="en-US" b="1" dirty="0">
                <a:solidFill>
                  <a:srgbClr val="C00000"/>
                </a:solidFill>
              </a:rPr>
              <a:t>Pump Fast set cement Recipe (</a:t>
            </a:r>
            <a:r>
              <a:rPr lang="en-US" b="1" dirty="0" err="1">
                <a:solidFill>
                  <a:srgbClr val="C00000"/>
                </a:solidFill>
              </a:rPr>
              <a:t>Econolite</a:t>
            </a:r>
            <a:r>
              <a:rPr lang="en-US" b="1" dirty="0">
                <a:solidFill>
                  <a:srgbClr val="C00000"/>
                </a:solidFill>
              </a:rPr>
              <a:t> + Spacer + 15.8 </a:t>
            </a:r>
            <a:r>
              <a:rPr lang="en-US" b="1" dirty="0" err="1">
                <a:solidFill>
                  <a:srgbClr val="C00000"/>
                </a:solidFill>
              </a:rPr>
              <a:t>ppg</a:t>
            </a:r>
            <a:r>
              <a:rPr lang="en-US" b="1" dirty="0">
                <a:solidFill>
                  <a:srgbClr val="C00000"/>
                </a:solidFill>
              </a:rPr>
              <a:t> Cement</a:t>
            </a:r>
          </a:p>
        </p:txBody>
      </p:sp>
    </p:spTree>
    <p:extLst>
      <p:ext uri="{BB962C8B-B14F-4D97-AF65-F5344CB8AC3E}">
        <p14:creationId xmlns:p14="http://schemas.microsoft.com/office/powerpoint/2010/main" val="7767901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552" y="0"/>
            <a:ext cx="10515600" cy="890469"/>
          </a:xfrm>
        </p:spPr>
        <p:txBody>
          <a:bodyPr/>
          <a:lstStyle/>
          <a:p>
            <a:r>
              <a:rPr lang="en-US" dirty="0"/>
              <a:t>Remedial Cementing – Long String Design</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9761" y="890467"/>
            <a:ext cx="7814762" cy="5837877"/>
          </a:xfrm>
          <a:prstGeom prst="rect">
            <a:avLst/>
          </a:prstGeom>
        </p:spPr>
      </p:pic>
      <p:sp>
        <p:nvSpPr>
          <p:cNvPr id="6" name="TextBox 5"/>
          <p:cNvSpPr txBox="1"/>
          <p:nvPr/>
        </p:nvSpPr>
        <p:spPr>
          <a:xfrm>
            <a:off x="7792721" y="1147139"/>
            <a:ext cx="4399280" cy="5324535"/>
          </a:xfrm>
          <a:prstGeom prst="rect">
            <a:avLst/>
          </a:prstGeom>
          <a:noFill/>
        </p:spPr>
        <p:txBody>
          <a:bodyPr wrap="square" rtlCol="0">
            <a:spAutoFit/>
          </a:bodyPr>
          <a:lstStyle/>
          <a:p>
            <a:r>
              <a:rPr lang="en-US" sz="2000" b="1" dirty="0">
                <a:solidFill>
                  <a:srgbClr val="C00000"/>
                </a:solidFill>
              </a:rPr>
              <a:t>Case-1: Losses Zone still open</a:t>
            </a:r>
          </a:p>
          <a:p>
            <a:pPr marL="342900" indent="-342900">
              <a:buFont typeface="Arial" panose="020B0604020202020204" pitchFamily="34" charset="0"/>
              <a:buChar char="•"/>
            </a:pPr>
            <a:r>
              <a:rPr lang="en-US" sz="2000" dirty="0">
                <a:solidFill>
                  <a:schemeClr val="accent6">
                    <a:lumMod val="75000"/>
                  </a:schemeClr>
                </a:solidFill>
              </a:rPr>
              <a:t>Cement Top Job by pumping cement slurry thru annulus.</a:t>
            </a:r>
          </a:p>
          <a:p>
            <a:pPr marL="342900" indent="-342900">
              <a:buFont typeface="Arial" panose="020B0604020202020204" pitchFamily="34" charset="0"/>
              <a:buChar char="•"/>
            </a:pPr>
            <a:r>
              <a:rPr lang="en-US" sz="2000" dirty="0">
                <a:solidFill>
                  <a:schemeClr val="accent6">
                    <a:lumMod val="75000"/>
                  </a:schemeClr>
                </a:solidFill>
              </a:rPr>
              <a:t>The heavy cement slurry will drop into long annulus section, can not control cement speed </a:t>
            </a:r>
            <a:r>
              <a:rPr lang="en-US" sz="2000" dirty="0">
                <a:solidFill>
                  <a:schemeClr val="accent6">
                    <a:lumMod val="75000"/>
                  </a:schemeClr>
                </a:solidFill>
                <a:sym typeface="Wingdings" panose="05000000000000000000" pitchFamily="2" charset="2"/>
              </a:rPr>
              <a:t> risk of mixed with water inside annulus  Risk of free water </a:t>
            </a:r>
            <a:r>
              <a:rPr lang="en-US" sz="2000" dirty="0">
                <a:solidFill>
                  <a:srgbClr val="C00000"/>
                </a:solidFill>
                <a:sym typeface="Wingdings" panose="05000000000000000000" pitchFamily="2" charset="2"/>
              </a:rPr>
              <a:t>&gt; nil </a:t>
            </a:r>
            <a:r>
              <a:rPr lang="en-US" sz="2000" dirty="0">
                <a:solidFill>
                  <a:schemeClr val="accent6">
                    <a:lumMod val="75000"/>
                  </a:schemeClr>
                </a:solidFill>
                <a:sym typeface="Wingdings" panose="05000000000000000000" pitchFamily="2" charset="2"/>
              </a:rPr>
              <a:t> water trap and cause well integrity issue.</a:t>
            </a:r>
          </a:p>
          <a:p>
            <a:pPr marL="342900" indent="-342900">
              <a:buFont typeface="Arial" panose="020B0604020202020204" pitchFamily="34" charset="0"/>
              <a:buChar char="•"/>
            </a:pPr>
            <a:r>
              <a:rPr lang="en-US" sz="2000" dirty="0">
                <a:solidFill>
                  <a:schemeClr val="accent6">
                    <a:lumMod val="75000"/>
                  </a:schemeClr>
                </a:solidFill>
                <a:sym typeface="Wingdings" panose="05000000000000000000" pitchFamily="2" charset="2"/>
              </a:rPr>
              <a:t>If still losses: Pump Thixotropic cement ahead and follow with remedial cement slurry  risk of premature set if any stop pumping  lack of cement quality along case hole section.</a:t>
            </a:r>
            <a:r>
              <a:rPr lang="en-US" sz="2000" dirty="0">
                <a:solidFill>
                  <a:schemeClr val="accent6">
                    <a:lumMod val="75000"/>
                  </a:schemeClr>
                </a:solidFill>
              </a:rPr>
              <a:t> </a:t>
            </a:r>
          </a:p>
          <a:p>
            <a:pPr marL="342900" indent="-342900">
              <a:buFont typeface="Arial" panose="020B0604020202020204" pitchFamily="34" charset="0"/>
              <a:buChar char="•"/>
            </a:pPr>
            <a:r>
              <a:rPr lang="en-US" sz="2000" dirty="0">
                <a:solidFill>
                  <a:schemeClr val="accent6">
                    <a:lumMod val="75000"/>
                  </a:schemeClr>
                </a:solidFill>
              </a:rPr>
              <a:t>All above points could initiate well integrity issue.</a:t>
            </a:r>
          </a:p>
        </p:txBody>
      </p:sp>
    </p:spTree>
    <p:extLst>
      <p:ext uri="{BB962C8B-B14F-4D97-AF65-F5344CB8AC3E}">
        <p14:creationId xmlns:p14="http://schemas.microsoft.com/office/powerpoint/2010/main" val="375118228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552" y="0"/>
            <a:ext cx="10515600" cy="890469"/>
          </a:xfrm>
        </p:spPr>
        <p:txBody>
          <a:bodyPr/>
          <a:lstStyle/>
          <a:p>
            <a:r>
              <a:rPr lang="en-US" dirty="0"/>
              <a:t>Remedial Cementing – Long String Design</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90469"/>
            <a:ext cx="7814762" cy="5837877"/>
          </a:xfrm>
          <a:prstGeom prst="rect">
            <a:avLst/>
          </a:prstGeom>
        </p:spPr>
      </p:pic>
      <p:sp>
        <p:nvSpPr>
          <p:cNvPr id="6" name="TextBox 5"/>
          <p:cNvSpPr txBox="1"/>
          <p:nvPr/>
        </p:nvSpPr>
        <p:spPr>
          <a:xfrm>
            <a:off x="7713335" y="1208695"/>
            <a:ext cx="4327477" cy="4093428"/>
          </a:xfrm>
          <a:prstGeom prst="rect">
            <a:avLst/>
          </a:prstGeom>
          <a:noFill/>
        </p:spPr>
        <p:txBody>
          <a:bodyPr wrap="square" rtlCol="0">
            <a:spAutoFit/>
          </a:bodyPr>
          <a:lstStyle/>
          <a:p>
            <a:r>
              <a:rPr lang="en-US" sz="2000" b="1" dirty="0">
                <a:solidFill>
                  <a:srgbClr val="C00000"/>
                </a:solidFill>
              </a:rPr>
              <a:t>Case-2:</a:t>
            </a:r>
            <a:r>
              <a:rPr lang="en-US" sz="2000" dirty="0">
                <a:solidFill>
                  <a:srgbClr val="C00000"/>
                </a:solidFill>
              </a:rPr>
              <a:t> Top Of Cement Above Losses Depth causing No Injectivity:</a:t>
            </a:r>
          </a:p>
          <a:p>
            <a:pPr marL="342900" indent="-342900">
              <a:buFont typeface="Arial" panose="020B0604020202020204" pitchFamily="34" charset="0"/>
              <a:buChar char="•"/>
            </a:pPr>
            <a:r>
              <a:rPr lang="en-US" sz="2000" dirty="0">
                <a:solidFill>
                  <a:schemeClr val="accent6">
                    <a:lumMod val="75000"/>
                  </a:schemeClr>
                </a:solidFill>
              </a:rPr>
              <a:t>Unable to pump remedial cement slurry.</a:t>
            </a:r>
          </a:p>
          <a:p>
            <a:pPr marL="342900" indent="-342900">
              <a:buFont typeface="Arial" panose="020B0604020202020204" pitchFamily="34" charset="0"/>
              <a:buChar char="•"/>
            </a:pPr>
            <a:r>
              <a:rPr lang="en-US" sz="2000" dirty="0">
                <a:solidFill>
                  <a:schemeClr val="accent6">
                    <a:lumMod val="75000"/>
                  </a:schemeClr>
                </a:solidFill>
              </a:rPr>
              <a:t>Long Un-cemented 13-3/8” Production Casing</a:t>
            </a:r>
          </a:p>
          <a:p>
            <a:pPr marL="342900" indent="-342900">
              <a:buFont typeface="Arial" panose="020B0604020202020204" pitchFamily="34" charset="0"/>
              <a:buChar char="•"/>
            </a:pPr>
            <a:r>
              <a:rPr lang="en-US" sz="2000" dirty="0">
                <a:solidFill>
                  <a:schemeClr val="accent6">
                    <a:lumMod val="75000"/>
                  </a:schemeClr>
                </a:solidFill>
              </a:rPr>
              <a:t>When flowing during well test or production phase, cause higher casing expansion and cause wellhead growth </a:t>
            </a:r>
            <a:r>
              <a:rPr lang="en-US" sz="2000" dirty="0">
                <a:solidFill>
                  <a:schemeClr val="accent6">
                    <a:lumMod val="75000"/>
                  </a:schemeClr>
                </a:solidFill>
                <a:sym typeface="Wingdings" panose="05000000000000000000" pitchFamily="2" charset="2"/>
              </a:rPr>
              <a:t> </a:t>
            </a:r>
            <a:r>
              <a:rPr lang="en-US" sz="2000" dirty="0">
                <a:solidFill>
                  <a:srgbClr val="C00000"/>
                </a:solidFill>
                <a:sym typeface="Wingdings" panose="05000000000000000000" pitchFamily="2" charset="2"/>
              </a:rPr>
              <a:t>damage on surface pipe line connection</a:t>
            </a:r>
            <a:r>
              <a:rPr lang="en-US" sz="2000" dirty="0">
                <a:solidFill>
                  <a:schemeClr val="accent6">
                    <a:lumMod val="75000"/>
                  </a:schemeClr>
                </a:solidFill>
                <a:sym typeface="Wingdings" panose="05000000000000000000" pitchFamily="2" charset="2"/>
              </a:rPr>
              <a:t>.</a:t>
            </a:r>
            <a:endParaRPr lang="en-US" sz="2000" dirty="0">
              <a:solidFill>
                <a:schemeClr val="accent6">
                  <a:lumMod val="75000"/>
                </a:schemeClr>
              </a:solidFill>
            </a:endParaRPr>
          </a:p>
          <a:p>
            <a:pPr marL="342900" indent="-342900">
              <a:buFont typeface="Arial" panose="020B0604020202020204" pitchFamily="34" charset="0"/>
              <a:buChar char="•"/>
            </a:pPr>
            <a:r>
              <a:rPr lang="en-US" sz="2000" dirty="0">
                <a:solidFill>
                  <a:schemeClr val="accent6">
                    <a:lumMod val="75000"/>
                  </a:schemeClr>
                </a:solidFill>
              </a:rPr>
              <a:t>Again the above points could initiate well integrity issue.</a:t>
            </a:r>
          </a:p>
        </p:txBody>
      </p:sp>
      <p:sp>
        <p:nvSpPr>
          <p:cNvPr id="4" name="TextBox 3"/>
          <p:cNvSpPr txBox="1"/>
          <p:nvPr/>
        </p:nvSpPr>
        <p:spPr>
          <a:xfrm>
            <a:off x="6755188" y="5620350"/>
            <a:ext cx="5436812" cy="1107996"/>
          </a:xfrm>
          <a:prstGeom prst="rect">
            <a:avLst/>
          </a:prstGeom>
          <a:solidFill>
            <a:schemeClr val="accent4"/>
          </a:solidFill>
        </p:spPr>
        <p:txBody>
          <a:bodyPr wrap="square" rtlCol="0">
            <a:spAutoFit/>
          </a:bodyPr>
          <a:lstStyle/>
          <a:p>
            <a:r>
              <a:rPr lang="en-US" sz="2200" b="1" dirty="0">
                <a:solidFill>
                  <a:srgbClr val="C00000"/>
                </a:solidFill>
              </a:rPr>
              <a:t>Case-1 and 2 are more difficult Remedial cement job, may need longer rig time.</a:t>
            </a:r>
          </a:p>
        </p:txBody>
      </p:sp>
    </p:spTree>
    <p:extLst>
      <p:ext uri="{BB962C8B-B14F-4D97-AF65-F5344CB8AC3E}">
        <p14:creationId xmlns:p14="http://schemas.microsoft.com/office/powerpoint/2010/main" val="205538907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082" y="94718"/>
            <a:ext cx="10515600" cy="941696"/>
          </a:xfrm>
        </p:spPr>
        <p:txBody>
          <a:bodyPr/>
          <a:lstStyle/>
          <a:p>
            <a:r>
              <a:rPr lang="en-US" dirty="0"/>
              <a:t>Wellhead &amp; MV Installation Comparison</a:t>
            </a:r>
          </a:p>
        </p:txBody>
      </p:sp>
      <p:pic>
        <p:nvPicPr>
          <p:cNvPr id="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852" y="1332008"/>
            <a:ext cx="5132649"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p:cNvSpPr txBox="1">
            <a:spLocks noGrp="1"/>
          </p:cNvSpPr>
          <p:nvPr>
            <p:ph idx="1"/>
          </p:nvPr>
        </p:nvSpPr>
        <p:spPr>
          <a:xfrm>
            <a:off x="3076977" y="1350661"/>
            <a:ext cx="3600242" cy="738664"/>
          </a:xfrm>
          <a:prstGeom prst="rect">
            <a:avLst/>
          </a:prstGeom>
          <a:noFill/>
        </p:spPr>
        <p:txBody>
          <a:bodyPr wrap="square" rtlCol="0">
            <a:spAutoFit/>
          </a:bodyPr>
          <a:lstStyle/>
          <a:p>
            <a:pPr marL="342900" indent="-342900">
              <a:lnSpc>
                <a:spcPct val="100000"/>
              </a:lnSpc>
              <a:spcBef>
                <a:spcPts val="0"/>
              </a:spcBef>
              <a:spcAft>
                <a:spcPts val="0"/>
              </a:spcAft>
              <a:buFont typeface="+mj-lt"/>
              <a:buAutoNum type="arabicPeriod"/>
            </a:pPr>
            <a:r>
              <a:rPr lang="en-US" sz="1400" b="1" dirty="0">
                <a:solidFill>
                  <a:srgbClr val="006600"/>
                </a:solidFill>
              </a:rPr>
              <a:t>Companion Flange</a:t>
            </a:r>
          </a:p>
          <a:p>
            <a:pPr marL="342900" indent="-342900">
              <a:lnSpc>
                <a:spcPct val="100000"/>
              </a:lnSpc>
              <a:spcBef>
                <a:spcPts val="0"/>
              </a:spcBef>
              <a:spcAft>
                <a:spcPts val="0"/>
              </a:spcAft>
              <a:buFont typeface="+mj-lt"/>
              <a:buAutoNum type="arabicPeriod"/>
            </a:pPr>
            <a:r>
              <a:rPr lang="en-US" sz="1400" b="1" dirty="0">
                <a:solidFill>
                  <a:srgbClr val="006600"/>
                </a:solidFill>
              </a:rPr>
              <a:t>12” ANSI 900, Master Valve</a:t>
            </a:r>
          </a:p>
          <a:p>
            <a:pPr marL="342900" indent="-342900">
              <a:lnSpc>
                <a:spcPct val="100000"/>
              </a:lnSpc>
              <a:spcBef>
                <a:spcPts val="0"/>
              </a:spcBef>
              <a:spcAft>
                <a:spcPts val="0"/>
              </a:spcAft>
              <a:buFont typeface="+mj-lt"/>
              <a:buAutoNum type="arabicPeriod"/>
            </a:pPr>
            <a:r>
              <a:rPr lang="en-US" sz="1400" b="1" dirty="0">
                <a:solidFill>
                  <a:srgbClr val="006600"/>
                </a:solidFill>
              </a:rPr>
              <a:t>13-5/8” 3M Section A Wellhead</a:t>
            </a:r>
          </a:p>
        </p:txBody>
      </p:sp>
      <p:sp>
        <p:nvSpPr>
          <p:cNvPr id="6" name="Heptagon 5"/>
          <p:cNvSpPr/>
          <p:nvPr/>
        </p:nvSpPr>
        <p:spPr>
          <a:xfrm>
            <a:off x="1746913" y="3396232"/>
            <a:ext cx="532263" cy="450376"/>
          </a:xfrm>
          <a:prstGeom prst="heptagon">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dirty="0"/>
              <a:t>3</a:t>
            </a:r>
          </a:p>
        </p:txBody>
      </p:sp>
      <p:sp>
        <p:nvSpPr>
          <p:cNvPr id="7" name="Heptagon 6"/>
          <p:cNvSpPr/>
          <p:nvPr/>
        </p:nvSpPr>
        <p:spPr>
          <a:xfrm>
            <a:off x="2544714" y="2470459"/>
            <a:ext cx="532263" cy="450376"/>
          </a:xfrm>
          <a:prstGeom prst="heptagon">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dirty="0"/>
              <a:t>2</a:t>
            </a:r>
          </a:p>
        </p:txBody>
      </p:sp>
      <p:sp>
        <p:nvSpPr>
          <p:cNvPr id="8" name="Heptagon 7"/>
          <p:cNvSpPr/>
          <p:nvPr/>
        </p:nvSpPr>
        <p:spPr>
          <a:xfrm>
            <a:off x="2012451" y="1410839"/>
            <a:ext cx="532263" cy="450376"/>
          </a:xfrm>
          <a:prstGeom prst="heptagon">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dirty="0"/>
              <a:t>1</a:t>
            </a:r>
          </a:p>
        </p:txBody>
      </p:sp>
      <p:sp>
        <p:nvSpPr>
          <p:cNvPr id="9" name="Left Arrow 8"/>
          <p:cNvSpPr/>
          <p:nvPr/>
        </p:nvSpPr>
        <p:spPr>
          <a:xfrm>
            <a:off x="3076977" y="3592064"/>
            <a:ext cx="512408" cy="531232"/>
          </a:xfrm>
          <a:prstGeom prst="lef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TextBox 9"/>
          <p:cNvSpPr txBox="1"/>
          <p:nvPr/>
        </p:nvSpPr>
        <p:spPr>
          <a:xfrm>
            <a:off x="3589385" y="3671890"/>
            <a:ext cx="2059988" cy="369332"/>
          </a:xfrm>
          <a:prstGeom prst="rect">
            <a:avLst/>
          </a:prstGeom>
          <a:noFill/>
        </p:spPr>
        <p:txBody>
          <a:bodyPr wrap="none" rtlCol="0">
            <a:spAutoFit/>
          </a:bodyPr>
          <a:lstStyle/>
          <a:p>
            <a:r>
              <a:rPr lang="en-US" b="1" dirty="0">
                <a:solidFill>
                  <a:srgbClr val="C00000"/>
                </a:solidFill>
              </a:rPr>
              <a:t>Welded Connection</a:t>
            </a:r>
          </a:p>
        </p:txBody>
      </p:sp>
      <p:sp>
        <p:nvSpPr>
          <p:cNvPr id="11" name="Content Placeholder 4"/>
          <p:cNvSpPr txBox="1">
            <a:spLocks/>
          </p:cNvSpPr>
          <p:nvPr/>
        </p:nvSpPr>
        <p:spPr>
          <a:xfrm>
            <a:off x="6431281" y="1226981"/>
            <a:ext cx="5760720" cy="5174237"/>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C00000"/>
                </a:solidFill>
              </a:rPr>
              <a:t>13-5/8” 3M Section A Wellhead Installation:</a:t>
            </a:r>
          </a:p>
          <a:p>
            <a:pPr marL="457200" indent="-457200">
              <a:buFont typeface="+mj-lt"/>
              <a:buAutoNum type="alphaLcPeriod"/>
            </a:pPr>
            <a:r>
              <a:rPr lang="en-US" sz="2400" b="1" dirty="0">
                <a:solidFill>
                  <a:schemeClr val="accent6">
                    <a:lumMod val="75000"/>
                  </a:schemeClr>
                </a:solidFill>
              </a:rPr>
              <a:t>13-3/8” Tie Back Design:</a:t>
            </a:r>
          </a:p>
          <a:p>
            <a:pPr lvl="1">
              <a:buFont typeface="Wingdings" panose="05000000000000000000" pitchFamily="2" charset="2"/>
              <a:buChar char="ü"/>
            </a:pPr>
            <a:r>
              <a:rPr lang="en-US" sz="2000" b="1" dirty="0">
                <a:solidFill>
                  <a:schemeClr val="accent6">
                    <a:lumMod val="75000"/>
                  </a:schemeClr>
                </a:solidFill>
              </a:rPr>
              <a:t>Pre-welded in horizontal position</a:t>
            </a:r>
          </a:p>
          <a:p>
            <a:pPr lvl="1">
              <a:buFont typeface="Wingdings" panose="05000000000000000000" pitchFamily="2" charset="2"/>
              <a:buChar char="ü"/>
            </a:pPr>
            <a:r>
              <a:rPr lang="en-US" sz="2000" b="1" dirty="0">
                <a:solidFill>
                  <a:schemeClr val="accent6">
                    <a:lumMod val="75000"/>
                  </a:schemeClr>
                </a:solidFill>
              </a:rPr>
              <a:t>32-40 hours</a:t>
            </a:r>
          </a:p>
          <a:p>
            <a:pPr lvl="1">
              <a:buFont typeface="Wingdings" panose="05000000000000000000" pitchFamily="2" charset="2"/>
              <a:buChar char="ü"/>
            </a:pPr>
            <a:r>
              <a:rPr lang="en-US" sz="2000" b="1" dirty="0">
                <a:solidFill>
                  <a:schemeClr val="accent6">
                    <a:lumMod val="75000"/>
                  </a:schemeClr>
                </a:solidFill>
              </a:rPr>
              <a:t>Off line job </a:t>
            </a:r>
            <a:r>
              <a:rPr lang="en-US" sz="2000" b="1" dirty="0">
                <a:solidFill>
                  <a:schemeClr val="accent6">
                    <a:lumMod val="75000"/>
                  </a:schemeClr>
                </a:solidFill>
                <a:sym typeface="Wingdings" panose="05000000000000000000" pitchFamily="2" charset="2"/>
              </a:rPr>
              <a:t> no use Rig time</a:t>
            </a:r>
            <a:endParaRPr lang="en-US" sz="2000" b="1" dirty="0">
              <a:solidFill>
                <a:schemeClr val="accent6">
                  <a:lumMod val="75000"/>
                </a:schemeClr>
              </a:solidFill>
            </a:endParaRPr>
          </a:p>
          <a:p>
            <a:pPr marL="457200" indent="-457200">
              <a:buFont typeface="+mj-lt"/>
              <a:buAutoNum type="alphaLcPeriod"/>
            </a:pPr>
            <a:r>
              <a:rPr lang="en-US" sz="2400" b="1" dirty="0">
                <a:solidFill>
                  <a:srgbClr val="C00000"/>
                </a:solidFill>
              </a:rPr>
              <a:t>13-3/8” Long String Design</a:t>
            </a:r>
          </a:p>
          <a:p>
            <a:pPr lvl="1">
              <a:buFont typeface="Wingdings" panose="05000000000000000000" pitchFamily="2" charset="2"/>
              <a:buChar char="ü"/>
            </a:pPr>
            <a:r>
              <a:rPr lang="en-US" sz="2000" b="1" dirty="0">
                <a:solidFill>
                  <a:srgbClr val="C00000"/>
                </a:solidFill>
              </a:rPr>
              <a:t>To be welded in Vertical position, after cementing job and final cut 13-3/8” casing</a:t>
            </a:r>
          </a:p>
          <a:p>
            <a:pPr lvl="1">
              <a:buFont typeface="Wingdings" panose="05000000000000000000" pitchFamily="2" charset="2"/>
              <a:buChar char="ü"/>
            </a:pPr>
            <a:r>
              <a:rPr lang="en-US" sz="2000" b="1" dirty="0">
                <a:solidFill>
                  <a:srgbClr val="C00000"/>
                </a:solidFill>
              </a:rPr>
              <a:t>Rig Time: 32-40 hours</a:t>
            </a:r>
          </a:p>
          <a:p>
            <a:pPr lvl="1">
              <a:buFont typeface="Wingdings" panose="05000000000000000000" pitchFamily="2" charset="2"/>
              <a:buChar char="ü"/>
            </a:pPr>
            <a:r>
              <a:rPr lang="en-US" sz="2000" b="1" dirty="0">
                <a:solidFill>
                  <a:srgbClr val="C00000"/>
                </a:solidFill>
                <a:sym typeface="Wingdings" panose="05000000000000000000" pitchFamily="2" charset="2"/>
              </a:rPr>
              <a:t>Can not do Off Line  Use Rig time</a:t>
            </a:r>
          </a:p>
          <a:p>
            <a:pPr lvl="1">
              <a:buFont typeface="Wingdings" panose="05000000000000000000" pitchFamily="2" charset="2"/>
              <a:buChar char="ü"/>
            </a:pPr>
            <a:r>
              <a:rPr lang="en-US" sz="2000" b="1" dirty="0">
                <a:solidFill>
                  <a:srgbClr val="C00000"/>
                </a:solidFill>
              </a:rPr>
              <a:t>Option to expedite welding job </a:t>
            </a:r>
            <a:r>
              <a:rPr lang="en-US" sz="2000" b="1" dirty="0">
                <a:solidFill>
                  <a:srgbClr val="C00000"/>
                </a:solidFill>
                <a:sym typeface="Wingdings" panose="05000000000000000000" pitchFamily="2" charset="2"/>
              </a:rPr>
              <a:t> by pressure testing in hot condition  risk of lack on welding quality</a:t>
            </a:r>
            <a:endParaRPr lang="en-US" sz="2400" b="1" dirty="0">
              <a:solidFill>
                <a:srgbClr val="C00000"/>
              </a:solidFill>
            </a:endParaRPr>
          </a:p>
        </p:txBody>
      </p:sp>
    </p:spTree>
    <p:extLst>
      <p:ext uri="{BB962C8B-B14F-4D97-AF65-F5344CB8AC3E}">
        <p14:creationId xmlns:p14="http://schemas.microsoft.com/office/powerpoint/2010/main" val="4373377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943" y="55123"/>
            <a:ext cx="10515600" cy="766989"/>
          </a:xfrm>
        </p:spPr>
        <p:txBody>
          <a:bodyPr>
            <a:normAutofit/>
          </a:bodyPr>
          <a:lstStyle/>
          <a:p>
            <a:r>
              <a:rPr lang="en-US" sz="3600" b="1" dirty="0">
                <a:solidFill>
                  <a:srgbClr val="C00000"/>
                </a:solidFill>
              </a:rPr>
              <a:t>Rig Time Comparison</a:t>
            </a:r>
          </a:p>
        </p:txBody>
      </p:sp>
      <p:pic>
        <p:nvPicPr>
          <p:cNvPr id="5" name="Picture 4"/>
          <p:cNvPicPr>
            <a:picLocks noChangeAspect="1"/>
          </p:cNvPicPr>
          <p:nvPr/>
        </p:nvPicPr>
        <p:blipFill>
          <a:blip r:embed="rId2"/>
          <a:stretch>
            <a:fillRect/>
          </a:stretch>
        </p:blipFill>
        <p:spPr>
          <a:xfrm>
            <a:off x="116114" y="990600"/>
            <a:ext cx="8181975" cy="5867400"/>
          </a:xfrm>
          <a:prstGeom prst="rect">
            <a:avLst/>
          </a:prstGeom>
        </p:spPr>
      </p:pic>
      <p:sp>
        <p:nvSpPr>
          <p:cNvPr id="6" name="Content Placeholder 4"/>
          <p:cNvSpPr txBox="1">
            <a:spLocks/>
          </p:cNvSpPr>
          <p:nvPr/>
        </p:nvSpPr>
        <p:spPr>
          <a:xfrm>
            <a:off x="7750628" y="366485"/>
            <a:ext cx="4325258" cy="6180153"/>
          </a:xfrm>
          <a:prstGeom prst="rect">
            <a:avLst/>
          </a:prstGeom>
          <a:no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C00000"/>
                </a:solidFill>
              </a:rPr>
              <a:t>Rig Time Comparison – No NPT and No Remedial Cement:</a:t>
            </a:r>
          </a:p>
          <a:p>
            <a:pPr>
              <a:buFont typeface="Wingdings" panose="05000000000000000000" pitchFamily="2" charset="2"/>
              <a:buChar char="§"/>
            </a:pPr>
            <a:r>
              <a:rPr lang="en-US" sz="2400" b="1" dirty="0">
                <a:solidFill>
                  <a:srgbClr val="C00000"/>
                </a:solidFill>
              </a:rPr>
              <a:t>Comparing SMP T-01: Long String could create 6 hours rig time Saving.</a:t>
            </a:r>
          </a:p>
          <a:p>
            <a:pPr>
              <a:buFont typeface="Wingdings" panose="05000000000000000000" pitchFamily="2" charset="2"/>
              <a:buChar char="§"/>
            </a:pPr>
            <a:r>
              <a:rPr lang="en-US" sz="2400" b="1" dirty="0">
                <a:solidFill>
                  <a:srgbClr val="C00000"/>
                </a:solidFill>
              </a:rPr>
              <a:t>Comparing SMP T-02: Long String could be 13 hours Longer rig time.</a:t>
            </a:r>
          </a:p>
          <a:p>
            <a:pPr>
              <a:buFont typeface="Wingdings" panose="05000000000000000000" pitchFamily="2" charset="2"/>
              <a:buChar char="§"/>
            </a:pPr>
            <a:endParaRPr lang="en-US" sz="2400" b="1" dirty="0">
              <a:solidFill>
                <a:srgbClr val="C00000"/>
              </a:solidFill>
            </a:endParaRPr>
          </a:p>
          <a:p>
            <a:pPr marL="0" indent="0">
              <a:buNone/>
            </a:pPr>
            <a:r>
              <a:rPr lang="en-US" sz="2400" b="1" dirty="0">
                <a:solidFill>
                  <a:schemeClr val="accent2"/>
                </a:solidFill>
              </a:rPr>
              <a:t>Risk of longer rig time IF run Long string method:</a:t>
            </a:r>
          </a:p>
          <a:p>
            <a:pPr>
              <a:buFont typeface="Wingdings" panose="05000000000000000000" pitchFamily="2" charset="2"/>
              <a:buChar char="§"/>
            </a:pPr>
            <a:r>
              <a:rPr lang="en-US" sz="2400" b="1" dirty="0">
                <a:solidFill>
                  <a:schemeClr val="accent2"/>
                </a:solidFill>
              </a:rPr>
              <a:t>Problem when weld 13-5/8” SOW Wellhead to 13-3/8” L-80 Casing.</a:t>
            </a:r>
          </a:p>
          <a:p>
            <a:pPr>
              <a:buFont typeface="Wingdings" panose="05000000000000000000" pitchFamily="2" charset="2"/>
              <a:buChar char="§"/>
            </a:pPr>
            <a:r>
              <a:rPr lang="en-US" sz="2400" b="1" dirty="0">
                <a:solidFill>
                  <a:schemeClr val="accent2"/>
                </a:solidFill>
              </a:rPr>
              <a:t>Difficulties for Remedial Cementing Job.</a:t>
            </a:r>
          </a:p>
        </p:txBody>
      </p:sp>
    </p:spTree>
    <p:extLst>
      <p:ext uri="{BB962C8B-B14F-4D97-AF65-F5344CB8AC3E}">
        <p14:creationId xmlns:p14="http://schemas.microsoft.com/office/powerpoint/2010/main" val="333514254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375" y="160410"/>
            <a:ext cx="10515600" cy="604838"/>
          </a:xfrm>
        </p:spPr>
        <p:txBody>
          <a:bodyPr>
            <a:noAutofit/>
          </a:bodyPr>
          <a:lstStyle/>
          <a:p>
            <a:r>
              <a:rPr lang="en-US" sz="3600" b="1" dirty="0">
                <a:solidFill>
                  <a:srgbClr val="C00000"/>
                </a:solidFill>
              </a:rPr>
              <a:t>Additional Cost Comparison</a:t>
            </a:r>
          </a:p>
        </p:txBody>
      </p:sp>
      <p:graphicFrame>
        <p:nvGraphicFramePr>
          <p:cNvPr id="4" name="Table 3"/>
          <p:cNvGraphicFramePr>
            <a:graphicFrameLocks noGrp="1"/>
          </p:cNvGraphicFramePr>
          <p:nvPr>
            <p:extLst>
              <p:ext uri="{D42A27DB-BD31-4B8C-83A1-F6EECF244321}">
                <p14:modId xmlns:p14="http://schemas.microsoft.com/office/powerpoint/2010/main" val="3876802889"/>
              </p:ext>
            </p:extLst>
          </p:nvPr>
        </p:nvGraphicFramePr>
        <p:xfrm>
          <a:off x="232011" y="852340"/>
          <a:ext cx="11750722" cy="4577080"/>
        </p:xfrm>
        <a:graphic>
          <a:graphicData uri="http://schemas.openxmlformats.org/drawingml/2006/table">
            <a:tbl>
              <a:tblPr firstRow="1" bandRow="1">
                <a:tableStyleId>{5C22544A-7EE6-4342-B048-85BDC9FD1C3A}</a:tableStyleId>
              </a:tblPr>
              <a:tblGrid>
                <a:gridCol w="5199798">
                  <a:extLst>
                    <a:ext uri="{9D8B030D-6E8A-4147-A177-3AD203B41FA5}">
                      <a16:colId xmlns:a16="http://schemas.microsoft.com/office/drawing/2014/main" val="1934133559"/>
                    </a:ext>
                  </a:extLst>
                </a:gridCol>
                <a:gridCol w="6550924">
                  <a:extLst>
                    <a:ext uri="{9D8B030D-6E8A-4147-A177-3AD203B41FA5}">
                      <a16:colId xmlns:a16="http://schemas.microsoft.com/office/drawing/2014/main" val="1879580919"/>
                    </a:ext>
                  </a:extLst>
                </a:gridCol>
              </a:tblGrid>
              <a:tr h="370840">
                <a:tc>
                  <a:txBody>
                    <a:bodyPr/>
                    <a:lstStyle/>
                    <a:p>
                      <a:r>
                        <a:rPr lang="en-US" sz="2400" dirty="0"/>
                        <a:t>13-3/8” Tie Back System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13-3/8” Long String System</a:t>
                      </a:r>
                    </a:p>
                  </a:txBody>
                  <a:tcPr/>
                </a:tc>
                <a:extLst>
                  <a:ext uri="{0D108BD9-81ED-4DB2-BD59-A6C34878D82A}">
                    <a16:rowId xmlns:a16="http://schemas.microsoft.com/office/drawing/2014/main" val="353714115"/>
                  </a:ext>
                </a:extLst>
              </a:tr>
              <a:tr h="370840">
                <a:tc>
                  <a:txBody>
                    <a:bodyPr/>
                    <a:lstStyle/>
                    <a:p>
                      <a:r>
                        <a:rPr lang="en-US" dirty="0"/>
                        <a:t>Run 13-3/8” Casing into two section</a:t>
                      </a:r>
                      <a:r>
                        <a:rPr lang="en-US" baseline="0" dirty="0"/>
                        <a:t> </a:t>
                      </a:r>
                      <a:r>
                        <a:rPr lang="en-US" baseline="0" dirty="0">
                          <a:sym typeface="Wingdings" panose="05000000000000000000" pitchFamily="2" charset="2"/>
                        </a:rPr>
                        <a:t> Less weight of running casing. It is sufficient to u</a:t>
                      </a:r>
                      <a:r>
                        <a:rPr lang="en-US" baseline="0" dirty="0"/>
                        <a:t>se 150 T Single Casing Elevator. This Equipment is part in the contract, no additional cost.</a:t>
                      </a:r>
                      <a:endParaRPr lang="en-US" dirty="0"/>
                    </a:p>
                  </a:txBody>
                  <a:tcPr/>
                </a:tc>
                <a:tc>
                  <a:txBody>
                    <a:bodyPr/>
                    <a:lstStyle/>
                    <a:p>
                      <a:r>
                        <a:rPr lang="en-US" sz="1800" kern="1200" dirty="0">
                          <a:solidFill>
                            <a:schemeClr val="dk1"/>
                          </a:solidFill>
                          <a:effectLst/>
                          <a:latin typeface="+mn-lt"/>
                          <a:ea typeface="+mn-ea"/>
                          <a:cs typeface="+mn-cs"/>
                        </a:rPr>
                        <a:t>Run 13-3/8” casing in single run. It is still within 150 T </a:t>
                      </a:r>
                      <a:r>
                        <a:rPr lang="en-US" baseline="0" dirty="0"/>
                        <a:t>Single Casing Elevator</a:t>
                      </a:r>
                      <a:r>
                        <a:rPr lang="en-US" sz="1800" kern="1200" dirty="0">
                          <a:solidFill>
                            <a:schemeClr val="dk1"/>
                          </a:solidFill>
                          <a:effectLst/>
                          <a:latin typeface="+mn-lt"/>
                          <a:ea typeface="+mn-ea"/>
                          <a:cs typeface="+mn-cs"/>
                        </a:rPr>
                        <a:t> without any Safety factor.</a:t>
                      </a:r>
                      <a:r>
                        <a:rPr lang="en-US" sz="1800" kern="1200" baseline="0" dirty="0">
                          <a:solidFill>
                            <a:schemeClr val="dk1"/>
                          </a:solidFill>
                          <a:effectLst/>
                          <a:latin typeface="+mn-lt"/>
                          <a:ea typeface="+mn-ea"/>
                          <a:cs typeface="+mn-cs"/>
                        </a:rPr>
                        <a:t> It is recommend to run 13-3/8” Long String with 350 T Spider Elevator. This equipment was not in the casing handling contract. Additional cost:</a:t>
                      </a:r>
                    </a:p>
                    <a:p>
                      <a:pPr marL="285750" indent="-285750">
                        <a:buFont typeface="Arial" panose="020B0604020202020204" pitchFamily="34" charset="0"/>
                        <a:buChar char="•"/>
                      </a:pPr>
                      <a:r>
                        <a:rPr lang="en-US" sz="1800" kern="1200" baseline="0" dirty="0">
                          <a:solidFill>
                            <a:schemeClr val="dk1"/>
                          </a:solidFill>
                          <a:effectLst/>
                          <a:latin typeface="+mn-lt"/>
                          <a:ea typeface="+mn-ea"/>
                          <a:cs typeface="+mn-cs"/>
                        </a:rPr>
                        <a:t>Equipment Rental      = USD 18000 per well</a:t>
                      </a:r>
                    </a:p>
                    <a:p>
                      <a:pPr marL="285750" indent="-285750">
                        <a:buFont typeface="Arial" panose="020B0604020202020204" pitchFamily="34" charset="0"/>
                        <a:buChar char="•"/>
                      </a:pPr>
                      <a:r>
                        <a:rPr lang="en-US" sz="1800" kern="1200" baseline="0" dirty="0">
                          <a:solidFill>
                            <a:schemeClr val="dk1"/>
                          </a:solidFill>
                          <a:effectLst/>
                          <a:latin typeface="+mn-lt"/>
                          <a:ea typeface="+mn-ea"/>
                          <a:cs typeface="+mn-cs"/>
                        </a:rPr>
                        <a:t>Mob/Demobilization = USD 6000 per call</a:t>
                      </a:r>
                      <a:endParaRPr lang="en-US" dirty="0"/>
                    </a:p>
                  </a:txBody>
                  <a:tcPr/>
                </a:tc>
                <a:extLst>
                  <a:ext uri="{0D108BD9-81ED-4DB2-BD59-A6C34878D82A}">
                    <a16:rowId xmlns:a16="http://schemas.microsoft.com/office/drawing/2014/main" val="1021787212"/>
                  </a:ext>
                </a:extLst>
              </a:tr>
              <a:tr h="370840">
                <a:tc>
                  <a:txBody>
                    <a:bodyPr/>
                    <a:lstStyle/>
                    <a:p>
                      <a:r>
                        <a:rPr lang="en-US" dirty="0"/>
                        <a:t>Need 20” X 13-3/8” Liner Adapter, additional Cost:</a:t>
                      </a:r>
                    </a:p>
                    <a:p>
                      <a:pPr marL="285750" indent="-285750">
                        <a:buFont typeface="Arial" panose="020B0604020202020204" pitchFamily="34" charset="0"/>
                        <a:buChar char="•"/>
                      </a:pPr>
                      <a:r>
                        <a:rPr lang="en-US" dirty="0"/>
                        <a:t>20” X 13-3/8” Liner Adapter: USD 15000 / Set</a:t>
                      </a:r>
                    </a:p>
                    <a:p>
                      <a:pPr marL="285750" indent="-285750">
                        <a:buFont typeface="Arial" panose="020B0604020202020204" pitchFamily="34" charset="0"/>
                        <a:buChar char="•"/>
                      </a:pPr>
                      <a:r>
                        <a:rPr lang="en-US" dirty="0"/>
                        <a:t>Running Tool: USD 5000 / Well</a:t>
                      </a:r>
                    </a:p>
                    <a:p>
                      <a:pPr marL="285750" indent="-285750">
                        <a:buFont typeface="Arial" panose="020B0604020202020204" pitchFamily="34" charset="0"/>
                        <a:buChar char="•"/>
                      </a:pPr>
                      <a:r>
                        <a:rPr lang="en-US" dirty="0"/>
                        <a:t>17-1/2” Hole Opener:</a:t>
                      </a:r>
                      <a:r>
                        <a:rPr lang="en-US" baseline="0" dirty="0"/>
                        <a:t> USD 21000 for 3 well</a:t>
                      </a:r>
                    </a:p>
                    <a:p>
                      <a:pPr marL="285750" indent="-285750">
                        <a:buFont typeface="Arial" panose="020B0604020202020204" pitchFamily="34" charset="0"/>
                        <a:buChar char="•"/>
                      </a:pPr>
                      <a:r>
                        <a:rPr lang="en-US" baseline="0" dirty="0"/>
                        <a:t>14-3/4” Mill Tooth Bit: USD 12000 for 3 well</a:t>
                      </a:r>
                      <a:endParaRPr lang="en-US" dirty="0"/>
                    </a:p>
                  </a:txBody>
                  <a:tcPr/>
                </a:tc>
                <a:tc>
                  <a:txBody>
                    <a:bodyPr/>
                    <a:lstStyle/>
                    <a:p>
                      <a:r>
                        <a:rPr lang="en-US" dirty="0"/>
                        <a:t>No 20” X 13-3/8” Liner Adapter</a:t>
                      </a:r>
                    </a:p>
                  </a:txBody>
                  <a:tcPr/>
                </a:tc>
                <a:extLst>
                  <a:ext uri="{0D108BD9-81ED-4DB2-BD59-A6C34878D82A}">
                    <a16:rowId xmlns:a16="http://schemas.microsoft.com/office/drawing/2014/main" val="2926407978"/>
                  </a:ext>
                </a:extLst>
              </a:tr>
              <a:tr h="370840">
                <a:tc>
                  <a:txBody>
                    <a:bodyPr/>
                    <a:lstStyle/>
                    <a:p>
                      <a:pPr marL="285750" indent="-285750">
                        <a:buFont typeface="Arial" panose="020B0604020202020204" pitchFamily="34" charset="0"/>
                        <a:buChar char="•"/>
                      </a:pPr>
                      <a:r>
                        <a:rPr lang="en-US" dirty="0"/>
                        <a:t>Total Additional Cost: USD 45,500 / Well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Total Additional Cost: USD 18000</a:t>
                      </a:r>
                      <a:r>
                        <a:rPr lang="en-US" baseline="0" dirty="0"/>
                        <a:t> + 6000/3 = USD 20000</a:t>
                      </a:r>
                      <a:endParaRPr lang="en-US" dirty="0"/>
                    </a:p>
                  </a:txBody>
                  <a:tcPr/>
                </a:tc>
                <a:extLst>
                  <a:ext uri="{0D108BD9-81ED-4DB2-BD59-A6C34878D82A}">
                    <a16:rowId xmlns:a16="http://schemas.microsoft.com/office/drawing/2014/main" val="1395354377"/>
                  </a:ext>
                </a:extLst>
              </a:tr>
            </a:tbl>
          </a:graphicData>
        </a:graphic>
      </p:graphicFrame>
      <p:pic>
        <p:nvPicPr>
          <p:cNvPr id="1026" name="Picture 1" descr="image00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32011" y="5538872"/>
            <a:ext cx="161925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2" descr="image005"/>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541185" y="5490020"/>
            <a:ext cx="1814655" cy="1207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7085613" y="5543995"/>
            <a:ext cx="4927600" cy="923330"/>
          </a:xfrm>
          <a:prstGeom prst="rect">
            <a:avLst/>
          </a:prstGeom>
          <a:solidFill>
            <a:schemeClr val="accent4">
              <a:lumMod val="40000"/>
              <a:lumOff val="60000"/>
            </a:schemeClr>
          </a:solidFill>
        </p:spPr>
        <p:txBody>
          <a:bodyPr wrap="square" rtlCol="0">
            <a:spAutoFit/>
          </a:bodyPr>
          <a:lstStyle/>
          <a:p>
            <a:r>
              <a:rPr lang="en-US" dirty="0">
                <a:solidFill>
                  <a:srgbClr val="C00000"/>
                </a:solidFill>
              </a:rPr>
              <a:t>Cost Different between Tie Back vs Long String: </a:t>
            </a:r>
          </a:p>
          <a:p>
            <a:pPr marL="285750" indent="-285750">
              <a:buFont typeface="Arial" panose="020B0604020202020204" pitchFamily="34" charset="0"/>
              <a:buChar char="•"/>
            </a:pPr>
            <a:r>
              <a:rPr lang="en-US" dirty="0">
                <a:solidFill>
                  <a:srgbClr val="C00000"/>
                </a:solidFill>
              </a:rPr>
              <a:t>USD 25,500</a:t>
            </a:r>
          </a:p>
          <a:p>
            <a:pPr marL="285750" indent="-285750">
              <a:buFont typeface="Arial" panose="020B0604020202020204" pitchFamily="34" charset="0"/>
              <a:buChar char="•"/>
            </a:pPr>
            <a:r>
              <a:rPr lang="en-US" dirty="0">
                <a:solidFill>
                  <a:srgbClr val="C00000"/>
                </a:solidFill>
              </a:rPr>
              <a:t>NOT Significant</a:t>
            </a:r>
          </a:p>
        </p:txBody>
      </p:sp>
      <p:sp>
        <p:nvSpPr>
          <p:cNvPr id="3" name="TextBox 2">
            <a:extLst>
              <a:ext uri="{FF2B5EF4-FFF2-40B4-BE49-F238E27FC236}">
                <a16:creationId xmlns:a16="http://schemas.microsoft.com/office/drawing/2014/main" id="{1A76EF97-84B4-C7B4-FBB7-0428CD7E6C2C}"/>
              </a:ext>
            </a:extLst>
          </p:cNvPr>
          <p:cNvSpPr txBox="1"/>
          <p:nvPr/>
        </p:nvSpPr>
        <p:spPr>
          <a:xfrm>
            <a:off x="1851261" y="5543995"/>
            <a:ext cx="3569038" cy="923330"/>
          </a:xfrm>
          <a:prstGeom prst="rect">
            <a:avLst/>
          </a:prstGeom>
          <a:solidFill>
            <a:schemeClr val="accent4">
              <a:lumMod val="40000"/>
              <a:lumOff val="60000"/>
            </a:schemeClr>
          </a:solidFill>
        </p:spPr>
        <p:txBody>
          <a:bodyPr wrap="square" rtlCol="0">
            <a:spAutoFit/>
          </a:bodyPr>
          <a:lstStyle/>
          <a:p>
            <a:pPr marL="285750" indent="-285750">
              <a:buFont typeface="Arial" panose="020B0604020202020204" pitchFamily="34" charset="0"/>
              <a:buChar char="•"/>
            </a:pPr>
            <a:r>
              <a:rPr lang="en-US" dirty="0">
                <a:solidFill>
                  <a:srgbClr val="C00000"/>
                </a:solidFill>
              </a:rPr>
              <a:t>Overall less risk</a:t>
            </a:r>
          </a:p>
          <a:p>
            <a:pPr marL="285750" indent="-285750">
              <a:buFont typeface="Arial" panose="020B0604020202020204" pitchFamily="34" charset="0"/>
              <a:buChar char="•"/>
            </a:pPr>
            <a:r>
              <a:rPr lang="en-US" dirty="0">
                <a:solidFill>
                  <a:srgbClr val="C00000"/>
                </a:solidFill>
              </a:rPr>
              <a:t>Much better Cement quality along case hole </a:t>
            </a:r>
          </a:p>
        </p:txBody>
      </p:sp>
    </p:spTree>
    <p:extLst>
      <p:ext uri="{BB962C8B-B14F-4D97-AF65-F5344CB8AC3E}">
        <p14:creationId xmlns:p14="http://schemas.microsoft.com/office/powerpoint/2010/main" val="405242949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300" y="253366"/>
            <a:ext cx="10515600" cy="912132"/>
          </a:xfrm>
        </p:spPr>
        <p:txBody>
          <a:bodyPr>
            <a:normAutofit/>
          </a:bodyPr>
          <a:lstStyle/>
          <a:p>
            <a:r>
              <a:rPr lang="en-US" sz="3600" b="1" dirty="0">
                <a:solidFill>
                  <a:srgbClr val="C00000"/>
                </a:solidFill>
              </a:rPr>
              <a:t>Conclusion</a:t>
            </a:r>
          </a:p>
        </p:txBody>
      </p:sp>
      <p:sp>
        <p:nvSpPr>
          <p:cNvPr id="3" name="Content Placeholder 2"/>
          <p:cNvSpPr>
            <a:spLocks noGrp="1"/>
          </p:cNvSpPr>
          <p:nvPr>
            <p:ph idx="1"/>
          </p:nvPr>
        </p:nvSpPr>
        <p:spPr>
          <a:xfrm>
            <a:off x="524300" y="1280623"/>
            <a:ext cx="11458434" cy="5066495"/>
          </a:xfrm>
        </p:spPr>
        <p:txBody>
          <a:bodyPr>
            <a:noAutofit/>
          </a:bodyPr>
          <a:lstStyle/>
          <a:p>
            <a:pPr marL="0" indent="0">
              <a:lnSpc>
                <a:spcPct val="100000"/>
              </a:lnSpc>
              <a:buNone/>
            </a:pPr>
            <a:r>
              <a:rPr lang="en-US" sz="1800" dirty="0">
                <a:solidFill>
                  <a:schemeClr val="accent2"/>
                </a:solidFill>
              </a:rPr>
              <a:t>Strongly NOT Recommend to run Long String Design for Geothermal Well:</a:t>
            </a:r>
          </a:p>
          <a:p>
            <a:pPr marL="285750" indent="-285750">
              <a:lnSpc>
                <a:spcPct val="100000"/>
              </a:lnSpc>
              <a:buFont typeface="Arial" panose="020B0604020202020204" pitchFamily="34" charset="0"/>
              <a:buChar char="•"/>
            </a:pPr>
            <a:r>
              <a:rPr lang="en-US" sz="1800" dirty="0"/>
              <a:t>Cementing 13-3/8” Casing is the most critical job to be main isolation and anchoring system. Remedial cement in Long string is more complicated and difficult comparing Tie back design.</a:t>
            </a:r>
          </a:p>
          <a:p>
            <a:pPr marL="285750" indent="-285750">
              <a:lnSpc>
                <a:spcPct val="100000"/>
              </a:lnSpc>
              <a:buFont typeface="Arial" panose="020B0604020202020204" pitchFamily="34" charset="0"/>
              <a:buChar char="•"/>
            </a:pPr>
            <a:r>
              <a:rPr lang="en-US" sz="1800" dirty="0"/>
              <a:t>No Rig Time saving expected from Long String Method, since we must weld 13-5/8” SOW wellhead on line (Rig Time). Risk longer rig time if any NPT during welding the wellhead.</a:t>
            </a:r>
          </a:p>
          <a:p>
            <a:pPr marL="285750" indent="-285750">
              <a:lnSpc>
                <a:spcPct val="100000"/>
              </a:lnSpc>
              <a:buFont typeface="Arial" panose="020B0604020202020204" pitchFamily="34" charset="0"/>
              <a:buChar char="•"/>
            </a:pPr>
            <a:r>
              <a:rPr lang="en-US" sz="1800" dirty="0"/>
              <a:t>Higher risk of longer rig time due to difficulties to do Remedial Cementing on 13-3/8” Long Production Casing string.</a:t>
            </a:r>
          </a:p>
          <a:p>
            <a:pPr marL="285750" indent="-285750">
              <a:lnSpc>
                <a:spcPct val="100000"/>
              </a:lnSpc>
              <a:buFont typeface="Arial" panose="020B0604020202020204" pitchFamily="34" charset="0"/>
              <a:buChar char="•"/>
            </a:pPr>
            <a:r>
              <a:rPr lang="en-US" sz="1800" dirty="0"/>
              <a:t>In 13-3/8” Tie Back System where the casing is divided into 2 section, It could make better items of casing stress distribution due to casing expansion during well flowing. </a:t>
            </a:r>
          </a:p>
          <a:p>
            <a:pPr marL="285750" indent="-285750">
              <a:lnSpc>
                <a:spcPct val="100000"/>
              </a:lnSpc>
              <a:buFont typeface="Arial" panose="020B0604020202020204" pitchFamily="34" charset="0"/>
              <a:buChar char="•"/>
            </a:pPr>
            <a:r>
              <a:rPr lang="en-US" sz="1800" dirty="0"/>
              <a:t>It was experienced that Long string Design contributed to the Lack of well integrity.</a:t>
            </a:r>
          </a:p>
          <a:p>
            <a:pPr marL="285750" indent="-285750">
              <a:lnSpc>
                <a:spcPct val="100000"/>
              </a:lnSpc>
              <a:buFont typeface="Arial" panose="020B0604020202020204" pitchFamily="34" charset="0"/>
              <a:buChar char="•"/>
            </a:pPr>
            <a:r>
              <a:rPr lang="en-US" sz="1800" dirty="0"/>
              <a:t>Most Geothermal Operators in Indonesia have abandoned to use Long string method due to well integrity concerns. </a:t>
            </a:r>
          </a:p>
          <a:p>
            <a:endParaRPr lang="en-US" sz="1800" dirty="0"/>
          </a:p>
        </p:txBody>
      </p:sp>
    </p:spTree>
    <p:extLst>
      <p:ext uri="{BB962C8B-B14F-4D97-AF65-F5344CB8AC3E}">
        <p14:creationId xmlns:p14="http://schemas.microsoft.com/office/powerpoint/2010/main" val="77314175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1483360" y="1866469"/>
            <a:ext cx="8839200" cy="1143000"/>
          </a:xfrm>
        </p:spPr>
        <p:txBody>
          <a:bodyPr>
            <a:normAutofit fontScale="90000"/>
          </a:bodyPr>
          <a:lstStyle/>
          <a:p>
            <a:pPr algn="ctr"/>
            <a:r>
              <a:rPr lang="en-US" altLang="en-US" sz="4400" b="1" dirty="0">
                <a:solidFill>
                  <a:srgbClr val="C00000"/>
                </a:solidFill>
              </a:rPr>
              <a:t>20” X 13-3/8” Liner Adapter and Guide Shoe Design</a:t>
            </a:r>
          </a:p>
        </p:txBody>
      </p:sp>
      <p:sp>
        <p:nvSpPr>
          <p:cNvPr id="8704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2A46F92D-E237-4AFE-BF99-368A1AA6119B}" type="slidenum">
              <a:rPr lang="en-US" altLang="en-US" sz="1400"/>
              <a:pPr>
                <a:spcBef>
                  <a:spcPct val="0"/>
                </a:spcBef>
                <a:buFontTx/>
                <a:buNone/>
              </a:pPr>
              <a:t>124</a:t>
            </a:fld>
            <a:endParaRPr lang="en-US" altLang="en-US" sz="1400"/>
          </a:p>
        </p:txBody>
      </p:sp>
    </p:spTree>
    <p:extLst>
      <p:ext uri="{BB962C8B-B14F-4D97-AF65-F5344CB8AC3E}">
        <p14:creationId xmlns:p14="http://schemas.microsoft.com/office/powerpoint/2010/main" val="328908791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564F8-1714-469F-9AC5-897029F1987E}"/>
              </a:ext>
            </a:extLst>
          </p:cNvPr>
          <p:cNvSpPr>
            <a:spLocks noGrp="1"/>
          </p:cNvSpPr>
          <p:nvPr>
            <p:ph type="title"/>
          </p:nvPr>
        </p:nvSpPr>
        <p:spPr>
          <a:xfrm>
            <a:off x="521208" y="448056"/>
            <a:ext cx="10939272" cy="640080"/>
          </a:xfrm>
        </p:spPr>
        <p:txBody>
          <a:bodyPr>
            <a:normAutofit/>
          </a:bodyPr>
          <a:lstStyle/>
          <a:p>
            <a:r>
              <a:rPr lang="nn-NO" dirty="0"/>
              <a:t>20” X 13-3/8” Liner Adapter Design – </a:t>
            </a:r>
            <a:r>
              <a:rPr lang="nn-NO" sz="3200" b="1" dirty="0">
                <a:solidFill>
                  <a:srgbClr val="C00000"/>
                </a:solidFill>
              </a:rPr>
              <a:t>Tie Back Receptacle Lenght</a:t>
            </a:r>
            <a:endParaRPr lang="en-ID" sz="3200" b="1" dirty="0">
              <a:solidFill>
                <a:srgbClr val="C00000"/>
              </a:solidFill>
            </a:endParaRPr>
          </a:p>
        </p:txBody>
      </p:sp>
      <p:pic>
        <p:nvPicPr>
          <p:cNvPr id="4" name="Picture 3">
            <a:extLst>
              <a:ext uri="{FF2B5EF4-FFF2-40B4-BE49-F238E27FC236}">
                <a16:creationId xmlns:a16="http://schemas.microsoft.com/office/drawing/2014/main" id="{CD17DAC9-D76D-4F0B-B137-0EF7B46C4EA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840480" y="1351890"/>
            <a:ext cx="8016019" cy="4866029"/>
          </a:xfrm>
          <a:prstGeom prst="rect">
            <a:avLst/>
          </a:prstGeom>
          <a:ln w="19050">
            <a:solidFill>
              <a:srgbClr val="C00000"/>
            </a:solidFill>
            <a:prstDash val="dash"/>
          </a:ln>
        </p:spPr>
      </p:pic>
      <p:pic>
        <p:nvPicPr>
          <p:cNvPr id="5" name="Picture 4">
            <a:extLst>
              <a:ext uri="{FF2B5EF4-FFF2-40B4-BE49-F238E27FC236}">
                <a16:creationId xmlns:a16="http://schemas.microsoft.com/office/drawing/2014/main" id="{C39702C1-F91E-495A-A7A7-CAFA7F7644A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982" y="1280160"/>
            <a:ext cx="1931596" cy="5384800"/>
          </a:xfrm>
          <a:prstGeom prst="rect">
            <a:avLst/>
          </a:prstGeom>
        </p:spPr>
      </p:pic>
      <p:sp>
        <p:nvSpPr>
          <p:cNvPr id="6" name="Rectangle: Rounded Corners 5">
            <a:extLst>
              <a:ext uri="{FF2B5EF4-FFF2-40B4-BE49-F238E27FC236}">
                <a16:creationId xmlns:a16="http://schemas.microsoft.com/office/drawing/2014/main" id="{E37AA103-B05A-4CEE-93A5-E80EA860DBBA}"/>
              </a:ext>
            </a:extLst>
          </p:cNvPr>
          <p:cNvSpPr/>
          <p:nvPr/>
        </p:nvSpPr>
        <p:spPr>
          <a:xfrm>
            <a:off x="81280" y="4185920"/>
            <a:ext cx="782320" cy="782320"/>
          </a:xfrm>
          <a:prstGeom prst="roundRect">
            <a:avLst/>
          </a:prstGeom>
          <a:solidFill>
            <a:srgbClr val="FFCC00">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Isosceles Triangle 6">
            <a:extLst>
              <a:ext uri="{FF2B5EF4-FFF2-40B4-BE49-F238E27FC236}">
                <a16:creationId xmlns:a16="http://schemas.microsoft.com/office/drawing/2014/main" id="{A346596A-7153-4C8E-B28E-7748999B0CE6}"/>
              </a:ext>
            </a:extLst>
          </p:cNvPr>
          <p:cNvSpPr/>
          <p:nvPr/>
        </p:nvSpPr>
        <p:spPr>
          <a:xfrm rot="16200000">
            <a:off x="-213055" y="2164384"/>
            <a:ext cx="4866030" cy="3241039"/>
          </a:xfrm>
          <a:prstGeom prst="triangle">
            <a:avLst>
              <a:gd name="adj" fmla="val 37394"/>
            </a:avLst>
          </a:prstGeom>
          <a:solidFill>
            <a:srgbClr val="FFCC00">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TextBox 2">
            <a:extLst>
              <a:ext uri="{FF2B5EF4-FFF2-40B4-BE49-F238E27FC236}">
                <a16:creationId xmlns:a16="http://schemas.microsoft.com/office/drawing/2014/main" id="{7D4CF690-8429-482D-815E-740B986C3FF9}"/>
              </a:ext>
            </a:extLst>
          </p:cNvPr>
          <p:cNvSpPr txBox="1"/>
          <p:nvPr/>
        </p:nvSpPr>
        <p:spPr>
          <a:xfrm>
            <a:off x="4487917" y="5694699"/>
            <a:ext cx="2960682" cy="523220"/>
          </a:xfrm>
          <a:prstGeom prst="rect">
            <a:avLst/>
          </a:prstGeom>
          <a:noFill/>
        </p:spPr>
        <p:txBody>
          <a:bodyPr wrap="none" rtlCol="0">
            <a:spAutoFit/>
          </a:bodyPr>
          <a:lstStyle/>
          <a:p>
            <a:r>
              <a:rPr lang="en-US" sz="2800" dirty="0">
                <a:solidFill>
                  <a:srgbClr val="C00000"/>
                </a:solidFill>
              </a:rPr>
              <a:t>3 Meters Tie Back</a:t>
            </a:r>
            <a:endParaRPr lang="en-ID" sz="2800" dirty="0">
              <a:solidFill>
                <a:srgbClr val="C00000"/>
              </a:solidFill>
            </a:endParaRPr>
          </a:p>
        </p:txBody>
      </p:sp>
      <p:sp>
        <p:nvSpPr>
          <p:cNvPr id="8" name="TextBox 7">
            <a:extLst>
              <a:ext uri="{FF2B5EF4-FFF2-40B4-BE49-F238E27FC236}">
                <a16:creationId xmlns:a16="http://schemas.microsoft.com/office/drawing/2014/main" id="{DDD38927-37BA-4FA0-88F1-44A518F0A8D6}"/>
              </a:ext>
            </a:extLst>
          </p:cNvPr>
          <p:cNvSpPr txBox="1"/>
          <p:nvPr/>
        </p:nvSpPr>
        <p:spPr>
          <a:xfrm>
            <a:off x="8623738" y="6217919"/>
            <a:ext cx="2960682" cy="523220"/>
          </a:xfrm>
          <a:prstGeom prst="rect">
            <a:avLst/>
          </a:prstGeom>
          <a:noFill/>
        </p:spPr>
        <p:txBody>
          <a:bodyPr wrap="none" rtlCol="0">
            <a:spAutoFit/>
          </a:bodyPr>
          <a:lstStyle/>
          <a:p>
            <a:r>
              <a:rPr lang="en-US" sz="2800" dirty="0">
                <a:solidFill>
                  <a:srgbClr val="C00000"/>
                </a:solidFill>
              </a:rPr>
              <a:t>5 Meters Tie Back</a:t>
            </a:r>
            <a:endParaRPr lang="en-ID" sz="2800" dirty="0">
              <a:solidFill>
                <a:srgbClr val="C00000"/>
              </a:solidFill>
            </a:endParaRPr>
          </a:p>
        </p:txBody>
      </p:sp>
    </p:spTree>
    <p:extLst>
      <p:ext uri="{BB962C8B-B14F-4D97-AF65-F5344CB8AC3E}">
        <p14:creationId xmlns:p14="http://schemas.microsoft.com/office/powerpoint/2010/main" val="292881707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564F8-1714-469F-9AC5-897029F1987E}"/>
              </a:ext>
            </a:extLst>
          </p:cNvPr>
          <p:cNvSpPr>
            <a:spLocks noGrp="1"/>
          </p:cNvSpPr>
          <p:nvPr>
            <p:ph type="title"/>
          </p:nvPr>
        </p:nvSpPr>
        <p:spPr>
          <a:xfrm>
            <a:off x="521208" y="448056"/>
            <a:ext cx="9841992" cy="640080"/>
          </a:xfrm>
        </p:spPr>
        <p:txBody>
          <a:bodyPr>
            <a:normAutofit/>
          </a:bodyPr>
          <a:lstStyle/>
          <a:p>
            <a:r>
              <a:rPr lang="nn-NO" dirty="0"/>
              <a:t>20” X 13-3/8” Liner Adapter Design – </a:t>
            </a:r>
            <a:r>
              <a:rPr lang="nn-NO" sz="3200" b="1" dirty="0">
                <a:solidFill>
                  <a:srgbClr val="C00000"/>
                </a:solidFill>
              </a:rPr>
              <a:t>Bore Receptacle Lenght</a:t>
            </a:r>
            <a:endParaRPr lang="en-ID" sz="3200" b="1" dirty="0">
              <a:solidFill>
                <a:srgbClr val="C00000"/>
              </a:solidFill>
            </a:endParaRPr>
          </a:p>
        </p:txBody>
      </p:sp>
      <p:pic>
        <p:nvPicPr>
          <p:cNvPr id="8" name="Picture 7">
            <a:extLst>
              <a:ext uri="{FF2B5EF4-FFF2-40B4-BE49-F238E27FC236}">
                <a16:creationId xmlns:a16="http://schemas.microsoft.com/office/drawing/2014/main" id="{5AB2A5BD-E476-4F57-B2B5-CE3E8450595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4640" y="1294833"/>
            <a:ext cx="3708179" cy="2251006"/>
          </a:xfrm>
          <a:prstGeom prst="rect">
            <a:avLst/>
          </a:prstGeom>
          <a:ln w="19050">
            <a:solidFill>
              <a:srgbClr val="C00000"/>
            </a:solidFill>
            <a:prstDash val="dash"/>
          </a:ln>
        </p:spPr>
      </p:pic>
      <p:graphicFrame>
        <p:nvGraphicFramePr>
          <p:cNvPr id="3" name="Table 8">
            <a:extLst>
              <a:ext uri="{FF2B5EF4-FFF2-40B4-BE49-F238E27FC236}">
                <a16:creationId xmlns:a16="http://schemas.microsoft.com/office/drawing/2014/main" id="{7A01CD9C-CB4B-448C-8D67-D32122A48B56}"/>
              </a:ext>
            </a:extLst>
          </p:cNvPr>
          <p:cNvGraphicFramePr>
            <a:graphicFrameLocks noGrp="1"/>
          </p:cNvGraphicFramePr>
          <p:nvPr/>
        </p:nvGraphicFramePr>
        <p:xfrm>
          <a:off x="4094480" y="1294833"/>
          <a:ext cx="7579360" cy="4693920"/>
        </p:xfrm>
        <a:graphic>
          <a:graphicData uri="http://schemas.openxmlformats.org/drawingml/2006/table">
            <a:tbl>
              <a:tblPr firstRow="1" bandRow="1">
                <a:tableStyleId>{5C22544A-7EE6-4342-B048-85BDC9FD1C3A}</a:tableStyleId>
              </a:tblPr>
              <a:tblGrid>
                <a:gridCol w="3789680">
                  <a:extLst>
                    <a:ext uri="{9D8B030D-6E8A-4147-A177-3AD203B41FA5}">
                      <a16:colId xmlns:a16="http://schemas.microsoft.com/office/drawing/2014/main" val="996156142"/>
                    </a:ext>
                  </a:extLst>
                </a:gridCol>
                <a:gridCol w="3789680">
                  <a:extLst>
                    <a:ext uri="{9D8B030D-6E8A-4147-A177-3AD203B41FA5}">
                      <a16:colId xmlns:a16="http://schemas.microsoft.com/office/drawing/2014/main" val="2718354043"/>
                    </a:ext>
                  </a:extLst>
                </a:gridCol>
              </a:tblGrid>
              <a:tr h="370840">
                <a:tc>
                  <a:txBody>
                    <a:bodyPr/>
                    <a:lstStyle/>
                    <a:p>
                      <a:r>
                        <a:rPr lang="en-ID" dirty="0"/>
                        <a:t>Bore Receptacle Length – 3 Meters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dirty="0"/>
                        <a:t>Bore Receptacle Length – 5 Meters</a:t>
                      </a:r>
                    </a:p>
                  </a:txBody>
                  <a:tcPr/>
                </a:tc>
                <a:extLst>
                  <a:ext uri="{0D108BD9-81ED-4DB2-BD59-A6C34878D82A}">
                    <a16:rowId xmlns:a16="http://schemas.microsoft.com/office/drawing/2014/main" val="3087817242"/>
                  </a:ext>
                </a:extLst>
              </a:tr>
              <a:tr h="370840">
                <a:tc>
                  <a:txBody>
                    <a:bodyPr/>
                    <a:lstStyle/>
                    <a:p>
                      <a:r>
                        <a:rPr lang="en-US" dirty="0"/>
                        <a:t>Run 13-3/8” Tie Back Liner</a:t>
                      </a:r>
                    </a:p>
                    <a:p>
                      <a:r>
                        <a:rPr lang="en-US" dirty="0"/>
                        <a:t>MU 85% make torque last 2 joints</a:t>
                      </a:r>
                    </a:p>
                    <a:p>
                      <a:r>
                        <a:rPr lang="en-US" dirty="0"/>
                        <a:t>Tag to bottom</a:t>
                      </a:r>
                    </a:p>
                    <a:p>
                      <a:r>
                        <a:rPr lang="en-US" dirty="0"/>
                        <a:t>Space out</a:t>
                      </a:r>
                    </a:p>
                    <a:p>
                      <a:r>
                        <a:rPr lang="en-US" dirty="0"/>
                        <a:t>POOH and Laid down last 2 joints</a:t>
                      </a:r>
                    </a:p>
                    <a:p>
                      <a:r>
                        <a:rPr lang="en-ID" dirty="0"/>
                        <a:t>MU Pre-welded Wellhead</a:t>
                      </a:r>
                    </a:p>
                    <a:p>
                      <a:r>
                        <a:rPr lang="en-ID" dirty="0"/>
                        <a:t>Land on C plate</a:t>
                      </a:r>
                    </a:p>
                    <a:p>
                      <a:r>
                        <a:rPr lang="en-ID" dirty="0"/>
                        <a:t>LD Landing Joint</a:t>
                      </a:r>
                    </a:p>
                    <a:p>
                      <a:r>
                        <a:rPr lang="en-ID" dirty="0"/>
                        <a:t>RIH Inner string</a:t>
                      </a:r>
                    </a:p>
                    <a:p>
                      <a:r>
                        <a:rPr lang="en-ID" dirty="0"/>
                        <a:t>Cementing</a:t>
                      </a:r>
                    </a:p>
                  </a:txBody>
                  <a:tcPr/>
                </a:tc>
                <a:tc>
                  <a:txBody>
                    <a:bodyPr/>
                    <a:lstStyle/>
                    <a:p>
                      <a:r>
                        <a:rPr lang="en-US" dirty="0"/>
                        <a:t>Run 13-3/8” Tie Back Liner</a:t>
                      </a:r>
                    </a:p>
                    <a:p>
                      <a:endParaRPr lang="en-US" dirty="0"/>
                    </a:p>
                    <a:p>
                      <a:endParaRPr lang="en-US" dirty="0"/>
                    </a:p>
                    <a:p>
                      <a:endParaRPr lang="en-US" dirty="0"/>
                    </a:p>
                    <a:p>
                      <a:endParaRPr lang="en-US" dirty="0"/>
                    </a:p>
                    <a:p>
                      <a:r>
                        <a:rPr lang="en-ID" dirty="0"/>
                        <a:t>MU Pre-welded Wellhead</a:t>
                      </a:r>
                    </a:p>
                    <a:p>
                      <a:r>
                        <a:rPr lang="en-ID" dirty="0"/>
                        <a:t>Land on C plate</a:t>
                      </a:r>
                    </a:p>
                    <a:p>
                      <a:r>
                        <a:rPr lang="en-ID" dirty="0"/>
                        <a:t>LD Landing Joint</a:t>
                      </a:r>
                    </a:p>
                    <a:p>
                      <a:r>
                        <a:rPr lang="en-ID" dirty="0"/>
                        <a:t>RIH Inner string</a:t>
                      </a:r>
                    </a:p>
                    <a:p>
                      <a:r>
                        <a:rPr lang="en-ID" dirty="0"/>
                        <a:t>Cementing</a:t>
                      </a:r>
                    </a:p>
                  </a:txBody>
                  <a:tcPr/>
                </a:tc>
                <a:extLst>
                  <a:ext uri="{0D108BD9-81ED-4DB2-BD59-A6C34878D82A}">
                    <a16:rowId xmlns:a16="http://schemas.microsoft.com/office/drawing/2014/main" val="46127741"/>
                  </a:ext>
                </a:extLst>
              </a:tr>
              <a:tr h="370840">
                <a:tc>
                  <a:txBody>
                    <a:bodyPr/>
                    <a:lstStyle/>
                    <a:p>
                      <a:endParaRPr lang="en-ID"/>
                    </a:p>
                  </a:txBody>
                  <a:tcPr/>
                </a:tc>
                <a:tc>
                  <a:txBody>
                    <a:bodyPr/>
                    <a:lstStyle/>
                    <a:p>
                      <a:r>
                        <a:rPr lang="en-US" dirty="0"/>
                        <a:t>Rig Time Cost Saving = USD 11.7 K</a:t>
                      </a:r>
                    </a:p>
                    <a:p>
                      <a:r>
                        <a:rPr lang="en-US" dirty="0"/>
                        <a:t>Cost for longer BR = USD 2 K</a:t>
                      </a:r>
                    </a:p>
                    <a:p>
                      <a:endParaRPr lang="en-US" dirty="0"/>
                    </a:p>
                    <a:p>
                      <a:r>
                        <a:rPr lang="en-US" sz="2000" b="1" dirty="0">
                          <a:solidFill>
                            <a:srgbClr val="C00000"/>
                          </a:solidFill>
                        </a:rPr>
                        <a:t>Net Cost Saving = USD 9.7 K</a:t>
                      </a:r>
                      <a:endParaRPr lang="en-ID" sz="2000" b="1" dirty="0">
                        <a:solidFill>
                          <a:srgbClr val="C00000"/>
                        </a:solidFill>
                      </a:endParaRPr>
                    </a:p>
                  </a:txBody>
                  <a:tcPr/>
                </a:tc>
                <a:extLst>
                  <a:ext uri="{0D108BD9-81ED-4DB2-BD59-A6C34878D82A}">
                    <a16:rowId xmlns:a16="http://schemas.microsoft.com/office/drawing/2014/main" val="3688666634"/>
                  </a:ext>
                </a:extLst>
              </a:tr>
            </a:tbl>
          </a:graphicData>
        </a:graphic>
      </p:graphicFrame>
      <p:sp>
        <p:nvSpPr>
          <p:cNvPr id="9" name="Right Brace 8">
            <a:extLst>
              <a:ext uri="{FF2B5EF4-FFF2-40B4-BE49-F238E27FC236}">
                <a16:creationId xmlns:a16="http://schemas.microsoft.com/office/drawing/2014/main" id="{091EDA14-9BCA-4A3B-A4BE-E3EC1C2FA184}"/>
              </a:ext>
            </a:extLst>
          </p:cNvPr>
          <p:cNvSpPr/>
          <p:nvPr/>
        </p:nvSpPr>
        <p:spPr>
          <a:xfrm>
            <a:off x="7680739" y="2306320"/>
            <a:ext cx="284480" cy="1026160"/>
          </a:xfrm>
          <a:prstGeom prst="rightBrace">
            <a:avLst/>
          </a:prstGeom>
          <a:ln w="31750">
            <a:solidFill>
              <a:srgbClr val="FF0000"/>
            </a:solidFill>
            <a:prstDash val="sysDash"/>
            <a:extLst>
              <a:ext uri="{C807C97D-BFC1-408E-A445-0C87EB9F89A2}">
                <ask:lineSketchStyleProps xmlns:ask="http://schemas.microsoft.com/office/drawing/2018/sketchyshapes" sd="1219033472">
                  <a:custGeom>
                    <a:avLst/>
                    <a:gdLst>
                      <a:gd name="connsiteX0" fmla="*/ 0 w 284480"/>
                      <a:gd name="connsiteY0" fmla="*/ 0 h 1026160"/>
                      <a:gd name="connsiteX1" fmla="*/ 142240 w 284480"/>
                      <a:gd name="connsiteY1" fmla="*/ 23706 h 1026160"/>
                      <a:gd name="connsiteX2" fmla="*/ 142240 w 284480"/>
                      <a:gd name="connsiteY2" fmla="*/ 489374 h 1026160"/>
                      <a:gd name="connsiteX3" fmla="*/ 284480 w 284480"/>
                      <a:gd name="connsiteY3" fmla="*/ 513080 h 1026160"/>
                      <a:gd name="connsiteX4" fmla="*/ 142240 w 284480"/>
                      <a:gd name="connsiteY4" fmla="*/ 536786 h 1026160"/>
                      <a:gd name="connsiteX5" fmla="*/ 142240 w 284480"/>
                      <a:gd name="connsiteY5" fmla="*/ 1002454 h 1026160"/>
                      <a:gd name="connsiteX6" fmla="*/ 0 w 284480"/>
                      <a:gd name="connsiteY6" fmla="*/ 1026160 h 1026160"/>
                      <a:gd name="connsiteX7" fmla="*/ 0 w 284480"/>
                      <a:gd name="connsiteY7" fmla="*/ 0 h 1026160"/>
                      <a:gd name="connsiteX0" fmla="*/ 0 w 284480"/>
                      <a:gd name="connsiteY0" fmla="*/ 0 h 1026160"/>
                      <a:gd name="connsiteX1" fmla="*/ 142240 w 284480"/>
                      <a:gd name="connsiteY1" fmla="*/ 23706 h 1026160"/>
                      <a:gd name="connsiteX2" fmla="*/ 142240 w 284480"/>
                      <a:gd name="connsiteY2" fmla="*/ 489374 h 1026160"/>
                      <a:gd name="connsiteX3" fmla="*/ 284480 w 284480"/>
                      <a:gd name="connsiteY3" fmla="*/ 513080 h 1026160"/>
                      <a:gd name="connsiteX4" fmla="*/ 142240 w 284480"/>
                      <a:gd name="connsiteY4" fmla="*/ 536786 h 1026160"/>
                      <a:gd name="connsiteX5" fmla="*/ 142240 w 284480"/>
                      <a:gd name="connsiteY5" fmla="*/ 1002454 h 1026160"/>
                      <a:gd name="connsiteX6" fmla="*/ 0 w 284480"/>
                      <a:gd name="connsiteY6" fmla="*/ 1026160 h 10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480" h="1026160" stroke="0" extrusionOk="0">
                        <a:moveTo>
                          <a:pt x="0" y="0"/>
                        </a:moveTo>
                        <a:cubicBezTo>
                          <a:pt x="76460" y="-1293"/>
                          <a:pt x="141156" y="11021"/>
                          <a:pt x="142240" y="23706"/>
                        </a:cubicBezTo>
                        <a:cubicBezTo>
                          <a:pt x="171402" y="141960"/>
                          <a:pt x="166822" y="287334"/>
                          <a:pt x="142240" y="489374"/>
                        </a:cubicBezTo>
                        <a:cubicBezTo>
                          <a:pt x="136526" y="508046"/>
                          <a:pt x="204744" y="519599"/>
                          <a:pt x="284480" y="513080"/>
                        </a:cubicBezTo>
                        <a:cubicBezTo>
                          <a:pt x="203650" y="511836"/>
                          <a:pt x="144342" y="524698"/>
                          <a:pt x="142240" y="536786"/>
                        </a:cubicBezTo>
                        <a:cubicBezTo>
                          <a:pt x="183883" y="762664"/>
                          <a:pt x="134661" y="878721"/>
                          <a:pt x="142240" y="1002454"/>
                        </a:cubicBezTo>
                        <a:cubicBezTo>
                          <a:pt x="137689" y="1014849"/>
                          <a:pt x="69874" y="1034335"/>
                          <a:pt x="0" y="1026160"/>
                        </a:cubicBezTo>
                        <a:cubicBezTo>
                          <a:pt x="59408" y="808800"/>
                          <a:pt x="-42883" y="467345"/>
                          <a:pt x="0" y="0"/>
                        </a:cubicBezTo>
                        <a:close/>
                      </a:path>
                      <a:path w="284480" h="1026160" fill="none" extrusionOk="0">
                        <a:moveTo>
                          <a:pt x="0" y="0"/>
                        </a:moveTo>
                        <a:cubicBezTo>
                          <a:pt x="79273" y="401"/>
                          <a:pt x="143610" y="10943"/>
                          <a:pt x="142240" y="23706"/>
                        </a:cubicBezTo>
                        <a:cubicBezTo>
                          <a:pt x="152321" y="202566"/>
                          <a:pt x="172245" y="432272"/>
                          <a:pt x="142240" y="489374"/>
                        </a:cubicBezTo>
                        <a:cubicBezTo>
                          <a:pt x="147848" y="510814"/>
                          <a:pt x="206858" y="522762"/>
                          <a:pt x="284480" y="513080"/>
                        </a:cubicBezTo>
                        <a:cubicBezTo>
                          <a:pt x="207064" y="514837"/>
                          <a:pt x="143258" y="524941"/>
                          <a:pt x="142240" y="536786"/>
                        </a:cubicBezTo>
                        <a:cubicBezTo>
                          <a:pt x="111579" y="650821"/>
                          <a:pt x="100809" y="936508"/>
                          <a:pt x="142240" y="1002454"/>
                        </a:cubicBezTo>
                        <a:cubicBezTo>
                          <a:pt x="135578" y="1016640"/>
                          <a:pt x="73088" y="1022386"/>
                          <a:pt x="0" y="1026160"/>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sp>
        <p:nvSpPr>
          <p:cNvPr id="10" name="TextBox 9">
            <a:extLst>
              <a:ext uri="{FF2B5EF4-FFF2-40B4-BE49-F238E27FC236}">
                <a16:creationId xmlns:a16="http://schemas.microsoft.com/office/drawing/2014/main" id="{12A0E8B3-229B-4A07-BC6A-AC29A333FCA5}"/>
              </a:ext>
            </a:extLst>
          </p:cNvPr>
          <p:cNvSpPr txBox="1"/>
          <p:nvPr/>
        </p:nvSpPr>
        <p:spPr>
          <a:xfrm>
            <a:off x="8056880" y="2634734"/>
            <a:ext cx="2306320" cy="369332"/>
          </a:xfrm>
          <a:prstGeom prst="rect">
            <a:avLst/>
          </a:prstGeom>
          <a:solidFill>
            <a:srgbClr val="FFFF99"/>
          </a:solidFill>
        </p:spPr>
        <p:txBody>
          <a:bodyPr wrap="square" rtlCol="0">
            <a:spAutoFit/>
          </a:bodyPr>
          <a:lstStyle/>
          <a:p>
            <a:r>
              <a:rPr lang="en-US" b="1" dirty="0">
                <a:solidFill>
                  <a:srgbClr val="C00000"/>
                </a:solidFill>
              </a:rPr>
              <a:t>Rig time = 4 hours </a:t>
            </a:r>
            <a:endParaRPr lang="en-ID" b="1" dirty="0">
              <a:solidFill>
                <a:srgbClr val="C00000"/>
              </a:solidFill>
            </a:endParaRPr>
          </a:p>
        </p:txBody>
      </p:sp>
    </p:spTree>
    <p:extLst>
      <p:ext uri="{BB962C8B-B14F-4D97-AF65-F5344CB8AC3E}">
        <p14:creationId xmlns:p14="http://schemas.microsoft.com/office/powerpoint/2010/main" val="191747245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8E64-98CF-B000-097E-DC67ACF98796}"/>
              </a:ext>
            </a:extLst>
          </p:cNvPr>
          <p:cNvSpPr>
            <a:spLocks noGrp="1"/>
          </p:cNvSpPr>
          <p:nvPr>
            <p:ph type="title"/>
          </p:nvPr>
        </p:nvSpPr>
        <p:spPr/>
        <p:txBody>
          <a:bodyPr/>
          <a:lstStyle/>
          <a:p>
            <a:r>
              <a:rPr lang="en-US" dirty="0"/>
              <a:t>Tie Back Cementing Bond Improvement</a:t>
            </a:r>
            <a:endParaRPr lang="en-ID" dirty="0"/>
          </a:p>
        </p:txBody>
      </p:sp>
      <p:pic>
        <p:nvPicPr>
          <p:cNvPr id="5" name="Picture 4">
            <a:extLst>
              <a:ext uri="{FF2B5EF4-FFF2-40B4-BE49-F238E27FC236}">
                <a16:creationId xmlns:a16="http://schemas.microsoft.com/office/drawing/2014/main" id="{343D3FFA-63B7-CBEA-FADB-934C328439C4}"/>
              </a:ext>
            </a:extLst>
          </p:cNvPr>
          <p:cNvPicPr>
            <a:picLocks noChangeAspect="1"/>
          </p:cNvPicPr>
          <p:nvPr/>
        </p:nvPicPr>
        <p:blipFill>
          <a:blip r:embed="rId2"/>
          <a:stretch>
            <a:fillRect/>
          </a:stretch>
        </p:blipFill>
        <p:spPr>
          <a:xfrm>
            <a:off x="6621776" y="1240394"/>
            <a:ext cx="5296670" cy="5169550"/>
          </a:xfrm>
          <a:prstGeom prst="rect">
            <a:avLst/>
          </a:prstGeom>
        </p:spPr>
      </p:pic>
      <p:pic>
        <p:nvPicPr>
          <p:cNvPr id="6" name="Picture 5">
            <a:extLst>
              <a:ext uri="{FF2B5EF4-FFF2-40B4-BE49-F238E27FC236}">
                <a16:creationId xmlns:a16="http://schemas.microsoft.com/office/drawing/2014/main" id="{A1347C8C-05BC-7F25-1787-11F02B3BC488}"/>
              </a:ext>
            </a:extLst>
          </p:cNvPr>
          <p:cNvPicPr>
            <a:picLocks noChangeAspect="1"/>
          </p:cNvPicPr>
          <p:nvPr/>
        </p:nvPicPr>
        <p:blipFill>
          <a:blip r:embed="rId3"/>
          <a:stretch>
            <a:fillRect/>
          </a:stretch>
        </p:blipFill>
        <p:spPr>
          <a:xfrm>
            <a:off x="395400" y="1721415"/>
            <a:ext cx="5982900" cy="2308324"/>
          </a:xfrm>
          <a:prstGeom prst="rect">
            <a:avLst/>
          </a:prstGeom>
        </p:spPr>
      </p:pic>
      <p:sp>
        <p:nvSpPr>
          <p:cNvPr id="7" name="Arrow: Right 6">
            <a:extLst>
              <a:ext uri="{FF2B5EF4-FFF2-40B4-BE49-F238E27FC236}">
                <a16:creationId xmlns:a16="http://schemas.microsoft.com/office/drawing/2014/main" id="{49A5E192-5629-DAEA-9EB8-64ACD94BCB4F}"/>
              </a:ext>
            </a:extLst>
          </p:cNvPr>
          <p:cNvSpPr/>
          <p:nvPr/>
        </p:nvSpPr>
        <p:spPr>
          <a:xfrm>
            <a:off x="6253391" y="3007552"/>
            <a:ext cx="457200" cy="722349"/>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D"/>
          </a:p>
        </p:txBody>
      </p:sp>
      <p:sp>
        <p:nvSpPr>
          <p:cNvPr id="3" name="TextBox 2">
            <a:extLst>
              <a:ext uri="{FF2B5EF4-FFF2-40B4-BE49-F238E27FC236}">
                <a16:creationId xmlns:a16="http://schemas.microsoft.com/office/drawing/2014/main" id="{34D1CF87-BC04-15DD-9324-11668C2287D6}"/>
              </a:ext>
            </a:extLst>
          </p:cNvPr>
          <p:cNvSpPr txBox="1"/>
          <p:nvPr/>
        </p:nvSpPr>
        <p:spPr>
          <a:xfrm>
            <a:off x="273554" y="4138448"/>
            <a:ext cx="6348222" cy="2308324"/>
          </a:xfrm>
          <a:prstGeom prst="rect">
            <a:avLst/>
          </a:prstGeom>
          <a:noFill/>
        </p:spPr>
        <p:txBody>
          <a:bodyPr wrap="square" rtlCol="0">
            <a:spAutoFit/>
          </a:bodyPr>
          <a:lstStyle/>
          <a:p>
            <a:pPr marL="285750" indent="-285750">
              <a:buFont typeface="Arial" panose="020B0604020202020204" pitchFamily="34" charset="0"/>
              <a:buChar char="•"/>
            </a:pPr>
            <a:r>
              <a:rPr lang="en-US" dirty="0"/>
              <a:t>During primary cementing of 13-3/8” Liner, any possibility cement exist above TOL (return during cementing or drop cement above TOL). It’s must be cleaned out before running 13-3/8” Tie Back casing.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C00000"/>
                </a:solidFill>
              </a:rPr>
              <a:t>Concerns: </a:t>
            </a:r>
            <a:r>
              <a:rPr lang="en-US" dirty="0"/>
              <a:t>Clean out using 17-1/2” bit, it could be un-able to remove all cement and may remain cement layer along 20” casing ID (0.615” - 1.23” thickness).</a:t>
            </a:r>
            <a:endParaRPr lang="en-ID" dirty="0"/>
          </a:p>
        </p:txBody>
      </p:sp>
    </p:spTree>
    <p:extLst>
      <p:ext uri="{BB962C8B-B14F-4D97-AF65-F5344CB8AC3E}">
        <p14:creationId xmlns:p14="http://schemas.microsoft.com/office/powerpoint/2010/main" val="315396391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8E64-98CF-B000-097E-DC67ACF98796}"/>
              </a:ext>
            </a:extLst>
          </p:cNvPr>
          <p:cNvSpPr>
            <a:spLocks noGrp="1"/>
          </p:cNvSpPr>
          <p:nvPr>
            <p:ph type="title"/>
          </p:nvPr>
        </p:nvSpPr>
        <p:spPr/>
        <p:txBody>
          <a:bodyPr/>
          <a:lstStyle/>
          <a:p>
            <a:r>
              <a:rPr lang="en-US" dirty="0"/>
              <a:t>Tie Back Cementing Bond Improvement</a:t>
            </a:r>
            <a:endParaRPr lang="en-ID" dirty="0"/>
          </a:p>
        </p:txBody>
      </p:sp>
      <p:pic>
        <p:nvPicPr>
          <p:cNvPr id="5" name="Picture 4">
            <a:extLst>
              <a:ext uri="{FF2B5EF4-FFF2-40B4-BE49-F238E27FC236}">
                <a16:creationId xmlns:a16="http://schemas.microsoft.com/office/drawing/2014/main" id="{343D3FFA-63B7-CBEA-FADB-934C328439C4}"/>
              </a:ext>
            </a:extLst>
          </p:cNvPr>
          <p:cNvPicPr>
            <a:picLocks noChangeAspect="1"/>
          </p:cNvPicPr>
          <p:nvPr/>
        </p:nvPicPr>
        <p:blipFill>
          <a:blip r:embed="rId2"/>
          <a:stretch>
            <a:fillRect/>
          </a:stretch>
        </p:blipFill>
        <p:spPr>
          <a:xfrm>
            <a:off x="521208" y="1240394"/>
            <a:ext cx="5296670" cy="5169550"/>
          </a:xfrm>
          <a:prstGeom prst="rect">
            <a:avLst/>
          </a:prstGeom>
        </p:spPr>
      </p:pic>
      <p:sp>
        <p:nvSpPr>
          <p:cNvPr id="4" name="TextBox 3">
            <a:extLst>
              <a:ext uri="{FF2B5EF4-FFF2-40B4-BE49-F238E27FC236}">
                <a16:creationId xmlns:a16="http://schemas.microsoft.com/office/drawing/2014/main" id="{D1D31941-4854-2834-54AE-E5DA191F5B88}"/>
              </a:ext>
            </a:extLst>
          </p:cNvPr>
          <p:cNvSpPr txBox="1"/>
          <p:nvPr/>
        </p:nvSpPr>
        <p:spPr>
          <a:xfrm>
            <a:off x="5817878" y="1331453"/>
            <a:ext cx="6183972" cy="4524315"/>
          </a:xfrm>
          <a:prstGeom prst="rect">
            <a:avLst/>
          </a:prstGeom>
          <a:noFill/>
        </p:spPr>
        <p:txBody>
          <a:bodyPr wrap="square" rtlCol="0">
            <a:spAutoFit/>
          </a:bodyPr>
          <a:lstStyle/>
          <a:p>
            <a:r>
              <a:rPr lang="en-US" dirty="0"/>
              <a:t>As mitigation the concerns: Clean out using 17-1/2” bit, it could be un-able to remove all cement and may remain cement layer along 20” casing ID (0.615” - 1.23” thickness):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17-1/2” ROTARY Clean Out BHA (Straight BHA) may not able to clean out hard cement.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ym typeface="Wingdings" panose="05000000000000000000" pitchFamily="2" charset="2"/>
              </a:rPr>
              <a:t>Option-1: </a:t>
            </a:r>
            <a:r>
              <a:rPr lang="en-US" b="1" dirty="0">
                <a:solidFill>
                  <a:srgbClr val="C00000"/>
                </a:solidFill>
                <a:sym typeface="Wingdings" panose="05000000000000000000" pitchFamily="2" charset="2"/>
              </a:rPr>
              <a:t>Run 20” casing scraper </a:t>
            </a:r>
            <a:r>
              <a:rPr lang="en-US" dirty="0">
                <a:sym typeface="Wingdings" panose="05000000000000000000" pitchFamily="2" charset="2"/>
              </a:rPr>
              <a:t>to remove the remaining cement seat, however the availability of 20” casing scraper is rare in this country. If available will be costly.</a:t>
            </a:r>
            <a:endParaRPr lang="en-ID"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Option-2: To run 17-1/2” Clean Out BHA with </a:t>
            </a:r>
            <a:r>
              <a:rPr lang="en-US" b="1" dirty="0">
                <a:solidFill>
                  <a:srgbClr val="C00000"/>
                </a:solidFill>
              </a:rPr>
              <a:t>9-1/2” Mud Motor with 1.15˚ bend</a:t>
            </a:r>
            <a:r>
              <a:rPr lang="en-US" dirty="0"/>
              <a:t> </a:t>
            </a:r>
            <a:r>
              <a:rPr lang="en-US" dirty="0">
                <a:sym typeface="Wingdings" panose="05000000000000000000" pitchFamily="2" charset="2"/>
              </a:rPr>
              <a:t> hopefully could remove remaining cement seat.</a:t>
            </a:r>
          </a:p>
          <a:p>
            <a:pPr marL="285750" indent="-285750">
              <a:buFont typeface="Arial" panose="020B0604020202020204" pitchFamily="34" charset="0"/>
              <a:buChar char="•"/>
            </a:pPr>
            <a:endParaRPr lang="en-US" dirty="0">
              <a:sym typeface="Wingdings" panose="05000000000000000000" pitchFamily="2" charset="2"/>
            </a:endParaRPr>
          </a:p>
        </p:txBody>
      </p:sp>
      <p:pic>
        <p:nvPicPr>
          <p:cNvPr id="8" name="Picture 7">
            <a:extLst>
              <a:ext uri="{FF2B5EF4-FFF2-40B4-BE49-F238E27FC236}">
                <a16:creationId xmlns:a16="http://schemas.microsoft.com/office/drawing/2014/main" id="{CCF62256-3F72-4C4C-ED9B-01A6A1BB557D}"/>
              </a:ext>
            </a:extLst>
          </p:cNvPr>
          <p:cNvPicPr>
            <a:picLocks noChangeAspect="1"/>
          </p:cNvPicPr>
          <p:nvPr/>
        </p:nvPicPr>
        <p:blipFill>
          <a:blip r:embed="rId3"/>
          <a:stretch>
            <a:fillRect/>
          </a:stretch>
        </p:blipFill>
        <p:spPr>
          <a:xfrm>
            <a:off x="8201375" y="5590345"/>
            <a:ext cx="3800475" cy="1200150"/>
          </a:xfrm>
          <a:prstGeom prst="rect">
            <a:avLst/>
          </a:prstGeom>
        </p:spPr>
      </p:pic>
    </p:spTree>
    <p:extLst>
      <p:ext uri="{BB962C8B-B14F-4D97-AF65-F5344CB8AC3E}">
        <p14:creationId xmlns:p14="http://schemas.microsoft.com/office/powerpoint/2010/main" val="16443928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9D9C-4D31-5F2F-8267-410C626521D3}"/>
              </a:ext>
            </a:extLst>
          </p:cNvPr>
          <p:cNvSpPr>
            <a:spLocks noGrp="1"/>
          </p:cNvSpPr>
          <p:nvPr>
            <p:ph type="title"/>
          </p:nvPr>
        </p:nvSpPr>
        <p:spPr>
          <a:xfrm>
            <a:off x="584791" y="393133"/>
            <a:ext cx="11057859" cy="640080"/>
          </a:xfrm>
        </p:spPr>
        <p:txBody>
          <a:bodyPr>
            <a:normAutofit/>
          </a:bodyPr>
          <a:lstStyle/>
          <a:p>
            <a:r>
              <a:rPr lang="en-US" dirty="0"/>
              <a:t>Casing Configuration, Float Equipment and Guide Shoe Design</a:t>
            </a:r>
            <a:endParaRPr lang="en-ID" dirty="0"/>
          </a:p>
        </p:txBody>
      </p:sp>
      <p:pic>
        <p:nvPicPr>
          <p:cNvPr id="5" name="Picture 4">
            <a:extLst>
              <a:ext uri="{FF2B5EF4-FFF2-40B4-BE49-F238E27FC236}">
                <a16:creationId xmlns:a16="http://schemas.microsoft.com/office/drawing/2014/main" id="{3C13E743-5FC5-78A2-8CF4-511E718A9AE9}"/>
              </a:ext>
            </a:extLst>
          </p:cNvPr>
          <p:cNvPicPr>
            <a:picLocks noChangeAspect="1"/>
          </p:cNvPicPr>
          <p:nvPr/>
        </p:nvPicPr>
        <p:blipFill>
          <a:blip r:embed="rId3"/>
          <a:stretch>
            <a:fillRect/>
          </a:stretch>
        </p:blipFill>
        <p:spPr>
          <a:xfrm>
            <a:off x="1929319" y="4655693"/>
            <a:ext cx="1280208" cy="1303344"/>
          </a:xfrm>
          <a:prstGeom prst="rect">
            <a:avLst/>
          </a:prstGeom>
        </p:spPr>
      </p:pic>
      <p:pic>
        <p:nvPicPr>
          <p:cNvPr id="7" name="Picture 6">
            <a:extLst>
              <a:ext uri="{FF2B5EF4-FFF2-40B4-BE49-F238E27FC236}">
                <a16:creationId xmlns:a16="http://schemas.microsoft.com/office/drawing/2014/main" id="{B44CDD72-4C7E-C3E9-A4AA-B9590FC6EBBE}"/>
              </a:ext>
            </a:extLst>
          </p:cNvPr>
          <p:cNvPicPr>
            <a:picLocks noChangeAspect="1"/>
          </p:cNvPicPr>
          <p:nvPr/>
        </p:nvPicPr>
        <p:blipFill rotWithShape="1">
          <a:blip r:embed="rId4"/>
          <a:srcRect r="30378"/>
          <a:stretch/>
        </p:blipFill>
        <p:spPr>
          <a:xfrm>
            <a:off x="9700997" y="1347250"/>
            <a:ext cx="2243764" cy="2402788"/>
          </a:xfrm>
          <a:prstGeom prst="rect">
            <a:avLst/>
          </a:prstGeom>
        </p:spPr>
      </p:pic>
      <p:pic>
        <p:nvPicPr>
          <p:cNvPr id="9" name="Picture 8">
            <a:extLst>
              <a:ext uri="{FF2B5EF4-FFF2-40B4-BE49-F238E27FC236}">
                <a16:creationId xmlns:a16="http://schemas.microsoft.com/office/drawing/2014/main" id="{A8A93107-3899-AEEB-4B22-E4373B863950}"/>
              </a:ext>
            </a:extLst>
          </p:cNvPr>
          <p:cNvPicPr>
            <a:picLocks noChangeAspect="1"/>
          </p:cNvPicPr>
          <p:nvPr/>
        </p:nvPicPr>
        <p:blipFill>
          <a:blip r:embed="rId5"/>
          <a:stretch>
            <a:fillRect/>
          </a:stretch>
        </p:blipFill>
        <p:spPr>
          <a:xfrm>
            <a:off x="291963" y="3012963"/>
            <a:ext cx="1171264" cy="1375291"/>
          </a:xfrm>
          <a:prstGeom prst="rect">
            <a:avLst/>
          </a:prstGeom>
        </p:spPr>
      </p:pic>
      <p:pic>
        <p:nvPicPr>
          <p:cNvPr id="11" name="Picture 10">
            <a:extLst>
              <a:ext uri="{FF2B5EF4-FFF2-40B4-BE49-F238E27FC236}">
                <a16:creationId xmlns:a16="http://schemas.microsoft.com/office/drawing/2014/main" id="{BF4B0814-E8EC-34CA-7591-BDBD47DCC180}"/>
              </a:ext>
            </a:extLst>
          </p:cNvPr>
          <p:cNvPicPr>
            <a:picLocks noChangeAspect="1"/>
          </p:cNvPicPr>
          <p:nvPr/>
        </p:nvPicPr>
        <p:blipFill>
          <a:blip r:embed="rId6"/>
          <a:stretch>
            <a:fillRect/>
          </a:stretch>
        </p:blipFill>
        <p:spPr>
          <a:xfrm>
            <a:off x="291963" y="1241992"/>
            <a:ext cx="1167096" cy="1452055"/>
          </a:xfrm>
          <a:prstGeom prst="rect">
            <a:avLst/>
          </a:prstGeom>
        </p:spPr>
      </p:pic>
      <p:pic>
        <p:nvPicPr>
          <p:cNvPr id="13" name="Picture 12">
            <a:extLst>
              <a:ext uri="{FF2B5EF4-FFF2-40B4-BE49-F238E27FC236}">
                <a16:creationId xmlns:a16="http://schemas.microsoft.com/office/drawing/2014/main" id="{62973399-D59B-A6A2-2B31-BE43DA9C0583}"/>
              </a:ext>
            </a:extLst>
          </p:cNvPr>
          <p:cNvPicPr>
            <a:picLocks noChangeAspect="1"/>
          </p:cNvPicPr>
          <p:nvPr/>
        </p:nvPicPr>
        <p:blipFill>
          <a:blip r:embed="rId7"/>
          <a:stretch>
            <a:fillRect/>
          </a:stretch>
        </p:blipFill>
        <p:spPr>
          <a:xfrm>
            <a:off x="291963" y="4707171"/>
            <a:ext cx="1167096" cy="1303343"/>
          </a:xfrm>
          <a:prstGeom prst="rect">
            <a:avLst/>
          </a:prstGeom>
        </p:spPr>
      </p:pic>
      <p:pic>
        <p:nvPicPr>
          <p:cNvPr id="15" name="Picture 14">
            <a:extLst>
              <a:ext uri="{FF2B5EF4-FFF2-40B4-BE49-F238E27FC236}">
                <a16:creationId xmlns:a16="http://schemas.microsoft.com/office/drawing/2014/main" id="{DB536A4B-CDDA-6C35-B883-9DB44B2BDAD8}"/>
              </a:ext>
            </a:extLst>
          </p:cNvPr>
          <p:cNvPicPr>
            <a:picLocks noChangeAspect="1"/>
          </p:cNvPicPr>
          <p:nvPr/>
        </p:nvPicPr>
        <p:blipFill>
          <a:blip r:embed="rId8"/>
          <a:stretch>
            <a:fillRect/>
          </a:stretch>
        </p:blipFill>
        <p:spPr>
          <a:xfrm>
            <a:off x="7852282" y="1347250"/>
            <a:ext cx="1751812" cy="2402788"/>
          </a:xfrm>
          <a:prstGeom prst="rect">
            <a:avLst/>
          </a:prstGeom>
        </p:spPr>
      </p:pic>
      <p:sp>
        <p:nvSpPr>
          <p:cNvPr id="19" name="TextBox 18">
            <a:extLst>
              <a:ext uri="{FF2B5EF4-FFF2-40B4-BE49-F238E27FC236}">
                <a16:creationId xmlns:a16="http://schemas.microsoft.com/office/drawing/2014/main" id="{F7B7994F-4AFA-1BA0-A12D-4F5854E01BC8}"/>
              </a:ext>
            </a:extLst>
          </p:cNvPr>
          <p:cNvSpPr txBox="1"/>
          <p:nvPr/>
        </p:nvSpPr>
        <p:spPr>
          <a:xfrm>
            <a:off x="199921" y="2679651"/>
            <a:ext cx="3009606" cy="307777"/>
          </a:xfrm>
          <a:prstGeom prst="rect">
            <a:avLst/>
          </a:prstGeom>
          <a:noFill/>
        </p:spPr>
        <p:txBody>
          <a:bodyPr wrap="none" rtlCol="0">
            <a:spAutoFit/>
          </a:bodyPr>
          <a:lstStyle/>
          <a:p>
            <a:r>
              <a:rPr lang="en-US" sz="1400" dirty="0"/>
              <a:t>13-3/8” Stab In Float Collar, Cement</a:t>
            </a:r>
            <a:endParaRPr lang="en-ID" sz="1400" dirty="0"/>
          </a:p>
        </p:txBody>
      </p:sp>
      <p:sp>
        <p:nvSpPr>
          <p:cNvPr id="20" name="TextBox 19">
            <a:extLst>
              <a:ext uri="{FF2B5EF4-FFF2-40B4-BE49-F238E27FC236}">
                <a16:creationId xmlns:a16="http://schemas.microsoft.com/office/drawing/2014/main" id="{C3D161D5-2CDC-D58C-B1A0-F3CD99E3E4A1}"/>
              </a:ext>
            </a:extLst>
          </p:cNvPr>
          <p:cNvSpPr txBox="1"/>
          <p:nvPr/>
        </p:nvSpPr>
        <p:spPr>
          <a:xfrm>
            <a:off x="264215" y="4388254"/>
            <a:ext cx="2658677" cy="307777"/>
          </a:xfrm>
          <a:prstGeom prst="rect">
            <a:avLst/>
          </a:prstGeom>
          <a:noFill/>
        </p:spPr>
        <p:txBody>
          <a:bodyPr wrap="none" rtlCol="0">
            <a:spAutoFit/>
          </a:bodyPr>
          <a:lstStyle/>
          <a:p>
            <a:r>
              <a:rPr lang="en-US" sz="1400" dirty="0"/>
              <a:t>13-3/8” Landing Collar, Cement</a:t>
            </a:r>
            <a:endParaRPr lang="en-ID" sz="1400" dirty="0"/>
          </a:p>
        </p:txBody>
      </p:sp>
      <p:sp>
        <p:nvSpPr>
          <p:cNvPr id="21" name="TextBox 20">
            <a:extLst>
              <a:ext uri="{FF2B5EF4-FFF2-40B4-BE49-F238E27FC236}">
                <a16:creationId xmlns:a16="http://schemas.microsoft.com/office/drawing/2014/main" id="{00F1770C-3CD2-4DB6-F5BE-FB8B6519AB23}"/>
              </a:ext>
            </a:extLst>
          </p:cNvPr>
          <p:cNvSpPr txBox="1"/>
          <p:nvPr/>
        </p:nvSpPr>
        <p:spPr>
          <a:xfrm flipH="1">
            <a:off x="2084732" y="5869269"/>
            <a:ext cx="981494" cy="307777"/>
          </a:xfrm>
          <a:prstGeom prst="rect">
            <a:avLst/>
          </a:prstGeom>
          <a:noFill/>
        </p:spPr>
        <p:txBody>
          <a:bodyPr wrap="square" rtlCol="0">
            <a:spAutoFit/>
          </a:bodyPr>
          <a:lstStyle/>
          <a:p>
            <a:r>
              <a:rPr lang="en-US" sz="1400" dirty="0"/>
              <a:t>Cement</a:t>
            </a:r>
            <a:endParaRPr lang="en-ID" sz="1400" dirty="0"/>
          </a:p>
        </p:txBody>
      </p:sp>
      <p:sp>
        <p:nvSpPr>
          <p:cNvPr id="22" name="TextBox 21">
            <a:extLst>
              <a:ext uri="{FF2B5EF4-FFF2-40B4-BE49-F238E27FC236}">
                <a16:creationId xmlns:a16="http://schemas.microsoft.com/office/drawing/2014/main" id="{837FEFC2-C946-EF91-AC6A-01E8D48D0CB0}"/>
              </a:ext>
            </a:extLst>
          </p:cNvPr>
          <p:cNvSpPr txBox="1"/>
          <p:nvPr/>
        </p:nvSpPr>
        <p:spPr>
          <a:xfrm>
            <a:off x="959969" y="6160444"/>
            <a:ext cx="1962923" cy="307777"/>
          </a:xfrm>
          <a:prstGeom prst="rect">
            <a:avLst/>
          </a:prstGeom>
          <a:noFill/>
        </p:spPr>
        <p:txBody>
          <a:bodyPr wrap="square" rtlCol="0">
            <a:spAutoFit/>
          </a:bodyPr>
          <a:lstStyle/>
          <a:p>
            <a:r>
              <a:rPr lang="en-US" sz="1400" dirty="0"/>
              <a:t>13-3/8” Float Shoe</a:t>
            </a:r>
          </a:p>
        </p:txBody>
      </p:sp>
      <p:pic>
        <p:nvPicPr>
          <p:cNvPr id="23" name="Picture 22">
            <a:extLst>
              <a:ext uri="{FF2B5EF4-FFF2-40B4-BE49-F238E27FC236}">
                <a16:creationId xmlns:a16="http://schemas.microsoft.com/office/drawing/2014/main" id="{0C393D84-73D2-A62D-55B7-222413259AD8}"/>
              </a:ext>
            </a:extLst>
          </p:cNvPr>
          <p:cNvPicPr>
            <a:picLocks noChangeAspect="1"/>
          </p:cNvPicPr>
          <p:nvPr/>
        </p:nvPicPr>
        <p:blipFill>
          <a:blip r:embed="rId5"/>
          <a:stretch>
            <a:fillRect/>
          </a:stretch>
        </p:blipFill>
        <p:spPr>
          <a:xfrm>
            <a:off x="1945528" y="3062393"/>
            <a:ext cx="1171264" cy="1375291"/>
          </a:xfrm>
          <a:prstGeom prst="rect">
            <a:avLst/>
          </a:prstGeom>
        </p:spPr>
      </p:pic>
      <p:pic>
        <p:nvPicPr>
          <p:cNvPr id="24" name="Picture 23">
            <a:extLst>
              <a:ext uri="{FF2B5EF4-FFF2-40B4-BE49-F238E27FC236}">
                <a16:creationId xmlns:a16="http://schemas.microsoft.com/office/drawing/2014/main" id="{D014610F-2EE6-BF22-6816-34BBF06AC455}"/>
              </a:ext>
            </a:extLst>
          </p:cNvPr>
          <p:cNvPicPr>
            <a:picLocks noChangeAspect="1"/>
          </p:cNvPicPr>
          <p:nvPr/>
        </p:nvPicPr>
        <p:blipFill>
          <a:blip r:embed="rId6"/>
          <a:stretch>
            <a:fillRect/>
          </a:stretch>
        </p:blipFill>
        <p:spPr>
          <a:xfrm>
            <a:off x="1945528" y="1291422"/>
            <a:ext cx="1167096" cy="1452055"/>
          </a:xfrm>
          <a:prstGeom prst="rect">
            <a:avLst/>
          </a:prstGeom>
        </p:spPr>
      </p:pic>
      <p:sp>
        <p:nvSpPr>
          <p:cNvPr id="25" name="TextBox 24">
            <a:extLst>
              <a:ext uri="{FF2B5EF4-FFF2-40B4-BE49-F238E27FC236}">
                <a16:creationId xmlns:a16="http://schemas.microsoft.com/office/drawing/2014/main" id="{0BEDAA2E-6089-3331-695A-3F52815208FB}"/>
              </a:ext>
            </a:extLst>
          </p:cNvPr>
          <p:cNvSpPr txBox="1"/>
          <p:nvPr/>
        </p:nvSpPr>
        <p:spPr>
          <a:xfrm>
            <a:off x="7751424" y="3700608"/>
            <a:ext cx="1949573" cy="307777"/>
          </a:xfrm>
          <a:prstGeom prst="rect">
            <a:avLst/>
          </a:prstGeom>
          <a:noFill/>
        </p:spPr>
        <p:txBody>
          <a:bodyPr wrap="none" rtlCol="0">
            <a:spAutoFit/>
          </a:bodyPr>
          <a:lstStyle/>
          <a:p>
            <a:r>
              <a:rPr lang="en-US" sz="1400" dirty="0"/>
              <a:t>10-3/4” GS. Aluminum</a:t>
            </a:r>
            <a:endParaRPr lang="en-ID" sz="1400" dirty="0"/>
          </a:p>
        </p:txBody>
      </p:sp>
      <p:pic>
        <p:nvPicPr>
          <p:cNvPr id="27" name="Picture 26">
            <a:extLst>
              <a:ext uri="{FF2B5EF4-FFF2-40B4-BE49-F238E27FC236}">
                <a16:creationId xmlns:a16="http://schemas.microsoft.com/office/drawing/2014/main" id="{4D86AABB-E0BA-0F5C-3650-336F6DF9690E}"/>
              </a:ext>
            </a:extLst>
          </p:cNvPr>
          <p:cNvPicPr>
            <a:picLocks noChangeAspect="1"/>
          </p:cNvPicPr>
          <p:nvPr/>
        </p:nvPicPr>
        <p:blipFill>
          <a:blip r:embed="rId9"/>
          <a:stretch>
            <a:fillRect/>
          </a:stretch>
        </p:blipFill>
        <p:spPr>
          <a:xfrm>
            <a:off x="7852282" y="4240503"/>
            <a:ext cx="1604455" cy="2106130"/>
          </a:xfrm>
          <a:prstGeom prst="rect">
            <a:avLst/>
          </a:prstGeom>
        </p:spPr>
      </p:pic>
      <p:pic>
        <p:nvPicPr>
          <p:cNvPr id="29" name="Picture 28">
            <a:extLst>
              <a:ext uri="{FF2B5EF4-FFF2-40B4-BE49-F238E27FC236}">
                <a16:creationId xmlns:a16="http://schemas.microsoft.com/office/drawing/2014/main" id="{A608CA75-1BC4-A4FA-A133-F82A2F2EE379}"/>
              </a:ext>
            </a:extLst>
          </p:cNvPr>
          <p:cNvPicPr>
            <a:picLocks noChangeAspect="1"/>
          </p:cNvPicPr>
          <p:nvPr/>
        </p:nvPicPr>
        <p:blipFill rotWithShape="1">
          <a:blip r:embed="rId10"/>
          <a:srcRect r="1345"/>
          <a:stretch/>
        </p:blipFill>
        <p:spPr>
          <a:xfrm>
            <a:off x="9789267" y="4221021"/>
            <a:ext cx="2246755" cy="2247200"/>
          </a:xfrm>
          <a:prstGeom prst="rect">
            <a:avLst/>
          </a:prstGeom>
        </p:spPr>
      </p:pic>
      <p:sp>
        <p:nvSpPr>
          <p:cNvPr id="30" name="TextBox 29">
            <a:extLst>
              <a:ext uri="{FF2B5EF4-FFF2-40B4-BE49-F238E27FC236}">
                <a16:creationId xmlns:a16="http://schemas.microsoft.com/office/drawing/2014/main" id="{E06050C9-5118-D825-B773-63D6B08E5E95}"/>
              </a:ext>
            </a:extLst>
          </p:cNvPr>
          <p:cNvSpPr txBox="1"/>
          <p:nvPr/>
        </p:nvSpPr>
        <p:spPr>
          <a:xfrm>
            <a:off x="7727813" y="6361743"/>
            <a:ext cx="1853392" cy="307777"/>
          </a:xfrm>
          <a:prstGeom prst="rect">
            <a:avLst/>
          </a:prstGeom>
          <a:noFill/>
        </p:spPr>
        <p:txBody>
          <a:bodyPr wrap="none" rtlCol="0">
            <a:spAutoFit/>
          </a:bodyPr>
          <a:lstStyle/>
          <a:p>
            <a:r>
              <a:rPr lang="en-US" sz="1400" dirty="0"/>
              <a:t>8-5/8” GS. Aluminum</a:t>
            </a:r>
            <a:endParaRPr lang="en-ID" sz="1400" dirty="0"/>
          </a:p>
        </p:txBody>
      </p:sp>
      <p:sp>
        <p:nvSpPr>
          <p:cNvPr id="31" name="TextBox 30">
            <a:extLst>
              <a:ext uri="{FF2B5EF4-FFF2-40B4-BE49-F238E27FC236}">
                <a16:creationId xmlns:a16="http://schemas.microsoft.com/office/drawing/2014/main" id="{09A8D3CE-173D-4BFB-FC3C-4FF530C24E00}"/>
              </a:ext>
            </a:extLst>
          </p:cNvPr>
          <p:cNvSpPr txBox="1"/>
          <p:nvPr/>
        </p:nvSpPr>
        <p:spPr>
          <a:xfrm>
            <a:off x="9700997" y="3725323"/>
            <a:ext cx="1752403" cy="307777"/>
          </a:xfrm>
          <a:prstGeom prst="rect">
            <a:avLst/>
          </a:prstGeom>
          <a:noFill/>
        </p:spPr>
        <p:txBody>
          <a:bodyPr wrap="none" rtlCol="0">
            <a:spAutoFit/>
          </a:bodyPr>
          <a:lstStyle/>
          <a:p>
            <a:r>
              <a:rPr lang="en-US" sz="1400" dirty="0"/>
              <a:t>10-3/4” GS. Cement</a:t>
            </a:r>
            <a:endParaRPr lang="en-ID" sz="1400" dirty="0"/>
          </a:p>
        </p:txBody>
      </p:sp>
      <p:sp>
        <p:nvSpPr>
          <p:cNvPr id="32" name="TextBox 31">
            <a:extLst>
              <a:ext uri="{FF2B5EF4-FFF2-40B4-BE49-F238E27FC236}">
                <a16:creationId xmlns:a16="http://schemas.microsoft.com/office/drawing/2014/main" id="{148D0D51-4953-DD80-3281-73AE124BF7BD}"/>
              </a:ext>
            </a:extLst>
          </p:cNvPr>
          <p:cNvSpPr txBox="1"/>
          <p:nvPr/>
        </p:nvSpPr>
        <p:spPr>
          <a:xfrm>
            <a:off x="9846823" y="6425538"/>
            <a:ext cx="1656223" cy="307777"/>
          </a:xfrm>
          <a:prstGeom prst="rect">
            <a:avLst/>
          </a:prstGeom>
          <a:noFill/>
        </p:spPr>
        <p:txBody>
          <a:bodyPr wrap="none" rtlCol="0">
            <a:spAutoFit/>
          </a:bodyPr>
          <a:lstStyle/>
          <a:p>
            <a:r>
              <a:rPr lang="en-US" sz="1400" dirty="0"/>
              <a:t>8-5/8” GS. Cement</a:t>
            </a:r>
            <a:endParaRPr lang="en-ID" sz="1400" dirty="0"/>
          </a:p>
        </p:txBody>
      </p:sp>
      <p:pic>
        <p:nvPicPr>
          <p:cNvPr id="34" name="Picture 33">
            <a:extLst>
              <a:ext uri="{FF2B5EF4-FFF2-40B4-BE49-F238E27FC236}">
                <a16:creationId xmlns:a16="http://schemas.microsoft.com/office/drawing/2014/main" id="{8FA31B21-F8C6-0BA8-9C57-18F2B1481D93}"/>
              </a:ext>
            </a:extLst>
          </p:cNvPr>
          <p:cNvPicPr>
            <a:picLocks noChangeAspect="1"/>
          </p:cNvPicPr>
          <p:nvPr/>
        </p:nvPicPr>
        <p:blipFill>
          <a:blip r:embed="rId11"/>
          <a:stretch>
            <a:fillRect/>
          </a:stretch>
        </p:blipFill>
        <p:spPr>
          <a:xfrm>
            <a:off x="3319812" y="1306145"/>
            <a:ext cx="4432712" cy="4389932"/>
          </a:xfrm>
          <a:prstGeom prst="rect">
            <a:avLst/>
          </a:prstGeom>
        </p:spPr>
      </p:pic>
      <p:sp>
        <p:nvSpPr>
          <p:cNvPr id="35" name="TextBox 34">
            <a:extLst>
              <a:ext uri="{FF2B5EF4-FFF2-40B4-BE49-F238E27FC236}">
                <a16:creationId xmlns:a16="http://schemas.microsoft.com/office/drawing/2014/main" id="{3AD20946-94D5-F33F-6821-514F676B816F}"/>
              </a:ext>
            </a:extLst>
          </p:cNvPr>
          <p:cNvSpPr txBox="1"/>
          <p:nvPr/>
        </p:nvSpPr>
        <p:spPr>
          <a:xfrm flipH="1">
            <a:off x="446226" y="5931591"/>
            <a:ext cx="1167096" cy="307777"/>
          </a:xfrm>
          <a:prstGeom prst="rect">
            <a:avLst/>
          </a:prstGeom>
          <a:noFill/>
        </p:spPr>
        <p:txBody>
          <a:bodyPr wrap="square" rtlCol="0">
            <a:spAutoFit/>
          </a:bodyPr>
          <a:lstStyle/>
          <a:p>
            <a:r>
              <a:rPr lang="en-US" sz="1400" dirty="0"/>
              <a:t>Aluminum</a:t>
            </a:r>
            <a:endParaRPr lang="en-ID" sz="1400" dirty="0"/>
          </a:p>
        </p:txBody>
      </p:sp>
    </p:spTree>
    <p:extLst>
      <p:ext uri="{BB962C8B-B14F-4D97-AF65-F5344CB8AC3E}">
        <p14:creationId xmlns:p14="http://schemas.microsoft.com/office/powerpoint/2010/main" val="39040425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005E-30CE-F6C5-F79E-DFBE6B29429F}"/>
              </a:ext>
            </a:extLst>
          </p:cNvPr>
          <p:cNvSpPr>
            <a:spLocks noGrp="1"/>
          </p:cNvSpPr>
          <p:nvPr>
            <p:ph type="title"/>
          </p:nvPr>
        </p:nvSpPr>
        <p:spPr>
          <a:xfrm>
            <a:off x="521208" y="448056"/>
            <a:ext cx="7740290" cy="640080"/>
          </a:xfrm>
        </p:spPr>
        <p:txBody>
          <a:bodyPr/>
          <a:lstStyle/>
          <a:p>
            <a:r>
              <a:rPr lang="en-US" dirty="0"/>
              <a:t>Float Equipment and Guide Shoe Design</a:t>
            </a:r>
            <a:endParaRPr lang="en-ID" dirty="0"/>
          </a:p>
        </p:txBody>
      </p:sp>
      <p:pic>
        <p:nvPicPr>
          <p:cNvPr id="4" name="Picture 3">
            <a:extLst>
              <a:ext uri="{FF2B5EF4-FFF2-40B4-BE49-F238E27FC236}">
                <a16:creationId xmlns:a16="http://schemas.microsoft.com/office/drawing/2014/main" id="{F6BCF3E4-A290-95FE-7D5F-A3E68D9AF32E}"/>
              </a:ext>
            </a:extLst>
          </p:cNvPr>
          <p:cNvPicPr>
            <a:picLocks noChangeAspect="1"/>
          </p:cNvPicPr>
          <p:nvPr/>
        </p:nvPicPr>
        <p:blipFill rotWithShape="1">
          <a:blip r:embed="rId2"/>
          <a:srcRect r="30378"/>
          <a:stretch/>
        </p:blipFill>
        <p:spPr>
          <a:xfrm>
            <a:off x="276657" y="3155535"/>
            <a:ext cx="2683671" cy="2873873"/>
          </a:xfrm>
          <a:prstGeom prst="rect">
            <a:avLst/>
          </a:prstGeom>
        </p:spPr>
      </p:pic>
      <p:pic>
        <p:nvPicPr>
          <p:cNvPr id="5" name="Picture 4">
            <a:extLst>
              <a:ext uri="{FF2B5EF4-FFF2-40B4-BE49-F238E27FC236}">
                <a16:creationId xmlns:a16="http://schemas.microsoft.com/office/drawing/2014/main" id="{A369BDED-92E0-42E2-5884-B065F9B4FED2}"/>
              </a:ext>
            </a:extLst>
          </p:cNvPr>
          <p:cNvPicPr>
            <a:picLocks noChangeAspect="1"/>
          </p:cNvPicPr>
          <p:nvPr/>
        </p:nvPicPr>
        <p:blipFill>
          <a:blip r:embed="rId3"/>
          <a:stretch>
            <a:fillRect/>
          </a:stretch>
        </p:blipFill>
        <p:spPr>
          <a:xfrm>
            <a:off x="9196734" y="2333785"/>
            <a:ext cx="2694386" cy="3695623"/>
          </a:xfrm>
          <a:prstGeom prst="rect">
            <a:avLst/>
          </a:prstGeom>
        </p:spPr>
      </p:pic>
      <p:pic>
        <p:nvPicPr>
          <p:cNvPr id="6" name="Picture 7">
            <a:extLst>
              <a:ext uri="{FF2B5EF4-FFF2-40B4-BE49-F238E27FC236}">
                <a16:creationId xmlns:a16="http://schemas.microsoft.com/office/drawing/2014/main" id="{AE3D4074-1EEC-0475-6D33-7A686B459DC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4133" t="3298" r="8970" b="274"/>
          <a:stretch/>
        </p:blipFill>
        <p:spPr bwMode="auto">
          <a:xfrm flipV="1">
            <a:off x="1111674" y="2062716"/>
            <a:ext cx="1482667" cy="252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A868D0FA-5B72-B725-8CE9-8B8893BFEF35}"/>
              </a:ext>
            </a:extLst>
          </p:cNvPr>
          <p:cNvSpPr/>
          <p:nvPr/>
        </p:nvSpPr>
        <p:spPr>
          <a:xfrm>
            <a:off x="1111674" y="4635003"/>
            <a:ext cx="1482667" cy="1935920"/>
          </a:xfrm>
          <a:prstGeom prst="rect">
            <a:avLst/>
          </a:prstGeom>
          <a:solidFill>
            <a:schemeClr val="accent4">
              <a:lumMod val="60000"/>
              <a:lumOff val="40000"/>
              <a:alpha val="32000"/>
            </a:schemeClr>
          </a:solid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7">
            <a:extLst>
              <a:ext uri="{FF2B5EF4-FFF2-40B4-BE49-F238E27FC236}">
                <a16:creationId xmlns:a16="http://schemas.microsoft.com/office/drawing/2014/main" id="{718A3F62-F8CA-2F35-1655-06594A424F0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4133" t="3298" r="8970" b="274"/>
          <a:stretch/>
        </p:blipFill>
        <p:spPr bwMode="auto">
          <a:xfrm flipV="1">
            <a:off x="9554158" y="1707843"/>
            <a:ext cx="1482667" cy="252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AF881F97-3988-37DB-342F-DB08AE04019E}"/>
              </a:ext>
            </a:extLst>
          </p:cNvPr>
          <p:cNvSpPr/>
          <p:nvPr/>
        </p:nvSpPr>
        <p:spPr>
          <a:xfrm>
            <a:off x="9554158" y="4280130"/>
            <a:ext cx="1482667" cy="2237628"/>
          </a:xfrm>
          <a:prstGeom prst="rect">
            <a:avLst/>
          </a:prstGeom>
          <a:solidFill>
            <a:schemeClr val="accent4">
              <a:lumMod val="60000"/>
              <a:lumOff val="40000"/>
              <a:alpha val="32000"/>
            </a:schemeClr>
          </a:solid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3" name="Picture 12">
            <a:extLst>
              <a:ext uri="{FF2B5EF4-FFF2-40B4-BE49-F238E27FC236}">
                <a16:creationId xmlns:a16="http://schemas.microsoft.com/office/drawing/2014/main" id="{7DEA9312-4861-7F22-069D-2A9D17ECEAC0}"/>
              </a:ext>
            </a:extLst>
          </p:cNvPr>
          <p:cNvPicPr>
            <a:picLocks noChangeAspect="1"/>
          </p:cNvPicPr>
          <p:nvPr/>
        </p:nvPicPr>
        <p:blipFill>
          <a:blip r:embed="rId3"/>
          <a:stretch>
            <a:fillRect/>
          </a:stretch>
        </p:blipFill>
        <p:spPr>
          <a:xfrm>
            <a:off x="6188162" y="2333785"/>
            <a:ext cx="2694386" cy="3695623"/>
          </a:xfrm>
          <a:prstGeom prst="rect">
            <a:avLst/>
          </a:prstGeom>
        </p:spPr>
      </p:pic>
      <p:sp>
        <p:nvSpPr>
          <p:cNvPr id="14" name="Rectangle 13">
            <a:extLst>
              <a:ext uri="{FF2B5EF4-FFF2-40B4-BE49-F238E27FC236}">
                <a16:creationId xmlns:a16="http://schemas.microsoft.com/office/drawing/2014/main" id="{1B41B650-E10A-B9F3-EC15-D365BF11D38D}"/>
              </a:ext>
            </a:extLst>
          </p:cNvPr>
          <p:cNvSpPr/>
          <p:nvPr/>
        </p:nvSpPr>
        <p:spPr>
          <a:xfrm>
            <a:off x="6545586" y="4280130"/>
            <a:ext cx="1482667" cy="2237628"/>
          </a:xfrm>
          <a:prstGeom prst="rect">
            <a:avLst/>
          </a:prstGeom>
          <a:solidFill>
            <a:schemeClr val="accent4">
              <a:lumMod val="60000"/>
              <a:lumOff val="40000"/>
              <a:alpha val="62000"/>
            </a:schemeClr>
          </a:solid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5" name="Picture 14">
            <a:extLst>
              <a:ext uri="{FF2B5EF4-FFF2-40B4-BE49-F238E27FC236}">
                <a16:creationId xmlns:a16="http://schemas.microsoft.com/office/drawing/2014/main" id="{2BBF9CF3-611D-8490-08E4-7FF590F01005}"/>
              </a:ext>
            </a:extLst>
          </p:cNvPr>
          <p:cNvPicPr>
            <a:picLocks noChangeAspect="1"/>
          </p:cNvPicPr>
          <p:nvPr/>
        </p:nvPicPr>
        <p:blipFill rotWithShape="1">
          <a:blip r:embed="rId2"/>
          <a:srcRect r="30378"/>
          <a:stretch/>
        </p:blipFill>
        <p:spPr>
          <a:xfrm>
            <a:off x="3033154" y="3148519"/>
            <a:ext cx="2683671" cy="2873873"/>
          </a:xfrm>
          <a:prstGeom prst="rect">
            <a:avLst/>
          </a:prstGeom>
        </p:spPr>
      </p:pic>
      <p:sp>
        <p:nvSpPr>
          <p:cNvPr id="16" name="Rectangle 15">
            <a:extLst>
              <a:ext uri="{FF2B5EF4-FFF2-40B4-BE49-F238E27FC236}">
                <a16:creationId xmlns:a16="http://schemas.microsoft.com/office/drawing/2014/main" id="{2DDC76B3-898A-BDB3-C0C0-BC01D62C24E7}"/>
              </a:ext>
            </a:extLst>
          </p:cNvPr>
          <p:cNvSpPr/>
          <p:nvPr/>
        </p:nvSpPr>
        <p:spPr>
          <a:xfrm>
            <a:off x="3868171" y="5911702"/>
            <a:ext cx="1482667" cy="606056"/>
          </a:xfrm>
          <a:prstGeom prst="rect">
            <a:avLst/>
          </a:prstGeom>
          <a:solidFill>
            <a:schemeClr val="accent4">
              <a:lumMod val="60000"/>
              <a:lumOff val="40000"/>
              <a:alpha val="62000"/>
            </a:schemeClr>
          </a:solid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16">
            <a:extLst>
              <a:ext uri="{FF2B5EF4-FFF2-40B4-BE49-F238E27FC236}">
                <a16:creationId xmlns:a16="http://schemas.microsoft.com/office/drawing/2014/main" id="{69C5C6B0-3183-75D0-8949-A107CB2D0249}"/>
              </a:ext>
            </a:extLst>
          </p:cNvPr>
          <p:cNvSpPr/>
          <p:nvPr/>
        </p:nvSpPr>
        <p:spPr>
          <a:xfrm>
            <a:off x="3649918" y="5416336"/>
            <a:ext cx="1879012" cy="606056"/>
          </a:xfrm>
          <a:prstGeom prst="rect">
            <a:avLst/>
          </a:prstGeom>
          <a:solidFill>
            <a:schemeClr val="accent4">
              <a:lumMod val="60000"/>
              <a:lumOff val="40000"/>
              <a:alpha val="62000"/>
            </a:schemeClr>
          </a:solid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ectangle 17">
            <a:extLst>
              <a:ext uri="{FF2B5EF4-FFF2-40B4-BE49-F238E27FC236}">
                <a16:creationId xmlns:a16="http://schemas.microsoft.com/office/drawing/2014/main" id="{70AC8B03-ED36-C172-E787-AA046DDE8D38}"/>
              </a:ext>
            </a:extLst>
          </p:cNvPr>
          <p:cNvSpPr/>
          <p:nvPr/>
        </p:nvSpPr>
        <p:spPr>
          <a:xfrm>
            <a:off x="3649918" y="4642034"/>
            <a:ext cx="1827991" cy="774302"/>
          </a:xfrm>
          <a:prstGeom prst="rect">
            <a:avLst/>
          </a:prstGeom>
          <a:solidFill>
            <a:schemeClr val="accent4">
              <a:lumMod val="60000"/>
              <a:lumOff val="40000"/>
              <a:alpha val="62000"/>
            </a:schemeClr>
          </a:solid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TextBox 18">
            <a:extLst>
              <a:ext uri="{FF2B5EF4-FFF2-40B4-BE49-F238E27FC236}">
                <a16:creationId xmlns:a16="http://schemas.microsoft.com/office/drawing/2014/main" id="{CD6C10D7-6DE2-DD4F-72A5-D3F9532AD7A9}"/>
              </a:ext>
            </a:extLst>
          </p:cNvPr>
          <p:cNvSpPr txBox="1"/>
          <p:nvPr/>
        </p:nvSpPr>
        <p:spPr>
          <a:xfrm>
            <a:off x="906273" y="1291158"/>
            <a:ext cx="1893467" cy="369332"/>
          </a:xfrm>
          <a:prstGeom prst="rect">
            <a:avLst/>
          </a:prstGeom>
          <a:noFill/>
        </p:spPr>
        <p:txBody>
          <a:bodyPr wrap="none" rtlCol="0">
            <a:spAutoFit/>
          </a:bodyPr>
          <a:lstStyle/>
          <a:p>
            <a:r>
              <a:rPr lang="en-US" dirty="0"/>
              <a:t>Drill Out Cement</a:t>
            </a:r>
            <a:endParaRPr lang="en-ID" dirty="0"/>
          </a:p>
        </p:txBody>
      </p:sp>
      <p:sp>
        <p:nvSpPr>
          <p:cNvPr id="20" name="TextBox 19">
            <a:extLst>
              <a:ext uri="{FF2B5EF4-FFF2-40B4-BE49-F238E27FC236}">
                <a16:creationId xmlns:a16="http://schemas.microsoft.com/office/drawing/2014/main" id="{684657F7-5BF6-146F-C92A-A0ECAA181D07}"/>
              </a:ext>
            </a:extLst>
          </p:cNvPr>
          <p:cNvSpPr txBox="1"/>
          <p:nvPr/>
        </p:nvSpPr>
        <p:spPr>
          <a:xfrm>
            <a:off x="9220124" y="1299096"/>
            <a:ext cx="2151551" cy="369332"/>
          </a:xfrm>
          <a:prstGeom prst="rect">
            <a:avLst/>
          </a:prstGeom>
          <a:noFill/>
        </p:spPr>
        <p:txBody>
          <a:bodyPr wrap="none" rtlCol="0">
            <a:spAutoFit/>
          </a:bodyPr>
          <a:lstStyle/>
          <a:p>
            <a:r>
              <a:rPr lang="en-US" dirty="0"/>
              <a:t>Drill Out Aluminum</a:t>
            </a:r>
            <a:endParaRPr lang="en-ID" dirty="0"/>
          </a:p>
        </p:txBody>
      </p:sp>
      <p:sp>
        <p:nvSpPr>
          <p:cNvPr id="21" name="TextBox 20">
            <a:extLst>
              <a:ext uri="{FF2B5EF4-FFF2-40B4-BE49-F238E27FC236}">
                <a16:creationId xmlns:a16="http://schemas.microsoft.com/office/drawing/2014/main" id="{2D780DD2-6948-35F8-C610-B161B7448135}"/>
              </a:ext>
            </a:extLst>
          </p:cNvPr>
          <p:cNvSpPr txBox="1"/>
          <p:nvPr/>
        </p:nvSpPr>
        <p:spPr>
          <a:xfrm>
            <a:off x="3649918" y="4686451"/>
            <a:ext cx="1891428" cy="646331"/>
          </a:xfrm>
          <a:prstGeom prst="rect">
            <a:avLst/>
          </a:prstGeom>
          <a:noFill/>
        </p:spPr>
        <p:txBody>
          <a:bodyPr wrap="square" rtlCol="0">
            <a:spAutoFit/>
          </a:bodyPr>
          <a:lstStyle/>
          <a:p>
            <a:r>
              <a:rPr lang="en-US" dirty="0"/>
              <a:t>ID = Casing ID</a:t>
            </a:r>
          </a:p>
          <a:p>
            <a:r>
              <a:rPr lang="en-US" dirty="0"/>
              <a:t>No Cement left</a:t>
            </a:r>
            <a:endParaRPr lang="en-ID" dirty="0"/>
          </a:p>
        </p:txBody>
      </p:sp>
      <p:sp>
        <p:nvSpPr>
          <p:cNvPr id="22" name="TextBox 21">
            <a:extLst>
              <a:ext uri="{FF2B5EF4-FFF2-40B4-BE49-F238E27FC236}">
                <a16:creationId xmlns:a16="http://schemas.microsoft.com/office/drawing/2014/main" id="{2BA7C596-E1CA-9ED1-3CFC-F2E90E309A2C}"/>
              </a:ext>
            </a:extLst>
          </p:cNvPr>
          <p:cNvSpPr txBox="1"/>
          <p:nvPr/>
        </p:nvSpPr>
        <p:spPr>
          <a:xfrm>
            <a:off x="6462932" y="5009616"/>
            <a:ext cx="1647974" cy="1477328"/>
          </a:xfrm>
          <a:prstGeom prst="rect">
            <a:avLst/>
          </a:prstGeom>
          <a:noFill/>
          <a:ln>
            <a:solidFill>
              <a:srgbClr val="C00000"/>
            </a:solidFill>
          </a:ln>
        </p:spPr>
        <p:txBody>
          <a:bodyPr wrap="square" rtlCol="0">
            <a:spAutoFit/>
          </a:bodyPr>
          <a:lstStyle/>
          <a:p>
            <a:r>
              <a:rPr lang="en-US" dirty="0"/>
              <a:t>ID &lt; Casing ID</a:t>
            </a:r>
          </a:p>
          <a:p>
            <a:r>
              <a:rPr lang="en-US" dirty="0"/>
              <a:t>Could not remove all Aluminum part</a:t>
            </a:r>
            <a:endParaRPr lang="en-ID" dirty="0"/>
          </a:p>
        </p:txBody>
      </p:sp>
      <p:sp>
        <p:nvSpPr>
          <p:cNvPr id="25" name="Arrow: Right 24">
            <a:extLst>
              <a:ext uri="{FF2B5EF4-FFF2-40B4-BE49-F238E27FC236}">
                <a16:creationId xmlns:a16="http://schemas.microsoft.com/office/drawing/2014/main" id="{4ADEA2F4-6891-32B8-7811-FC7169BBFD02}"/>
              </a:ext>
            </a:extLst>
          </p:cNvPr>
          <p:cNvSpPr/>
          <p:nvPr/>
        </p:nvSpPr>
        <p:spPr>
          <a:xfrm>
            <a:off x="2828377" y="4401879"/>
            <a:ext cx="674699" cy="930903"/>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D"/>
          </a:p>
        </p:txBody>
      </p:sp>
      <p:sp>
        <p:nvSpPr>
          <p:cNvPr id="26" name="Arrow: Right 25">
            <a:extLst>
              <a:ext uri="{FF2B5EF4-FFF2-40B4-BE49-F238E27FC236}">
                <a16:creationId xmlns:a16="http://schemas.microsoft.com/office/drawing/2014/main" id="{B08A4440-D21E-C3E0-2D1F-3614E32F2FFD}"/>
              </a:ext>
            </a:extLst>
          </p:cNvPr>
          <p:cNvSpPr/>
          <p:nvPr/>
        </p:nvSpPr>
        <p:spPr>
          <a:xfrm flipH="1">
            <a:off x="8453856" y="4401878"/>
            <a:ext cx="674699" cy="930903"/>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63879445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92AB-6AC9-6C38-8BC3-F57A1C31156A}"/>
              </a:ext>
            </a:extLst>
          </p:cNvPr>
          <p:cNvSpPr>
            <a:spLocks noGrp="1"/>
          </p:cNvSpPr>
          <p:nvPr>
            <p:ph type="title"/>
          </p:nvPr>
        </p:nvSpPr>
        <p:spPr/>
        <p:txBody>
          <a:bodyPr/>
          <a:lstStyle/>
          <a:p>
            <a:r>
              <a:rPr lang="en-US" dirty="0"/>
              <a:t>Float Equipment and Guide Shoe Design</a:t>
            </a:r>
            <a:endParaRPr lang="en-ID" dirty="0"/>
          </a:p>
        </p:txBody>
      </p:sp>
      <p:graphicFrame>
        <p:nvGraphicFramePr>
          <p:cNvPr id="4" name="Table 4">
            <a:extLst>
              <a:ext uri="{FF2B5EF4-FFF2-40B4-BE49-F238E27FC236}">
                <a16:creationId xmlns:a16="http://schemas.microsoft.com/office/drawing/2014/main" id="{5E381BE2-9CD1-56C2-A1AE-232AF1FB4385}"/>
              </a:ext>
            </a:extLst>
          </p:cNvPr>
          <p:cNvGraphicFramePr>
            <a:graphicFrameLocks noGrp="1"/>
          </p:cNvGraphicFramePr>
          <p:nvPr>
            <p:extLst>
              <p:ext uri="{D42A27DB-BD31-4B8C-83A1-F6EECF244321}">
                <p14:modId xmlns:p14="http://schemas.microsoft.com/office/powerpoint/2010/main" val="53362352"/>
              </p:ext>
            </p:extLst>
          </p:nvPr>
        </p:nvGraphicFramePr>
        <p:xfrm>
          <a:off x="636772" y="1357620"/>
          <a:ext cx="10918455" cy="5029200"/>
        </p:xfrm>
        <a:graphic>
          <a:graphicData uri="http://schemas.openxmlformats.org/drawingml/2006/table">
            <a:tbl>
              <a:tblPr firstRow="1" bandRow="1">
                <a:tableStyleId>{5C22544A-7EE6-4342-B048-85BDC9FD1C3A}</a:tableStyleId>
              </a:tblPr>
              <a:tblGrid>
                <a:gridCol w="3639485">
                  <a:extLst>
                    <a:ext uri="{9D8B030D-6E8A-4147-A177-3AD203B41FA5}">
                      <a16:colId xmlns:a16="http://schemas.microsoft.com/office/drawing/2014/main" val="3448103710"/>
                    </a:ext>
                  </a:extLst>
                </a:gridCol>
                <a:gridCol w="3639485">
                  <a:extLst>
                    <a:ext uri="{9D8B030D-6E8A-4147-A177-3AD203B41FA5}">
                      <a16:colId xmlns:a16="http://schemas.microsoft.com/office/drawing/2014/main" val="11905844"/>
                    </a:ext>
                  </a:extLst>
                </a:gridCol>
                <a:gridCol w="3639485">
                  <a:extLst>
                    <a:ext uri="{9D8B030D-6E8A-4147-A177-3AD203B41FA5}">
                      <a16:colId xmlns:a16="http://schemas.microsoft.com/office/drawing/2014/main" val="2875468994"/>
                    </a:ext>
                  </a:extLst>
                </a:gridCol>
              </a:tblGrid>
              <a:tr h="370840">
                <a:tc>
                  <a:txBody>
                    <a:bodyPr/>
                    <a:lstStyle/>
                    <a:p>
                      <a:r>
                        <a:rPr lang="en-US" dirty="0"/>
                        <a:t>Float Equipment and Guide Shoe Type</a:t>
                      </a:r>
                      <a:endParaRPr lang="en-ID" dirty="0"/>
                    </a:p>
                  </a:txBody>
                  <a:tcPr/>
                </a:tc>
                <a:tc>
                  <a:txBody>
                    <a:bodyPr/>
                    <a:lstStyle/>
                    <a:p>
                      <a:r>
                        <a:rPr lang="en-US" dirty="0"/>
                        <a:t>Advantage</a:t>
                      </a:r>
                      <a:endParaRPr lang="en-ID" dirty="0"/>
                    </a:p>
                  </a:txBody>
                  <a:tcPr/>
                </a:tc>
                <a:tc>
                  <a:txBody>
                    <a:bodyPr/>
                    <a:lstStyle/>
                    <a:p>
                      <a:r>
                        <a:rPr lang="en-US" dirty="0"/>
                        <a:t>Dis-Advantage</a:t>
                      </a:r>
                      <a:endParaRPr lang="en-ID" dirty="0"/>
                    </a:p>
                  </a:txBody>
                  <a:tcPr/>
                </a:tc>
                <a:extLst>
                  <a:ext uri="{0D108BD9-81ED-4DB2-BD59-A6C34878D82A}">
                    <a16:rowId xmlns:a16="http://schemas.microsoft.com/office/drawing/2014/main" val="826258186"/>
                  </a:ext>
                </a:extLst>
              </a:tr>
              <a:tr h="370840">
                <a:tc>
                  <a:txBody>
                    <a:bodyPr/>
                    <a:lstStyle/>
                    <a:p>
                      <a:r>
                        <a:rPr lang="en-US" dirty="0"/>
                        <a:t>Made from Concrete Cement</a:t>
                      </a:r>
                      <a:endParaRPr lang="en-ID" dirty="0"/>
                    </a:p>
                  </a:txBody>
                  <a:tcPr/>
                </a:tc>
                <a:tc>
                  <a:txBody>
                    <a:bodyPr/>
                    <a:lstStyle/>
                    <a:p>
                      <a:pPr marL="285750" indent="-285750">
                        <a:buFont typeface="Arial" panose="020B0604020202020204" pitchFamily="34" charset="0"/>
                        <a:buChar char="•"/>
                      </a:pPr>
                      <a:r>
                        <a:rPr lang="en-US" dirty="0">
                          <a:solidFill>
                            <a:schemeClr val="tx1"/>
                          </a:solidFill>
                        </a:rPr>
                        <a:t>Simple and Cheaper</a:t>
                      </a:r>
                    </a:p>
                    <a:p>
                      <a:pPr marL="285750" indent="-285750">
                        <a:buFont typeface="Arial" panose="020B0604020202020204" pitchFamily="34" charset="0"/>
                        <a:buChar char="•"/>
                      </a:pPr>
                      <a:r>
                        <a:rPr lang="en-US" dirty="0">
                          <a:solidFill>
                            <a:schemeClr val="tx1"/>
                          </a:solidFill>
                        </a:rPr>
                        <a:t>Easy to be drilled out</a:t>
                      </a:r>
                    </a:p>
                    <a:p>
                      <a:pPr marL="285750" indent="-285750">
                        <a:buFont typeface="Arial" panose="020B0604020202020204" pitchFamily="34" charset="0"/>
                        <a:buChar char="•"/>
                      </a:pPr>
                      <a:r>
                        <a:rPr lang="en-US" dirty="0">
                          <a:solidFill>
                            <a:schemeClr val="tx1"/>
                          </a:solidFill>
                        </a:rPr>
                        <a:t>ID after being clean out = ID casing</a:t>
                      </a:r>
                    </a:p>
                    <a:p>
                      <a:pPr marL="285750" indent="-285750">
                        <a:buFont typeface="Arial" panose="020B0604020202020204" pitchFamily="34" charset="0"/>
                        <a:buChar char="•"/>
                      </a:pPr>
                      <a:r>
                        <a:rPr lang="en-US" dirty="0">
                          <a:solidFill>
                            <a:schemeClr val="tx1"/>
                          </a:solidFill>
                        </a:rPr>
                        <a:t>Less risk of stuck pipe</a:t>
                      </a:r>
                      <a:endParaRPr lang="en-ID" dirty="0">
                        <a:solidFill>
                          <a:schemeClr val="tx1"/>
                        </a:solidFill>
                      </a:endParaRPr>
                    </a:p>
                  </a:txBody>
                  <a:tcPr/>
                </a:tc>
                <a:tc>
                  <a:txBody>
                    <a:bodyPr/>
                    <a:lstStyle/>
                    <a:p>
                      <a:pPr marL="285750" indent="-285750">
                        <a:buFont typeface="Arial" panose="020B0604020202020204" pitchFamily="34" charset="0"/>
                        <a:buChar char="•"/>
                      </a:pPr>
                      <a:r>
                        <a:rPr lang="en-US" dirty="0"/>
                        <a:t>Weaker that Aluminum</a:t>
                      </a:r>
                    </a:p>
                    <a:p>
                      <a:pPr marL="285750" indent="-285750">
                        <a:buFont typeface="Arial" panose="020B0604020202020204" pitchFamily="34" charset="0"/>
                        <a:buChar char="•"/>
                      </a:pPr>
                      <a:r>
                        <a:rPr lang="en-US" dirty="0"/>
                        <a:t>Run at normal speed in open hole section</a:t>
                      </a:r>
                    </a:p>
                    <a:p>
                      <a:pPr marL="285750" indent="-285750">
                        <a:buFont typeface="Arial" panose="020B0604020202020204" pitchFamily="34" charset="0"/>
                        <a:buChar char="•"/>
                      </a:pPr>
                      <a:r>
                        <a:rPr lang="en-ID" dirty="0">
                          <a:solidFill>
                            <a:srgbClr val="C00000"/>
                          </a:solidFill>
                        </a:rPr>
                        <a:t>Prefer not be run when bad hole condition</a:t>
                      </a:r>
                    </a:p>
                  </a:txBody>
                  <a:tcPr/>
                </a:tc>
                <a:extLst>
                  <a:ext uri="{0D108BD9-81ED-4DB2-BD59-A6C34878D82A}">
                    <a16:rowId xmlns:a16="http://schemas.microsoft.com/office/drawing/2014/main" val="3930756884"/>
                  </a:ext>
                </a:extLst>
              </a:tr>
              <a:tr h="497525">
                <a:tc>
                  <a:txBody>
                    <a:bodyPr/>
                    <a:lstStyle/>
                    <a:p>
                      <a:r>
                        <a:rPr lang="en-US" dirty="0"/>
                        <a:t>Made from Aluminum</a:t>
                      </a:r>
                      <a:endParaRPr lang="en-ID" dirty="0"/>
                    </a:p>
                  </a:txBody>
                  <a:tcPr/>
                </a:tc>
                <a:tc>
                  <a:txBody>
                    <a:bodyPr/>
                    <a:lstStyle/>
                    <a:p>
                      <a:pPr marL="285750" indent="-285750">
                        <a:buFont typeface="Arial" panose="020B0604020202020204" pitchFamily="34" charset="0"/>
                        <a:buChar char="•"/>
                      </a:pPr>
                      <a:r>
                        <a:rPr lang="en-US" dirty="0"/>
                        <a:t>Stronger</a:t>
                      </a:r>
                    </a:p>
                    <a:p>
                      <a:pPr marL="285750" indent="-285750">
                        <a:buFont typeface="Arial" panose="020B0604020202020204" pitchFamily="34" charset="0"/>
                        <a:buChar char="•"/>
                      </a:pPr>
                      <a:r>
                        <a:rPr lang="en-US" dirty="0"/>
                        <a:t>Run at faster speed in open hole section (2000 – 3000 mph)</a:t>
                      </a:r>
                    </a:p>
                    <a:p>
                      <a:pPr marL="285750" indent="-285750">
                        <a:buFont typeface="Arial" panose="020B0604020202020204" pitchFamily="34" charset="0"/>
                        <a:buChar char="•"/>
                      </a:pPr>
                      <a:r>
                        <a:rPr lang="en-ID" dirty="0"/>
                        <a:t>Prefer to be run when bad hole condition</a:t>
                      </a:r>
                    </a:p>
                  </a:txBody>
                  <a:tcPr/>
                </a:tc>
                <a:tc>
                  <a:txBody>
                    <a:bodyPr/>
                    <a:lstStyle/>
                    <a:p>
                      <a:pPr marL="285750" indent="-285750">
                        <a:buFont typeface="Arial" panose="020B0604020202020204" pitchFamily="34" charset="0"/>
                        <a:buChar char="•"/>
                      </a:pPr>
                      <a:r>
                        <a:rPr lang="en-US" dirty="0"/>
                        <a:t>More Expensive</a:t>
                      </a:r>
                    </a:p>
                    <a:p>
                      <a:pPr marL="285750" indent="-285750">
                        <a:buFont typeface="Arial" panose="020B0604020202020204" pitchFamily="34" charset="0"/>
                        <a:buChar char="•"/>
                      </a:pPr>
                      <a:r>
                        <a:rPr lang="en-US" dirty="0">
                          <a:solidFill>
                            <a:srgbClr val="C00000"/>
                          </a:solidFill>
                        </a:rPr>
                        <a:t>Difficult to be drilled out</a:t>
                      </a:r>
                    </a:p>
                    <a:p>
                      <a:pPr marL="285750" indent="-285750">
                        <a:buFont typeface="Arial" panose="020B0604020202020204" pitchFamily="34" charset="0"/>
                        <a:buChar char="•"/>
                      </a:pPr>
                      <a:r>
                        <a:rPr lang="en-US" dirty="0"/>
                        <a:t>ID after being clean out </a:t>
                      </a:r>
                      <a:r>
                        <a:rPr lang="en-US" strike="noStrike" dirty="0"/>
                        <a:t>=</a:t>
                      </a:r>
                      <a:r>
                        <a:rPr lang="en-US" dirty="0"/>
                        <a:t> OD of the bit, not ID casing</a:t>
                      </a:r>
                    </a:p>
                    <a:p>
                      <a:pPr marL="285750" indent="-285750">
                        <a:buFont typeface="Arial" panose="020B0604020202020204" pitchFamily="34" charset="0"/>
                        <a:buChar char="•"/>
                      </a:pPr>
                      <a:r>
                        <a:rPr lang="en-US" dirty="0"/>
                        <a:t>Higher risk of stuck pipe</a:t>
                      </a:r>
                      <a:endParaRPr lang="en-ID" dirty="0"/>
                    </a:p>
                  </a:txBody>
                  <a:tcPr/>
                </a:tc>
                <a:extLst>
                  <a:ext uri="{0D108BD9-81ED-4DB2-BD59-A6C34878D82A}">
                    <a16:rowId xmlns:a16="http://schemas.microsoft.com/office/drawing/2014/main" val="1543572493"/>
                  </a:ext>
                </a:extLst>
              </a:tr>
              <a:tr h="370840">
                <a:tc>
                  <a:txBody>
                    <a:bodyPr/>
                    <a:lstStyle/>
                    <a:p>
                      <a:r>
                        <a:rPr lang="en-US" dirty="0"/>
                        <a:t>Reamer Shoe</a:t>
                      </a:r>
                      <a:endParaRPr lang="en-ID" dirty="0"/>
                    </a:p>
                  </a:txBody>
                  <a:tcPr/>
                </a:tc>
                <a:tc>
                  <a:txBody>
                    <a:bodyPr/>
                    <a:lstStyle/>
                    <a:p>
                      <a:pPr marL="285750" indent="-285750">
                        <a:buFont typeface="Arial" panose="020B0604020202020204" pitchFamily="34" charset="0"/>
                        <a:buChar char="•"/>
                      </a:pPr>
                      <a:r>
                        <a:rPr lang="en-US" dirty="0"/>
                        <a:t>Capable for rotating and reaming with casing/liner</a:t>
                      </a:r>
                    </a:p>
                    <a:p>
                      <a:pPr marL="285750" indent="-285750">
                        <a:buFont typeface="Arial" panose="020B0604020202020204" pitchFamily="34" charset="0"/>
                        <a:buChar char="•"/>
                      </a:pPr>
                      <a:r>
                        <a:rPr lang="en-US" dirty="0"/>
                        <a:t>Capable to be run in bad hole condition or ruble formation.</a:t>
                      </a:r>
                      <a:endParaRPr lang="en-ID" dirty="0"/>
                    </a:p>
                  </a:txBody>
                  <a:tcPr/>
                </a:tc>
                <a:tc>
                  <a:txBody>
                    <a:bodyPr/>
                    <a:lstStyle/>
                    <a:p>
                      <a:pPr marL="285750" indent="-285750">
                        <a:buFont typeface="Arial" panose="020B0604020202020204" pitchFamily="34" charset="0"/>
                        <a:buChar char="•"/>
                      </a:pPr>
                      <a:r>
                        <a:rPr lang="en-US" dirty="0"/>
                        <a:t>Most Expensive</a:t>
                      </a:r>
                    </a:p>
                    <a:p>
                      <a:pPr marL="285750" indent="-285750">
                        <a:buFont typeface="Arial" panose="020B0604020202020204" pitchFamily="34" charset="0"/>
                        <a:buChar char="•"/>
                      </a:pPr>
                      <a:r>
                        <a:rPr lang="en-US" dirty="0"/>
                        <a:t>Difficult to be drilled out</a:t>
                      </a:r>
                    </a:p>
                    <a:p>
                      <a:pPr marL="285750" indent="-285750">
                        <a:buFont typeface="Arial" panose="020B0604020202020204" pitchFamily="34" charset="0"/>
                        <a:buChar char="•"/>
                      </a:pPr>
                      <a:r>
                        <a:rPr lang="en-US" dirty="0"/>
                        <a:t>ID after being clean out </a:t>
                      </a:r>
                      <a:r>
                        <a:rPr lang="en-US" strike="noStrike" dirty="0"/>
                        <a:t>=</a:t>
                      </a:r>
                      <a:r>
                        <a:rPr lang="en-US" dirty="0"/>
                        <a:t> OD of the bit, not ID casing</a:t>
                      </a:r>
                    </a:p>
                    <a:p>
                      <a:pPr marL="285750" indent="-285750">
                        <a:buFont typeface="Arial" panose="020B0604020202020204" pitchFamily="34" charset="0"/>
                        <a:buChar char="•"/>
                      </a:pPr>
                      <a:r>
                        <a:rPr lang="en-US" dirty="0"/>
                        <a:t>Risk of stuck pipe</a:t>
                      </a:r>
                      <a:endParaRPr lang="en-ID" dirty="0"/>
                    </a:p>
                  </a:txBody>
                  <a:tcPr/>
                </a:tc>
                <a:extLst>
                  <a:ext uri="{0D108BD9-81ED-4DB2-BD59-A6C34878D82A}">
                    <a16:rowId xmlns:a16="http://schemas.microsoft.com/office/drawing/2014/main" val="146513623"/>
                  </a:ext>
                </a:extLst>
              </a:tr>
            </a:tbl>
          </a:graphicData>
        </a:graphic>
      </p:graphicFrame>
      <p:pic>
        <p:nvPicPr>
          <p:cNvPr id="5" name="Picture 4">
            <a:extLst>
              <a:ext uri="{FF2B5EF4-FFF2-40B4-BE49-F238E27FC236}">
                <a16:creationId xmlns:a16="http://schemas.microsoft.com/office/drawing/2014/main" id="{58C11286-EB3B-D9F5-C940-A39672C81123}"/>
              </a:ext>
            </a:extLst>
          </p:cNvPr>
          <p:cNvPicPr>
            <a:picLocks noChangeAspect="1"/>
          </p:cNvPicPr>
          <p:nvPr/>
        </p:nvPicPr>
        <p:blipFill>
          <a:blip r:embed="rId2"/>
          <a:stretch>
            <a:fillRect/>
          </a:stretch>
        </p:blipFill>
        <p:spPr>
          <a:xfrm>
            <a:off x="785628" y="2402523"/>
            <a:ext cx="841154" cy="856355"/>
          </a:xfrm>
          <a:prstGeom prst="rect">
            <a:avLst/>
          </a:prstGeom>
        </p:spPr>
      </p:pic>
      <p:pic>
        <p:nvPicPr>
          <p:cNvPr id="6" name="Picture 5">
            <a:extLst>
              <a:ext uri="{FF2B5EF4-FFF2-40B4-BE49-F238E27FC236}">
                <a16:creationId xmlns:a16="http://schemas.microsoft.com/office/drawing/2014/main" id="{E8418CCA-3460-E5AB-7EA9-4D6C936CB425}"/>
              </a:ext>
            </a:extLst>
          </p:cNvPr>
          <p:cNvPicPr>
            <a:picLocks noChangeAspect="1"/>
          </p:cNvPicPr>
          <p:nvPr/>
        </p:nvPicPr>
        <p:blipFill rotWithShape="1">
          <a:blip r:embed="rId3"/>
          <a:srcRect r="30378"/>
          <a:stretch/>
        </p:blipFill>
        <p:spPr>
          <a:xfrm>
            <a:off x="1775638" y="2402523"/>
            <a:ext cx="799679" cy="856355"/>
          </a:xfrm>
          <a:prstGeom prst="rect">
            <a:avLst/>
          </a:prstGeom>
        </p:spPr>
      </p:pic>
      <p:pic>
        <p:nvPicPr>
          <p:cNvPr id="7" name="Picture 6">
            <a:extLst>
              <a:ext uri="{FF2B5EF4-FFF2-40B4-BE49-F238E27FC236}">
                <a16:creationId xmlns:a16="http://schemas.microsoft.com/office/drawing/2014/main" id="{D40711CB-A053-7744-C552-87F35F6E9049}"/>
              </a:ext>
            </a:extLst>
          </p:cNvPr>
          <p:cNvPicPr>
            <a:picLocks noChangeAspect="1"/>
          </p:cNvPicPr>
          <p:nvPr/>
        </p:nvPicPr>
        <p:blipFill>
          <a:blip r:embed="rId4"/>
          <a:stretch>
            <a:fillRect/>
          </a:stretch>
        </p:blipFill>
        <p:spPr>
          <a:xfrm>
            <a:off x="785628" y="3912780"/>
            <a:ext cx="844280" cy="942841"/>
          </a:xfrm>
          <a:prstGeom prst="rect">
            <a:avLst/>
          </a:prstGeom>
        </p:spPr>
      </p:pic>
      <p:pic>
        <p:nvPicPr>
          <p:cNvPr id="8" name="Picture 7">
            <a:extLst>
              <a:ext uri="{FF2B5EF4-FFF2-40B4-BE49-F238E27FC236}">
                <a16:creationId xmlns:a16="http://schemas.microsoft.com/office/drawing/2014/main" id="{7D92503F-6FE7-5586-A190-306326C7D206}"/>
              </a:ext>
            </a:extLst>
          </p:cNvPr>
          <p:cNvPicPr>
            <a:picLocks noChangeAspect="1"/>
          </p:cNvPicPr>
          <p:nvPr/>
        </p:nvPicPr>
        <p:blipFill>
          <a:blip r:embed="rId5"/>
          <a:stretch>
            <a:fillRect/>
          </a:stretch>
        </p:blipFill>
        <p:spPr>
          <a:xfrm>
            <a:off x="1775638" y="3873609"/>
            <a:ext cx="715960" cy="982012"/>
          </a:xfrm>
          <a:prstGeom prst="rect">
            <a:avLst/>
          </a:prstGeom>
        </p:spPr>
      </p:pic>
      <p:pic>
        <p:nvPicPr>
          <p:cNvPr id="9" name="Picture 8">
            <a:extLst>
              <a:ext uri="{FF2B5EF4-FFF2-40B4-BE49-F238E27FC236}">
                <a16:creationId xmlns:a16="http://schemas.microsoft.com/office/drawing/2014/main" id="{54C0011F-88EB-0FCE-A76D-CFC9B2D9597B}"/>
              </a:ext>
            </a:extLst>
          </p:cNvPr>
          <p:cNvPicPr>
            <a:picLocks noChangeAspect="1"/>
          </p:cNvPicPr>
          <p:nvPr/>
        </p:nvPicPr>
        <p:blipFill>
          <a:blip r:embed="rId6"/>
          <a:stretch>
            <a:fillRect/>
          </a:stretch>
        </p:blipFill>
        <p:spPr>
          <a:xfrm>
            <a:off x="2637328" y="3912780"/>
            <a:ext cx="718258" cy="942841"/>
          </a:xfrm>
          <a:prstGeom prst="rect">
            <a:avLst/>
          </a:prstGeom>
        </p:spPr>
      </p:pic>
      <p:pic>
        <p:nvPicPr>
          <p:cNvPr id="10" name="Picture 9">
            <a:extLst>
              <a:ext uri="{FF2B5EF4-FFF2-40B4-BE49-F238E27FC236}">
                <a16:creationId xmlns:a16="http://schemas.microsoft.com/office/drawing/2014/main" id="{896E1028-F27B-29EB-156F-08647593E1E4}"/>
              </a:ext>
            </a:extLst>
          </p:cNvPr>
          <p:cNvPicPr>
            <a:picLocks noChangeAspect="1"/>
          </p:cNvPicPr>
          <p:nvPr/>
        </p:nvPicPr>
        <p:blipFill>
          <a:blip r:embed="rId7"/>
          <a:stretch>
            <a:fillRect/>
          </a:stretch>
        </p:blipFill>
        <p:spPr>
          <a:xfrm>
            <a:off x="2280497" y="5026643"/>
            <a:ext cx="799678" cy="1328201"/>
          </a:xfrm>
          <a:prstGeom prst="rect">
            <a:avLst/>
          </a:prstGeom>
        </p:spPr>
      </p:pic>
    </p:spTree>
    <p:extLst>
      <p:ext uri="{BB962C8B-B14F-4D97-AF65-F5344CB8AC3E}">
        <p14:creationId xmlns:p14="http://schemas.microsoft.com/office/powerpoint/2010/main" val="107095543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8C779-D678-8A90-8A08-000CEA93A63E}"/>
              </a:ext>
            </a:extLst>
          </p:cNvPr>
          <p:cNvSpPr>
            <a:spLocks noGrp="1"/>
          </p:cNvSpPr>
          <p:nvPr>
            <p:ph type="title"/>
          </p:nvPr>
        </p:nvSpPr>
        <p:spPr/>
        <p:txBody>
          <a:bodyPr/>
          <a:lstStyle/>
          <a:p>
            <a:r>
              <a:rPr lang="en-US" dirty="0"/>
              <a:t>Float Equipment and Guide Shoe Design</a:t>
            </a:r>
            <a:endParaRPr lang="en-ID" dirty="0"/>
          </a:p>
        </p:txBody>
      </p:sp>
      <p:sp>
        <p:nvSpPr>
          <p:cNvPr id="4" name="TextBox 3">
            <a:extLst>
              <a:ext uri="{FF2B5EF4-FFF2-40B4-BE49-F238E27FC236}">
                <a16:creationId xmlns:a16="http://schemas.microsoft.com/office/drawing/2014/main" id="{20A6F699-5036-3461-DACA-041812E56804}"/>
              </a:ext>
            </a:extLst>
          </p:cNvPr>
          <p:cNvSpPr txBox="1"/>
          <p:nvPr/>
        </p:nvSpPr>
        <p:spPr>
          <a:xfrm>
            <a:off x="639821" y="1278290"/>
            <a:ext cx="11002829" cy="4801314"/>
          </a:xfrm>
          <a:prstGeom prst="rect">
            <a:avLst/>
          </a:prstGeom>
          <a:noFill/>
        </p:spPr>
        <p:txBody>
          <a:bodyPr wrap="square" rtlCol="0">
            <a:spAutoFit/>
          </a:bodyPr>
          <a:lstStyle/>
          <a:p>
            <a:r>
              <a:rPr lang="en-US" dirty="0"/>
              <a:t>Float Equipment and Guide Shoe are made from Cement and Aluminum. Refer the advantage and disadvantages, below are the recommendation: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hole condition is in good shape, run Float Equipment and Guide Shoe made from Cement. Easy to be drilled out and no ID reduction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hole condition is NOT in good shape, run Float Equipment and Guide Shoe made from Aluminum. We could run faster and the bottom profile of FS (GS) will self-position following the hole profile. However it has risk difficult to be drilled out and final ID will be bit size used for drilling out (ID reduction, less than casing ID). Than it will increasing risk of stuck pipe due to tight hole clearance to the BHA OD. </a:t>
            </a:r>
          </a:p>
          <a:p>
            <a:pPr marL="287338"/>
            <a:endParaRPr lang="en-US" dirty="0"/>
          </a:p>
          <a:p>
            <a:pPr marL="287338"/>
            <a:r>
              <a:rPr lang="en-US" dirty="0"/>
              <a:t>As mitigation, drill out with mud motor (slightly bend) and use </a:t>
            </a:r>
            <a:r>
              <a:rPr lang="en-US" dirty="0">
                <a:solidFill>
                  <a:srgbClr val="C00000"/>
                </a:solidFill>
              </a:rPr>
              <a:t>PDC or Mill Tooth Bit</a:t>
            </a:r>
            <a:r>
              <a:rPr lang="en-US" dirty="0"/>
              <a:t>. Do not ever use Insert Bit.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case we want to rotate casing or liner due to operation dictate, we could use Reamer shoe.</a:t>
            </a:r>
            <a:r>
              <a:rPr lang="en-US" dirty="0">
                <a:sym typeface="Wingdings" panose="05000000000000000000" pitchFamily="2" charset="2"/>
              </a:rPr>
              <a:t> However reamer shoe is similar disadvantage with FS / GS made from Aluminum.</a:t>
            </a:r>
          </a:p>
          <a:p>
            <a:pPr marL="285750" indent="-285750">
              <a:buFont typeface="Arial" panose="020B0604020202020204" pitchFamily="34" charset="0"/>
              <a:buChar char="•"/>
            </a:pPr>
            <a:endParaRPr lang="en-US" dirty="0">
              <a:sym typeface="Wingdings" panose="05000000000000000000" pitchFamily="2" charset="2"/>
            </a:endParaRPr>
          </a:p>
        </p:txBody>
      </p:sp>
    </p:spTree>
    <p:extLst>
      <p:ext uri="{BB962C8B-B14F-4D97-AF65-F5344CB8AC3E}">
        <p14:creationId xmlns:p14="http://schemas.microsoft.com/office/powerpoint/2010/main" val="168166242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1557788" y="1271044"/>
            <a:ext cx="8839200" cy="3226527"/>
          </a:xfrm>
        </p:spPr>
        <p:txBody>
          <a:bodyPr>
            <a:normAutofit/>
          </a:bodyPr>
          <a:lstStyle/>
          <a:p>
            <a:pPr algn="ctr"/>
            <a:r>
              <a:rPr lang="en-US" altLang="en-US" sz="4400" b="1" dirty="0">
                <a:solidFill>
                  <a:srgbClr val="C00000"/>
                </a:solidFill>
              </a:rPr>
              <a:t>Casing Procurement Strategy</a:t>
            </a:r>
            <a:br>
              <a:rPr lang="en-US" altLang="en-US" sz="4400" b="1" dirty="0">
                <a:solidFill>
                  <a:srgbClr val="C00000"/>
                </a:solidFill>
              </a:rPr>
            </a:br>
            <a:br>
              <a:rPr lang="en-US" altLang="en-US" sz="4400" b="1" dirty="0">
                <a:solidFill>
                  <a:srgbClr val="C00000"/>
                </a:solidFill>
              </a:rPr>
            </a:br>
            <a:r>
              <a:rPr lang="en-US" altLang="en-US" sz="2400" b="1" dirty="0">
                <a:solidFill>
                  <a:srgbClr val="C00000"/>
                </a:solidFill>
              </a:rPr>
              <a:t>Casing Unit: Feet (Meter) vs Joint</a:t>
            </a:r>
            <a:br>
              <a:rPr lang="en-US" altLang="en-US" sz="2400" b="1" dirty="0">
                <a:solidFill>
                  <a:srgbClr val="C00000"/>
                </a:solidFill>
              </a:rPr>
            </a:br>
            <a:r>
              <a:rPr lang="en-US" altLang="en-US" sz="2400" b="1" dirty="0">
                <a:solidFill>
                  <a:srgbClr val="C00000"/>
                </a:solidFill>
              </a:rPr>
              <a:t>Casing Size Grouping</a:t>
            </a:r>
            <a:br>
              <a:rPr lang="en-US" altLang="en-US" sz="2400" b="1" dirty="0">
                <a:solidFill>
                  <a:srgbClr val="C00000"/>
                </a:solidFill>
              </a:rPr>
            </a:br>
            <a:r>
              <a:rPr lang="en-US" altLang="en-US" sz="2400" b="1" dirty="0">
                <a:solidFill>
                  <a:srgbClr val="C00000"/>
                </a:solidFill>
              </a:rPr>
              <a:t>Casing Sources</a:t>
            </a:r>
            <a:br>
              <a:rPr lang="en-US" altLang="en-US" sz="2400" b="1" dirty="0">
                <a:solidFill>
                  <a:srgbClr val="C00000"/>
                </a:solidFill>
              </a:rPr>
            </a:br>
            <a:r>
              <a:rPr lang="en-US" altLang="en-US" sz="2400" b="1" dirty="0">
                <a:solidFill>
                  <a:srgbClr val="C00000"/>
                </a:solidFill>
              </a:rPr>
              <a:t>Casing Perforation</a:t>
            </a:r>
          </a:p>
        </p:txBody>
      </p:sp>
      <p:sp>
        <p:nvSpPr>
          <p:cNvPr id="8704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2A46F92D-E237-4AFE-BF99-368A1AA6119B}" type="slidenum">
              <a:rPr lang="en-US" altLang="en-US" sz="1400"/>
              <a:pPr>
                <a:spcBef>
                  <a:spcPct val="0"/>
                </a:spcBef>
                <a:buFontTx/>
                <a:buNone/>
              </a:pPr>
              <a:t>133</a:t>
            </a:fld>
            <a:endParaRPr lang="en-US" altLang="en-US" sz="1400"/>
          </a:p>
        </p:txBody>
      </p:sp>
    </p:spTree>
    <p:extLst>
      <p:ext uri="{BB962C8B-B14F-4D97-AF65-F5344CB8AC3E}">
        <p14:creationId xmlns:p14="http://schemas.microsoft.com/office/powerpoint/2010/main" val="195960941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3CD19-C1EB-457A-A984-C53EE250A824}"/>
              </a:ext>
            </a:extLst>
          </p:cNvPr>
          <p:cNvSpPr>
            <a:spLocks noGrp="1"/>
          </p:cNvSpPr>
          <p:nvPr>
            <p:ph type="title"/>
          </p:nvPr>
        </p:nvSpPr>
        <p:spPr/>
        <p:txBody>
          <a:bodyPr/>
          <a:lstStyle/>
          <a:p>
            <a:r>
              <a:rPr lang="en-US" dirty="0"/>
              <a:t>Casing Pricing: Joint vs Feet</a:t>
            </a:r>
            <a:endParaRPr lang="en-ID" dirty="0"/>
          </a:p>
        </p:txBody>
      </p:sp>
      <p:pic>
        <p:nvPicPr>
          <p:cNvPr id="3" name="Picture 2">
            <a:extLst>
              <a:ext uri="{FF2B5EF4-FFF2-40B4-BE49-F238E27FC236}">
                <a16:creationId xmlns:a16="http://schemas.microsoft.com/office/drawing/2014/main" id="{26C9F4B9-61BA-479C-95D1-0CEDA7B7CA36}"/>
              </a:ext>
            </a:extLst>
          </p:cNvPr>
          <p:cNvPicPr>
            <a:picLocks noChangeAspect="1"/>
          </p:cNvPicPr>
          <p:nvPr/>
        </p:nvPicPr>
        <p:blipFill>
          <a:blip r:embed="rId2"/>
          <a:stretch>
            <a:fillRect/>
          </a:stretch>
        </p:blipFill>
        <p:spPr>
          <a:xfrm>
            <a:off x="599440" y="1385812"/>
            <a:ext cx="10068560" cy="4086375"/>
          </a:xfrm>
          <a:prstGeom prst="rect">
            <a:avLst/>
          </a:prstGeom>
        </p:spPr>
      </p:pic>
    </p:spTree>
    <p:extLst>
      <p:ext uri="{BB962C8B-B14F-4D97-AF65-F5344CB8AC3E}">
        <p14:creationId xmlns:p14="http://schemas.microsoft.com/office/powerpoint/2010/main" val="155190495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04" y="-3812"/>
            <a:ext cx="11928992" cy="1143000"/>
          </a:xfrm>
        </p:spPr>
        <p:txBody>
          <a:bodyPr>
            <a:normAutofit/>
          </a:bodyPr>
          <a:lstStyle/>
          <a:p>
            <a:r>
              <a:rPr lang="en-US" sz="3200" b="1" dirty="0">
                <a:solidFill>
                  <a:srgbClr val="C00000"/>
                </a:solidFill>
              </a:rPr>
              <a:t>CASING VENDOR SURVEY: Casing Size Grouping for Procurement</a:t>
            </a: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525" y="1235317"/>
            <a:ext cx="12182475" cy="4326406"/>
          </a:xfrm>
          <a:prstGeom prst="rect">
            <a:avLst/>
          </a:prstGeom>
        </p:spPr>
      </p:pic>
      <p:graphicFrame>
        <p:nvGraphicFramePr>
          <p:cNvPr id="3" name="Table 4">
            <a:extLst>
              <a:ext uri="{FF2B5EF4-FFF2-40B4-BE49-F238E27FC236}">
                <a16:creationId xmlns:a16="http://schemas.microsoft.com/office/drawing/2014/main" id="{967B3164-3DFF-4FCB-B144-E4128ACA64A1}"/>
              </a:ext>
            </a:extLst>
          </p:cNvPr>
          <p:cNvGraphicFramePr>
            <a:graphicFrameLocks noGrp="1"/>
          </p:cNvGraphicFramePr>
          <p:nvPr/>
        </p:nvGraphicFramePr>
        <p:xfrm>
          <a:off x="2481961" y="5574666"/>
          <a:ext cx="9151238" cy="1285240"/>
        </p:xfrm>
        <a:graphic>
          <a:graphicData uri="http://schemas.openxmlformats.org/drawingml/2006/table">
            <a:tbl>
              <a:tblPr firstRow="1" bandRow="1">
                <a:tableStyleId>{5C22544A-7EE6-4342-B048-85BDC9FD1C3A}</a:tableStyleId>
              </a:tblPr>
              <a:tblGrid>
                <a:gridCol w="2090039">
                  <a:extLst>
                    <a:ext uri="{9D8B030D-6E8A-4147-A177-3AD203B41FA5}">
                      <a16:colId xmlns:a16="http://schemas.microsoft.com/office/drawing/2014/main" val="1106893364"/>
                    </a:ext>
                  </a:extLst>
                </a:gridCol>
                <a:gridCol w="2214880">
                  <a:extLst>
                    <a:ext uri="{9D8B030D-6E8A-4147-A177-3AD203B41FA5}">
                      <a16:colId xmlns:a16="http://schemas.microsoft.com/office/drawing/2014/main" val="2803337580"/>
                    </a:ext>
                  </a:extLst>
                </a:gridCol>
                <a:gridCol w="2558509">
                  <a:extLst>
                    <a:ext uri="{9D8B030D-6E8A-4147-A177-3AD203B41FA5}">
                      <a16:colId xmlns:a16="http://schemas.microsoft.com/office/drawing/2014/main" val="3640288938"/>
                    </a:ext>
                  </a:extLst>
                </a:gridCol>
                <a:gridCol w="2287810">
                  <a:extLst>
                    <a:ext uri="{9D8B030D-6E8A-4147-A177-3AD203B41FA5}">
                      <a16:colId xmlns:a16="http://schemas.microsoft.com/office/drawing/2014/main" val="2108127115"/>
                    </a:ext>
                  </a:extLst>
                </a:gridCol>
              </a:tblGrid>
              <a:tr h="370840">
                <a:tc>
                  <a:txBody>
                    <a:bodyPr/>
                    <a:lstStyle/>
                    <a:p>
                      <a:r>
                        <a:rPr lang="en-US" dirty="0"/>
                        <a:t>Group-1</a:t>
                      </a:r>
                      <a:endParaRPr lang="en-ID" dirty="0"/>
                    </a:p>
                  </a:txBody>
                  <a:tcPr/>
                </a:tc>
                <a:tc>
                  <a:txBody>
                    <a:bodyPr/>
                    <a:lstStyle/>
                    <a:p>
                      <a:r>
                        <a:rPr lang="en-US" dirty="0"/>
                        <a:t>Group-2</a:t>
                      </a:r>
                      <a:endParaRPr lang="en-ID" dirty="0"/>
                    </a:p>
                  </a:txBody>
                  <a:tcPr/>
                </a:tc>
                <a:tc>
                  <a:txBody>
                    <a:bodyPr/>
                    <a:lstStyle/>
                    <a:p>
                      <a:r>
                        <a:rPr lang="en-US" dirty="0"/>
                        <a:t>Group-3</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Group-4</a:t>
                      </a:r>
                      <a:endParaRPr lang="en-ID" dirty="0"/>
                    </a:p>
                  </a:txBody>
                  <a:tcPr/>
                </a:tc>
                <a:extLst>
                  <a:ext uri="{0D108BD9-81ED-4DB2-BD59-A6C34878D82A}">
                    <a16:rowId xmlns:a16="http://schemas.microsoft.com/office/drawing/2014/main" val="2393100221"/>
                  </a:ext>
                </a:extLst>
              </a:tr>
              <a:tr h="370840">
                <a:tc>
                  <a:txBody>
                    <a:bodyPr/>
                    <a:lstStyle/>
                    <a:p>
                      <a:r>
                        <a:rPr lang="en-US" dirty="0"/>
                        <a:t>30” Conductor</a:t>
                      </a:r>
                      <a:endParaRPr lang="en-ID" dirty="0"/>
                    </a:p>
                  </a:txBody>
                  <a:tcPr/>
                </a:tc>
                <a:tc>
                  <a:txBody>
                    <a:bodyPr/>
                    <a:lstStyle/>
                    <a:p>
                      <a:r>
                        <a:rPr lang="en-US" dirty="0"/>
                        <a:t>20” Casing</a:t>
                      </a:r>
                      <a:endParaRPr lang="en-ID" dirty="0"/>
                    </a:p>
                  </a:txBody>
                  <a:tcPr/>
                </a:tc>
                <a:tc>
                  <a:txBody>
                    <a:bodyPr/>
                    <a:lstStyle/>
                    <a:p>
                      <a:r>
                        <a:rPr lang="en-US" dirty="0"/>
                        <a:t>13-3/8” Casing</a:t>
                      </a:r>
                    </a:p>
                    <a:p>
                      <a:r>
                        <a:rPr lang="en-US" dirty="0"/>
                        <a:t>9-5/8” Casing</a:t>
                      </a:r>
                    </a:p>
                  </a:txBody>
                  <a:tcPr/>
                </a:tc>
                <a:tc>
                  <a:txBody>
                    <a:bodyPr/>
                    <a:lstStyle/>
                    <a:p>
                      <a:r>
                        <a:rPr lang="en-US" dirty="0"/>
                        <a:t>10-3/4” Casing</a:t>
                      </a:r>
                    </a:p>
                    <a:p>
                      <a:r>
                        <a:rPr lang="en-US" dirty="0"/>
                        <a:t>8-5/8” Casing</a:t>
                      </a:r>
                    </a:p>
                    <a:p>
                      <a:r>
                        <a:rPr lang="en-US" dirty="0"/>
                        <a:t>7” Casing</a:t>
                      </a:r>
                      <a:endParaRPr lang="en-ID" dirty="0"/>
                    </a:p>
                  </a:txBody>
                  <a:tcPr/>
                </a:tc>
                <a:extLst>
                  <a:ext uri="{0D108BD9-81ED-4DB2-BD59-A6C34878D82A}">
                    <a16:rowId xmlns:a16="http://schemas.microsoft.com/office/drawing/2014/main" val="507433396"/>
                  </a:ext>
                </a:extLst>
              </a:tr>
            </a:tbl>
          </a:graphicData>
        </a:graphic>
      </p:graphicFrame>
      <p:sp>
        <p:nvSpPr>
          <p:cNvPr id="5" name="Arrow: Right 4">
            <a:extLst>
              <a:ext uri="{FF2B5EF4-FFF2-40B4-BE49-F238E27FC236}">
                <a16:creationId xmlns:a16="http://schemas.microsoft.com/office/drawing/2014/main" id="{79CDBC6D-1910-4F58-A392-F76585945B2B}"/>
              </a:ext>
            </a:extLst>
          </p:cNvPr>
          <p:cNvSpPr/>
          <p:nvPr/>
        </p:nvSpPr>
        <p:spPr>
          <a:xfrm>
            <a:off x="9525" y="5657852"/>
            <a:ext cx="2396372" cy="1159508"/>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lumMod val="50000"/>
                  </a:schemeClr>
                </a:solidFill>
              </a:rPr>
              <a:t>Partial Award refer to Casing Sizes</a:t>
            </a:r>
            <a:endParaRPr lang="en-ID" dirty="0">
              <a:solidFill>
                <a:schemeClr val="tx2">
                  <a:lumMod val="50000"/>
                </a:schemeClr>
              </a:solidFill>
            </a:endParaRPr>
          </a:p>
        </p:txBody>
      </p:sp>
    </p:spTree>
    <p:extLst>
      <p:ext uri="{BB962C8B-B14F-4D97-AF65-F5344CB8AC3E}">
        <p14:creationId xmlns:p14="http://schemas.microsoft.com/office/powerpoint/2010/main" val="344977830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0540" y="394506"/>
            <a:ext cx="10865466" cy="639763"/>
          </a:xfrm>
        </p:spPr>
        <p:txBody>
          <a:bodyPr anchor="t">
            <a:noAutofit/>
          </a:bodyPr>
          <a:lstStyle/>
          <a:p>
            <a:r>
              <a:rPr lang="id-ID" altLang="en-US" sz="4000" b="1" dirty="0">
                <a:solidFill>
                  <a:schemeClr val="accent6">
                    <a:lumMod val="50000"/>
                  </a:schemeClr>
                </a:solidFill>
              </a:rPr>
              <a:t>CASING </a:t>
            </a:r>
            <a:r>
              <a:rPr lang="en-US" altLang="en-US" sz="4000" b="1" dirty="0">
                <a:solidFill>
                  <a:schemeClr val="accent6">
                    <a:lumMod val="50000"/>
                  </a:schemeClr>
                </a:solidFill>
              </a:rPr>
              <a:t>SOURCES - </a:t>
            </a:r>
            <a:r>
              <a:rPr lang="en-US" altLang="en-US" sz="4000" dirty="0">
                <a:solidFill>
                  <a:srgbClr val="FF0000"/>
                </a:solidFill>
              </a:rPr>
              <a:t>C</a:t>
            </a:r>
            <a:r>
              <a:rPr lang="en-US" sz="4000" dirty="0">
                <a:solidFill>
                  <a:srgbClr val="FF0000"/>
                </a:solidFill>
              </a:rPr>
              <a:t>asing from China </a:t>
            </a:r>
            <a:endParaRPr lang="en-US" altLang="en-US" sz="4000" b="1" dirty="0">
              <a:solidFill>
                <a:srgbClr val="FF0000"/>
              </a:solidFill>
            </a:endParaRPr>
          </a:p>
        </p:txBody>
      </p:sp>
      <p:sp>
        <p:nvSpPr>
          <p:cNvPr id="2" name="TextBox 1"/>
          <p:cNvSpPr txBox="1"/>
          <p:nvPr/>
        </p:nvSpPr>
        <p:spPr>
          <a:xfrm>
            <a:off x="663267" y="1275526"/>
            <a:ext cx="10865466" cy="4154984"/>
          </a:xfrm>
          <a:prstGeom prst="rect">
            <a:avLst/>
          </a:prstGeom>
          <a:noFill/>
        </p:spPr>
        <p:txBody>
          <a:bodyPr wrap="square">
            <a:spAutoFit/>
          </a:bodyPr>
          <a:lstStyle/>
          <a:p>
            <a:pPr marL="742950" indent="-742950">
              <a:buFont typeface="+mj-lt"/>
              <a:buAutoNum type="arabicPeriod"/>
              <a:defRPr/>
            </a:pPr>
            <a:r>
              <a:rPr lang="en-US" sz="4400" dirty="0">
                <a:solidFill>
                  <a:srgbClr val="FFC000"/>
                </a:solidFill>
              </a:rPr>
              <a:t>Most opinion: NO due to lack of quality of green pipe</a:t>
            </a:r>
          </a:p>
          <a:p>
            <a:pPr marL="742950" indent="-742950">
              <a:buFont typeface="+mj-lt"/>
              <a:buAutoNum type="arabicPeriod"/>
              <a:defRPr/>
            </a:pPr>
            <a:r>
              <a:rPr lang="en-US" sz="4400" dirty="0">
                <a:solidFill>
                  <a:srgbClr val="FFC000"/>
                </a:solidFill>
              </a:rPr>
              <a:t>Second Opinion: YES due to cheap price. Accepted with mitigation.</a:t>
            </a:r>
          </a:p>
          <a:p>
            <a:pPr marL="742950" indent="-742950">
              <a:buFont typeface="+mj-lt"/>
              <a:buAutoNum type="arabicPeriod"/>
              <a:defRPr/>
            </a:pPr>
            <a:r>
              <a:rPr lang="en-US" sz="4400" dirty="0">
                <a:solidFill>
                  <a:srgbClr val="C00000"/>
                </a:solidFill>
              </a:rPr>
              <a:t>Third Opinion: Have to, If I was working in KS ORKA.</a:t>
            </a:r>
          </a:p>
        </p:txBody>
      </p:sp>
      <p:pic>
        <p:nvPicPr>
          <p:cNvPr id="62469" name="Picture 2" descr="C:\Users\cjvz\Desktop\download.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1058264" y="5430510"/>
            <a:ext cx="1017587"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http://www.katherineemmons.com/wp-content/uploads/2013/06/question_mark-icon.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305924" y="364949"/>
            <a:ext cx="725179" cy="669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542804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46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723900" y="404672"/>
            <a:ext cx="8229600" cy="639763"/>
          </a:xfrm>
        </p:spPr>
        <p:txBody>
          <a:bodyPr anchor="t">
            <a:noAutofit/>
          </a:bodyPr>
          <a:lstStyle/>
          <a:p>
            <a:pPr eaLnBrk="1" hangingPunct="1"/>
            <a:r>
              <a:rPr lang="id-ID" altLang="en-US" sz="4000" b="1" dirty="0">
                <a:solidFill>
                  <a:schemeClr val="accent6">
                    <a:lumMod val="50000"/>
                  </a:schemeClr>
                </a:solidFill>
              </a:rPr>
              <a:t>CASING PRICE COMPARISON</a:t>
            </a:r>
            <a:r>
              <a:rPr lang="en-US" altLang="en-US" sz="4000" b="1" dirty="0">
                <a:solidFill>
                  <a:schemeClr val="accent6">
                    <a:lumMod val="50000"/>
                  </a:schemeClr>
                </a:solidFill>
              </a:rPr>
              <a:t> </a:t>
            </a:r>
            <a:r>
              <a:rPr lang="en-US" altLang="en-US" sz="4000" b="1" dirty="0">
                <a:solidFill>
                  <a:srgbClr val="FF0000"/>
                </a:solidFill>
              </a:rPr>
              <a:t>(</a:t>
            </a:r>
            <a:r>
              <a:rPr lang="en-US" altLang="en-US" sz="2400" b="1" dirty="0">
                <a:solidFill>
                  <a:srgbClr val="FF0000"/>
                </a:solidFill>
              </a:rPr>
              <a:t>2010</a:t>
            </a:r>
            <a:r>
              <a:rPr lang="en-US" altLang="en-US" sz="4000" b="1" dirty="0">
                <a:solidFill>
                  <a:srgbClr val="FF0000"/>
                </a:solidFill>
              </a:rPr>
              <a:t>)</a:t>
            </a:r>
          </a:p>
        </p:txBody>
      </p:sp>
      <p:graphicFrame>
        <p:nvGraphicFramePr>
          <p:cNvPr id="6" name="Chart 5"/>
          <p:cNvGraphicFramePr>
            <a:graphicFrameLocks/>
          </p:cNvGraphicFramePr>
          <p:nvPr/>
        </p:nvGraphicFramePr>
        <p:xfrm>
          <a:off x="292630" y="1247635"/>
          <a:ext cx="3801122" cy="298317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nvGraphicFramePr>
        <p:xfrm>
          <a:off x="4258101" y="1307938"/>
          <a:ext cx="3798628" cy="29228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p:cNvGraphicFramePr>
            <a:graphicFrameLocks/>
          </p:cNvGraphicFramePr>
          <p:nvPr/>
        </p:nvGraphicFramePr>
        <p:xfrm>
          <a:off x="8221078" y="1247635"/>
          <a:ext cx="3461406" cy="2983171"/>
        </p:xfrm>
        <a:graphic>
          <a:graphicData uri="http://schemas.openxmlformats.org/drawingml/2006/chart">
            <c:chart xmlns:c="http://schemas.openxmlformats.org/drawingml/2006/chart" xmlns:r="http://schemas.openxmlformats.org/officeDocument/2006/relationships" r:id="rId4"/>
          </a:graphicData>
        </a:graphic>
      </p:graphicFrame>
      <p:sp>
        <p:nvSpPr>
          <p:cNvPr id="64518" name="TextBox 8"/>
          <p:cNvSpPr txBox="1">
            <a:spLocks noChangeArrowheads="1"/>
          </p:cNvSpPr>
          <p:nvPr/>
        </p:nvSpPr>
        <p:spPr bwMode="auto">
          <a:xfrm>
            <a:off x="379002" y="5509945"/>
            <a:ext cx="7429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457200" indent="-457200">
              <a:spcBef>
                <a:spcPct val="0"/>
              </a:spcBef>
            </a:pPr>
            <a:r>
              <a:rPr lang="id-ID" altLang="en-US" sz="2800" dirty="0">
                <a:solidFill>
                  <a:srgbClr val="C00000"/>
                </a:solidFill>
                <a:latin typeface="Times New Roman" panose="02020603050405020304" pitchFamily="18" charset="0"/>
              </a:rPr>
              <a:t>How to ensure </a:t>
            </a:r>
            <a:r>
              <a:rPr lang="en-US" altLang="en-US" sz="2800" dirty="0">
                <a:solidFill>
                  <a:srgbClr val="C00000"/>
                </a:solidFill>
                <a:latin typeface="Times New Roman" panose="02020603050405020304" pitchFamily="18" charset="0"/>
              </a:rPr>
              <a:t>the casing quality from China </a:t>
            </a:r>
            <a:endParaRPr lang="id-ID" altLang="en-US" sz="2800" dirty="0">
              <a:solidFill>
                <a:srgbClr val="C00000"/>
              </a:solidFill>
              <a:latin typeface="Times New Roman" panose="02020603050405020304" pitchFamily="18" charset="0"/>
            </a:endParaRPr>
          </a:p>
        </p:txBody>
      </p:sp>
      <p:grpSp>
        <p:nvGrpSpPr>
          <p:cNvPr id="3" name="Group 2"/>
          <p:cNvGrpSpPr/>
          <p:nvPr/>
        </p:nvGrpSpPr>
        <p:grpSpPr>
          <a:xfrm>
            <a:off x="581878" y="4501803"/>
            <a:ext cx="3222625" cy="830263"/>
            <a:chOff x="784755" y="4182558"/>
            <a:chExt cx="3222625" cy="830263"/>
          </a:xfrm>
        </p:grpSpPr>
        <p:sp>
          <p:nvSpPr>
            <p:cNvPr id="2" name="Rectangle 1"/>
            <p:cNvSpPr/>
            <p:nvPr/>
          </p:nvSpPr>
          <p:spPr>
            <a:xfrm>
              <a:off x="784755" y="4277807"/>
              <a:ext cx="609600" cy="268288"/>
            </a:xfrm>
            <a:prstGeom prst="rect">
              <a:avLst/>
            </a:prstGeom>
            <a:blipFill>
              <a:blip r:embed="rId5"/>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784755" y="4692146"/>
              <a:ext cx="609600" cy="269875"/>
            </a:xfrm>
            <a:prstGeom prst="rect">
              <a:avLst/>
            </a:prstGeom>
            <a:blipFill>
              <a:blip r:embed="rId6"/>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4521" name="TextBox 8"/>
            <p:cNvSpPr txBox="1">
              <a:spLocks noChangeArrowheads="1"/>
            </p:cNvSpPr>
            <p:nvPr/>
          </p:nvSpPr>
          <p:spPr bwMode="auto">
            <a:xfrm>
              <a:off x="1492780" y="4182558"/>
              <a:ext cx="2514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rgbClr val="FFC000"/>
                  </a:solidFill>
                  <a:latin typeface="Times New Roman" panose="02020603050405020304" pitchFamily="18" charset="0"/>
                </a:rPr>
                <a:t>Non China</a:t>
              </a:r>
            </a:p>
            <a:p>
              <a:pPr eaLnBrk="1" hangingPunct="1">
                <a:spcBef>
                  <a:spcPct val="0"/>
                </a:spcBef>
                <a:buFontTx/>
                <a:buNone/>
              </a:pPr>
              <a:r>
                <a:rPr lang="en-US" altLang="en-US" sz="2400" dirty="0">
                  <a:solidFill>
                    <a:srgbClr val="FFC000"/>
                  </a:solidFill>
                  <a:latin typeface="Times New Roman" panose="02020603050405020304" pitchFamily="18" charset="0"/>
                </a:rPr>
                <a:t>China</a:t>
              </a:r>
              <a:endParaRPr lang="id-ID" altLang="en-US" sz="2400" dirty="0">
                <a:solidFill>
                  <a:srgbClr val="FFC000"/>
                </a:solidFill>
                <a:latin typeface="Times New Roman" panose="02020603050405020304" pitchFamily="18" charset="0"/>
              </a:endParaRPr>
            </a:p>
          </p:txBody>
        </p:sp>
      </p:grpSp>
      <p:pic>
        <p:nvPicPr>
          <p:cNvPr id="64522" name="Picture 2" descr="http://www.katherineemmons.com/wp-content/uploads/2013/06/question_mark-icon.png"/>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44815" y="5238948"/>
            <a:ext cx="1152525"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7">
            <a:extLst>
              <a:ext uri="{FF2B5EF4-FFF2-40B4-BE49-F238E27FC236}">
                <a16:creationId xmlns:a16="http://schemas.microsoft.com/office/drawing/2014/main" id="{BBCB860B-3F9C-A116-1527-46B2645FA4F2}"/>
              </a:ext>
            </a:extLst>
          </p:cNvPr>
          <p:cNvGrpSpPr/>
          <p:nvPr/>
        </p:nvGrpSpPr>
        <p:grpSpPr>
          <a:xfrm>
            <a:off x="9798995" y="231307"/>
            <a:ext cx="2029839" cy="782003"/>
            <a:chOff x="0" y="0"/>
            <a:chExt cx="6531488" cy="2226149"/>
          </a:xfrm>
        </p:grpSpPr>
        <p:sp>
          <p:nvSpPr>
            <p:cNvPr id="5" name="Freeform 8">
              <a:extLst>
                <a:ext uri="{FF2B5EF4-FFF2-40B4-BE49-F238E27FC236}">
                  <a16:creationId xmlns:a16="http://schemas.microsoft.com/office/drawing/2014/main" id="{D5255C6B-9425-FF9C-2B01-767A4CE99F56}"/>
                </a:ext>
              </a:extLst>
            </p:cNvPr>
            <p:cNvSpPr/>
            <p:nvPr/>
          </p:nvSpPr>
          <p:spPr>
            <a:xfrm>
              <a:off x="0" y="0"/>
              <a:ext cx="6531483" cy="2226183"/>
            </a:xfrm>
            <a:custGeom>
              <a:avLst/>
              <a:gdLst/>
              <a:ahLst/>
              <a:cxnLst/>
              <a:rect l="l" t="t" r="r" b="b"/>
              <a:pathLst>
                <a:path w="6531483" h="2226183">
                  <a:moveTo>
                    <a:pt x="0" y="0"/>
                  </a:moveTo>
                  <a:lnTo>
                    <a:pt x="6531483" y="0"/>
                  </a:lnTo>
                  <a:lnTo>
                    <a:pt x="6531483" y="2226183"/>
                  </a:lnTo>
                  <a:lnTo>
                    <a:pt x="0" y="2226183"/>
                  </a:lnTo>
                  <a:lnTo>
                    <a:pt x="0" y="0"/>
                  </a:lnTo>
                  <a:close/>
                </a:path>
              </a:pathLst>
            </a:custGeom>
            <a:blipFill>
              <a:blip r:embed="rId8"/>
              <a:stretch>
                <a:fillRect t="-61" b="-59"/>
              </a:stretch>
            </a:blipFill>
          </p:spPr>
          <p:txBody>
            <a:bodyPr/>
            <a:lstStyle/>
            <a:p>
              <a:endParaRPr lang="en-ID"/>
            </a:p>
          </p:txBody>
        </p:sp>
      </p:grpSp>
    </p:spTree>
    <p:extLst>
      <p:ext uri="{BB962C8B-B14F-4D97-AF65-F5344CB8AC3E}">
        <p14:creationId xmlns:p14="http://schemas.microsoft.com/office/powerpoint/2010/main" val="464872210"/>
      </p:ext>
    </p:extLst>
  </p:cSld>
  <p:clrMapOvr>
    <a:masterClrMapping/>
  </p:clrMapOvr>
  <p:transition spd="slow"/>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AF825-A9A2-42C8-9BBC-85EC2355B3AF}"/>
              </a:ext>
            </a:extLst>
          </p:cNvPr>
          <p:cNvSpPr>
            <a:spLocks noGrp="1"/>
          </p:cNvSpPr>
          <p:nvPr>
            <p:ph type="title"/>
          </p:nvPr>
        </p:nvSpPr>
        <p:spPr>
          <a:xfrm>
            <a:off x="521207" y="448056"/>
            <a:ext cx="9207583" cy="640080"/>
          </a:xfrm>
        </p:spPr>
        <p:txBody>
          <a:bodyPr>
            <a:normAutofit/>
          </a:bodyPr>
          <a:lstStyle/>
          <a:p>
            <a:r>
              <a:rPr lang="en-US" dirty="0"/>
              <a:t>Perforated Casing Method: </a:t>
            </a:r>
            <a:r>
              <a:rPr lang="en-US" sz="3200" b="1" dirty="0">
                <a:solidFill>
                  <a:srgbClr val="C00000"/>
                </a:solidFill>
              </a:rPr>
              <a:t>At Workshop</a:t>
            </a:r>
            <a:endParaRPr lang="en-ID" sz="3200" b="1" dirty="0">
              <a:solidFill>
                <a:srgbClr val="C00000"/>
              </a:solidFill>
            </a:endParaRPr>
          </a:p>
        </p:txBody>
      </p:sp>
      <p:pic>
        <p:nvPicPr>
          <p:cNvPr id="5" name="Picture 4">
            <a:extLst>
              <a:ext uri="{FF2B5EF4-FFF2-40B4-BE49-F238E27FC236}">
                <a16:creationId xmlns:a16="http://schemas.microsoft.com/office/drawing/2014/main" id="{2925EF67-4605-494D-96D5-4EDC797B293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2521" y="1376916"/>
            <a:ext cx="6782814" cy="3258879"/>
          </a:xfrm>
          <a:prstGeom prst="rect">
            <a:avLst/>
          </a:prstGeom>
        </p:spPr>
      </p:pic>
      <p:pic>
        <p:nvPicPr>
          <p:cNvPr id="6" name="Picture 5">
            <a:extLst>
              <a:ext uri="{FF2B5EF4-FFF2-40B4-BE49-F238E27FC236}">
                <a16:creationId xmlns:a16="http://schemas.microsoft.com/office/drawing/2014/main" id="{F66F726C-6313-4F12-9746-75167E065E7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480807" y="1285494"/>
            <a:ext cx="2963673" cy="1529255"/>
          </a:xfrm>
          <a:prstGeom prst="rect">
            <a:avLst/>
          </a:prstGeom>
        </p:spPr>
      </p:pic>
      <p:pic>
        <p:nvPicPr>
          <p:cNvPr id="7" name="Picture 6">
            <a:extLst>
              <a:ext uri="{FF2B5EF4-FFF2-40B4-BE49-F238E27FC236}">
                <a16:creationId xmlns:a16="http://schemas.microsoft.com/office/drawing/2014/main" id="{3B7BBBF6-0456-4D75-BDB6-32216358A92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480807" y="3093839"/>
            <a:ext cx="2963672" cy="1491971"/>
          </a:xfrm>
          <a:prstGeom prst="rect">
            <a:avLst/>
          </a:prstGeom>
        </p:spPr>
      </p:pic>
      <p:pic>
        <p:nvPicPr>
          <p:cNvPr id="9" name="Picture 8">
            <a:extLst>
              <a:ext uri="{FF2B5EF4-FFF2-40B4-BE49-F238E27FC236}">
                <a16:creationId xmlns:a16="http://schemas.microsoft.com/office/drawing/2014/main" id="{55DBA220-59BC-4705-93A3-9D05970DC92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116819" y="4667719"/>
            <a:ext cx="1394460" cy="1394460"/>
          </a:xfrm>
          <a:prstGeom prst="rect">
            <a:avLst/>
          </a:prstGeom>
        </p:spPr>
      </p:pic>
      <p:pic>
        <p:nvPicPr>
          <p:cNvPr id="10" name="Picture 9">
            <a:extLst>
              <a:ext uri="{FF2B5EF4-FFF2-40B4-BE49-F238E27FC236}">
                <a16:creationId xmlns:a16="http://schemas.microsoft.com/office/drawing/2014/main" id="{F12037A8-C7B6-435E-A9FB-51F82F3274A6}"/>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7359417" y="4667718"/>
            <a:ext cx="2651230" cy="1394459"/>
          </a:xfrm>
          <a:prstGeom prst="rect">
            <a:avLst/>
          </a:prstGeom>
        </p:spPr>
      </p:pic>
      <p:pic>
        <p:nvPicPr>
          <p:cNvPr id="11" name="Picture 10">
            <a:extLst>
              <a:ext uri="{FF2B5EF4-FFF2-40B4-BE49-F238E27FC236}">
                <a16:creationId xmlns:a16="http://schemas.microsoft.com/office/drawing/2014/main" id="{55FCB1AF-105A-419F-BE77-8792C5C0856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746520" y="4913637"/>
            <a:ext cx="2963672" cy="1491971"/>
          </a:xfrm>
          <a:prstGeom prst="rect">
            <a:avLst/>
          </a:prstGeom>
        </p:spPr>
      </p:pic>
      <p:pic>
        <p:nvPicPr>
          <p:cNvPr id="12" name="Picture 11">
            <a:extLst>
              <a:ext uri="{FF2B5EF4-FFF2-40B4-BE49-F238E27FC236}">
                <a16:creationId xmlns:a16="http://schemas.microsoft.com/office/drawing/2014/main" id="{3C2FADDC-4D7E-4FC5-B848-9DDC3BB7D3B6}"/>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36821" y="4907034"/>
            <a:ext cx="2651230" cy="1502909"/>
          </a:xfrm>
          <a:prstGeom prst="rect">
            <a:avLst/>
          </a:prstGeom>
        </p:spPr>
      </p:pic>
      <p:sp>
        <p:nvSpPr>
          <p:cNvPr id="13" name="Arrow: Down 12">
            <a:extLst>
              <a:ext uri="{FF2B5EF4-FFF2-40B4-BE49-F238E27FC236}">
                <a16:creationId xmlns:a16="http://schemas.microsoft.com/office/drawing/2014/main" id="{52C68824-C567-4D4E-9D4F-A6D2529FFA07}"/>
              </a:ext>
            </a:extLst>
          </p:cNvPr>
          <p:cNvSpPr/>
          <p:nvPr/>
        </p:nvSpPr>
        <p:spPr>
          <a:xfrm>
            <a:off x="8307577" y="2671865"/>
            <a:ext cx="1146893" cy="538480"/>
          </a:xfrm>
          <a:prstGeom prst="downArrow">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Arrow: Down 13">
            <a:extLst>
              <a:ext uri="{FF2B5EF4-FFF2-40B4-BE49-F238E27FC236}">
                <a16:creationId xmlns:a16="http://schemas.microsoft.com/office/drawing/2014/main" id="{C9BC62AB-E364-41BD-8B59-D22F604056BB}"/>
              </a:ext>
            </a:extLst>
          </p:cNvPr>
          <p:cNvSpPr/>
          <p:nvPr/>
        </p:nvSpPr>
        <p:spPr>
          <a:xfrm>
            <a:off x="8389196" y="4398478"/>
            <a:ext cx="1146893" cy="538480"/>
          </a:xfrm>
          <a:prstGeom prst="downArrow">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Arrow: Down 14">
            <a:extLst>
              <a:ext uri="{FF2B5EF4-FFF2-40B4-BE49-F238E27FC236}">
                <a16:creationId xmlns:a16="http://schemas.microsoft.com/office/drawing/2014/main" id="{A81BC6DE-B7A8-44B4-A6ED-B34460DB1116}"/>
              </a:ext>
            </a:extLst>
          </p:cNvPr>
          <p:cNvSpPr/>
          <p:nvPr/>
        </p:nvSpPr>
        <p:spPr>
          <a:xfrm rot="5400000" flipH="1">
            <a:off x="6410558" y="5266328"/>
            <a:ext cx="1146893" cy="538480"/>
          </a:xfrm>
          <a:prstGeom prst="downArrow">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Arrow: Down 15">
            <a:extLst>
              <a:ext uri="{FF2B5EF4-FFF2-40B4-BE49-F238E27FC236}">
                <a16:creationId xmlns:a16="http://schemas.microsoft.com/office/drawing/2014/main" id="{E8999F8E-39CD-41DF-8406-CDE5F9C291F3}"/>
              </a:ext>
            </a:extLst>
          </p:cNvPr>
          <p:cNvSpPr/>
          <p:nvPr/>
        </p:nvSpPr>
        <p:spPr>
          <a:xfrm rot="5400000" flipH="1">
            <a:off x="2794589" y="5266328"/>
            <a:ext cx="1146893" cy="538480"/>
          </a:xfrm>
          <a:prstGeom prst="downArrow">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75298565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888B325-72E9-4E39-9181-FA875B1A8D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468698" y="2868652"/>
            <a:ext cx="3802042" cy="1710919"/>
          </a:xfrm>
          <a:prstGeom prst="rect">
            <a:avLst/>
          </a:prstGeom>
        </p:spPr>
      </p:pic>
      <p:sp>
        <p:nvSpPr>
          <p:cNvPr id="2" name="Title 1">
            <a:extLst>
              <a:ext uri="{FF2B5EF4-FFF2-40B4-BE49-F238E27FC236}">
                <a16:creationId xmlns:a16="http://schemas.microsoft.com/office/drawing/2014/main" id="{DECAF825-A9A2-42C8-9BBC-85EC2355B3AF}"/>
              </a:ext>
            </a:extLst>
          </p:cNvPr>
          <p:cNvSpPr>
            <a:spLocks noGrp="1"/>
          </p:cNvSpPr>
          <p:nvPr>
            <p:ph type="title"/>
          </p:nvPr>
        </p:nvSpPr>
        <p:spPr>
          <a:xfrm>
            <a:off x="521207" y="448056"/>
            <a:ext cx="9207583" cy="640080"/>
          </a:xfrm>
        </p:spPr>
        <p:txBody>
          <a:bodyPr>
            <a:normAutofit/>
          </a:bodyPr>
          <a:lstStyle/>
          <a:p>
            <a:r>
              <a:rPr lang="en-US" dirty="0"/>
              <a:t>Perforated Casing Method: </a:t>
            </a:r>
            <a:r>
              <a:rPr lang="en-US" sz="3200" b="1" dirty="0">
                <a:solidFill>
                  <a:srgbClr val="C00000"/>
                </a:solidFill>
              </a:rPr>
              <a:t>At Rig Site</a:t>
            </a:r>
            <a:endParaRPr lang="en-ID" sz="3200" b="1" dirty="0">
              <a:solidFill>
                <a:srgbClr val="C00000"/>
              </a:solidFill>
            </a:endParaRPr>
          </a:p>
        </p:txBody>
      </p:sp>
      <p:pic>
        <p:nvPicPr>
          <p:cNvPr id="5" name="Picture 4">
            <a:extLst>
              <a:ext uri="{FF2B5EF4-FFF2-40B4-BE49-F238E27FC236}">
                <a16:creationId xmlns:a16="http://schemas.microsoft.com/office/drawing/2014/main" id="{2925EF67-4605-494D-96D5-4EDC797B293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2521" y="1376916"/>
            <a:ext cx="6782814" cy="3258879"/>
          </a:xfrm>
          <a:prstGeom prst="rect">
            <a:avLst/>
          </a:prstGeom>
        </p:spPr>
      </p:pic>
      <p:pic>
        <p:nvPicPr>
          <p:cNvPr id="6" name="Picture 5">
            <a:extLst>
              <a:ext uri="{FF2B5EF4-FFF2-40B4-BE49-F238E27FC236}">
                <a16:creationId xmlns:a16="http://schemas.microsoft.com/office/drawing/2014/main" id="{F66F726C-6313-4F12-9746-75167E065E7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480807" y="1285494"/>
            <a:ext cx="2963673" cy="1529255"/>
          </a:xfrm>
          <a:prstGeom prst="rect">
            <a:avLst/>
          </a:prstGeom>
        </p:spPr>
      </p:pic>
      <p:pic>
        <p:nvPicPr>
          <p:cNvPr id="9" name="Picture 8">
            <a:extLst>
              <a:ext uri="{FF2B5EF4-FFF2-40B4-BE49-F238E27FC236}">
                <a16:creationId xmlns:a16="http://schemas.microsoft.com/office/drawing/2014/main" id="{55DBA220-59BC-4705-93A3-9D05970DC92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116819" y="4667719"/>
            <a:ext cx="1692368" cy="1692368"/>
          </a:xfrm>
          <a:prstGeom prst="rect">
            <a:avLst/>
          </a:prstGeom>
        </p:spPr>
      </p:pic>
      <p:pic>
        <p:nvPicPr>
          <p:cNvPr id="12" name="Picture 11">
            <a:extLst>
              <a:ext uri="{FF2B5EF4-FFF2-40B4-BE49-F238E27FC236}">
                <a16:creationId xmlns:a16="http://schemas.microsoft.com/office/drawing/2014/main" id="{3C2FADDC-4D7E-4FC5-B848-9DDC3BB7D3B6}"/>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3086368" y="4729629"/>
            <a:ext cx="2876235" cy="1630458"/>
          </a:xfrm>
          <a:prstGeom prst="rect">
            <a:avLst/>
          </a:prstGeom>
        </p:spPr>
      </p:pic>
      <p:sp>
        <p:nvSpPr>
          <p:cNvPr id="13" name="Arrow: Down 12">
            <a:extLst>
              <a:ext uri="{FF2B5EF4-FFF2-40B4-BE49-F238E27FC236}">
                <a16:creationId xmlns:a16="http://schemas.microsoft.com/office/drawing/2014/main" id="{52C68824-C567-4D4E-9D4F-A6D2529FFA07}"/>
              </a:ext>
            </a:extLst>
          </p:cNvPr>
          <p:cNvSpPr/>
          <p:nvPr/>
        </p:nvSpPr>
        <p:spPr>
          <a:xfrm>
            <a:off x="8307577" y="2671865"/>
            <a:ext cx="1146893" cy="538480"/>
          </a:xfrm>
          <a:prstGeom prst="downArrow">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4" name="Picture 3">
            <a:extLst>
              <a:ext uri="{FF2B5EF4-FFF2-40B4-BE49-F238E27FC236}">
                <a16:creationId xmlns:a16="http://schemas.microsoft.com/office/drawing/2014/main" id="{44931377-2F58-4F03-A25A-9EBF8532830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266062" y="4667185"/>
            <a:ext cx="3762005" cy="1692902"/>
          </a:xfrm>
          <a:prstGeom prst="rect">
            <a:avLst/>
          </a:prstGeom>
        </p:spPr>
      </p:pic>
      <p:sp>
        <p:nvSpPr>
          <p:cNvPr id="14" name="Arrow: Down 13">
            <a:extLst>
              <a:ext uri="{FF2B5EF4-FFF2-40B4-BE49-F238E27FC236}">
                <a16:creationId xmlns:a16="http://schemas.microsoft.com/office/drawing/2014/main" id="{C9BC62AB-E364-41BD-8B59-D22F604056BB}"/>
              </a:ext>
            </a:extLst>
          </p:cNvPr>
          <p:cNvSpPr/>
          <p:nvPr/>
        </p:nvSpPr>
        <p:spPr>
          <a:xfrm>
            <a:off x="8389196" y="4398478"/>
            <a:ext cx="1146893" cy="538480"/>
          </a:xfrm>
          <a:prstGeom prst="downArrow">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Arrow: Down 15">
            <a:extLst>
              <a:ext uri="{FF2B5EF4-FFF2-40B4-BE49-F238E27FC236}">
                <a16:creationId xmlns:a16="http://schemas.microsoft.com/office/drawing/2014/main" id="{E8999F8E-39CD-41DF-8406-CDE5F9C291F3}"/>
              </a:ext>
            </a:extLst>
          </p:cNvPr>
          <p:cNvSpPr/>
          <p:nvPr/>
        </p:nvSpPr>
        <p:spPr>
          <a:xfrm rot="5400000" flipH="1">
            <a:off x="5522554" y="5139564"/>
            <a:ext cx="1146893" cy="538480"/>
          </a:xfrm>
          <a:prstGeom prst="downArrow">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75058075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AF825-A9A2-42C8-9BBC-85EC2355B3AF}"/>
              </a:ext>
            </a:extLst>
          </p:cNvPr>
          <p:cNvSpPr>
            <a:spLocks noGrp="1"/>
          </p:cNvSpPr>
          <p:nvPr>
            <p:ph type="title"/>
          </p:nvPr>
        </p:nvSpPr>
        <p:spPr>
          <a:xfrm>
            <a:off x="521207" y="448056"/>
            <a:ext cx="9207583" cy="640080"/>
          </a:xfrm>
        </p:spPr>
        <p:txBody>
          <a:bodyPr>
            <a:normAutofit/>
          </a:bodyPr>
          <a:lstStyle/>
          <a:p>
            <a:r>
              <a:rPr lang="en-US" dirty="0"/>
              <a:t>Perforated Casing Method: </a:t>
            </a:r>
            <a:r>
              <a:rPr lang="en-US" sz="3200" b="1" dirty="0">
                <a:solidFill>
                  <a:srgbClr val="C00000"/>
                </a:solidFill>
              </a:rPr>
              <a:t>At Workshop vs At Rig Site</a:t>
            </a:r>
            <a:endParaRPr lang="en-ID" sz="3200" b="1" dirty="0">
              <a:solidFill>
                <a:srgbClr val="C00000"/>
              </a:solidFill>
            </a:endParaRPr>
          </a:p>
        </p:txBody>
      </p:sp>
      <p:graphicFrame>
        <p:nvGraphicFramePr>
          <p:cNvPr id="3" name="Table 3">
            <a:extLst>
              <a:ext uri="{FF2B5EF4-FFF2-40B4-BE49-F238E27FC236}">
                <a16:creationId xmlns:a16="http://schemas.microsoft.com/office/drawing/2014/main" id="{C4DE65B3-6BB0-4E36-A454-511102DB7FF9}"/>
              </a:ext>
            </a:extLst>
          </p:cNvPr>
          <p:cNvGraphicFramePr>
            <a:graphicFrameLocks noGrp="1"/>
          </p:cNvGraphicFramePr>
          <p:nvPr>
            <p:extLst>
              <p:ext uri="{D42A27DB-BD31-4B8C-83A1-F6EECF244321}">
                <p14:modId xmlns:p14="http://schemas.microsoft.com/office/powerpoint/2010/main" val="1921121472"/>
              </p:ext>
            </p:extLst>
          </p:nvPr>
        </p:nvGraphicFramePr>
        <p:xfrm>
          <a:off x="792480" y="1390226"/>
          <a:ext cx="10657838" cy="17526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3984592540"/>
                    </a:ext>
                  </a:extLst>
                </a:gridCol>
                <a:gridCol w="1666240">
                  <a:extLst>
                    <a:ext uri="{9D8B030D-6E8A-4147-A177-3AD203B41FA5}">
                      <a16:colId xmlns:a16="http://schemas.microsoft.com/office/drawing/2014/main" val="2355417233"/>
                    </a:ext>
                  </a:extLst>
                </a:gridCol>
                <a:gridCol w="3567176">
                  <a:extLst>
                    <a:ext uri="{9D8B030D-6E8A-4147-A177-3AD203B41FA5}">
                      <a16:colId xmlns:a16="http://schemas.microsoft.com/office/drawing/2014/main" val="3018515072"/>
                    </a:ext>
                  </a:extLst>
                </a:gridCol>
                <a:gridCol w="3504182">
                  <a:extLst>
                    <a:ext uri="{9D8B030D-6E8A-4147-A177-3AD203B41FA5}">
                      <a16:colId xmlns:a16="http://schemas.microsoft.com/office/drawing/2014/main" val="577502659"/>
                    </a:ext>
                  </a:extLst>
                </a:gridCol>
              </a:tblGrid>
              <a:tr h="370840">
                <a:tc>
                  <a:txBody>
                    <a:bodyPr/>
                    <a:lstStyle/>
                    <a:p>
                      <a:r>
                        <a:rPr lang="en-US" dirty="0"/>
                        <a:t>Perforated Casing Size</a:t>
                      </a:r>
                      <a:endParaRPr lang="en-ID" dirty="0"/>
                    </a:p>
                  </a:txBody>
                  <a:tcPr/>
                </a:tc>
                <a:tc>
                  <a:txBody>
                    <a:bodyPr/>
                    <a:lstStyle/>
                    <a:p>
                      <a:r>
                        <a:rPr lang="en-US" dirty="0"/>
                        <a:t>Unit</a:t>
                      </a:r>
                      <a:endParaRPr lang="en-ID" dirty="0"/>
                    </a:p>
                  </a:txBody>
                  <a:tcPr/>
                </a:tc>
                <a:tc>
                  <a:txBody>
                    <a:bodyPr/>
                    <a:lstStyle/>
                    <a:p>
                      <a:r>
                        <a:rPr lang="en-US" dirty="0"/>
                        <a:t>Perforation Cost at Workshop</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Perforation Cost at Rig Site</a:t>
                      </a:r>
                      <a:endParaRPr lang="en-ID" dirty="0"/>
                    </a:p>
                  </a:txBody>
                  <a:tcPr/>
                </a:tc>
                <a:extLst>
                  <a:ext uri="{0D108BD9-81ED-4DB2-BD59-A6C34878D82A}">
                    <a16:rowId xmlns:a16="http://schemas.microsoft.com/office/drawing/2014/main" val="4110731298"/>
                  </a:ext>
                </a:extLst>
              </a:tr>
              <a:tr h="370840">
                <a:tc>
                  <a:txBody>
                    <a:bodyPr/>
                    <a:lstStyle/>
                    <a:p>
                      <a:r>
                        <a:rPr lang="en-US" dirty="0"/>
                        <a:t>10-3/4”</a:t>
                      </a:r>
                      <a:endParaRPr lang="en-ID" dirty="0"/>
                    </a:p>
                  </a:txBody>
                  <a:tcPr/>
                </a:tc>
                <a:tc>
                  <a:txBody>
                    <a:bodyPr/>
                    <a:lstStyle/>
                    <a:p>
                      <a:r>
                        <a:rPr lang="en-US" dirty="0"/>
                        <a:t>USD/joint</a:t>
                      </a:r>
                      <a:endParaRPr lang="en-ID" dirty="0"/>
                    </a:p>
                  </a:txBody>
                  <a:tcPr/>
                </a:tc>
                <a:tc>
                  <a:txBody>
                    <a:bodyPr/>
                    <a:lstStyle/>
                    <a:p>
                      <a:endParaRPr lang="en-ID" dirty="0"/>
                    </a:p>
                  </a:txBody>
                  <a:tcPr/>
                </a:tc>
                <a:tc>
                  <a:txBody>
                    <a:bodyPr/>
                    <a:lstStyle/>
                    <a:p>
                      <a:r>
                        <a:rPr lang="en-US" dirty="0"/>
                        <a:t>128.5</a:t>
                      </a:r>
                      <a:endParaRPr lang="en-ID" dirty="0"/>
                    </a:p>
                  </a:txBody>
                  <a:tcPr/>
                </a:tc>
                <a:extLst>
                  <a:ext uri="{0D108BD9-81ED-4DB2-BD59-A6C34878D82A}">
                    <a16:rowId xmlns:a16="http://schemas.microsoft.com/office/drawing/2014/main" val="1118094115"/>
                  </a:ext>
                </a:extLst>
              </a:tr>
              <a:tr h="370840">
                <a:tc>
                  <a:txBody>
                    <a:bodyPr/>
                    <a:lstStyle/>
                    <a:p>
                      <a:r>
                        <a:rPr lang="en-US" dirty="0"/>
                        <a:t>8-5/8”</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USD/joint</a:t>
                      </a:r>
                      <a:endParaRPr lang="en-ID" dirty="0"/>
                    </a:p>
                  </a:txBody>
                  <a:tcPr/>
                </a:tc>
                <a:tc>
                  <a:txBody>
                    <a:bodyPr/>
                    <a:lstStyle/>
                    <a:p>
                      <a:endParaRPr lang="en-ID"/>
                    </a:p>
                  </a:txBody>
                  <a:tcPr/>
                </a:tc>
                <a:tc>
                  <a:txBody>
                    <a:bodyPr/>
                    <a:lstStyle/>
                    <a:p>
                      <a:r>
                        <a:rPr lang="en-US" dirty="0"/>
                        <a:t>109.5</a:t>
                      </a:r>
                      <a:endParaRPr lang="en-ID" dirty="0"/>
                    </a:p>
                  </a:txBody>
                  <a:tcPr/>
                </a:tc>
                <a:extLst>
                  <a:ext uri="{0D108BD9-81ED-4DB2-BD59-A6C34878D82A}">
                    <a16:rowId xmlns:a16="http://schemas.microsoft.com/office/drawing/2014/main" val="3896743754"/>
                  </a:ext>
                </a:extLst>
              </a:tr>
              <a:tr h="370840">
                <a:tc>
                  <a:txBody>
                    <a:bodyPr/>
                    <a:lstStyle/>
                    <a:p>
                      <a:r>
                        <a:rPr lang="en-US" dirty="0"/>
                        <a:t>7”</a:t>
                      </a:r>
                      <a:endParaRPr lang="en-ID" dirty="0"/>
                    </a:p>
                  </a:txBody>
                  <a:tcPr/>
                </a:tc>
                <a:tc>
                  <a:txBody>
                    <a:bodyPr/>
                    <a:lstStyle/>
                    <a:p>
                      <a:r>
                        <a:rPr lang="en-US" dirty="0"/>
                        <a:t>USD/joint</a:t>
                      </a:r>
                      <a:endParaRPr lang="en-ID" dirty="0"/>
                    </a:p>
                  </a:txBody>
                  <a:tcPr/>
                </a:tc>
                <a:tc>
                  <a:txBody>
                    <a:bodyPr/>
                    <a:lstStyle/>
                    <a:p>
                      <a:endParaRPr lang="en-ID"/>
                    </a:p>
                  </a:txBody>
                  <a:tcPr/>
                </a:tc>
                <a:tc>
                  <a:txBody>
                    <a:bodyPr/>
                    <a:lstStyle/>
                    <a:p>
                      <a:r>
                        <a:rPr lang="en-US" dirty="0"/>
                        <a:t>109.5</a:t>
                      </a:r>
                      <a:endParaRPr lang="en-ID" dirty="0"/>
                    </a:p>
                  </a:txBody>
                  <a:tcPr/>
                </a:tc>
                <a:extLst>
                  <a:ext uri="{0D108BD9-81ED-4DB2-BD59-A6C34878D82A}">
                    <a16:rowId xmlns:a16="http://schemas.microsoft.com/office/drawing/2014/main" val="205333629"/>
                  </a:ext>
                </a:extLst>
              </a:tr>
            </a:tbl>
          </a:graphicData>
        </a:graphic>
      </p:graphicFrame>
      <p:pic>
        <p:nvPicPr>
          <p:cNvPr id="4" name="Picture 3" descr="Text, letter&#10;&#10;Description automatically generated">
            <a:extLst>
              <a:ext uri="{FF2B5EF4-FFF2-40B4-BE49-F238E27FC236}">
                <a16:creationId xmlns:a16="http://schemas.microsoft.com/office/drawing/2014/main" id="{D15DA4A8-0845-446A-B74E-F62CA65906B3}"/>
              </a:ext>
            </a:extLst>
          </p:cNvPr>
          <p:cNvPicPr>
            <a:picLocks noChangeAspect="1"/>
          </p:cNvPicPr>
          <p:nvPr/>
        </p:nvPicPr>
        <p:blipFill>
          <a:blip r:embed="rId2"/>
          <a:stretch>
            <a:fillRect/>
          </a:stretch>
        </p:blipFill>
        <p:spPr>
          <a:xfrm>
            <a:off x="5339753" y="2377015"/>
            <a:ext cx="2162837" cy="2135802"/>
          </a:xfrm>
          <a:prstGeom prst="rect">
            <a:avLst/>
          </a:prstGeom>
          <a:noFill/>
        </p:spPr>
      </p:pic>
    </p:spTree>
    <p:extLst>
      <p:ext uri="{BB962C8B-B14F-4D97-AF65-F5344CB8AC3E}">
        <p14:creationId xmlns:p14="http://schemas.microsoft.com/office/powerpoint/2010/main" val="346109631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Optimasi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11" name="Rectangle 10">
            <a:extLst>
              <a:ext uri="{FF2B5EF4-FFF2-40B4-BE49-F238E27FC236}">
                <a16:creationId xmlns:a16="http://schemas.microsoft.com/office/drawing/2014/main" id="{0A378644-540E-962B-692D-FB65E974E4F7}"/>
              </a:ext>
            </a:extLst>
          </p:cNvPr>
          <p:cNvSpPr/>
          <p:nvPr/>
        </p:nvSpPr>
        <p:spPr>
          <a:xfrm>
            <a:off x="2668772" y="1379944"/>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Effisiensi</a:t>
            </a:r>
            <a:r>
              <a:rPr lang="en-US" altLang="en-US" sz="2400" b="1" dirty="0">
                <a:latin typeface="Cavolini" panose="03000502040302020204" pitchFamily="66" charset="0"/>
                <a:cs typeface="Cavolini" panose="03000502040302020204" pitchFamily="66" charset="0"/>
              </a:rPr>
              <a:t> Pemasangan Wellhead</a:t>
            </a:r>
            <a:endParaRPr lang="en-ID" sz="2400" b="1" dirty="0">
              <a:latin typeface="Cavolini" panose="03000502040302020204" pitchFamily="66" charset="0"/>
              <a:cs typeface="Cavolini" panose="03000502040302020204" pitchFamily="66" charset="0"/>
            </a:endParaRPr>
          </a:p>
        </p:txBody>
      </p:sp>
      <p:sp>
        <p:nvSpPr>
          <p:cNvPr id="12" name="Rectangle 11">
            <a:extLst>
              <a:ext uri="{FF2B5EF4-FFF2-40B4-BE49-F238E27FC236}">
                <a16:creationId xmlns:a16="http://schemas.microsoft.com/office/drawing/2014/main" id="{75E85C1B-72DA-6786-B82D-FD52ABFF8D39}"/>
              </a:ext>
            </a:extLst>
          </p:cNvPr>
          <p:cNvSpPr/>
          <p:nvPr/>
        </p:nvSpPr>
        <p:spPr>
          <a:xfrm>
            <a:off x="1535716" y="1348566"/>
            <a:ext cx="891363" cy="765544"/>
          </a:xfrm>
          <a:prstGeom prst="rect">
            <a:avLst/>
          </a:prstGeom>
          <a:solidFill>
            <a:schemeClr val="accent4">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4.4</a:t>
            </a:r>
            <a:endParaRPr lang="en-ID" sz="2400" b="1" dirty="0">
              <a:solidFill>
                <a:srgbClr val="FFFF00"/>
              </a:solidFill>
              <a:latin typeface="Cavolini" panose="03000502040302020204" pitchFamily="66" charset="0"/>
              <a:cs typeface="Cavolini" panose="03000502040302020204" pitchFamily="66" charset="0"/>
            </a:endParaRPr>
          </a:p>
        </p:txBody>
      </p:sp>
      <p:sp>
        <p:nvSpPr>
          <p:cNvPr id="3" name="TextBox 2">
            <a:extLst>
              <a:ext uri="{FF2B5EF4-FFF2-40B4-BE49-F238E27FC236}">
                <a16:creationId xmlns:a16="http://schemas.microsoft.com/office/drawing/2014/main" id="{49583485-0815-F57F-7762-7D88D1964813}"/>
              </a:ext>
            </a:extLst>
          </p:cNvPr>
          <p:cNvSpPr txBox="1"/>
          <p:nvPr/>
        </p:nvSpPr>
        <p:spPr>
          <a:xfrm>
            <a:off x="1418421" y="2408550"/>
            <a:ext cx="9639439" cy="3634841"/>
          </a:xfrm>
          <a:prstGeom prst="rect">
            <a:avLst/>
          </a:prstGeom>
          <a:noFill/>
        </p:spPr>
        <p:txBody>
          <a:bodyPr wrap="square">
            <a:spAutoFit/>
          </a:bodyPr>
          <a:lstStyle/>
          <a:p>
            <a:pPr marL="0" marR="0" algn="just">
              <a:lnSpc>
                <a:spcPct val="107000"/>
              </a:lnSpc>
              <a:spcBef>
                <a:spcPts val="0"/>
              </a:spcBef>
              <a:spcAft>
                <a:spcPts val="0"/>
              </a:spcAft>
            </a:pPr>
            <a:r>
              <a:rPr lang="en-US" sz="2400" dirty="0" err="1">
                <a:effectLst/>
                <a:latin typeface="Cavolini" panose="03000502040302020204" pitchFamily="66" charset="0"/>
                <a:ea typeface="Calibri" panose="020F0502020204030204" pitchFamily="34" charset="0"/>
                <a:cs typeface="Cavolini" panose="03000502040302020204" pitchFamily="66" charset="0"/>
              </a:rPr>
              <a:t>Konfigurasi</a:t>
            </a:r>
            <a:r>
              <a:rPr lang="en-US" sz="2400" dirty="0">
                <a:effectLst/>
                <a:latin typeface="Cavolini" panose="03000502040302020204" pitchFamily="66" charset="0"/>
                <a:ea typeface="Calibri" panose="020F0502020204030204" pitchFamily="34" charset="0"/>
                <a:cs typeface="Cavolini" panose="03000502040302020204" pitchFamily="66" charset="0"/>
              </a:rPr>
              <a:t> Wellhead: Wellhead </a:t>
            </a:r>
            <a:r>
              <a:rPr lang="en-US" sz="2400" dirty="0">
                <a:latin typeface="Cavolini" panose="03000502040302020204" pitchFamily="66" charset="0"/>
                <a:ea typeface="Calibri" panose="020F0502020204030204" pitchFamily="34" charset="0"/>
                <a:cs typeface="Cavolini" panose="03000502040302020204" pitchFamily="66" charset="0"/>
              </a:rPr>
              <a:t>H</a:t>
            </a:r>
            <a:r>
              <a:rPr lang="en-US" sz="2400" dirty="0">
                <a:effectLst/>
                <a:latin typeface="Cavolini" panose="03000502040302020204" pitchFamily="66" charset="0"/>
                <a:ea typeface="Calibri" panose="020F0502020204030204" pitchFamily="34" charset="0"/>
                <a:cs typeface="Cavolini" panose="03000502040302020204" pitchFamily="66" charset="0"/>
              </a:rPr>
              <a:t>ousing dan Master Valve:</a:t>
            </a:r>
            <a:endParaRPr lang="en-ID" sz="2400" dirty="0">
              <a:effectLst/>
              <a:latin typeface="Cavolini" panose="03000502040302020204" pitchFamily="66" charset="0"/>
              <a:ea typeface="Calibri" panose="020F0502020204030204" pitchFamily="34" charset="0"/>
              <a:cs typeface="Cavolini" panose="03000502040302020204" pitchFamily="66" charset="0"/>
            </a:endParaRPr>
          </a:p>
          <a:p>
            <a:pPr marL="342900" marR="0" lvl="0" indent="-342900" algn="just">
              <a:lnSpc>
                <a:spcPct val="107000"/>
              </a:lnSpc>
              <a:spcBef>
                <a:spcPts val="0"/>
              </a:spcBef>
              <a:spcAft>
                <a:spcPts val="0"/>
              </a:spcAft>
              <a:buFont typeface="Symbol" panose="05050102010706020507" pitchFamily="18" charset="2"/>
              <a:buChar char=""/>
            </a:pPr>
            <a:r>
              <a:rPr lang="en-US" sz="2400" b="1" dirty="0">
                <a:solidFill>
                  <a:srgbClr val="C00000"/>
                </a:solidFill>
                <a:effectLst/>
                <a:latin typeface="Cavolini" panose="03000502040302020204" pitchFamily="66" charset="0"/>
                <a:ea typeface="Calibri" panose="020F0502020204030204" pitchFamily="34" charset="0"/>
                <a:cs typeface="Cavolini" panose="03000502040302020204" pitchFamily="66" charset="0"/>
              </a:rPr>
              <a:t>Wellhead Housing:</a:t>
            </a:r>
            <a:endParaRPr lang="en-ID" sz="2400" b="1" dirty="0">
              <a:solidFill>
                <a:srgbClr val="C00000"/>
              </a:solidFill>
              <a:effectLst/>
              <a:latin typeface="Cavolini" panose="03000502040302020204" pitchFamily="66" charset="0"/>
              <a:ea typeface="Calibri" panose="020F0502020204030204" pitchFamily="34" charset="0"/>
              <a:cs typeface="Cavolini" panose="03000502040302020204" pitchFamily="66" charset="0"/>
            </a:endParaRPr>
          </a:p>
          <a:p>
            <a:pPr marL="742950" marR="0" lvl="1" indent="-285750" algn="just">
              <a:lnSpc>
                <a:spcPct val="107000"/>
              </a:lnSpc>
              <a:spcBef>
                <a:spcPts val="0"/>
              </a:spcBef>
              <a:spcAft>
                <a:spcPts val="0"/>
              </a:spcAft>
              <a:buFont typeface="Courier New" panose="02070309020205020404" pitchFamily="49" charset="0"/>
              <a:buChar char="o"/>
            </a:pPr>
            <a:r>
              <a:rPr lang="en-US" sz="2400" dirty="0">
                <a:effectLst/>
                <a:latin typeface="Cavolini" panose="03000502040302020204" pitchFamily="66" charset="0"/>
                <a:ea typeface="Calibri" panose="020F0502020204030204" pitchFamily="34" charset="0"/>
                <a:cs typeface="Cavolini" panose="03000502040302020204" pitchFamily="66" charset="0"/>
              </a:rPr>
              <a:t>Double wellhead housing: 21-1/4” Wellhead dan Expansion Spool</a:t>
            </a:r>
            <a:endParaRPr lang="en-ID" sz="2400" dirty="0">
              <a:effectLst/>
              <a:latin typeface="Cavolini" panose="03000502040302020204" pitchFamily="66" charset="0"/>
              <a:ea typeface="Calibri" panose="020F0502020204030204" pitchFamily="34" charset="0"/>
              <a:cs typeface="Cavolini" panose="03000502040302020204" pitchFamily="66" charset="0"/>
            </a:endParaRPr>
          </a:p>
          <a:p>
            <a:pPr marL="742950" marR="0" lvl="1" indent="-285750" algn="just">
              <a:lnSpc>
                <a:spcPct val="107000"/>
              </a:lnSpc>
              <a:spcBef>
                <a:spcPts val="0"/>
              </a:spcBef>
              <a:spcAft>
                <a:spcPts val="0"/>
              </a:spcAft>
              <a:buFont typeface="Courier New" panose="02070309020205020404" pitchFamily="49" charset="0"/>
              <a:buChar char="o"/>
            </a:pPr>
            <a:r>
              <a:rPr lang="en-US" sz="2400" dirty="0">
                <a:effectLst/>
                <a:latin typeface="Cavolini" panose="03000502040302020204" pitchFamily="66" charset="0"/>
                <a:ea typeface="Calibri" panose="020F0502020204030204" pitchFamily="34" charset="0"/>
                <a:cs typeface="Cavolini" panose="03000502040302020204" pitchFamily="66" charset="0"/>
              </a:rPr>
              <a:t>Single wellhead housing: 13-5/8” Wellhead Housing</a:t>
            </a:r>
            <a:endParaRPr lang="en-ID" sz="2400" dirty="0">
              <a:effectLst/>
              <a:latin typeface="Cavolini" panose="03000502040302020204" pitchFamily="66" charset="0"/>
              <a:ea typeface="Calibri" panose="020F0502020204030204" pitchFamily="34" charset="0"/>
              <a:cs typeface="Cavolini" panose="03000502040302020204" pitchFamily="66" charset="0"/>
            </a:endParaRPr>
          </a:p>
          <a:p>
            <a:pPr marL="342900" marR="0" lvl="0" indent="-342900" algn="just">
              <a:lnSpc>
                <a:spcPct val="107000"/>
              </a:lnSpc>
              <a:spcBef>
                <a:spcPts val="0"/>
              </a:spcBef>
              <a:spcAft>
                <a:spcPts val="0"/>
              </a:spcAft>
              <a:buFont typeface="Symbol" panose="05050102010706020507" pitchFamily="18" charset="2"/>
              <a:buChar char=""/>
            </a:pPr>
            <a:r>
              <a:rPr lang="en-US" sz="2400" b="1" dirty="0">
                <a:solidFill>
                  <a:srgbClr val="C00000"/>
                </a:solidFill>
                <a:effectLst/>
                <a:latin typeface="Cavolini" panose="03000502040302020204" pitchFamily="66" charset="0"/>
                <a:ea typeface="Calibri" panose="020F0502020204030204" pitchFamily="34" charset="0"/>
                <a:cs typeface="Cavolini" panose="03000502040302020204" pitchFamily="66" charset="0"/>
              </a:rPr>
              <a:t>Master Valve:</a:t>
            </a:r>
            <a:endParaRPr lang="en-ID" sz="2400" b="1" dirty="0">
              <a:solidFill>
                <a:srgbClr val="C00000"/>
              </a:solidFill>
              <a:effectLst/>
              <a:latin typeface="Cavolini" panose="03000502040302020204" pitchFamily="66" charset="0"/>
              <a:ea typeface="Calibri" panose="020F0502020204030204" pitchFamily="34" charset="0"/>
              <a:cs typeface="Cavolini" panose="03000502040302020204" pitchFamily="66" charset="0"/>
            </a:endParaRPr>
          </a:p>
          <a:p>
            <a:pPr marL="742950" marR="0" lvl="1" indent="-285750" algn="just">
              <a:lnSpc>
                <a:spcPct val="107000"/>
              </a:lnSpc>
              <a:spcBef>
                <a:spcPts val="0"/>
              </a:spcBef>
              <a:spcAft>
                <a:spcPts val="0"/>
              </a:spcAft>
              <a:buFont typeface="Courier New" panose="02070309020205020404" pitchFamily="49" charset="0"/>
              <a:buChar char="o"/>
            </a:pPr>
            <a:r>
              <a:rPr lang="en-US" sz="2400" dirty="0">
                <a:effectLst/>
                <a:latin typeface="Cavolini" panose="03000502040302020204" pitchFamily="66" charset="0"/>
                <a:ea typeface="Calibri" panose="020F0502020204030204" pitchFamily="34" charset="0"/>
                <a:cs typeface="Cavolini" panose="03000502040302020204" pitchFamily="66" charset="0"/>
              </a:rPr>
              <a:t>Single Master Valve</a:t>
            </a:r>
            <a:endParaRPr lang="en-ID" sz="2400" dirty="0">
              <a:effectLst/>
              <a:latin typeface="Cavolini" panose="03000502040302020204" pitchFamily="66" charset="0"/>
              <a:ea typeface="Calibri" panose="020F0502020204030204" pitchFamily="34" charset="0"/>
              <a:cs typeface="Cavolini" panose="03000502040302020204" pitchFamily="66" charset="0"/>
            </a:endParaRPr>
          </a:p>
          <a:p>
            <a:pPr marL="742950" marR="0" lvl="1" indent="-285750" algn="just">
              <a:lnSpc>
                <a:spcPct val="107000"/>
              </a:lnSpc>
              <a:spcBef>
                <a:spcPts val="0"/>
              </a:spcBef>
              <a:spcAft>
                <a:spcPts val="800"/>
              </a:spcAft>
              <a:buFont typeface="Courier New" panose="02070309020205020404" pitchFamily="49" charset="0"/>
              <a:buChar char="o"/>
            </a:pPr>
            <a:r>
              <a:rPr lang="en-US" sz="2400" dirty="0">
                <a:effectLst/>
                <a:latin typeface="Cavolini" panose="03000502040302020204" pitchFamily="66" charset="0"/>
                <a:ea typeface="Calibri" panose="020F0502020204030204" pitchFamily="34" charset="0"/>
                <a:cs typeface="Cavolini" panose="03000502040302020204" pitchFamily="66" charset="0"/>
              </a:rPr>
              <a:t>Double Master Valve (Drilling MV + Production MV)</a:t>
            </a:r>
            <a:endParaRPr lang="en-ID" sz="2400" dirty="0">
              <a:effectLst/>
              <a:latin typeface="Cavolini" panose="03000502040302020204" pitchFamily="66" charset="0"/>
              <a:ea typeface="Calibri" panose="020F0502020204030204" pitchFamily="34" charset="0"/>
              <a:cs typeface="Cavolini" panose="03000502040302020204" pitchFamily="66" charset="0"/>
            </a:endParaRPr>
          </a:p>
        </p:txBody>
      </p:sp>
    </p:spTree>
    <p:extLst>
      <p:ext uri="{BB962C8B-B14F-4D97-AF65-F5344CB8AC3E}">
        <p14:creationId xmlns:p14="http://schemas.microsoft.com/office/powerpoint/2010/main" val="144912347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636143" y="-24537"/>
            <a:ext cx="8229600" cy="1143000"/>
          </a:xfrm>
        </p:spPr>
        <p:txBody>
          <a:bodyPr>
            <a:normAutofit/>
          </a:bodyPr>
          <a:lstStyle/>
          <a:p>
            <a:r>
              <a:rPr lang="en-US" altLang="en-US" sz="3600" b="1" dirty="0">
                <a:solidFill>
                  <a:srgbClr val="C00000"/>
                </a:solidFill>
              </a:rPr>
              <a:t>WELLHEAD for GEOTHERMAL WELL</a:t>
            </a:r>
          </a:p>
        </p:txBody>
      </p:sp>
      <p:pic>
        <p:nvPicPr>
          <p:cNvPr id="88068" name="Picture 6"/>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6438836" y="1356092"/>
            <a:ext cx="2444750" cy="239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9" name="Picture 3"/>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3162237" y="1369160"/>
            <a:ext cx="3276599" cy="319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0" name="Picture 4"/>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377826" y="1356092"/>
            <a:ext cx="2704972" cy="548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1" name="TextBox 1"/>
          <p:cNvSpPr txBox="1">
            <a:spLocks noChangeArrowheads="1"/>
          </p:cNvSpPr>
          <p:nvPr/>
        </p:nvSpPr>
        <p:spPr bwMode="auto">
          <a:xfrm>
            <a:off x="3942080" y="4713872"/>
            <a:ext cx="447922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2000" dirty="0">
                <a:solidFill>
                  <a:srgbClr val="C00000"/>
                </a:solidFill>
                <a:latin typeface="Times New Roman" panose="02020603050405020304" pitchFamily="18" charset="0"/>
              </a:rPr>
              <a:t>Pre-weld wellhead</a:t>
            </a:r>
          </a:p>
          <a:p>
            <a:pPr>
              <a:spcBef>
                <a:spcPct val="0"/>
              </a:spcBef>
            </a:pPr>
            <a:r>
              <a:rPr lang="en-US" altLang="en-US" sz="2000" dirty="0">
                <a:solidFill>
                  <a:srgbClr val="C00000"/>
                </a:solidFill>
                <a:latin typeface="Times New Roman" panose="02020603050405020304" pitchFamily="18" charset="0"/>
              </a:rPr>
              <a:t>Slip on Weld vs Slip Lock</a:t>
            </a:r>
          </a:p>
          <a:p>
            <a:pPr>
              <a:spcBef>
                <a:spcPct val="0"/>
              </a:spcBef>
            </a:pPr>
            <a:r>
              <a:rPr lang="en-US" altLang="en-US" sz="2000" dirty="0">
                <a:solidFill>
                  <a:srgbClr val="C00000"/>
                </a:solidFill>
                <a:latin typeface="Times New Roman" panose="02020603050405020304" pitchFamily="18" charset="0"/>
              </a:rPr>
              <a:t>Casing To Casing Welded</a:t>
            </a:r>
          </a:p>
          <a:p>
            <a:pPr>
              <a:spcBef>
                <a:spcPct val="0"/>
              </a:spcBef>
            </a:pPr>
            <a:r>
              <a:rPr lang="en-US" altLang="en-US" sz="2000" dirty="0">
                <a:solidFill>
                  <a:srgbClr val="C00000"/>
                </a:solidFill>
                <a:latin typeface="Times New Roman" panose="02020603050405020304" pitchFamily="18" charset="0"/>
              </a:rPr>
              <a:t>Wellhead Installation during WOC</a:t>
            </a:r>
          </a:p>
        </p:txBody>
      </p:sp>
      <p:pic>
        <p:nvPicPr>
          <p:cNvPr id="88072" name="Picture 2"/>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bwMode="auto">
          <a:xfrm>
            <a:off x="8949053" y="3429000"/>
            <a:ext cx="2860040" cy="28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3" name="Picture 3"/>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bwMode="auto">
          <a:xfrm>
            <a:off x="8943556" y="1369160"/>
            <a:ext cx="2867443" cy="1956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700039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71952-F6D1-B13A-A3F8-CE1ED7BCAD40}"/>
              </a:ext>
            </a:extLst>
          </p:cNvPr>
          <p:cNvSpPr>
            <a:spLocks noGrp="1"/>
          </p:cNvSpPr>
          <p:nvPr>
            <p:ph type="title"/>
          </p:nvPr>
        </p:nvSpPr>
        <p:spPr/>
        <p:txBody>
          <a:bodyPr/>
          <a:lstStyle/>
          <a:p>
            <a:r>
              <a:rPr lang="en-US" dirty="0"/>
              <a:t> Landing Slip for 20” casing installation</a:t>
            </a:r>
            <a:endParaRPr lang="en-ID" dirty="0"/>
          </a:p>
        </p:txBody>
      </p:sp>
      <p:pic>
        <p:nvPicPr>
          <p:cNvPr id="4" name="Picture 3">
            <a:extLst>
              <a:ext uri="{FF2B5EF4-FFF2-40B4-BE49-F238E27FC236}">
                <a16:creationId xmlns:a16="http://schemas.microsoft.com/office/drawing/2014/main" id="{579B03FD-D4E5-4769-03AA-D46F96CC94B8}"/>
              </a:ext>
            </a:extLst>
          </p:cNvPr>
          <p:cNvPicPr>
            <a:picLocks noChangeAspect="1"/>
          </p:cNvPicPr>
          <p:nvPr/>
        </p:nvPicPr>
        <p:blipFill rotWithShape="1">
          <a:blip r:embed="rId2"/>
          <a:srcRect l="8056" t="16004" r="13333" b="7847"/>
          <a:stretch/>
        </p:blipFill>
        <p:spPr>
          <a:xfrm>
            <a:off x="382984" y="1263541"/>
            <a:ext cx="3944467" cy="2865709"/>
          </a:xfrm>
          <a:prstGeom prst="rect">
            <a:avLst/>
          </a:prstGeom>
        </p:spPr>
      </p:pic>
      <p:pic>
        <p:nvPicPr>
          <p:cNvPr id="6" name="Picture 5">
            <a:extLst>
              <a:ext uri="{FF2B5EF4-FFF2-40B4-BE49-F238E27FC236}">
                <a16:creationId xmlns:a16="http://schemas.microsoft.com/office/drawing/2014/main" id="{E4EF814C-38E3-3920-5103-74FC11841BE5}"/>
              </a:ext>
            </a:extLst>
          </p:cNvPr>
          <p:cNvPicPr>
            <a:picLocks noChangeAspect="1"/>
          </p:cNvPicPr>
          <p:nvPr/>
        </p:nvPicPr>
        <p:blipFill>
          <a:blip r:embed="rId3"/>
          <a:stretch>
            <a:fillRect/>
          </a:stretch>
        </p:blipFill>
        <p:spPr>
          <a:xfrm>
            <a:off x="7038754" y="1263541"/>
            <a:ext cx="4770262" cy="2890636"/>
          </a:xfrm>
          <a:prstGeom prst="rect">
            <a:avLst/>
          </a:prstGeom>
        </p:spPr>
      </p:pic>
      <p:sp>
        <p:nvSpPr>
          <p:cNvPr id="7" name="TextBox 6">
            <a:extLst>
              <a:ext uri="{FF2B5EF4-FFF2-40B4-BE49-F238E27FC236}">
                <a16:creationId xmlns:a16="http://schemas.microsoft.com/office/drawing/2014/main" id="{31AD551A-03B7-D461-658A-0CA438FEFB32}"/>
              </a:ext>
            </a:extLst>
          </p:cNvPr>
          <p:cNvSpPr txBox="1"/>
          <p:nvPr/>
        </p:nvSpPr>
        <p:spPr>
          <a:xfrm>
            <a:off x="304296" y="4154177"/>
            <a:ext cx="4458272" cy="2308324"/>
          </a:xfrm>
          <a:prstGeom prst="rect">
            <a:avLst/>
          </a:prstGeom>
          <a:noFill/>
        </p:spPr>
        <p:txBody>
          <a:bodyPr wrap="none" rtlCol="0">
            <a:spAutoFit/>
          </a:bodyPr>
          <a:lstStyle/>
          <a:p>
            <a:r>
              <a:rPr lang="en-US" sz="2400" b="1" dirty="0">
                <a:solidFill>
                  <a:srgbClr val="C00000"/>
                </a:solidFill>
              </a:rPr>
              <a:t>Landing Slip:</a:t>
            </a:r>
          </a:p>
          <a:p>
            <a:pPr marL="285750" indent="-285750">
              <a:buFont typeface="Arial" panose="020B0604020202020204" pitchFamily="34" charset="0"/>
              <a:buChar char="•"/>
            </a:pPr>
            <a:r>
              <a:rPr lang="en-US" sz="2400" dirty="0"/>
              <a:t>Propose for </a:t>
            </a:r>
            <a:r>
              <a:rPr lang="en-US" sz="2400" b="1" dirty="0">
                <a:solidFill>
                  <a:srgbClr val="C00000"/>
                </a:solidFill>
              </a:rPr>
              <a:t>hanging Casing</a:t>
            </a:r>
          </a:p>
          <a:p>
            <a:pPr marL="285750" indent="-285750">
              <a:buFont typeface="Arial" panose="020B0604020202020204" pitchFamily="34" charset="0"/>
              <a:buChar char="•"/>
            </a:pPr>
            <a:r>
              <a:rPr lang="en-US" sz="2400" dirty="0"/>
              <a:t>No WOC</a:t>
            </a:r>
          </a:p>
          <a:p>
            <a:pPr marL="285750" indent="-285750">
              <a:buFont typeface="Arial" panose="020B0604020202020204" pitchFamily="34" charset="0"/>
              <a:buChar char="•"/>
            </a:pPr>
            <a:r>
              <a:rPr lang="en-US" sz="2400" dirty="0"/>
              <a:t>Seated on Cut Off Casing</a:t>
            </a:r>
          </a:p>
          <a:p>
            <a:pPr marL="285750" indent="-285750">
              <a:buFont typeface="Arial" panose="020B0604020202020204" pitchFamily="34" charset="0"/>
              <a:buChar char="•"/>
            </a:pPr>
            <a:r>
              <a:rPr lang="en-US" sz="2400" dirty="0"/>
              <a:t>Hang casing on </a:t>
            </a:r>
            <a:r>
              <a:rPr lang="en-US" sz="2400" b="1" dirty="0">
                <a:solidFill>
                  <a:srgbClr val="C00000"/>
                </a:solidFill>
              </a:rPr>
              <a:t>Casing Body</a:t>
            </a:r>
          </a:p>
          <a:p>
            <a:pPr marL="285750" indent="-285750">
              <a:buFont typeface="Arial" panose="020B0604020202020204" pitchFamily="34" charset="0"/>
              <a:buChar char="•"/>
            </a:pPr>
            <a:r>
              <a:rPr lang="en-US" sz="2400" dirty="0"/>
              <a:t>Heavy, longer installation</a:t>
            </a:r>
            <a:endParaRPr lang="en-ID" sz="2400" dirty="0"/>
          </a:p>
        </p:txBody>
      </p:sp>
      <p:sp>
        <p:nvSpPr>
          <p:cNvPr id="8" name="TextBox 7">
            <a:extLst>
              <a:ext uri="{FF2B5EF4-FFF2-40B4-BE49-F238E27FC236}">
                <a16:creationId xmlns:a16="http://schemas.microsoft.com/office/drawing/2014/main" id="{549A1136-85AC-E547-18D1-4FBEAE857611}"/>
              </a:ext>
            </a:extLst>
          </p:cNvPr>
          <p:cNvSpPr txBox="1"/>
          <p:nvPr/>
        </p:nvSpPr>
        <p:spPr>
          <a:xfrm>
            <a:off x="7038754" y="4063757"/>
            <a:ext cx="4997302" cy="2677656"/>
          </a:xfrm>
          <a:prstGeom prst="rect">
            <a:avLst/>
          </a:prstGeom>
          <a:noFill/>
        </p:spPr>
        <p:txBody>
          <a:bodyPr wrap="square" rtlCol="0">
            <a:spAutoFit/>
          </a:bodyPr>
          <a:lstStyle/>
          <a:p>
            <a:r>
              <a:rPr lang="en-US" sz="2400" b="1" dirty="0">
                <a:solidFill>
                  <a:srgbClr val="C00000"/>
                </a:solidFill>
              </a:rPr>
              <a:t>Landing Plate:</a:t>
            </a:r>
          </a:p>
          <a:p>
            <a:pPr marL="285750" indent="-285750">
              <a:buFont typeface="Arial" panose="020B0604020202020204" pitchFamily="34" charset="0"/>
              <a:buChar char="•"/>
            </a:pPr>
            <a:r>
              <a:rPr lang="en-US" sz="2400" b="1" dirty="0">
                <a:solidFill>
                  <a:srgbClr val="C00000"/>
                </a:solidFill>
              </a:rPr>
              <a:t>Hanging Pre-Welded Wellhead</a:t>
            </a:r>
          </a:p>
          <a:p>
            <a:pPr marL="285750" indent="-285750">
              <a:buFont typeface="Arial" panose="020B0604020202020204" pitchFamily="34" charset="0"/>
              <a:buChar char="•"/>
            </a:pPr>
            <a:r>
              <a:rPr lang="en-US" sz="2400" dirty="0"/>
              <a:t>No WOC</a:t>
            </a:r>
          </a:p>
          <a:p>
            <a:pPr marL="285750" indent="-285750">
              <a:buFont typeface="Arial" panose="020B0604020202020204" pitchFamily="34" charset="0"/>
              <a:buChar char="•"/>
            </a:pPr>
            <a:r>
              <a:rPr lang="en-US" sz="2400" dirty="0"/>
              <a:t>Seated on Cut Off Casing</a:t>
            </a:r>
          </a:p>
          <a:p>
            <a:pPr marL="285750" indent="-285750">
              <a:buFont typeface="Arial" panose="020B0604020202020204" pitchFamily="34" charset="0"/>
              <a:buChar char="•"/>
            </a:pPr>
            <a:r>
              <a:rPr lang="en-US" sz="2400" dirty="0"/>
              <a:t>Hang casing on </a:t>
            </a:r>
            <a:r>
              <a:rPr lang="en-US" sz="2400" b="1" dirty="0">
                <a:solidFill>
                  <a:srgbClr val="C00000"/>
                </a:solidFill>
              </a:rPr>
              <a:t>Casing Collar</a:t>
            </a:r>
          </a:p>
          <a:p>
            <a:pPr marL="285750" indent="-285750">
              <a:buFont typeface="Arial" panose="020B0604020202020204" pitchFamily="34" charset="0"/>
              <a:buChar char="•"/>
            </a:pPr>
            <a:r>
              <a:rPr lang="en-US" sz="2400" dirty="0"/>
              <a:t>Lighter, easy installation</a:t>
            </a:r>
          </a:p>
          <a:p>
            <a:pPr marL="285750" indent="-285750">
              <a:buFont typeface="Arial" panose="020B0604020202020204" pitchFamily="34" charset="0"/>
              <a:buChar char="•"/>
            </a:pPr>
            <a:r>
              <a:rPr lang="en-US" sz="2400" dirty="0"/>
              <a:t>Need to ND BOP prior cementing </a:t>
            </a:r>
            <a:endParaRPr lang="en-ID" sz="2400" dirty="0"/>
          </a:p>
        </p:txBody>
      </p:sp>
      <p:pic>
        <p:nvPicPr>
          <p:cNvPr id="9" name="Picture 8">
            <a:extLst>
              <a:ext uri="{FF2B5EF4-FFF2-40B4-BE49-F238E27FC236}">
                <a16:creationId xmlns:a16="http://schemas.microsoft.com/office/drawing/2014/main" id="{1A408454-1C13-847A-8DF2-0511A8DB586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421552" y="1263541"/>
            <a:ext cx="2523101" cy="2106980"/>
          </a:xfrm>
          <a:prstGeom prst="rect">
            <a:avLst/>
          </a:prstGeom>
        </p:spPr>
      </p:pic>
    </p:spTree>
    <p:extLst>
      <p:ext uri="{BB962C8B-B14F-4D97-AF65-F5344CB8AC3E}">
        <p14:creationId xmlns:p14="http://schemas.microsoft.com/office/powerpoint/2010/main" val="24932076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71952-F6D1-B13A-A3F8-CE1ED7BCAD40}"/>
              </a:ext>
            </a:extLst>
          </p:cNvPr>
          <p:cNvSpPr>
            <a:spLocks noGrp="1"/>
          </p:cNvSpPr>
          <p:nvPr>
            <p:ph type="title"/>
          </p:nvPr>
        </p:nvSpPr>
        <p:spPr/>
        <p:txBody>
          <a:bodyPr/>
          <a:lstStyle/>
          <a:p>
            <a:r>
              <a:rPr lang="en-US" dirty="0"/>
              <a:t> Landing Slip for 20” casing installation</a:t>
            </a:r>
            <a:endParaRPr lang="en-ID" dirty="0"/>
          </a:p>
        </p:txBody>
      </p:sp>
      <p:pic>
        <p:nvPicPr>
          <p:cNvPr id="4" name="Picture 3">
            <a:extLst>
              <a:ext uri="{FF2B5EF4-FFF2-40B4-BE49-F238E27FC236}">
                <a16:creationId xmlns:a16="http://schemas.microsoft.com/office/drawing/2014/main" id="{579B03FD-D4E5-4769-03AA-D46F96CC94B8}"/>
              </a:ext>
            </a:extLst>
          </p:cNvPr>
          <p:cNvPicPr>
            <a:picLocks noChangeAspect="1"/>
          </p:cNvPicPr>
          <p:nvPr/>
        </p:nvPicPr>
        <p:blipFill rotWithShape="1">
          <a:blip r:embed="rId2"/>
          <a:srcRect l="8056" t="16004" r="13333" b="7847"/>
          <a:stretch/>
        </p:blipFill>
        <p:spPr>
          <a:xfrm>
            <a:off x="382984" y="1263541"/>
            <a:ext cx="3944467" cy="2865709"/>
          </a:xfrm>
          <a:prstGeom prst="rect">
            <a:avLst/>
          </a:prstGeom>
        </p:spPr>
      </p:pic>
      <p:pic>
        <p:nvPicPr>
          <p:cNvPr id="6" name="Picture 5">
            <a:extLst>
              <a:ext uri="{FF2B5EF4-FFF2-40B4-BE49-F238E27FC236}">
                <a16:creationId xmlns:a16="http://schemas.microsoft.com/office/drawing/2014/main" id="{E4EF814C-38E3-3920-5103-74FC11841BE5}"/>
              </a:ext>
            </a:extLst>
          </p:cNvPr>
          <p:cNvPicPr>
            <a:picLocks noChangeAspect="1"/>
          </p:cNvPicPr>
          <p:nvPr/>
        </p:nvPicPr>
        <p:blipFill>
          <a:blip r:embed="rId3"/>
          <a:stretch>
            <a:fillRect/>
          </a:stretch>
        </p:blipFill>
        <p:spPr>
          <a:xfrm>
            <a:off x="7038754" y="1263541"/>
            <a:ext cx="4770262" cy="2890636"/>
          </a:xfrm>
          <a:prstGeom prst="rect">
            <a:avLst/>
          </a:prstGeom>
        </p:spPr>
      </p:pic>
      <p:sp>
        <p:nvSpPr>
          <p:cNvPr id="7" name="TextBox 6">
            <a:extLst>
              <a:ext uri="{FF2B5EF4-FFF2-40B4-BE49-F238E27FC236}">
                <a16:creationId xmlns:a16="http://schemas.microsoft.com/office/drawing/2014/main" id="{31AD551A-03B7-D461-658A-0CA438FEFB32}"/>
              </a:ext>
            </a:extLst>
          </p:cNvPr>
          <p:cNvSpPr txBox="1"/>
          <p:nvPr/>
        </p:nvSpPr>
        <p:spPr>
          <a:xfrm>
            <a:off x="266026" y="3902748"/>
            <a:ext cx="6772728" cy="2954655"/>
          </a:xfrm>
          <a:prstGeom prst="rect">
            <a:avLst/>
          </a:prstGeom>
          <a:noFill/>
        </p:spPr>
        <p:txBody>
          <a:bodyPr wrap="square" rtlCol="0">
            <a:spAutoFit/>
          </a:bodyPr>
          <a:lstStyle/>
          <a:p>
            <a:r>
              <a:rPr lang="en-US" sz="2400" b="1" dirty="0">
                <a:solidFill>
                  <a:srgbClr val="C00000"/>
                </a:solidFill>
              </a:rPr>
              <a:t>Landing Slip:</a:t>
            </a:r>
          </a:p>
          <a:p>
            <a:pPr marL="285750" indent="-285750">
              <a:buFont typeface="Arial" panose="020B0604020202020204" pitchFamily="34" charset="0"/>
              <a:buChar char="•"/>
            </a:pPr>
            <a:r>
              <a:rPr lang="en-US" dirty="0"/>
              <a:t>Drill 26” hole</a:t>
            </a:r>
          </a:p>
          <a:p>
            <a:pPr marL="285750" indent="-285750">
              <a:buFont typeface="Arial" panose="020B0604020202020204" pitchFamily="34" charset="0"/>
              <a:buChar char="•"/>
            </a:pPr>
            <a:r>
              <a:rPr lang="en-US" dirty="0"/>
              <a:t>Run 20” casing</a:t>
            </a:r>
          </a:p>
          <a:p>
            <a:pPr marL="285750" indent="-285750">
              <a:buFont typeface="Arial" panose="020B0604020202020204" pitchFamily="34" charset="0"/>
              <a:buChar char="•"/>
            </a:pPr>
            <a:r>
              <a:rPr lang="en-US" dirty="0"/>
              <a:t>Run Inner string</a:t>
            </a:r>
          </a:p>
          <a:p>
            <a:pPr marL="285750" indent="-285750">
              <a:buFont typeface="Arial" panose="020B0604020202020204" pitchFamily="34" charset="0"/>
              <a:buChar char="•"/>
            </a:pPr>
            <a:r>
              <a:rPr lang="en-ID" dirty="0"/>
              <a:t>Primary cementing</a:t>
            </a:r>
          </a:p>
          <a:p>
            <a:pPr marL="285750" indent="-285750">
              <a:buFont typeface="Arial" panose="020B0604020202020204" pitchFamily="34" charset="0"/>
              <a:buChar char="•"/>
            </a:pPr>
            <a:r>
              <a:rPr lang="en-ID" dirty="0"/>
              <a:t>Cut 30” casing, hang out 29” Diverter </a:t>
            </a:r>
            <a:r>
              <a:rPr lang="en-ID" dirty="0">
                <a:sym typeface="Wingdings" panose="05000000000000000000" pitchFamily="2" charset="2"/>
              </a:rPr>
              <a:t> </a:t>
            </a:r>
            <a:r>
              <a:rPr lang="en-ID" b="1" dirty="0">
                <a:solidFill>
                  <a:srgbClr val="C00000"/>
                </a:solidFill>
                <a:sym typeface="Wingdings" panose="05000000000000000000" pitchFamily="2" charset="2"/>
              </a:rPr>
              <a:t>Well control risk: Low</a:t>
            </a:r>
            <a:endParaRPr lang="en-ID" dirty="0"/>
          </a:p>
          <a:p>
            <a:pPr marL="285750" indent="-285750">
              <a:buFont typeface="Arial" panose="020B0604020202020204" pitchFamily="34" charset="0"/>
              <a:buChar char="•"/>
            </a:pPr>
            <a:r>
              <a:rPr lang="en-ID" dirty="0"/>
              <a:t>Install Landing Slip and land 20” casing</a:t>
            </a:r>
          </a:p>
          <a:p>
            <a:pPr marL="285750" indent="-285750">
              <a:buFont typeface="Arial" panose="020B0604020202020204" pitchFamily="34" charset="0"/>
              <a:buChar char="•"/>
            </a:pPr>
            <a:r>
              <a:rPr lang="en-ID" dirty="0"/>
              <a:t>Cut 20” casing and ND 29” Diverter</a:t>
            </a:r>
          </a:p>
          <a:p>
            <a:pPr marL="285750" indent="-285750">
              <a:buFont typeface="Arial" panose="020B0604020202020204" pitchFamily="34" charset="0"/>
              <a:buChar char="•"/>
            </a:pPr>
            <a:r>
              <a:rPr lang="en-ID" dirty="0"/>
              <a:t>Final cut 20” and NU Wellhead &amp; BOP</a:t>
            </a:r>
          </a:p>
        </p:txBody>
      </p:sp>
      <p:sp>
        <p:nvSpPr>
          <p:cNvPr id="8" name="TextBox 7">
            <a:extLst>
              <a:ext uri="{FF2B5EF4-FFF2-40B4-BE49-F238E27FC236}">
                <a16:creationId xmlns:a16="http://schemas.microsoft.com/office/drawing/2014/main" id="{549A1136-85AC-E547-18D1-4FBEAE857611}"/>
              </a:ext>
            </a:extLst>
          </p:cNvPr>
          <p:cNvSpPr txBox="1"/>
          <p:nvPr/>
        </p:nvSpPr>
        <p:spPr>
          <a:xfrm>
            <a:off x="6944653" y="3808587"/>
            <a:ext cx="4997302" cy="2677656"/>
          </a:xfrm>
          <a:prstGeom prst="rect">
            <a:avLst/>
          </a:prstGeom>
          <a:noFill/>
        </p:spPr>
        <p:txBody>
          <a:bodyPr wrap="square" rtlCol="0">
            <a:spAutoFit/>
          </a:bodyPr>
          <a:lstStyle/>
          <a:p>
            <a:r>
              <a:rPr lang="en-US" sz="2400" b="1" dirty="0">
                <a:solidFill>
                  <a:srgbClr val="C00000"/>
                </a:solidFill>
              </a:rPr>
              <a:t>Landing Plate:</a:t>
            </a:r>
          </a:p>
          <a:p>
            <a:pPr marL="285750" indent="-285750">
              <a:buFont typeface="Arial" panose="020B0604020202020204" pitchFamily="34" charset="0"/>
              <a:buChar char="•"/>
            </a:pPr>
            <a:r>
              <a:rPr lang="en-US" dirty="0"/>
              <a:t>Drill 26” hole</a:t>
            </a:r>
          </a:p>
          <a:p>
            <a:pPr marL="285750" indent="-285750">
              <a:buFont typeface="Arial" panose="020B0604020202020204" pitchFamily="34" charset="0"/>
              <a:buChar char="•"/>
            </a:pPr>
            <a:r>
              <a:rPr lang="en-US" dirty="0"/>
              <a:t>Cut 30” casing, ND </a:t>
            </a:r>
            <a:r>
              <a:rPr lang="en-ID" dirty="0"/>
              <a:t>29” Diverter </a:t>
            </a:r>
            <a:r>
              <a:rPr lang="en-ID" dirty="0">
                <a:sym typeface="Wingdings" panose="05000000000000000000" pitchFamily="2" charset="2"/>
              </a:rPr>
              <a:t> </a:t>
            </a:r>
            <a:r>
              <a:rPr lang="en-ID" b="1" dirty="0">
                <a:solidFill>
                  <a:srgbClr val="C00000"/>
                </a:solidFill>
                <a:sym typeface="Wingdings" panose="05000000000000000000" pitchFamily="2" charset="2"/>
              </a:rPr>
              <a:t>Well control risk: High</a:t>
            </a:r>
            <a:endParaRPr lang="en-US" b="1" dirty="0">
              <a:solidFill>
                <a:srgbClr val="C00000"/>
              </a:solidFill>
            </a:endParaRPr>
          </a:p>
          <a:p>
            <a:pPr marL="285750" indent="-285750">
              <a:buFont typeface="Arial" panose="020B0604020202020204" pitchFamily="34" charset="0"/>
              <a:buChar char="•"/>
            </a:pPr>
            <a:r>
              <a:rPr lang="en-US" dirty="0"/>
              <a:t>Run 20” casing and Pre-welded wellhead</a:t>
            </a:r>
          </a:p>
          <a:p>
            <a:pPr marL="285750" indent="-285750">
              <a:buFont typeface="Arial" panose="020B0604020202020204" pitchFamily="34" charset="0"/>
              <a:buChar char="•"/>
            </a:pPr>
            <a:r>
              <a:rPr lang="en-ID" dirty="0"/>
              <a:t>Install Landing Plate and land 20” casing</a:t>
            </a:r>
          </a:p>
          <a:p>
            <a:pPr marL="285750" indent="-285750">
              <a:buFont typeface="Arial" panose="020B0604020202020204" pitchFamily="34" charset="0"/>
              <a:buChar char="•"/>
            </a:pPr>
            <a:r>
              <a:rPr lang="en-US" dirty="0"/>
              <a:t>Run Inner string</a:t>
            </a:r>
          </a:p>
          <a:p>
            <a:pPr marL="285750" indent="-285750">
              <a:buFont typeface="Arial" panose="020B0604020202020204" pitchFamily="34" charset="0"/>
              <a:buChar char="•"/>
            </a:pPr>
            <a:r>
              <a:rPr lang="en-ID" dirty="0"/>
              <a:t>Primary cementing</a:t>
            </a:r>
          </a:p>
          <a:p>
            <a:pPr marL="285750" indent="-285750">
              <a:buFont typeface="Arial" panose="020B0604020202020204" pitchFamily="34" charset="0"/>
              <a:buChar char="•"/>
            </a:pPr>
            <a:r>
              <a:rPr lang="en-ID" dirty="0"/>
              <a:t>NU BOP</a:t>
            </a:r>
          </a:p>
        </p:txBody>
      </p:sp>
      <p:pic>
        <p:nvPicPr>
          <p:cNvPr id="9" name="Picture 8">
            <a:extLst>
              <a:ext uri="{FF2B5EF4-FFF2-40B4-BE49-F238E27FC236}">
                <a16:creationId xmlns:a16="http://schemas.microsoft.com/office/drawing/2014/main" id="{1A408454-1C13-847A-8DF2-0511A8DB586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421552" y="1263541"/>
            <a:ext cx="2523101" cy="2106980"/>
          </a:xfrm>
          <a:prstGeom prst="rect">
            <a:avLst/>
          </a:prstGeom>
        </p:spPr>
      </p:pic>
      <p:pic>
        <p:nvPicPr>
          <p:cNvPr id="1028" name="Picture 4">
            <a:extLst>
              <a:ext uri="{FF2B5EF4-FFF2-40B4-BE49-F238E27FC236}">
                <a16:creationId xmlns:a16="http://schemas.microsoft.com/office/drawing/2014/main" id="{60221C4A-9465-FE3F-33EF-BE032715E39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20513" y="4748631"/>
            <a:ext cx="706130" cy="70613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Wrong PNG Images Transparent Free Download | PNGMart">
            <a:extLst>
              <a:ext uri="{FF2B5EF4-FFF2-40B4-BE49-F238E27FC236}">
                <a16:creationId xmlns:a16="http://schemas.microsoft.com/office/drawing/2014/main" id="{CDCA2FAD-C7F2-ED92-47BC-FE6B9F3B820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347011" y="4329582"/>
            <a:ext cx="791824" cy="791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22266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a:xfrm>
            <a:off x="508000" y="26874"/>
            <a:ext cx="11121390" cy="1143000"/>
          </a:xfrm>
        </p:spPr>
        <p:txBody>
          <a:bodyPr>
            <a:noAutofit/>
          </a:bodyPr>
          <a:lstStyle/>
          <a:p>
            <a:r>
              <a:rPr lang="en-US" altLang="en-US" sz="3600" dirty="0">
                <a:solidFill>
                  <a:srgbClr val="C00000"/>
                </a:solidFill>
              </a:rPr>
              <a:t>STARTING HEAD: 21-1/4” Housing</a:t>
            </a:r>
            <a:br>
              <a:rPr lang="en-US" altLang="en-US" sz="3600" dirty="0">
                <a:solidFill>
                  <a:srgbClr val="C00000"/>
                </a:solidFill>
              </a:rPr>
            </a:br>
            <a:r>
              <a:rPr lang="en-US" altLang="en-US" sz="3600" dirty="0">
                <a:solidFill>
                  <a:srgbClr val="C00000"/>
                </a:solidFill>
                <a:latin typeface="Times New Roman" panose="02020603050405020304" pitchFamily="18" charset="0"/>
              </a:rPr>
              <a:t>Slip on Weld vs Slip Lock System</a:t>
            </a:r>
            <a:endParaRPr lang="en-US" altLang="en-US" sz="3600" dirty="0">
              <a:solidFill>
                <a:srgbClr val="C00000"/>
              </a:solidFill>
            </a:endParaRPr>
          </a:p>
        </p:txBody>
      </p:sp>
      <p:pic>
        <p:nvPicPr>
          <p:cNvPr id="89093" name="Picture 3"/>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8473440" y="1050927"/>
            <a:ext cx="3155950" cy="215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4" name="Picture 4"/>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8473440" y="3205164"/>
            <a:ext cx="3200400"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5" name="Picture 5"/>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508001" y="1258135"/>
            <a:ext cx="2987675"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508001" y="4402158"/>
            <a:ext cx="3401059" cy="2031325"/>
          </a:xfrm>
          <a:prstGeom prst="rect">
            <a:avLst/>
          </a:prstGeom>
          <a:noFill/>
        </p:spPr>
        <p:txBody>
          <a:bodyPr wrap="square">
            <a:spAutoFit/>
          </a:bodyPr>
          <a:lstStyle/>
          <a:p>
            <a:pPr>
              <a:defRPr/>
            </a:pPr>
            <a:r>
              <a:rPr lang="en-US" dirty="0">
                <a:solidFill>
                  <a:srgbClr val="0070C0"/>
                </a:solidFill>
              </a:rPr>
              <a:t>Slip on Weld (SOW) Wellhead:</a:t>
            </a:r>
          </a:p>
          <a:p>
            <a:pPr marL="342900" indent="-342900">
              <a:buFont typeface="Arial" panose="020B0604020202020204" pitchFamily="34" charset="0"/>
              <a:buChar char="•"/>
              <a:defRPr/>
            </a:pPr>
            <a:r>
              <a:rPr lang="en-US" dirty="0">
                <a:solidFill>
                  <a:srgbClr val="FF0000"/>
                </a:solidFill>
              </a:rPr>
              <a:t>Final Cut casing</a:t>
            </a:r>
          </a:p>
          <a:p>
            <a:pPr marL="342900" indent="-342900">
              <a:buFont typeface="Arial" panose="020B0604020202020204" pitchFamily="34" charset="0"/>
              <a:buChar char="•"/>
              <a:defRPr/>
            </a:pPr>
            <a:r>
              <a:rPr lang="en-US" dirty="0">
                <a:solidFill>
                  <a:srgbClr val="FF0000"/>
                </a:solidFill>
              </a:rPr>
              <a:t>Slip wellhead on casing</a:t>
            </a:r>
          </a:p>
          <a:p>
            <a:pPr marL="342900" indent="-342900">
              <a:buFont typeface="Arial" panose="020B0604020202020204" pitchFamily="34" charset="0"/>
              <a:buChar char="•"/>
              <a:defRPr/>
            </a:pPr>
            <a:r>
              <a:rPr lang="en-US" dirty="0">
                <a:solidFill>
                  <a:srgbClr val="FF0000"/>
                </a:solidFill>
              </a:rPr>
              <a:t>Do weld ID and OD</a:t>
            </a:r>
          </a:p>
          <a:p>
            <a:pPr marL="342900" indent="-342900">
              <a:buFont typeface="Arial" panose="020B0604020202020204" pitchFamily="34" charset="0"/>
              <a:buChar char="•"/>
              <a:defRPr/>
            </a:pPr>
            <a:endParaRPr lang="en-US" dirty="0">
              <a:solidFill>
                <a:srgbClr val="0070C0"/>
              </a:solidFill>
            </a:endParaRPr>
          </a:p>
          <a:p>
            <a:pPr marL="342900" indent="-342900">
              <a:buFont typeface="Arial" panose="020B0604020202020204" pitchFamily="34" charset="0"/>
              <a:buChar char="•"/>
              <a:defRPr/>
            </a:pPr>
            <a:r>
              <a:rPr lang="en-US" b="1" u="sng" dirty="0">
                <a:solidFill>
                  <a:srgbClr val="FF0000"/>
                </a:solidFill>
              </a:rPr>
              <a:t>Cut Casing </a:t>
            </a:r>
            <a:r>
              <a:rPr lang="en-US" dirty="0">
                <a:solidFill>
                  <a:srgbClr val="0070C0"/>
                </a:solidFill>
              </a:rPr>
              <a:t>to Nipple Down wellhead</a:t>
            </a:r>
          </a:p>
        </p:txBody>
      </p:sp>
      <p:sp>
        <p:nvSpPr>
          <p:cNvPr id="7" name="Up Arrow 6"/>
          <p:cNvSpPr/>
          <p:nvPr/>
        </p:nvSpPr>
        <p:spPr>
          <a:xfrm>
            <a:off x="1524000" y="3846512"/>
            <a:ext cx="990600" cy="5365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TextBox 14"/>
          <p:cNvSpPr txBox="1"/>
          <p:nvPr/>
        </p:nvSpPr>
        <p:spPr>
          <a:xfrm>
            <a:off x="4239260" y="1329422"/>
            <a:ext cx="2898140" cy="2031325"/>
          </a:xfrm>
          <a:prstGeom prst="rect">
            <a:avLst/>
          </a:prstGeom>
          <a:noFill/>
        </p:spPr>
        <p:txBody>
          <a:bodyPr wrap="square">
            <a:spAutoFit/>
          </a:bodyPr>
          <a:lstStyle/>
          <a:p>
            <a:pPr>
              <a:defRPr/>
            </a:pPr>
            <a:r>
              <a:rPr lang="en-US" dirty="0">
                <a:solidFill>
                  <a:srgbClr val="002060"/>
                </a:solidFill>
              </a:rPr>
              <a:t>Slip Lock Wellhead:</a:t>
            </a:r>
          </a:p>
          <a:p>
            <a:pPr marL="342900" indent="-342900">
              <a:buFont typeface="Arial" panose="020B0604020202020204" pitchFamily="34" charset="0"/>
              <a:buChar char="•"/>
              <a:defRPr/>
            </a:pPr>
            <a:r>
              <a:rPr lang="en-US" dirty="0">
                <a:solidFill>
                  <a:srgbClr val="002060"/>
                </a:solidFill>
              </a:rPr>
              <a:t>Final Cut casing</a:t>
            </a:r>
          </a:p>
          <a:p>
            <a:pPr marL="342900" indent="-342900">
              <a:buFont typeface="Arial" panose="020B0604020202020204" pitchFamily="34" charset="0"/>
              <a:buChar char="•"/>
              <a:defRPr/>
            </a:pPr>
            <a:r>
              <a:rPr lang="en-US" dirty="0">
                <a:solidFill>
                  <a:srgbClr val="002060"/>
                </a:solidFill>
              </a:rPr>
              <a:t>Slip wellhead on casing</a:t>
            </a:r>
          </a:p>
          <a:p>
            <a:pPr marL="342900" indent="-342900">
              <a:buFont typeface="Arial" panose="020B0604020202020204" pitchFamily="34" charset="0"/>
              <a:buChar char="•"/>
              <a:defRPr/>
            </a:pPr>
            <a:r>
              <a:rPr lang="en-US" b="1" u="sng" dirty="0">
                <a:solidFill>
                  <a:srgbClr val="002060"/>
                </a:solidFill>
              </a:rPr>
              <a:t>Tighten the bolt</a:t>
            </a:r>
          </a:p>
          <a:p>
            <a:pPr marL="342900" indent="-342900">
              <a:buFont typeface="Arial" panose="020B0604020202020204" pitchFamily="34" charset="0"/>
              <a:buChar char="•"/>
              <a:defRPr/>
            </a:pPr>
            <a:endParaRPr lang="en-US" dirty="0">
              <a:solidFill>
                <a:srgbClr val="002060"/>
              </a:solidFill>
            </a:endParaRPr>
          </a:p>
          <a:p>
            <a:pPr marL="342900" indent="-342900">
              <a:buFont typeface="Arial" panose="020B0604020202020204" pitchFamily="34" charset="0"/>
              <a:buChar char="•"/>
              <a:defRPr/>
            </a:pPr>
            <a:r>
              <a:rPr lang="en-US" b="1" u="sng" dirty="0">
                <a:solidFill>
                  <a:srgbClr val="002060"/>
                </a:solidFill>
              </a:rPr>
              <a:t>Loose the bolt </a:t>
            </a:r>
            <a:r>
              <a:rPr lang="en-US" dirty="0">
                <a:solidFill>
                  <a:srgbClr val="002060"/>
                </a:solidFill>
              </a:rPr>
              <a:t>to Nipple Down wellhead</a:t>
            </a:r>
          </a:p>
        </p:txBody>
      </p:sp>
      <p:sp>
        <p:nvSpPr>
          <p:cNvPr id="9" name="Right Arrow 8"/>
          <p:cNvSpPr/>
          <p:nvPr/>
        </p:nvSpPr>
        <p:spPr>
          <a:xfrm>
            <a:off x="7887652" y="3016132"/>
            <a:ext cx="457200" cy="1066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89100" name="Picture 10"/>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bwMode="auto">
          <a:xfrm>
            <a:off x="5105400" y="4451351"/>
            <a:ext cx="2160588"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101" name="TextBox 11"/>
          <p:cNvSpPr txBox="1">
            <a:spLocks noChangeArrowheads="1"/>
          </p:cNvSpPr>
          <p:nvPr/>
        </p:nvSpPr>
        <p:spPr bwMode="auto">
          <a:xfrm>
            <a:off x="5021263" y="5910263"/>
            <a:ext cx="22397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800" dirty="0">
                <a:solidFill>
                  <a:srgbClr val="C00000"/>
                </a:solidFill>
                <a:latin typeface="Times New Roman" panose="02020603050405020304" pitchFamily="18" charset="0"/>
              </a:rPr>
              <a:t>3-6 Rig Hours</a:t>
            </a:r>
          </a:p>
        </p:txBody>
      </p:sp>
      <p:pic>
        <p:nvPicPr>
          <p:cNvPr id="89102" name="Picture 20"/>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bwMode="auto">
          <a:xfrm>
            <a:off x="8724900" y="6035675"/>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964246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1590962" y="220336"/>
            <a:ext cx="8839200" cy="734861"/>
          </a:xfrm>
        </p:spPr>
        <p:txBody>
          <a:bodyPr>
            <a:normAutofit/>
          </a:bodyPr>
          <a:lstStyle/>
          <a:p>
            <a:pPr algn="ctr"/>
            <a:r>
              <a:rPr lang="en-US" altLang="en-US" sz="4000" b="1" dirty="0">
                <a:solidFill>
                  <a:srgbClr val="D24726"/>
                </a:solidFill>
              </a:rPr>
              <a:t>Pre-Welded 13-5/8” Wellhead Housing</a:t>
            </a:r>
          </a:p>
        </p:txBody>
      </p:sp>
      <p:pic>
        <p:nvPicPr>
          <p:cNvPr id="5" name="Picture 4">
            <a:extLst>
              <a:ext uri="{FF2B5EF4-FFF2-40B4-BE49-F238E27FC236}">
                <a16:creationId xmlns:a16="http://schemas.microsoft.com/office/drawing/2014/main" id="{F7F0BC5C-8661-F97F-FCA4-6A677E8F097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6715" y="1408096"/>
            <a:ext cx="5132299" cy="4794399"/>
          </a:xfrm>
          <a:prstGeom prst="rect">
            <a:avLst/>
          </a:prstGeom>
          <a:noFill/>
        </p:spPr>
      </p:pic>
      <p:sp>
        <p:nvSpPr>
          <p:cNvPr id="9" name="TextBox 8">
            <a:extLst>
              <a:ext uri="{FF2B5EF4-FFF2-40B4-BE49-F238E27FC236}">
                <a16:creationId xmlns:a16="http://schemas.microsoft.com/office/drawing/2014/main" id="{B69509F7-2E51-4742-6A17-4136F811E2F4}"/>
              </a:ext>
            </a:extLst>
          </p:cNvPr>
          <p:cNvSpPr txBox="1"/>
          <p:nvPr/>
        </p:nvSpPr>
        <p:spPr>
          <a:xfrm>
            <a:off x="6096000" y="1408096"/>
            <a:ext cx="5372559" cy="3834191"/>
          </a:xfrm>
          <a:prstGeom prst="rect">
            <a:avLst/>
          </a:prstGeom>
          <a:noFill/>
        </p:spPr>
        <p:txBody>
          <a:bodyPr wrap="square">
            <a:spAutoFit/>
          </a:bodyPr>
          <a:lstStyle/>
          <a:p>
            <a:pPr marL="0" marR="0" algn="just">
              <a:lnSpc>
                <a:spcPct val="107000"/>
              </a:lnSpc>
              <a:spcBef>
                <a:spcPts val="0"/>
              </a:spcBef>
              <a:spcAft>
                <a:spcPts val="800"/>
              </a:spcAft>
            </a:pPr>
            <a:r>
              <a:rPr lang="en-US" sz="2400" dirty="0">
                <a:effectLst/>
                <a:latin typeface="Calibri" panose="020F0502020204030204" pitchFamily="34" charset="0"/>
                <a:ea typeface="Calibri" panose="020F0502020204030204" pitchFamily="34" charset="0"/>
                <a:cs typeface="Calibri" panose="020F0502020204030204" pitchFamily="34" charset="0"/>
              </a:rPr>
              <a:t>Pemasangan 13-5/8” Wellhead Housing </a:t>
            </a:r>
            <a:r>
              <a:rPr lang="en-US" sz="2400" dirty="0" err="1">
                <a:effectLst/>
                <a:latin typeface="Calibri" panose="020F0502020204030204" pitchFamily="34" charset="0"/>
                <a:ea typeface="Calibri" panose="020F0502020204030204" pitchFamily="34" charset="0"/>
                <a:cs typeface="Calibri" panose="020F0502020204030204" pitchFamily="34" charset="0"/>
              </a:rPr>
              <a:t>ada</a:t>
            </a:r>
            <a:r>
              <a:rPr lang="en-US" sz="2400" dirty="0">
                <a:effectLst/>
                <a:latin typeface="Calibri" panose="020F0502020204030204" pitchFamily="34" charset="0"/>
                <a:ea typeface="Calibri" panose="020F0502020204030204" pitchFamily="34" charset="0"/>
                <a:cs typeface="Calibri" panose="020F0502020204030204" pitchFamily="34" charset="0"/>
              </a:rPr>
              <a:t> 2 </a:t>
            </a:r>
            <a:r>
              <a:rPr lang="en-US" sz="2400" dirty="0" err="1">
                <a:effectLst/>
                <a:latin typeface="Calibri" panose="020F0502020204030204" pitchFamily="34" charset="0"/>
                <a:ea typeface="Calibri" panose="020F0502020204030204" pitchFamily="34" charset="0"/>
                <a:cs typeface="Calibri" panose="020F0502020204030204" pitchFamily="34" charset="0"/>
              </a:rPr>
              <a:t>cara</a:t>
            </a:r>
            <a:r>
              <a:rPr lang="en-US" sz="2400" dirty="0">
                <a:effectLst/>
                <a:latin typeface="Calibri" panose="020F0502020204030204" pitchFamily="34" charset="0"/>
                <a:ea typeface="Calibri" panose="020F0502020204030204" pitchFamily="34" charset="0"/>
                <a:cs typeface="Calibri" panose="020F0502020204030204" pitchFamily="34" charset="0"/>
              </a:rPr>
              <a:t>:</a:t>
            </a:r>
          </a:p>
          <a:p>
            <a:pPr marL="0" marR="0" algn="just">
              <a:lnSpc>
                <a:spcPct val="107000"/>
              </a:lnSpc>
              <a:spcBef>
                <a:spcPts val="0"/>
              </a:spcBef>
              <a:spcAft>
                <a:spcPts val="800"/>
              </a:spcAft>
            </a:pP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eriod"/>
            </a:pPr>
            <a:r>
              <a:rPr lang="en-US" sz="2400" dirty="0">
                <a:effectLst/>
                <a:latin typeface="Calibri" panose="020F0502020204030204" pitchFamily="34" charset="0"/>
                <a:ea typeface="Calibri" panose="020F0502020204030204" pitchFamily="34" charset="0"/>
                <a:cs typeface="Calibri" panose="020F0502020204030204" pitchFamily="34" charset="0"/>
              </a:rPr>
              <a:t>Online Wellhead Installation (Pemasangan </a:t>
            </a:r>
            <a:r>
              <a:rPr lang="en-US" sz="2400" dirty="0" err="1">
                <a:effectLst/>
                <a:latin typeface="Calibri" panose="020F0502020204030204" pitchFamily="34" charset="0"/>
                <a:ea typeface="Calibri" panose="020F0502020204030204" pitchFamily="34" charset="0"/>
                <a:cs typeface="Calibri" panose="020F0502020204030204" pitchFamily="34" charset="0"/>
              </a:rPr>
              <a:t>langsung</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Pengelasan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Vertikal</a:t>
            </a:r>
            <a:endParaRPr lang="en-US" sz="24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a:lnSpc>
                <a:spcPct val="107000"/>
              </a:lnSpc>
              <a:spcBef>
                <a:spcPts val="0"/>
              </a:spcBef>
              <a:spcAft>
                <a:spcPts val="0"/>
              </a:spcAft>
              <a:buFont typeface="+mj-lt"/>
              <a:buAutoNum type="romanLcPeriod"/>
            </a:pP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romanLcPeriod"/>
            </a:pPr>
            <a:r>
              <a:rPr lang="en-US" sz="2400" dirty="0">
                <a:effectLst/>
                <a:latin typeface="Calibri" panose="020F0502020204030204" pitchFamily="34" charset="0"/>
                <a:ea typeface="Calibri" panose="020F0502020204030204" pitchFamily="34" charset="0"/>
                <a:cs typeface="Calibri" panose="020F0502020204030204" pitchFamily="34" charset="0"/>
              </a:rPr>
              <a:t>Run Pre-Welded Wellhead Installation </a:t>
            </a:r>
            <a:r>
              <a:rPr lang="en-US" sz="24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Pengelasan</a:t>
            </a:r>
            <a:r>
              <a:rPr lang="en-US" sz="2400" dirty="0">
                <a:effectLst/>
                <a:latin typeface="Calibri" panose="020F0502020204030204" pitchFamily="34" charset="0"/>
                <a:ea typeface="Calibri" panose="020F0502020204030204" pitchFamily="34" charset="0"/>
                <a:cs typeface="Calibri" panose="020F0502020204030204" pitchFamily="34" charset="0"/>
              </a:rPr>
              <a:t> Horizontal</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50" name="Picture 55" descr="Diagram, engineering drawing&#10;&#10;Description automatically generated">
            <a:extLst>
              <a:ext uri="{FF2B5EF4-FFF2-40B4-BE49-F238E27FC236}">
                <a16:creationId xmlns:a16="http://schemas.microsoft.com/office/drawing/2014/main" id="{200F63C4-3895-5F86-7C4B-C1FD6CBA08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863850" cy="2546350"/>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56">
            <a:extLst>
              <a:ext uri="{FF2B5EF4-FFF2-40B4-BE49-F238E27FC236}">
                <a16:creationId xmlns:a16="http://schemas.microsoft.com/office/drawing/2014/main" id="{39C2F141-4F69-9C89-F8E4-875AA8423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755900" cy="257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38681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AF027-315D-4F1B-8615-C969D858988B}"/>
              </a:ext>
            </a:extLst>
          </p:cNvPr>
          <p:cNvSpPr>
            <a:spLocks noGrp="1"/>
          </p:cNvSpPr>
          <p:nvPr>
            <p:ph type="title"/>
          </p:nvPr>
        </p:nvSpPr>
        <p:spPr>
          <a:xfrm>
            <a:off x="521207" y="448056"/>
            <a:ext cx="11142473" cy="640080"/>
          </a:xfrm>
        </p:spPr>
        <p:txBody>
          <a:bodyPr>
            <a:normAutofit fontScale="90000"/>
          </a:bodyPr>
          <a:lstStyle/>
          <a:p>
            <a:r>
              <a:rPr lang="en-ID" b="1" dirty="0">
                <a:solidFill>
                  <a:srgbClr val="C00000"/>
                </a:solidFill>
              </a:rPr>
              <a:t>Non Pre-Welded                 vs                    Pre-Welded 13-5/8” Wellhead Housing</a:t>
            </a:r>
          </a:p>
        </p:txBody>
      </p:sp>
      <p:pic>
        <p:nvPicPr>
          <p:cNvPr id="4" name="Picture 3">
            <a:extLst>
              <a:ext uri="{FF2B5EF4-FFF2-40B4-BE49-F238E27FC236}">
                <a16:creationId xmlns:a16="http://schemas.microsoft.com/office/drawing/2014/main" id="{60FD019E-BA6F-4347-959E-D0EF4BE0582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788295" y="1328254"/>
            <a:ext cx="4367385" cy="3459876"/>
          </a:xfrm>
          <a:prstGeom prst="rect">
            <a:avLst/>
          </a:prstGeom>
        </p:spPr>
      </p:pic>
      <p:pic>
        <p:nvPicPr>
          <p:cNvPr id="3" name="Picture 2">
            <a:extLst>
              <a:ext uri="{FF2B5EF4-FFF2-40B4-BE49-F238E27FC236}">
                <a16:creationId xmlns:a16="http://schemas.microsoft.com/office/drawing/2014/main" id="{3E67B07B-881B-4863-8F0F-A855BBD67A4A}"/>
              </a:ext>
            </a:extLst>
          </p:cNvPr>
          <p:cNvPicPr>
            <a:picLocks noChangeAspect="1"/>
          </p:cNvPicPr>
          <p:nvPr/>
        </p:nvPicPr>
        <p:blipFill>
          <a:blip r:embed="rId3"/>
          <a:stretch>
            <a:fillRect/>
          </a:stretch>
        </p:blipFill>
        <p:spPr>
          <a:xfrm>
            <a:off x="319631" y="1257134"/>
            <a:ext cx="5623969" cy="3492604"/>
          </a:xfrm>
          <a:prstGeom prst="rect">
            <a:avLst/>
          </a:prstGeom>
        </p:spPr>
      </p:pic>
      <p:graphicFrame>
        <p:nvGraphicFramePr>
          <p:cNvPr id="6" name="Table 5">
            <a:extLst>
              <a:ext uri="{FF2B5EF4-FFF2-40B4-BE49-F238E27FC236}">
                <a16:creationId xmlns:a16="http://schemas.microsoft.com/office/drawing/2014/main" id="{E7CDB404-6AE8-4DF5-A326-B130BED5A420}"/>
              </a:ext>
            </a:extLst>
          </p:cNvPr>
          <p:cNvGraphicFramePr>
            <a:graphicFrameLocks noGrp="1"/>
          </p:cNvGraphicFramePr>
          <p:nvPr/>
        </p:nvGraphicFramePr>
        <p:xfrm>
          <a:off x="319631" y="4811627"/>
          <a:ext cx="5623968" cy="1950720"/>
        </p:xfrm>
        <a:graphic>
          <a:graphicData uri="http://schemas.openxmlformats.org/drawingml/2006/table">
            <a:tbl>
              <a:tblPr firstRow="1" bandRow="1">
                <a:tableStyleId>{5C22544A-7EE6-4342-B048-85BDC9FD1C3A}</a:tableStyleId>
              </a:tblPr>
              <a:tblGrid>
                <a:gridCol w="5623968">
                  <a:extLst>
                    <a:ext uri="{9D8B030D-6E8A-4147-A177-3AD203B41FA5}">
                      <a16:colId xmlns:a16="http://schemas.microsoft.com/office/drawing/2014/main" val="372831946"/>
                    </a:ext>
                  </a:extLst>
                </a:gridCol>
              </a:tblGrid>
              <a:tr h="304738">
                <a:tc>
                  <a:txBody>
                    <a:bodyPr/>
                    <a:lstStyle/>
                    <a:p>
                      <a:r>
                        <a:rPr lang="en-US" dirty="0"/>
                        <a:t>Without Pre-Welded Operation</a:t>
                      </a:r>
                      <a:endParaRPr lang="en-ID" dirty="0"/>
                    </a:p>
                  </a:txBody>
                  <a:tcPr/>
                </a:tc>
                <a:extLst>
                  <a:ext uri="{0D108BD9-81ED-4DB2-BD59-A6C34878D82A}">
                    <a16:rowId xmlns:a16="http://schemas.microsoft.com/office/drawing/2014/main" val="3033356307"/>
                  </a:ext>
                </a:extLst>
              </a:tr>
              <a:tr h="370840">
                <a:tc>
                  <a:txBody>
                    <a:bodyPr/>
                    <a:lstStyle/>
                    <a:p>
                      <a:r>
                        <a:rPr lang="en-US" sz="1400" dirty="0"/>
                        <a:t>ND BOP</a:t>
                      </a:r>
                    </a:p>
                    <a:p>
                      <a:r>
                        <a:rPr lang="en-US" sz="1400" dirty="0"/>
                        <a:t>Run Casing Tie back</a:t>
                      </a:r>
                    </a:p>
                    <a:p>
                      <a:r>
                        <a:rPr lang="en-US" sz="1400" dirty="0"/>
                        <a:t>Run Inner string with casing stick up </a:t>
                      </a:r>
                      <a:r>
                        <a:rPr lang="en-US" sz="1400" dirty="0">
                          <a:sym typeface="Wingdings" panose="05000000000000000000" pitchFamily="2" charset="2"/>
                        </a:rPr>
                        <a:t> </a:t>
                      </a:r>
                      <a:r>
                        <a:rPr lang="en-US" sz="1400" dirty="0">
                          <a:solidFill>
                            <a:srgbClr val="FF0000"/>
                          </a:solidFill>
                          <a:sym typeface="Wingdings" panose="05000000000000000000" pitchFamily="2" charset="2"/>
                        </a:rPr>
                        <a:t>3 </a:t>
                      </a:r>
                      <a:r>
                        <a:rPr lang="en-US" sz="1400" dirty="0" err="1">
                          <a:solidFill>
                            <a:srgbClr val="FF0000"/>
                          </a:solidFill>
                          <a:sym typeface="Wingdings" panose="05000000000000000000" pitchFamily="2" charset="2"/>
                        </a:rPr>
                        <a:t>hrs</a:t>
                      </a:r>
                      <a:endParaRPr lang="en-US" sz="1400" dirty="0">
                        <a:solidFill>
                          <a:srgbClr val="FF0000"/>
                        </a:solidFill>
                      </a:endParaRPr>
                    </a:p>
                    <a:p>
                      <a:r>
                        <a:rPr lang="en-US" sz="1400" dirty="0"/>
                        <a:t>Cementing</a:t>
                      </a:r>
                    </a:p>
                    <a:p>
                      <a:r>
                        <a:rPr lang="en-US" sz="1400" dirty="0"/>
                        <a:t>WOC </a:t>
                      </a:r>
                      <a:r>
                        <a:rPr lang="en-US" sz="1400" dirty="0">
                          <a:sym typeface="Wingdings" panose="05000000000000000000" pitchFamily="2" charset="2"/>
                        </a:rPr>
                        <a:t> </a:t>
                      </a:r>
                      <a:r>
                        <a:rPr lang="en-US" sz="1400" dirty="0">
                          <a:solidFill>
                            <a:srgbClr val="FF0000"/>
                          </a:solidFill>
                          <a:sym typeface="Wingdings" panose="05000000000000000000" pitchFamily="2" charset="2"/>
                        </a:rPr>
                        <a:t>8 </a:t>
                      </a:r>
                      <a:r>
                        <a:rPr lang="en-US" sz="1400" dirty="0" err="1">
                          <a:solidFill>
                            <a:srgbClr val="FF0000"/>
                          </a:solidFill>
                          <a:sym typeface="Wingdings" panose="05000000000000000000" pitchFamily="2" charset="2"/>
                        </a:rPr>
                        <a:t>hrs</a:t>
                      </a:r>
                      <a:endParaRPr lang="en-US" sz="1400" dirty="0">
                        <a:solidFill>
                          <a:srgbClr val="FF0000"/>
                        </a:solidFill>
                      </a:endParaRPr>
                    </a:p>
                    <a:p>
                      <a:r>
                        <a:rPr lang="en-US" sz="1400" dirty="0"/>
                        <a:t>Cut casing </a:t>
                      </a:r>
                      <a:r>
                        <a:rPr lang="en-US" sz="1400" dirty="0">
                          <a:sym typeface="Wingdings" panose="05000000000000000000" pitchFamily="2" charset="2"/>
                        </a:rPr>
                        <a:t> </a:t>
                      </a:r>
                      <a:endParaRPr lang="en-US" sz="1400" dirty="0"/>
                    </a:p>
                    <a:p>
                      <a:r>
                        <a:rPr lang="en-US" sz="1400" dirty="0"/>
                        <a:t>Install Wellhead </a:t>
                      </a:r>
                      <a:r>
                        <a:rPr lang="en-US" sz="1400" dirty="0">
                          <a:sym typeface="Wingdings" panose="05000000000000000000" pitchFamily="2" charset="2"/>
                        </a:rPr>
                        <a:t> </a:t>
                      </a:r>
                      <a:r>
                        <a:rPr lang="en-US" sz="1400" dirty="0">
                          <a:solidFill>
                            <a:srgbClr val="FF0000"/>
                          </a:solidFill>
                          <a:sym typeface="Wingdings" panose="05000000000000000000" pitchFamily="2" charset="2"/>
                        </a:rPr>
                        <a:t>35 </a:t>
                      </a:r>
                      <a:r>
                        <a:rPr lang="en-US" sz="1400" dirty="0" err="1">
                          <a:solidFill>
                            <a:srgbClr val="FF0000"/>
                          </a:solidFill>
                          <a:sym typeface="Wingdings" panose="05000000000000000000" pitchFamily="2" charset="2"/>
                        </a:rPr>
                        <a:t>hrs</a:t>
                      </a:r>
                      <a:endParaRPr lang="en-US" sz="1400" dirty="0">
                        <a:solidFill>
                          <a:srgbClr val="FF0000"/>
                        </a:solidFill>
                      </a:endParaRPr>
                    </a:p>
                  </a:txBody>
                  <a:tcPr/>
                </a:tc>
                <a:extLst>
                  <a:ext uri="{0D108BD9-81ED-4DB2-BD59-A6C34878D82A}">
                    <a16:rowId xmlns:a16="http://schemas.microsoft.com/office/drawing/2014/main" val="213610583"/>
                  </a:ext>
                </a:extLst>
              </a:tr>
            </a:tbl>
          </a:graphicData>
        </a:graphic>
      </p:graphicFrame>
      <p:graphicFrame>
        <p:nvGraphicFramePr>
          <p:cNvPr id="7" name="Table 6">
            <a:extLst>
              <a:ext uri="{FF2B5EF4-FFF2-40B4-BE49-F238E27FC236}">
                <a16:creationId xmlns:a16="http://schemas.microsoft.com/office/drawing/2014/main" id="{DBA92632-0031-4453-871F-77B14CCF19A1}"/>
              </a:ext>
            </a:extLst>
          </p:cNvPr>
          <p:cNvGraphicFramePr>
            <a:graphicFrameLocks noGrp="1"/>
          </p:cNvGraphicFramePr>
          <p:nvPr/>
        </p:nvGraphicFramePr>
        <p:xfrm>
          <a:off x="6788294" y="4817574"/>
          <a:ext cx="4367385" cy="1742440"/>
        </p:xfrm>
        <a:graphic>
          <a:graphicData uri="http://schemas.openxmlformats.org/drawingml/2006/table">
            <a:tbl>
              <a:tblPr firstRow="1" bandRow="1">
                <a:tableStyleId>{5C22544A-7EE6-4342-B048-85BDC9FD1C3A}</a:tableStyleId>
              </a:tblPr>
              <a:tblGrid>
                <a:gridCol w="4367385">
                  <a:extLst>
                    <a:ext uri="{9D8B030D-6E8A-4147-A177-3AD203B41FA5}">
                      <a16:colId xmlns:a16="http://schemas.microsoft.com/office/drawing/2014/main" val="1894263973"/>
                    </a:ext>
                  </a:extLst>
                </a:gridCol>
              </a:tblGrid>
              <a:tr h="370840">
                <a:tc>
                  <a:txBody>
                    <a:bodyPr/>
                    <a:lstStyle/>
                    <a:p>
                      <a:r>
                        <a:rPr lang="en-US" dirty="0"/>
                        <a:t>Pre-Welded Operation</a:t>
                      </a:r>
                      <a:endParaRPr lang="en-ID" dirty="0"/>
                    </a:p>
                  </a:txBody>
                  <a:tcPr/>
                </a:tc>
                <a:extLst>
                  <a:ext uri="{0D108BD9-81ED-4DB2-BD59-A6C34878D82A}">
                    <a16:rowId xmlns:a16="http://schemas.microsoft.com/office/drawing/2014/main" val="3033356307"/>
                  </a:ext>
                </a:extLst>
              </a:tr>
              <a:tr h="370840">
                <a:tc>
                  <a:txBody>
                    <a:bodyPr/>
                    <a:lstStyle/>
                    <a:p>
                      <a:r>
                        <a:rPr lang="en-US" sz="1400" dirty="0"/>
                        <a:t>ND BOP</a:t>
                      </a:r>
                    </a:p>
                    <a:p>
                      <a:r>
                        <a:rPr lang="en-US" sz="1400" dirty="0"/>
                        <a:t>Run casing Tie back</a:t>
                      </a:r>
                    </a:p>
                    <a:p>
                      <a:r>
                        <a:rPr lang="en-ID" sz="1400" dirty="0"/>
                        <a:t>Run Pre-welded wellhead </a:t>
                      </a:r>
                      <a:r>
                        <a:rPr lang="en-ID" sz="1400" dirty="0">
                          <a:sym typeface="Wingdings" panose="05000000000000000000" pitchFamily="2" charset="2"/>
                        </a:rPr>
                        <a:t> 1 hrs</a:t>
                      </a:r>
                    </a:p>
                    <a:p>
                      <a:r>
                        <a:rPr lang="en-US" sz="1400" dirty="0"/>
                        <a:t>Run Inner string on Rotary Table</a:t>
                      </a:r>
                      <a:endParaRPr lang="en-US" sz="1400" dirty="0">
                        <a:solidFill>
                          <a:srgbClr val="FF0000"/>
                        </a:solidFill>
                      </a:endParaRPr>
                    </a:p>
                    <a:p>
                      <a:r>
                        <a:rPr lang="en-US" sz="1400" dirty="0"/>
                        <a:t>Cementing</a:t>
                      </a:r>
                    </a:p>
                    <a:p>
                      <a:r>
                        <a:rPr lang="en-ID" sz="1400" dirty="0"/>
                        <a:t>No WOC</a:t>
                      </a:r>
                    </a:p>
                  </a:txBody>
                  <a:tcPr/>
                </a:tc>
                <a:extLst>
                  <a:ext uri="{0D108BD9-81ED-4DB2-BD59-A6C34878D82A}">
                    <a16:rowId xmlns:a16="http://schemas.microsoft.com/office/drawing/2014/main" val="213610583"/>
                  </a:ext>
                </a:extLst>
              </a:tr>
            </a:tbl>
          </a:graphicData>
        </a:graphic>
      </p:graphicFrame>
    </p:spTree>
    <p:extLst>
      <p:ext uri="{BB962C8B-B14F-4D97-AF65-F5344CB8AC3E}">
        <p14:creationId xmlns:p14="http://schemas.microsoft.com/office/powerpoint/2010/main" val="407701250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C83EE-A863-B93D-4C0D-2CCEF502E4DC}"/>
              </a:ext>
            </a:extLst>
          </p:cNvPr>
          <p:cNvSpPr>
            <a:spLocks noGrp="1"/>
          </p:cNvSpPr>
          <p:nvPr>
            <p:ph type="title"/>
          </p:nvPr>
        </p:nvSpPr>
        <p:spPr>
          <a:xfrm>
            <a:off x="521207" y="448056"/>
            <a:ext cx="11101588" cy="640080"/>
          </a:xfrm>
        </p:spPr>
        <p:txBody>
          <a:bodyPr>
            <a:normAutofit fontScale="90000"/>
          </a:bodyPr>
          <a:lstStyle/>
          <a:p>
            <a:r>
              <a:rPr lang="en-ID" b="1" dirty="0">
                <a:solidFill>
                  <a:srgbClr val="C00000"/>
                </a:solidFill>
              </a:rPr>
              <a:t>Non Pre-Welded                 vs                    Pre-Welded 13-5/8” Wellhead Housing</a:t>
            </a:r>
            <a:endParaRPr lang="en-ID" dirty="0"/>
          </a:p>
        </p:txBody>
      </p:sp>
      <p:pic>
        <p:nvPicPr>
          <p:cNvPr id="4" name="Picture 3">
            <a:extLst>
              <a:ext uri="{FF2B5EF4-FFF2-40B4-BE49-F238E27FC236}">
                <a16:creationId xmlns:a16="http://schemas.microsoft.com/office/drawing/2014/main" id="{6622CA29-BF95-9E33-D356-0C07048FD7EB}"/>
              </a:ext>
            </a:extLst>
          </p:cNvPr>
          <p:cNvPicPr>
            <a:picLocks noChangeAspect="1"/>
          </p:cNvPicPr>
          <p:nvPr/>
        </p:nvPicPr>
        <p:blipFill>
          <a:blip r:embed="rId2"/>
          <a:stretch>
            <a:fillRect/>
          </a:stretch>
        </p:blipFill>
        <p:spPr>
          <a:xfrm>
            <a:off x="521206" y="1693789"/>
            <a:ext cx="4799941" cy="2264453"/>
          </a:xfrm>
          <a:prstGeom prst="rect">
            <a:avLst/>
          </a:prstGeom>
        </p:spPr>
      </p:pic>
      <p:pic>
        <p:nvPicPr>
          <p:cNvPr id="5" name="Picture 4">
            <a:extLst>
              <a:ext uri="{FF2B5EF4-FFF2-40B4-BE49-F238E27FC236}">
                <a16:creationId xmlns:a16="http://schemas.microsoft.com/office/drawing/2014/main" id="{2015E9CF-F734-84AF-8875-25529D029585}"/>
              </a:ext>
            </a:extLst>
          </p:cNvPr>
          <p:cNvPicPr>
            <a:picLocks noChangeAspect="1"/>
          </p:cNvPicPr>
          <p:nvPr/>
        </p:nvPicPr>
        <p:blipFill rotWithShape="1">
          <a:blip r:embed="rId3"/>
          <a:srcRect l="6987" t="6889" r="13661" b="12648"/>
          <a:stretch/>
        </p:blipFill>
        <p:spPr bwMode="auto">
          <a:xfrm>
            <a:off x="1918771" y="4210945"/>
            <a:ext cx="2190520" cy="2502669"/>
          </a:xfrm>
          <a:prstGeom prst="rect">
            <a:avLst/>
          </a:prstGeom>
          <a:ln>
            <a:noFill/>
          </a:ln>
          <a:extLst>
            <a:ext uri="{53640926-AAD7-44D8-BBD7-CCE9431645EC}">
              <a14:shadowObscured xmlns:a14="http://schemas.microsoft.com/office/drawing/2010/main"/>
            </a:ext>
          </a:extLst>
        </p:spPr>
      </p:pic>
      <p:pic>
        <p:nvPicPr>
          <p:cNvPr id="6" name="Graphic 1">
            <a:extLst>
              <a:ext uri="{FF2B5EF4-FFF2-40B4-BE49-F238E27FC236}">
                <a16:creationId xmlns:a16="http://schemas.microsoft.com/office/drawing/2014/main" id="{96B64B2F-A805-3012-F811-E5A53DDDB4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50816" y="1693788"/>
            <a:ext cx="5825208" cy="2602789"/>
          </a:xfrm>
          <a:prstGeom prst="rect">
            <a:avLst/>
          </a:prstGeom>
        </p:spPr>
      </p:pic>
    </p:spTree>
    <p:extLst>
      <p:ext uri="{BB962C8B-B14F-4D97-AF65-F5344CB8AC3E}">
        <p14:creationId xmlns:p14="http://schemas.microsoft.com/office/powerpoint/2010/main" val="231875433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AF027-315D-4F1B-8615-C969D858988B}"/>
              </a:ext>
            </a:extLst>
          </p:cNvPr>
          <p:cNvSpPr>
            <a:spLocks noGrp="1"/>
          </p:cNvSpPr>
          <p:nvPr>
            <p:ph type="title"/>
          </p:nvPr>
        </p:nvSpPr>
        <p:spPr/>
        <p:txBody>
          <a:bodyPr/>
          <a:lstStyle/>
          <a:p>
            <a:r>
              <a:rPr lang="en-ID" dirty="0"/>
              <a:t>Pre-Welded 13-5/8” Wellhead Housing</a:t>
            </a:r>
          </a:p>
        </p:txBody>
      </p:sp>
      <p:pic>
        <p:nvPicPr>
          <p:cNvPr id="4" name="Picture 3">
            <a:extLst>
              <a:ext uri="{FF2B5EF4-FFF2-40B4-BE49-F238E27FC236}">
                <a16:creationId xmlns:a16="http://schemas.microsoft.com/office/drawing/2014/main" id="{60FD019E-BA6F-4347-959E-D0EF4BE0582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51280"/>
            <a:ext cx="6385527" cy="5058664"/>
          </a:xfrm>
          <a:prstGeom prst="rect">
            <a:avLst/>
          </a:prstGeom>
        </p:spPr>
      </p:pic>
      <p:graphicFrame>
        <p:nvGraphicFramePr>
          <p:cNvPr id="5" name="Table 5">
            <a:extLst>
              <a:ext uri="{FF2B5EF4-FFF2-40B4-BE49-F238E27FC236}">
                <a16:creationId xmlns:a16="http://schemas.microsoft.com/office/drawing/2014/main" id="{BD685A4B-F942-4CD9-9A39-16A8959E8712}"/>
              </a:ext>
            </a:extLst>
          </p:cNvPr>
          <p:cNvGraphicFramePr>
            <a:graphicFrameLocks noGrp="1"/>
          </p:cNvGraphicFramePr>
          <p:nvPr/>
        </p:nvGraphicFramePr>
        <p:xfrm>
          <a:off x="6385526" y="1351280"/>
          <a:ext cx="5715033" cy="3947160"/>
        </p:xfrm>
        <a:graphic>
          <a:graphicData uri="http://schemas.openxmlformats.org/drawingml/2006/table">
            <a:tbl>
              <a:tblPr firstRow="1" bandRow="1">
                <a:tableStyleId>{5C22544A-7EE6-4342-B048-85BDC9FD1C3A}</a:tableStyleId>
              </a:tblPr>
              <a:tblGrid>
                <a:gridCol w="2809274">
                  <a:extLst>
                    <a:ext uri="{9D8B030D-6E8A-4147-A177-3AD203B41FA5}">
                      <a16:colId xmlns:a16="http://schemas.microsoft.com/office/drawing/2014/main" val="372831946"/>
                    </a:ext>
                  </a:extLst>
                </a:gridCol>
                <a:gridCol w="2905759">
                  <a:extLst>
                    <a:ext uri="{9D8B030D-6E8A-4147-A177-3AD203B41FA5}">
                      <a16:colId xmlns:a16="http://schemas.microsoft.com/office/drawing/2014/main" val="1894263973"/>
                    </a:ext>
                  </a:extLst>
                </a:gridCol>
              </a:tblGrid>
              <a:tr h="370840">
                <a:tc>
                  <a:txBody>
                    <a:bodyPr/>
                    <a:lstStyle/>
                    <a:p>
                      <a:r>
                        <a:rPr lang="en-US" dirty="0"/>
                        <a:t>Without Pre-Welded</a:t>
                      </a:r>
                      <a:endParaRPr lang="en-ID" dirty="0"/>
                    </a:p>
                  </a:txBody>
                  <a:tcPr/>
                </a:tc>
                <a:tc>
                  <a:txBody>
                    <a:bodyPr/>
                    <a:lstStyle/>
                    <a:p>
                      <a:r>
                        <a:rPr lang="en-US" dirty="0"/>
                        <a:t>Pre-Welded</a:t>
                      </a:r>
                      <a:endParaRPr lang="en-ID" dirty="0"/>
                    </a:p>
                  </a:txBody>
                  <a:tcPr/>
                </a:tc>
                <a:extLst>
                  <a:ext uri="{0D108BD9-81ED-4DB2-BD59-A6C34878D82A}">
                    <a16:rowId xmlns:a16="http://schemas.microsoft.com/office/drawing/2014/main" val="3033356307"/>
                  </a:ext>
                </a:extLst>
              </a:tr>
              <a:tr h="370840">
                <a:tc>
                  <a:txBody>
                    <a:bodyPr/>
                    <a:lstStyle/>
                    <a:p>
                      <a:r>
                        <a:rPr lang="en-US" dirty="0"/>
                        <a:t>ND BOP</a:t>
                      </a:r>
                    </a:p>
                    <a:p>
                      <a:r>
                        <a:rPr lang="en-US" dirty="0"/>
                        <a:t>Run Casing Tie back</a:t>
                      </a:r>
                    </a:p>
                    <a:p>
                      <a:r>
                        <a:rPr lang="en-US" dirty="0"/>
                        <a:t>Run Inner string with casing stick up </a:t>
                      </a:r>
                      <a:r>
                        <a:rPr lang="en-US" dirty="0">
                          <a:sym typeface="Wingdings" panose="05000000000000000000" pitchFamily="2" charset="2"/>
                        </a:rPr>
                        <a:t> </a:t>
                      </a:r>
                      <a:r>
                        <a:rPr lang="en-US" dirty="0">
                          <a:solidFill>
                            <a:srgbClr val="FF0000"/>
                          </a:solidFill>
                          <a:sym typeface="Wingdings" panose="05000000000000000000" pitchFamily="2" charset="2"/>
                        </a:rPr>
                        <a:t>3 </a:t>
                      </a:r>
                      <a:r>
                        <a:rPr lang="en-US" dirty="0" err="1">
                          <a:solidFill>
                            <a:srgbClr val="FF0000"/>
                          </a:solidFill>
                          <a:sym typeface="Wingdings" panose="05000000000000000000" pitchFamily="2" charset="2"/>
                        </a:rPr>
                        <a:t>hrs</a:t>
                      </a:r>
                      <a:endParaRPr lang="en-US" dirty="0">
                        <a:solidFill>
                          <a:srgbClr val="FF0000"/>
                        </a:solidFill>
                      </a:endParaRPr>
                    </a:p>
                    <a:p>
                      <a:r>
                        <a:rPr lang="en-US" dirty="0"/>
                        <a:t>Cementing</a:t>
                      </a:r>
                    </a:p>
                    <a:p>
                      <a:r>
                        <a:rPr lang="en-US" dirty="0"/>
                        <a:t>WOC </a:t>
                      </a:r>
                      <a:r>
                        <a:rPr lang="en-US" dirty="0">
                          <a:sym typeface="Wingdings" panose="05000000000000000000" pitchFamily="2" charset="2"/>
                        </a:rPr>
                        <a:t> </a:t>
                      </a:r>
                      <a:r>
                        <a:rPr lang="en-US" dirty="0">
                          <a:solidFill>
                            <a:srgbClr val="FF0000"/>
                          </a:solidFill>
                          <a:sym typeface="Wingdings" panose="05000000000000000000" pitchFamily="2" charset="2"/>
                        </a:rPr>
                        <a:t>8 </a:t>
                      </a:r>
                      <a:r>
                        <a:rPr lang="en-US" dirty="0" err="1">
                          <a:solidFill>
                            <a:srgbClr val="FF0000"/>
                          </a:solidFill>
                          <a:sym typeface="Wingdings" panose="05000000000000000000" pitchFamily="2" charset="2"/>
                        </a:rPr>
                        <a:t>hrs</a:t>
                      </a:r>
                      <a:endParaRPr lang="en-US" dirty="0">
                        <a:solidFill>
                          <a:srgbClr val="FF0000"/>
                        </a:solidFill>
                      </a:endParaRPr>
                    </a:p>
                    <a:p>
                      <a:r>
                        <a:rPr lang="en-US" dirty="0"/>
                        <a:t>ND BOP</a:t>
                      </a:r>
                    </a:p>
                    <a:p>
                      <a:r>
                        <a:rPr lang="en-US" dirty="0"/>
                        <a:t>Cut casing </a:t>
                      </a:r>
                      <a:r>
                        <a:rPr lang="en-US" dirty="0">
                          <a:sym typeface="Wingdings" panose="05000000000000000000" pitchFamily="2" charset="2"/>
                        </a:rPr>
                        <a:t> </a:t>
                      </a:r>
                      <a:endParaRPr lang="en-US" dirty="0"/>
                    </a:p>
                    <a:p>
                      <a:r>
                        <a:rPr lang="en-US" dirty="0"/>
                        <a:t>Install Wellhead </a:t>
                      </a:r>
                      <a:r>
                        <a:rPr lang="en-US" dirty="0">
                          <a:sym typeface="Wingdings" panose="05000000000000000000" pitchFamily="2" charset="2"/>
                        </a:rPr>
                        <a:t> </a:t>
                      </a:r>
                      <a:r>
                        <a:rPr lang="en-US" dirty="0">
                          <a:solidFill>
                            <a:srgbClr val="FF0000"/>
                          </a:solidFill>
                          <a:sym typeface="Wingdings" panose="05000000000000000000" pitchFamily="2" charset="2"/>
                        </a:rPr>
                        <a:t>35 </a:t>
                      </a:r>
                      <a:r>
                        <a:rPr lang="en-US" dirty="0" err="1">
                          <a:solidFill>
                            <a:srgbClr val="FF0000"/>
                          </a:solidFill>
                          <a:sym typeface="Wingdings" panose="05000000000000000000" pitchFamily="2" charset="2"/>
                        </a:rPr>
                        <a:t>hrs</a:t>
                      </a:r>
                      <a:endParaRPr lang="en-US" dirty="0">
                        <a:solidFill>
                          <a:srgbClr val="FF0000"/>
                        </a:solidFill>
                      </a:endParaRPr>
                    </a:p>
                    <a:p>
                      <a:r>
                        <a:rPr lang="en-US" dirty="0"/>
                        <a:t>NU BOP</a:t>
                      </a:r>
                      <a:endParaRPr lang="en-ID" dirty="0"/>
                    </a:p>
                  </a:txBody>
                  <a:tcPr/>
                </a:tc>
                <a:tc>
                  <a:txBody>
                    <a:bodyPr/>
                    <a:lstStyle/>
                    <a:p>
                      <a:r>
                        <a:rPr lang="en-US" dirty="0"/>
                        <a:t>ND BOP</a:t>
                      </a:r>
                    </a:p>
                    <a:p>
                      <a:r>
                        <a:rPr lang="en-US" dirty="0"/>
                        <a:t>Run casing Tie back</a:t>
                      </a:r>
                    </a:p>
                    <a:p>
                      <a:r>
                        <a:rPr lang="en-ID" dirty="0"/>
                        <a:t>Run Pre-welded wellhead</a:t>
                      </a:r>
                    </a:p>
                    <a:p>
                      <a:r>
                        <a:rPr lang="en-ID" dirty="0"/>
                        <a:t>No WOC</a:t>
                      </a:r>
                    </a:p>
                    <a:p>
                      <a:r>
                        <a:rPr lang="en-ID" dirty="0"/>
                        <a:t>NU BOP</a:t>
                      </a:r>
                    </a:p>
                  </a:txBody>
                  <a:tcPr/>
                </a:tc>
                <a:extLst>
                  <a:ext uri="{0D108BD9-81ED-4DB2-BD59-A6C34878D82A}">
                    <a16:rowId xmlns:a16="http://schemas.microsoft.com/office/drawing/2014/main" val="213610583"/>
                  </a:ext>
                </a:extLst>
              </a:tr>
              <a:tr h="370840">
                <a:tc>
                  <a:txBody>
                    <a:bodyPr/>
                    <a:lstStyle/>
                    <a:p>
                      <a:r>
                        <a:rPr lang="en-US" dirty="0"/>
                        <a:t>3 + 8 + 35 </a:t>
                      </a:r>
                      <a:r>
                        <a:rPr lang="en-US" dirty="0" err="1"/>
                        <a:t>hrs</a:t>
                      </a:r>
                      <a:r>
                        <a:rPr lang="en-US" dirty="0"/>
                        <a:t> longer</a:t>
                      </a:r>
                      <a:endParaRPr lang="en-ID" dirty="0"/>
                    </a:p>
                  </a:txBody>
                  <a:tcPr/>
                </a:tc>
                <a:tc>
                  <a:txBody>
                    <a:bodyPr/>
                    <a:lstStyle/>
                    <a:p>
                      <a:r>
                        <a:rPr lang="en-US" dirty="0"/>
                        <a:t>Rig time saving: 46 hours</a:t>
                      </a:r>
                      <a:endParaRPr lang="en-ID" dirty="0"/>
                    </a:p>
                  </a:txBody>
                  <a:tcPr/>
                </a:tc>
                <a:extLst>
                  <a:ext uri="{0D108BD9-81ED-4DB2-BD59-A6C34878D82A}">
                    <a16:rowId xmlns:a16="http://schemas.microsoft.com/office/drawing/2014/main" val="559286956"/>
                  </a:ext>
                </a:extLst>
              </a:tr>
              <a:tr h="370840">
                <a:tc>
                  <a:txBody>
                    <a:bodyPr/>
                    <a:lstStyle/>
                    <a:p>
                      <a:endParaRPr lang="en-ID"/>
                    </a:p>
                  </a:txBody>
                  <a:tcPr/>
                </a:tc>
                <a:tc>
                  <a:txBody>
                    <a:bodyPr/>
                    <a:lstStyle/>
                    <a:p>
                      <a:r>
                        <a:rPr lang="en-US" dirty="0"/>
                        <a:t>Cost saving: </a:t>
                      </a:r>
                      <a:r>
                        <a:rPr lang="en-US" b="1" dirty="0">
                          <a:solidFill>
                            <a:srgbClr val="FF0000"/>
                          </a:solidFill>
                        </a:rPr>
                        <a:t>USD 134 K</a:t>
                      </a:r>
                      <a:endParaRPr lang="en-ID" b="1" dirty="0">
                        <a:solidFill>
                          <a:srgbClr val="FF0000"/>
                        </a:solidFill>
                      </a:endParaRPr>
                    </a:p>
                  </a:txBody>
                  <a:tcPr/>
                </a:tc>
                <a:extLst>
                  <a:ext uri="{0D108BD9-81ED-4DB2-BD59-A6C34878D82A}">
                    <a16:rowId xmlns:a16="http://schemas.microsoft.com/office/drawing/2014/main" val="1305506172"/>
                  </a:ext>
                </a:extLst>
              </a:tr>
            </a:tbl>
          </a:graphicData>
        </a:graphic>
      </p:graphicFrame>
    </p:spTree>
    <p:extLst>
      <p:ext uri="{BB962C8B-B14F-4D97-AF65-F5344CB8AC3E}">
        <p14:creationId xmlns:p14="http://schemas.microsoft.com/office/powerpoint/2010/main" val="150497773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1978026" y="0"/>
            <a:ext cx="7239000" cy="1143000"/>
          </a:xfrm>
        </p:spPr>
        <p:txBody>
          <a:bodyPr/>
          <a:lstStyle/>
          <a:p>
            <a:r>
              <a:rPr lang="en-US" altLang="en-US" sz="4000" b="1" dirty="0">
                <a:solidFill>
                  <a:srgbClr val="FF9933"/>
                </a:solidFill>
              </a:rPr>
              <a:t>PRE-WELDED WELLHEAD</a:t>
            </a:r>
            <a:br>
              <a:rPr lang="en-US" altLang="en-US" sz="4000" b="1" dirty="0">
                <a:solidFill>
                  <a:srgbClr val="FF9933"/>
                </a:solidFill>
              </a:rPr>
            </a:br>
            <a:r>
              <a:rPr lang="en-US" altLang="en-US" sz="2400" b="1" dirty="0">
                <a:solidFill>
                  <a:srgbClr val="C00000"/>
                </a:solidFill>
              </a:rPr>
              <a:t>13-3/8” Casing + 13-5/8” 3M Section A Wellhead</a:t>
            </a:r>
          </a:p>
        </p:txBody>
      </p:sp>
      <p:pic>
        <p:nvPicPr>
          <p:cNvPr id="90116"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598170" y="1323181"/>
            <a:ext cx="5848350" cy="474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7" name="TextBox 1"/>
          <p:cNvSpPr txBox="1">
            <a:spLocks noChangeArrowheads="1"/>
          </p:cNvSpPr>
          <p:nvPr/>
        </p:nvSpPr>
        <p:spPr bwMode="auto">
          <a:xfrm>
            <a:off x="6743700" y="1323181"/>
            <a:ext cx="504189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2000" dirty="0">
                <a:solidFill>
                  <a:srgbClr val="C00000"/>
                </a:solidFill>
                <a:latin typeface="Times New Roman" panose="02020603050405020304" pitchFamily="18" charset="0"/>
              </a:rPr>
              <a:t>RT opening 37.5”</a:t>
            </a:r>
          </a:p>
          <a:p>
            <a:pPr>
              <a:spcBef>
                <a:spcPct val="0"/>
              </a:spcBef>
            </a:pPr>
            <a:r>
              <a:rPr lang="en-US" altLang="en-US" sz="2000" dirty="0">
                <a:solidFill>
                  <a:srgbClr val="C00000"/>
                </a:solidFill>
                <a:latin typeface="Times New Roman" panose="02020603050405020304" pitchFamily="18" charset="0"/>
              </a:rPr>
              <a:t>Split type RT bushing is preferable.</a:t>
            </a:r>
          </a:p>
          <a:p>
            <a:pPr>
              <a:spcBef>
                <a:spcPct val="0"/>
              </a:spcBef>
            </a:pPr>
            <a:r>
              <a:rPr lang="en-US" altLang="en-US" sz="2000" dirty="0">
                <a:solidFill>
                  <a:srgbClr val="C00000"/>
                </a:solidFill>
                <a:latin typeface="Times New Roman" panose="02020603050405020304" pitchFamily="18" charset="0"/>
              </a:rPr>
              <a:t>Pre-welded wellhead in horizontal position. </a:t>
            </a:r>
          </a:p>
          <a:p>
            <a:pPr>
              <a:spcBef>
                <a:spcPct val="0"/>
              </a:spcBef>
            </a:pPr>
            <a:r>
              <a:rPr lang="en-US" altLang="en-US" sz="2000" dirty="0">
                <a:solidFill>
                  <a:srgbClr val="FFC000"/>
                </a:solidFill>
                <a:latin typeface="Times New Roman" panose="02020603050405020304" pitchFamily="18" charset="0"/>
              </a:rPr>
              <a:t>Pre-welded 13-5/8” Flange housing and 13-3/8” casing Landing Joint.</a:t>
            </a:r>
          </a:p>
        </p:txBody>
      </p:sp>
      <p:pic>
        <p:nvPicPr>
          <p:cNvPr id="90118" name="Picture 2"/>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6821804" y="3659187"/>
            <a:ext cx="3952083" cy="2909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9" name="TextBox 1"/>
          <p:cNvSpPr txBox="1">
            <a:spLocks noChangeArrowheads="1"/>
          </p:cNvSpPr>
          <p:nvPr/>
        </p:nvSpPr>
        <p:spPr bwMode="auto">
          <a:xfrm>
            <a:off x="883920" y="6007100"/>
            <a:ext cx="50596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2800" dirty="0">
                <a:solidFill>
                  <a:srgbClr val="C00000"/>
                </a:solidFill>
                <a:latin typeface="Times New Roman" panose="02020603050405020304" pitchFamily="18" charset="0"/>
              </a:rPr>
              <a:t>Save One-Two days Rig time</a:t>
            </a:r>
          </a:p>
        </p:txBody>
      </p:sp>
      <p:pic>
        <p:nvPicPr>
          <p:cNvPr id="90120" name="Picture 6" descr="Related image"/>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597526" y="5772151"/>
            <a:ext cx="11461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722121" y="1566068"/>
            <a:ext cx="1076325" cy="28956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63827262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Optimasi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13" name="Rectangle 12">
            <a:extLst>
              <a:ext uri="{FF2B5EF4-FFF2-40B4-BE49-F238E27FC236}">
                <a16:creationId xmlns:a16="http://schemas.microsoft.com/office/drawing/2014/main" id="{8F2D8D1F-AF01-B51A-0A8F-EA5D508CAEDD}"/>
              </a:ext>
            </a:extLst>
          </p:cNvPr>
          <p:cNvSpPr/>
          <p:nvPr/>
        </p:nvSpPr>
        <p:spPr>
          <a:xfrm>
            <a:off x="2624705" y="1541882"/>
            <a:ext cx="8156709"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Pemilihan</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Teknologi</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Terbaru</a:t>
            </a:r>
            <a:r>
              <a:rPr lang="en-US" altLang="en-US" sz="2400" b="1" dirty="0">
                <a:latin typeface="Cavolini" panose="03000502040302020204" pitchFamily="66" charset="0"/>
                <a:cs typeface="Cavolini" panose="03000502040302020204" pitchFamily="66" charset="0"/>
              </a:rPr>
              <a:t> Drilling Bit </a:t>
            </a:r>
            <a:endParaRPr lang="en-ID" sz="2400" b="1" dirty="0">
              <a:latin typeface="Cavolini" panose="03000502040302020204" pitchFamily="66" charset="0"/>
              <a:cs typeface="Cavolini" panose="03000502040302020204" pitchFamily="66" charset="0"/>
            </a:endParaRPr>
          </a:p>
        </p:txBody>
      </p:sp>
      <p:sp>
        <p:nvSpPr>
          <p:cNvPr id="14" name="Rectangle 13">
            <a:extLst>
              <a:ext uri="{FF2B5EF4-FFF2-40B4-BE49-F238E27FC236}">
                <a16:creationId xmlns:a16="http://schemas.microsoft.com/office/drawing/2014/main" id="{780B02AB-F421-7230-5DF7-05605EBED893}"/>
              </a:ext>
            </a:extLst>
          </p:cNvPr>
          <p:cNvSpPr/>
          <p:nvPr/>
        </p:nvSpPr>
        <p:spPr>
          <a:xfrm>
            <a:off x="1491647" y="1525121"/>
            <a:ext cx="891363" cy="765544"/>
          </a:xfrm>
          <a:prstGeom prst="rect">
            <a:avLst/>
          </a:prstGeom>
          <a:solidFill>
            <a:schemeClr val="accent2">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4.5</a:t>
            </a:r>
            <a:endParaRPr lang="en-ID" sz="2400" b="1" dirty="0">
              <a:solidFill>
                <a:srgbClr val="FFFF00"/>
              </a:solidFill>
              <a:latin typeface="Cavolini" panose="03000502040302020204" pitchFamily="66" charset="0"/>
              <a:cs typeface="Cavolini" panose="03000502040302020204" pitchFamily="66" charset="0"/>
            </a:endParaRPr>
          </a:p>
        </p:txBody>
      </p:sp>
      <p:sp>
        <p:nvSpPr>
          <p:cNvPr id="2" name="TextBox 1">
            <a:extLst>
              <a:ext uri="{FF2B5EF4-FFF2-40B4-BE49-F238E27FC236}">
                <a16:creationId xmlns:a16="http://schemas.microsoft.com/office/drawing/2014/main" id="{578A02B1-E493-3BCF-9EC5-49CE8AA870B6}"/>
              </a:ext>
            </a:extLst>
          </p:cNvPr>
          <p:cNvSpPr txBox="1"/>
          <p:nvPr/>
        </p:nvSpPr>
        <p:spPr>
          <a:xfrm>
            <a:off x="2624705" y="2390740"/>
            <a:ext cx="6338542" cy="2208361"/>
          </a:xfrm>
          <a:prstGeom prst="rect">
            <a:avLst/>
          </a:prstGeom>
          <a:noFill/>
        </p:spPr>
        <p:txBody>
          <a:bodyPr wrap="square" rtlCol="0">
            <a:spAutoFit/>
          </a:bodyPr>
          <a:lstStyle/>
          <a:p>
            <a:pPr marL="461963" indent="-461963">
              <a:lnSpc>
                <a:spcPct val="200000"/>
              </a:lnSpc>
              <a:buFont typeface="Wingdings" panose="05000000000000000000" pitchFamily="2" charset="2"/>
              <a:buChar char="q"/>
            </a:pPr>
            <a:r>
              <a:rPr lang="en-US" sz="2400" dirty="0">
                <a:latin typeface="Cavolini" panose="03000502040302020204" pitchFamily="66" charset="0"/>
                <a:cs typeface="Cavolini" panose="03000502040302020204" pitchFamily="66" charset="0"/>
              </a:rPr>
              <a:t>Rate Of Penetration (ROP)</a:t>
            </a:r>
          </a:p>
          <a:p>
            <a:pPr marL="461963" indent="-461963">
              <a:lnSpc>
                <a:spcPct val="200000"/>
              </a:lnSpc>
              <a:buFont typeface="Wingdings" panose="05000000000000000000" pitchFamily="2" charset="2"/>
              <a:buChar char="q"/>
            </a:pPr>
            <a:r>
              <a:rPr lang="en-US" sz="2400" dirty="0">
                <a:latin typeface="Cavolini" panose="03000502040302020204" pitchFamily="66" charset="0"/>
                <a:cs typeface="Cavolini" panose="03000502040302020204" pitchFamily="66" charset="0"/>
              </a:rPr>
              <a:t>Footage, one hole section one bit</a:t>
            </a:r>
          </a:p>
          <a:p>
            <a:pPr marL="461963" indent="-461963">
              <a:lnSpc>
                <a:spcPct val="200000"/>
              </a:lnSpc>
              <a:buFont typeface="Wingdings" panose="05000000000000000000" pitchFamily="2" charset="2"/>
              <a:buChar char="q"/>
            </a:pPr>
            <a:r>
              <a:rPr lang="en-US" sz="2400" dirty="0">
                <a:latin typeface="Cavolini" panose="03000502040302020204" pitchFamily="66" charset="0"/>
                <a:cs typeface="Cavolini" panose="03000502040302020204" pitchFamily="66" charset="0"/>
              </a:rPr>
              <a:t>Cost per Meter</a:t>
            </a:r>
            <a:endParaRPr lang="en-ID" sz="2400" dirty="0">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399275791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716280" y="306230"/>
            <a:ext cx="8229600" cy="685800"/>
          </a:xfrm>
        </p:spPr>
        <p:txBody>
          <a:bodyPr/>
          <a:lstStyle/>
          <a:p>
            <a:pPr eaLnBrk="1" hangingPunct="1"/>
            <a:r>
              <a:rPr lang="en-US" altLang="en-US" b="1" dirty="0">
                <a:solidFill>
                  <a:srgbClr val="FFC000"/>
                </a:solidFill>
              </a:rPr>
              <a:t>DRILLING BIT SELECTION</a:t>
            </a:r>
            <a:r>
              <a:rPr lang="id-ID" altLang="en-US" b="1" dirty="0">
                <a:solidFill>
                  <a:srgbClr val="FFC000"/>
                </a:solidFill>
              </a:rPr>
              <a:t> – CASE STUDY</a:t>
            </a:r>
            <a:endParaRPr lang="en-US" altLang="en-US" b="1" dirty="0">
              <a:solidFill>
                <a:srgbClr val="FFC000"/>
              </a:solidFill>
            </a:endParaRPr>
          </a:p>
        </p:txBody>
      </p:sp>
      <p:graphicFrame>
        <p:nvGraphicFramePr>
          <p:cNvPr id="83971" name="Object 4"/>
          <p:cNvGraphicFramePr>
            <a:graphicFrameLocks noChangeAspect="1"/>
          </p:cNvGraphicFramePr>
          <p:nvPr/>
        </p:nvGraphicFramePr>
        <p:xfrm>
          <a:off x="1325563" y="1280160"/>
          <a:ext cx="7188200" cy="5029200"/>
        </p:xfrm>
        <a:graphic>
          <a:graphicData uri="http://schemas.openxmlformats.org/presentationml/2006/ole">
            <mc:AlternateContent xmlns:mc="http://schemas.openxmlformats.org/markup-compatibility/2006">
              <mc:Choice xmlns:v="urn:schemas-microsoft-com:vml" Requires="v">
                <p:oleObj name="Chart" r:id="rId2" imgW="5838749" imgH="4086149" progId="Excel.Chart.8">
                  <p:embed/>
                </p:oleObj>
              </mc:Choice>
              <mc:Fallback>
                <p:oleObj name="Chart" r:id="rId2" imgW="5838749" imgH="4086149" progId="Excel.Chart.8">
                  <p:embed/>
                  <p:pic>
                    <p:nvPicPr>
                      <p:cNvPr id="8397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5563" y="1280160"/>
                        <a:ext cx="71882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3972" name="Picture 3" descr="D:\Geothermal Project\Photos Wayang Windu - Geothermal 2010-2012\WWt-3\26in Bit WWT-3 (Smith PR9488)\new\P3210106.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559800" y="1405574"/>
            <a:ext cx="207645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3" name="Picture 3" descr="D:\Geothermal Project\Photos Wayang Windu - Geothermal 2010-2012\IMG_0393.JP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559800" y="4404360"/>
            <a:ext cx="235108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350000" y="2118360"/>
            <a:ext cx="1524000" cy="4040188"/>
          </a:xfrm>
          <a:prstGeom prst="rect">
            <a:avLst/>
          </a:prstGeom>
          <a:solidFill>
            <a:srgbClr val="00B050">
              <a:alpha val="17000"/>
            </a:srgbClr>
          </a:solid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p>
        </p:txBody>
      </p:sp>
      <p:sp>
        <p:nvSpPr>
          <p:cNvPr id="7" name="TextBox 1"/>
          <p:cNvSpPr txBox="1">
            <a:spLocks noChangeArrowheads="1"/>
          </p:cNvSpPr>
          <p:nvPr/>
        </p:nvSpPr>
        <p:spPr bwMode="auto">
          <a:xfrm>
            <a:off x="1381443" y="6289832"/>
            <a:ext cx="2755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defRPr/>
            </a:pPr>
            <a:r>
              <a:rPr lang="id-ID" sz="2800" dirty="0">
                <a:solidFill>
                  <a:srgbClr val="FFFF00"/>
                </a:solidFill>
                <a:latin typeface="+mn-lt"/>
                <a:cs typeface="Arial" charset="0"/>
              </a:rPr>
              <a:t>BIT IADC: ........</a:t>
            </a:r>
          </a:p>
        </p:txBody>
      </p:sp>
    </p:spTree>
    <p:extLst>
      <p:ext uri="{BB962C8B-B14F-4D97-AF65-F5344CB8AC3E}">
        <p14:creationId xmlns:p14="http://schemas.microsoft.com/office/powerpoint/2010/main" val="2953150663"/>
      </p:ext>
    </p:extLst>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a:xfrm>
            <a:off x="681039" y="127792"/>
            <a:ext cx="8229600" cy="1020763"/>
          </a:xfrm>
        </p:spPr>
        <p:txBody>
          <a:bodyPr>
            <a:normAutofit fontScale="90000"/>
          </a:bodyPr>
          <a:lstStyle/>
          <a:p>
            <a:r>
              <a:rPr lang="en-US" altLang="en-US" sz="3600" b="1" dirty="0">
                <a:solidFill>
                  <a:srgbClr val="C00000"/>
                </a:solidFill>
              </a:rPr>
              <a:t>ROCK BIT </a:t>
            </a:r>
            <a:r>
              <a:rPr lang="id-ID" altLang="en-US" sz="3600" b="1" dirty="0">
                <a:solidFill>
                  <a:srgbClr val="C00000"/>
                </a:solidFill>
              </a:rPr>
              <a:t>KREV: </a:t>
            </a:r>
            <a:br>
              <a:rPr lang="en-US" altLang="en-US" sz="3600" b="1" dirty="0">
                <a:solidFill>
                  <a:srgbClr val="C00000"/>
                </a:solidFill>
              </a:rPr>
            </a:br>
            <a:r>
              <a:rPr lang="id-ID" altLang="en-US" sz="3600" b="1" dirty="0">
                <a:solidFill>
                  <a:srgbClr val="C00000"/>
                </a:solidFill>
              </a:rPr>
              <a:t>Single vs Double Bearing</a:t>
            </a:r>
            <a:r>
              <a:rPr lang="en-US" altLang="en-US" sz="3600" b="1" dirty="0">
                <a:solidFill>
                  <a:srgbClr val="C00000"/>
                </a:solidFill>
              </a:rPr>
              <a:t> (premium)</a:t>
            </a:r>
            <a:endParaRPr lang="id-ID" altLang="en-US" sz="3600" b="1" dirty="0">
              <a:solidFill>
                <a:srgbClr val="C00000"/>
              </a:solidFill>
            </a:endParaRPr>
          </a:p>
        </p:txBody>
      </p:sp>
      <p:pic>
        <p:nvPicPr>
          <p:cNvPr id="24589" name="Picture 1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6800" y="1446211"/>
            <a:ext cx="3581400" cy="265271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4997" name="TextBox 2"/>
          <p:cNvSpPr txBox="1">
            <a:spLocks noChangeArrowheads="1"/>
          </p:cNvSpPr>
          <p:nvPr/>
        </p:nvSpPr>
        <p:spPr bwMode="auto">
          <a:xfrm>
            <a:off x="1206500" y="4314823"/>
            <a:ext cx="982726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800" dirty="0">
                <a:solidFill>
                  <a:srgbClr val="FFC000"/>
                </a:solidFill>
                <a:latin typeface="Times New Roman" panose="02020603050405020304" pitchFamily="18" charset="0"/>
              </a:rPr>
              <a:t>Drilling Bit Comparison: Same IADC but different Bearing Type:</a:t>
            </a:r>
          </a:p>
          <a:p>
            <a:pPr eaLnBrk="1" hangingPunct="1">
              <a:spcBef>
                <a:spcPct val="0"/>
              </a:spcBef>
            </a:pPr>
            <a:r>
              <a:rPr lang="id-ID" altLang="en-US" sz="2800" dirty="0">
                <a:solidFill>
                  <a:srgbClr val="FFC000"/>
                </a:solidFill>
                <a:latin typeface="Times New Roman" panose="02020603050405020304" pitchFamily="18" charset="0"/>
              </a:rPr>
              <a:t>80% Reliability: 305 KRev versus </a:t>
            </a:r>
            <a:r>
              <a:rPr lang="en-US" altLang="en-US" sz="2800" dirty="0">
                <a:solidFill>
                  <a:srgbClr val="002060"/>
                </a:solidFill>
                <a:latin typeface="Times New Roman" panose="02020603050405020304" pitchFamily="18" charset="0"/>
              </a:rPr>
              <a:t>95</a:t>
            </a:r>
            <a:r>
              <a:rPr lang="id-ID" altLang="en-US" sz="2800" dirty="0">
                <a:solidFill>
                  <a:srgbClr val="002060"/>
                </a:solidFill>
                <a:latin typeface="Times New Roman" panose="02020603050405020304" pitchFamily="18" charset="0"/>
              </a:rPr>
              <a:t>0</a:t>
            </a:r>
            <a:r>
              <a:rPr lang="en-US" altLang="en-US" sz="2800" dirty="0">
                <a:solidFill>
                  <a:srgbClr val="002060"/>
                </a:solidFill>
                <a:latin typeface="Times New Roman" panose="02020603050405020304" pitchFamily="18" charset="0"/>
              </a:rPr>
              <a:t>-1200</a:t>
            </a:r>
            <a:r>
              <a:rPr lang="id-ID" altLang="en-US" sz="2800" dirty="0">
                <a:solidFill>
                  <a:srgbClr val="002060"/>
                </a:solidFill>
                <a:latin typeface="Times New Roman" panose="02020603050405020304" pitchFamily="18" charset="0"/>
              </a:rPr>
              <a:t> </a:t>
            </a:r>
            <a:r>
              <a:rPr lang="id-ID" altLang="en-US" sz="2800" dirty="0">
                <a:solidFill>
                  <a:srgbClr val="FFC000"/>
                </a:solidFill>
                <a:latin typeface="Times New Roman" panose="02020603050405020304" pitchFamily="18" charset="0"/>
              </a:rPr>
              <a:t>Krev (</a:t>
            </a:r>
            <a:r>
              <a:rPr lang="en-US" altLang="en-US" sz="2800" dirty="0">
                <a:solidFill>
                  <a:srgbClr val="FFC000"/>
                </a:solidFill>
                <a:latin typeface="Times New Roman" panose="02020603050405020304" pitchFamily="18" charset="0"/>
              </a:rPr>
              <a:t>3.1-4</a:t>
            </a:r>
            <a:r>
              <a:rPr lang="id-ID" altLang="en-US" sz="2800" dirty="0">
                <a:solidFill>
                  <a:srgbClr val="FFC000"/>
                </a:solidFill>
                <a:latin typeface="Times New Roman" panose="02020603050405020304" pitchFamily="18" charset="0"/>
              </a:rPr>
              <a:t> times)</a:t>
            </a:r>
            <a:endParaRPr lang="en-US" altLang="en-US" sz="2800" dirty="0">
              <a:solidFill>
                <a:srgbClr val="FFC000"/>
              </a:solidFill>
              <a:latin typeface="Times New Roman" panose="02020603050405020304" pitchFamily="18" charset="0"/>
            </a:endParaRPr>
          </a:p>
          <a:p>
            <a:pPr eaLnBrk="1" hangingPunct="1">
              <a:spcBef>
                <a:spcPct val="0"/>
              </a:spcBef>
            </a:pPr>
            <a:r>
              <a:rPr lang="en-US" altLang="en-US" sz="2800" dirty="0">
                <a:solidFill>
                  <a:srgbClr val="002060"/>
                </a:solidFill>
                <a:latin typeface="Times New Roman" panose="02020603050405020304" pitchFamily="18" charset="0"/>
              </a:rPr>
              <a:t>Two Bit vs Half Bit per section</a:t>
            </a:r>
          </a:p>
          <a:p>
            <a:pPr eaLnBrk="1" hangingPunct="1">
              <a:spcBef>
                <a:spcPct val="0"/>
              </a:spcBef>
            </a:pPr>
            <a:r>
              <a:rPr lang="en-US" altLang="en-US" sz="2800" dirty="0">
                <a:solidFill>
                  <a:srgbClr val="002060"/>
                </a:solidFill>
                <a:latin typeface="Times New Roman" panose="02020603050405020304" pitchFamily="18" charset="0"/>
              </a:rPr>
              <a:t>Two vs One BHA trip per section</a:t>
            </a:r>
            <a:endParaRPr lang="id-ID" altLang="en-US" sz="2800" dirty="0">
              <a:solidFill>
                <a:srgbClr val="002060"/>
              </a:solidFill>
              <a:latin typeface="Times New Roman" panose="02020603050405020304" pitchFamily="18" charset="0"/>
            </a:endParaRPr>
          </a:p>
        </p:txBody>
      </p:sp>
      <p:pic>
        <p:nvPicPr>
          <p:cNvPr id="84998" name="Picture 1"/>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795839" y="1446211"/>
            <a:ext cx="5648325"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Arrow Connector 5"/>
          <p:cNvCxnSpPr/>
          <p:nvPr/>
        </p:nvCxnSpPr>
        <p:spPr>
          <a:xfrm>
            <a:off x="5410200" y="2041523"/>
            <a:ext cx="2286000" cy="0"/>
          </a:xfrm>
          <a:prstGeom prst="straightConnector1">
            <a:avLst/>
          </a:prstGeom>
          <a:ln w="222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7696200" y="2041523"/>
            <a:ext cx="0" cy="1828800"/>
          </a:xfrm>
          <a:prstGeom prst="straightConnector1">
            <a:avLst/>
          </a:prstGeom>
          <a:ln w="222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0A92D2D-C8F1-463F-8ADD-4B8CC2D61922}"/>
              </a:ext>
            </a:extLst>
          </p:cNvPr>
          <p:cNvSpPr/>
          <p:nvPr/>
        </p:nvSpPr>
        <p:spPr>
          <a:xfrm>
            <a:off x="3728720" y="1446211"/>
            <a:ext cx="919480" cy="1590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Tree>
    <p:extLst>
      <p:ext uri="{BB962C8B-B14F-4D97-AF65-F5344CB8AC3E}">
        <p14:creationId xmlns:p14="http://schemas.microsoft.com/office/powerpoint/2010/main" val="97052000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bwMode="auto">
          <a:xfrm>
            <a:off x="652629" y="147637"/>
            <a:ext cx="10937543"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sz="3600" b="1" dirty="0">
                <a:solidFill>
                  <a:srgbClr val="C00000"/>
                </a:solidFill>
              </a:rPr>
              <a:t>New Enhance Bit Type: Faster and Longer Run</a:t>
            </a:r>
          </a:p>
        </p:txBody>
      </p:sp>
      <p:pic>
        <p:nvPicPr>
          <p:cNvPr id="56324" name="Picture 4"/>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559557" y="1528763"/>
            <a:ext cx="29051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5" name="Picture 5"/>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559556" y="3621088"/>
            <a:ext cx="2819400" cy="300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7"/>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6343579" y="2968366"/>
            <a:ext cx="2500313" cy="383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7" name="Picture 8"/>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bwMode="auto">
          <a:xfrm>
            <a:off x="3633717" y="1538028"/>
            <a:ext cx="5210175"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eft Arrow 9"/>
          <p:cNvSpPr/>
          <p:nvPr/>
        </p:nvSpPr>
        <p:spPr>
          <a:xfrm>
            <a:off x="3237981" y="4057115"/>
            <a:ext cx="498993" cy="1031081"/>
          </a:xfrm>
          <a:prstGeom prst="lef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009900"/>
              </a:solidFill>
            </a:endParaRPr>
          </a:p>
        </p:txBody>
      </p:sp>
      <p:sp>
        <p:nvSpPr>
          <p:cNvPr id="56329" name="TextBox 10"/>
          <p:cNvSpPr txBox="1">
            <a:spLocks noChangeArrowheads="1"/>
          </p:cNvSpPr>
          <p:nvPr/>
        </p:nvSpPr>
        <p:spPr bwMode="auto">
          <a:xfrm flipH="1">
            <a:off x="3736975" y="4033699"/>
            <a:ext cx="23590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en-US" sz="3200" dirty="0">
                <a:solidFill>
                  <a:srgbClr val="C00000"/>
                </a:solidFill>
                <a:latin typeface="Times New Roman" panose="02020603050405020304" pitchFamily="18" charset="0"/>
                <a:ea typeface="ＭＳ Ｐゴシック" panose="020B0600070205080204" pitchFamily="34" charset="-128"/>
              </a:rPr>
              <a:t>Sting Blade PDC Bit</a:t>
            </a:r>
          </a:p>
        </p:txBody>
      </p:sp>
      <p:sp>
        <p:nvSpPr>
          <p:cNvPr id="56330" name="TextBox 11"/>
          <p:cNvSpPr txBox="1">
            <a:spLocks noChangeArrowheads="1"/>
          </p:cNvSpPr>
          <p:nvPr/>
        </p:nvSpPr>
        <p:spPr bwMode="auto">
          <a:xfrm flipH="1">
            <a:off x="3782975" y="5122069"/>
            <a:ext cx="22939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r"/>
            <a:r>
              <a:rPr lang="en-US" altLang="en-US" sz="3200" dirty="0" err="1">
                <a:solidFill>
                  <a:srgbClr val="009900"/>
                </a:solidFill>
                <a:latin typeface="Times New Roman" panose="02020603050405020304" pitchFamily="18" charset="0"/>
                <a:ea typeface="ＭＳ Ｐゴシック" panose="020B0600070205080204" pitchFamily="34" charset="-128"/>
              </a:rPr>
              <a:t>Kymera</a:t>
            </a:r>
            <a:r>
              <a:rPr lang="en-US" altLang="en-US" sz="3200" dirty="0">
                <a:solidFill>
                  <a:srgbClr val="009900"/>
                </a:solidFill>
                <a:latin typeface="Times New Roman" panose="02020603050405020304" pitchFamily="18" charset="0"/>
                <a:ea typeface="ＭＳ Ｐゴシック" panose="020B0600070205080204" pitchFamily="34" charset="-128"/>
              </a:rPr>
              <a:t> Hybrid Bit</a:t>
            </a:r>
          </a:p>
        </p:txBody>
      </p:sp>
      <p:sp>
        <p:nvSpPr>
          <p:cNvPr id="13" name="Right Arrow 12"/>
          <p:cNvSpPr/>
          <p:nvPr/>
        </p:nvSpPr>
        <p:spPr>
          <a:xfrm>
            <a:off x="6139841" y="5319972"/>
            <a:ext cx="471487" cy="844550"/>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009900"/>
              </a:solidFill>
            </a:endParaRPr>
          </a:p>
        </p:txBody>
      </p:sp>
      <p:pic>
        <p:nvPicPr>
          <p:cNvPr id="56332" name="Picture 6" descr="Related image"/>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952093" y="4120984"/>
            <a:ext cx="1663127" cy="1663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921870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1038447" cy="640080"/>
          </a:xfrm>
        </p:spPr>
        <p:txBody>
          <a:bodyPr>
            <a:normAutofit/>
          </a:bodyPr>
          <a:lstStyle/>
          <a:p>
            <a:r>
              <a:rPr lang="en-US" sz="3600" b="1" dirty="0" err="1">
                <a:solidFill>
                  <a:schemeClr val="accent6">
                    <a:lumMod val="50000"/>
                  </a:schemeClr>
                </a:solidFill>
              </a:rPr>
              <a:t>FuseTek</a:t>
            </a:r>
            <a:r>
              <a:rPr lang="en-US" sz="3600" b="1" dirty="0">
                <a:solidFill>
                  <a:schemeClr val="accent6">
                    <a:lumMod val="50000"/>
                  </a:schemeClr>
                </a:solidFill>
              </a:rPr>
              <a:t> Bit Series for Geothermal Drilling</a:t>
            </a:r>
            <a:endParaRPr lang="en-US" sz="3600" b="1" dirty="0"/>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00229" y="1460309"/>
            <a:ext cx="10386223" cy="5295333"/>
          </a:xfrm>
          <a:prstGeom prst="rect">
            <a:avLst/>
          </a:prstGeom>
        </p:spPr>
      </p:pic>
      <p:sp>
        <p:nvSpPr>
          <p:cNvPr id="5" name="Rectangle 4">
            <a:extLst>
              <a:ext uri="{FF2B5EF4-FFF2-40B4-BE49-F238E27FC236}">
                <a16:creationId xmlns:a16="http://schemas.microsoft.com/office/drawing/2014/main" id="{51FC5298-A4D6-46EB-92E8-D76153516E02}"/>
              </a:ext>
            </a:extLst>
          </p:cNvPr>
          <p:cNvSpPr/>
          <p:nvPr/>
        </p:nvSpPr>
        <p:spPr>
          <a:xfrm>
            <a:off x="8513371" y="6486044"/>
            <a:ext cx="2573081" cy="2695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Tree>
    <p:extLst>
      <p:ext uri="{BB962C8B-B14F-4D97-AF65-F5344CB8AC3E}">
        <p14:creationId xmlns:p14="http://schemas.microsoft.com/office/powerpoint/2010/main" val="94089214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0369705" cy="640080"/>
          </a:xfrm>
        </p:spPr>
        <p:txBody>
          <a:bodyPr>
            <a:noAutofit/>
          </a:bodyPr>
          <a:lstStyle/>
          <a:p>
            <a:r>
              <a:rPr lang="en-US" sz="4000" dirty="0" err="1">
                <a:solidFill>
                  <a:schemeClr val="accent6">
                    <a:lumMod val="50000"/>
                  </a:schemeClr>
                </a:solidFill>
              </a:rPr>
              <a:t>ReedHycalog</a:t>
            </a:r>
            <a:r>
              <a:rPr lang="en-US" sz="4000" dirty="0">
                <a:solidFill>
                  <a:schemeClr val="accent6">
                    <a:lumMod val="50000"/>
                  </a:schemeClr>
                </a:solidFill>
              </a:rPr>
              <a:t> – </a:t>
            </a:r>
            <a:r>
              <a:rPr lang="en-US" sz="4000" dirty="0" err="1">
                <a:solidFill>
                  <a:schemeClr val="accent6">
                    <a:lumMod val="50000"/>
                  </a:schemeClr>
                </a:solidFill>
              </a:rPr>
              <a:t>FuseTek</a:t>
            </a:r>
            <a:r>
              <a:rPr lang="en-US" sz="4000" dirty="0">
                <a:solidFill>
                  <a:schemeClr val="accent6">
                    <a:lumMod val="50000"/>
                  </a:schemeClr>
                </a:solidFill>
              </a:rPr>
              <a:t> Bit Series</a:t>
            </a:r>
          </a:p>
        </p:txBody>
      </p:sp>
      <p:pic>
        <p:nvPicPr>
          <p:cNvPr id="4" name="Picture 3"/>
          <p:cNvPicPr>
            <a:picLocks noChangeAspect="1"/>
          </p:cNvPicPr>
          <p:nvPr/>
        </p:nvPicPr>
        <p:blipFill>
          <a:blip r:embed="rId2"/>
          <a:stretch>
            <a:fillRect/>
          </a:stretch>
        </p:blipFill>
        <p:spPr>
          <a:xfrm>
            <a:off x="632985" y="1583211"/>
            <a:ext cx="6321879" cy="4162496"/>
          </a:xfrm>
          <a:prstGeom prst="rect">
            <a:avLst/>
          </a:prstGeom>
        </p:spPr>
      </p:pic>
      <p:sp>
        <p:nvSpPr>
          <p:cNvPr id="5" name="TextBox 4"/>
          <p:cNvSpPr txBox="1"/>
          <p:nvPr/>
        </p:nvSpPr>
        <p:spPr>
          <a:xfrm>
            <a:off x="7083187" y="1692322"/>
            <a:ext cx="4763069"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50000"/>
                  </a:schemeClr>
                </a:solidFill>
              </a:rPr>
              <a:t>Drill </a:t>
            </a:r>
            <a:r>
              <a:rPr lang="en-US" sz="2400" b="1" dirty="0">
                <a:solidFill>
                  <a:srgbClr val="C00000"/>
                </a:solidFill>
              </a:rPr>
              <a:t>1000 m</a:t>
            </a:r>
            <a:r>
              <a:rPr lang="en-US" sz="2400" dirty="0">
                <a:solidFill>
                  <a:schemeClr val="accent6">
                    <a:lumMod val="50000"/>
                  </a:schemeClr>
                </a:solidFill>
              </a:rPr>
              <a:t> with </a:t>
            </a:r>
            <a:r>
              <a:rPr lang="en-US" sz="2400" b="1" dirty="0">
                <a:solidFill>
                  <a:srgbClr val="C00000"/>
                </a:solidFill>
              </a:rPr>
              <a:t>one run</a:t>
            </a:r>
          </a:p>
          <a:p>
            <a:pPr marL="285750" indent="-285750">
              <a:buFont typeface="Arial" panose="020B0604020202020204" pitchFamily="34" charset="0"/>
              <a:buChar char="•"/>
            </a:pPr>
            <a:r>
              <a:rPr lang="en-US" sz="2400" dirty="0">
                <a:solidFill>
                  <a:schemeClr val="accent6">
                    <a:lumMod val="50000"/>
                  </a:schemeClr>
                </a:solidFill>
              </a:rPr>
              <a:t>Save 2 bit run if using Insert Bit</a:t>
            </a:r>
          </a:p>
          <a:p>
            <a:pPr marL="285750" indent="-285750">
              <a:buFont typeface="Arial" panose="020B0604020202020204" pitchFamily="34" charset="0"/>
              <a:buChar char="•"/>
            </a:pPr>
            <a:r>
              <a:rPr lang="en-US" sz="2400" dirty="0">
                <a:solidFill>
                  <a:schemeClr val="accent6">
                    <a:lumMod val="50000"/>
                  </a:schemeClr>
                </a:solidFill>
              </a:rPr>
              <a:t>Bit Dull: </a:t>
            </a:r>
            <a:r>
              <a:rPr lang="en-US" sz="2400" b="1" dirty="0">
                <a:solidFill>
                  <a:srgbClr val="C00000"/>
                </a:solidFill>
              </a:rPr>
              <a:t>1-1-BT</a:t>
            </a:r>
            <a:r>
              <a:rPr lang="en-US" sz="2400" dirty="0">
                <a:solidFill>
                  <a:schemeClr val="accent6">
                    <a:lumMod val="50000"/>
                  </a:schemeClr>
                </a:solidFill>
              </a:rPr>
              <a:t>-A-X-3-PN-BHA </a:t>
            </a:r>
            <a:r>
              <a:rPr lang="en-US" sz="2400" dirty="0">
                <a:solidFill>
                  <a:schemeClr val="accent6">
                    <a:lumMod val="50000"/>
                  </a:schemeClr>
                </a:solidFill>
                <a:sym typeface="Wingdings" panose="05000000000000000000" pitchFamily="2" charset="2"/>
              </a:rPr>
              <a:t> </a:t>
            </a:r>
            <a:r>
              <a:rPr lang="en-US" sz="2400" b="1" dirty="0">
                <a:solidFill>
                  <a:srgbClr val="C00000"/>
                </a:solidFill>
                <a:sym typeface="Wingdings" panose="05000000000000000000" pitchFamily="2" charset="2"/>
              </a:rPr>
              <a:t>Re-run able</a:t>
            </a:r>
            <a:endParaRPr lang="en-US" sz="2400" b="1" dirty="0">
              <a:solidFill>
                <a:srgbClr val="C00000"/>
              </a:solidFill>
            </a:endParaRP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39072" y="3437103"/>
            <a:ext cx="2251298" cy="2308604"/>
          </a:xfrm>
          <a:prstGeom prst="rect">
            <a:avLst/>
          </a:prstGeom>
        </p:spPr>
      </p:pic>
      <p:sp>
        <p:nvSpPr>
          <p:cNvPr id="9" name="TextBox 8"/>
          <p:cNvSpPr txBox="1"/>
          <p:nvPr/>
        </p:nvSpPr>
        <p:spPr>
          <a:xfrm>
            <a:off x="8339071" y="5745707"/>
            <a:ext cx="2551841" cy="646331"/>
          </a:xfrm>
          <a:prstGeom prst="rect">
            <a:avLst/>
          </a:prstGeom>
          <a:noFill/>
        </p:spPr>
        <p:txBody>
          <a:bodyPr wrap="square" rtlCol="0">
            <a:spAutoFit/>
          </a:bodyPr>
          <a:lstStyle/>
          <a:p>
            <a:r>
              <a:rPr lang="en-US" dirty="0"/>
              <a:t>Bit condition after being pulled to surface</a:t>
            </a:r>
          </a:p>
        </p:txBody>
      </p:sp>
    </p:spTree>
    <p:extLst>
      <p:ext uri="{BB962C8B-B14F-4D97-AF65-F5344CB8AC3E}">
        <p14:creationId xmlns:p14="http://schemas.microsoft.com/office/powerpoint/2010/main" val="263937784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154E6C8-1DC8-4322-8D4B-D6DC9EA2FECD}"/>
              </a:ext>
            </a:extLst>
          </p:cNvPr>
          <p:cNvPicPr>
            <a:picLocks noChangeAspect="1"/>
          </p:cNvPicPr>
          <p:nvPr/>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1208" y="1541646"/>
            <a:ext cx="1765300" cy="1751031"/>
          </a:xfrm>
          <a:prstGeom prst="rect">
            <a:avLst/>
          </a:prstGeom>
        </p:spPr>
      </p:pic>
      <p:sp>
        <p:nvSpPr>
          <p:cNvPr id="2" name="Title 1">
            <a:extLst>
              <a:ext uri="{FF2B5EF4-FFF2-40B4-BE49-F238E27FC236}">
                <a16:creationId xmlns:a16="http://schemas.microsoft.com/office/drawing/2014/main" id="{C0E2075D-D150-453E-9700-0B5B2E81C7FF}"/>
              </a:ext>
            </a:extLst>
          </p:cNvPr>
          <p:cNvSpPr>
            <a:spLocks noGrp="1"/>
          </p:cNvSpPr>
          <p:nvPr>
            <p:ph type="title"/>
          </p:nvPr>
        </p:nvSpPr>
        <p:spPr/>
        <p:txBody>
          <a:bodyPr>
            <a:normAutofit fontScale="90000"/>
          </a:bodyPr>
          <a:lstStyle/>
          <a:p>
            <a:r>
              <a:rPr lang="en-US" dirty="0">
                <a:solidFill>
                  <a:srgbClr val="C00000"/>
                </a:solidFill>
              </a:rPr>
              <a:t>SMGP: Drilling time Saving – New technology Bit</a:t>
            </a:r>
            <a:endParaRPr lang="en-GB" dirty="0">
              <a:solidFill>
                <a:srgbClr val="C00000"/>
              </a:solidFill>
            </a:endParaRPr>
          </a:p>
        </p:txBody>
      </p:sp>
      <p:sp>
        <p:nvSpPr>
          <p:cNvPr id="4" name="Content Placeholder 2">
            <a:extLst>
              <a:ext uri="{FF2B5EF4-FFF2-40B4-BE49-F238E27FC236}">
                <a16:creationId xmlns:a16="http://schemas.microsoft.com/office/drawing/2014/main" id="{BD967E24-9F3D-4A8F-A4A3-F1B92E8C8A67}"/>
              </a:ext>
            </a:extLst>
          </p:cNvPr>
          <p:cNvSpPr txBox="1">
            <a:spLocks/>
          </p:cNvSpPr>
          <p:nvPr/>
        </p:nvSpPr>
        <p:spPr>
          <a:xfrm>
            <a:off x="2534920" y="487860"/>
            <a:ext cx="9027160" cy="5298066"/>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sz="2400" u="sng" dirty="0"/>
          </a:p>
          <a:p>
            <a:pPr marL="457200" lvl="1" indent="0">
              <a:buNone/>
            </a:pPr>
            <a:endParaRPr lang="en-US" sz="2400" u="sng" dirty="0"/>
          </a:p>
          <a:p>
            <a:pPr marL="457200" lvl="1" indent="0">
              <a:buNone/>
            </a:pPr>
            <a:endParaRPr lang="en-US" sz="2400" u="sng" dirty="0"/>
          </a:p>
          <a:p>
            <a:pPr marL="457200" lvl="1" indent="0">
              <a:buNone/>
            </a:pPr>
            <a:r>
              <a:rPr lang="en-US" sz="2400" u="sng" dirty="0"/>
              <a:t>12.25” NOV </a:t>
            </a:r>
            <a:r>
              <a:rPr lang="en-US" sz="2400" u="sng" dirty="0" err="1"/>
              <a:t>Fusetek</a:t>
            </a:r>
            <a:r>
              <a:rPr lang="en-US" sz="2400" u="sng" dirty="0"/>
              <a:t> bit </a:t>
            </a:r>
          </a:p>
          <a:p>
            <a:pPr marL="457200" lvl="1" indent="0">
              <a:buNone/>
            </a:pPr>
            <a:r>
              <a:rPr lang="en-US" sz="2400" dirty="0"/>
              <a:t>Saved </a:t>
            </a:r>
            <a:r>
              <a:rPr lang="en-US" sz="2400" b="1" dirty="0">
                <a:solidFill>
                  <a:srgbClr val="369C3E"/>
                </a:solidFill>
              </a:rPr>
              <a:t>USD 142,109 </a:t>
            </a:r>
            <a:r>
              <a:rPr lang="en-US" sz="2400" dirty="0"/>
              <a:t>by drilling 1,000 </a:t>
            </a:r>
            <a:r>
              <a:rPr lang="en-US" sz="2400" dirty="0" err="1"/>
              <a:t>mMD</a:t>
            </a:r>
            <a:r>
              <a:rPr lang="en-US" sz="2400" dirty="0"/>
              <a:t> with 11.12 mph ROP</a:t>
            </a:r>
          </a:p>
          <a:p>
            <a:pPr marL="457200" lvl="1" indent="0">
              <a:buNone/>
            </a:pPr>
            <a:endParaRPr lang="en-US" sz="2400" u="sng" dirty="0"/>
          </a:p>
          <a:p>
            <a:pPr marL="457200" lvl="1" indent="0">
              <a:buNone/>
            </a:pPr>
            <a:endParaRPr lang="en-US" sz="2400" u="sng" dirty="0"/>
          </a:p>
          <a:p>
            <a:pPr marL="457200" lvl="1" indent="0">
              <a:buNone/>
            </a:pPr>
            <a:endParaRPr lang="en-US" sz="2400" u="sng" dirty="0"/>
          </a:p>
          <a:p>
            <a:pPr marL="457200" lvl="1" indent="0">
              <a:buNone/>
            </a:pPr>
            <a:r>
              <a:rPr lang="en-US" sz="2400" u="sng" dirty="0"/>
              <a:t>17.5” Baker Hughes </a:t>
            </a:r>
            <a:r>
              <a:rPr lang="en-US" sz="2400" u="sng" dirty="0" err="1"/>
              <a:t>Kymera</a:t>
            </a:r>
            <a:r>
              <a:rPr lang="en-US" sz="2400" u="sng" dirty="0"/>
              <a:t> Hybrid bit</a:t>
            </a:r>
          </a:p>
          <a:p>
            <a:pPr marL="457200" lvl="1" indent="0">
              <a:buNone/>
            </a:pPr>
            <a:r>
              <a:rPr lang="en-US" sz="2400" dirty="0"/>
              <a:t>Saved </a:t>
            </a:r>
            <a:r>
              <a:rPr lang="en-US" sz="2400" b="1" dirty="0">
                <a:solidFill>
                  <a:srgbClr val="369C3E"/>
                </a:solidFill>
              </a:rPr>
              <a:t>USD 129,834 </a:t>
            </a:r>
            <a:r>
              <a:rPr lang="en-US" sz="2400" dirty="0"/>
              <a:t>by drilling 876 </a:t>
            </a:r>
            <a:r>
              <a:rPr lang="en-US" sz="2400" dirty="0" err="1"/>
              <a:t>mMD</a:t>
            </a:r>
            <a:r>
              <a:rPr lang="en-US" sz="2400" dirty="0"/>
              <a:t> with 10.68 mph ROP</a:t>
            </a:r>
          </a:p>
        </p:txBody>
      </p:sp>
      <p:pic>
        <p:nvPicPr>
          <p:cNvPr id="5" name="Picture 4">
            <a:extLst>
              <a:ext uri="{FF2B5EF4-FFF2-40B4-BE49-F238E27FC236}">
                <a16:creationId xmlns:a16="http://schemas.microsoft.com/office/drawing/2014/main" id="{F94174C5-B708-47AB-BAB6-E9D4C36E5645}"/>
              </a:ext>
            </a:extLst>
          </p:cNvPr>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99458" y="4114617"/>
            <a:ext cx="2008799" cy="2081967"/>
          </a:xfrm>
          <a:prstGeom prst="rect">
            <a:avLst/>
          </a:prstGeom>
        </p:spPr>
      </p:pic>
    </p:spTree>
    <p:extLst>
      <p:ext uri="{BB962C8B-B14F-4D97-AF65-F5344CB8AC3E}">
        <p14:creationId xmlns:p14="http://schemas.microsoft.com/office/powerpoint/2010/main" val="182834394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Optimasi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Desain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Sumur</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15" name="Rectangle 14">
            <a:extLst>
              <a:ext uri="{FF2B5EF4-FFF2-40B4-BE49-F238E27FC236}">
                <a16:creationId xmlns:a16="http://schemas.microsoft.com/office/drawing/2014/main" id="{EBCD37BC-CAF0-44CE-E79F-6B237AEC37DB}"/>
              </a:ext>
            </a:extLst>
          </p:cNvPr>
          <p:cNvSpPr/>
          <p:nvPr/>
        </p:nvSpPr>
        <p:spPr>
          <a:xfrm>
            <a:off x="2668772" y="1353616"/>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a:t>Optimum Desain BHA (Bottom Hole Assembly)</a:t>
            </a:r>
            <a:endParaRPr lang="en-ID" sz="2400" b="1" dirty="0"/>
          </a:p>
        </p:txBody>
      </p:sp>
      <p:sp>
        <p:nvSpPr>
          <p:cNvPr id="16" name="Rectangle 15">
            <a:extLst>
              <a:ext uri="{FF2B5EF4-FFF2-40B4-BE49-F238E27FC236}">
                <a16:creationId xmlns:a16="http://schemas.microsoft.com/office/drawing/2014/main" id="{F108DC46-8FA9-E264-4DD7-912F2F26FC0D}"/>
              </a:ext>
            </a:extLst>
          </p:cNvPr>
          <p:cNvSpPr/>
          <p:nvPr/>
        </p:nvSpPr>
        <p:spPr>
          <a:xfrm>
            <a:off x="1535714" y="1353616"/>
            <a:ext cx="891363" cy="765544"/>
          </a:xfrm>
          <a:prstGeom prst="rect">
            <a:avLst/>
          </a:prstGeom>
          <a:solidFill>
            <a:schemeClr val="accent2">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rPr>
              <a:t>4.6</a:t>
            </a:r>
            <a:endParaRPr lang="en-ID" sz="2400" b="1" dirty="0">
              <a:solidFill>
                <a:srgbClr val="FFFF00"/>
              </a:solidFill>
            </a:endParaRPr>
          </a:p>
        </p:txBody>
      </p:sp>
      <p:sp>
        <p:nvSpPr>
          <p:cNvPr id="3" name="TextBox 2">
            <a:extLst>
              <a:ext uri="{FF2B5EF4-FFF2-40B4-BE49-F238E27FC236}">
                <a16:creationId xmlns:a16="http://schemas.microsoft.com/office/drawing/2014/main" id="{D42C09A4-1F5F-0301-717D-EBBD30024AB5}"/>
              </a:ext>
            </a:extLst>
          </p:cNvPr>
          <p:cNvSpPr txBox="1"/>
          <p:nvPr/>
        </p:nvSpPr>
        <p:spPr>
          <a:xfrm>
            <a:off x="2668771" y="2355894"/>
            <a:ext cx="8799788" cy="3243708"/>
          </a:xfrm>
          <a:prstGeom prst="rect">
            <a:avLst/>
          </a:prstGeom>
          <a:noFill/>
        </p:spPr>
        <p:txBody>
          <a:bodyPr wrap="square">
            <a:spAutoFit/>
          </a:bodyPr>
          <a:lstStyle/>
          <a:p>
            <a:pPr marL="514350" indent="-514350">
              <a:lnSpc>
                <a:spcPct val="150000"/>
              </a:lnSpc>
              <a:buAutoNum type="arabicPeriod"/>
            </a:pPr>
            <a:r>
              <a:rPr lang="en-US" altLang="en-US" sz="2800" b="1" dirty="0">
                <a:solidFill>
                  <a:schemeClr val="accent6">
                    <a:lumMod val="50000"/>
                  </a:schemeClr>
                </a:solidFill>
              </a:rPr>
              <a:t>Best BHA Configuration</a:t>
            </a:r>
          </a:p>
          <a:p>
            <a:pPr marL="514350" indent="-514350">
              <a:lnSpc>
                <a:spcPct val="150000"/>
              </a:lnSpc>
              <a:buAutoNum type="arabicPeriod"/>
            </a:pPr>
            <a:r>
              <a:rPr lang="en-US" altLang="en-US" sz="2800" b="1" dirty="0">
                <a:solidFill>
                  <a:schemeClr val="accent6">
                    <a:lumMod val="50000"/>
                  </a:schemeClr>
                </a:solidFill>
              </a:rPr>
              <a:t>Hard Facing For Geothermal Drilling</a:t>
            </a:r>
          </a:p>
          <a:p>
            <a:pPr marL="514350" indent="-514350">
              <a:lnSpc>
                <a:spcPct val="150000"/>
              </a:lnSpc>
              <a:buAutoNum type="arabicPeriod"/>
            </a:pPr>
            <a:r>
              <a:rPr lang="en-US" altLang="en-US" sz="2800" b="1" dirty="0">
                <a:solidFill>
                  <a:schemeClr val="accent6">
                    <a:lumMod val="50000"/>
                  </a:schemeClr>
                </a:solidFill>
              </a:rPr>
              <a:t>Drill Pipe Selection for Deep drilling</a:t>
            </a:r>
          </a:p>
          <a:p>
            <a:pPr marL="514350" indent="-514350">
              <a:lnSpc>
                <a:spcPct val="150000"/>
              </a:lnSpc>
              <a:buAutoNum type="arabicPeriod"/>
            </a:pPr>
            <a:r>
              <a:rPr lang="en-US" altLang="en-US" sz="2800" b="1" dirty="0">
                <a:solidFill>
                  <a:schemeClr val="accent6">
                    <a:lumMod val="50000"/>
                  </a:schemeClr>
                </a:solidFill>
              </a:rPr>
              <a:t>Drill String Inspection Level</a:t>
            </a:r>
          </a:p>
          <a:p>
            <a:pPr marL="514350" indent="-514350">
              <a:lnSpc>
                <a:spcPct val="150000"/>
              </a:lnSpc>
              <a:buAutoNum type="arabicPeriod"/>
            </a:pPr>
            <a:r>
              <a:rPr lang="en-US" altLang="en-US" sz="2800" b="1" dirty="0">
                <a:solidFill>
                  <a:schemeClr val="accent6">
                    <a:lumMod val="50000"/>
                  </a:schemeClr>
                </a:solidFill>
              </a:rPr>
              <a:t>Competitive Renumeration Table (Procurement)</a:t>
            </a:r>
            <a:endParaRPr lang="en-ID" sz="2800" dirty="0">
              <a:solidFill>
                <a:schemeClr val="accent6">
                  <a:lumMod val="50000"/>
                </a:schemeClr>
              </a:solidFill>
            </a:endParaRPr>
          </a:p>
        </p:txBody>
      </p:sp>
    </p:spTree>
    <p:extLst>
      <p:ext uri="{BB962C8B-B14F-4D97-AF65-F5344CB8AC3E}">
        <p14:creationId xmlns:p14="http://schemas.microsoft.com/office/powerpoint/2010/main" val="45963713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075D-D150-453E-9700-0B5B2E81C7FF}"/>
              </a:ext>
            </a:extLst>
          </p:cNvPr>
          <p:cNvSpPr>
            <a:spLocks noGrp="1"/>
          </p:cNvSpPr>
          <p:nvPr>
            <p:ph type="title"/>
          </p:nvPr>
        </p:nvSpPr>
        <p:spPr/>
        <p:txBody>
          <a:bodyPr>
            <a:normAutofit/>
          </a:bodyPr>
          <a:lstStyle/>
          <a:p>
            <a:r>
              <a:rPr lang="en-US" sz="3200" b="1" dirty="0">
                <a:solidFill>
                  <a:srgbClr val="C00000"/>
                </a:solidFill>
              </a:rPr>
              <a:t>Mud Motor and MWD Size Selection</a:t>
            </a:r>
            <a:endParaRPr lang="en-GB" sz="3200" b="1" dirty="0">
              <a:solidFill>
                <a:srgbClr val="C00000"/>
              </a:solidFill>
            </a:endParaRPr>
          </a:p>
        </p:txBody>
      </p:sp>
      <p:graphicFrame>
        <p:nvGraphicFramePr>
          <p:cNvPr id="6" name="Table 4">
            <a:extLst>
              <a:ext uri="{FF2B5EF4-FFF2-40B4-BE49-F238E27FC236}">
                <a16:creationId xmlns:a16="http://schemas.microsoft.com/office/drawing/2014/main" id="{D5664CE1-86B0-AA4B-DB86-649E20371A88}"/>
              </a:ext>
            </a:extLst>
          </p:cNvPr>
          <p:cNvGraphicFramePr>
            <a:graphicFrameLocks noGrp="1"/>
          </p:cNvGraphicFramePr>
          <p:nvPr/>
        </p:nvGraphicFramePr>
        <p:xfrm>
          <a:off x="599440" y="1259840"/>
          <a:ext cx="11115040" cy="5511800"/>
        </p:xfrm>
        <a:graphic>
          <a:graphicData uri="http://schemas.openxmlformats.org/drawingml/2006/table">
            <a:tbl>
              <a:tblPr firstRow="1" bandRow="1">
                <a:tableStyleId>{5C22544A-7EE6-4342-B048-85BDC9FD1C3A}</a:tableStyleId>
              </a:tblPr>
              <a:tblGrid>
                <a:gridCol w="3007360">
                  <a:extLst>
                    <a:ext uri="{9D8B030D-6E8A-4147-A177-3AD203B41FA5}">
                      <a16:colId xmlns:a16="http://schemas.microsoft.com/office/drawing/2014/main" val="2470255297"/>
                    </a:ext>
                  </a:extLst>
                </a:gridCol>
                <a:gridCol w="2184400">
                  <a:extLst>
                    <a:ext uri="{9D8B030D-6E8A-4147-A177-3AD203B41FA5}">
                      <a16:colId xmlns:a16="http://schemas.microsoft.com/office/drawing/2014/main" val="3183955609"/>
                    </a:ext>
                  </a:extLst>
                </a:gridCol>
                <a:gridCol w="2153920">
                  <a:extLst>
                    <a:ext uri="{9D8B030D-6E8A-4147-A177-3AD203B41FA5}">
                      <a16:colId xmlns:a16="http://schemas.microsoft.com/office/drawing/2014/main" val="29615349"/>
                    </a:ext>
                  </a:extLst>
                </a:gridCol>
                <a:gridCol w="2379980">
                  <a:extLst>
                    <a:ext uri="{9D8B030D-6E8A-4147-A177-3AD203B41FA5}">
                      <a16:colId xmlns:a16="http://schemas.microsoft.com/office/drawing/2014/main" val="4058388589"/>
                    </a:ext>
                  </a:extLst>
                </a:gridCol>
                <a:gridCol w="1389380">
                  <a:extLst>
                    <a:ext uri="{9D8B030D-6E8A-4147-A177-3AD203B41FA5}">
                      <a16:colId xmlns:a16="http://schemas.microsoft.com/office/drawing/2014/main" val="3907912946"/>
                    </a:ext>
                  </a:extLst>
                </a:gridCol>
              </a:tblGrid>
              <a:tr h="1635760">
                <a:tc>
                  <a:txBody>
                    <a:bodyPr/>
                    <a:lstStyle/>
                    <a:p>
                      <a:r>
                        <a:rPr lang="en-US" sz="3200" dirty="0"/>
                        <a:t>BHA Configuration</a:t>
                      </a:r>
                      <a:endParaRPr lang="en-ID" sz="3200" dirty="0"/>
                    </a:p>
                  </a:txBody>
                  <a:tcPr anchor="ctr"/>
                </a:tc>
                <a:tc>
                  <a:txBody>
                    <a:bodyPr/>
                    <a:lstStyle/>
                    <a:p>
                      <a:pPr algn="l"/>
                      <a:r>
                        <a:rPr lang="en-US" dirty="0"/>
                        <a:t>Parameters</a:t>
                      </a:r>
                      <a:endParaRPr lang="en-ID" dirty="0"/>
                    </a:p>
                  </a:txBody>
                  <a:tcPr vert="vert" anchor="ctr"/>
                </a:tc>
                <a:tc>
                  <a:txBody>
                    <a:bodyPr/>
                    <a:lstStyle/>
                    <a:p>
                      <a:pPr algn="l"/>
                      <a:r>
                        <a:rPr lang="en-US" dirty="0"/>
                        <a:t>26” Hole</a:t>
                      </a:r>
                      <a:endParaRPr lang="en-ID" dirty="0"/>
                    </a:p>
                  </a:txBody>
                  <a:tcPr vert="vert" anchor="ctr"/>
                </a:tc>
                <a:tc>
                  <a:txBody>
                    <a:bodyPr/>
                    <a:lstStyle/>
                    <a:p>
                      <a:pPr algn="l"/>
                      <a:r>
                        <a:rPr lang="en-US" dirty="0"/>
                        <a:t>17-1/2” Hole</a:t>
                      </a:r>
                      <a:endParaRPr lang="en-ID" dirty="0"/>
                    </a:p>
                  </a:txBody>
                  <a:tcPr vert="vert" anchor="ctr"/>
                </a:tc>
                <a:tc>
                  <a:txBody>
                    <a:bodyPr/>
                    <a:lstStyle/>
                    <a:p>
                      <a:pPr algn="l"/>
                      <a:r>
                        <a:rPr lang="en-US" dirty="0"/>
                        <a:t>12-1/4” Hole</a:t>
                      </a:r>
                      <a:endParaRPr lang="en-ID" dirty="0"/>
                    </a:p>
                  </a:txBody>
                  <a:tcPr vert="vert" anchor="ctr"/>
                </a:tc>
                <a:extLst>
                  <a:ext uri="{0D108BD9-81ED-4DB2-BD59-A6C34878D82A}">
                    <a16:rowId xmlns:a16="http://schemas.microsoft.com/office/drawing/2014/main" val="450367371"/>
                  </a:ext>
                </a:extLst>
              </a:tr>
              <a:tr h="370840">
                <a:tc rowSpan="3">
                  <a:txBody>
                    <a:bodyPr/>
                    <a:lstStyle/>
                    <a:p>
                      <a:r>
                        <a:rPr lang="en-US" dirty="0"/>
                        <a:t>9-</a:t>
                      </a:r>
                      <a:r>
                        <a:rPr lang="en-US" dirty="0">
                          <a:latin typeface="Franklin Gothic Book" panose="020B0503020102020204" pitchFamily="34" charset="0"/>
                        </a:rPr>
                        <a:t>½ </a:t>
                      </a:r>
                      <a:r>
                        <a:rPr lang="en-US" dirty="0">
                          <a:latin typeface="+mn-lt"/>
                        </a:rPr>
                        <a:t>MM + </a:t>
                      </a:r>
                      <a:r>
                        <a:rPr lang="en-US" dirty="0"/>
                        <a:t>9-</a:t>
                      </a:r>
                      <a:r>
                        <a:rPr lang="en-US" dirty="0">
                          <a:latin typeface="Franklin Gothic Book" panose="020B0503020102020204" pitchFamily="34" charset="0"/>
                        </a:rPr>
                        <a:t>½ EM-</a:t>
                      </a:r>
                      <a:r>
                        <a:rPr lang="en-US" dirty="0">
                          <a:latin typeface="+mn-lt"/>
                        </a:rPr>
                        <a:t>MWD </a:t>
                      </a:r>
                      <a:endParaRPr lang="en-ID" dirty="0">
                        <a:latin typeface="+mn-lt"/>
                      </a:endParaRPr>
                    </a:p>
                  </a:txBody>
                  <a:tcPr/>
                </a:tc>
                <a:tc>
                  <a:txBody>
                    <a:bodyPr/>
                    <a:lstStyle/>
                    <a:p>
                      <a:r>
                        <a:rPr lang="en-US" dirty="0"/>
                        <a:t>Max GPM</a:t>
                      </a:r>
                      <a:endParaRPr lang="en-ID" dirty="0"/>
                    </a:p>
                  </a:txBody>
                  <a:tcPr/>
                </a:tc>
                <a:tc>
                  <a:txBody>
                    <a:bodyPr/>
                    <a:lstStyle/>
                    <a:p>
                      <a:r>
                        <a:rPr lang="en-US" dirty="0"/>
                        <a:t>1200</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1200</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1200</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extLst>
                  <a:ext uri="{0D108BD9-81ED-4DB2-BD59-A6C34878D82A}">
                    <a16:rowId xmlns:a16="http://schemas.microsoft.com/office/drawing/2014/main" val="1637218516"/>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D" dirty="0"/>
                    </a:p>
                  </a:txBody>
                  <a:tcPr/>
                </a:tc>
                <a:tc>
                  <a:txBody>
                    <a:bodyPr/>
                    <a:lstStyle/>
                    <a:p>
                      <a:r>
                        <a:rPr lang="en-US" dirty="0"/>
                        <a:t>MU Time</a:t>
                      </a:r>
                      <a:endParaRPr lang="en-ID" dirty="0"/>
                    </a:p>
                  </a:txBody>
                  <a:tcPr/>
                </a:tc>
                <a:tc>
                  <a:txBody>
                    <a:bodyPr/>
                    <a:lstStyle/>
                    <a:p>
                      <a:r>
                        <a:rPr lang="en-US" dirty="0">
                          <a:solidFill>
                            <a:srgbClr val="C00000"/>
                          </a:solidFill>
                        </a:rPr>
                        <a:t>Longer</a:t>
                      </a:r>
                      <a:endParaRPr lang="en-ID" dirty="0">
                        <a:solidFill>
                          <a:srgbClr val="C00000"/>
                        </a:solidFill>
                      </a:endParaRPr>
                    </a:p>
                  </a:txBody>
                  <a:tcPr/>
                </a:tc>
                <a:tc>
                  <a:txBody>
                    <a:bodyPr/>
                    <a:lstStyle/>
                    <a:p>
                      <a:r>
                        <a:rPr kumimoji="0" lang="en-US" sz="1800" b="0" i="0" u="none" strike="noStrike" kern="1200" cap="none" spc="0" normalizeH="0" baseline="0" noProof="0" dirty="0">
                          <a:ln>
                            <a:noFill/>
                          </a:ln>
                          <a:solidFill>
                            <a:srgbClr val="C00000"/>
                          </a:solidFill>
                          <a:effectLst/>
                          <a:uLnTx/>
                          <a:uFillTx/>
                          <a:latin typeface="Segoe UI"/>
                          <a:ea typeface="+mn-ea"/>
                          <a:cs typeface="+mn-cs"/>
                        </a:rPr>
                        <a:t>Longer</a:t>
                      </a:r>
                      <a:endParaRPr lang="en-ID" dirty="0">
                        <a:solidFill>
                          <a:srgbClr val="C00000"/>
                        </a:solidFill>
                      </a:endParaRPr>
                    </a:p>
                  </a:txBody>
                  <a:tcPr/>
                </a:tc>
                <a:tc>
                  <a:txBody>
                    <a:bodyPr/>
                    <a:lstStyle/>
                    <a:p>
                      <a:r>
                        <a:rPr kumimoji="0" lang="en-US" sz="1800" b="0" i="0" u="none" strike="noStrike" kern="1200" cap="none" spc="0" normalizeH="0" baseline="0" noProof="0" dirty="0">
                          <a:ln>
                            <a:noFill/>
                          </a:ln>
                          <a:solidFill>
                            <a:srgbClr val="C00000"/>
                          </a:solidFill>
                          <a:effectLst/>
                          <a:uLnTx/>
                          <a:uFillTx/>
                          <a:latin typeface="Segoe UI"/>
                          <a:ea typeface="+mn-ea"/>
                          <a:cs typeface="+mn-cs"/>
                        </a:rPr>
                        <a:t>Longer</a:t>
                      </a:r>
                      <a:endParaRPr lang="en-ID" dirty="0">
                        <a:solidFill>
                          <a:srgbClr val="C00000"/>
                        </a:solidFill>
                      </a:endParaRPr>
                    </a:p>
                  </a:txBody>
                  <a:tcPr/>
                </a:tc>
                <a:extLst>
                  <a:ext uri="{0D108BD9-81ED-4DB2-BD59-A6C34878D82A}">
                    <a16:rowId xmlns:a16="http://schemas.microsoft.com/office/drawing/2014/main" val="1089692691"/>
                  </a:ext>
                </a:extLst>
              </a:tr>
              <a:tr h="370840">
                <a:tc vMerge="1">
                  <a:txBody>
                    <a:bodyPr/>
                    <a:lstStyle/>
                    <a:p>
                      <a:endParaRPr lang="en-ID" dirty="0"/>
                    </a:p>
                  </a:txBody>
                  <a:tcPr/>
                </a:tc>
                <a:tc>
                  <a:txBody>
                    <a:bodyPr/>
                    <a:lstStyle/>
                    <a:p>
                      <a:r>
                        <a:rPr lang="en-US" dirty="0"/>
                        <a:t>Directional Control</a:t>
                      </a:r>
                      <a:endParaRPr lang="en-ID" dirty="0"/>
                    </a:p>
                  </a:txBody>
                  <a:tcPr/>
                </a:tc>
                <a:tc>
                  <a:txBody>
                    <a:bodyPr/>
                    <a:lstStyle/>
                    <a:p>
                      <a:r>
                        <a:rPr lang="en-US" dirty="0"/>
                        <a:t>Good</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Good</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Fair (*)</a:t>
                      </a:r>
                      <a:endParaRPr lang="en-ID" dirty="0"/>
                    </a:p>
                  </a:txBody>
                  <a:tcPr/>
                </a:tc>
                <a:extLst>
                  <a:ext uri="{0D108BD9-81ED-4DB2-BD59-A6C34878D82A}">
                    <a16:rowId xmlns:a16="http://schemas.microsoft.com/office/drawing/2014/main" val="673119224"/>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a:t>
                      </a:r>
                      <a:r>
                        <a:rPr lang="en-US" dirty="0">
                          <a:latin typeface="Franklin Gothic Book" panose="020B0503020102020204" pitchFamily="34" charset="0"/>
                        </a:rPr>
                        <a:t>½ </a:t>
                      </a:r>
                      <a:r>
                        <a:rPr lang="en-US" dirty="0">
                          <a:latin typeface="+mn-lt"/>
                        </a:rPr>
                        <a:t>MM + 8</a:t>
                      </a:r>
                      <a:r>
                        <a:rPr lang="en-US" dirty="0"/>
                        <a:t>-</a:t>
                      </a:r>
                      <a:r>
                        <a:rPr lang="en-US" dirty="0">
                          <a:latin typeface="Franklin Gothic Book" panose="020B0503020102020204" pitchFamily="34" charset="0"/>
                        </a:rPr>
                        <a:t>½ EM-</a:t>
                      </a:r>
                      <a:r>
                        <a:rPr lang="en-US" dirty="0">
                          <a:latin typeface="+mn-lt"/>
                        </a:rPr>
                        <a:t>MWD </a:t>
                      </a:r>
                      <a:endParaRPr lang="en-ID" dirty="0"/>
                    </a:p>
                  </a:txBody>
                  <a:tcPr/>
                </a:tc>
                <a:tc>
                  <a:txBody>
                    <a:bodyPr/>
                    <a:lstStyle/>
                    <a:p>
                      <a:r>
                        <a:rPr lang="en-US" dirty="0"/>
                        <a:t>Max GPM</a:t>
                      </a:r>
                      <a:endParaRPr lang="en-ID" dirty="0"/>
                    </a:p>
                  </a:txBody>
                  <a:tcPr/>
                </a:tc>
                <a:tc>
                  <a:txBody>
                    <a:bodyPr/>
                    <a:lstStyle/>
                    <a:p>
                      <a:r>
                        <a:rPr lang="en-US" dirty="0"/>
                        <a:t>1200</a:t>
                      </a:r>
                      <a:endParaRPr lang="en-ID" dirty="0"/>
                    </a:p>
                  </a:txBody>
                  <a:tcPr/>
                </a:tc>
                <a:tc>
                  <a:txBody>
                    <a:bodyPr/>
                    <a:lstStyle/>
                    <a:p>
                      <a:r>
                        <a:rPr lang="en-US" dirty="0"/>
                        <a:t>1200</a:t>
                      </a:r>
                      <a:endParaRPr lang="en-ID" dirty="0"/>
                    </a:p>
                  </a:txBody>
                  <a:tcPr/>
                </a:tc>
                <a:tc>
                  <a:txBody>
                    <a:bodyPr/>
                    <a:lstStyle/>
                    <a:p>
                      <a:r>
                        <a:rPr lang="en-US" dirty="0"/>
                        <a:t>1200</a:t>
                      </a:r>
                      <a:endParaRPr lang="en-ID" dirty="0"/>
                    </a:p>
                  </a:txBody>
                  <a:tcPr/>
                </a:tc>
                <a:extLst>
                  <a:ext uri="{0D108BD9-81ED-4DB2-BD59-A6C34878D82A}">
                    <a16:rowId xmlns:a16="http://schemas.microsoft.com/office/drawing/2014/main" val="2139192554"/>
                  </a:ext>
                </a:extLst>
              </a:tr>
              <a:tr h="370840">
                <a:tc vMerge="1">
                  <a:txBody>
                    <a:bodyPr/>
                    <a:lstStyle/>
                    <a:p>
                      <a:endParaRPr lang="en-ID" dirty="0"/>
                    </a:p>
                  </a:txBody>
                  <a:tcPr/>
                </a:tc>
                <a:tc>
                  <a:txBody>
                    <a:bodyPr/>
                    <a:lstStyle/>
                    <a:p>
                      <a:r>
                        <a:rPr lang="en-US" dirty="0"/>
                        <a:t>MU Time</a:t>
                      </a:r>
                      <a:endParaRPr lang="en-ID" dirty="0"/>
                    </a:p>
                  </a:txBody>
                  <a:tcPr/>
                </a:tc>
                <a:tc>
                  <a:txBody>
                    <a:bodyPr/>
                    <a:lstStyle/>
                    <a:p>
                      <a:r>
                        <a:rPr lang="en-US" dirty="0"/>
                        <a:t>Fair</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Fair</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Fair</a:t>
                      </a:r>
                      <a:endParaRPr lang="en-ID" dirty="0"/>
                    </a:p>
                  </a:txBody>
                  <a:tcPr/>
                </a:tc>
                <a:extLst>
                  <a:ext uri="{0D108BD9-81ED-4DB2-BD59-A6C34878D82A}">
                    <a16:rowId xmlns:a16="http://schemas.microsoft.com/office/drawing/2014/main" val="44219849"/>
                  </a:ext>
                </a:extLst>
              </a:tr>
              <a:tr h="370840">
                <a:tc vMerge="1">
                  <a:txBody>
                    <a:bodyPr/>
                    <a:lstStyle/>
                    <a:p>
                      <a:endParaRPr lang="en-ID" dirty="0"/>
                    </a:p>
                  </a:txBody>
                  <a:tcPr/>
                </a:tc>
                <a:tc>
                  <a:txBody>
                    <a:bodyPr/>
                    <a:lstStyle/>
                    <a:p>
                      <a:r>
                        <a:rPr lang="en-US" dirty="0"/>
                        <a:t>Directional Control</a:t>
                      </a:r>
                      <a:endParaRPr lang="en-ID" dirty="0"/>
                    </a:p>
                  </a:txBody>
                  <a:tcPr/>
                </a:tc>
                <a:tc>
                  <a:txBody>
                    <a:bodyPr/>
                    <a:lstStyle/>
                    <a:p>
                      <a:r>
                        <a:rPr lang="en-US" b="1" dirty="0">
                          <a:solidFill>
                            <a:srgbClr val="FF0000"/>
                          </a:solidFill>
                        </a:rPr>
                        <a:t>Poor: too limber for nudging.</a:t>
                      </a:r>
                      <a:endParaRPr lang="en-ID" b="1" dirty="0">
                        <a:solidFill>
                          <a:srgbClr val="FF0000"/>
                        </a:solidFill>
                      </a:endParaRPr>
                    </a:p>
                  </a:txBody>
                  <a:tcPr/>
                </a:tc>
                <a:tc>
                  <a:txBody>
                    <a:bodyPr/>
                    <a:lstStyle/>
                    <a:p>
                      <a:r>
                        <a:rPr kumimoji="0" lang="en-US" sz="1800" b="0" i="0" u="none" strike="noStrike" kern="1200" cap="none" spc="0" normalizeH="0" baseline="0" noProof="0" dirty="0">
                          <a:ln>
                            <a:noFill/>
                          </a:ln>
                          <a:solidFill>
                            <a:srgbClr val="FF0000"/>
                          </a:solidFill>
                          <a:effectLst/>
                          <a:uLnTx/>
                          <a:uFillTx/>
                          <a:latin typeface="Segoe UI"/>
                          <a:ea typeface="+mn-ea"/>
                          <a:cs typeface="+mn-cs"/>
                        </a:rPr>
                        <a:t>Good but Risk of Twist off</a:t>
                      </a:r>
                      <a:endParaRPr lang="en-ID" dirty="0">
                        <a:solidFill>
                          <a:srgbClr val="FF0000"/>
                        </a:solidFill>
                      </a:endParaRPr>
                    </a:p>
                  </a:txBody>
                  <a:tcPr/>
                </a:tc>
                <a:tc>
                  <a:txBody>
                    <a:bodyPr/>
                    <a:lstStyle/>
                    <a:p>
                      <a:r>
                        <a:rPr kumimoji="0" lang="en-US" sz="1800" b="0" i="0" u="none" strike="noStrike" kern="1200" cap="none" spc="0" normalizeH="0" baseline="0" noProof="0" dirty="0">
                          <a:ln>
                            <a:noFill/>
                          </a:ln>
                          <a:solidFill>
                            <a:srgbClr val="FF0000"/>
                          </a:solidFill>
                          <a:effectLst/>
                          <a:uLnTx/>
                          <a:uFillTx/>
                          <a:latin typeface="Segoe UI"/>
                          <a:ea typeface="+mn-ea"/>
                          <a:cs typeface="+mn-cs"/>
                        </a:rPr>
                        <a:t>Good, MM 6-5/8” Reg</a:t>
                      </a:r>
                      <a:endParaRPr lang="en-ID" dirty="0">
                        <a:solidFill>
                          <a:srgbClr val="FF0000"/>
                        </a:solidFill>
                      </a:endParaRPr>
                    </a:p>
                  </a:txBody>
                  <a:tcPr/>
                </a:tc>
                <a:extLst>
                  <a:ext uri="{0D108BD9-81ED-4DB2-BD59-A6C34878D82A}">
                    <a16:rowId xmlns:a16="http://schemas.microsoft.com/office/drawing/2014/main" val="4292701737"/>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a:t>
                      </a:r>
                      <a:r>
                        <a:rPr lang="en-US" dirty="0">
                          <a:latin typeface="Franklin Gothic Book" panose="020B0503020102020204" pitchFamily="34" charset="0"/>
                        </a:rPr>
                        <a:t>½ </a:t>
                      </a:r>
                      <a:r>
                        <a:rPr lang="en-US" dirty="0">
                          <a:latin typeface="+mn-lt"/>
                        </a:rPr>
                        <a:t>MM + 8</a:t>
                      </a:r>
                      <a:r>
                        <a:rPr lang="en-US" dirty="0"/>
                        <a:t>-</a:t>
                      </a:r>
                      <a:r>
                        <a:rPr lang="en-US" dirty="0">
                          <a:latin typeface="Franklin Gothic Book" panose="020B0503020102020204" pitchFamily="34" charset="0"/>
                        </a:rPr>
                        <a:t>½ </a:t>
                      </a:r>
                      <a:r>
                        <a:rPr lang="en-US" dirty="0">
                          <a:latin typeface="+mn-lt"/>
                        </a:rPr>
                        <a:t>MWD </a:t>
                      </a:r>
                      <a:endParaRPr lang="en-ID" dirty="0"/>
                    </a:p>
                  </a:txBody>
                  <a:tcPr/>
                </a:tc>
                <a:tc>
                  <a:txBody>
                    <a:bodyPr/>
                    <a:lstStyle/>
                    <a:p>
                      <a:r>
                        <a:rPr lang="en-US" dirty="0"/>
                        <a:t>Max GPM</a:t>
                      </a:r>
                      <a:endParaRPr lang="en-ID" dirty="0"/>
                    </a:p>
                  </a:txBody>
                  <a:tcPr/>
                </a:tc>
                <a:tc>
                  <a:txBody>
                    <a:bodyPr/>
                    <a:lstStyle/>
                    <a:p>
                      <a:r>
                        <a:rPr lang="en-US" dirty="0"/>
                        <a:t>900</a:t>
                      </a:r>
                      <a:endParaRPr lang="en-ID" dirty="0"/>
                    </a:p>
                  </a:txBody>
                  <a:tcPr/>
                </a:tc>
                <a:tc>
                  <a:txBody>
                    <a:bodyPr/>
                    <a:lstStyle/>
                    <a:p>
                      <a:r>
                        <a:rPr lang="en-US" dirty="0"/>
                        <a:t>900</a:t>
                      </a:r>
                      <a:endParaRPr lang="en-ID" dirty="0"/>
                    </a:p>
                  </a:txBody>
                  <a:tcPr/>
                </a:tc>
                <a:tc>
                  <a:txBody>
                    <a:bodyPr/>
                    <a:lstStyle/>
                    <a:p>
                      <a:r>
                        <a:rPr lang="en-US" dirty="0"/>
                        <a:t>900</a:t>
                      </a:r>
                      <a:endParaRPr lang="en-ID" dirty="0"/>
                    </a:p>
                  </a:txBody>
                  <a:tcPr/>
                </a:tc>
                <a:extLst>
                  <a:ext uri="{0D108BD9-81ED-4DB2-BD59-A6C34878D82A}">
                    <a16:rowId xmlns:a16="http://schemas.microsoft.com/office/drawing/2014/main" val="3122785774"/>
                  </a:ext>
                </a:extLst>
              </a:tr>
              <a:tr h="370840">
                <a:tc vMerge="1">
                  <a:txBody>
                    <a:bodyPr/>
                    <a:lstStyle/>
                    <a:p>
                      <a:endParaRPr lang="en-ID" dirty="0"/>
                    </a:p>
                  </a:txBody>
                  <a:tcPr/>
                </a:tc>
                <a:tc>
                  <a:txBody>
                    <a:bodyPr/>
                    <a:lstStyle/>
                    <a:p>
                      <a:r>
                        <a:rPr lang="en-US" dirty="0"/>
                        <a:t>MU Time</a:t>
                      </a:r>
                      <a:endParaRPr lang="en-ID" dirty="0"/>
                    </a:p>
                  </a:txBody>
                  <a:tcPr/>
                </a:tc>
                <a:tc>
                  <a:txBody>
                    <a:bodyPr/>
                    <a:lstStyle/>
                    <a:p>
                      <a:r>
                        <a:rPr lang="en-US" dirty="0"/>
                        <a:t>Faster</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Faster</a:t>
                      </a:r>
                      <a:endParaRPr lang="en-ID" dirty="0"/>
                    </a:p>
                  </a:txBody>
                  <a:tcPr/>
                </a:tc>
                <a:tc>
                  <a:txBody>
                    <a:bodyPr/>
                    <a:lstStyle/>
                    <a:p>
                      <a:r>
                        <a:rPr lang="en-US" dirty="0"/>
                        <a:t>Faster</a:t>
                      </a:r>
                      <a:endParaRPr lang="en-ID" dirty="0"/>
                    </a:p>
                  </a:txBody>
                  <a:tcPr/>
                </a:tc>
                <a:extLst>
                  <a:ext uri="{0D108BD9-81ED-4DB2-BD59-A6C34878D82A}">
                    <a16:rowId xmlns:a16="http://schemas.microsoft.com/office/drawing/2014/main" val="2599589940"/>
                  </a:ext>
                </a:extLst>
              </a:tr>
              <a:tr h="370840">
                <a:tc vMerge="1">
                  <a:txBody>
                    <a:bodyPr/>
                    <a:lstStyle/>
                    <a:p>
                      <a:endParaRPr lang="en-ID" dirty="0"/>
                    </a:p>
                  </a:txBody>
                  <a:tcPr/>
                </a:tc>
                <a:tc>
                  <a:txBody>
                    <a:bodyPr/>
                    <a:lstStyle/>
                    <a:p>
                      <a:r>
                        <a:rPr lang="en-US" dirty="0"/>
                        <a:t>Directional Control</a:t>
                      </a:r>
                      <a:endParaRPr lang="en-ID" dirty="0"/>
                    </a:p>
                  </a:txBody>
                  <a:tcPr/>
                </a:tc>
                <a:tc gridSpan="2">
                  <a:txBody>
                    <a:bodyPr/>
                    <a:lstStyle/>
                    <a:p>
                      <a:r>
                        <a:rPr lang="en-US" b="1" dirty="0">
                          <a:solidFill>
                            <a:srgbClr val="C00000"/>
                          </a:solidFill>
                        </a:rPr>
                        <a:t>Not Applicable, Bit: 7-5/8” Reg Connection, GPM too low</a:t>
                      </a:r>
                      <a:endParaRPr lang="en-ID" b="1" dirty="0">
                        <a:solidFill>
                          <a:srgbClr val="C00000"/>
                        </a:solidFill>
                      </a:endParaRPr>
                    </a:p>
                  </a:txBody>
                  <a:tcPr/>
                </a:tc>
                <a:tc hMerge="1">
                  <a:txBody>
                    <a:bodyPr/>
                    <a:lstStyle/>
                    <a:p>
                      <a:endParaRPr lang="en-ID" dirty="0">
                        <a:solidFill>
                          <a:srgbClr val="C00000"/>
                        </a:solidFill>
                      </a:endParaRPr>
                    </a:p>
                  </a:txBody>
                  <a:tcPr/>
                </a:tc>
                <a:tc>
                  <a:txBody>
                    <a:bodyPr/>
                    <a:lstStyle/>
                    <a:p>
                      <a:r>
                        <a:rPr lang="en-US" dirty="0"/>
                        <a:t>Good</a:t>
                      </a:r>
                      <a:endParaRPr lang="en-ID" dirty="0"/>
                    </a:p>
                  </a:txBody>
                  <a:tcPr/>
                </a:tc>
                <a:extLst>
                  <a:ext uri="{0D108BD9-81ED-4DB2-BD59-A6C34878D82A}">
                    <a16:rowId xmlns:a16="http://schemas.microsoft.com/office/drawing/2014/main" val="1520804001"/>
                  </a:ext>
                </a:extLst>
              </a:tr>
            </a:tbl>
          </a:graphicData>
        </a:graphic>
      </p:graphicFrame>
      <p:sp>
        <p:nvSpPr>
          <p:cNvPr id="8" name="Rectangle 7">
            <a:extLst>
              <a:ext uri="{FF2B5EF4-FFF2-40B4-BE49-F238E27FC236}">
                <a16:creationId xmlns:a16="http://schemas.microsoft.com/office/drawing/2014/main" id="{302A2866-759C-9CE6-A3FC-5084F47AE678}"/>
              </a:ext>
            </a:extLst>
          </p:cNvPr>
          <p:cNvSpPr/>
          <p:nvPr/>
        </p:nvSpPr>
        <p:spPr>
          <a:xfrm>
            <a:off x="5821680" y="2928620"/>
            <a:ext cx="4531360" cy="1076960"/>
          </a:xfrm>
          <a:prstGeom prst="rect">
            <a:avLst/>
          </a:prstGeom>
          <a:solidFill>
            <a:srgbClr val="FFC000">
              <a:alpha val="13000"/>
            </a:srgbClr>
          </a:solidFill>
          <a:ln w="38100">
            <a:solidFill>
              <a:srgbClr val="C0000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9" name="Rectangle 8">
            <a:extLst>
              <a:ext uri="{FF2B5EF4-FFF2-40B4-BE49-F238E27FC236}">
                <a16:creationId xmlns:a16="http://schemas.microsoft.com/office/drawing/2014/main" id="{93F81D59-42ED-E816-7944-AF96D02D6BA5}"/>
              </a:ext>
            </a:extLst>
          </p:cNvPr>
          <p:cNvSpPr/>
          <p:nvPr/>
        </p:nvSpPr>
        <p:spPr>
          <a:xfrm>
            <a:off x="10353040" y="5398770"/>
            <a:ext cx="1361440" cy="1372870"/>
          </a:xfrm>
          <a:prstGeom prst="rect">
            <a:avLst/>
          </a:prstGeom>
          <a:solidFill>
            <a:srgbClr val="FFC000">
              <a:alpha val="13000"/>
            </a:srgbClr>
          </a:solidFill>
          <a:ln w="38100">
            <a:solidFill>
              <a:srgbClr val="C0000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
        <p:nvSpPr>
          <p:cNvPr id="10" name="Rectangle 9">
            <a:extLst>
              <a:ext uri="{FF2B5EF4-FFF2-40B4-BE49-F238E27FC236}">
                <a16:creationId xmlns:a16="http://schemas.microsoft.com/office/drawing/2014/main" id="{1D4E4ECE-62B0-07AD-01B9-9C63463DD6A4}"/>
              </a:ext>
            </a:extLst>
          </p:cNvPr>
          <p:cNvSpPr/>
          <p:nvPr/>
        </p:nvSpPr>
        <p:spPr>
          <a:xfrm>
            <a:off x="7942992" y="4025900"/>
            <a:ext cx="2410047" cy="1372870"/>
          </a:xfrm>
          <a:prstGeom prst="rect">
            <a:avLst/>
          </a:prstGeom>
          <a:solidFill>
            <a:srgbClr val="FFC000">
              <a:alpha val="13000"/>
            </a:srgbClr>
          </a:solidFill>
          <a:ln w="38100">
            <a:solidFill>
              <a:srgbClr val="C0000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D"/>
          </a:p>
        </p:txBody>
      </p:sp>
    </p:spTree>
    <p:extLst>
      <p:ext uri="{BB962C8B-B14F-4D97-AF65-F5344CB8AC3E}">
        <p14:creationId xmlns:p14="http://schemas.microsoft.com/office/powerpoint/2010/main" val="100527683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075D-D150-453E-9700-0B5B2E81C7FF}"/>
              </a:ext>
            </a:extLst>
          </p:cNvPr>
          <p:cNvSpPr>
            <a:spLocks noGrp="1"/>
          </p:cNvSpPr>
          <p:nvPr>
            <p:ph type="title"/>
          </p:nvPr>
        </p:nvSpPr>
        <p:spPr/>
        <p:txBody>
          <a:bodyPr>
            <a:normAutofit/>
          </a:bodyPr>
          <a:lstStyle/>
          <a:p>
            <a:r>
              <a:rPr lang="en-US" sz="3200" b="1" dirty="0">
                <a:solidFill>
                  <a:srgbClr val="C00000"/>
                </a:solidFill>
              </a:rPr>
              <a:t>Mud Motor and MWD Size Selection</a:t>
            </a:r>
            <a:endParaRPr lang="en-GB" sz="3200" b="1" dirty="0">
              <a:solidFill>
                <a:srgbClr val="C00000"/>
              </a:solidFill>
            </a:endParaRPr>
          </a:p>
        </p:txBody>
      </p:sp>
      <p:graphicFrame>
        <p:nvGraphicFramePr>
          <p:cNvPr id="4" name="Table 4">
            <a:extLst>
              <a:ext uri="{FF2B5EF4-FFF2-40B4-BE49-F238E27FC236}">
                <a16:creationId xmlns:a16="http://schemas.microsoft.com/office/drawing/2014/main" id="{4179045B-B5F3-46C7-992B-856EFCF71666}"/>
              </a:ext>
            </a:extLst>
          </p:cNvPr>
          <p:cNvGraphicFramePr>
            <a:graphicFrameLocks noGrp="1"/>
          </p:cNvGraphicFramePr>
          <p:nvPr/>
        </p:nvGraphicFramePr>
        <p:xfrm>
          <a:off x="599440" y="1259840"/>
          <a:ext cx="11115040" cy="3627120"/>
        </p:xfrm>
        <a:graphic>
          <a:graphicData uri="http://schemas.openxmlformats.org/drawingml/2006/table">
            <a:tbl>
              <a:tblPr firstRow="1" bandRow="1">
                <a:tableStyleId>{5C22544A-7EE6-4342-B048-85BDC9FD1C3A}</a:tableStyleId>
              </a:tblPr>
              <a:tblGrid>
                <a:gridCol w="3007360">
                  <a:extLst>
                    <a:ext uri="{9D8B030D-6E8A-4147-A177-3AD203B41FA5}">
                      <a16:colId xmlns:a16="http://schemas.microsoft.com/office/drawing/2014/main" val="2470255297"/>
                    </a:ext>
                  </a:extLst>
                </a:gridCol>
                <a:gridCol w="2184400">
                  <a:extLst>
                    <a:ext uri="{9D8B030D-6E8A-4147-A177-3AD203B41FA5}">
                      <a16:colId xmlns:a16="http://schemas.microsoft.com/office/drawing/2014/main" val="3183955609"/>
                    </a:ext>
                  </a:extLst>
                </a:gridCol>
                <a:gridCol w="2153920">
                  <a:extLst>
                    <a:ext uri="{9D8B030D-6E8A-4147-A177-3AD203B41FA5}">
                      <a16:colId xmlns:a16="http://schemas.microsoft.com/office/drawing/2014/main" val="29615349"/>
                    </a:ext>
                  </a:extLst>
                </a:gridCol>
                <a:gridCol w="2379980">
                  <a:extLst>
                    <a:ext uri="{9D8B030D-6E8A-4147-A177-3AD203B41FA5}">
                      <a16:colId xmlns:a16="http://schemas.microsoft.com/office/drawing/2014/main" val="4058388589"/>
                    </a:ext>
                  </a:extLst>
                </a:gridCol>
                <a:gridCol w="1389380">
                  <a:extLst>
                    <a:ext uri="{9D8B030D-6E8A-4147-A177-3AD203B41FA5}">
                      <a16:colId xmlns:a16="http://schemas.microsoft.com/office/drawing/2014/main" val="3907912946"/>
                    </a:ext>
                  </a:extLst>
                </a:gridCol>
              </a:tblGrid>
              <a:tr h="1402080">
                <a:tc>
                  <a:txBody>
                    <a:bodyPr/>
                    <a:lstStyle/>
                    <a:p>
                      <a:r>
                        <a:rPr lang="en-US" sz="3200" dirty="0"/>
                        <a:t>BHA Configuration</a:t>
                      </a:r>
                      <a:endParaRPr lang="en-ID" sz="3200" dirty="0"/>
                    </a:p>
                  </a:txBody>
                  <a:tcPr anchor="ctr"/>
                </a:tc>
                <a:tc>
                  <a:txBody>
                    <a:bodyPr/>
                    <a:lstStyle/>
                    <a:p>
                      <a:pPr algn="l"/>
                      <a:r>
                        <a:rPr lang="en-US" dirty="0"/>
                        <a:t>Parameters</a:t>
                      </a:r>
                      <a:endParaRPr lang="en-ID" dirty="0"/>
                    </a:p>
                  </a:txBody>
                  <a:tcPr vert="vert" anchor="ctr"/>
                </a:tc>
                <a:tc>
                  <a:txBody>
                    <a:bodyPr/>
                    <a:lstStyle/>
                    <a:p>
                      <a:pPr algn="l"/>
                      <a:r>
                        <a:rPr lang="en-US" dirty="0"/>
                        <a:t>26” Hole</a:t>
                      </a:r>
                      <a:endParaRPr lang="en-ID" dirty="0"/>
                    </a:p>
                  </a:txBody>
                  <a:tcPr vert="vert" anchor="ctr"/>
                </a:tc>
                <a:tc>
                  <a:txBody>
                    <a:bodyPr/>
                    <a:lstStyle/>
                    <a:p>
                      <a:pPr algn="l"/>
                      <a:r>
                        <a:rPr lang="en-US" dirty="0"/>
                        <a:t>17-1/2” Hole</a:t>
                      </a:r>
                      <a:endParaRPr lang="en-ID" dirty="0"/>
                    </a:p>
                  </a:txBody>
                  <a:tcPr vert="vert" anchor="ctr"/>
                </a:tc>
                <a:tc>
                  <a:txBody>
                    <a:bodyPr/>
                    <a:lstStyle/>
                    <a:p>
                      <a:pPr algn="l"/>
                      <a:r>
                        <a:rPr lang="en-US" dirty="0"/>
                        <a:t>12-1/4” Hole</a:t>
                      </a:r>
                      <a:endParaRPr lang="en-ID" dirty="0"/>
                    </a:p>
                  </a:txBody>
                  <a:tcPr vert="vert" anchor="ctr"/>
                </a:tc>
                <a:extLst>
                  <a:ext uri="{0D108BD9-81ED-4DB2-BD59-A6C34878D82A}">
                    <a16:rowId xmlns:a16="http://schemas.microsoft.com/office/drawing/2014/main" val="450367371"/>
                  </a:ext>
                </a:extLst>
              </a:tr>
              <a:tr h="370840">
                <a:tc rowSpan="3">
                  <a:txBody>
                    <a:bodyPr/>
                    <a:lstStyle/>
                    <a:p>
                      <a:r>
                        <a:rPr lang="en-US" dirty="0"/>
                        <a:t>9-</a:t>
                      </a:r>
                      <a:r>
                        <a:rPr lang="en-US" dirty="0">
                          <a:latin typeface="Franklin Gothic Book" panose="020B0503020102020204" pitchFamily="34" charset="0"/>
                        </a:rPr>
                        <a:t>½ </a:t>
                      </a:r>
                      <a:r>
                        <a:rPr lang="en-US" dirty="0">
                          <a:latin typeface="+mn-lt"/>
                        </a:rPr>
                        <a:t>MM + </a:t>
                      </a:r>
                      <a:r>
                        <a:rPr lang="en-US" dirty="0"/>
                        <a:t>9-</a:t>
                      </a:r>
                      <a:r>
                        <a:rPr lang="en-US" dirty="0">
                          <a:latin typeface="Franklin Gothic Book" panose="020B0503020102020204" pitchFamily="34" charset="0"/>
                        </a:rPr>
                        <a:t>½ EM-</a:t>
                      </a:r>
                      <a:r>
                        <a:rPr lang="en-US" dirty="0">
                          <a:latin typeface="+mn-lt"/>
                        </a:rPr>
                        <a:t>MWD </a:t>
                      </a:r>
                      <a:endParaRPr lang="en-ID" dirty="0">
                        <a:latin typeface="+mn-lt"/>
                      </a:endParaRPr>
                    </a:p>
                  </a:txBody>
                  <a:tcPr/>
                </a:tc>
                <a:tc>
                  <a:txBody>
                    <a:bodyPr/>
                    <a:lstStyle/>
                    <a:p>
                      <a:r>
                        <a:rPr lang="en-US" dirty="0"/>
                        <a:t>Max GPM</a:t>
                      </a:r>
                      <a:endParaRPr lang="en-ID" dirty="0"/>
                    </a:p>
                  </a:txBody>
                  <a:tcPr/>
                </a:tc>
                <a:tc>
                  <a:txBody>
                    <a:bodyPr/>
                    <a:lstStyle/>
                    <a:p>
                      <a:r>
                        <a:rPr lang="en-US" dirty="0"/>
                        <a:t>1200</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1200</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1200</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extLst>
                  <a:ext uri="{0D108BD9-81ED-4DB2-BD59-A6C34878D82A}">
                    <a16:rowId xmlns:a16="http://schemas.microsoft.com/office/drawing/2014/main" val="1637218516"/>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D" dirty="0"/>
                    </a:p>
                  </a:txBody>
                  <a:tcPr/>
                </a:tc>
                <a:tc>
                  <a:txBody>
                    <a:bodyPr/>
                    <a:lstStyle/>
                    <a:p>
                      <a:r>
                        <a:rPr lang="en-US" dirty="0"/>
                        <a:t>MU Time</a:t>
                      </a:r>
                      <a:endParaRPr lang="en-ID" dirty="0"/>
                    </a:p>
                  </a:txBody>
                  <a:tcPr/>
                </a:tc>
                <a:tc>
                  <a:txBody>
                    <a:bodyPr/>
                    <a:lstStyle/>
                    <a:p>
                      <a:r>
                        <a:rPr lang="en-US" dirty="0">
                          <a:solidFill>
                            <a:srgbClr val="C00000"/>
                          </a:solidFill>
                        </a:rPr>
                        <a:t>Longer</a:t>
                      </a:r>
                      <a:endParaRPr lang="en-ID" dirty="0">
                        <a:solidFill>
                          <a:srgbClr val="C00000"/>
                        </a:solidFill>
                      </a:endParaRPr>
                    </a:p>
                  </a:txBody>
                  <a:tcPr/>
                </a:tc>
                <a:tc>
                  <a:txBody>
                    <a:bodyPr/>
                    <a:lstStyle/>
                    <a:p>
                      <a:r>
                        <a:rPr kumimoji="0" lang="en-US" sz="1800" b="0" i="0" u="none" strike="noStrike" kern="1200" cap="none" spc="0" normalizeH="0" baseline="0" noProof="0" dirty="0">
                          <a:ln>
                            <a:noFill/>
                          </a:ln>
                          <a:solidFill>
                            <a:srgbClr val="C00000"/>
                          </a:solidFill>
                          <a:effectLst/>
                          <a:uLnTx/>
                          <a:uFillTx/>
                          <a:latin typeface="Segoe UI"/>
                          <a:ea typeface="+mn-ea"/>
                          <a:cs typeface="+mn-cs"/>
                        </a:rPr>
                        <a:t>Longer</a:t>
                      </a:r>
                      <a:endParaRPr lang="en-ID" dirty="0">
                        <a:solidFill>
                          <a:srgbClr val="C00000"/>
                        </a:solidFill>
                      </a:endParaRPr>
                    </a:p>
                  </a:txBody>
                  <a:tcPr/>
                </a:tc>
                <a:tc>
                  <a:txBody>
                    <a:bodyPr/>
                    <a:lstStyle/>
                    <a:p>
                      <a:r>
                        <a:rPr kumimoji="0" lang="en-US" sz="1800" b="0" i="0" u="none" strike="noStrike" kern="1200" cap="none" spc="0" normalizeH="0" baseline="0" noProof="0" dirty="0">
                          <a:ln>
                            <a:noFill/>
                          </a:ln>
                          <a:solidFill>
                            <a:srgbClr val="C00000"/>
                          </a:solidFill>
                          <a:effectLst/>
                          <a:uLnTx/>
                          <a:uFillTx/>
                          <a:latin typeface="Segoe UI"/>
                          <a:ea typeface="+mn-ea"/>
                          <a:cs typeface="+mn-cs"/>
                        </a:rPr>
                        <a:t>Longer</a:t>
                      </a:r>
                      <a:endParaRPr lang="en-ID" dirty="0">
                        <a:solidFill>
                          <a:srgbClr val="C00000"/>
                        </a:solidFill>
                      </a:endParaRPr>
                    </a:p>
                  </a:txBody>
                  <a:tcPr/>
                </a:tc>
                <a:extLst>
                  <a:ext uri="{0D108BD9-81ED-4DB2-BD59-A6C34878D82A}">
                    <a16:rowId xmlns:a16="http://schemas.microsoft.com/office/drawing/2014/main" val="1089692691"/>
                  </a:ext>
                </a:extLst>
              </a:tr>
              <a:tr h="370840">
                <a:tc vMerge="1">
                  <a:txBody>
                    <a:bodyPr/>
                    <a:lstStyle/>
                    <a:p>
                      <a:endParaRPr lang="en-ID" dirty="0"/>
                    </a:p>
                  </a:txBody>
                  <a:tcPr/>
                </a:tc>
                <a:tc>
                  <a:txBody>
                    <a:bodyPr/>
                    <a:lstStyle/>
                    <a:p>
                      <a:r>
                        <a:rPr lang="en-US" dirty="0"/>
                        <a:t>Directional Control</a:t>
                      </a:r>
                      <a:endParaRPr lang="en-ID" dirty="0"/>
                    </a:p>
                  </a:txBody>
                  <a:tcPr/>
                </a:tc>
                <a:tc>
                  <a:txBody>
                    <a:bodyPr/>
                    <a:lstStyle/>
                    <a:p>
                      <a:r>
                        <a:rPr lang="en-US" dirty="0"/>
                        <a:t>Good</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Good</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Good</a:t>
                      </a:r>
                      <a:endParaRPr lang="en-ID" dirty="0"/>
                    </a:p>
                  </a:txBody>
                  <a:tcPr/>
                </a:tc>
                <a:extLst>
                  <a:ext uri="{0D108BD9-81ED-4DB2-BD59-A6C34878D82A}">
                    <a16:rowId xmlns:a16="http://schemas.microsoft.com/office/drawing/2014/main" val="673119224"/>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a:t>
                      </a:r>
                      <a:r>
                        <a:rPr lang="en-US" dirty="0">
                          <a:latin typeface="Franklin Gothic Book" panose="020B0503020102020204" pitchFamily="34" charset="0"/>
                        </a:rPr>
                        <a:t>½ </a:t>
                      </a:r>
                      <a:r>
                        <a:rPr lang="en-US" dirty="0">
                          <a:latin typeface="+mn-lt"/>
                        </a:rPr>
                        <a:t>MM + 8</a:t>
                      </a:r>
                      <a:r>
                        <a:rPr lang="en-US" dirty="0"/>
                        <a:t>-</a:t>
                      </a:r>
                      <a:r>
                        <a:rPr lang="en-US" dirty="0">
                          <a:latin typeface="Franklin Gothic Book" panose="020B0503020102020204" pitchFamily="34" charset="0"/>
                        </a:rPr>
                        <a:t>½ EM-</a:t>
                      </a:r>
                      <a:r>
                        <a:rPr lang="en-US" dirty="0">
                          <a:latin typeface="+mn-lt"/>
                        </a:rPr>
                        <a:t>MWD </a:t>
                      </a:r>
                      <a:endParaRPr lang="en-ID" dirty="0"/>
                    </a:p>
                  </a:txBody>
                  <a:tcPr/>
                </a:tc>
                <a:tc>
                  <a:txBody>
                    <a:bodyPr/>
                    <a:lstStyle/>
                    <a:p>
                      <a:r>
                        <a:rPr lang="en-US" dirty="0"/>
                        <a:t>Max GPM</a:t>
                      </a:r>
                      <a:endParaRPr lang="en-ID" dirty="0"/>
                    </a:p>
                  </a:txBody>
                  <a:tcPr/>
                </a:tc>
                <a:tc>
                  <a:txBody>
                    <a:bodyPr/>
                    <a:lstStyle/>
                    <a:p>
                      <a:r>
                        <a:rPr lang="en-US" dirty="0"/>
                        <a:t>1200</a:t>
                      </a:r>
                      <a:endParaRPr lang="en-ID" dirty="0"/>
                    </a:p>
                  </a:txBody>
                  <a:tcPr/>
                </a:tc>
                <a:tc>
                  <a:txBody>
                    <a:bodyPr/>
                    <a:lstStyle/>
                    <a:p>
                      <a:r>
                        <a:rPr lang="en-US" dirty="0"/>
                        <a:t>1200</a:t>
                      </a:r>
                      <a:endParaRPr lang="en-ID" dirty="0"/>
                    </a:p>
                  </a:txBody>
                  <a:tcPr/>
                </a:tc>
                <a:tc>
                  <a:txBody>
                    <a:bodyPr/>
                    <a:lstStyle/>
                    <a:p>
                      <a:r>
                        <a:rPr lang="en-US" dirty="0"/>
                        <a:t>1200</a:t>
                      </a:r>
                      <a:endParaRPr lang="en-ID" dirty="0"/>
                    </a:p>
                  </a:txBody>
                  <a:tcPr/>
                </a:tc>
                <a:extLst>
                  <a:ext uri="{0D108BD9-81ED-4DB2-BD59-A6C34878D82A}">
                    <a16:rowId xmlns:a16="http://schemas.microsoft.com/office/drawing/2014/main" val="2139192554"/>
                  </a:ext>
                </a:extLst>
              </a:tr>
              <a:tr h="370840">
                <a:tc vMerge="1">
                  <a:txBody>
                    <a:bodyPr/>
                    <a:lstStyle/>
                    <a:p>
                      <a:endParaRPr lang="en-ID" dirty="0"/>
                    </a:p>
                  </a:txBody>
                  <a:tcPr/>
                </a:tc>
                <a:tc>
                  <a:txBody>
                    <a:bodyPr/>
                    <a:lstStyle/>
                    <a:p>
                      <a:r>
                        <a:rPr lang="en-US" dirty="0"/>
                        <a:t>MU Time</a:t>
                      </a:r>
                      <a:endParaRPr lang="en-ID" dirty="0"/>
                    </a:p>
                  </a:txBody>
                  <a:tcPr/>
                </a:tc>
                <a:tc>
                  <a:txBody>
                    <a:bodyPr/>
                    <a:lstStyle/>
                    <a:p>
                      <a:r>
                        <a:rPr lang="en-US" dirty="0"/>
                        <a:t>Fair</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Fair</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Fair</a:t>
                      </a:r>
                      <a:endParaRPr lang="en-ID" dirty="0"/>
                    </a:p>
                  </a:txBody>
                  <a:tcPr/>
                </a:tc>
                <a:extLst>
                  <a:ext uri="{0D108BD9-81ED-4DB2-BD59-A6C34878D82A}">
                    <a16:rowId xmlns:a16="http://schemas.microsoft.com/office/drawing/2014/main" val="44219849"/>
                  </a:ext>
                </a:extLst>
              </a:tr>
              <a:tr h="370840">
                <a:tc vMerge="1">
                  <a:txBody>
                    <a:bodyPr/>
                    <a:lstStyle/>
                    <a:p>
                      <a:endParaRPr lang="en-ID" dirty="0"/>
                    </a:p>
                  </a:txBody>
                  <a:tcPr/>
                </a:tc>
                <a:tc>
                  <a:txBody>
                    <a:bodyPr/>
                    <a:lstStyle/>
                    <a:p>
                      <a:r>
                        <a:rPr lang="en-US" dirty="0"/>
                        <a:t>Directional Control</a:t>
                      </a:r>
                      <a:endParaRPr lang="en-ID" dirty="0"/>
                    </a:p>
                  </a:txBody>
                  <a:tcPr/>
                </a:tc>
                <a:tc>
                  <a:txBody>
                    <a:bodyPr/>
                    <a:lstStyle/>
                    <a:p>
                      <a:r>
                        <a:rPr lang="en-US" dirty="0">
                          <a:solidFill>
                            <a:srgbClr val="C00000"/>
                          </a:solidFill>
                        </a:rPr>
                        <a:t>Poor</a:t>
                      </a:r>
                      <a:endParaRPr lang="en-ID" dirty="0">
                        <a:solidFill>
                          <a:srgbClr val="C00000"/>
                        </a:solidFill>
                      </a:endParaRPr>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Good</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Good</a:t>
                      </a:r>
                      <a:endParaRPr lang="en-ID" dirty="0"/>
                    </a:p>
                  </a:txBody>
                  <a:tcPr/>
                </a:tc>
                <a:extLst>
                  <a:ext uri="{0D108BD9-81ED-4DB2-BD59-A6C34878D82A}">
                    <a16:rowId xmlns:a16="http://schemas.microsoft.com/office/drawing/2014/main" val="4292701737"/>
                  </a:ext>
                </a:extLst>
              </a:tr>
            </a:tbl>
          </a:graphicData>
        </a:graphic>
      </p:graphicFrame>
      <p:sp>
        <p:nvSpPr>
          <p:cNvPr id="3" name="TextBox 2">
            <a:extLst>
              <a:ext uri="{FF2B5EF4-FFF2-40B4-BE49-F238E27FC236}">
                <a16:creationId xmlns:a16="http://schemas.microsoft.com/office/drawing/2014/main" id="{2ACA4D4F-64A8-4AB5-9253-DDD2C79BE56B}"/>
              </a:ext>
            </a:extLst>
          </p:cNvPr>
          <p:cNvSpPr txBox="1"/>
          <p:nvPr/>
        </p:nvSpPr>
        <p:spPr>
          <a:xfrm>
            <a:off x="521208" y="4882276"/>
            <a:ext cx="11490960" cy="2031325"/>
          </a:xfrm>
          <a:prstGeom prst="rect">
            <a:avLst/>
          </a:prstGeom>
          <a:noFill/>
        </p:spPr>
        <p:txBody>
          <a:bodyPr wrap="square" rtlCol="0">
            <a:spAutoFit/>
          </a:bodyPr>
          <a:lstStyle/>
          <a:p>
            <a:r>
              <a:rPr lang="en-US" b="1" dirty="0"/>
              <a:t>26” BHA: </a:t>
            </a:r>
          </a:p>
          <a:p>
            <a:pPr marL="285750" indent="-285750">
              <a:buFont typeface="Arial" panose="020B0604020202020204" pitchFamily="34" charset="0"/>
              <a:buChar char="•"/>
            </a:pPr>
            <a:r>
              <a:rPr lang="en-US" b="1" dirty="0">
                <a:highlight>
                  <a:srgbClr val="FFFF00"/>
                </a:highlight>
              </a:rPr>
              <a:t>9-</a:t>
            </a:r>
            <a:r>
              <a:rPr lang="en-US" b="1" dirty="0">
                <a:highlight>
                  <a:srgbClr val="FFFF00"/>
                </a:highlight>
                <a:latin typeface="Franklin Gothic Book" panose="020B0503020102020204" pitchFamily="34" charset="0"/>
              </a:rPr>
              <a:t>½ </a:t>
            </a:r>
            <a:r>
              <a:rPr lang="en-US" b="1" dirty="0">
                <a:highlight>
                  <a:srgbClr val="FFFF00"/>
                </a:highlight>
                <a:latin typeface="+mn-lt"/>
              </a:rPr>
              <a:t>MM + </a:t>
            </a:r>
            <a:r>
              <a:rPr lang="en-US" b="1" dirty="0">
                <a:highlight>
                  <a:srgbClr val="FFFF00"/>
                </a:highlight>
              </a:rPr>
              <a:t>9-</a:t>
            </a:r>
            <a:r>
              <a:rPr lang="en-US" b="1" dirty="0">
                <a:highlight>
                  <a:srgbClr val="FFFF00"/>
                </a:highlight>
                <a:latin typeface="Franklin Gothic Book" panose="020B0503020102020204" pitchFamily="34" charset="0"/>
              </a:rPr>
              <a:t>½ EM-</a:t>
            </a:r>
            <a:r>
              <a:rPr lang="en-US" b="1" dirty="0">
                <a:highlight>
                  <a:srgbClr val="FFFF00"/>
                </a:highlight>
                <a:latin typeface="+mn-lt"/>
              </a:rPr>
              <a:t>MWD </a:t>
            </a:r>
            <a:r>
              <a:rPr lang="en-US" dirty="0">
                <a:latin typeface="+mn-lt"/>
                <a:sym typeface="Wingdings" panose="05000000000000000000" pitchFamily="2" charset="2"/>
              </a:rPr>
              <a:t> easy to control surface kick off and easy to fight if any surface formation Deeping</a:t>
            </a:r>
            <a:r>
              <a:rPr lang="en-US" dirty="0">
                <a:latin typeface="+mn-lt"/>
              </a:rPr>
              <a:t> </a:t>
            </a:r>
          </a:p>
          <a:p>
            <a:pPr marL="285750" indent="-285750">
              <a:buFont typeface="Arial" panose="020B0604020202020204" pitchFamily="34" charset="0"/>
              <a:buChar char="•"/>
            </a:pPr>
            <a:r>
              <a:rPr lang="en-US" b="1" dirty="0">
                <a:solidFill>
                  <a:srgbClr val="C00000"/>
                </a:solidFill>
                <a:highlight>
                  <a:srgbClr val="FFCC66"/>
                </a:highlight>
              </a:rPr>
              <a:t>9-</a:t>
            </a:r>
            <a:r>
              <a:rPr lang="en-US" b="1" dirty="0">
                <a:solidFill>
                  <a:srgbClr val="C00000"/>
                </a:solidFill>
                <a:highlight>
                  <a:srgbClr val="FFCC66"/>
                </a:highlight>
                <a:latin typeface="Franklin Gothic Book" panose="020B0503020102020204" pitchFamily="34" charset="0"/>
              </a:rPr>
              <a:t>½ </a:t>
            </a:r>
            <a:r>
              <a:rPr lang="en-US" b="1" dirty="0">
                <a:solidFill>
                  <a:srgbClr val="C00000"/>
                </a:solidFill>
                <a:highlight>
                  <a:srgbClr val="FFCC66"/>
                </a:highlight>
                <a:latin typeface="+mn-lt"/>
              </a:rPr>
              <a:t>MM + 8</a:t>
            </a:r>
            <a:r>
              <a:rPr lang="en-US" b="1" dirty="0">
                <a:solidFill>
                  <a:srgbClr val="C00000"/>
                </a:solidFill>
                <a:highlight>
                  <a:srgbClr val="FFCC66"/>
                </a:highlight>
              </a:rPr>
              <a:t>-</a:t>
            </a:r>
            <a:r>
              <a:rPr lang="en-US" b="1" dirty="0">
                <a:solidFill>
                  <a:srgbClr val="C00000"/>
                </a:solidFill>
                <a:highlight>
                  <a:srgbClr val="FFCC66"/>
                </a:highlight>
                <a:latin typeface="Franklin Gothic Book" panose="020B0503020102020204" pitchFamily="34" charset="0"/>
              </a:rPr>
              <a:t>½ EM-</a:t>
            </a:r>
            <a:r>
              <a:rPr lang="en-US" b="1" dirty="0">
                <a:solidFill>
                  <a:srgbClr val="C00000"/>
                </a:solidFill>
                <a:highlight>
                  <a:srgbClr val="FFCC66"/>
                </a:highlight>
                <a:latin typeface="+mn-lt"/>
              </a:rPr>
              <a:t>MWD </a:t>
            </a:r>
            <a:r>
              <a:rPr lang="en-US" dirty="0">
                <a:latin typeface="+mn-lt"/>
                <a:sym typeface="Wingdings" panose="05000000000000000000" pitchFamily="2" charset="2"/>
              </a:rPr>
              <a:t> less rig ti</a:t>
            </a:r>
            <a:r>
              <a:rPr lang="en-US" dirty="0">
                <a:sym typeface="Wingdings" panose="05000000000000000000" pitchFamily="2" charset="2"/>
              </a:rPr>
              <a:t>me to make BHA and could be use for next 17-1/2” hole section, however it was experienced </a:t>
            </a:r>
            <a:r>
              <a:rPr lang="en-US" dirty="0">
                <a:solidFill>
                  <a:srgbClr val="C00000"/>
                </a:solidFill>
                <a:sym typeface="Wingdings" panose="05000000000000000000" pitchFamily="2" charset="2"/>
              </a:rPr>
              <a:t>un-able to control directional AZ due to </a:t>
            </a:r>
            <a:r>
              <a:rPr lang="en-US" dirty="0">
                <a:solidFill>
                  <a:srgbClr val="C00000"/>
                </a:solidFill>
                <a:latin typeface="+mn-lt"/>
                <a:sym typeface="Wingdings" panose="05000000000000000000" pitchFamily="2" charset="2"/>
              </a:rPr>
              <a:t>surface formation Deeping. Finally need longer for making directional correction  1 – 2 BHA Trip in and out = </a:t>
            </a:r>
            <a:r>
              <a:rPr lang="en-US" dirty="0">
                <a:solidFill>
                  <a:srgbClr val="C00000"/>
                </a:solidFill>
                <a:sym typeface="Wingdings" panose="05000000000000000000" pitchFamily="2" charset="2"/>
              </a:rPr>
              <a:t>24 hours = 1 day additional rig time  USD 70 K</a:t>
            </a:r>
            <a:r>
              <a:rPr lang="en-US" dirty="0"/>
              <a:t> </a:t>
            </a:r>
            <a:endParaRPr lang="en-ID" dirty="0"/>
          </a:p>
        </p:txBody>
      </p:sp>
      <p:cxnSp>
        <p:nvCxnSpPr>
          <p:cNvPr id="13" name="Connector: Elbow 12">
            <a:extLst>
              <a:ext uri="{FF2B5EF4-FFF2-40B4-BE49-F238E27FC236}">
                <a16:creationId xmlns:a16="http://schemas.microsoft.com/office/drawing/2014/main" id="{EECEE235-D6E2-4D6A-BD67-9AE2B7E3CA32}"/>
              </a:ext>
            </a:extLst>
          </p:cNvPr>
          <p:cNvCxnSpPr>
            <a:cxnSpLocks/>
          </p:cNvCxnSpPr>
          <p:nvPr/>
        </p:nvCxnSpPr>
        <p:spPr>
          <a:xfrm rot="10800000" flipV="1">
            <a:off x="477520" y="4657851"/>
            <a:ext cx="3078480" cy="1244586"/>
          </a:xfrm>
          <a:prstGeom prst="bentConnector3">
            <a:avLst>
              <a:gd name="adj1" fmla="val 107426"/>
            </a:avLst>
          </a:prstGeom>
          <a:ln w="19050">
            <a:solidFill>
              <a:srgbClr val="CC33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BA3C039-ACBC-4743-ACFB-A811D6C89EE8}"/>
              </a:ext>
            </a:extLst>
          </p:cNvPr>
          <p:cNvCxnSpPr>
            <a:cxnSpLocks/>
          </p:cNvCxnSpPr>
          <p:nvPr/>
        </p:nvCxnSpPr>
        <p:spPr>
          <a:xfrm rot="16200000" flipH="1">
            <a:off x="6081268" y="4227464"/>
            <a:ext cx="1533144" cy="325120"/>
          </a:xfrm>
          <a:prstGeom prst="bentConnector3">
            <a:avLst>
              <a:gd name="adj1" fmla="val -364"/>
            </a:avLst>
          </a:prstGeom>
          <a:ln w="22225">
            <a:solidFill>
              <a:srgbClr val="00B050"/>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92242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EE9B2-E1C9-4C63-B6CA-C4B8BDF5F249}"/>
              </a:ext>
            </a:extLst>
          </p:cNvPr>
          <p:cNvSpPr>
            <a:spLocks noGrp="1"/>
          </p:cNvSpPr>
          <p:nvPr>
            <p:ph type="title"/>
          </p:nvPr>
        </p:nvSpPr>
        <p:spPr>
          <a:xfrm>
            <a:off x="521208" y="448056"/>
            <a:ext cx="11010392" cy="640080"/>
          </a:xfrm>
        </p:spPr>
        <p:txBody>
          <a:bodyPr>
            <a:normAutofit fontScale="90000"/>
          </a:bodyPr>
          <a:lstStyle/>
          <a:p>
            <a:r>
              <a:rPr lang="en-US" dirty="0"/>
              <a:t>Directional BHA for 12-1/4” Production Hole Section – Typical Slant Section </a:t>
            </a:r>
            <a:endParaRPr lang="en-ID" dirty="0"/>
          </a:p>
        </p:txBody>
      </p:sp>
      <p:graphicFrame>
        <p:nvGraphicFramePr>
          <p:cNvPr id="6" name="Table 5">
            <a:extLst>
              <a:ext uri="{FF2B5EF4-FFF2-40B4-BE49-F238E27FC236}">
                <a16:creationId xmlns:a16="http://schemas.microsoft.com/office/drawing/2014/main" id="{E042B30C-3479-45F7-BDE4-87290072DF0D}"/>
              </a:ext>
            </a:extLst>
          </p:cNvPr>
          <p:cNvGraphicFramePr>
            <a:graphicFrameLocks noGrp="1"/>
          </p:cNvGraphicFramePr>
          <p:nvPr/>
        </p:nvGraphicFramePr>
        <p:xfrm>
          <a:off x="521208" y="1328420"/>
          <a:ext cx="11010391" cy="4165600"/>
        </p:xfrm>
        <a:graphic>
          <a:graphicData uri="http://schemas.openxmlformats.org/drawingml/2006/table">
            <a:tbl>
              <a:tblPr firstRow="1" bandRow="1">
                <a:tableStyleId>{5C22544A-7EE6-4342-B048-85BDC9FD1C3A}</a:tableStyleId>
              </a:tblPr>
              <a:tblGrid>
                <a:gridCol w="3999992">
                  <a:extLst>
                    <a:ext uri="{9D8B030D-6E8A-4147-A177-3AD203B41FA5}">
                      <a16:colId xmlns:a16="http://schemas.microsoft.com/office/drawing/2014/main" val="3966992619"/>
                    </a:ext>
                  </a:extLst>
                </a:gridCol>
                <a:gridCol w="2204720">
                  <a:extLst>
                    <a:ext uri="{9D8B030D-6E8A-4147-A177-3AD203B41FA5}">
                      <a16:colId xmlns:a16="http://schemas.microsoft.com/office/drawing/2014/main" val="755269528"/>
                    </a:ext>
                  </a:extLst>
                </a:gridCol>
                <a:gridCol w="4805679">
                  <a:extLst>
                    <a:ext uri="{9D8B030D-6E8A-4147-A177-3AD203B41FA5}">
                      <a16:colId xmlns:a16="http://schemas.microsoft.com/office/drawing/2014/main" val="3463410893"/>
                    </a:ext>
                  </a:extLst>
                </a:gridCol>
              </a:tblGrid>
              <a:tr h="490220">
                <a:tc>
                  <a:txBody>
                    <a:bodyPr/>
                    <a:lstStyle/>
                    <a:p>
                      <a:r>
                        <a:rPr lang="en-US" sz="3200" dirty="0"/>
                        <a:t>BHA Configuration</a:t>
                      </a:r>
                      <a:endParaRPr lang="en-ID" sz="3200" dirty="0"/>
                    </a:p>
                  </a:txBody>
                  <a:tcPr anchor="ctr"/>
                </a:tc>
                <a:tc>
                  <a:txBody>
                    <a:bodyPr/>
                    <a:lstStyle/>
                    <a:p>
                      <a:pPr algn="l"/>
                      <a:r>
                        <a:rPr lang="en-US" dirty="0"/>
                        <a:t>Parameters</a:t>
                      </a:r>
                      <a:endParaRPr lang="en-ID" dirty="0"/>
                    </a:p>
                  </a:txBody>
                  <a:tcPr anchor="ctr"/>
                </a:tc>
                <a:tc>
                  <a:txBody>
                    <a:bodyPr/>
                    <a:lstStyle/>
                    <a:p>
                      <a:pPr algn="l"/>
                      <a:r>
                        <a:rPr lang="en-US" sz="3200" dirty="0"/>
                        <a:t>12-1/4” Hole</a:t>
                      </a:r>
                      <a:endParaRPr lang="en-ID" sz="3200" dirty="0"/>
                    </a:p>
                  </a:txBody>
                  <a:tcPr anchor="ctr"/>
                </a:tc>
                <a:extLst>
                  <a:ext uri="{0D108BD9-81ED-4DB2-BD59-A6C34878D82A}">
                    <a16:rowId xmlns:a16="http://schemas.microsoft.com/office/drawing/2014/main" val="3828085553"/>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a:t>
                      </a:r>
                      <a:r>
                        <a:rPr lang="en-US" dirty="0">
                          <a:latin typeface="Franklin Gothic Book" panose="020B0503020102020204" pitchFamily="34" charset="0"/>
                        </a:rPr>
                        <a:t>½ </a:t>
                      </a:r>
                      <a:r>
                        <a:rPr lang="en-US" dirty="0">
                          <a:latin typeface="+mn-lt"/>
                        </a:rPr>
                        <a:t>MM + 8</a:t>
                      </a:r>
                      <a:r>
                        <a:rPr lang="en-US" dirty="0"/>
                        <a:t>-</a:t>
                      </a:r>
                      <a:r>
                        <a:rPr lang="en-US" dirty="0">
                          <a:latin typeface="Franklin Gothic Book" panose="020B0503020102020204" pitchFamily="34" charset="0"/>
                        </a:rPr>
                        <a:t>½ EM-</a:t>
                      </a:r>
                      <a:r>
                        <a:rPr lang="en-US" dirty="0">
                          <a:latin typeface="+mn-lt"/>
                        </a:rPr>
                        <a:t>MWD </a:t>
                      </a:r>
                      <a:endParaRPr lang="en-ID" dirty="0"/>
                    </a:p>
                  </a:txBody>
                  <a:tcPr/>
                </a:tc>
                <a:tc>
                  <a:txBody>
                    <a:bodyPr/>
                    <a:lstStyle/>
                    <a:p>
                      <a:r>
                        <a:rPr lang="en-US" dirty="0"/>
                        <a:t>Max GPM</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1200</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extLst>
                  <a:ext uri="{0D108BD9-81ED-4DB2-BD59-A6C34878D82A}">
                    <a16:rowId xmlns:a16="http://schemas.microsoft.com/office/drawing/2014/main" val="2035644798"/>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D" dirty="0"/>
                    </a:p>
                  </a:txBody>
                  <a:tcPr/>
                </a:tc>
                <a:tc>
                  <a:txBody>
                    <a:bodyPr/>
                    <a:lstStyle/>
                    <a:p>
                      <a:r>
                        <a:rPr lang="en-US" dirty="0"/>
                        <a:t>MU Time</a:t>
                      </a:r>
                      <a:endParaRPr lang="en-ID" dirty="0"/>
                    </a:p>
                  </a:txBody>
                  <a:tcPr/>
                </a:tc>
                <a:tc>
                  <a:txBody>
                    <a:bodyPr/>
                    <a:lstStyle/>
                    <a:p>
                      <a:r>
                        <a:rPr kumimoji="0" lang="en-US" sz="1800" b="0" i="0" u="none" strike="noStrike" kern="1200" cap="none" spc="0" normalizeH="0" baseline="0" noProof="0" dirty="0">
                          <a:ln>
                            <a:noFill/>
                          </a:ln>
                          <a:solidFill>
                            <a:srgbClr val="C00000"/>
                          </a:solidFill>
                          <a:effectLst/>
                          <a:uLnTx/>
                          <a:uFillTx/>
                          <a:latin typeface="Segoe UI"/>
                          <a:ea typeface="+mn-ea"/>
                          <a:cs typeface="+mn-cs"/>
                        </a:rPr>
                        <a:t>Longer</a:t>
                      </a:r>
                      <a:endParaRPr lang="en-ID" dirty="0">
                        <a:solidFill>
                          <a:srgbClr val="C00000"/>
                        </a:solidFill>
                      </a:endParaRPr>
                    </a:p>
                  </a:txBody>
                  <a:tcPr/>
                </a:tc>
                <a:extLst>
                  <a:ext uri="{0D108BD9-81ED-4DB2-BD59-A6C34878D82A}">
                    <a16:rowId xmlns:a16="http://schemas.microsoft.com/office/drawing/2014/main" val="3121085094"/>
                  </a:ext>
                </a:extLst>
              </a:tr>
              <a:tr h="370840">
                <a:tc vMerge="1">
                  <a:txBody>
                    <a:bodyPr/>
                    <a:lstStyle/>
                    <a:p>
                      <a:endParaRPr lang="en-ID" dirty="0"/>
                    </a:p>
                  </a:txBody>
                  <a:tcPr/>
                </a:tc>
                <a:tc>
                  <a:txBody>
                    <a:bodyPr/>
                    <a:lstStyle/>
                    <a:p>
                      <a:r>
                        <a:rPr lang="en-US" dirty="0"/>
                        <a:t>Weakness</a:t>
                      </a:r>
                      <a:endParaRPr lang="en-ID" dirty="0"/>
                    </a:p>
                  </a:txBody>
                  <a:tcPr/>
                </a:tc>
                <a:tc>
                  <a:txBody>
                    <a:bodyPr/>
                    <a:lstStyle/>
                    <a:p>
                      <a:r>
                        <a:rPr lang="en-US" dirty="0"/>
                        <a:t>9-</a:t>
                      </a:r>
                      <a:r>
                        <a:rPr lang="en-US" dirty="0">
                          <a:latin typeface="Franklin Gothic Book" panose="020B0503020102020204" pitchFamily="34" charset="0"/>
                        </a:rPr>
                        <a:t>½ </a:t>
                      </a:r>
                      <a:r>
                        <a:rPr lang="en-US" dirty="0">
                          <a:latin typeface="+mn-lt"/>
                        </a:rPr>
                        <a:t>MM usually had 7-5/8” Reg Box Down. Need X/O or special design with 6-5/8” REG Box down to meet with 12-</a:t>
                      </a:r>
                      <a:r>
                        <a:rPr lang="en-US" dirty="0">
                          <a:latin typeface="Franklin Gothic Book" panose="020B0503020102020204" pitchFamily="34" charset="0"/>
                        </a:rPr>
                        <a:t>¼ Bit Connection</a:t>
                      </a:r>
                      <a:endParaRPr lang="en-ID" dirty="0"/>
                    </a:p>
                  </a:txBody>
                  <a:tcPr/>
                </a:tc>
                <a:extLst>
                  <a:ext uri="{0D108BD9-81ED-4DB2-BD59-A6C34878D82A}">
                    <a16:rowId xmlns:a16="http://schemas.microsoft.com/office/drawing/2014/main" val="3057981749"/>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a:t>
                      </a:r>
                      <a:r>
                        <a:rPr lang="en-US" dirty="0">
                          <a:latin typeface="Franklin Gothic Book" panose="020B0503020102020204" pitchFamily="34" charset="0"/>
                        </a:rPr>
                        <a:t>½ </a:t>
                      </a:r>
                      <a:r>
                        <a:rPr lang="en-US" dirty="0">
                          <a:latin typeface="+mn-lt"/>
                        </a:rPr>
                        <a:t>MM + 8</a:t>
                      </a:r>
                      <a:r>
                        <a:rPr lang="en-US" dirty="0"/>
                        <a:t>-</a:t>
                      </a:r>
                      <a:r>
                        <a:rPr lang="en-US" dirty="0">
                          <a:latin typeface="Franklin Gothic Book" panose="020B0503020102020204" pitchFamily="34" charset="0"/>
                        </a:rPr>
                        <a:t>½ EM-</a:t>
                      </a:r>
                      <a:r>
                        <a:rPr lang="en-US" dirty="0">
                          <a:latin typeface="+mn-lt"/>
                        </a:rPr>
                        <a:t>MWD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C00000"/>
                          </a:solidFill>
                          <a:latin typeface="+mn-lt"/>
                        </a:rPr>
                        <a:t>Motor Bend: 0˚ – 0.78˚</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latin typeface="+mn-lt"/>
                        </a:rPr>
                        <a:t>              VS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mn-lt"/>
                        </a:rPr>
                        <a:t>Motor Bend: 1.15˚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D" dirty="0"/>
                    </a:p>
                  </a:txBody>
                  <a:tcPr/>
                </a:tc>
                <a:tc>
                  <a:txBody>
                    <a:bodyPr/>
                    <a:lstStyle/>
                    <a:p>
                      <a:r>
                        <a:rPr lang="en-US" dirty="0"/>
                        <a:t>Max GPM</a:t>
                      </a:r>
                      <a:endParaRPr lang="en-ID" dirty="0"/>
                    </a:p>
                  </a:txBody>
                  <a:tcPr/>
                </a:tc>
                <a:tc>
                  <a:txBody>
                    <a:bodyPr/>
                    <a:lstStyle/>
                    <a:p>
                      <a:r>
                        <a:rPr lang="en-US" dirty="0"/>
                        <a:t>900</a:t>
                      </a:r>
                      <a:endParaRPr lang="en-ID" dirty="0"/>
                    </a:p>
                  </a:txBody>
                  <a:tcPr/>
                </a:tc>
                <a:extLst>
                  <a:ext uri="{0D108BD9-81ED-4DB2-BD59-A6C34878D82A}">
                    <a16:rowId xmlns:a16="http://schemas.microsoft.com/office/drawing/2014/main" val="1068485535"/>
                  </a:ext>
                </a:extLst>
              </a:tr>
              <a:tr h="370840">
                <a:tc vMerge="1">
                  <a:txBody>
                    <a:bodyPr/>
                    <a:lstStyle/>
                    <a:p>
                      <a:endParaRPr lang="en-ID" dirty="0"/>
                    </a:p>
                  </a:txBody>
                  <a:tcPr/>
                </a:tc>
                <a:tc>
                  <a:txBody>
                    <a:bodyPr/>
                    <a:lstStyle/>
                    <a:p>
                      <a:r>
                        <a:rPr lang="en-US" dirty="0"/>
                        <a:t>MU Time</a:t>
                      </a:r>
                      <a:endParaRPr lang="en-ID"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Segoe UI"/>
                          <a:ea typeface="+mn-ea"/>
                          <a:cs typeface="+mn-cs"/>
                        </a:rPr>
                        <a:t>Faster</a:t>
                      </a:r>
                      <a:endParaRPr lang="en-ID" dirty="0"/>
                    </a:p>
                  </a:txBody>
                  <a:tcPr/>
                </a:tc>
                <a:extLst>
                  <a:ext uri="{0D108BD9-81ED-4DB2-BD59-A6C34878D82A}">
                    <a16:rowId xmlns:a16="http://schemas.microsoft.com/office/drawing/2014/main" val="620809419"/>
                  </a:ext>
                </a:extLst>
              </a:tr>
              <a:tr h="370840">
                <a:tc vMerge="1">
                  <a:txBody>
                    <a:bodyPr/>
                    <a:lstStyle/>
                    <a:p>
                      <a:endParaRPr lang="en-ID" dirty="0"/>
                    </a:p>
                  </a:txBody>
                  <a:tcPr/>
                </a:tc>
                <a:tc>
                  <a:txBody>
                    <a:bodyPr/>
                    <a:lstStyle/>
                    <a:p>
                      <a:r>
                        <a:rPr lang="en-US" dirty="0"/>
                        <a:t>Directional Control</a:t>
                      </a:r>
                      <a:endParaRPr lang="en-ID"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latin typeface="+mn-lt"/>
                        </a:rPr>
                        <a:t>Recommend to use Motor Bend: 1.15˚: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mn-lt"/>
                        </a:rPr>
                        <a:t>Less sliding length if any correction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mn-lt"/>
                        </a:rPr>
                        <a:t>Enlarge the 12-</a:t>
                      </a:r>
                      <a:r>
                        <a:rPr lang="en-US" dirty="0">
                          <a:latin typeface="Franklin Gothic Book" panose="020B0503020102020204" pitchFamily="34" charset="0"/>
                        </a:rPr>
                        <a:t>¼ </a:t>
                      </a:r>
                      <a:r>
                        <a:rPr lang="en-US" dirty="0">
                          <a:latin typeface="Franklin Gothic Book" panose="020B0503020102020204" pitchFamily="34" charset="0"/>
                          <a:sym typeface="Wingdings" panose="05000000000000000000" pitchFamily="2" charset="2"/>
                        </a:rPr>
                        <a:t> easier to run 10-¾” casing with Special Clearance Coupling</a:t>
                      </a:r>
                      <a:endParaRPr lang="en-ID" dirty="0"/>
                    </a:p>
                  </a:txBody>
                  <a:tcPr/>
                </a:tc>
                <a:extLst>
                  <a:ext uri="{0D108BD9-81ED-4DB2-BD59-A6C34878D82A}">
                    <a16:rowId xmlns:a16="http://schemas.microsoft.com/office/drawing/2014/main" val="1641158757"/>
                  </a:ext>
                </a:extLst>
              </a:tr>
            </a:tbl>
          </a:graphicData>
        </a:graphic>
      </p:graphicFrame>
      <p:sp>
        <p:nvSpPr>
          <p:cNvPr id="7" name="Circle: Hollow 6">
            <a:extLst>
              <a:ext uri="{FF2B5EF4-FFF2-40B4-BE49-F238E27FC236}">
                <a16:creationId xmlns:a16="http://schemas.microsoft.com/office/drawing/2014/main" id="{2AC01B9D-49C0-442E-A87E-449812BD2E55}"/>
              </a:ext>
            </a:extLst>
          </p:cNvPr>
          <p:cNvSpPr/>
          <p:nvPr/>
        </p:nvSpPr>
        <p:spPr>
          <a:xfrm>
            <a:off x="7010400" y="5612384"/>
            <a:ext cx="1008000" cy="1008000"/>
          </a:xfrm>
          <a:prstGeom prst="donut">
            <a:avLst>
              <a:gd name="adj" fmla="val 60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8" name="Oval 7">
            <a:extLst>
              <a:ext uri="{FF2B5EF4-FFF2-40B4-BE49-F238E27FC236}">
                <a16:creationId xmlns:a16="http://schemas.microsoft.com/office/drawing/2014/main" id="{C0639A7E-B9F4-4F34-9527-024AB3CE239B}"/>
              </a:ext>
            </a:extLst>
          </p:cNvPr>
          <p:cNvSpPr/>
          <p:nvPr/>
        </p:nvSpPr>
        <p:spPr>
          <a:xfrm>
            <a:off x="6974400" y="5576384"/>
            <a:ext cx="1080000" cy="1080000"/>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TextBox 8">
            <a:extLst>
              <a:ext uri="{FF2B5EF4-FFF2-40B4-BE49-F238E27FC236}">
                <a16:creationId xmlns:a16="http://schemas.microsoft.com/office/drawing/2014/main" id="{8D6D0136-6603-4BC0-9FD7-08C440A6EDD4}"/>
              </a:ext>
            </a:extLst>
          </p:cNvPr>
          <p:cNvSpPr txBox="1"/>
          <p:nvPr/>
        </p:nvSpPr>
        <p:spPr>
          <a:xfrm>
            <a:off x="8090400" y="5612384"/>
            <a:ext cx="3972560" cy="923330"/>
          </a:xfrm>
          <a:prstGeom prst="rect">
            <a:avLst/>
          </a:prstGeom>
          <a:noFill/>
        </p:spPr>
        <p:txBody>
          <a:bodyPr wrap="square" rtlCol="0">
            <a:spAutoFit/>
          </a:bodyPr>
          <a:lstStyle/>
          <a:p>
            <a:r>
              <a:rPr lang="en-US" dirty="0"/>
              <a:t>Hole: </a:t>
            </a:r>
            <a:r>
              <a:rPr lang="en-US" dirty="0">
                <a:latin typeface="+mn-lt"/>
              </a:rPr>
              <a:t>12-</a:t>
            </a:r>
            <a:r>
              <a:rPr lang="en-US" dirty="0">
                <a:latin typeface="Franklin Gothic Book" panose="020B0503020102020204" pitchFamily="34" charset="0"/>
              </a:rPr>
              <a:t>¼ </a:t>
            </a:r>
          </a:p>
          <a:p>
            <a:r>
              <a:rPr lang="en-US" dirty="0">
                <a:latin typeface="Franklin Gothic Book" panose="020B0503020102020204" pitchFamily="34" charset="0"/>
              </a:rPr>
              <a:t>SCC Coupling: </a:t>
            </a:r>
            <a:r>
              <a:rPr lang="en-US" dirty="0">
                <a:latin typeface="+mn-lt"/>
              </a:rPr>
              <a:t>11-</a:t>
            </a:r>
            <a:r>
              <a:rPr lang="en-US" dirty="0">
                <a:latin typeface="Franklin Gothic Book" panose="020B0503020102020204" pitchFamily="34" charset="0"/>
              </a:rPr>
              <a:t>¼</a:t>
            </a:r>
          </a:p>
          <a:p>
            <a:r>
              <a:rPr lang="en-US" dirty="0">
                <a:highlight>
                  <a:srgbClr val="FFCC66"/>
                </a:highlight>
                <a:latin typeface="Franklin Gothic Book" panose="020B0503020102020204" pitchFamily="34" charset="0"/>
              </a:rPr>
              <a:t>Hole vs SCC Coupling Clearance: ½”  </a:t>
            </a:r>
            <a:endParaRPr lang="en-ID" dirty="0">
              <a:highlight>
                <a:srgbClr val="FFCC66"/>
              </a:highlight>
            </a:endParaRPr>
          </a:p>
        </p:txBody>
      </p:sp>
      <p:sp>
        <p:nvSpPr>
          <p:cNvPr id="10" name="TextBox 9">
            <a:extLst>
              <a:ext uri="{FF2B5EF4-FFF2-40B4-BE49-F238E27FC236}">
                <a16:creationId xmlns:a16="http://schemas.microsoft.com/office/drawing/2014/main" id="{C36AA3D2-E5D5-48F9-B3B6-8C8392FE9923}"/>
              </a:ext>
            </a:extLst>
          </p:cNvPr>
          <p:cNvSpPr txBox="1"/>
          <p:nvPr/>
        </p:nvSpPr>
        <p:spPr>
          <a:xfrm>
            <a:off x="429760" y="5576384"/>
            <a:ext cx="6544640" cy="923330"/>
          </a:xfrm>
          <a:prstGeom prst="rect">
            <a:avLst/>
          </a:prstGeom>
          <a:noFill/>
        </p:spPr>
        <p:txBody>
          <a:bodyPr wrap="square" rtlCol="0">
            <a:spAutoFit/>
          </a:bodyPr>
          <a:lstStyle/>
          <a:p>
            <a:r>
              <a:rPr lang="en-US" dirty="0">
                <a:highlight>
                  <a:srgbClr val="FFCC66"/>
                </a:highlight>
                <a:latin typeface="Franklin Gothic Book" panose="020B0503020102020204" pitchFamily="34" charset="0"/>
              </a:rPr>
              <a:t>Potential NPT:</a:t>
            </a:r>
          </a:p>
          <a:p>
            <a:pPr marL="285750" indent="-285750">
              <a:buFont typeface="Arial" panose="020B0604020202020204" pitchFamily="34" charset="0"/>
              <a:buChar char="•"/>
            </a:pPr>
            <a:r>
              <a:rPr lang="en-US" dirty="0">
                <a:highlight>
                  <a:srgbClr val="FFCC66"/>
                </a:highlight>
                <a:latin typeface="Franklin Gothic Book" panose="020B0503020102020204" pitchFamily="34" charset="0"/>
              </a:rPr>
              <a:t>Run Push BHA, </a:t>
            </a:r>
            <a:r>
              <a:rPr lang="en-US" dirty="0" err="1">
                <a:highlight>
                  <a:srgbClr val="FFCC66"/>
                </a:highlight>
                <a:latin typeface="Franklin Gothic Book" panose="020B0503020102020204" pitchFamily="34" charset="0"/>
              </a:rPr>
              <a:t>drillout</a:t>
            </a:r>
            <a:r>
              <a:rPr lang="en-US" dirty="0">
                <a:highlight>
                  <a:srgbClr val="FFCC66"/>
                </a:highlight>
                <a:latin typeface="Franklin Gothic Book" panose="020B0503020102020204" pitchFamily="34" charset="0"/>
              </a:rPr>
              <a:t> shoe and push Liner to bottom, POOH</a:t>
            </a:r>
          </a:p>
          <a:p>
            <a:pPr marL="285750" indent="-285750">
              <a:buFont typeface="Arial" panose="020B0604020202020204" pitchFamily="34" charset="0"/>
              <a:buChar char="•"/>
            </a:pPr>
            <a:r>
              <a:rPr lang="en-US" dirty="0">
                <a:highlight>
                  <a:srgbClr val="FFCC66"/>
                </a:highlight>
                <a:latin typeface="Franklin Gothic Book" panose="020B0503020102020204" pitchFamily="34" charset="0"/>
              </a:rPr>
              <a:t>Estimated NPT = 1 day</a:t>
            </a:r>
            <a:r>
              <a:rPr lang="en-ID" dirty="0">
                <a:highlight>
                  <a:srgbClr val="FFCC66"/>
                </a:highlight>
                <a:latin typeface="Franklin Gothic Book" panose="020B0503020102020204" pitchFamily="34" charset="0"/>
              </a:rPr>
              <a:t> = USD 70K</a:t>
            </a:r>
            <a:endParaRPr lang="en-US" dirty="0">
              <a:highlight>
                <a:srgbClr val="FFCC66"/>
              </a:highlight>
              <a:latin typeface="Franklin Gothic Book" panose="020B0503020102020204" pitchFamily="34" charset="0"/>
            </a:endParaRPr>
          </a:p>
        </p:txBody>
      </p:sp>
    </p:spTree>
    <p:extLst>
      <p:ext uri="{BB962C8B-B14F-4D97-AF65-F5344CB8AC3E}">
        <p14:creationId xmlns:p14="http://schemas.microsoft.com/office/powerpoint/2010/main" val="14236465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075D-D150-453E-9700-0B5B2E81C7FF}"/>
              </a:ext>
            </a:extLst>
          </p:cNvPr>
          <p:cNvSpPr>
            <a:spLocks noGrp="1"/>
          </p:cNvSpPr>
          <p:nvPr>
            <p:ph type="title"/>
          </p:nvPr>
        </p:nvSpPr>
        <p:spPr>
          <a:xfrm>
            <a:off x="521208" y="448056"/>
            <a:ext cx="8665322" cy="640080"/>
          </a:xfrm>
        </p:spPr>
        <p:txBody>
          <a:bodyPr>
            <a:normAutofit/>
          </a:bodyPr>
          <a:lstStyle/>
          <a:p>
            <a:r>
              <a:rPr lang="en-US" sz="3200" b="1" dirty="0">
                <a:solidFill>
                  <a:srgbClr val="C00000"/>
                </a:solidFill>
              </a:rPr>
              <a:t>Hole Size vs Mud Motor and MWD Size Selection</a:t>
            </a:r>
            <a:endParaRPr lang="en-GB" sz="3200" b="1" dirty="0">
              <a:solidFill>
                <a:srgbClr val="C00000"/>
              </a:solidFill>
            </a:endParaRPr>
          </a:p>
        </p:txBody>
      </p:sp>
      <p:pic>
        <p:nvPicPr>
          <p:cNvPr id="4" name="Picture 3">
            <a:extLst>
              <a:ext uri="{FF2B5EF4-FFF2-40B4-BE49-F238E27FC236}">
                <a16:creationId xmlns:a16="http://schemas.microsoft.com/office/drawing/2014/main" id="{BE6DBB0D-5E77-4CB8-4A37-FFC2CB700F77}"/>
              </a:ext>
            </a:extLst>
          </p:cNvPr>
          <p:cNvPicPr>
            <a:picLocks noChangeAspect="1"/>
          </p:cNvPicPr>
          <p:nvPr/>
        </p:nvPicPr>
        <p:blipFill>
          <a:blip r:embed="rId2"/>
          <a:stretch>
            <a:fillRect/>
          </a:stretch>
        </p:blipFill>
        <p:spPr>
          <a:xfrm>
            <a:off x="31900" y="1241167"/>
            <a:ext cx="8665322" cy="3329655"/>
          </a:xfrm>
          <a:prstGeom prst="rect">
            <a:avLst/>
          </a:prstGeom>
        </p:spPr>
      </p:pic>
      <p:pic>
        <p:nvPicPr>
          <p:cNvPr id="14" name="Picture 13">
            <a:extLst>
              <a:ext uri="{FF2B5EF4-FFF2-40B4-BE49-F238E27FC236}">
                <a16:creationId xmlns:a16="http://schemas.microsoft.com/office/drawing/2014/main" id="{2C12F2E0-C5AF-A5F6-FAE4-E11964F4CA67}"/>
              </a:ext>
            </a:extLst>
          </p:cNvPr>
          <p:cNvPicPr>
            <a:picLocks noChangeAspect="1"/>
          </p:cNvPicPr>
          <p:nvPr/>
        </p:nvPicPr>
        <p:blipFill>
          <a:blip r:embed="rId3"/>
          <a:stretch>
            <a:fillRect/>
          </a:stretch>
        </p:blipFill>
        <p:spPr>
          <a:xfrm>
            <a:off x="8780218" y="0"/>
            <a:ext cx="3541648" cy="6858000"/>
          </a:xfrm>
          <a:prstGeom prst="rect">
            <a:avLst/>
          </a:prstGeom>
        </p:spPr>
      </p:pic>
      <p:cxnSp>
        <p:nvCxnSpPr>
          <p:cNvPr id="11" name="Straight Arrow Connector 10">
            <a:extLst>
              <a:ext uri="{FF2B5EF4-FFF2-40B4-BE49-F238E27FC236}">
                <a16:creationId xmlns:a16="http://schemas.microsoft.com/office/drawing/2014/main" id="{DB35EDE0-6FE4-7AB1-D080-81613FC6E5EE}"/>
              </a:ext>
            </a:extLst>
          </p:cNvPr>
          <p:cNvCxnSpPr>
            <a:cxnSpLocks/>
          </p:cNvCxnSpPr>
          <p:nvPr/>
        </p:nvCxnSpPr>
        <p:spPr>
          <a:xfrm>
            <a:off x="9335593" y="1546151"/>
            <a:ext cx="0" cy="5035402"/>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52EF7F1-3456-9C69-2910-F0A2D34F5199}"/>
              </a:ext>
            </a:extLst>
          </p:cNvPr>
          <p:cNvSpPr txBox="1"/>
          <p:nvPr/>
        </p:nvSpPr>
        <p:spPr>
          <a:xfrm>
            <a:off x="2697676" y="4369160"/>
            <a:ext cx="6305380" cy="707886"/>
          </a:xfrm>
          <a:prstGeom prst="rect">
            <a:avLst/>
          </a:prstGeom>
          <a:noFill/>
        </p:spPr>
        <p:txBody>
          <a:bodyPr wrap="none" rtlCol="0">
            <a:spAutoFit/>
          </a:bodyPr>
          <a:lstStyle/>
          <a:p>
            <a:r>
              <a:rPr lang="en-US" sz="2000" dirty="0">
                <a:highlight>
                  <a:srgbClr val="FFFF00"/>
                </a:highlight>
              </a:rPr>
              <a:t>Longer MM + MWD </a:t>
            </a:r>
            <a:r>
              <a:rPr lang="en-US" sz="2000" dirty="0">
                <a:highlight>
                  <a:srgbClr val="FFFF00"/>
                </a:highlight>
                <a:sym typeface="Wingdings" panose="05000000000000000000" pitchFamily="2" charset="2"/>
              </a:rPr>
              <a:t> Longer tight clearance interval</a:t>
            </a:r>
          </a:p>
          <a:p>
            <a:r>
              <a:rPr lang="en-US" sz="2000" dirty="0">
                <a:highlight>
                  <a:srgbClr val="FFFF00"/>
                </a:highlight>
                <a:sym typeface="Wingdings" panose="05000000000000000000" pitchFamily="2" charset="2"/>
              </a:rPr>
              <a:t> risk of stuck pipe</a:t>
            </a:r>
            <a:endParaRPr lang="en-ID" sz="2000" dirty="0">
              <a:highlight>
                <a:srgbClr val="FFFF00"/>
              </a:highlight>
            </a:endParaRPr>
          </a:p>
        </p:txBody>
      </p:sp>
      <p:cxnSp>
        <p:nvCxnSpPr>
          <p:cNvPr id="16" name="Straight Arrow Connector 15">
            <a:extLst>
              <a:ext uri="{FF2B5EF4-FFF2-40B4-BE49-F238E27FC236}">
                <a16:creationId xmlns:a16="http://schemas.microsoft.com/office/drawing/2014/main" id="{8A3F3F75-CB18-8C93-9A9C-BF6855057877}"/>
              </a:ext>
            </a:extLst>
          </p:cNvPr>
          <p:cNvCxnSpPr>
            <a:cxnSpLocks/>
          </p:cNvCxnSpPr>
          <p:nvPr/>
        </p:nvCxnSpPr>
        <p:spPr>
          <a:xfrm>
            <a:off x="11710198" y="3572540"/>
            <a:ext cx="0" cy="3009013"/>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35244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075D-D150-453E-9700-0B5B2E81C7FF}"/>
              </a:ext>
            </a:extLst>
          </p:cNvPr>
          <p:cNvSpPr>
            <a:spLocks noGrp="1"/>
          </p:cNvSpPr>
          <p:nvPr>
            <p:ph type="title"/>
          </p:nvPr>
        </p:nvSpPr>
        <p:spPr/>
        <p:txBody>
          <a:bodyPr>
            <a:normAutofit/>
          </a:bodyPr>
          <a:lstStyle/>
          <a:p>
            <a:r>
              <a:rPr lang="en-US" sz="3200" b="1" dirty="0">
                <a:solidFill>
                  <a:srgbClr val="C00000"/>
                </a:solidFill>
              </a:rPr>
              <a:t>Mud Motor and MWD Size Selection</a:t>
            </a:r>
            <a:endParaRPr lang="en-GB" sz="3200" b="1" dirty="0">
              <a:solidFill>
                <a:srgbClr val="C00000"/>
              </a:solidFill>
            </a:endParaRPr>
          </a:p>
        </p:txBody>
      </p:sp>
      <p:graphicFrame>
        <p:nvGraphicFramePr>
          <p:cNvPr id="4" name="Table 4">
            <a:extLst>
              <a:ext uri="{FF2B5EF4-FFF2-40B4-BE49-F238E27FC236}">
                <a16:creationId xmlns:a16="http://schemas.microsoft.com/office/drawing/2014/main" id="{4179045B-B5F3-46C7-992B-856EFCF71666}"/>
              </a:ext>
            </a:extLst>
          </p:cNvPr>
          <p:cNvGraphicFramePr>
            <a:graphicFrameLocks noGrp="1"/>
          </p:cNvGraphicFramePr>
          <p:nvPr>
            <p:extLst>
              <p:ext uri="{D42A27DB-BD31-4B8C-83A1-F6EECF244321}">
                <p14:modId xmlns:p14="http://schemas.microsoft.com/office/powerpoint/2010/main" val="2550958703"/>
              </p:ext>
            </p:extLst>
          </p:nvPr>
        </p:nvGraphicFramePr>
        <p:xfrm>
          <a:off x="333627" y="1259840"/>
          <a:ext cx="7576996" cy="4739640"/>
        </p:xfrm>
        <a:graphic>
          <a:graphicData uri="http://schemas.openxmlformats.org/drawingml/2006/table">
            <a:tbl>
              <a:tblPr firstRow="1" bandRow="1">
                <a:tableStyleId>{5C22544A-7EE6-4342-B048-85BDC9FD1C3A}</a:tableStyleId>
              </a:tblPr>
              <a:tblGrid>
                <a:gridCol w="2886006">
                  <a:extLst>
                    <a:ext uri="{9D8B030D-6E8A-4147-A177-3AD203B41FA5}">
                      <a16:colId xmlns:a16="http://schemas.microsoft.com/office/drawing/2014/main" val="2470255297"/>
                    </a:ext>
                  </a:extLst>
                </a:gridCol>
                <a:gridCol w="2124425">
                  <a:extLst>
                    <a:ext uri="{9D8B030D-6E8A-4147-A177-3AD203B41FA5}">
                      <a16:colId xmlns:a16="http://schemas.microsoft.com/office/drawing/2014/main" val="3183955609"/>
                    </a:ext>
                  </a:extLst>
                </a:gridCol>
                <a:gridCol w="1290658">
                  <a:extLst>
                    <a:ext uri="{9D8B030D-6E8A-4147-A177-3AD203B41FA5}">
                      <a16:colId xmlns:a16="http://schemas.microsoft.com/office/drawing/2014/main" val="29615349"/>
                    </a:ext>
                  </a:extLst>
                </a:gridCol>
                <a:gridCol w="1275907">
                  <a:extLst>
                    <a:ext uri="{9D8B030D-6E8A-4147-A177-3AD203B41FA5}">
                      <a16:colId xmlns:a16="http://schemas.microsoft.com/office/drawing/2014/main" val="4058388589"/>
                    </a:ext>
                  </a:extLst>
                </a:gridCol>
              </a:tblGrid>
              <a:tr h="1402080">
                <a:tc>
                  <a:txBody>
                    <a:bodyPr/>
                    <a:lstStyle/>
                    <a:p>
                      <a:r>
                        <a:rPr lang="en-US" sz="2800" dirty="0"/>
                        <a:t>BHA Configuration</a:t>
                      </a:r>
                      <a:endParaRPr lang="en-ID" sz="2800" dirty="0"/>
                    </a:p>
                  </a:txBody>
                  <a:tcPr anchor="ctr"/>
                </a:tc>
                <a:tc>
                  <a:txBody>
                    <a:bodyPr/>
                    <a:lstStyle/>
                    <a:p>
                      <a:pPr algn="l"/>
                      <a:r>
                        <a:rPr lang="en-US" dirty="0"/>
                        <a:t>Parameters</a:t>
                      </a:r>
                      <a:endParaRPr lang="en-ID" dirty="0"/>
                    </a:p>
                  </a:txBody>
                  <a:tcPr vert="vert" anchor="ctr"/>
                </a:tc>
                <a:tc>
                  <a:txBody>
                    <a:bodyPr/>
                    <a:lstStyle/>
                    <a:p>
                      <a:pPr algn="l"/>
                      <a:r>
                        <a:rPr lang="en-US" dirty="0"/>
                        <a:t>9-7/8” Hole</a:t>
                      </a:r>
                      <a:endParaRPr lang="en-ID" dirty="0"/>
                    </a:p>
                  </a:txBody>
                  <a:tcPr vert="vert" anchor="ctr"/>
                </a:tc>
                <a:tc>
                  <a:txBody>
                    <a:bodyPr/>
                    <a:lstStyle/>
                    <a:p>
                      <a:pPr algn="l"/>
                      <a:r>
                        <a:rPr lang="en-US" dirty="0"/>
                        <a:t>7-7/8” Hole</a:t>
                      </a:r>
                      <a:endParaRPr lang="en-ID" dirty="0"/>
                    </a:p>
                  </a:txBody>
                  <a:tcPr vert="vert" anchor="ctr"/>
                </a:tc>
                <a:extLst>
                  <a:ext uri="{0D108BD9-81ED-4DB2-BD59-A6C34878D82A}">
                    <a16:rowId xmlns:a16="http://schemas.microsoft.com/office/drawing/2014/main" val="450367371"/>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a:t>
                      </a:r>
                      <a:r>
                        <a:rPr lang="en-US" dirty="0">
                          <a:latin typeface="Franklin Gothic Book" panose="020B0503020102020204" pitchFamily="34" charset="0"/>
                        </a:rPr>
                        <a:t>½ </a:t>
                      </a:r>
                      <a:r>
                        <a:rPr lang="en-US" dirty="0">
                          <a:latin typeface="+mn-lt"/>
                        </a:rPr>
                        <a:t>MM + 8</a:t>
                      </a:r>
                      <a:r>
                        <a:rPr lang="en-US" dirty="0"/>
                        <a:t>-</a:t>
                      </a:r>
                      <a:r>
                        <a:rPr lang="en-US" dirty="0">
                          <a:latin typeface="Franklin Gothic Book" panose="020B0503020102020204" pitchFamily="34" charset="0"/>
                        </a:rPr>
                        <a:t>½ EM-</a:t>
                      </a:r>
                      <a:r>
                        <a:rPr lang="en-US" dirty="0">
                          <a:latin typeface="+mn-lt"/>
                        </a:rPr>
                        <a:t>MWD </a:t>
                      </a:r>
                      <a:endParaRPr lang="en-ID" dirty="0"/>
                    </a:p>
                  </a:txBody>
                  <a:tcPr/>
                </a:tc>
                <a:tc>
                  <a:txBody>
                    <a:bodyPr/>
                    <a:lstStyle/>
                    <a:p>
                      <a:r>
                        <a:rPr lang="en-US" dirty="0"/>
                        <a:t>Max GPM</a:t>
                      </a:r>
                      <a:endParaRPr lang="en-ID" dirty="0"/>
                    </a:p>
                  </a:txBody>
                  <a:tcPr/>
                </a:tc>
                <a:tc>
                  <a:txBody>
                    <a:bodyPr/>
                    <a:lstStyle/>
                    <a:p>
                      <a:r>
                        <a:rPr lang="en-US" dirty="0"/>
                        <a:t>900</a:t>
                      </a:r>
                      <a:endParaRPr lang="en-ID" dirty="0"/>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rPr>
                        <a:t>Not Applicable</a:t>
                      </a:r>
                      <a:endParaRPr kumimoji="0" lang="en-ID" sz="1800" b="0" i="0" u="none" strike="noStrike" kern="1200" cap="none" spc="0" normalizeH="0" baseline="0" noProof="0" dirty="0">
                        <a:ln>
                          <a:noFill/>
                        </a:ln>
                        <a:solidFill>
                          <a:prstClr val="black"/>
                        </a:solidFill>
                        <a:effectLst/>
                        <a:uLnTx/>
                        <a:uFillTx/>
                        <a:latin typeface="Segoe UI"/>
                        <a:ea typeface="+mn-ea"/>
                        <a:cs typeface="+mn-cs"/>
                      </a:endParaRPr>
                    </a:p>
                  </a:txBody>
                  <a:tcPr/>
                </a:tc>
                <a:extLst>
                  <a:ext uri="{0D108BD9-81ED-4DB2-BD59-A6C34878D82A}">
                    <a16:rowId xmlns:a16="http://schemas.microsoft.com/office/drawing/2014/main" val="1637218516"/>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D" dirty="0"/>
                    </a:p>
                  </a:txBody>
                  <a:tcPr/>
                </a:tc>
                <a:tc>
                  <a:txBody>
                    <a:bodyPr/>
                    <a:lstStyle/>
                    <a:p>
                      <a:r>
                        <a:rPr lang="en-US" dirty="0"/>
                        <a:t>MU Time</a:t>
                      </a:r>
                      <a:endParaRPr lang="en-ID" dirty="0"/>
                    </a:p>
                  </a:txBody>
                  <a:tcPr/>
                </a:tc>
                <a:tc>
                  <a:txBody>
                    <a:bodyPr/>
                    <a:lstStyle/>
                    <a:p>
                      <a:r>
                        <a:rPr lang="en-US" dirty="0">
                          <a:solidFill>
                            <a:srgbClr val="C00000"/>
                          </a:solidFill>
                        </a:rPr>
                        <a:t>Longer</a:t>
                      </a:r>
                      <a:endParaRPr lang="en-ID" dirty="0">
                        <a:solidFill>
                          <a:srgbClr val="C00000"/>
                        </a:solidFill>
                      </a:endParaRPr>
                    </a:p>
                  </a:txBody>
                  <a:tcPr/>
                </a:tc>
                <a:tc vMerge="1">
                  <a:txBody>
                    <a:bodyPr/>
                    <a:lstStyle/>
                    <a:p>
                      <a:endParaRPr lang="en-ID" dirty="0">
                        <a:solidFill>
                          <a:srgbClr val="C00000"/>
                        </a:solidFill>
                      </a:endParaRPr>
                    </a:p>
                  </a:txBody>
                  <a:tcPr/>
                </a:tc>
                <a:extLst>
                  <a:ext uri="{0D108BD9-81ED-4DB2-BD59-A6C34878D82A}">
                    <a16:rowId xmlns:a16="http://schemas.microsoft.com/office/drawing/2014/main" val="1089692691"/>
                  </a:ext>
                </a:extLst>
              </a:tr>
              <a:tr h="370840">
                <a:tc vMerge="1">
                  <a:txBody>
                    <a:bodyPr/>
                    <a:lstStyle/>
                    <a:p>
                      <a:endParaRPr lang="en-ID" dirty="0"/>
                    </a:p>
                  </a:txBody>
                  <a:tcPr/>
                </a:tc>
                <a:tc>
                  <a:txBody>
                    <a:bodyPr/>
                    <a:lstStyle/>
                    <a:p>
                      <a:r>
                        <a:rPr lang="en-US" dirty="0"/>
                        <a:t>Directional Control</a:t>
                      </a:r>
                      <a:endParaRPr lang="en-ID" dirty="0"/>
                    </a:p>
                  </a:txBody>
                  <a:tcPr/>
                </a:tc>
                <a:tc>
                  <a:txBody>
                    <a:bodyPr/>
                    <a:lstStyle/>
                    <a:p>
                      <a:r>
                        <a:rPr lang="en-US" dirty="0"/>
                        <a:t>Good</a:t>
                      </a:r>
                      <a:endParaRPr lang="en-ID" dirty="0"/>
                    </a:p>
                  </a:txBody>
                  <a:tcPr/>
                </a:tc>
                <a:tc vMerge="1">
                  <a:txBody>
                    <a:bodyPr/>
                    <a:lstStyle/>
                    <a:p>
                      <a:endParaRPr lang="en-ID" dirty="0"/>
                    </a:p>
                  </a:txBody>
                  <a:tcPr/>
                </a:tc>
                <a:extLst>
                  <a:ext uri="{0D108BD9-81ED-4DB2-BD59-A6C34878D82A}">
                    <a16:rowId xmlns:a16="http://schemas.microsoft.com/office/drawing/2014/main" val="673119224"/>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a:t>
                      </a:r>
                      <a:r>
                        <a:rPr lang="en-US" dirty="0">
                          <a:latin typeface="Franklin Gothic Book" panose="020B0503020102020204" pitchFamily="34" charset="0"/>
                        </a:rPr>
                        <a:t>½ </a:t>
                      </a:r>
                      <a:r>
                        <a:rPr lang="en-US" dirty="0">
                          <a:latin typeface="+mn-lt"/>
                        </a:rPr>
                        <a:t>MM + 6</a:t>
                      </a:r>
                      <a:r>
                        <a:rPr lang="en-US" dirty="0"/>
                        <a:t>-</a:t>
                      </a:r>
                      <a:r>
                        <a:rPr lang="en-US" dirty="0">
                          <a:latin typeface="Franklin Gothic Book" panose="020B0503020102020204" pitchFamily="34" charset="0"/>
                        </a:rPr>
                        <a:t>½ EM-</a:t>
                      </a:r>
                      <a:r>
                        <a:rPr lang="en-US" dirty="0">
                          <a:latin typeface="+mn-lt"/>
                        </a:rPr>
                        <a:t>MWD </a:t>
                      </a:r>
                      <a:endParaRPr lang="en-ID" dirty="0"/>
                    </a:p>
                  </a:txBody>
                  <a:tcPr/>
                </a:tc>
                <a:tc>
                  <a:txBody>
                    <a:bodyPr/>
                    <a:lstStyle/>
                    <a:p>
                      <a:r>
                        <a:rPr lang="en-US" dirty="0"/>
                        <a:t>Max GPM</a:t>
                      </a:r>
                      <a:endParaRPr lang="en-ID" dirty="0"/>
                    </a:p>
                  </a:txBody>
                  <a:tcPr/>
                </a:tc>
                <a:tc>
                  <a:txBody>
                    <a:bodyPr/>
                    <a:lstStyle/>
                    <a:p>
                      <a:r>
                        <a:rPr lang="en-US" dirty="0"/>
                        <a:t>900</a:t>
                      </a:r>
                      <a:endParaRPr lang="en-ID" dirty="0"/>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Not Applicable</a:t>
                      </a:r>
                      <a:endParaRPr kumimoji="0" lang="en-ID" sz="18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2139192554"/>
                  </a:ext>
                </a:extLst>
              </a:tr>
              <a:tr h="370840">
                <a:tc vMerge="1">
                  <a:txBody>
                    <a:bodyPr/>
                    <a:lstStyle/>
                    <a:p>
                      <a:endParaRPr lang="en-ID" dirty="0"/>
                    </a:p>
                  </a:txBody>
                  <a:tcPr/>
                </a:tc>
                <a:tc>
                  <a:txBody>
                    <a:bodyPr/>
                    <a:lstStyle/>
                    <a:p>
                      <a:r>
                        <a:rPr lang="en-US" dirty="0"/>
                        <a:t>MU Time</a:t>
                      </a:r>
                      <a:endParaRPr lang="en-ID" dirty="0"/>
                    </a:p>
                  </a:txBody>
                  <a:tcPr/>
                </a:tc>
                <a:tc>
                  <a:txBody>
                    <a:bodyPr/>
                    <a:lstStyle/>
                    <a:p>
                      <a:r>
                        <a:rPr lang="en-US" dirty="0"/>
                        <a:t>Fair</a:t>
                      </a:r>
                      <a:endParaRPr lang="en-ID" dirty="0"/>
                    </a:p>
                  </a:txBody>
                  <a:tcPr/>
                </a:tc>
                <a:tc vMerge="1">
                  <a:txBody>
                    <a:bodyPr/>
                    <a:lstStyle/>
                    <a:p>
                      <a:endParaRPr lang="en-ID" dirty="0"/>
                    </a:p>
                  </a:txBody>
                  <a:tcPr/>
                </a:tc>
                <a:extLst>
                  <a:ext uri="{0D108BD9-81ED-4DB2-BD59-A6C34878D82A}">
                    <a16:rowId xmlns:a16="http://schemas.microsoft.com/office/drawing/2014/main" val="44219849"/>
                  </a:ext>
                </a:extLst>
              </a:tr>
              <a:tr h="370840">
                <a:tc vMerge="1">
                  <a:txBody>
                    <a:bodyPr/>
                    <a:lstStyle/>
                    <a:p>
                      <a:endParaRPr lang="en-ID" dirty="0"/>
                    </a:p>
                  </a:txBody>
                  <a:tcPr/>
                </a:tc>
                <a:tc>
                  <a:txBody>
                    <a:bodyPr/>
                    <a:lstStyle/>
                    <a:p>
                      <a:r>
                        <a:rPr lang="en-US" dirty="0"/>
                        <a:t>Directional Control</a:t>
                      </a:r>
                      <a:endParaRPr lang="en-ID" dirty="0"/>
                    </a:p>
                  </a:txBody>
                  <a:tcPr/>
                </a:tc>
                <a:tc>
                  <a:txBody>
                    <a:bodyPr/>
                    <a:lstStyle/>
                    <a:p>
                      <a:r>
                        <a:rPr lang="en-US" dirty="0">
                          <a:solidFill>
                            <a:srgbClr val="C00000"/>
                          </a:solidFill>
                        </a:rPr>
                        <a:t>Poor</a:t>
                      </a:r>
                      <a:endParaRPr lang="en-ID" dirty="0">
                        <a:solidFill>
                          <a:srgbClr val="C00000"/>
                        </a:solidFill>
                      </a:endParaRPr>
                    </a:p>
                  </a:txBody>
                  <a:tcPr/>
                </a:tc>
                <a:tc vMerge="1">
                  <a:txBody>
                    <a:bodyPr/>
                    <a:lstStyle/>
                    <a:p>
                      <a:endParaRPr lang="en-ID" dirty="0"/>
                    </a:p>
                  </a:txBody>
                  <a:tcPr/>
                </a:tc>
                <a:extLst>
                  <a:ext uri="{0D108BD9-81ED-4DB2-BD59-A6C34878D82A}">
                    <a16:rowId xmlns:a16="http://schemas.microsoft.com/office/drawing/2014/main" val="4292701737"/>
                  </a:ext>
                </a:extLst>
              </a:tr>
              <a:tr h="37084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a:t>
                      </a:r>
                      <a:r>
                        <a:rPr lang="en-US" dirty="0">
                          <a:latin typeface="Franklin Gothic Book" panose="020B0503020102020204" pitchFamily="34" charset="0"/>
                        </a:rPr>
                        <a:t>½ </a:t>
                      </a:r>
                      <a:r>
                        <a:rPr lang="en-US" dirty="0">
                          <a:latin typeface="+mn-lt"/>
                        </a:rPr>
                        <a:t>MM + 6</a:t>
                      </a:r>
                      <a:r>
                        <a:rPr lang="en-US" dirty="0"/>
                        <a:t>-</a:t>
                      </a:r>
                      <a:r>
                        <a:rPr lang="en-US" dirty="0">
                          <a:latin typeface="Franklin Gothic Book" panose="020B0503020102020204" pitchFamily="34" charset="0"/>
                        </a:rPr>
                        <a:t>½ EM-</a:t>
                      </a:r>
                      <a:r>
                        <a:rPr lang="en-US" dirty="0">
                          <a:latin typeface="+mn-lt"/>
                        </a:rPr>
                        <a:t>MWD </a:t>
                      </a:r>
                      <a:endParaRPr lang="en-ID"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D" dirty="0"/>
                    </a:p>
                  </a:txBody>
                  <a:tcPr/>
                </a:tc>
                <a:tc>
                  <a:txBody>
                    <a:bodyPr/>
                    <a:lstStyle/>
                    <a:p>
                      <a:r>
                        <a:rPr lang="en-US" dirty="0"/>
                        <a:t>Max GPM</a:t>
                      </a:r>
                      <a:endParaRPr lang="en-ID" dirty="0"/>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Not Applicable</a:t>
                      </a:r>
                      <a:endParaRPr kumimoji="0" lang="en-ID" sz="1800" b="0" i="0" u="none" strike="noStrike" kern="1200" cap="none" spc="0" normalizeH="0" baseline="0" noProof="0" dirty="0">
                        <a:ln>
                          <a:noFill/>
                        </a:ln>
                        <a:solidFill>
                          <a:prstClr val="black"/>
                        </a:solidFill>
                        <a:effectLst/>
                        <a:uLnTx/>
                        <a:uFillTx/>
                        <a:latin typeface="+mn-lt"/>
                        <a:ea typeface="+mn-ea"/>
                        <a:cs typeface="+mn-cs"/>
                      </a:endParaRPr>
                    </a:p>
                    <a:p>
                      <a:endParaRPr lang="en-ID" dirty="0">
                        <a:solidFill>
                          <a:srgbClr val="C00000"/>
                        </a:solidFill>
                      </a:endParaRPr>
                    </a:p>
                  </a:txBody>
                  <a:tcPr/>
                </a:tc>
                <a:tc>
                  <a:txBody>
                    <a:bodyPr/>
                    <a:lstStyle/>
                    <a:p>
                      <a:r>
                        <a:rPr lang="en-US" dirty="0"/>
                        <a:t>700</a:t>
                      </a:r>
                      <a:endParaRPr lang="en-ID" dirty="0"/>
                    </a:p>
                  </a:txBody>
                  <a:tcPr/>
                </a:tc>
                <a:extLst>
                  <a:ext uri="{0D108BD9-81ED-4DB2-BD59-A6C34878D82A}">
                    <a16:rowId xmlns:a16="http://schemas.microsoft.com/office/drawing/2014/main" val="179386471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D" dirty="0"/>
                    </a:p>
                  </a:txBody>
                  <a:tcPr/>
                </a:tc>
                <a:tc>
                  <a:txBody>
                    <a:bodyPr/>
                    <a:lstStyle/>
                    <a:p>
                      <a:r>
                        <a:rPr lang="en-US" dirty="0"/>
                        <a:t>MU Time</a:t>
                      </a:r>
                      <a:endParaRPr lang="en-ID" dirty="0"/>
                    </a:p>
                  </a:txBody>
                  <a:tcPr/>
                </a:tc>
                <a:tc vMerge="1">
                  <a:txBody>
                    <a:bodyPr/>
                    <a:lstStyle/>
                    <a:p>
                      <a:endParaRPr lang="en-ID" dirty="0">
                        <a:solidFill>
                          <a:srgbClr val="C00000"/>
                        </a:solidFill>
                      </a:endParaRPr>
                    </a:p>
                  </a:txBody>
                  <a:tcPr/>
                </a:tc>
                <a:tc>
                  <a:txBody>
                    <a:bodyPr/>
                    <a:lstStyle/>
                    <a:p>
                      <a:r>
                        <a:rPr lang="en-US" dirty="0"/>
                        <a:t>Fair</a:t>
                      </a:r>
                      <a:endParaRPr lang="en-ID" dirty="0"/>
                    </a:p>
                  </a:txBody>
                  <a:tcPr/>
                </a:tc>
                <a:extLst>
                  <a:ext uri="{0D108BD9-81ED-4DB2-BD59-A6C34878D82A}">
                    <a16:rowId xmlns:a16="http://schemas.microsoft.com/office/drawing/2014/main" val="153104593"/>
                  </a:ext>
                </a:extLst>
              </a:tr>
              <a:tr h="3708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D" dirty="0"/>
                    </a:p>
                  </a:txBody>
                  <a:tcPr/>
                </a:tc>
                <a:tc>
                  <a:txBody>
                    <a:bodyPr/>
                    <a:lstStyle/>
                    <a:p>
                      <a:r>
                        <a:rPr lang="en-US" dirty="0"/>
                        <a:t>Directional Control</a:t>
                      </a:r>
                      <a:endParaRPr lang="en-ID" dirty="0"/>
                    </a:p>
                  </a:txBody>
                  <a:tcPr/>
                </a:tc>
                <a:tc vMerge="1">
                  <a:txBody>
                    <a:bodyPr/>
                    <a:lstStyle/>
                    <a:p>
                      <a:endParaRPr lang="en-ID" dirty="0">
                        <a:solidFill>
                          <a:srgbClr val="C00000"/>
                        </a:solidFill>
                      </a:endParaRPr>
                    </a:p>
                  </a:txBody>
                  <a:tcPr/>
                </a:tc>
                <a:tc>
                  <a:txBody>
                    <a:bodyPr/>
                    <a:lstStyle/>
                    <a:p>
                      <a:r>
                        <a:rPr lang="en-US" dirty="0"/>
                        <a:t>Fair</a:t>
                      </a:r>
                      <a:endParaRPr lang="en-ID" dirty="0"/>
                    </a:p>
                  </a:txBody>
                  <a:tcPr/>
                </a:tc>
                <a:extLst>
                  <a:ext uri="{0D108BD9-81ED-4DB2-BD59-A6C34878D82A}">
                    <a16:rowId xmlns:a16="http://schemas.microsoft.com/office/drawing/2014/main" val="1532160216"/>
                  </a:ext>
                </a:extLst>
              </a:tr>
            </a:tbl>
          </a:graphicData>
        </a:graphic>
      </p:graphicFrame>
      <p:pic>
        <p:nvPicPr>
          <p:cNvPr id="3" name="Picture 2">
            <a:extLst>
              <a:ext uri="{FF2B5EF4-FFF2-40B4-BE49-F238E27FC236}">
                <a16:creationId xmlns:a16="http://schemas.microsoft.com/office/drawing/2014/main" id="{3E41AC68-25C5-0E4D-BFCB-D0A3DC308BD5}"/>
              </a:ext>
            </a:extLst>
          </p:cNvPr>
          <p:cNvPicPr>
            <a:picLocks noChangeAspect="1"/>
          </p:cNvPicPr>
          <p:nvPr/>
        </p:nvPicPr>
        <p:blipFill>
          <a:blip r:embed="rId2"/>
          <a:stretch>
            <a:fillRect/>
          </a:stretch>
        </p:blipFill>
        <p:spPr>
          <a:xfrm>
            <a:off x="8567563" y="85064"/>
            <a:ext cx="3541648" cy="6858000"/>
          </a:xfrm>
          <a:prstGeom prst="rect">
            <a:avLst/>
          </a:prstGeom>
        </p:spPr>
      </p:pic>
      <p:cxnSp>
        <p:nvCxnSpPr>
          <p:cNvPr id="5" name="Straight Arrow Connector 4">
            <a:extLst>
              <a:ext uri="{FF2B5EF4-FFF2-40B4-BE49-F238E27FC236}">
                <a16:creationId xmlns:a16="http://schemas.microsoft.com/office/drawing/2014/main" id="{12FBC00D-8CB1-D67D-49F6-108EE7EAB28A}"/>
              </a:ext>
            </a:extLst>
          </p:cNvPr>
          <p:cNvCxnSpPr>
            <a:cxnSpLocks/>
          </p:cNvCxnSpPr>
          <p:nvPr/>
        </p:nvCxnSpPr>
        <p:spPr>
          <a:xfrm>
            <a:off x="9122938" y="1631215"/>
            <a:ext cx="0" cy="5035402"/>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B7792CD-E755-684F-5385-903DA0E9960B}"/>
              </a:ext>
            </a:extLst>
          </p:cNvPr>
          <p:cNvCxnSpPr>
            <a:cxnSpLocks/>
          </p:cNvCxnSpPr>
          <p:nvPr/>
        </p:nvCxnSpPr>
        <p:spPr>
          <a:xfrm>
            <a:off x="11497543" y="3657604"/>
            <a:ext cx="0" cy="3009013"/>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515314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3E81E-51FD-A224-B0CB-CD10CC16E0A0}"/>
              </a:ext>
            </a:extLst>
          </p:cNvPr>
          <p:cNvSpPr>
            <a:spLocks noGrp="1"/>
          </p:cNvSpPr>
          <p:nvPr>
            <p:ph type="title"/>
          </p:nvPr>
        </p:nvSpPr>
        <p:spPr>
          <a:xfrm>
            <a:off x="521207" y="448056"/>
            <a:ext cx="8046355" cy="640080"/>
          </a:xfrm>
        </p:spPr>
        <p:txBody>
          <a:bodyPr>
            <a:normAutofit fontScale="90000"/>
          </a:bodyPr>
          <a:lstStyle/>
          <a:p>
            <a:r>
              <a:rPr lang="en-US" sz="2800" b="1" dirty="0">
                <a:solidFill>
                  <a:srgbClr val="C00000"/>
                </a:solidFill>
              </a:rPr>
              <a:t>Mud Motor and MWD Size Selection: 9-7/8” &amp; 7-7/8” Hole</a:t>
            </a:r>
            <a:endParaRPr lang="en-ID" dirty="0"/>
          </a:p>
        </p:txBody>
      </p:sp>
      <p:pic>
        <p:nvPicPr>
          <p:cNvPr id="4" name="Picture 3">
            <a:extLst>
              <a:ext uri="{FF2B5EF4-FFF2-40B4-BE49-F238E27FC236}">
                <a16:creationId xmlns:a16="http://schemas.microsoft.com/office/drawing/2014/main" id="{93BD558B-2FD5-CE1E-24FC-3623C8074825}"/>
              </a:ext>
            </a:extLst>
          </p:cNvPr>
          <p:cNvPicPr>
            <a:picLocks noChangeAspect="1"/>
          </p:cNvPicPr>
          <p:nvPr/>
        </p:nvPicPr>
        <p:blipFill>
          <a:blip r:embed="rId2"/>
          <a:stretch>
            <a:fillRect/>
          </a:stretch>
        </p:blipFill>
        <p:spPr>
          <a:xfrm>
            <a:off x="8962679" y="1269377"/>
            <a:ext cx="2689825" cy="5208541"/>
          </a:xfrm>
          <a:prstGeom prst="rect">
            <a:avLst/>
          </a:prstGeom>
        </p:spPr>
      </p:pic>
      <p:sp>
        <p:nvSpPr>
          <p:cNvPr id="6" name="TextBox 5">
            <a:extLst>
              <a:ext uri="{FF2B5EF4-FFF2-40B4-BE49-F238E27FC236}">
                <a16:creationId xmlns:a16="http://schemas.microsoft.com/office/drawing/2014/main" id="{EC7DB6E8-94DD-57C9-FC57-14AC6422794D}"/>
              </a:ext>
            </a:extLst>
          </p:cNvPr>
          <p:cNvSpPr txBox="1"/>
          <p:nvPr/>
        </p:nvSpPr>
        <p:spPr>
          <a:xfrm>
            <a:off x="539496" y="1497757"/>
            <a:ext cx="8253251" cy="4421723"/>
          </a:xfrm>
          <a:prstGeom prst="rect">
            <a:avLst/>
          </a:prstGeom>
          <a:noFill/>
        </p:spPr>
        <p:txBody>
          <a:bodyPr wrap="square">
            <a:spAutoFit/>
          </a:bodyPr>
          <a:lstStyle/>
          <a:p>
            <a:pPr marL="342900" marR="0" lvl="0" indent="-342900" algn="just">
              <a:lnSpc>
                <a:spcPct val="107000"/>
              </a:lnSpc>
              <a:spcBef>
                <a:spcPts val="0"/>
              </a:spcBef>
              <a:spcAft>
                <a:spcPts val="0"/>
              </a:spcAft>
              <a:buFont typeface="Wingdings" panose="05000000000000000000" pitchFamily="2" charset="2"/>
              <a:buChar char=""/>
            </a:pP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Lubang</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9-7/8”: </a:t>
            </a:r>
            <a:r>
              <a:rPr lang="en-US" sz="2400" dirty="0">
                <a:effectLst/>
                <a:latin typeface="Calibri" panose="020F0502020204030204" pitchFamily="34" charset="0"/>
                <a:ea typeface="Calibri" panose="020F0502020204030204" pitchFamily="34" charset="0"/>
                <a:cs typeface="Calibri" panose="020F0502020204030204" pitchFamily="34" charset="0"/>
              </a:rPr>
              <a:t>8-1/2” Mud Motor dan 8-1/2” MWD </a:t>
            </a:r>
            <a:r>
              <a:rPr lang="en-US" sz="2400" dirty="0">
                <a:effectLst/>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2400" dirty="0">
                <a:effectLst/>
                <a:latin typeface="Calibri" panose="020F0502020204030204" pitchFamily="34" charset="0"/>
                <a:ea typeface="Calibri" panose="020F0502020204030204" pitchFamily="34" charset="0"/>
                <a:cs typeface="Calibri" panose="020F0502020204030204" pitchFamily="34" charset="0"/>
              </a:rPr>
              <a:t> menambah </a:t>
            </a:r>
            <a:r>
              <a:rPr lang="en-US" sz="2400" dirty="0" err="1">
                <a:effectLst/>
                <a:latin typeface="Calibri" panose="020F0502020204030204" pitchFamily="34" charset="0"/>
                <a:ea typeface="Calibri" panose="020F0502020204030204" pitchFamily="34" charset="0"/>
                <a:cs typeface="Calibri" panose="020F0502020204030204" pitchFamily="34" charset="0"/>
              </a:rPr>
              <a:t>panjang</a:t>
            </a:r>
            <a:r>
              <a:rPr lang="en-US" sz="2400" dirty="0">
                <a:effectLst/>
                <a:latin typeface="Calibri" panose="020F0502020204030204" pitchFamily="34" charset="0"/>
                <a:ea typeface="Calibri" panose="020F0502020204030204" pitchFamily="34" charset="0"/>
                <a:cs typeface="Calibri" panose="020F0502020204030204" pitchFamily="34" charset="0"/>
              </a:rPr>
              <a:t> section annulus </a:t>
            </a:r>
            <a:r>
              <a:rPr lang="en-US" sz="2400" dirty="0" err="1">
                <a:effectLst/>
                <a:latin typeface="Calibri" panose="020F0502020204030204" pitchFamily="34" charset="0"/>
                <a:ea typeface="Calibri" panose="020F0502020204030204" pitchFamily="34" charset="0"/>
                <a:cs typeface="Calibri" panose="020F0502020204030204" pitchFamily="34" charset="0"/>
              </a:rPr>
              <a:t>dengan</a:t>
            </a:r>
            <a:r>
              <a:rPr lang="en-US" sz="2400" dirty="0">
                <a:effectLst/>
                <a:latin typeface="Calibri" panose="020F0502020204030204" pitchFamily="34" charset="0"/>
                <a:ea typeface="Calibri" panose="020F0502020204030204" pitchFamily="34" charset="0"/>
                <a:cs typeface="Calibri" panose="020F0502020204030204" pitchFamily="34" charset="0"/>
              </a:rPr>
              <a:t> tight clearance (0.6875”). </a:t>
            </a:r>
            <a:r>
              <a:rPr lang="en-US"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Hal </a:t>
            </a:r>
            <a:r>
              <a:rPr lang="en-US" sz="24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ini</a:t>
            </a:r>
            <a:r>
              <a:rPr lang="en-US"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akan</a:t>
            </a:r>
            <a:r>
              <a:rPr lang="en-US"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menimbulkan</a:t>
            </a:r>
            <a:r>
              <a:rPr lang="en-US"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resiko</a:t>
            </a:r>
            <a:r>
              <a:rPr lang="en-US"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stuck pipe. </a:t>
            </a:r>
          </a:p>
          <a:p>
            <a:pPr marL="342900" marR="0" lvl="0" indent="-342900" algn="just">
              <a:lnSpc>
                <a:spcPct val="107000"/>
              </a:lnSpc>
              <a:spcBef>
                <a:spcPts val="0"/>
              </a:spcBef>
              <a:spcAft>
                <a:spcPts val="0"/>
              </a:spcAft>
              <a:buFont typeface="Wingdings" panose="05000000000000000000" pitchFamily="2" charset="2"/>
              <a:buChar char=""/>
            </a:pPr>
            <a:endPar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a:lnSpc>
                <a:spcPct val="107000"/>
              </a:lnSpc>
              <a:spcBef>
                <a:spcPts val="0"/>
              </a:spcBef>
              <a:spcAft>
                <a:spcPts val="0"/>
              </a:spcAft>
              <a:buFont typeface="Wingdings" panose="05000000000000000000" pitchFamily="2" charset="2"/>
              <a:buChar char=""/>
            </a:pP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Lubang</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9-7/8”: </a:t>
            </a:r>
            <a:r>
              <a:rPr lang="en-US" sz="2400" dirty="0">
                <a:effectLst/>
                <a:latin typeface="Calibri" panose="020F0502020204030204" pitchFamily="34" charset="0"/>
                <a:ea typeface="Calibri" panose="020F0502020204030204" pitchFamily="34" charset="0"/>
                <a:cs typeface="Calibri" panose="020F0502020204030204" pitchFamily="34" charset="0"/>
              </a:rPr>
              <a:t>8-1/2” Mud Motor dan 6-1/2” MWD</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memperpendek</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panjang</a:t>
            </a:r>
            <a:r>
              <a:rPr lang="en-US" sz="2400" dirty="0">
                <a:effectLst/>
                <a:latin typeface="Calibri" panose="020F0502020204030204" pitchFamily="34" charset="0"/>
                <a:ea typeface="Calibri" panose="020F0502020204030204" pitchFamily="34" charset="0"/>
                <a:cs typeface="Calibri" panose="020F0502020204030204" pitchFamily="34" charset="0"/>
              </a:rPr>
              <a:t> section annulus </a:t>
            </a:r>
            <a:r>
              <a:rPr lang="en-US" sz="2400" dirty="0" err="1">
                <a:effectLst/>
                <a:latin typeface="Calibri" panose="020F0502020204030204" pitchFamily="34" charset="0"/>
                <a:ea typeface="Calibri" panose="020F0502020204030204" pitchFamily="34" charset="0"/>
                <a:cs typeface="Calibri" panose="020F0502020204030204" pitchFamily="34" charset="0"/>
              </a:rPr>
              <a:t>dengan</a:t>
            </a:r>
            <a:r>
              <a:rPr lang="en-US" sz="2400" dirty="0">
                <a:effectLst/>
                <a:latin typeface="Calibri" panose="020F0502020204030204" pitchFamily="34" charset="0"/>
                <a:ea typeface="Calibri" panose="020F0502020204030204" pitchFamily="34" charset="0"/>
                <a:cs typeface="Calibri" panose="020F0502020204030204" pitchFamily="34" charset="0"/>
              </a:rPr>
              <a:t> tight clearance (0.6875”). Sehingga </a:t>
            </a:r>
            <a:r>
              <a:rPr lang="en-US" sz="2400" dirty="0" err="1">
                <a:effectLst/>
                <a:latin typeface="Calibri" panose="020F0502020204030204" pitchFamily="34" charset="0"/>
                <a:ea typeface="Calibri" panose="020F0502020204030204" pitchFamily="34" charset="0"/>
                <a:cs typeface="Calibri" panose="020F0502020204030204" pitchFamily="34" charset="0"/>
              </a:rPr>
              <a:t>hal</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ini</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akan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b="1" u="sng" dirty="0" err="1">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menurunkan</a:t>
            </a:r>
            <a:r>
              <a:rPr lang="en-US" sz="2400" b="1" u="sng"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2400" b="1" u="sng" dirty="0" err="1">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resiko</a:t>
            </a:r>
            <a:r>
              <a:rPr lang="en-US" sz="2400" b="1" u="sng"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rPr>
              <a:t> stuck pipe.</a:t>
            </a:r>
          </a:p>
          <a:p>
            <a:pPr marR="0" lvl="0" algn="just">
              <a:lnSpc>
                <a:spcPct val="107000"/>
              </a:lnSpc>
              <a:spcBef>
                <a:spcPts val="0"/>
              </a:spcBef>
              <a:spcAft>
                <a:spcPts val="0"/>
              </a:spcAft>
            </a:pPr>
            <a:endParaRPr lang="en-ID" sz="2400" b="1" u="sng"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2400" b="1"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Lubang</a:t>
            </a:r>
            <a:r>
              <a:rPr lang="en-US"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7-7/8”: </a:t>
            </a:r>
            <a:r>
              <a:rPr lang="en-US" sz="2400" dirty="0" err="1">
                <a:effectLst/>
                <a:latin typeface="Calibri" panose="020F0502020204030204" pitchFamily="34" charset="0"/>
                <a:ea typeface="Calibri" panose="020F0502020204030204" pitchFamily="34" charset="0"/>
                <a:cs typeface="Calibri" panose="020F0502020204030204" pitchFamily="34" charset="0"/>
              </a:rPr>
              <a:t>karena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sifatnya</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untuk</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kotingency</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saja</a:t>
            </a:r>
            <a:r>
              <a:rPr lang="en-US" sz="2400" dirty="0">
                <a:effectLst/>
                <a:latin typeface="Calibri" panose="020F0502020204030204" pitchFamily="34" charset="0"/>
                <a:ea typeface="Calibri" panose="020F0502020204030204" pitchFamily="34" charset="0"/>
                <a:cs typeface="Calibri" panose="020F0502020204030204" pitchFamily="34" charset="0"/>
              </a:rPr>
              <a:t>, kami </a:t>
            </a:r>
            <a:r>
              <a:rPr lang="en-US" sz="2400" dirty="0" err="1">
                <a:effectLst/>
                <a:latin typeface="Calibri" panose="020F0502020204030204" pitchFamily="34" charset="0"/>
                <a:ea typeface="Calibri" panose="020F0502020204030204" pitchFamily="34" charset="0"/>
                <a:cs typeface="Calibri" panose="020F0502020204030204" pitchFamily="34" charset="0"/>
              </a:rPr>
              <a:t>menyarankan</a:t>
            </a:r>
            <a:r>
              <a:rPr lang="en-US" sz="2400" dirty="0">
                <a:effectLst/>
                <a:latin typeface="Calibri" panose="020F0502020204030204" pitchFamily="34" charset="0"/>
                <a:ea typeface="Calibri" panose="020F0502020204030204" pitchFamily="34" charset="0"/>
                <a:cs typeface="Calibri" panose="020F0502020204030204" pitchFamily="34" charset="0"/>
              </a:rPr>
              <a:t> </a:t>
            </a:r>
            <a:r>
              <a:rPr lang="en-US" sz="2400" dirty="0" err="1">
                <a:effectLst/>
                <a:latin typeface="Calibri" panose="020F0502020204030204" pitchFamily="34" charset="0"/>
                <a:ea typeface="Calibri" panose="020F0502020204030204" pitchFamily="34" charset="0"/>
                <a:cs typeface="Calibri" panose="020F0502020204030204" pitchFamily="34" charset="0"/>
              </a:rPr>
              <a:t>untuk</a:t>
            </a:r>
            <a:r>
              <a:rPr lang="en-US" sz="2400" dirty="0">
                <a:effectLst/>
                <a:latin typeface="Calibri" panose="020F0502020204030204" pitchFamily="34" charset="0"/>
                <a:ea typeface="Calibri" panose="020F0502020204030204" pitchFamily="34" charset="0"/>
                <a:cs typeface="Calibri" panose="020F0502020204030204" pitchFamily="34" charset="0"/>
              </a:rPr>
              <a:t> run </a:t>
            </a:r>
            <a:r>
              <a:rPr lang="en-US" sz="2400" b="1"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rPr>
              <a:t>rotary BHA </a:t>
            </a:r>
            <a:r>
              <a:rPr lang="en-US" sz="2400" b="1" dirty="0" err="1">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rPr>
              <a:t>saja</a:t>
            </a:r>
            <a:r>
              <a:rPr lang="en-US" sz="2400" b="1"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a:effectLst/>
                <a:latin typeface="Calibri" panose="020F0502020204030204" pitchFamily="34" charset="0"/>
                <a:ea typeface="Calibri" panose="020F0502020204030204" pitchFamily="34" charset="0"/>
                <a:cs typeface="Calibri" panose="020F0502020204030204" pitchFamily="34" charset="0"/>
              </a:rPr>
              <a:t>tanpa MWD.</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7665797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AEE1-11B1-60B4-D44B-DCAFA0C2F38F}"/>
              </a:ext>
            </a:extLst>
          </p:cNvPr>
          <p:cNvSpPr>
            <a:spLocks noGrp="1"/>
          </p:cNvSpPr>
          <p:nvPr>
            <p:ph type="title"/>
          </p:nvPr>
        </p:nvSpPr>
        <p:spPr>
          <a:xfrm>
            <a:off x="521208" y="448056"/>
            <a:ext cx="11057520" cy="640080"/>
          </a:xfrm>
        </p:spPr>
        <p:txBody>
          <a:bodyPr>
            <a:normAutofit/>
          </a:bodyPr>
          <a:lstStyle/>
          <a:p>
            <a:r>
              <a:rPr lang="en-US" sz="3600" b="1" dirty="0">
                <a:solidFill>
                  <a:schemeClr val="accent6">
                    <a:lumMod val="50000"/>
                  </a:schemeClr>
                </a:solidFill>
              </a:rPr>
              <a:t>Hard Facing and Drill String Hard Banding</a:t>
            </a:r>
            <a:endParaRPr lang="en-ID" sz="3600" b="1" dirty="0">
              <a:solidFill>
                <a:schemeClr val="accent6">
                  <a:lumMod val="50000"/>
                </a:schemeClr>
              </a:solidFill>
            </a:endParaRPr>
          </a:p>
        </p:txBody>
      </p:sp>
      <p:pic>
        <p:nvPicPr>
          <p:cNvPr id="4" name="Picture 3" descr="A picture containing writing implement, blue, stationary, pen&#10;&#10;Description automatically generated">
            <a:extLst>
              <a:ext uri="{FF2B5EF4-FFF2-40B4-BE49-F238E27FC236}">
                <a16:creationId xmlns:a16="http://schemas.microsoft.com/office/drawing/2014/main" id="{624DB2C4-99D4-4D66-7839-096C8F78CB7D}"/>
              </a:ext>
            </a:extLst>
          </p:cNvPr>
          <p:cNvPicPr>
            <a:picLocks noChangeAspect="1"/>
          </p:cNvPicPr>
          <p:nvPr/>
        </p:nvPicPr>
        <p:blipFill rotWithShape="1">
          <a:blip r:embed="rId2"/>
          <a:srcRect l="2458" t="20946" r="2778" b="22342"/>
          <a:stretch/>
        </p:blipFill>
        <p:spPr bwMode="auto">
          <a:xfrm>
            <a:off x="618742" y="1481458"/>
            <a:ext cx="6213004" cy="3076866"/>
          </a:xfrm>
          <a:prstGeom prst="rect">
            <a:avLst/>
          </a:prstGeom>
          <a:ln>
            <a:noFill/>
          </a:ln>
          <a:extLst>
            <a:ext uri="{53640926-AAD7-44D8-BBD7-CCE9431645EC}">
              <a14:shadowObscured xmlns:a14="http://schemas.microsoft.com/office/drawing/2010/main"/>
            </a:ext>
          </a:extLst>
        </p:spPr>
      </p:pic>
      <p:pic>
        <p:nvPicPr>
          <p:cNvPr id="5" name="Picture 3" descr="http://www.nov.com/uploadedImages/Business_Groups/Tuboscope/Hardbanding/TCS_8000/TCS_new.jpg">
            <a:extLst>
              <a:ext uri="{FF2B5EF4-FFF2-40B4-BE49-F238E27FC236}">
                <a16:creationId xmlns:a16="http://schemas.microsoft.com/office/drawing/2014/main" id="{3EDF2CB7-3AFD-6581-95EC-E01CE6806FA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081032" y="1481458"/>
            <a:ext cx="4492226" cy="30768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4A467C3-9473-7223-5F14-B2FE0C597E32}"/>
              </a:ext>
            </a:extLst>
          </p:cNvPr>
          <p:cNvSpPr txBox="1"/>
          <p:nvPr/>
        </p:nvSpPr>
        <p:spPr>
          <a:xfrm>
            <a:off x="1978515" y="4596448"/>
            <a:ext cx="3493457" cy="369332"/>
          </a:xfrm>
          <a:prstGeom prst="rect">
            <a:avLst/>
          </a:prstGeom>
          <a:noFill/>
        </p:spPr>
        <p:txBody>
          <a:bodyPr wrap="none" rtlCol="0">
            <a:spAutoFit/>
          </a:bodyPr>
          <a:lstStyle/>
          <a:p>
            <a:r>
              <a:rPr lang="en-US" dirty="0">
                <a:solidFill>
                  <a:srgbClr val="C00000"/>
                </a:solidFill>
              </a:rPr>
              <a:t>Stabilizer Blade with Hard Facing</a:t>
            </a:r>
            <a:endParaRPr lang="en-ID" dirty="0">
              <a:solidFill>
                <a:srgbClr val="C00000"/>
              </a:solidFill>
            </a:endParaRPr>
          </a:p>
        </p:txBody>
      </p:sp>
      <p:sp>
        <p:nvSpPr>
          <p:cNvPr id="7" name="TextBox 6">
            <a:extLst>
              <a:ext uri="{FF2B5EF4-FFF2-40B4-BE49-F238E27FC236}">
                <a16:creationId xmlns:a16="http://schemas.microsoft.com/office/drawing/2014/main" id="{49DA6CA7-82AC-1136-6A20-604C506B2022}"/>
              </a:ext>
            </a:extLst>
          </p:cNvPr>
          <p:cNvSpPr txBox="1"/>
          <p:nvPr/>
        </p:nvSpPr>
        <p:spPr>
          <a:xfrm>
            <a:off x="7724398" y="4596448"/>
            <a:ext cx="3205493" cy="369332"/>
          </a:xfrm>
          <a:prstGeom prst="rect">
            <a:avLst/>
          </a:prstGeom>
          <a:noFill/>
        </p:spPr>
        <p:txBody>
          <a:bodyPr wrap="none" rtlCol="0">
            <a:spAutoFit/>
          </a:bodyPr>
          <a:lstStyle/>
          <a:p>
            <a:r>
              <a:rPr lang="en-US" dirty="0">
                <a:solidFill>
                  <a:srgbClr val="C00000"/>
                </a:solidFill>
              </a:rPr>
              <a:t>Drill String with Hard Banding</a:t>
            </a:r>
            <a:endParaRPr lang="en-ID" dirty="0">
              <a:solidFill>
                <a:srgbClr val="C00000"/>
              </a:solidFill>
            </a:endParaRPr>
          </a:p>
        </p:txBody>
      </p:sp>
      <p:grpSp>
        <p:nvGrpSpPr>
          <p:cNvPr id="3" name="Group 7">
            <a:extLst>
              <a:ext uri="{FF2B5EF4-FFF2-40B4-BE49-F238E27FC236}">
                <a16:creationId xmlns:a16="http://schemas.microsoft.com/office/drawing/2014/main" id="{1CB96BBD-BCD5-58ED-5D63-208E7120BD14}"/>
              </a:ext>
            </a:extLst>
          </p:cNvPr>
          <p:cNvGrpSpPr/>
          <p:nvPr/>
        </p:nvGrpSpPr>
        <p:grpSpPr>
          <a:xfrm>
            <a:off x="9798995" y="231307"/>
            <a:ext cx="2029839" cy="782003"/>
            <a:chOff x="0" y="0"/>
            <a:chExt cx="6531488" cy="2226149"/>
          </a:xfrm>
        </p:grpSpPr>
        <p:sp>
          <p:nvSpPr>
            <p:cNvPr id="8" name="Freeform 8">
              <a:extLst>
                <a:ext uri="{FF2B5EF4-FFF2-40B4-BE49-F238E27FC236}">
                  <a16:creationId xmlns:a16="http://schemas.microsoft.com/office/drawing/2014/main" id="{5688CD58-9867-D649-5BF3-56CED094963B}"/>
                </a:ext>
              </a:extLst>
            </p:cNvPr>
            <p:cNvSpPr/>
            <p:nvPr/>
          </p:nvSpPr>
          <p:spPr>
            <a:xfrm>
              <a:off x="0" y="0"/>
              <a:ext cx="6531483" cy="2226183"/>
            </a:xfrm>
            <a:custGeom>
              <a:avLst/>
              <a:gdLst/>
              <a:ahLst/>
              <a:cxnLst/>
              <a:rect l="l" t="t" r="r" b="b"/>
              <a:pathLst>
                <a:path w="6531483" h="2226183">
                  <a:moveTo>
                    <a:pt x="0" y="0"/>
                  </a:moveTo>
                  <a:lnTo>
                    <a:pt x="6531483" y="0"/>
                  </a:lnTo>
                  <a:lnTo>
                    <a:pt x="6531483" y="2226183"/>
                  </a:lnTo>
                  <a:lnTo>
                    <a:pt x="0" y="2226183"/>
                  </a:lnTo>
                  <a:lnTo>
                    <a:pt x="0" y="0"/>
                  </a:lnTo>
                  <a:close/>
                </a:path>
              </a:pathLst>
            </a:custGeom>
            <a:blipFill>
              <a:blip r:embed="rId4"/>
              <a:stretch>
                <a:fillRect t="-61" b="-59"/>
              </a:stretch>
            </a:blipFill>
          </p:spPr>
          <p:txBody>
            <a:bodyPr/>
            <a:lstStyle/>
            <a:p>
              <a:endParaRPr lang="en-ID"/>
            </a:p>
          </p:txBody>
        </p:sp>
      </p:grpSp>
    </p:spTree>
    <p:extLst>
      <p:ext uri="{BB962C8B-B14F-4D97-AF65-F5344CB8AC3E}">
        <p14:creationId xmlns:p14="http://schemas.microsoft.com/office/powerpoint/2010/main" val="100326071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
            <a:ext cx="8229600" cy="879701"/>
          </a:xfrm>
        </p:spPr>
        <p:txBody>
          <a:bodyPr/>
          <a:lstStyle/>
          <a:p>
            <a:r>
              <a:rPr lang="id-ID" dirty="0"/>
              <a:t>HARDFACING FOR BLADES</a:t>
            </a:r>
            <a:r>
              <a:rPr lang="en-US" dirty="0"/>
              <a:t> STABILIZER</a:t>
            </a:r>
            <a:endParaRPr lang="id-ID" dirty="0"/>
          </a:p>
        </p:txBody>
      </p:sp>
      <p:graphicFrame>
        <p:nvGraphicFramePr>
          <p:cNvPr id="4" name="Table 3"/>
          <p:cNvGraphicFramePr>
            <a:graphicFrameLocks noGrp="1"/>
          </p:cNvGraphicFramePr>
          <p:nvPr/>
        </p:nvGraphicFramePr>
        <p:xfrm>
          <a:off x="724395" y="908720"/>
          <a:ext cx="10390909" cy="5628389"/>
        </p:xfrm>
        <a:graphic>
          <a:graphicData uri="http://schemas.openxmlformats.org/drawingml/2006/table">
            <a:tbl>
              <a:tblPr firstRow="1" bandRow="1">
                <a:tableStyleId>{5C22544A-7EE6-4342-B048-85BDC9FD1C3A}</a:tableStyleId>
              </a:tblPr>
              <a:tblGrid>
                <a:gridCol w="7750596">
                  <a:extLst>
                    <a:ext uri="{9D8B030D-6E8A-4147-A177-3AD203B41FA5}">
                      <a16:colId xmlns:a16="http://schemas.microsoft.com/office/drawing/2014/main" val="20000"/>
                    </a:ext>
                  </a:extLst>
                </a:gridCol>
                <a:gridCol w="2640313">
                  <a:extLst>
                    <a:ext uri="{9D8B030D-6E8A-4147-A177-3AD203B41FA5}">
                      <a16:colId xmlns:a16="http://schemas.microsoft.com/office/drawing/2014/main" val="20001"/>
                    </a:ext>
                  </a:extLst>
                </a:gridCol>
              </a:tblGrid>
              <a:tr h="358330">
                <a:tc>
                  <a:txBody>
                    <a:bodyPr/>
                    <a:lstStyle/>
                    <a:p>
                      <a:r>
                        <a:rPr lang="id-ID" dirty="0"/>
                        <a:t>HardFacing Type</a:t>
                      </a:r>
                    </a:p>
                  </a:txBody>
                  <a:tcPr/>
                </a:tc>
                <a:tc>
                  <a:txBody>
                    <a:bodyPr/>
                    <a:lstStyle/>
                    <a:p>
                      <a:r>
                        <a:rPr lang="id-ID" dirty="0"/>
                        <a:t>Picture</a:t>
                      </a:r>
                    </a:p>
                  </a:txBody>
                  <a:tcPr/>
                </a:tc>
                <a:extLst>
                  <a:ext uri="{0D108BD9-81ED-4DB2-BD59-A6C34878D82A}">
                    <a16:rowId xmlns:a16="http://schemas.microsoft.com/office/drawing/2014/main" val="10000"/>
                  </a:ext>
                </a:extLst>
              </a:tr>
              <a:tr h="1682476">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a:t>HF 4000</a:t>
                      </a:r>
                      <a:r>
                        <a:rPr lang="en-US" dirty="0"/>
                        <a:t> </a:t>
                      </a:r>
                      <a:br>
                        <a:rPr lang="en-US" dirty="0"/>
                      </a:br>
                      <a:r>
                        <a:rPr lang="en-US" dirty="0"/>
                        <a:t>Tungsten carbide inserts (button type). The inserts have been developed to allow cold insertion and maintain close fit. A greater concentration of inserts on the bottom third of the blade and leading edge will increase surface contact to reduce wear in highly abrasive formations</a:t>
                      </a:r>
                      <a:endParaRPr lang="id-ID" dirty="0"/>
                    </a:p>
                  </a:txBody>
                  <a:tcPr/>
                </a:tc>
                <a:tc>
                  <a:txBody>
                    <a:bodyPr/>
                    <a:lstStyle/>
                    <a:p>
                      <a:endParaRPr lang="id-ID" dirty="0"/>
                    </a:p>
                  </a:txBody>
                  <a:tcPr/>
                </a:tc>
                <a:extLst>
                  <a:ext uri="{0D108BD9-81ED-4DB2-BD59-A6C34878D82A}">
                    <a16:rowId xmlns:a16="http://schemas.microsoft.com/office/drawing/2014/main" val="10001"/>
                  </a:ext>
                </a:extLst>
              </a:tr>
              <a:tr h="16787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HF 5000</a:t>
                      </a:r>
                      <a:r>
                        <a:rPr lang="en-US" dirty="0"/>
                        <a:t> </a:t>
                      </a:r>
                      <a:br>
                        <a:rPr lang="en-US" dirty="0"/>
                      </a:br>
                      <a:r>
                        <a:rPr lang="en-US" dirty="0"/>
                        <a:t>This oxy-acetylene process applies tough molten carbide particles of varying sizes held in a nickel chrome matrix which provides excellent bonding properties and greater surface wear characteristics. Surface hardness levels over 40HRC. </a:t>
                      </a:r>
                      <a:r>
                        <a:rPr lang="en-US" b="1" dirty="0">
                          <a:solidFill>
                            <a:srgbClr val="C00000"/>
                          </a:solidFill>
                        </a:rPr>
                        <a:t>Ideal for GEO-THERMAL applications over 350°C.</a:t>
                      </a:r>
                      <a:endParaRPr lang="id-ID" b="1" dirty="0">
                        <a:solidFill>
                          <a:srgbClr val="C00000"/>
                        </a:solidFill>
                      </a:endParaRPr>
                    </a:p>
                  </a:txBody>
                  <a:tcPr/>
                </a:tc>
                <a:tc>
                  <a:txBody>
                    <a:bodyPr/>
                    <a:lstStyle/>
                    <a:p>
                      <a:endParaRPr lang="id-ID" dirty="0"/>
                    </a:p>
                  </a:txBody>
                  <a:tcPr/>
                </a:tc>
                <a:extLst>
                  <a:ext uri="{0D108BD9-81ED-4DB2-BD59-A6C34878D82A}">
                    <a16:rowId xmlns:a16="http://schemas.microsoft.com/office/drawing/2014/main" val="10002"/>
                  </a:ext>
                </a:extLst>
              </a:tr>
              <a:tr h="18427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HF 6000</a:t>
                      </a:r>
                      <a:r>
                        <a:rPr lang="en-US" dirty="0"/>
                        <a:t> </a:t>
                      </a:r>
                      <a:br>
                        <a:rPr lang="en-US" dirty="0"/>
                      </a:br>
                      <a:r>
                        <a:rPr lang="en-US" dirty="0"/>
                        <a:t>HF6000 is a specially developed </a:t>
                      </a:r>
                      <a:r>
                        <a:rPr lang="en-US" dirty="0" err="1"/>
                        <a:t>hardfacing</a:t>
                      </a:r>
                      <a:r>
                        <a:rPr lang="en-US" dirty="0"/>
                        <a:t> deposit that is applied to Stabilizers and other Oilfield Industry products by the Plasma Transfer Arc (PTA) process. The process is fully automated. The movement of the </a:t>
                      </a:r>
                      <a:r>
                        <a:rPr lang="en-US" dirty="0" err="1"/>
                        <a:t>hardfacing</a:t>
                      </a:r>
                      <a:r>
                        <a:rPr lang="en-US" dirty="0"/>
                        <a:t> torch and simultaneous movement of the work-piece is controlled by a 6 axis Robot and an additional </a:t>
                      </a:r>
                      <a:r>
                        <a:rPr lang="en-US" dirty="0" err="1"/>
                        <a:t>synchronised</a:t>
                      </a:r>
                      <a:r>
                        <a:rPr lang="en-US" dirty="0"/>
                        <a:t> axis.</a:t>
                      </a:r>
                      <a:endParaRPr lang="id-ID" dirty="0"/>
                    </a:p>
                  </a:txBody>
                  <a:tcPr/>
                </a:tc>
                <a:tc>
                  <a:txBody>
                    <a:bodyPr/>
                    <a:lstStyle/>
                    <a:p>
                      <a:endParaRPr lang="id-ID" dirty="0"/>
                    </a:p>
                  </a:txBody>
                  <a:tcPr/>
                </a:tc>
                <a:extLst>
                  <a:ext uri="{0D108BD9-81ED-4DB2-BD59-A6C34878D82A}">
                    <a16:rowId xmlns:a16="http://schemas.microsoft.com/office/drawing/2014/main" val="10003"/>
                  </a:ext>
                </a:extLst>
              </a:tr>
            </a:tbl>
          </a:graphicData>
        </a:graphic>
      </p:graphicFrame>
      <p:pic>
        <p:nvPicPr>
          <p:cNvPr id="5" name="Picture 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536286" y="1330404"/>
            <a:ext cx="2535927" cy="1484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496808" y="2987885"/>
            <a:ext cx="2529739" cy="1493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536286" y="4717677"/>
            <a:ext cx="2490262" cy="1478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94489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13898-7050-4925-9B7C-45EACE07E0D9}"/>
              </a:ext>
            </a:extLst>
          </p:cNvPr>
          <p:cNvSpPr>
            <a:spLocks noGrp="1"/>
          </p:cNvSpPr>
          <p:nvPr>
            <p:ph type="title"/>
          </p:nvPr>
        </p:nvSpPr>
        <p:spPr>
          <a:xfrm>
            <a:off x="521207" y="448056"/>
            <a:ext cx="9293353" cy="640080"/>
          </a:xfrm>
        </p:spPr>
        <p:txBody>
          <a:bodyPr>
            <a:noAutofit/>
          </a:bodyPr>
          <a:lstStyle/>
          <a:p>
            <a:r>
              <a:rPr lang="en-US" sz="3600" b="1" dirty="0">
                <a:solidFill>
                  <a:srgbClr val="C00000"/>
                </a:solidFill>
              </a:rPr>
              <a:t>Hard Banding Durability vs. Casing Wear</a:t>
            </a:r>
            <a:endParaRPr lang="en-ID" sz="3600" b="1" dirty="0">
              <a:solidFill>
                <a:srgbClr val="C00000"/>
              </a:solidFill>
            </a:endParaRPr>
          </a:p>
        </p:txBody>
      </p:sp>
      <p:pic>
        <p:nvPicPr>
          <p:cNvPr id="4" name="Picture 1" descr="http://www.hardbanding.com/static/uploads/photos/2012-05/compchart.png">
            <a:extLst>
              <a:ext uri="{FF2B5EF4-FFF2-40B4-BE49-F238E27FC236}">
                <a16:creationId xmlns:a16="http://schemas.microsoft.com/office/drawing/2014/main" id="{4782785F-B35C-4861-9208-BBBB80E9A82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14815" y="1143943"/>
            <a:ext cx="9053686" cy="54774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2FBD054-B1D1-4238-8043-9985B1C2DA8E}"/>
              </a:ext>
            </a:extLst>
          </p:cNvPr>
          <p:cNvSpPr txBox="1"/>
          <p:nvPr/>
        </p:nvSpPr>
        <p:spPr>
          <a:xfrm>
            <a:off x="8697239" y="1775103"/>
            <a:ext cx="3242683" cy="461665"/>
          </a:xfrm>
          <a:prstGeom prst="rect">
            <a:avLst/>
          </a:prstGeom>
          <a:noFill/>
        </p:spPr>
        <p:txBody>
          <a:bodyPr wrap="none" rtlCol="0">
            <a:spAutoFit/>
          </a:bodyPr>
          <a:lstStyle/>
          <a:p>
            <a:pPr marL="285750" indent="-285750">
              <a:buFont typeface="Arial" panose="020B0604020202020204" pitchFamily="34" charset="0"/>
              <a:buChar char="•"/>
            </a:pPr>
            <a:r>
              <a:rPr lang="en-US" sz="2400" b="1" dirty="0">
                <a:solidFill>
                  <a:srgbClr val="C00000"/>
                </a:solidFill>
              </a:rPr>
              <a:t>Use 200XT – 300XT</a:t>
            </a:r>
            <a:endParaRPr lang="en-ID" sz="2400" b="1" dirty="0">
              <a:solidFill>
                <a:srgbClr val="C00000"/>
              </a:solidFill>
            </a:endParaRPr>
          </a:p>
        </p:txBody>
      </p:sp>
      <p:pic>
        <p:nvPicPr>
          <p:cNvPr id="6" name="Picture 3" descr="http://www.nov.com/uploadedImages/Business_Groups/Tuboscope/Hardbanding/TCS_8000/TCS_new.jpg">
            <a:extLst>
              <a:ext uri="{FF2B5EF4-FFF2-40B4-BE49-F238E27FC236}">
                <a16:creationId xmlns:a16="http://schemas.microsoft.com/office/drawing/2014/main" id="{4D7C7BDE-C697-4BD9-9CDA-4A88389A64F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241119" y="2292574"/>
            <a:ext cx="4492226" cy="3076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28206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13898-7050-4925-9B7C-45EACE07E0D9}"/>
              </a:ext>
            </a:extLst>
          </p:cNvPr>
          <p:cNvSpPr>
            <a:spLocks noGrp="1"/>
          </p:cNvSpPr>
          <p:nvPr>
            <p:ph type="title"/>
          </p:nvPr>
        </p:nvSpPr>
        <p:spPr>
          <a:xfrm>
            <a:off x="521207" y="448056"/>
            <a:ext cx="9293353" cy="640080"/>
          </a:xfrm>
        </p:spPr>
        <p:txBody>
          <a:bodyPr>
            <a:noAutofit/>
          </a:bodyPr>
          <a:lstStyle/>
          <a:p>
            <a:r>
              <a:rPr lang="en-US" sz="3600" b="1" dirty="0">
                <a:solidFill>
                  <a:srgbClr val="C00000"/>
                </a:solidFill>
              </a:rPr>
              <a:t>Deep Geothermal Well</a:t>
            </a:r>
            <a:endParaRPr lang="en-ID" sz="3600" b="1" dirty="0">
              <a:solidFill>
                <a:srgbClr val="C00000"/>
              </a:solidFill>
            </a:endParaRPr>
          </a:p>
        </p:txBody>
      </p:sp>
      <p:sp>
        <p:nvSpPr>
          <p:cNvPr id="8" name="TextBox 7">
            <a:extLst>
              <a:ext uri="{FF2B5EF4-FFF2-40B4-BE49-F238E27FC236}">
                <a16:creationId xmlns:a16="http://schemas.microsoft.com/office/drawing/2014/main" id="{82F84E5C-C528-971E-D6CB-6039A0E411B1}"/>
              </a:ext>
            </a:extLst>
          </p:cNvPr>
          <p:cNvSpPr txBox="1"/>
          <p:nvPr/>
        </p:nvSpPr>
        <p:spPr>
          <a:xfrm>
            <a:off x="619796" y="1598993"/>
            <a:ext cx="9396074" cy="4031873"/>
          </a:xfrm>
          <a:prstGeom prst="rect">
            <a:avLst/>
          </a:prstGeom>
          <a:noFill/>
        </p:spPr>
        <p:txBody>
          <a:bodyPr wrap="square">
            <a:spAutoFit/>
          </a:bodyPr>
          <a:lstStyle/>
          <a:p>
            <a:r>
              <a:rPr lang="en-US" sz="3200" dirty="0"/>
              <a:t>Drilling Engineering for Deep Geothermal Well: </a:t>
            </a:r>
          </a:p>
          <a:p>
            <a:pPr marL="285750" indent="-285750">
              <a:buFont typeface="Arial" panose="020B0604020202020204" pitchFamily="34" charset="0"/>
              <a:buChar char="•"/>
            </a:pPr>
            <a:r>
              <a:rPr lang="en-ID" sz="3200" dirty="0"/>
              <a:t>Simulate drilling hydraulic </a:t>
            </a:r>
            <a:r>
              <a:rPr lang="en-ID" sz="3200" dirty="0">
                <a:sym typeface="Wingdings" panose="05000000000000000000" pitchFamily="2" charset="2"/>
              </a:rPr>
              <a:t> mud pump sizing, pump liner size.</a:t>
            </a:r>
          </a:p>
          <a:p>
            <a:pPr marL="285750" indent="-285750">
              <a:buFont typeface="Arial" panose="020B0604020202020204" pitchFamily="34" charset="0"/>
              <a:buChar char="•"/>
            </a:pPr>
            <a:r>
              <a:rPr lang="en-ID" sz="3200" dirty="0">
                <a:sym typeface="Wingdings" panose="05000000000000000000" pitchFamily="2" charset="2"/>
              </a:rPr>
              <a:t>Torque and Drag Simulation  DP torque and tension limit  DP selection. </a:t>
            </a:r>
          </a:p>
          <a:p>
            <a:pPr marL="742950" lvl="1" indent="-285750">
              <a:buFont typeface="Arial" panose="020B0604020202020204" pitchFamily="34" charset="0"/>
              <a:buChar char="•"/>
            </a:pPr>
            <a:r>
              <a:rPr lang="en-ID" sz="2400" dirty="0">
                <a:solidFill>
                  <a:srgbClr val="C00000"/>
                </a:solidFill>
                <a:sym typeface="Wingdings" panose="05000000000000000000" pitchFamily="2" charset="2"/>
              </a:rPr>
              <a:t>Surface Torque to be kept less than Drill Pipe Make Up Torque</a:t>
            </a:r>
          </a:p>
          <a:p>
            <a:pPr marL="742950" lvl="1" indent="-285750">
              <a:buFont typeface="Arial" panose="020B0604020202020204" pitchFamily="34" charset="0"/>
              <a:buChar char="•"/>
            </a:pPr>
            <a:r>
              <a:rPr lang="en-ID" sz="2400" dirty="0">
                <a:solidFill>
                  <a:srgbClr val="C00000"/>
                </a:solidFill>
              </a:rPr>
              <a:t>Surface tension to capable hanging simulated Pick Up Load + Over Pulled to activate Drilling Jars (if any un-expected stuck pipe event)</a:t>
            </a:r>
          </a:p>
        </p:txBody>
      </p:sp>
    </p:spTree>
    <p:extLst>
      <p:ext uri="{BB962C8B-B14F-4D97-AF65-F5344CB8AC3E}">
        <p14:creationId xmlns:p14="http://schemas.microsoft.com/office/powerpoint/2010/main" val="306354633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13898-7050-4925-9B7C-45EACE07E0D9}"/>
              </a:ext>
            </a:extLst>
          </p:cNvPr>
          <p:cNvSpPr>
            <a:spLocks noGrp="1"/>
          </p:cNvSpPr>
          <p:nvPr>
            <p:ph type="title"/>
          </p:nvPr>
        </p:nvSpPr>
        <p:spPr>
          <a:xfrm>
            <a:off x="521207" y="448056"/>
            <a:ext cx="9293353" cy="640080"/>
          </a:xfrm>
        </p:spPr>
        <p:txBody>
          <a:bodyPr>
            <a:noAutofit/>
          </a:bodyPr>
          <a:lstStyle/>
          <a:p>
            <a:r>
              <a:rPr lang="en-US" sz="3600" b="1" dirty="0">
                <a:solidFill>
                  <a:srgbClr val="C00000"/>
                </a:solidFill>
              </a:rPr>
              <a:t>Drill Pipe Selection</a:t>
            </a:r>
            <a:endParaRPr lang="en-ID" sz="3600" b="1" dirty="0">
              <a:solidFill>
                <a:srgbClr val="C00000"/>
              </a:solidFill>
            </a:endParaRPr>
          </a:p>
        </p:txBody>
      </p:sp>
      <p:sp>
        <p:nvSpPr>
          <p:cNvPr id="3" name="TextBox 2">
            <a:extLst>
              <a:ext uri="{FF2B5EF4-FFF2-40B4-BE49-F238E27FC236}">
                <a16:creationId xmlns:a16="http://schemas.microsoft.com/office/drawing/2014/main" id="{9EA7D02A-3A11-7CDD-30FA-C7BFD6645B40}"/>
              </a:ext>
            </a:extLst>
          </p:cNvPr>
          <p:cNvSpPr txBox="1"/>
          <p:nvPr/>
        </p:nvSpPr>
        <p:spPr>
          <a:xfrm>
            <a:off x="768652" y="1598993"/>
            <a:ext cx="10810204" cy="3539430"/>
          </a:xfrm>
          <a:prstGeom prst="rect">
            <a:avLst/>
          </a:prstGeom>
          <a:noFill/>
        </p:spPr>
        <p:txBody>
          <a:bodyPr wrap="square">
            <a:spAutoFit/>
          </a:bodyPr>
          <a:lstStyle/>
          <a:p>
            <a:r>
              <a:rPr lang="en-US" sz="3200" dirty="0"/>
              <a:t>Drill pipe function: </a:t>
            </a:r>
          </a:p>
          <a:p>
            <a:pPr marL="285750" indent="-285750">
              <a:buFont typeface="Arial" panose="020B0604020202020204" pitchFamily="34" charset="0"/>
              <a:buChar char="•"/>
            </a:pPr>
            <a:r>
              <a:rPr lang="en-ID" sz="3200" dirty="0"/>
              <a:t>To hang all drill string tension load (Pick up and slack off)</a:t>
            </a:r>
          </a:p>
          <a:p>
            <a:pPr marL="285750" indent="-285750">
              <a:buFont typeface="Arial" panose="020B0604020202020204" pitchFamily="34" charset="0"/>
              <a:buChar char="•"/>
            </a:pPr>
            <a:r>
              <a:rPr lang="en-ID" sz="3200" dirty="0"/>
              <a:t>To rotate the drill string and transfer drilling torque</a:t>
            </a:r>
          </a:p>
          <a:p>
            <a:pPr marL="285750" indent="-285750">
              <a:buFont typeface="Arial" panose="020B0604020202020204" pitchFamily="34" charset="0"/>
              <a:buChar char="•"/>
            </a:pPr>
            <a:r>
              <a:rPr lang="en-ID" sz="3200" dirty="0"/>
              <a:t>To be line for circulation drilling fluid, </a:t>
            </a:r>
            <a:r>
              <a:rPr lang="en-US" sz="3200" dirty="0"/>
              <a:t>allow drilling fluid to be pumped down the hole through the bit and back up the annulus</a:t>
            </a:r>
            <a:endParaRPr lang="en-ID" sz="3200" dirty="0"/>
          </a:p>
          <a:p>
            <a:pPr marL="285750" indent="-285750">
              <a:buFont typeface="Arial" panose="020B0604020202020204" pitchFamily="34" charset="0"/>
              <a:buChar char="•"/>
            </a:pPr>
            <a:endParaRPr lang="en-ID" sz="3200" dirty="0"/>
          </a:p>
        </p:txBody>
      </p:sp>
    </p:spTree>
    <p:extLst>
      <p:ext uri="{BB962C8B-B14F-4D97-AF65-F5344CB8AC3E}">
        <p14:creationId xmlns:p14="http://schemas.microsoft.com/office/powerpoint/2010/main" val="3290048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6BEB-885B-AAF6-2BDA-D2068E5E7D28}"/>
              </a:ext>
            </a:extLst>
          </p:cNvPr>
          <p:cNvSpPr>
            <a:spLocks noGrp="1"/>
          </p:cNvSpPr>
          <p:nvPr>
            <p:ph type="title"/>
          </p:nvPr>
        </p:nvSpPr>
        <p:spPr/>
        <p:txBody>
          <a:bodyPr/>
          <a:lstStyle/>
          <a:p>
            <a:r>
              <a:rPr lang="en-US" dirty="0"/>
              <a:t>Drilling Torque On Bottom</a:t>
            </a:r>
            <a:endParaRPr lang="en-ID" dirty="0"/>
          </a:p>
        </p:txBody>
      </p:sp>
      <p:pic>
        <p:nvPicPr>
          <p:cNvPr id="12" name="Picture 11">
            <a:extLst>
              <a:ext uri="{FF2B5EF4-FFF2-40B4-BE49-F238E27FC236}">
                <a16:creationId xmlns:a16="http://schemas.microsoft.com/office/drawing/2014/main" id="{EF5FC5B2-52EA-E51D-9625-406C58932AFB}"/>
              </a:ext>
            </a:extLst>
          </p:cNvPr>
          <p:cNvPicPr>
            <a:picLocks noChangeAspect="1"/>
          </p:cNvPicPr>
          <p:nvPr/>
        </p:nvPicPr>
        <p:blipFill>
          <a:blip r:embed="rId2"/>
          <a:stretch>
            <a:fillRect/>
          </a:stretch>
        </p:blipFill>
        <p:spPr>
          <a:xfrm>
            <a:off x="601333" y="1225829"/>
            <a:ext cx="4105346" cy="5408888"/>
          </a:xfrm>
          <a:prstGeom prst="rect">
            <a:avLst/>
          </a:prstGeom>
        </p:spPr>
      </p:pic>
      <p:sp>
        <p:nvSpPr>
          <p:cNvPr id="13" name="TextBox 12">
            <a:extLst>
              <a:ext uri="{FF2B5EF4-FFF2-40B4-BE49-F238E27FC236}">
                <a16:creationId xmlns:a16="http://schemas.microsoft.com/office/drawing/2014/main" id="{7A90F7EE-E0C4-7FD6-2925-EE3ECF2E03E8}"/>
              </a:ext>
            </a:extLst>
          </p:cNvPr>
          <p:cNvSpPr txBox="1"/>
          <p:nvPr/>
        </p:nvSpPr>
        <p:spPr>
          <a:xfrm>
            <a:off x="4706679" y="1668115"/>
            <a:ext cx="7485321" cy="3539430"/>
          </a:xfrm>
          <a:prstGeom prst="rect">
            <a:avLst/>
          </a:prstGeom>
          <a:noFill/>
        </p:spPr>
        <p:txBody>
          <a:bodyPr wrap="square">
            <a:spAutoFit/>
          </a:bodyPr>
          <a:lstStyle/>
          <a:p>
            <a:r>
              <a:rPr lang="en-US" sz="3200" b="1" dirty="0">
                <a:solidFill>
                  <a:srgbClr val="C00000"/>
                </a:solidFill>
              </a:rPr>
              <a:t>Drilling Torque simulation: </a:t>
            </a:r>
          </a:p>
          <a:p>
            <a:endParaRPr lang="en-US" sz="3200" b="1" dirty="0">
              <a:solidFill>
                <a:srgbClr val="C00000"/>
              </a:solidFill>
            </a:endParaRPr>
          </a:p>
          <a:p>
            <a:pPr marL="285750" indent="-285750">
              <a:buFont typeface="Arial" panose="020B0604020202020204" pitchFamily="34" charset="0"/>
              <a:buChar char="•"/>
            </a:pPr>
            <a:r>
              <a:rPr lang="en-US" sz="3200" dirty="0"/>
              <a:t>Using Friction Factor 0.7, the surface torque was less than 20 Klbs ft</a:t>
            </a:r>
          </a:p>
          <a:p>
            <a:pPr marL="285750" indent="-285750">
              <a:buFont typeface="Arial" panose="020B0604020202020204" pitchFamily="34" charset="0"/>
              <a:buChar char="•"/>
            </a:pPr>
            <a:endParaRPr lang="en-US" sz="3200" dirty="0"/>
          </a:p>
          <a:p>
            <a:pPr marL="285750" indent="-285750">
              <a:buFont typeface="Arial" panose="020B0604020202020204" pitchFamily="34" charset="0"/>
              <a:buChar char="•"/>
            </a:pPr>
            <a:r>
              <a:rPr lang="en-US" sz="3200" dirty="0"/>
              <a:t>Accepted range to use 5” 19 </a:t>
            </a:r>
            <a:r>
              <a:rPr lang="en-US" sz="3200" dirty="0" err="1"/>
              <a:t>ppf</a:t>
            </a:r>
            <a:r>
              <a:rPr lang="en-US" sz="3200" dirty="0"/>
              <a:t>, G-105, 4-1/2” IF </a:t>
            </a:r>
            <a:endParaRPr lang="en-ID" sz="3200" dirty="0"/>
          </a:p>
        </p:txBody>
      </p:sp>
    </p:spTree>
    <p:extLst>
      <p:ext uri="{BB962C8B-B14F-4D97-AF65-F5344CB8AC3E}">
        <p14:creationId xmlns:p14="http://schemas.microsoft.com/office/powerpoint/2010/main" val="423549387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6BEB-885B-AAF6-2BDA-D2068E5E7D28}"/>
              </a:ext>
            </a:extLst>
          </p:cNvPr>
          <p:cNvSpPr>
            <a:spLocks noGrp="1"/>
          </p:cNvSpPr>
          <p:nvPr>
            <p:ph type="title"/>
          </p:nvPr>
        </p:nvSpPr>
        <p:spPr/>
        <p:txBody>
          <a:bodyPr/>
          <a:lstStyle/>
          <a:p>
            <a:r>
              <a:rPr lang="en-US" dirty="0"/>
              <a:t>Drill Pipe Tensile Load</a:t>
            </a:r>
            <a:endParaRPr lang="en-ID" dirty="0"/>
          </a:p>
        </p:txBody>
      </p:sp>
      <p:pic>
        <p:nvPicPr>
          <p:cNvPr id="11" name="Picture 10">
            <a:extLst>
              <a:ext uri="{FF2B5EF4-FFF2-40B4-BE49-F238E27FC236}">
                <a16:creationId xmlns:a16="http://schemas.microsoft.com/office/drawing/2014/main" id="{75758EA8-7950-72A6-E1B6-E6CF9436B887}"/>
              </a:ext>
            </a:extLst>
          </p:cNvPr>
          <p:cNvPicPr>
            <a:picLocks noChangeAspect="1"/>
          </p:cNvPicPr>
          <p:nvPr/>
        </p:nvPicPr>
        <p:blipFill>
          <a:blip r:embed="rId2"/>
          <a:stretch>
            <a:fillRect/>
          </a:stretch>
        </p:blipFill>
        <p:spPr>
          <a:xfrm>
            <a:off x="637954" y="1268359"/>
            <a:ext cx="4105346" cy="5408888"/>
          </a:xfrm>
          <a:prstGeom prst="rect">
            <a:avLst/>
          </a:prstGeom>
        </p:spPr>
      </p:pic>
      <p:sp>
        <p:nvSpPr>
          <p:cNvPr id="3" name="TextBox 2">
            <a:extLst>
              <a:ext uri="{FF2B5EF4-FFF2-40B4-BE49-F238E27FC236}">
                <a16:creationId xmlns:a16="http://schemas.microsoft.com/office/drawing/2014/main" id="{6055C87F-B115-7FFE-69AD-6788FA5260BD}"/>
              </a:ext>
            </a:extLst>
          </p:cNvPr>
          <p:cNvSpPr txBox="1"/>
          <p:nvPr/>
        </p:nvSpPr>
        <p:spPr>
          <a:xfrm>
            <a:off x="4743300" y="1268359"/>
            <a:ext cx="7212605" cy="5139869"/>
          </a:xfrm>
          <a:prstGeom prst="rect">
            <a:avLst/>
          </a:prstGeom>
          <a:noFill/>
        </p:spPr>
        <p:txBody>
          <a:bodyPr wrap="square">
            <a:spAutoFit/>
          </a:bodyPr>
          <a:lstStyle/>
          <a:p>
            <a:r>
              <a:rPr lang="en-US" sz="3200" dirty="0"/>
              <a:t>Pick Up Load: </a:t>
            </a:r>
          </a:p>
          <a:p>
            <a:pPr marL="285750" indent="-285750">
              <a:buFont typeface="Arial" panose="020B0604020202020204" pitchFamily="34" charset="0"/>
              <a:buChar char="•"/>
            </a:pPr>
            <a:r>
              <a:rPr lang="en-US" sz="2400" dirty="0"/>
              <a:t>80% Drill Pipe Capacity, 5”, 19 </a:t>
            </a:r>
            <a:r>
              <a:rPr lang="en-US" sz="2400" dirty="0" err="1"/>
              <a:t>ppf</a:t>
            </a:r>
            <a:r>
              <a:rPr lang="en-US" sz="2400" dirty="0"/>
              <a:t>, G-105, Premium Class = </a:t>
            </a:r>
            <a:r>
              <a:rPr lang="en-US" sz="2400" b="1" dirty="0">
                <a:solidFill>
                  <a:srgbClr val="C00000"/>
                </a:solidFill>
              </a:rPr>
              <a:t>349 Klbs</a:t>
            </a:r>
          </a:p>
          <a:p>
            <a:pPr marL="285750" indent="-285750">
              <a:buFont typeface="Arial" panose="020B0604020202020204" pitchFamily="34" charset="0"/>
              <a:buChar char="•"/>
            </a:pPr>
            <a:r>
              <a:rPr lang="en-US" sz="2400" dirty="0"/>
              <a:t>Using Friction Factor 0.7, the pick up load 326 </a:t>
            </a:r>
            <a:r>
              <a:rPr lang="en-US" sz="2400" dirty="0" err="1"/>
              <a:t>klbs</a:t>
            </a:r>
            <a:r>
              <a:rPr lang="en-US" sz="2400" dirty="0"/>
              <a:t> (at 3000 m-MD) and </a:t>
            </a:r>
            <a:r>
              <a:rPr lang="en-US" sz="2400" dirty="0">
                <a:solidFill>
                  <a:srgbClr val="C00000"/>
                </a:solidFill>
              </a:rPr>
              <a:t>356 </a:t>
            </a:r>
            <a:r>
              <a:rPr lang="en-US" sz="2400" dirty="0" err="1">
                <a:solidFill>
                  <a:srgbClr val="C00000"/>
                </a:solidFill>
              </a:rPr>
              <a:t>klbs</a:t>
            </a:r>
            <a:r>
              <a:rPr lang="en-US" sz="2400" dirty="0">
                <a:solidFill>
                  <a:srgbClr val="C00000"/>
                </a:solidFill>
              </a:rPr>
              <a:t> </a:t>
            </a:r>
            <a:r>
              <a:rPr lang="en-US" sz="2400" dirty="0"/>
              <a:t>(at 3300 m-MD).</a:t>
            </a:r>
          </a:p>
          <a:p>
            <a:pPr marL="285750" indent="-285750">
              <a:buFont typeface="Arial" panose="020B0604020202020204" pitchFamily="34" charset="0"/>
              <a:buChar char="•"/>
            </a:pPr>
            <a:r>
              <a:rPr lang="en-US" sz="2400" dirty="0"/>
              <a:t>If any pipe stuck and need to activated the drilling Jars with </a:t>
            </a:r>
            <a:r>
              <a:rPr lang="en-US" sz="2400" b="1" dirty="0">
                <a:solidFill>
                  <a:srgbClr val="FF0000"/>
                </a:solidFill>
              </a:rPr>
              <a:t>120 </a:t>
            </a:r>
            <a:r>
              <a:rPr lang="en-US" sz="2400" b="1" dirty="0" err="1">
                <a:solidFill>
                  <a:srgbClr val="FF0000"/>
                </a:solidFill>
              </a:rPr>
              <a:t>klbs</a:t>
            </a:r>
            <a:r>
              <a:rPr lang="en-US" sz="2400" b="1" dirty="0">
                <a:solidFill>
                  <a:srgbClr val="FF0000"/>
                </a:solidFill>
              </a:rPr>
              <a:t> </a:t>
            </a:r>
            <a:r>
              <a:rPr lang="en-US" sz="2400" dirty="0"/>
              <a:t>over pulled. </a:t>
            </a:r>
          </a:p>
          <a:p>
            <a:pPr marL="285750" indent="-285750">
              <a:buFont typeface="Arial" panose="020B0604020202020204" pitchFamily="34" charset="0"/>
              <a:buChar char="•"/>
            </a:pPr>
            <a:r>
              <a:rPr lang="en-US" sz="2400" dirty="0"/>
              <a:t>Need to pick up the drill string </a:t>
            </a:r>
            <a:r>
              <a:rPr lang="en-US" sz="2400" b="1" dirty="0">
                <a:solidFill>
                  <a:srgbClr val="C00000"/>
                </a:solidFill>
              </a:rPr>
              <a:t>446 – 476 </a:t>
            </a:r>
            <a:r>
              <a:rPr lang="en-US" sz="2400" b="1" dirty="0" err="1">
                <a:solidFill>
                  <a:srgbClr val="C00000"/>
                </a:solidFill>
              </a:rPr>
              <a:t>klbs</a:t>
            </a:r>
            <a:r>
              <a:rPr lang="en-US" sz="2400" b="1" dirty="0">
                <a:solidFill>
                  <a:srgbClr val="C00000"/>
                </a:solidFill>
              </a:rPr>
              <a:t> </a:t>
            </a:r>
            <a:r>
              <a:rPr lang="en-US" sz="2400" b="1" dirty="0">
                <a:solidFill>
                  <a:srgbClr val="C00000"/>
                </a:solidFill>
                <a:sym typeface="Wingdings" panose="05000000000000000000" pitchFamily="2" charset="2"/>
              </a:rPr>
              <a:t> exceeded DP tension capacity.</a:t>
            </a:r>
          </a:p>
          <a:p>
            <a:pPr marL="285750" indent="-285750">
              <a:buFont typeface="Arial" panose="020B0604020202020204" pitchFamily="34" charset="0"/>
              <a:buChar char="•"/>
            </a:pPr>
            <a:r>
              <a:rPr lang="en-US" sz="2400" b="1" dirty="0">
                <a:solidFill>
                  <a:srgbClr val="C00000"/>
                </a:solidFill>
                <a:sym typeface="Wingdings" panose="05000000000000000000" pitchFamily="2" charset="2"/>
              </a:rPr>
              <a:t>Need to combine the DP with higher tensile capacity</a:t>
            </a:r>
            <a:endParaRPr lang="en-US" sz="2400" b="1" dirty="0">
              <a:solidFill>
                <a:srgbClr val="C00000"/>
              </a:solidFill>
            </a:endParaRPr>
          </a:p>
          <a:p>
            <a:pPr marL="285750" indent="-285750">
              <a:buFont typeface="Arial" panose="020B0604020202020204" pitchFamily="34" charset="0"/>
              <a:buChar char="•"/>
            </a:pPr>
            <a:endParaRPr lang="en-US" sz="3200" dirty="0"/>
          </a:p>
        </p:txBody>
      </p:sp>
    </p:spTree>
    <p:extLst>
      <p:ext uri="{BB962C8B-B14F-4D97-AF65-F5344CB8AC3E}">
        <p14:creationId xmlns:p14="http://schemas.microsoft.com/office/powerpoint/2010/main" val="209345007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13898-7050-4925-9B7C-45EACE07E0D9}"/>
              </a:ext>
            </a:extLst>
          </p:cNvPr>
          <p:cNvSpPr>
            <a:spLocks noGrp="1"/>
          </p:cNvSpPr>
          <p:nvPr>
            <p:ph type="title"/>
          </p:nvPr>
        </p:nvSpPr>
        <p:spPr>
          <a:xfrm>
            <a:off x="521207" y="448056"/>
            <a:ext cx="9293353" cy="640080"/>
          </a:xfrm>
        </p:spPr>
        <p:txBody>
          <a:bodyPr>
            <a:noAutofit/>
          </a:bodyPr>
          <a:lstStyle/>
          <a:p>
            <a:r>
              <a:rPr lang="en-US" sz="3600" b="1" dirty="0">
                <a:solidFill>
                  <a:srgbClr val="C00000"/>
                </a:solidFill>
              </a:rPr>
              <a:t>Drill Pipe Selection</a:t>
            </a:r>
            <a:endParaRPr lang="en-ID" sz="3600" b="1" dirty="0">
              <a:solidFill>
                <a:srgbClr val="C00000"/>
              </a:solidFill>
            </a:endParaRPr>
          </a:p>
        </p:txBody>
      </p:sp>
      <p:sp>
        <p:nvSpPr>
          <p:cNvPr id="8" name="TextBox 7">
            <a:extLst>
              <a:ext uri="{FF2B5EF4-FFF2-40B4-BE49-F238E27FC236}">
                <a16:creationId xmlns:a16="http://schemas.microsoft.com/office/drawing/2014/main" id="{82F84E5C-C528-971E-D6CB-6039A0E411B1}"/>
              </a:ext>
            </a:extLst>
          </p:cNvPr>
          <p:cNvSpPr txBox="1"/>
          <p:nvPr/>
        </p:nvSpPr>
        <p:spPr>
          <a:xfrm>
            <a:off x="768652" y="1598993"/>
            <a:ext cx="9396074" cy="4031873"/>
          </a:xfrm>
          <a:prstGeom prst="rect">
            <a:avLst/>
          </a:prstGeom>
          <a:noFill/>
        </p:spPr>
        <p:txBody>
          <a:bodyPr wrap="square">
            <a:spAutoFit/>
          </a:bodyPr>
          <a:lstStyle/>
          <a:p>
            <a:r>
              <a:rPr lang="en-US" sz="3200" dirty="0"/>
              <a:t>Drill pipe commonly used (TD &lt; </a:t>
            </a:r>
            <a:r>
              <a:rPr lang="en-US" sz="3200" u="sng" dirty="0"/>
              <a:t>+</a:t>
            </a:r>
            <a:r>
              <a:rPr lang="en-US" sz="3200" dirty="0"/>
              <a:t> 2500 m-MD): </a:t>
            </a:r>
          </a:p>
          <a:p>
            <a:pPr marL="285750" indent="-285750">
              <a:buFont typeface="Arial" panose="020B0604020202020204" pitchFamily="34" charset="0"/>
              <a:buChar char="•"/>
            </a:pPr>
            <a:r>
              <a:rPr lang="en-ID" sz="3200" dirty="0"/>
              <a:t>5” 19 </a:t>
            </a:r>
            <a:r>
              <a:rPr lang="en-ID" sz="3200" dirty="0" err="1"/>
              <a:t>ppf</a:t>
            </a:r>
            <a:r>
              <a:rPr lang="en-ID" sz="3200" dirty="0"/>
              <a:t>, G-105, 4-1/2” IF</a:t>
            </a:r>
          </a:p>
          <a:p>
            <a:pPr marL="285750" indent="-285750">
              <a:buFont typeface="Arial" panose="020B0604020202020204" pitchFamily="34" charset="0"/>
              <a:buChar char="•"/>
            </a:pPr>
            <a:endParaRPr lang="en-ID" sz="3200" dirty="0"/>
          </a:p>
          <a:p>
            <a:r>
              <a:rPr lang="en-US" sz="3200" dirty="0"/>
              <a:t>Drill pipe commonly combine used for Deep well: </a:t>
            </a:r>
          </a:p>
          <a:p>
            <a:pPr marL="457200" indent="-457200">
              <a:buFont typeface="Arial" panose="020B0604020202020204" pitchFamily="34" charset="0"/>
              <a:buChar char="•"/>
            </a:pPr>
            <a:r>
              <a:rPr lang="en-ID" sz="3200" dirty="0"/>
              <a:t>5” 19 </a:t>
            </a:r>
            <a:r>
              <a:rPr lang="en-ID" sz="3200" dirty="0" err="1"/>
              <a:t>ppf</a:t>
            </a:r>
            <a:r>
              <a:rPr lang="en-ID" sz="3200" dirty="0"/>
              <a:t>, G-105, 4-1/2” IF</a:t>
            </a:r>
          </a:p>
          <a:p>
            <a:pPr marL="457200" indent="-457200">
              <a:buFont typeface="Arial" panose="020B0604020202020204" pitchFamily="34" charset="0"/>
              <a:buChar char="•"/>
            </a:pPr>
            <a:r>
              <a:rPr lang="en-ID" sz="3200" dirty="0"/>
              <a:t>5” 19 </a:t>
            </a:r>
            <a:r>
              <a:rPr lang="en-ID" sz="3200" dirty="0" err="1"/>
              <a:t>ppf</a:t>
            </a:r>
            <a:r>
              <a:rPr lang="en-ID" sz="3200" dirty="0"/>
              <a:t>, S-135, 4-1/2” IF</a:t>
            </a:r>
          </a:p>
          <a:p>
            <a:pPr marL="457200" indent="-457200">
              <a:buFont typeface="Arial" panose="020B0604020202020204" pitchFamily="34" charset="0"/>
              <a:buChar char="•"/>
            </a:pPr>
            <a:r>
              <a:rPr lang="en-ID" sz="3200" dirty="0"/>
              <a:t>5” 24 </a:t>
            </a:r>
            <a:r>
              <a:rPr lang="en-ID" sz="3200" dirty="0" err="1"/>
              <a:t>ppf</a:t>
            </a:r>
            <a:r>
              <a:rPr lang="en-ID" sz="3200" dirty="0"/>
              <a:t>, G-105, 4-1/2” IF</a:t>
            </a:r>
          </a:p>
          <a:p>
            <a:pPr marL="457200" indent="-457200">
              <a:buFont typeface="Arial" panose="020B0604020202020204" pitchFamily="34" charset="0"/>
              <a:buChar char="•"/>
            </a:pPr>
            <a:r>
              <a:rPr lang="en-ID" sz="3200" dirty="0"/>
              <a:t>5.5” 19 </a:t>
            </a:r>
            <a:r>
              <a:rPr lang="en-ID" sz="3200" dirty="0" err="1"/>
              <a:t>ppf</a:t>
            </a:r>
            <a:r>
              <a:rPr lang="en-ID" sz="3200" dirty="0"/>
              <a:t>, G-105, 5-1/2” IF</a:t>
            </a:r>
          </a:p>
        </p:txBody>
      </p:sp>
      <p:sp>
        <p:nvSpPr>
          <p:cNvPr id="4" name="Right Brace 3">
            <a:extLst>
              <a:ext uri="{FF2B5EF4-FFF2-40B4-BE49-F238E27FC236}">
                <a16:creationId xmlns:a16="http://schemas.microsoft.com/office/drawing/2014/main" id="{9B05B30A-F78D-A68F-4175-E96DD53A4BE4}"/>
              </a:ext>
            </a:extLst>
          </p:cNvPr>
          <p:cNvSpPr/>
          <p:nvPr/>
        </p:nvSpPr>
        <p:spPr>
          <a:xfrm>
            <a:off x="6570921" y="3710763"/>
            <a:ext cx="489097" cy="1765004"/>
          </a:xfrm>
          <a:prstGeom prst="rightBrace">
            <a:avLst/>
          </a:prstGeom>
          <a:ln w="53975" cap="flat">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pic>
        <p:nvPicPr>
          <p:cNvPr id="1026" name="Picture 2">
            <a:extLst>
              <a:ext uri="{FF2B5EF4-FFF2-40B4-BE49-F238E27FC236}">
                <a16:creationId xmlns:a16="http://schemas.microsoft.com/office/drawing/2014/main" id="{1DB65C9E-4D08-BB16-9106-375AE0FE98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2035" y="3710762"/>
            <a:ext cx="1765003" cy="176500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511D68-B808-4E35-B01F-314BAE2072E4}"/>
              </a:ext>
            </a:extLst>
          </p:cNvPr>
          <p:cNvSpPr txBox="1"/>
          <p:nvPr/>
        </p:nvSpPr>
        <p:spPr>
          <a:xfrm>
            <a:off x="7060018" y="4151645"/>
            <a:ext cx="3338624" cy="830997"/>
          </a:xfrm>
          <a:prstGeom prst="rect">
            <a:avLst/>
          </a:prstGeom>
          <a:noFill/>
        </p:spPr>
        <p:txBody>
          <a:bodyPr wrap="square" rtlCol="0">
            <a:spAutoFit/>
          </a:bodyPr>
          <a:lstStyle/>
          <a:p>
            <a:r>
              <a:rPr lang="en-US" sz="2400" b="1" dirty="0">
                <a:solidFill>
                  <a:srgbClr val="C00000"/>
                </a:solidFill>
                <a:latin typeface="Cavolini" panose="03000502040302020204" pitchFamily="66" charset="0"/>
                <a:cs typeface="Cavolini" panose="03000502040302020204" pitchFamily="66" charset="0"/>
              </a:rPr>
              <a:t>To be selected for the most economic</a:t>
            </a:r>
            <a:endParaRPr lang="en-ID" sz="2400" b="1" dirty="0">
              <a:solidFill>
                <a:srgbClr val="C00000"/>
              </a:solidFill>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429180502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25039"/>
            <a:ext cx="8229600" cy="1143000"/>
          </a:xfrm>
        </p:spPr>
        <p:txBody>
          <a:bodyPr>
            <a:normAutofit/>
          </a:bodyPr>
          <a:lstStyle/>
          <a:p>
            <a:r>
              <a:rPr lang="en-US" sz="4000" b="1" dirty="0">
                <a:solidFill>
                  <a:srgbClr val="C00000"/>
                </a:solidFill>
              </a:rPr>
              <a:t>OVER PULLED – at 3000 m-MD</a:t>
            </a:r>
          </a:p>
        </p:txBody>
      </p:sp>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569388" y="1415731"/>
            <a:ext cx="4738340" cy="5362772"/>
          </a:xfrm>
          <a:prstGeom prst="rect">
            <a:avLst/>
          </a:prstGeom>
        </p:spPr>
      </p:pic>
      <p:graphicFrame>
        <p:nvGraphicFramePr>
          <p:cNvPr id="3" name="Table 2"/>
          <p:cNvGraphicFramePr>
            <a:graphicFrameLocks noGrp="1"/>
          </p:cNvGraphicFramePr>
          <p:nvPr/>
        </p:nvGraphicFramePr>
        <p:xfrm>
          <a:off x="6287693" y="1415731"/>
          <a:ext cx="4272804" cy="3505200"/>
        </p:xfrm>
        <a:graphic>
          <a:graphicData uri="http://schemas.openxmlformats.org/drawingml/2006/table">
            <a:tbl>
              <a:tblPr firstRow="1" bandRow="1">
                <a:tableStyleId>{5C22544A-7EE6-4342-B048-85BDC9FD1C3A}</a:tableStyleId>
              </a:tblPr>
              <a:tblGrid>
                <a:gridCol w="1968547">
                  <a:extLst>
                    <a:ext uri="{9D8B030D-6E8A-4147-A177-3AD203B41FA5}">
                      <a16:colId xmlns:a16="http://schemas.microsoft.com/office/drawing/2014/main" val="769653572"/>
                    </a:ext>
                  </a:extLst>
                </a:gridCol>
                <a:gridCol w="1224136">
                  <a:extLst>
                    <a:ext uri="{9D8B030D-6E8A-4147-A177-3AD203B41FA5}">
                      <a16:colId xmlns:a16="http://schemas.microsoft.com/office/drawing/2014/main" val="750519190"/>
                    </a:ext>
                  </a:extLst>
                </a:gridCol>
                <a:gridCol w="1080121">
                  <a:extLst>
                    <a:ext uri="{9D8B030D-6E8A-4147-A177-3AD203B41FA5}">
                      <a16:colId xmlns:a16="http://schemas.microsoft.com/office/drawing/2014/main" val="2742078129"/>
                    </a:ext>
                  </a:extLst>
                </a:gridCol>
              </a:tblGrid>
              <a:tr h="447824">
                <a:tc>
                  <a:txBody>
                    <a:bodyPr/>
                    <a:lstStyle/>
                    <a:p>
                      <a:r>
                        <a:rPr lang="en-US" dirty="0"/>
                        <a:t>Description</a:t>
                      </a:r>
                    </a:p>
                  </a:txBody>
                  <a:tcPr/>
                </a:tc>
                <a:tc>
                  <a:txBody>
                    <a:bodyPr/>
                    <a:lstStyle/>
                    <a:p>
                      <a:r>
                        <a:rPr lang="en-US" dirty="0"/>
                        <a:t>Off Bottom</a:t>
                      </a:r>
                    </a:p>
                  </a:txBody>
                  <a:tcPr/>
                </a:tc>
                <a:tc>
                  <a:txBody>
                    <a:bodyPr/>
                    <a:lstStyle/>
                    <a:p>
                      <a:r>
                        <a:rPr lang="en-US" dirty="0"/>
                        <a:t>On Bottom</a:t>
                      </a:r>
                    </a:p>
                  </a:txBody>
                  <a:tcPr/>
                </a:tc>
                <a:extLst>
                  <a:ext uri="{0D108BD9-81ED-4DB2-BD59-A6C34878D82A}">
                    <a16:rowId xmlns:a16="http://schemas.microsoft.com/office/drawing/2014/main" val="711259631"/>
                  </a:ext>
                </a:extLst>
              </a:tr>
              <a:tr h="370840">
                <a:tc>
                  <a:txBody>
                    <a:bodyPr/>
                    <a:lstStyle/>
                    <a:p>
                      <a:r>
                        <a:rPr lang="en-US" dirty="0"/>
                        <a:t>Travelling Block</a:t>
                      </a:r>
                    </a:p>
                  </a:txBody>
                  <a:tcPr/>
                </a:tc>
                <a:tc>
                  <a:txBody>
                    <a:bodyPr/>
                    <a:lstStyle/>
                    <a:p>
                      <a:r>
                        <a:rPr lang="en-US" dirty="0"/>
                        <a:t>30 </a:t>
                      </a:r>
                      <a:r>
                        <a:rPr lang="en-US" dirty="0" err="1"/>
                        <a:t>Klbs</a:t>
                      </a:r>
                      <a:endParaRPr lang="en-US" dirty="0"/>
                    </a:p>
                  </a:txBody>
                  <a:tcPr/>
                </a:tc>
                <a:tc>
                  <a:txBody>
                    <a:bodyPr/>
                    <a:lstStyle/>
                    <a:p>
                      <a:r>
                        <a:rPr lang="en-US" dirty="0"/>
                        <a:t>30 </a:t>
                      </a:r>
                      <a:r>
                        <a:rPr lang="en-US" dirty="0" err="1"/>
                        <a:t>Klbs</a:t>
                      </a:r>
                      <a:endParaRPr lang="en-US" dirty="0"/>
                    </a:p>
                  </a:txBody>
                  <a:tcPr/>
                </a:tc>
                <a:extLst>
                  <a:ext uri="{0D108BD9-81ED-4DB2-BD59-A6C34878D82A}">
                    <a16:rowId xmlns:a16="http://schemas.microsoft.com/office/drawing/2014/main" val="3302594122"/>
                  </a:ext>
                </a:extLst>
              </a:tr>
              <a:tr h="370840">
                <a:tc>
                  <a:txBody>
                    <a:bodyPr/>
                    <a:lstStyle/>
                    <a:p>
                      <a:r>
                        <a:rPr lang="en-US" dirty="0"/>
                        <a:t>TDS</a:t>
                      </a:r>
                    </a:p>
                  </a:txBody>
                  <a:tcPr/>
                </a:tc>
                <a:tc>
                  <a:txBody>
                    <a:bodyPr/>
                    <a:lstStyle/>
                    <a:p>
                      <a:r>
                        <a:rPr lang="en-US" dirty="0"/>
                        <a:t>25 </a:t>
                      </a:r>
                      <a:r>
                        <a:rPr lang="en-US" dirty="0" err="1"/>
                        <a:t>Klbs</a:t>
                      </a:r>
                      <a:endParaRPr lang="en-US" dirty="0"/>
                    </a:p>
                  </a:txBody>
                  <a:tcPr/>
                </a:tc>
                <a:tc>
                  <a:txBody>
                    <a:bodyPr/>
                    <a:lstStyle/>
                    <a:p>
                      <a:r>
                        <a:rPr lang="en-US" dirty="0"/>
                        <a:t>25 </a:t>
                      </a:r>
                      <a:r>
                        <a:rPr lang="en-US" dirty="0" err="1"/>
                        <a:t>Klbs</a:t>
                      </a:r>
                      <a:endParaRPr lang="en-US" dirty="0"/>
                    </a:p>
                  </a:txBody>
                  <a:tcPr/>
                </a:tc>
                <a:extLst>
                  <a:ext uri="{0D108BD9-81ED-4DB2-BD59-A6C34878D82A}">
                    <a16:rowId xmlns:a16="http://schemas.microsoft.com/office/drawing/2014/main" val="70051806"/>
                  </a:ext>
                </a:extLst>
              </a:tr>
              <a:tr h="370840">
                <a:tc>
                  <a:txBody>
                    <a:bodyPr/>
                    <a:lstStyle/>
                    <a:p>
                      <a:r>
                        <a:rPr lang="en-US" dirty="0"/>
                        <a:t>BHA Weight</a:t>
                      </a:r>
                    </a:p>
                  </a:txBody>
                  <a:tcPr/>
                </a:tc>
                <a:tc>
                  <a:txBody>
                    <a:bodyPr/>
                    <a:lstStyle/>
                    <a:p>
                      <a:r>
                        <a:rPr lang="en-US" dirty="0"/>
                        <a:t>326 Klbs</a:t>
                      </a:r>
                    </a:p>
                  </a:txBody>
                  <a:tcPr/>
                </a:tc>
                <a:tc>
                  <a:txBody>
                    <a:bodyPr/>
                    <a:lstStyle/>
                    <a:p>
                      <a:r>
                        <a:rPr lang="en-US" dirty="0"/>
                        <a:t>326 Klbs</a:t>
                      </a:r>
                    </a:p>
                  </a:txBody>
                  <a:tcPr/>
                </a:tc>
                <a:extLst>
                  <a:ext uri="{0D108BD9-81ED-4DB2-BD59-A6C34878D82A}">
                    <a16:rowId xmlns:a16="http://schemas.microsoft.com/office/drawing/2014/main" val="1705961115"/>
                  </a:ext>
                </a:extLst>
              </a:tr>
              <a:tr h="370840">
                <a:tc>
                  <a:txBody>
                    <a:bodyPr/>
                    <a:lstStyle/>
                    <a:p>
                      <a:r>
                        <a:rPr lang="en-US" dirty="0"/>
                        <a:t>Over</a:t>
                      </a:r>
                      <a:r>
                        <a:rPr lang="en-US" baseline="0" dirty="0"/>
                        <a:t> Pulled</a:t>
                      </a:r>
                      <a:endParaRPr lang="en-US" dirty="0"/>
                    </a:p>
                  </a:txBody>
                  <a:tcPr/>
                </a:tc>
                <a:tc>
                  <a:txBody>
                    <a:bodyPr/>
                    <a:lstStyle/>
                    <a:p>
                      <a:r>
                        <a:rPr lang="en-US" dirty="0"/>
                        <a:t>None</a:t>
                      </a:r>
                    </a:p>
                  </a:txBody>
                  <a:tcPr/>
                </a:tc>
                <a:tc>
                  <a:txBody>
                    <a:bodyPr/>
                    <a:lstStyle/>
                    <a:p>
                      <a:r>
                        <a:rPr lang="en-US" dirty="0"/>
                        <a:t>120 Klbs</a:t>
                      </a:r>
                    </a:p>
                  </a:txBody>
                  <a:tcPr/>
                </a:tc>
                <a:extLst>
                  <a:ext uri="{0D108BD9-81ED-4DB2-BD59-A6C34878D82A}">
                    <a16:rowId xmlns:a16="http://schemas.microsoft.com/office/drawing/2014/main" val="2415810219"/>
                  </a:ext>
                </a:extLst>
              </a:tr>
              <a:tr h="370840">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87246788"/>
                  </a:ext>
                </a:extLst>
              </a:tr>
              <a:tr h="370840">
                <a:tc>
                  <a:txBody>
                    <a:bodyPr/>
                    <a:lstStyle/>
                    <a:p>
                      <a:r>
                        <a:rPr lang="en-US" dirty="0"/>
                        <a:t>Weight Indicator</a:t>
                      </a:r>
                    </a:p>
                  </a:txBody>
                  <a:tcPr/>
                </a:tc>
                <a:tc>
                  <a:txBody>
                    <a:bodyPr/>
                    <a:lstStyle/>
                    <a:p>
                      <a:r>
                        <a:rPr lang="en-US" dirty="0"/>
                        <a:t>381 Klbs</a:t>
                      </a:r>
                    </a:p>
                  </a:txBody>
                  <a:tcPr/>
                </a:tc>
                <a:tc>
                  <a:txBody>
                    <a:bodyPr/>
                    <a:lstStyle/>
                    <a:p>
                      <a:r>
                        <a:rPr lang="en-US" dirty="0"/>
                        <a:t>501 Klbs</a:t>
                      </a:r>
                    </a:p>
                  </a:txBody>
                  <a:tcPr/>
                </a:tc>
                <a:extLst>
                  <a:ext uri="{0D108BD9-81ED-4DB2-BD59-A6C34878D82A}">
                    <a16:rowId xmlns:a16="http://schemas.microsoft.com/office/drawing/2014/main" val="2334086503"/>
                  </a:ext>
                </a:extLst>
              </a:tr>
              <a:tr h="370840">
                <a:tc>
                  <a:txBody>
                    <a:bodyPr/>
                    <a:lstStyle/>
                    <a:p>
                      <a:r>
                        <a:rPr lang="en-US" dirty="0"/>
                        <a:t>Axial Load at DP</a:t>
                      </a:r>
                    </a:p>
                    <a:p>
                      <a:r>
                        <a:rPr lang="en-US" dirty="0" err="1"/>
                        <a:t>Wt</a:t>
                      </a:r>
                      <a:r>
                        <a:rPr lang="en-US" baseline="0" dirty="0"/>
                        <a:t> below TDS</a:t>
                      </a:r>
                      <a:endParaRPr lang="en-US" dirty="0"/>
                    </a:p>
                  </a:txBody>
                  <a:tcPr/>
                </a:tc>
                <a:tc>
                  <a:txBody>
                    <a:bodyPr/>
                    <a:lstStyle/>
                    <a:p>
                      <a:r>
                        <a:rPr lang="en-US" dirty="0"/>
                        <a:t>326 Klbs</a:t>
                      </a:r>
                    </a:p>
                  </a:txBody>
                  <a:tcPr/>
                </a:tc>
                <a:tc>
                  <a:txBody>
                    <a:bodyPr/>
                    <a:lstStyle/>
                    <a:p>
                      <a:r>
                        <a:rPr lang="en-US" dirty="0"/>
                        <a:t>446 Klbs</a:t>
                      </a:r>
                    </a:p>
                  </a:txBody>
                  <a:tcPr/>
                </a:tc>
                <a:extLst>
                  <a:ext uri="{0D108BD9-81ED-4DB2-BD59-A6C34878D82A}">
                    <a16:rowId xmlns:a16="http://schemas.microsoft.com/office/drawing/2014/main" val="987749838"/>
                  </a:ext>
                </a:extLst>
              </a:tr>
            </a:tbl>
          </a:graphicData>
        </a:graphic>
      </p:graphicFrame>
      <p:sp>
        <p:nvSpPr>
          <p:cNvPr id="9" name="Heptagon 8"/>
          <p:cNvSpPr/>
          <p:nvPr/>
        </p:nvSpPr>
        <p:spPr>
          <a:xfrm>
            <a:off x="8002064" y="2131327"/>
            <a:ext cx="288032" cy="20266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
            </a:r>
          </a:p>
        </p:txBody>
      </p:sp>
      <p:sp>
        <p:nvSpPr>
          <p:cNvPr id="11" name="Heptagon 10"/>
          <p:cNvSpPr/>
          <p:nvPr/>
        </p:nvSpPr>
        <p:spPr>
          <a:xfrm>
            <a:off x="8002064" y="2480351"/>
            <a:ext cx="288032" cy="20266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
            </a:r>
          </a:p>
        </p:txBody>
      </p:sp>
      <p:sp>
        <p:nvSpPr>
          <p:cNvPr id="12" name="Heptagon 11"/>
          <p:cNvSpPr/>
          <p:nvPr/>
        </p:nvSpPr>
        <p:spPr>
          <a:xfrm>
            <a:off x="8002064" y="2871457"/>
            <a:ext cx="288032" cy="20266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
            </a:r>
          </a:p>
        </p:txBody>
      </p:sp>
      <p:sp>
        <p:nvSpPr>
          <p:cNvPr id="13" name="Heptagon 12"/>
          <p:cNvSpPr/>
          <p:nvPr/>
        </p:nvSpPr>
        <p:spPr>
          <a:xfrm>
            <a:off x="7985223" y="3262563"/>
            <a:ext cx="288032" cy="20266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
            </a:r>
          </a:p>
        </p:txBody>
      </p:sp>
      <p:sp>
        <p:nvSpPr>
          <p:cNvPr id="5" name="Rectangle 4"/>
          <p:cNvSpPr/>
          <p:nvPr/>
        </p:nvSpPr>
        <p:spPr>
          <a:xfrm>
            <a:off x="4511824" y="5661248"/>
            <a:ext cx="216024" cy="360040"/>
          </a:xfrm>
          <a:prstGeom prst="rect">
            <a:avLst/>
          </a:prstGeom>
          <a:pattFill prst="lgConfetti">
            <a:fgClr>
              <a:srgbClr val="C0000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087888" y="5661248"/>
            <a:ext cx="216024" cy="360040"/>
          </a:xfrm>
          <a:prstGeom prst="rect">
            <a:avLst/>
          </a:prstGeom>
          <a:pattFill prst="lgConfetti">
            <a:fgClr>
              <a:srgbClr val="C0000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Up Arrow 5"/>
          <p:cNvSpPr/>
          <p:nvPr/>
        </p:nvSpPr>
        <p:spPr>
          <a:xfrm>
            <a:off x="4459055" y="5157192"/>
            <a:ext cx="864096" cy="504056"/>
          </a:xfrm>
          <a:prstGeom prst="upArrow">
            <a:avLst/>
          </a:prstGeom>
          <a:solidFill>
            <a:srgbClr val="FF0000">
              <a:alpha val="44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312796" y="5160344"/>
            <a:ext cx="5628105" cy="64633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C00000"/>
                </a:solidFill>
              </a:rPr>
              <a:t>Pipe Stuck </a:t>
            </a:r>
          </a:p>
          <a:p>
            <a:pPr marL="285750" indent="-285750">
              <a:buFont typeface="Arial" panose="020B0604020202020204" pitchFamily="34" charset="0"/>
              <a:buChar char="•"/>
            </a:pPr>
            <a:r>
              <a:rPr lang="en-US" dirty="0">
                <a:solidFill>
                  <a:srgbClr val="C00000"/>
                </a:solidFill>
              </a:rPr>
              <a:t>Attempt to free the pipe with 120 Klbs Overpulled</a:t>
            </a:r>
          </a:p>
        </p:txBody>
      </p:sp>
    </p:spTree>
    <p:extLst>
      <p:ext uri="{BB962C8B-B14F-4D97-AF65-F5344CB8AC3E}">
        <p14:creationId xmlns:p14="http://schemas.microsoft.com/office/powerpoint/2010/main" val="351220246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598" y="44398"/>
            <a:ext cx="8229600" cy="1143000"/>
          </a:xfrm>
        </p:spPr>
        <p:txBody>
          <a:bodyPr>
            <a:normAutofit/>
          </a:bodyPr>
          <a:lstStyle/>
          <a:p>
            <a:r>
              <a:rPr lang="en-US" sz="4000" b="1" dirty="0">
                <a:solidFill>
                  <a:srgbClr val="C00000"/>
                </a:solidFill>
              </a:rPr>
              <a:t>OVER PULLED – 3200 m-MD</a:t>
            </a:r>
          </a:p>
        </p:txBody>
      </p:sp>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91564" y="1281619"/>
            <a:ext cx="4738340" cy="5362772"/>
          </a:xfrm>
          <a:prstGeom prst="rect">
            <a:avLst/>
          </a:prstGeom>
        </p:spPr>
      </p:pic>
      <p:graphicFrame>
        <p:nvGraphicFramePr>
          <p:cNvPr id="3" name="Table 2"/>
          <p:cNvGraphicFramePr>
            <a:graphicFrameLocks noGrp="1"/>
          </p:cNvGraphicFramePr>
          <p:nvPr/>
        </p:nvGraphicFramePr>
        <p:xfrm>
          <a:off x="5575174" y="1281619"/>
          <a:ext cx="6098269" cy="3307864"/>
        </p:xfrm>
        <a:graphic>
          <a:graphicData uri="http://schemas.openxmlformats.org/drawingml/2006/table">
            <a:tbl>
              <a:tblPr firstRow="1" bandRow="1">
                <a:tableStyleId>{5C22544A-7EE6-4342-B048-85BDC9FD1C3A}</a:tableStyleId>
              </a:tblPr>
              <a:tblGrid>
                <a:gridCol w="2737553">
                  <a:extLst>
                    <a:ext uri="{9D8B030D-6E8A-4147-A177-3AD203B41FA5}">
                      <a16:colId xmlns:a16="http://schemas.microsoft.com/office/drawing/2014/main" val="769653572"/>
                    </a:ext>
                  </a:extLst>
                </a:gridCol>
                <a:gridCol w="1710047">
                  <a:extLst>
                    <a:ext uri="{9D8B030D-6E8A-4147-A177-3AD203B41FA5}">
                      <a16:colId xmlns:a16="http://schemas.microsoft.com/office/drawing/2014/main" val="750519190"/>
                    </a:ext>
                  </a:extLst>
                </a:gridCol>
                <a:gridCol w="1650669">
                  <a:extLst>
                    <a:ext uri="{9D8B030D-6E8A-4147-A177-3AD203B41FA5}">
                      <a16:colId xmlns:a16="http://schemas.microsoft.com/office/drawing/2014/main" val="2742078129"/>
                    </a:ext>
                  </a:extLst>
                </a:gridCol>
              </a:tblGrid>
              <a:tr h="447824">
                <a:tc>
                  <a:txBody>
                    <a:bodyPr/>
                    <a:lstStyle/>
                    <a:p>
                      <a:r>
                        <a:rPr lang="en-US" dirty="0"/>
                        <a:t>Description</a:t>
                      </a:r>
                    </a:p>
                  </a:txBody>
                  <a:tcPr/>
                </a:tc>
                <a:tc>
                  <a:txBody>
                    <a:bodyPr/>
                    <a:lstStyle/>
                    <a:p>
                      <a:r>
                        <a:rPr lang="en-US" dirty="0"/>
                        <a:t>Off Bottom</a:t>
                      </a:r>
                    </a:p>
                  </a:txBody>
                  <a:tcPr/>
                </a:tc>
                <a:tc>
                  <a:txBody>
                    <a:bodyPr/>
                    <a:lstStyle/>
                    <a:p>
                      <a:r>
                        <a:rPr lang="en-US" dirty="0"/>
                        <a:t>On Bottom</a:t>
                      </a:r>
                    </a:p>
                  </a:txBody>
                  <a:tcPr/>
                </a:tc>
                <a:extLst>
                  <a:ext uri="{0D108BD9-81ED-4DB2-BD59-A6C34878D82A}">
                    <a16:rowId xmlns:a16="http://schemas.microsoft.com/office/drawing/2014/main" val="711259631"/>
                  </a:ext>
                </a:extLst>
              </a:tr>
              <a:tr h="370840">
                <a:tc>
                  <a:txBody>
                    <a:bodyPr/>
                    <a:lstStyle/>
                    <a:p>
                      <a:r>
                        <a:rPr lang="en-US" dirty="0"/>
                        <a:t>Travelling Block</a:t>
                      </a:r>
                    </a:p>
                  </a:txBody>
                  <a:tcPr/>
                </a:tc>
                <a:tc>
                  <a:txBody>
                    <a:bodyPr/>
                    <a:lstStyle/>
                    <a:p>
                      <a:r>
                        <a:rPr lang="en-US" dirty="0"/>
                        <a:t>30 </a:t>
                      </a:r>
                      <a:r>
                        <a:rPr lang="en-US" dirty="0" err="1"/>
                        <a:t>Klbs</a:t>
                      </a:r>
                      <a:endParaRPr lang="en-US" dirty="0"/>
                    </a:p>
                  </a:txBody>
                  <a:tcPr/>
                </a:tc>
                <a:tc>
                  <a:txBody>
                    <a:bodyPr/>
                    <a:lstStyle/>
                    <a:p>
                      <a:r>
                        <a:rPr lang="en-US" dirty="0"/>
                        <a:t>30 </a:t>
                      </a:r>
                      <a:r>
                        <a:rPr lang="en-US" dirty="0" err="1"/>
                        <a:t>Klbs</a:t>
                      </a:r>
                      <a:endParaRPr lang="en-US" dirty="0"/>
                    </a:p>
                  </a:txBody>
                  <a:tcPr/>
                </a:tc>
                <a:extLst>
                  <a:ext uri="{0D108BD9-81ED-4DB2-BD59-A6C34878D82A}">
                    <a16:rowId xmlns:a16="http://schemas.microsoft.com/office/drawing/2014/main" val="3302594122"/>
                  </a:ext>
                </a:extLst>
              </a:tr>
              <a:tr h="370840">
                <a:tc>
                  <a:txBody>
                    <a:bodyPr/>
                    <a:lstStyle/>
                    <a:p>
                      <a:r>
                        <a:rPr lang="en-US" dirty="0"/>
                        <a:t>TDS</a:t>
                      </a:r>
                    </a:p>
                  </a:txBody>
                  <a:tcPr/>
                </a:tc>
                <a:tc>
                  <a:txBody>
                    <a:bodyPr/>
                    <a:lstStyle/>
                    <a:p>
                      <a:r>
                        <a:rPr lang="en-US" dirty="0"/>
                        <a:t>25 </a:t>
                      </a:r>
                      <a:r>
                        <a:rPr lang="en-US" dirty="0" err="1"/>
                        <a:t>Klbs</a:t>
                      </a:r>
                      <a:endParaRPr lang="en-US" dirty="0"/>
                    </a:p>
                  </a:txBody>
                  <a:tcPr/>
                </a:tc>
                <a:tc>
                  <a:txBody>
                    <a:bodyPr/>
                    <a:lstStyle/>
                    <a:p>
                      <a:r>
                        <a:rPr lang="en-US" dirty="0"/>
                        <a:t>25 </a:t>
                      </a:r>
                      <a:r>
                        <a:rPr lang="en-US" dirty="0" err="1"/>
                        <a:t>Klbs</a:t>
                      </a:r>
                      <a:endParaRPr lang="en-US" dirty="0"/>
                    </a:p>
                  </a:txBody>
                  <a:tcPr/>
                </a:tc>
                <a:extLst>
                  <a:ext uri="{0D108BD9-81ED-4DB2-BD59-A6C34878D82A}">
                    <a16:rowId xmlns:a16="http://schemas.microsoft.com/office/drawing/2014/main" val="70051806"/>
                  </a:ext>
                </a:extLst>
              </a:tr>
              <a:tr h="370840">
                <a:tc>
                  <a:txBody>
                    <a:bodyPr/>
                    <a:lstStyle/>
                    <a:p>
                      <a:r>
                        <a:rPr lang="en-US" dirty="0"/>
                        <a:t>BHA Weight</a:t>
                      </a:r>
                    </a:p>
                  </a:txBody>
                  <a:tcPr/>
                </a:tc>
                <a:tc>
                  <a:txBody>
                    <a:bodyPr/>
                    <a:lstStyle/>
                    <a:p>
                      <a:r>
                        <a:rPr lang="en-US" dirty="0"/>
                        <a:t>356 Klbs</a:t>
                      </a:r>
                    </a:p>
                  </a:txBody>
                  <a:tcPr/>
                </a:tc>
                <a:tc>
                  <a:txBody>
                    <a:bodyPr/>
                    <a:lstStyle/>
                    <a:p>
                      <a:r>
                        <a:rPr lang="en-US" dirty="0"/>
                        <a:t>356 Klbs</a:t>
                      </a:r>
                    </a:p>
                  </a:txBody>
                  <a:tcPr/>
                </a:tc>
                <a:extLst>
                  <a:ext uri="{0D108BD9-81ED-4DB2-BD59-A6C34878D82A}">
                    <a16:rowId xmlns:a16="http://schemas.microsoft.com/office/drawing/2014/main" val="1705961115"/>
                  </a:ext>
                </a:extLst>
              </a:tr>
              <a:tr h="370840">
                <a:tc>
                  <a:txBody>
                    <a:bodyPr/>
                    <a:lstStyle/>
                    <a:p>
                      <a:r>
                        <a:rPr lang="en-US" dirty="0"/>
                        <a:t>Over</a:t>
                      </a:r>
                      <a:r>
                        <a:rPr lang="en-US" baseline="0" dirty="0"/>
                        <a:t> Pulled</a:t>
                      </a:r>
                      <a:endParaRPr lang="en-US" dirty="0"/>
                    </a:p>
                  </a:txBody>
                  <a:tcPr/>
                </a:tc>
                <a:tc>
                  <a:txBody>
                    <a:bodyPr/>
                    <a:lstStyle/>
                    <a:p>
                      <a:r>
                        <a:rPr lang="en-US" dirty="0"/>
                        <a:t>None</a:t>
                      </a:r>
                    </a:p>
                  </a:txBody>
                  <a:tcPr/>
                </a:tc>
                <a:tc>
                  <a:txBody>
                    <a:bodyPr/>
                    <a:lstStyle/>
                    <a:p>
                      <a:r>
                        <a:rPr lang="en-US" b="1" dirty="0">
                          <a:solidFill>
                            <a:srgbClr val="C00000"/>
                          </a:solidFill>
                        </a:rPr>
                        <a:t>120 Klbs</a:t>
                      </a:r>
                    </a:p>
                  </a:txBody>
                  <a:tcPr/>
                </a:tc>
                <a:extLst>
                  <a:ext uri="{0D108BD9-81ED-4DB2-BD59-A6C34878D82A}">
                    <a16:rowId xmlns:a16="http://schemas.microsoft.com/office/drawing/2014/main" val="2415810219"/>
                  </a:ext>
                </a:extLst>
              </a:tr>
              <a:tr h="0">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87246788"/>
                  </a:ext>
                </a:extLst>
              </a:tr>
              <a:tr h="370840">
                <a:tc>
                  <a:txBody>
                    <a:bodyPr/>
                    <a:lstStyle/>
                    <a:p>
                      <a:r>
                        <a:rPr lang="en-US" dirty="0"/>
                        <a:t>Weight Indicator</a:t>
                      </a:r>
                    </a:p>
                  </a:txBody>
                  <a:tcPr/>
                </a:tc>
                <a:tc>
                  <a:txBody>
                    <a:bodyPr/>
                    <a:lstStyle/>
                    <a:p>
                      <a:r>
                        <a:rPr lang="en-US" dirty="0"/>
                        <a:t>411 Klbs</a:t>
                      </a:r>
                    </a:p>
                  </a:txBody>
                  <a:tcPr/>
                </a:tc>
                <a:tc>
                  <a:txBody>
                    <a:bodyPr/>
                    <a:lstStyle/>
                    <a:p>
                      <a:r>
                        <a:rPr lang="en-US" dirty="0"/>
                        <a:t>531 Klbs</a:t>
                      </a:r>
                    </a:p>
                  </a:txBody>
                  <a:tcPr/>
                </a:tc>
                <a:extLst>
                  <a:ext uri="{0D108BD9-81ED-4DB2-BD59-A6C34878D82A}">
                    <a16:rowId xmlns:a16="http://schemas.microsoft.com/office/drawing/2014/main" val="2334086503"/>
                  </a:ext>
                </a:extLst>
              </a:tr>
              <a:tr h="370840">
                <a:tc>
                  <a:txBody>
                    <a:bodyPr/>
                    <a:lstStyle/>
                    <a:p>
                      <a:r>
                        <a:rPr lang="en-US" dirty="0"/>
                        <a:t>Axial Load at DP</a:t>
                      </a:r>
                    </a:p>
                    <a:p>
                      <a:r>
                        <a:rPr lang="en-US" dirty="0" err="1"/>
                        <a:t>Wt</a:t>
                      </a:r>
                      <a:r>
                        <a:rPr lang="en-US" baseline="0" dirty="0"/>
                        <a:t> below TDS</a:t>
                      </a:r>
                      <a:endParaRPr lang="en-US" dirty="0"/>
                    </a:p>
                  </a:txBody>
                  <a:tcPr/>
                </a:tc>
                <a:tc>
                  <a:txBody>
                    <a:bodyPr/>
                    <a:lstStyle/>
                    <a:p>
                      <a:r>
                        <a:rPr lang="en-US" dirty="0"/>
                        <a:t>356 Klbs</a:t>
                      </a:r>
                    </a:p>
                  </a:txBody>
                  <a:tcPr/>
                </a:tc>
                <a:tc>
                  <a:txBody>
                    <a:bodyPr/>
                    <a:lstStyle/>
                    <a:p>
                      <a:r>
                        <a:rPr lang="en-US" sz="2800" b="1" dirty="0">
                          <a:solidFill>
                            <a:srgbClr val="FF0000"/>
                          </a:solidFill>
                        </a:rPr>
                        <a:t>436 </a:t>
                      </a:r>
                      <a:r>
                        <a:rPr lang="en-US" sz="2800" b="1" dirty="0" err="1">
                          <a:solidFill>
                            <a:srgbClr val="FF0000"/>
                          </a:solidFill>
                        </a:rPr>
                        <a:t>Klbs</a:t>
                      </a:r>
                      <a:endParaRPr lang="en-US" sz="2800" b="1" dirty="0">
                        <a:solidFill>
                          <a:srgbClr val="FF0000"/>
                        </a:solidFill>
                      </a:endParaRPr>
                    </a:p>
                  </a:txBody>
                  <a:tcPr/>
                </a:tc>
                <a:extLst>
                  <a:ext uri="{0D108BD9-81ED-4DB2-BD59-A6C34878D82A}">
                    <a16:rowId xmlns:a16="http://schemas.microsoft.com/office/drawing/2014/main" val="987749838"/>
                  </a:ext>
                </a:extLst>
              </a:tr>
            </a:tbl>
          </a:graphicData>
        </a:graphic>
      </p:graphicFrame>
      <p:sp>
        <p:nvSpPr>
          <p:cNvPr id="9" name="Heptagon 8"/>
          <p:cNvSpPr/>
          <p:nvPr/>
        </p:nvSpPr>
        <p:spPr>
          <a:xfrm>
            <a:off x="8002064" y="2131327"/>
            <a:ext cx="288032" cy="20266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
            </a:r>
          </a:p>
        </p:txBody>
      </p:sp>
      <p:sp>
        <p:nvSpPr>
          <p:cNvPr id="11" name="Heptagon 10"/>
          <p:cNvSpPr/>
          <p:nvPr/>
        </p:nvSpPr>
        <p:spPr>
          <a:xfrm>
            <a:off x="8002064" y="2480351"/>
            <a:ext cx="288032" cy="20266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
            </a:r>
          </a:p>
        </p:txBody>
      </p:sp>
      <p:sp>
        <p:nvSpPr>
          <p:cNvPr id="12" name="Heptagon 11"/>
          <p:cNvSpPr/>
          <p:nvPr/>
        </p:nvSpPr>
        <p:spPr>
          <a:xfrm>
            <a:off x="8002064" y="2871457"/>
            <a:ext cx="288032" cy="20266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
            </a:r>
          </a:p>
        </p:txBody>
      </p:sp>
      <p:sp>
        <p:nvSpPr>
          <p:cNvPr id="13" name="Heptagon 12"/>
          <p:cNvSpPr/>
          <p:nvPr/>
        </p:nvSpPr>
        <p:spPr>
          <a:xfrm>
            <a:off x="7985223" y="3262563"/>
            <a:ext cx="288032" cy="202664"/>
          </a:xfrm>
          <a:prstGeom prst="hep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
            </a:r>
          </a:p>
        </p:txBody>
      </p:sp>
      <p:sp>
        <p:nvSpPr>
          <p:cNvPr id="5" name="Rectangle 4"/>
          <p:cNvSpPr/>
          <p:nvPr/>
        </p:nvSpPr>
        <p:spPr>
          <a:xfrm>
            <a:off x="3634000" y="5527136"/>
            <a:ext cx="216024" cy="360040"/>
          </a:xfrm>
          <a:prstGeom prst="rect">
            <a:avLst/>
          </a:prstGeom>
          <a:pattFill prst="lgConfetti">
            <a:fgClr>
              <a:srgbClr val="C0000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210064" y="5527136"/>
            <a:ext cx="216024" cy="360040"/>
          </a:xfrm>
          <a:prstGeom prst="rect">
            <a:avLst/>
          </a:prstGeom>
          <a:pattFill prst="lgConfetti">
            <a:fgClr>
              <a:srgbClr val="C0000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Up Arrow 5"/>
          <p:cNvSpPr/>
          <p:nvPr/>
        </p:nvSpPr>
        <p:spPr>
          <a:xfrm>
            <a:off x="3581231" y="5023080"/>
            <a:ext cx="864096" cy="504056"/>
          </a:xfrm>
          <a:prstGeom prst="upArrow">
            <a:avLst/>
          </a:prstGeom>
          <a:solidFill>
            <a:srgbClr val="FF0000">
              <a:alpha val="44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44628" y="77256"/>
            <a:ext cx="4525963" cy="111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BB1CB9FF-BBD7-44D2-580D-877A153307FD}"/>
              </a:ext>
            </a:extLst>
          </p:cNvPr>
          <p:cNvSpPr txBox="1"/>
          <p:nvPr/>
        </p:nvSpPr>
        <p:spPr>
          <a:xfrm>
            <a:off x="4498097" y="5240845"/>
            <a:ext cx="2889666" cy="923330"/>
          </a:xfrm>
          <a:prstGeom prst="rect">
            <a:avLst/>
          </a:prstGeom>
          <a:noFill/>
        </p:spPr>
        <p:txBody>
          <a:bodyPr wrap="square" rtlCol="0">
            <a:spAutoFit/>
          </a:bodyPr>
          <a:lstStyle/>
          <a:p>
            <a:r>
              <a:rPr lang="en-US" dirty="0">
                <a:solidFill>
                  <a:srgbClr val="C00000"/>
                </a:solidFill>
              </a:rPr>
              <a:t>Pipe Stuck, Attempt to free the pipe with 120 Klbs Overpulled</a:t>
            </a:r>
          </a:p>
        </p:txBody>
      </p:sp>
      <p:sp>
        <p:nvSpPr>
          <p:cNvPr id="15" name="Arrow: Down 14">
            <a:extLst>
              <a:ext uri="{FF2B5EF4-FFF2-40B4-BE49-F238E27FC236}">
                <a16:creationId xmlns:a16="http://schemas.microsoft.com/office/drawing/2014/main" id="{F0B8D6DC-DCD7-5F0E-2B98-6999E7FB8736}"/>
              </a:ext>
            </a:extLst>
          </p:cNvPr>
          <p:cNvSpPr/>
          <p:nvPr/>
        </p:nvSpPr>
        <p:spPr>
          <a:xfrm>
            <a:off x="10249786" y="4492458"/>
            <a:ext cx="1094048" cy="530622"/>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D"/>
          </a:p>
        </p:txBody>
      </p:sp>
      <p:sp>
        <p:nvSpPr>
          <p:cNvPr id="16" name="TextBox 15">
            <a:extLst>
              <a:ext uri="{FF2B5EF4-FFF2-40B4-BE49-F238E27FC236}">
                <a16:creationId xmlns:a16="http://schemas.microsoft.com/office/drawing/2014/main" id="{33A798E3-F49B-B732-A30B-57365CC819A5}"/>
              </a:ext>
            </a:extLst>
          </p:cNvPr>
          <p:cNvSpPr txBox="1"/>
          <p:nvPr/>
        </p:nvSpPr>
        <p:spPr>
          <a:xfrm>
            <a:off x="9509513" y="5023080"/>
            <a:ext cx="2575714" cy="646331"/>
          </a:xfrm>
          <a:prstGeom prst="rect">
            <a:avLst/>
          </a:prstGeom>
          <a:solidFill>
            <a:srgbClr val="FFFF99"/>
          </a:solidFill>
        </p:spPr>
        <p:txBody>
          <a:bodyPr wrap="square" rtlCol="0">
            <a:spAutoFit/>
          </a:bodyPr>
          <a:lstStyle/>
          <a:p>
            <a:r>
              <a:rPr lang="en-US" b="1" dirty="0">
                <a:solidFill>
                  <a:schemeClr val="accent5">
                    <a:lumMod val="50000"/>
                  </a:schemeClr>
                </a:solidFill>
              </a:rPr>
              <a:t>Need to higher grade Drill Pipe</a:t>
            </a:r>
            <a:endParaRPr lang="en-ID" b="1" dirty="0">
              <a:solidFill>
                <a:schemeClr val="accent5">
                  <a:lumMod val="50000"/>
                </a:schemeClr>
              </a:solidFill>
            </a:endParaRPr>
          </a:p>
        </p:txBody>
      </p:sp>
    </p:spTree>
    <p:extLst>
      <p:ext uri="{BB962C8B-B14F-4D97-AF65-F5344CB8AC3E}">
        <p14:creationId xmlns:p14="http://schemas.microsoft.com/office/powerpoint/2010/main" val="321731750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A0A78-7771-2EC0-5673-7A2D47AE3B16}"/>
              </a:ext>
            </a:extLst>
          </p:cNvPr>
          <p:cNvSpPr>
            <a:spLocks noGrp="1"/>
          </p:cNvSpPr>
          <p:nvPr>
            <p:ph type="title"/>
          </p:nvPr>
        </p:nvSpPr>
        <p:spPr/>
        <p:txBody>
          <a:bodyPr/>
          <a:lstStyle/>
          <a:p>
            <a:r>
              <a:rPr lang="en-US" dirty="0"/>
              <a:t>Drill Pipe Tension Yield</a:t>
            </a:r>
            <a:endParaRPr lang="en-ID" dirty="0"/>
          </a:p>
        </p:txBody>
      </p:sp>
      <p:pic>
        <p:nvPicPr>
          <p:cNvPr id="4" name="Picture 1">
            <a:extLst>
              <a:ext uri="{FF2B5EF4-FFF2-40B4-BE49-F238E27FC236}">
                <a16:creationId xmlns:a16="http://schemas.microsoft.com/office/drawing/2014/main" id="{6A1B387D-5D00-651F-6CE8-E9E6C3DDA0B1}"/>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r="33928"/>
          <a:stretch/>
        </p:blipFill>
        <p:spPr bwMode="auto">
          <a:xfrm>
            <a:off x="308343" y="1763661"/>
            <a:ext cx="7591648" cy="2818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Table 7">
            <a:extLst>
              <a:ext uri="{FF2B5EF4-FFF2-40B4-BE49-F238E27FC236}">
                <a16:creationId xmlns:a16="http://schemas.microsoft.com/office/drawing/2014/main" id="{3D84B364-636B-7B86-8626-8AE772396C2F}"/>
              </a:ext>
            </a:extLst>
          </p:cNvPr>
          <p:cNvGraphicFramePr>
            <a:graphicFrameLocks noGrp="1"/>
          </p:cNvGraphicFramePr>
          <p:nvPr/>
        </p:nvGraphicFramePr>
        <p:xfrm>
          <a:off x="7899991" y="1516597"/>
          <a:ext cx="1933944" cy="3017520"/>
        </p:xfrm>
        <a:graphic>
          <a:graphicData uri="http://schemas.openxmlformats.org/drawingml/2006/table">
            <a:tbl>
              <a:tblPr firstRow="1" bandRow="1">
                <a:tableStyleId>{5C22544A-7EE6-4342-B048-85BDC9FD1C3A}</a:tableStyleId>
              </a:tblPr>
              <a:tblGrid>
                <a:gridCol w="1933944">
                  <a:extLst>
                    <a:ext uri="{9D8B030D-6E8A-4147-A177-3AD203B41FA5}">
                      <a16:colId xmlns:a16="http://schemas.microsoft.com/office/drawing/2014/main" val="3247716066"/>
                    </a:ext>
                  </a:extLst>
                </a:gridCol>
              </a:tblGrid>
              <a:tr h="370840">
                <a:tc>
                  <a:txBody>
                    <a:bodyPr/>
                    <a:lstStyle/>
                    <a:p>
                      <a:pPr algn="ctr"/>
                      <a:r>
                        <a:rPr lang="en-US" dirty="0">
                          <a:solidFill>
                            <a:srgbClr val="FFFF00"/>
                          </a:solidFill>
                        </a:rPr>
                        <a:t>80% Pipe Capacity, Klbs</a:t>
                      </a:r>
                      <a:endParaRPr lang="en-ID" dirty="0">
                        <a:solidFill>
                          <a:srgbClr val="FFFF00"/>
                        </a:solidFill>
                      </a:endParaRPr>
                    </a:p>
                  </a:txBody>
                  <a:tcPr/>
                </a:tc>
                <a:extLst>
                  <a:ext uri="{0D108BD9-81ED-4DB2-BD59-A6C34878D82A}">
                    <a16:rowId xmlns:a16="http://schemas.microsoft.com/office/drawing/2014/main" val="1700515991"/>
                  </a:ext>
                </a:extLst>
              </a:tr>
              <a:tr h="370840">
                <a:tc>
                  <a:txBody>
                    <a:bodyPr/>
                    <a:lstStyle/>
                    <a:p>
                      <a:pPr algn="l"/>
                      <a:r>
                        <a:rPr lang="en-US" sz="2000" b="1" dirty="0"/>
                        <a:t>349</a:t>
                      </a:r>
                      <a:endParaRPr lang="en-ID" sz="2000" b="1" dirty="0"/>
                    </a:p>
                  </a:txBody>
                  <a:tcPr/>
                </a:tc>
                <a:extLst>
                  <a:ext uri="{0D108BD9-81ED-4DB2-BD59-A6C34878D82A}">
                    <a16:rowId xmlns:a16="http://schemas.microsoft.com/office/drawing/2014/main" val="1522658693"/>
                  </a:ext>
                </a:extLst>
              </a:tr>
              <a:tr h="370840">
                <a:tc>
                  <a:txBody>
                    <a:bodyPr/>
                    <a:lstStyle/>
                    <a:p>
                      <a:pPr algn="l"/>
                      <a:r>
                        <a:rPr lang="en-US" sz="2000" b="1" dirty="0"/>
                        <a:t>386</a:t>
                      </a:r>
                      <a:endParaRPr lang="en-ID" sz="2000" b="1" dirty="0"/>
                    </a:p>
                  </a:txBody>
                  <a:tcPr/>
                </a:tc>
                <a:extLst>
                  <a:ext uri="{0D108BD9-81ED-4DB2-BD59-A6C34878D82A}">
                    <a16:rowId xmlns:a16="http://schemas.microsoft.com/office/drawing/2014/main" val="247406121"/>
                  </a:ext>
                </a:extLst>
              </a:tr>
              <a:tr h="370840">
                <a:tc>
                  <a:txBody>
                    <a:bodyPr/>
                    <a:lstStyle/>
                    <a:p>
                      <a:pPr algn="l"/>
                      <a:r>
                        <a:rPr lang="en-US" sz="2000" b="1" dirty="0"/>
                        <a:t>438</a:t>
                      </a:r>
                      <a:endParaRPr lang="en-ID" sz="2000" b="1" dirty="0"/>
                    </a:p>
                  </a:txBody>
                  <a:tcPr/>
                </a:tc>
                <a:extLst>
                  <a:ext uri="{0D108BD9-81ED-4DB2-BD59-A6C34878D82A}">
                    <a16:rowId xmlns:a16="http://schemas.microsoft.com/office/drawing/2014/main" val="817368480"/>
                  </a:ext>
                </a:extLst>
              </a:tr>
              <a:tr h="370840">
                <a:tc>
                  <a:txBody>
                    <a:bodyPr/>
                    <a:lstStyle/>
                    <a:p>
                      <a:pPr algn="l"/>
                      <a:r>
                        <a:rPr lang="en-US" sz="2000" b="1" dirty="0"/>
                        <a:t>448</a:t>
                      </a:r>
                      <a:endParaRPr lang="en-ID" sz="2000" b="1" dirty="0"/>
                    </a:p>
                  </a:txBody>
                  <a:tcPr/>
                </a:tc>
                <a:extLst>
                  <a:ext uri="{0D108BD9-81ED-4DB2-BD59-A6C34878D82A}">
                    <a16:rowId xmlns:a16="http://schemas.microsoft.com/office/drawing/2014/main" val="42546066"/>
                  </a:ext>
                </a:extLst>
              </a:tr>
              <a:tr h="370840">
                <a:tc>
                  <a:txBody>
                    <a:bodyPr/>
                    <a:lstStyle/>
                    <a:p>
                      <a:pPr algn="l"/>
                      <a:r>
                        <a:rPr lang="en-US" sz="2000" b="1" dirty="0"/>
                        <a:t>464</a:t>
                      </a:r>
                      <a:endParaRPr lang="en-ID" sz="2000" b="1" dirty="0"/>
                    </a:p>
                  </a:txBody>
                  <a:tcPr/>
                </a:tc>
                <a:extLst>
                  <a:ext uri="{0D108BD9-81ED-4DB2-BD59-A6C34878D82A}">
                    <a16:rowId xmlns:a16="http://schemas.microsoft.com/office/drawing/2014/main" val="2611324698"/>
                  </a:ext>
                </a:extLst>
              </a:tr>
              <a:tr h="370840">
                <a:tc>
                  <a:txBody>
                    <a:bodyPr/>
                    <a:lstStyle/>
                    <a:p>
                      <a:pPr algn="l"/>
                      <a:r>
                        <a:rPr lang="en-US" sz="2000" b="1" dirty="0"/>
                        <a:t>597</a:t>
                      </a:r>
                      <a:endParaRPr lang="en-ID" sz="2000" b="1" dirty="0"/>
                    </a:p>
                  </a:txBody>
                  <a:tcPr/>
                </a:tc>
                <a:extLst>
                  <a:ext uri="{0D108BD9-81ED-4DB2-BD59-A6C34878D82A}">
                    <a16:rowId xmlns:a16="http://schemas.microsoft.com/office/drawing/2014/main" val="1821297649"/>
                  </a:ext>
                </a:extLst>
              </a:tr>
            </a:tbl>
          </a:graphicData>
        </a:graphic>
      </p:graphicFrame>
      <p:graphicFrame>
        <p:nvGraphicFramePr>
          <p:cNvPr id="3" name="Table 7">
            <a:extLst>
              <a:ext uri="{FF2B5EF4-FFF2-40B4-BE49-F238E27FC236}">
                <a16:creationId xmlns:a16="http://schemas.microsoft.com/office/drawing/2014/main" id="{DE9AFEF6-C3AC-6D62-96E5-A010EB707998}"/>
              </a:ext>
            </a:extLst>
          </p:cNvPr>
          <p:cNvGraphicFramePr>
            <a:graphicFrameLocks noGrp="1"/>
          </p:cNvGraphicFramePr>
          <p:nvPr/>
        </p:nvGraphicFramePr>
        <p:xfrm>
          <a:off x="9865834" y="1516597"/>
          <a:ext cx="1933944" cy="3017520"/>
        </p:xfrm>
        <a:graphic>
          <a:graphicData uri="http://schemas.openxmlformats.org/drawingml/2006/table">
            <a:tbl>
              <a:tblPr firstRow="1" bandRow="1">
                <a:tableStyleId>{5C22544A-7EE6-4342-B048-85BDC9FD1C3A}</a:tableStyleId>
              </a:tblPr>
              <a:tblGrid>
                <a:gridCol w="1933944">
                  <a:extLst>
                    <a:ext uri="{9D8B030D-6E8A-4147-A177-3AD203B41FA5}">
                      <a16:colId xmlns:a16="http://schemas.microsoft.com/office/drawing/2014/main" val="3247716066"/>
                    </a:ext>
                  </a:extLst>
                </a:gridCol>
              </a:tblGrid>
              <a:tr h="370840">
                <a:tc>
                  <a:txBody>
                    <a:bodyPr/>
                    <a:lstStyle/>
                    <a:p>
                      <a:pPr algn="ctr"/>
                      <a:r>
                        <a:rPr lang="en-US" dirty="0">
                          <a:solidFill>
                            <a:srgbClr val="FFFF00"/>
                          </a:solidFill>
                        </a:rPr>
                        <a:t>90% Pipe Capacity, Klbs</a:t>
                      </a:r>
                      <a:endParaRPr lang="en-ID" dirty="0">
                        <a:solidFill>
                          <a:srgbClr val="FFFF00"/>
                        </a:solidFill>
                      </a:endParaRPr>
                    </a:p>
                  </a:txBody>
                  <a:tcPr/>
                </a:tc>
                <a:extLst>
                  <a:ext uri="{0D108BD9-81ED-4DB2-BD59-A6C34878D82A}">
                    <a16:rowId xmlns:a16="http://schemas.microsoft.com/office/drawing/2014/main" val="1700515991"/>
                  </a:ext>
                </a:extLst>
              </a:tr>
              <a:tr h="370840">
                <a:tc>
                  <a:txBody>
                    <a:bodyPr/>
                    <a:lstStyle/>
                    <a:p>
                      <a:pPr algn="l"/>
                      <a:r>
                        <a:rPr lang="en-US" sz="2000" b="1" dirty="0"/>
                        <a:t>393</a:t>
                      </a:r>
                      <a:endParaRPr lang="en-ID" sz="2000" b="1" dirty="0"/>
                    </a:p>
                  </a:txBody>
                  <a:tcPr/>
                </a:tc>
                <a:extLst>
                  <a:ext uri="{0D108BD9-81ED-4DB2-BD59-A6C34878D82A}">
                    <a16:rowId xmlns:a16="http://schemas.microsoft.com/office/drawing/2014/main" val="1522658693"/>
                  </a:ext>
                </a:extLst>
              </a:tr>
              <a:tr h="370840">
                <a:tc>
                  <a:txBody>
                    <a:bodyPr/>
                    <a:lstStyle/>
                    <a:p>
                      <a:pPr algn="l"/>
                      <a:r>
                        <a:rPr lang="en-US" sz="2000" b="1" dirty="0"/>
                        <a:t>434</a:t>
                      </a:r>
                      <a:endParaRPr lang="en-ID" sz="2000" b="1" dirty="0"/>
                    </a:p>
                  </a:txBody>
                  <a:tcPr/>
                </a:tc>
                <a:extLst>
                  <a:ext uri="{0D108BD9-81ED-4DB2-BD59-A6C34878D82A}">
                    <a16:rowId xmlns:a16="http://schemas.microsoft.com/office/drawing/2014/main" val="247406121"/>
                  </a:ext>
                </a:extLst>
              </a:tr>
              <a:tr h="370840">
                <a:tc>
                  <a:txBody>
                    <a:bodyPr/>
                    <a:lstStyle/>
                    <a:p>
                      <a:pPr algn="l"/>
                      <a:r>
                        <a:rPr lang="en-US" sz="2000" b="1" dirty="0"/>
                        <a:t>493</a:t>
                      </a:r>
                      <a:endParaRPr lang="en-ID" sz="2000" b="1" dirty="0"/>
                    </a:p>
                  </a:txBody>
                  <a:tcPr/>
                </a:tc>
                <a:extLst>
                  <a:ext uri="{0D108BD9-81ED-4DB2-BD59-A6C34878D82A}">
                    <a16:rowId xmlns:a16="http://schemas.microsoft.com/office/drawing/2014/main" val="817368480"/>
                  </a:ext>
                </a:extLst>
              </a:tr>
              <a:tr h="370840">
                <a:tc>
                  <a:txBody>
                    <a:bodyPr/>
                    <a:lstStyle/>
                    <a:p>
                      <a:pPr algn="l"/>
                      <a:r>
                        <a:rPr lang="en-US" sz="2000" b="1" dirty="0"/>
                        <a:t>504</a:t>
                      </a:r>
                      <a:endParaRPr lang="en-ID" sz="2000" b="1" dirty="0"/>
                    </a:p>
                  </a:txBody>
                  <a:tcPr/>
                </a:tc>
                <a:extLst>
                  <a:ext uri="{0D108BD9-81ED-4DB2-BD59-A6C34878D82A}">
                    <a16:rowId xmlns:a16="http://schemas.microsoft.com/office/drawing/2014/main" val="42546066"/>
                  </a:ext>
                </a:extLst>
              </a:tr>
              <a:tr h="370840">
                <a:tc>
                  <a:txBody>
                    <a:bodyPr/>
                    <a:lstStyle/>
                    <a:p>
                      <a:pPr algn="l"/>
                      <a:r>
                        <a:rPr lang="en-US" sz="2000" b="1" dirty="0"/>
                        <a:t>522</a:t>
                      </a:r>
                      <a:endParaRPr lang="en-ID" sz="2000" b="1" dirty="0"/>
                    </a:p>
                  </a:txBody>
                  <a:tcPr/>
                </a:tc>
                <a:extLst>
                  <a:ext uri="{0D108BD9-81ED-4DB2-BD59-A6C34878D82A}">
                    <a16:rowId xmlns:a16="http://schemas.microsoft.com/office/drawing/2014/main" val="2611324698"/>
                  </a:ext>
                </a:extLst>
              </a:tr>
              <a:tr h="370840">
                <a:tc>
                  <a:txBody>
                    <a:bodyPr/>
                    <a:lstStyle/>
                    <a:p>
                      <a:pPr algn="l"/>
                      <a:r>
                        <a:rPr lang="en-US" sz="2000" b="1" dirty="0"/>
                        <a:t>671</a:t>
                      </a:r>
                      <a:endParaRPr lang="en-ID" sz="2000" b="1" dirty="0"/>
                    </a:p>
                  </a:txBody>
                  <a:tcPr/>
                </a:tc>
                <a:extLst>
                  <a:ext uri="{0D108BD9-81ED-4DB2-BD59-A6C34878D82A}">
                    <a16:rowId xmlns:a16="http://schemas.microsoft.com/office/drawing/2014/main" val="1821297649"/>
                  </a:ext>
                </a:extLst>
              </a:tr>
            </a:tbl>
          </a:graphicData>
        </a:graphic>
      </p:graphicFrame>
      <p:sp>
        <p:nvSpPr>
          <p:cNvPr id="5" name="Right Brace 4">
            <a:extLst>
              <a:ext uri="{FF2B5EF4-FFF2-40B4-BE49-F238E27FC236}">
                <a16:creationId xmlns:a16="http://schemas.microsoft.com/office/drawing/2014/main" id="{960BAFAC-16CB-1768-E811-5E876972DD5F}"/>
              </a:ext>
            </a:extLst>
          </p:cNvPr>
          <p:cNvSpPr/>
          <p:nvPr/>
        </p:nvSpPr>
        <p:spPr>
          <a:xfrm>
            <a:off x="8452291" y="3128790"/>
            <a:ext cx="327789" cy="1341529"/>
          </a:xfrm>
          <a:prstGeom prst="rightBrace">
            <a:avLst>
              <a:gd name="adj1" fmla="val 45370"/>
              <a:gd name="adj2" fmla="val 50000"/>
            </a:avLst>
          </a:prstGeom>
          <a:ln w="3175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sp>
        <p:nvSpPr>
          <p:cNvPr id="6" name="Right Brace 5">
            <a:extLst>
              <a:ext uri="{FF2B5EF4-FFF2-40B4-BE49-F238E27FC236}">
                <a16:creationId xmlns:a16="http://schemas.microsoft.com/office/drawing/2014/main" id="{3886F336-B3A4-A0B9-209F-E66380D0115F}"/>
              </a:ext>
            </a:extLst>
          </p:cNvPr>
          <p:cNvSpPr/>
          <p:nvPr/>
        </p:nvSpPr>
        <p:spPr>
          <a:xfrm>
            <a:off x="10464208" y="3040912"/>
            <a:ext cx="396487" cy="1339700"/>
          </a:xfrm>
          <a:prstGeom prst="rightBrace">
            <a:avLst/>
          </a:prstGeom>
          <a:ln w="3175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pic>
        <p:nvPicPr>
          <p:cNvPr id="1030" name="Picture 6">
            <a:extLst>
              <a:ext uri="{FF2B5EF4-FFF2-40B4-BE49-F238E27FC236}">
                <a16:creationId xmlns:a16="http://schemas.microsoft.com/office/drawing/2014/main" id="{7C744724-8BB0-0DCB-85BA-5F8B89E810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5880" y="3379200"/>
            <a:ext cx="787482" cy="78748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70DC28F8-430C-8848-6E8B-8461E65437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36495" y="3317021"/>
            <a:ext cx="787482" cy="787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563392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13898-7050-4925-9B7C-45EACE07E0D9}"/>
              </a:ext>
            </a:extLst>
          </p:cNvPr>
          <p:cNvSpPr>
            <a:spLocks noGrp="1"/>
          </p:cNvSpPr>
          <p:nvPr>
            <p:ph type="title"/>
          </p:nvPr>
        </p:nvSpPr>
        <p:spPr>
          <a:xfrm>
            <a:off x="521207" y="448056"/>
            <a:ext cx="9293353" cy="640080"/>
          </a:xfrm>
        </p:spPr>
        <p:txBody>
          <a:bodyPr>
            <a:noAutofit/>
          </a:bodyPr>
          <a:lstStyle/>
          <a:p>
            <a:r>
              <a:rPr lang="en-US" sz="3600" b="1" dirty="0">
                <a:solidFill>
                  <a:srgbClr val="C00000"/>
                </a:solidFill>
              </a:rPr>
              <a:t>Drill Pipe Selection</a:t>
            </a:r>
            <a:endParaRPr lang="en-ID" sz="3600" b="1" dirty="0">
              <a:solidFill>
                <a:srgbClr val="C00000"/>
              </a:solidFill>
            </a:endParaRPr>
          </a:p>
        </p:txBody>
      </p:sp>
      <p:sp>
        <p:nvSpPr>
          <p:cNvPr id="4" name="TextBox 3">
            <a:extLst>
              <a:ext uri="{FF2B5EF4-FFF2-40B4-BE49-F238E27FC236}">
                <a16:creationId xmlns:a16="http://schemas.microsoft.com/office/drawing/2014/main" id="{CBB90A4D-055E-3352-DE43-F96E5CC0C32E}"/>
              </a:ext>
            </a:extLst>
          </p:cNvPr>
          <p:cNvSpPr txBox="1"/>
          <p:nvPr/>
        </p:nvSpPr>
        <p:spPr>
          <a:xfrm>
            <a:off x="720524" y="1598993"/>
            <a:ext cx="10847699" cy="5693866"/>
          </a:xfrm>
          <a:prstGeom prst="rect">
            <a:avLst/>
          </a:prstGeom>
          <a:noFill/>
        </p:spPr>
        <p:txBody>
          <a:bodyPr wrap="square">
            <a:spAutoFit/>
          </a:bodyPr>
          <a:lstStyle/>
          <a:p>
            <a:pPr marL="457200" indent="-457200">
              <a:buFont typeface="Arial" panose="020B0604020202020204" pitchFamily="34" charset="0"/>
              <a:buChar char="•"/>
            </a:pPr>
            <a:r>
              <a:rPr lang="en-US" sz="2800" dirty="0"/>
              <a:t>5” Drill pipe </a:t>
            </a:r>
            <a:r>
              <a:rPr lang="en-ID" sz="2800" dirty="0"/>
              <a:t>S-135 </a:t>
            </a:r>
            <a:r>
              <a:rPr lang="en-ID" sz="2800" dirty="0">
                <a:sym typeface="Wingdings" panose="05000000000000000000" pitchFamily="2" charset="2"/>
              </a:rPr>
              <a:t> Not H2S Resistance  Cracking</a:t>
            </a:r>
          </a:p>
          <a:p>
            <a:pPr marL="971550" lvl="1" indent="-514350">
              <a:buFont typeface="+mj-lt"/>
              <a:buAutoNum type="alphaLcPeriod"/>
            </a:pPr>
            <a:r>
              <a:rPr lang="en-ID" sz="2800" dirty="0">
                <a:solidFill>
                  <a:srgbClr val="FF0000"/>
                </a:solidFill>
                <a:sym typeface="Wingdings" panose="05000000000000000000" pitchFamily="2" charset="2"/>
              </a:rPr>
              <a:t>Need to change Saver Sub at TDS</a:t>
            </a:r>
          </a:p>
          <a:p>
            <a:pPr marL="457200" indent="-457200">
              <a:buFont typeface="Arial" panose="020B0604020202020204" pitchFamily="34" charset="0"/>
              <a:buChar char="•"/>
            </a:pPr>
            <a:endParaRPr lang="en-ID" sz="2800" dirty="0"/>
          </a:p>
          <a:p>
            <a:pPr marL="457200" indent="-457200">
              <a:buFont typeface="Arial" panose="020B0604020202020204" pitchFamily="34" charset="0"/>
              <a:buChar char="•"/>
            </a:pPr>
            <a:r>
              <a:rPr lang="en-US" sz="2800" dirty="0"/>
              <a:t>Drill pipe </a:t>
            </a:r>
            <a:r>
              <a:rPr lang="en-ID" sz="2800" dirty="0"/>
              <a:t>G-105 </a:t>
            </a:r>
            <a:r>
              <a:rPr lang="en-ID" sz="2800" dirty="0">
                <a:sym typeface="Wingdings" panose="05000000000000000000" pitchFamily="2" charset="2"/>
              </a:rPr>
              <a:t> H2S Resistance  recommended for drilling Geothermal well</a:t>
            </a:r>
          </a:p>
          <a:p>
            <a:pPr marL="971550" lvl="1" indent="-514350">
              <a:buFont typeface="+mj-lt"/>
              <a:buAutoNum type="alphaLcPeriod"/>
            </a:pPr>
            <a:r>
              <a:rPr lang="en-ID" sz="2800" dirty="0">
                <a:sym typeface="Wingdings" panose="05000000000000000000" pitchFamily="2" charset="2"/>
              </a:rPr>
              <a:t>Combine 5” DP 19.5 </a:t>
            </a:r>
            <a:r>
              <a:rPr lang="en-ID" sz="2800" dirty="0" err="1">
                <a:sym typeface="Wingdings" panose="05000000000000000000" pitchFamily="2" charset="2"/>
              </a:rPr>
              <a:t>ppf</a:t>
            </a:r>
            <a:r>
              <a:rPr lang="en-ID" sz="2800" dirty="0">
                <a:sym typeface="Wingdings" panose="05000000000000000000" pitchFamily="2" charset="2"/>
              </a:rPr>
              <a:t> and </a:t>
            </a:r>
            <a:r>
              <a:rPr lang="en-ID" sz="2800" b="1" dirty="0">
                <a:solidFill>
                  <a:srgbClr val="FF0000"/>
                </a:solidFill>
                <a:sym typeface="Wingdings" panose="05000000000000000000" pitchFamily="2" charset="2"/>
              </a:rPr>
              <a:t>5.5”</a:t>
            </a:r>
            <a:r>
              <a:rPr lang="en-ID" sz="2800" dirty="0">
                <a:sym typeface="Wingdings" panose="05000000000000000000" pitchFamily="2" charset="2"/>
              </a:rPr>
              <a:t>, 21.9 and 24.7 </a:t>
            </a:r>
            <a:r>
              <a:rPr lang="en-ID" sz="2800" dirty="0" err="1">
                <a:sym typeface="Wingdings" panose="05000000000000000000" pitchFamily="2" charset="2"/>
              </a:rPr>
              <a:t>ppf</a:t>
            </a:r>
            <a:r>
              <a:rPr lang="en-ID" sz="2800" dirty="0">
                <a:sym typeface="Wingdings" panose="05000000000000000000" pitchFamily="2" charset="2"/>
              </a:rPr>
              <a:t>: </a:t>
            </a:r>
          </a:p>
          <a:p>
            <a:pPr marL="1428750" lvl="2" indent="-514350">
              <a:buFont typeface="Wingdings" panose="05000000000000000000" pitchFamily="2" charset="2"/>
              <a:buChar char="§"/>
            </a:pPr>
            <a:r>
              <a:rPr lang="en-ID" sz="2800" dirty="0">
                <a:solidFill>
                  <a:srgbClr val="FF0000"/>
                </a:solidFill>
                <a:sym typeface="Wingdings" panose="05000000000000000000" pitchFamily="2" charset="2"/>
              </a:rPr>
              <a:t>Different size and Thread different handling tool and saver sub  much longer rig time to make up pipe.</a:t>
            </a:r>
          </a:p>
          <a:p>
            <a:pPr marL="971550" lvl="1" indent="-514350">
              <a:buFont typeface="+mj-lt"/>
              <a:buAutoNum type="alphaLcPeriod"/>
            </a:pPr>
            <a:r>
              <a:rPr lang="en-ID" sz="2800" b="1" dirty="0">
                <a:solidFill>
                  <a:schemeClr val="accent5">
                    <a:lumMod val="50000"/>
                  </a:schemeClr>
                </a:solidFill>
                <a:sym typeface="Wingdings" panose="05000000000000000000" pitchFamily="2" charset="2"/>
              </a:rPr>
              <a:t>Combine </a:t>
            </a:r>
            <a:r>
              <a:rPr lang="en-ID" sz="2800" b="1" dirty="0">
                <a:solidFill>
                  <a:srgbClr val="C00000"/>
                </a:solidFill>
                <a:sym typeface="Wingdings" panose="05000000000000000000" pitchFamily="2" charset="2"/>
              </a:rPr>
              <a:t>5”</a:t>
            </a:r>
            <a:r>
              <a:rPr lang="en-ID" sz="2800" b="1" dirty="0">
                <a:solidFill>
                  <a:schemeClr val="accent5">
                    <a:lumMod val="50000"/>
                  </a:schemeClr>
                </a:solidFill>
                <a:sym typeface="Wingdings" panose="05000000000000000000" pitchFamily="2" charset="2"/>
              </a:rPr>
              <a:t> DP 19.5 </a:t>
            </a:r>
            <a:r>
              <a:rPr lang="en-ID" sz="2800" b="1" dirty="0" err="1">
                <a:solidFill>
                  <a:schemeClr val="accent5">
                    <a:lumMod val="50000"/>
                  </a:schemeClr>
                </a:solidFill>
                <a:sym typeface="Wingdings" panose="05000000000000000000" pitchFamily="2" charset="2"/>
              </a:rPr>
              <a:t>ppf</a:t>
            </a:r>
            <a:r>
              <a:rPr lang="en-ID" sz="2800" b="1" dirty="0">
                <a:solidFill>
                  <a:schemeClr val="accent5">
                    <a:lumMod val="50000"/>
                  </a:schemeClr>
                </a:solidFill>
                <a:sym typeface="Wingdings" panose="05000000000000000000" pitchFamily="2" charset="2"/>
              </a:rPr>
              <a:t> and </a:t>
            </a:r>
            <a:r>
              <a:rPr lang="en-ID" sz="2800" b="1" dirty="0">
                <a:solidFill>
                  <a:srgbClr val="C00000"/>
                </a:solidFill>
                <a:sym typeface="Wingdings" panose="05000000000000000000" pitchFamily="2" charset="2"/>
              </a:rPr>
              <a:t>5”</a:t>
            </a:r>
            <a:r>
              <a:rPr lang="en-ID" sz="2800" b="1" dirty="0">
                <a:solidFill>
                  <a:schemeClr val="accent5">
                    <a:lumMod val="50000"/>
                  </a:schemeClr>
                </a:solidFill>
                <a:sym typeface="Wingdings" panose="05000000000000000000" pitchFamily="2" charset="2"/>
              </a:rPr>
              <a:t>, 25.6 </a:t>
            </a:r>
            <a:r>
              <a:rPr lang="en-ID" sz="2800" b="1" dirty="0" err="1">
                <a:solidFill>
                  <a:schemeClr val="accent5">
                    <a:lumMod val="50000"/>
                  </a:schemeClr>
                </a:solidFill>
                <a:sym typeface="Wingdings" panose="05000000000000000000" pitchFamily="2" charset="2"/>
              </a:rPr>
              <a:t>ppf</a:t>
            </a:r>
            <a:r>
              <a:rPr lang="en-ID" sz="2800" b="1" dirty="0">
                <a:solidFill>
                  <a:schemeClr val="accent5">
                    <a:lumMod val="50000"/>
                  </a:schemeClr>
                </a:solidFill>
                <a:sym typeface="Wingdings" panose="05000000000000000000" pitchFamily="2" charset="2"/>
              </a:rPr>
              <a:t>: </a:t>
            </a:r>
          </a:p>
          <a:p>
            <a:pPr marL="1428750" lvl="2" indent="-514350">
              <a:buFont typeface="Wingdings" panose="05000000000000000000" pitchFamily="2" charset="2"/>
              <a:buChar char="§"/>
            </a:pPr>
            <a:r>
              <a:rPr lang="en-ID" sz="2800" b="1" dirty="0">
                <a:solidFill>
                  <a:schemeClr val="accent5">
                    <a:lumMod val="50000"/>
                  </a:schemeClr>
                </a:solidFill>
                <a:sym typeface="Wingdings" panose="05000000000000000000" pitchFamily="2" charset="2"/>
              </a:rPr>
              <a:t>Same size and same thread one handling tool and saver sub  no additional rig time to make up.</a:t>
            </a:r>
          </a:p>
          <a:p>
            <a:pPr marL="971550" lvl="1" indent="-514350">
              <a:buFont typeface="+mj-lt"/>
              <a:buAutoNum type="alphaLcPeriod"/>
            </a:pPr>
            <a:endParaRPr lang="en-ID" sz="2800" dirty="0"/>
          </a:p>
          <a:p>
            <a:pPr marL="971550" lvl="1" indent="-514350">
              <a:buFont typeface="+mj-lt"/>
              <a:buAutoNum type="alphaLcPeriod"/>
            </a:pPr>
            <a:endParaRPr lang="en-ID" sz="2800" dirty="0"/>
          </a:p>
        </p:txBody>
      </p:sp>
      <p:pic>
        <p:nvPicPr>
          <p:cNvPr id="3" name="Picture 6">
            <a:extLst>
              <a:ext uri="{FF2B5EF4-FFF2-40B4-BE49-F238E27FC236}">
                <a16:creationId xmlns:a16="http://schemas.microsoft.com/office/drawing/2014/main" id="{3BB92ED0-2C4A-BB27-4808-F33E7AC483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104" y="5302644"/>
            <a:ext cx="787482" cy="78748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ree no 1192259 PNG with Transparent Background">
            <a:extLst>
              <a:ext uri="{FF2B5EF4-FFF2-40B4-BE49-F238E27FC236}">
                <a16:creationId xmlns:a16="http://schemas.microsoft.com/office/drawing/2014/main" id="{F12A1977-50DA-99BC-EFE7-EC2FE63176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6783" y="4077591"/>
            <a:ext cx="809803" cy="8098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Free no 1192259 PNG with Transparent Background">
            <a:extLst>
              <a:ext uri="{FF2B5EF4-FFF2-40B4-BE49-F238E27FC236}">
                <a16:creationId xmlns:a16="http://schemas.microsoft.com/office/drawing/2014/main" id="{94E7F280-4EC5-0780-911D-58350D08C5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14560" y="1448764"/>
            <a:ext cx="809803" cy="809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47368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43F7-E68F-464A-9CD5-72F64181A426}"/>
              </a:ext>
            </a:extLst>
          </p:cNvPr>
          <p:cNvSpPr>
            <a:spLocks noGrp="1"/>
          </p:cNvSpPr>
          <p:nvPr>
            <p:ph type="title"/>
          </p:nvPr>
        </p:nvSpPr>
        <p:spPr/>
        <p:txBody>
          <a:bodyPr/>
          <a:lstStyle/>
          <a:p>
            <a:r>
              <a:rPr lang="en-US" dirty="0"/>
              <a:t>Downhole Inspection Level</a:t>
            </a:r>
            <a:endParaRPr lang="en-ID" dirty="0"/>
          </a:p>
        </p:txBody>
      </p:sp>
      <p:pic>
        <p:nvPicPr>
          <p:cNvPr id="4" name="Picture 2">
            <a:extLst>
              <a:ext uri="{FF2B5EF4-FFF2-40B4-BE49-F238E27FC236}">
                <a16:creationId xmlns:a16="http://schemas.microsoft.com/office/drawing/2014/main" id="{45001065-F52B-414C-981B-1D275DD8ABA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1354373"/>
            <a:ext cx="6990350" cy="4409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0D73B1B0-6B72-434A-BF6B-9AF6BC5F6DAF}"/>
              </a:ext>
            </a:extLst>
          </p:cNvPr>
          <p:cNvSpPr txBox="1"/>
          <p:nvPr/>
        </p:nvSpPr>
        <p:spPr>
          <a:xfrm>
            <a:off x="390604" y="5804244"/>
            <a:ext cx="7635222" cy="923330"/>
          </a:xfrm>
          <a:prstGeom prst="rect">
            <a:avLst/>
          </a:prstGeom>
          <a:noFill/>
        </p:spPr>
        <p:txBody>
          <a:bodyPr wrap="square" rtlCol="0">
            <a:spAutoFit/>
          </a:bodyPr>
          <a:lstStyle/>
          <a:p>
            <a:r>
              <a:rPr lang="id-ID" dirty="0">
                <a:latin typeface="+mj-lt"/>
              </a:rPr>
              <a:t>API Inspection has no real universally understood meaning. DS-1 Inspection can vary from Category-1 to 5. DS-1 Inspection has a precise meaning, a category must be stated</a:t>
            </a:r>
          </a:p>
        </p:txBody>
      </p:sp>
      <p:graphicFrame>
        <p:nvGraphicFramePr>
          <p:cNvPr id="6" name="Table 5">
            <a:extLst>
              <a:ext uri="{FF2B5EF4-FFF2-40B4-BE49-F238E27FC236}">
                <a16:creationId xmlns:a16="http://schemas.microsoft.com/office/drawing/2014/main" id="{6A8BA720-EF69-4351-8F27-D22A5A6B976D}"/>
              </a:ext>
            </a:extLst>
          </p:cNvPr>
          <p:cNvGraphicFramePr>
            <a:graphicFrameLocks noGrp="1"/>
          </p:cNvGraphicFramePr>
          <p:nvPr/>
        </p:nvGraphicFramePr>
        <p:xfrm>
          <a:off x="6987025" y="1354373"/>
          <a:ext cx="5174495" cy="4481224"/>
        </p:xfrm>
        <a:graphic>
          <a:graphicData uri="http://schemas.openxmlformats.org/drawingml/2006/table">
            <a:tbl>
              <a:tblPr firstRow="1" bandRow="1">
                <a:tableStyleId>{5C22544A-7EE6-4342-B048-85BDC9FD1C3A}</a:tableStyleId>
              </a:tblPr>
              <a:tblGrid>
                <a:gridCol w="592335">
                  <a:extLst>
                    <a:ext uri="{9D8B030D-6E8A-4147-A177-3AD203B41FA5}">
                      <a16:colId xmlns:a16="http://schemas.microsoft.com/office/drawing/2014/main" val="20000"/>
                    </a:ext>
                  </a:extLst>
                </a:gridCol>
                <a:gridCol w="4582160">
                  <a:extLst>
                    <a:ext uri="{9D8B030D-6E8A-4147-A177-3AD203B41FA5}">
                      <a16:colId xmlns:a16="http://schemas.microsoft.com/office/drawing/2014/main" val="20001"/>
                    </a:ext>
                  </a:extLst>
                </a:gridCol>
              </a:tblGrid>
              <a:tr h="466221">
                <a:tc>
                  <a:txBody>
                    <a:bodyPr/>
                    <a:lstStyle/>
                    <a:p>
                      <a:r>
                        <a:rPr lang="id-ID" sz="1800" dirty="0">
                          <a:latin typeface="Calibri" pitchFamily="34" charset="0"/>
                        </a:rPr>
                        <a:t>C</a:t>
                      </a:r>
                      <a:r>
                        <a:rPr lang="en-US" sz="1800" dirty="0">
                          <a:latin typeface="Calibri" pitchFamily="34" charset="0"/>
                        </a:rPr>
                        <a:t>at.</a:t>
                      </a:r>
                      <a:endParaRPr lang="id-ID" sz="1800" dirty="0">
                        <a:latin typeface="Calibri" pitchFamily="34" charset="0"/>
                      </a:endParaRPr>
                    </a:p>
                  </a:txBody>
                  <a:tcPr/>
                </a:tc>
                <a:tc>
                  <a:txBody>
                    <a:bodyPr/>
                    <a:lstStyle/>
                    <a:p>
                      <a:r>
                        <a:rPr lang="id-ID" sz="1800" dirty="0">
                          <a:latin typeface="Calibri" pitchFamily="34" charset="0"/>
                        </a:rPr>
                        <a:t>Remark</a:t>
                      </a:r>
                    </a:p>
                  </a:txBody>
                  <a:tcPr/>
                </a:tc>
                <a:extLst>
                  <a:ext uri="{0D108BD9-81ED-4DB2-BD59-A6C34878D82A}">
                    <a16:rowId xmlns:a16="http://schemas.microsoft.com/office/drawing/2014/main" val="10000"/>
                  </a:ext>
                </a:extLst>
              </a:tr>
              <a:tr h="420965">
                <a:tc>
                  <a:txBody>
                    <a:bodyPr/>
                    <a:lstStyle/>
                    <a:p>
                      <a:pPr algn="ctr"/>
                      <a:r>
                        <a:rPr lang="id-ID" sz="1800" dirty="0">
                          <a:latin typeface="Calibri" pitchFamily="34" charset="0"/>
                        </a:rPr>
                        <a:t>1</a:t>
                      </a:r>
                    </a:p>
                  </a:txBody>
                  <a:tcPr/>
                </a:tc>
                <a:tc>
                  <a:txBody>
                    <a:bodyPr/>
                    <a:lstStyle/>
                    <a:p>
                      <a:pPr marL="342900" indent="-342900">
                        <a:buFont typeface="Arial" pitchFamily="34" charset="0"/>
                        <a:buChar char="•"/>
                      </a:pPr>
                      <a:endParaRPr lang="id-ID" sz="1800" dirty="0">
                        <a:latin typeface="Calibri" pitchFamily="34" charset="0"/>
                      </a:endParaRPr>
                    </a:p>
                  </a:txBody>
                  <a:tcPr/>
                </a:tc>
                <a:extLst>
                  <a:ext uri="{0D108BD9-81ED-4DB2-BD59-A6C34878D82A}">
                    <a16:rowId xmlns:a16="http://schemas.microsoft.com/office/drawing/2014/main" val="10001"/>
                  </a:ext>
                </a:extLst>
              </a:tr>
              <a:tr h="744784">
                <a:tc>
                  <a:txBody>
                    <a:bodyPr/>
                    <a:lstStyle/>
                    <a:p>
                      <a:pPr algn="ctr"/>
                      <a:r>
                        <a:rPr lang="id-ID" sz="1800" dirty="0">
                          <a:latin typeface="Calibri" pitchFamily="34" charset="0"/>
                        </a:rPr>
                        <a:t>2</a:t>
                      </a:r>
                    </a:p>
                  </a:txBody>
                  <a:tcPr/>
                </a:tc>
                <a:tc>
                  <a:txBody>
                    <a:bodyPr/>
                    <a:lstStyle/>
                    <a:p>
                      <a:pPr marL="342900" indent="-342900">
                        <a:buFont typeface="Arial" pitchFamily="34" charset="0"/>
                        <a:buChar char="•"/>
                      </a:pPr>
                      <a:r>
                        <a:rPr lang="id-ID" sz="1800" dirty="0">
                          <a:latin typeface="Calibri" pitchFamily="34" charset="0"/>
                        </a:rPr>
                        <a:t>Well Depth &lt; 5000 feet</a:t>
                      </a:r>
                    </a:p>
                    <a:p>
                      <a:pPr marL="342900" indent="-342900">
                        <a:buFont typeface="Arial" pitchFamily="34" charset="0"/>
                        <a:buChar char="•"/>
                      </a:pPr>
                      <a:r>
                        <a:rPr lang="id-ID" sz="1800" dirty="0">
                          <a:latin typeface="Calibri" pitchFamily="34" charset="0"/>
                        </a:rPr>
                        <a:t>Mud</a:t>
                      </a:r>
                      <a:r>
                        <a:rPr lang="id-ID" sz="1800" baseline="0" dirty="0">
                          <a:latin typeface="Calibri" pitchFamily="34" charset="0"/>
                        </a:rPr>
                        <a:t> Weight &lt; 9.0 ppg</a:t>
                      </a:r>
                      <a:endParaRPr lang="id-ID" sz="1800" dirty="0">
                        <a:latin typeface="Calibri" pitchFamily="34" charset="0"/>
                      </a:endParaRPr>
                    </a:p>
                  </a:txBody>
                  <a:tcPr/>
                </a:tc>
                <a:extLst>
                  <a:ext uri="{0D108BD9-81ED-4DB2-BD59-A6C34878D82A}">
                    <a16:rowId xmlns:a16="http://schemas.microsoft.com/office/drawing/2014/main" val="10002"/>
                  </a:ext>
                </a:extLst>
              </a:tr>
              <a:tr h="744784">
                <a:tc>
                  <a:txBody>
                    <a:bodyPr/>
                    <a:lstStyle/>
                    <a:p>
                      <a:pPr algn="ctr"/>
                      <a:r>
                        <a:rPr lang="id-ID" sz="1800" dirty="0">
                          <a:latin typeface="Calibri" pitchFamily="34" charset="0"/>
                        </a:rPr>
                        <a:t>3</a:t>
                      </a:r>
                    </a:p>
                  </a:txBody>
                  <a:tcPr/>
                </a:tc>
                <a:tc>
                  <a:txBody>
                    <a:bodyPr/>
                    <a:lstStyle/>
                    <a:p>
                      <a:pPr marL="342900" indent="-342900">
                        <a:buFont typeface="Arial" pitchFamily="34" charset="0"/>
                        <a:buChar char="•"/>
                      </a:pPr>
                      <a:r>
                        <a:rPr lang="id-ID" sz="1800" dirty="0">
                          <a:latin typeface="Calibri" pitchFamily="34" charset="0"/>
                        </a:rPr>
                        <a:t>Well Depth 5000 – 10000 feet</a:t>
                      </a:r>
                    </a:p>
                    <a:p>
                      <a:pPr marL="342900" indent="-342900">
                        <a:buFont typeface="Arial" pitchFamily="34" charset="0"/>
                        <a:buChar char="•"/>
                      </a:pPr>
                      <a:r>
                        <a:rPr lang="id-ID" sz="1800" dirty="0">
                          <a:latin typeface="Calibri" pitchFamily="34" charset="0"/>
                        </a:rPr>
                        <a:t>Mud</a:t>
                      </a:r>
                      <a:r>
                        <a:rPr lang="id-ID" sz="1800" baseline="0" dirty="0">
                          <a:latin typeface="Calibri" pitchFamily="34" charset="0"/>
                        </a:rPr>
                        <a:t> Weight 9.1 – 11.0 ppg</a:t>
                      </a:r>
                      <a:endParaRPr lang="id-ID" sz="1800" dirty="0">
                        <a:latin typeface="Calibri" pitchFamily="34" charset="0"/>
                      </a:endParaRPr>
                    </a:p>
                  </a:txBody>
                  <a:tcPr/>
                </a:tc>
                <a:extLst>
                  <a:ext uri="{0D108BD9-81ED-4DB2-BD59-A6C34878D82A}">
                    <a16:rowId xmlns:a16="http://schemas.microsoft.com/office/drawing/2014/main" val="10003"/>
                  </a:ext>
                </a:extLst>
              </a:tr>
              <a:tr h="1035867">
                <a:tc>
                  <a:txBody>
                    <a:bodyPr/>
                    <a:lstStyle/>
                    <a:p>
                      <a:pPr algn="ctr"/>
                      <a:r>
                        <a:rPr lang="id-ID" sz="1800" dirty="0">
                          <a:latin typeface="Calibri" pitchFamily="34" charset="0"/>
                        </a:rPr>
                        <a:t>4</a:t>
                      </a:r>
                    </a:p>
                  </a:txBody>
                  <a:tcPr/>
                </a:tc>
                <a:tc>
                  <a:txBody>
                    <a:bodyPr/>
                    <a:lstStyle/>
                    <a:p>
                      <a:pPr marL="342900" indent="-342900">
                        <a:buFont typeface="Arial" pitchFamily="34" charset="0"/>
                        <a:buChar char="•"/>
                      </a:pPr>
                      <a:r>
                        <a:rPr lang="id-ID" sz="1800" dirty="0">
                          <a:latin typeface="Calibri" pitchFamily="34" charset="0"/>
                        </a:rPr>
                        <a:t>Well Depth 10000</a:t>
                      </a:r>
                      <a:r>
                        <a:rPr lang="id-ID" sz="1800" baseline="0" dirty="0">
                          <a:latin typeface="Calibri" pitchFamily="34" charset="0"/>
                        </a:rPr>
                        <a:t> – 16000 </a:t>
                      </a:r>
                      <a:r>
                        <a:rPr lang="id-ID" sz="1800" dirty="0">
                          <a:latin typeface="Calibri" pitchFamily="34" charset="0"/>
                        </a:rPr>
                        <a:t>feet</a:t>
                      </a:r>
                    </a:p>
                    <a:p>
                      <a:pPr marL="342900" indent="-342900">
                        <a:buFont typeface="Arial" pitchFamily="34" charset="0"/>
                        <a:buChar char="•"/>
                      </a:pPr>
                      <a:r>
                        <a:rPr lang="id-ID" sz="1800" dirty="0">
                          <a:latin typeface="Calibri" pitchFamily="34" charset="0"/>
                        </a:rPr>
                        <a:t>Mud</a:t>
                      </a:r>
                      <a:r>
                        <a:rPr lang="id-ID" sz="1800" baseline="0" dirty="0">
                          <a:latin typeface="Calibri" pitchFamily="34" charset="0"/>
                        </a:rPr>
                        <a:t> Weight 11.1 – 14.5 ppg</a:t>
                      </a:r>
                    </a:p>
                    <a:p>
                      <a:pPr marL="342900" indent="-342900">
                        <a:buFont typeface="Arial" pitchFamily="34" charset="0"/>
                        <a:buChar char="•"/>
                      </a:pPr>
                      <a:r>
                        <a:rPr lang="id-ID" sz="1800" baseline="0" dirty="0">
                          <a:latin typeface="Calibri" pitchFamily="34" charset="0"/>
                        </a:rPr>
                        <a:t>Offshore, Inland water and remote location</a:t>
                      </a:r>
                      <a:endParaRPr lang="id-ID" sz="1800" dirty="0">
                        <a:latin typeface="Calibri" pitchFamily="34" charset="0"/>
                      </a:endParaRPr>
                    </a:p>
                  </a:txBody>
                  <a:tcPr/>
                </a:tc>
                <a:extLst>
                  <a:ext uri="{0D108BD9-81ED-4DB2-BD59-A6C34878D82A}">
                    <a16:rowId xmlns:a16="http://schemas.microsoft.com/office/drawing/2014/main" val="10004"/>
                  </a:ext>
                </a:extLst>
              </a:tr>
              <a:tr h="1068603">
                <a:tc>
                  <a:txBody>
                    <a:bodyPr/>
                    <a:lstStyle/>
                    <a:p>
                      <a:pPr algn="ctr"/>
                      <a:r>
                        <a:rPr lang="id-ID" sz="1800" dirty="0">
                          <a:latin typeface="Calibri" pitchFamily="34" charset="0"/>
                        </a:rPr>
                        <a:t>5</a:t>
                      </a:r>
                    </a:p>
                  </a:txBody>
                  <a:tcPr/>
                </a:tc>
                <a:tc>
                  <a:txBody>
                    <a:bodyPr/>
                    <a:lstStyle/>
                    <a:p>
                      <a:pPr marL="342900" indent="-342900">
                        <a:buFont typeface="Arial" pitchFamily="34" charset="0"/>
                        <a:buChar char="•"/>
                      </a:pPr>
                      <a:r>
                        <a:rPr lang="id-ID" sz="1800" dirty="0">
                          <a:latin typeface="Calibri" pitchFamily="34" charset="0"/>
                        </a:rPr>
                        <a:t>Well Depth &gt; 16000 feet</a:t>
                      </a:r>
                    </a:p>
                    <a:p>
                      <a:pPr marL="342900" indent="-342900">
                        <a:buFont typeface="Arial" pitchFamily="34" charset="0"/>
                        <a:buChar char="•"/>
                      </a:pPr>
                      <a:r>
                        <a:rPr lang="id-ID" sz="1800" dirty="0">
                          <a:latin typeface="Calibri" pitchFamily="34" charset="0"/>
                        </a:rPr>
                        <a:t>Mud</a:t>
                      </a:r>
                      <a:r>
                        <a:rPr lang="id-ID" sz="1800" baseline="0" dirty="0">
                          <a:latin typeface="Calibri" pitchFamily="34" charset="0"/>
                        </a:rPr>
                        <a:t> Weight &gt; 14.5 ppg</a:t>
                      </a:r>
                    </a:p>
                    <a:p>
                      <a:pPr marL="342900" indent="-342900">
                        <a:buFont typeface="Arial" pitchFamily="34" charset="0"/>
                        <a:buChar char="•"/>
                      </a:pPr>
                      <a:r>
                        <a:rPr lang="id-ID" sz="1800" baseline="0" dirty="0">
                          <a:latin typeface="Calibri" pitchFamily="34" charset="0"/>
                        </a:rPr>
                        <a:t>Formation H2S concetration &gt; 0.05 psia</a:t>
                      </a:r>
                      <a:endParaRPr lang="id-ID" sz="1800" dirty="0">
                        <a:latin typeface="Calibri" pitchFamily="34" charset="0"/>
                      </a:endParaRPr>
                    </a:p>
                  </a:txBody>
                  <a:tcPr/>
                </a:tc>
                <a:extLst>
                  <a:ext uri="{0D108BD9-81ED-4DB2-BD59-A6C34878D82A}">
                    <a16:rowId xmlns:a16="http://schemas.microsoft.com/office/drawing/2014/main" val="10005"/>
                  </a:ext>
                </a:extLst>
              </a:tr>
            </a:tbl>
          </a:graphicData>
        </a:graphic>
      </p:graphicFrame>
      <p:sp>
        <p:nvSpPr>
          <p:cNvPr id="7" name="Arrow: Left 6">
            <a:extLst>
              <a:ext uri="{FF2B5EF4-FFF2-40B4-BE49-F238E27FC236}">
                <a16:creationId xmlns:a16="http://schemas.microsoft.com/office/drawing/2014/main" id="{6E7ADDA1-5B2B-4FDB-A577-983E7C26FD56}"/>
              </a:ext>
            </a:extLst>
          </p:cNvPr>
          <p:cNvSpPr/>
          <p:nvPr/>
        </p:nvSpPr>
        <p:spPr>
          <a:xfrm>
            <a:off x="11115040" y="3007360"/>
            <a:ext cx="447040" cy="680720"/>
          </a:xfrm>
          <a:prstGeom prst="lef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97046395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5D5A4-C628-4C65-9660-750C29C9BF72}"/>
              </a:ext>
            </a:extLst>
          </p:cNvPr>
          <p:cNvSpPr>
            <a:spLocks noGrp="1"/>
          </p:cNvSpPr>
          <p:nvPr>
            <p:ph type="title"/>
          </p:nvPr>
        </p:nvSpPr>
        <p:spPr>
          <a:xfrm>
            <a:off x="640080" y="448056"/>
            <a:ext cx="10485120" cy="640080"/>
          </a:xfrm>
        </p:spPr>
        <p:txBody>
          <a:bodyPr>
            <a:normAutofit/>
          </a:bodyPr>
          <a:lstStyle/>
          <a:p>
            <a:r>
              <a:rPr lang="en-US" dirty="0"/>
              <a:t>Directional – MWD Pricing System: </a:t>
            </a:r>
            <a:r>
              <a:rPr lang="en-US" b="1" dirty="0">
                <a:solidFill>
                  <a:srgbClr val="C00000"/>
                </a:solidFill>
              </a:rPr>
              <a:t>Conventional Renumeration Table</a:t>
            </a:r>
            <a:endParaRPr lang="en-ID" b="1" dirty="0">
              <a:solidFill>
                <a:srgbClr val="C00000"/>
              </a:solidFill>
            </a:endParaRPr>
          </a:p>
        </p:txBody>
      </p:sp>
      <p:pic>
        <p:nvPicPr>
          <p:cNvPr id="6" name="Picture 5">
            <a:extLst>
              <a:ext uri="{FF2B5EF4-FFF2-40B4-BE49-F238E27FC236}">
                <a16:creationId xmlns:a16="http://schemas.microsoft.com/office/drawing/2014/main" id="{B590DC7C-A106-4E73-85E8-B51E871BDC2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0080" y="1269642"/>
            <a:ext cx="6045564" cy="5441528"/>
          </a:xfrm>
          <a:prstGeom prst="rect">
            <a:avLst/>
          </a:prstGeom>
        </p:spPr>
      </p:pic>
      <p:sp>
        <p:nvSpPr>
          <p:cNvPr id="7" name="TextBox 6">
            <a:extLst>
              <a:ext uri="{FF2B5EF4-FFF2-40B4-BE49-F238E27FC236}">
                <a16:creationId xmlns:a16="http://schemas.microsoft.com/office/drawing/2014/main" id="{BA5305D8-5734-458E-AEE6-450449116690}"/>
              </a:ext>
            </a:extLst>
          </p:cNvPr>
          <p:cNvSpPr txBox="1"/>
          <p:nvPr/>
        </p:nvSpPr>
        <p:spPr>
          <a:xfrm>
            <a:off x="6685644" y="1655232"/>
            <a:ext cx="5222240"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C00000"/>
                </a:solidFill>
              </a:rPr>
              <a:t>Not Optimum Equipment Inventory</a:t>
            </a:r>
          </a:p>
          <a:p>
            <a:pPr marL="342900" indent="-342900">
              <a:buFont typeface="Arial" panose="020B0604020202020204" pitchFamily="34" charset="0"/>
              <a:buChar char="•"/>
            </a:pPr>
            <a:endParaRPr lang="en-US" sz="2400" dirty="0">
              <a:solidFill>
                <a:srgbClr val="C00000"/>
              </a:solidFill>
            </a:endParaRPr>
          </a:p>
          <a:p>
            <a:pPr marL="342900" indent="-342900">
              <a:buFont typeface="Arial" panose="020B0604020202020204" pitchFamily="34" charset="0"/>
              <a:buChar char="•"/>
            </a:pPr>
            <a:r>
              <a:rPr lang="en-US" sz="2400" dirty="0">
                <a:solidFill>
                  <a:srgbClr val="C00000"/>
                </a:solidFill>
              </a:rPr>
              <a:t>Company Man, Material Man to manage own logistic </a:t>
            </a:r>
            <a:r>
              <a:rPr lang="en-US" sz="2400" dirty="0">
                <a:solidFill>
                  <a:srgbClr val="C00000"/>
                </a:solidFill>
                <a:sym typeface="Wingdings" panose="05000000000000000000" pitchFamily="2" charset="2"/>
              </a:rPr>
              <a:t> less time for drilling operation control.</a:t>
            </a:r>
          </a:p>
          <a:p>
            <a:pPr marL="342900" indent="-342900">
              <a:buFont typeface="Arial" panose="020B0604020202020204" pitchFamily="34" charset="0"/>
              <a:buChar char="•"/>
            </a:pPr>
            <a:endParaRPr lang="en-US" sz="2400" dirty="0">
              <a:solidFill>
                <a:srgbClr val="C00000"/>
              </a:solidFill>
              <a:sym typeface="Wingdings" panose="05000000000000000000" pitchFamily="2" charset="2"/>
            </a:endParaRPr>
          </a:p>
          <a:p>
            <a:pPr marL="342900" indent="-342900">
              <a:buFont typeface="Arial" panose="020B0604020202020204" pitchFamily="34" charset="0"/>
              <a:buChar char="•"/>
            </a:pPr>
            <a:r>
              <a:rPr lang="en-US" sz="2400" dirty="0">
                <a:solidFill>
                  <a:srgbClr val="C00000"/>
                </a:solidFill>
                <a:sym typeface="Wingdings" panose="05000000000000000000" pitchFamily="2" charset="2"/>
              </a:rPr>
              <a:t>Difficulty in checking invoices  more man hours</a:t>
            </a:r>
          </a:p>
          <a:p>
            <a:pPr marL="342900" indent="-342900">
              <a:buFont typeface="Arial" panose="020B0604020202020204" pitchFamily="34" charset="0"/>
              <a:buChar char="•"/>
            </a:pPr>
            <a:endParaRPr lang="en-US" sz="2400" dirty="0">
              <a:solidFill>
                <a:srgbClr val="C00000"/>
              </a:solidFill>
              <a:sym typeface="Wingdings" panose="05000000000000000000" pitchFamily="2" charset="2"/>
            </a:endParaRPr>
          </a:p>
          <a:p>
            <a:pPr marL="342900" indent="-342900">
              <a:buFont typeface="Arial" panose="020B0604020202020204" pitchFamily="34" charset="0"/>
              <a:buChar char="•"/>
            </a:pPr>
            <a:r>
              <a:rPr lang="en-US" sz="2400" dirty="0">
                <a:solidFill>
                  <a:srgbClr val="C00000"/>
                </a:solidFill>
                <a:sym typeface="Wingdings" panose="05000000000000000000" pitchFamily="2" charset="2"/>
              </a:rPr>
              <a:t>More risk for audit findings.</a:t>
            </a:r>
            <a:endParaRPr lang="en-ID" sz="2400" dirty="0">
              <a:solidFill>
                <a:srgbClr val="C00000"/>
              </a:solidFill>
            </a:endParaRPr>
          </a:p>
        </p:txBody>
      </p:sp>
    </p:spTree>
    <p:extLst>
      <p:ext uri="{BB962C8B-B14F-4D97-AF65-F5344CB8AC3E}">
        <p14:creationId xmlns:p14="http://schemas.microsoft.com/office/powerpoint/2010/main" val="166867809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5D5A4-C628-4C65-9660-750C29C9BF72}"/>
              </a:ext>
            </a:extLst>
          </p:cNvPr>
          <p:cNvSpPr>
            <a:spLocks noGrp="1"/>
          </p:cNvSpPr>
          <p:nvPr>
            <p:ph type="title"/>
          </p:nvPr>
        </p:nvSpPr>
        <p:spPr>
          <a:xfrm>
            <a:off x="521208" y="448056"/>
            <a:ext cx="10603992" cy="640080"/>
          </a:xfrm>
        </p:spPr>
        <p:txBody>
          <a:bodyPr>
            <a:normAutofit fontScale="90000"/>
          </a:bodyPr>
          <a:lstStyle/>
          <a:p>
            <a:r>
              <a:rPr lang="en-US" dirty="0"/>
              <a:t>Directional – MWD Pricing System: Lumpsum Per Day for Each Hole Section</a:t>
            </a:r>
            <a:endParaRPr lang="en-ID" dirty="0"/>
          </a:p>
        </p:txBody>
      </p:sp>
      <p:pic>
        <p:nvPicPr>
          <p:cNvPr id="4" name="Picture 3">
            <a:extLst>
              <a:ext uri="{FF2B5EF4-FFF2-40B4-BE49-F238E27FC236}">
                <a16:creationId xmlns:a16="http://schemas.microsoft.com/office/drawing/2014/main" id="{1D5451BE-97A0-46E5-AB25-4C0F88B9C04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0589" y="1269642"/>
            <a:ext cx="8716319" cy="5314038"/>
          </a:xfrm>
          <a:prstGeom prst="rect">
            <a:avLst/>
          </a:prstGeom>
        </p:spPr>
      </p:pic>
      <p:sp>
        <p:nvSpPr>
          <p:cNvPr id="5" name="TextBox 4">
            <a:extLst>
              <a:ext uri="{FF2B5EF4-FFF2-40B4-BE49-F238E27FC236}">
                <a16:creationId xmlns:a16="http://schemas.microsoft.com/office/drawing/2014/main" id="{B8B706D8-9778-4B19-BB4A-E7F920DA41FB}"/>
              </a:ext>
            </a:extLst>
          </p:cNvPr>
          <p:cNvSpPr txBox="1"/>
          <p:nvPr/>
        </p:nvSpPr>
        <p:spPr>
          <a:xfrm>
            <a:off x="9164320" y="1269642"/>
            <a:ext cx="3027680" cy="3170099"/>
          </a:xfrm>
          <a:prstGeom prst="rect">
            <a:avLst/>
          </a:prstGeom>
          <a:noFill/>
        </p:spPr>
        <p:txBody>
          <a:bodyPr wrap="square" rtlCol="0">
            <a:spAutoFit/>
          </a:bodyPr>
          <a:lstStyle/>
          <a:p>
            <a:pPr marL="342900" indent="-342900">
              <a:buFont typeface="Arial" panose="020B0604020202020204" pitchFamily="34" charset="0"/>
              <a:buChar char="•"/>
            </a:pPr>
            <a:r>
              <a:rPr lang="en-US" sz="2000" dirty="0"/>
              <a:t>Vendor will do optimization and manage for their tool inventory to meet their best LS Unit price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Simple timesheet and invoicing, less man hours.</a:t>
            </a:r>
            <a:endParaRPr lang="en-ID" sz="2000" dirty="0"/>
          </a:p>
        </p:txBody>
      </p:sp>
    </p:spTree>
    <p:extLst>
      <p:ext uri="{BB962C8B-B14F-4D97-AF65-F5344CB8AC3E}">
        <p14:creationId xmlns:p14="http://schemas.microsoft.com/office/powerpoint/2010/main" val="93855620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5D5A4-C628-4C65-9660-750C29C9BF72}"/>
              </a:ext>
            </a:extLst>
          </p:cNvPr>
          <p:cNvSpPr>
            <a:spLocks noGrp="1"/>
          </p:cNvSpPr>
          <p:nvPr>
            <p:ph type="title"/>
          </p:nvPr>
        </p:nvSpPr>
        <p:spPr>
          <a:xfrm>
            <a:off x="521208" y="448056"/>
            <a:ext cx="10603992" cy="640080"/>
          </a:xfrm>
        </p:spPr>
        <p:txBody>
          <a:bodyPr>
            <a:normAutofit fontScale="90000"/>
          </a:bodyPr>
          <a:lstStyle/>
          <a:p>
            <a:r>
              <a:rPr lang="en-US" dirty="0"/>
              <a:t>Directional – MWD Pricing System: Lumpsum Per Day for Each Hole Section</a:t>
            </a:r>
            <a:endParaRPr lang="en-ID" dirty="0"/>
          </a:p>
        </p:txBody>
      </p:sp>
      <p:sp>
        <p:nvSpPr>
          <p:cNvPr id="5" name="TextBox 4">
            <a:extLst>
              <a:ext uri="{FF2B5EF4-FFF2-40B4-BE49-F238E27FC236}">
                <a16:creationId xmlns:a16="http://schemas.microsoft.com/office/drawing/2014/main" id="{B8B706D8-9778-4B19-BB4A-E7F920DA41FB}"/>
              </a:ext>
            </a:extLst>
          </p:cNvPr>
          <p:cNvSpPr txBox="1"/>
          <p:nvPr/>
        </p:nvSpPr>
        <p:spPr>
          <a:xfrm>
            <a:off x="8249921" y="1269642"/>
            <a:ext cx="3942079" cy="3477875"/>
          </a:xfrm>
          <a:prstGeom prst="rect">
            <a:avLst/>
          </a:prstGeom>
          <a:noFill/>
        </p:spPr>
        <p:txBody>
          <a:bodyPr wrap="square" rtlCol="0">
            <a:spAutoFit/>
          </a:bodyPr>
          <a:lstStyle/>
          <a:p>
            <a:pPr marL="342900" indent="-342900">
              <a:buFont typeface="Arial" panose="020B0604020202020204" pitchFamily="34" charset="0"/>
              <a:buChar char="•"/>
            </a:pPr>
            <a:r>
              <a:rPr lang="en-US" sz="2000" dirty="0"/>
              <a:t>To include LIH price and estimate LIH probability in commercial evaluation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Vendor to provide best LIH price to win this bid.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Otherwise Vendor will give un-reasonable unit price </a:t>
            </a:r>
            <a:r>
              <a:rPr lang="en-US" sz="2000" dirty="0">
                <a:sym typeface="Wingdings" panose="05000000000000000000" pitchFamily="2" charset="2"/>
              </a:rPr>
              <a:t> and potential contract dispute if any LIH event.</a:t>
            </a:r>
            <a:endParaRPr lang="en-ID" sz="2000" dirty="0"/>
          </a:p>
        </p:txBody>
      </p:sp>
      <p:pic>
        <p:nvPicPr>
          <p:cNvPr id="3" name="Picture 2">
            <a:extLst>
              <a:ext uri="{FF2B5EF4-FFF2-40B4-BE49-F238E27FC236}">
                <a16:creationId xmlns:a16="http://schemas.microsoft.com/office/drawing/2014/main" id="{DC5970E8-FA78-45B1-8C0D-A464B2824D1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2555" y="1269642"/>
            <a:ext cx="7847366" cy="5618597"/>
          </a:xfrm>
          <a:prstGeom prst="rect">
            <a:avLst/>
          </a:prstGeom>
        </p:spPr>
      </p:pic>
    </p:spTree>
    <p:extLst>
      <p:ext uri="{BB962C8B-B14F-4D97-AF65-F5344CB8AC3E}">
        <p14:creationId xmlns:p14="http://schemas.microsoft.com/office/powerpoint/2010/main" val="148633528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Effesiensi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Operasi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Pengeboran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Rectangle 1">
            <a:extLst>
              <a:ext uri="{FF2B5EF4-FFF2-40B4-BE49-F238E27FC236}">
                <a16:creationId xmlns:a16="http://schemas.microsoft.com/office/drawing/2014/main" id="{DA7BD951-32F0-EBB7-4734-9615E2BDA736}"/>
              </a:ext>
            </a:extLst>
          </p:cNvPr>
          <p:cNvSpPr/>
          <p:nvPr/>
        </p:nvSpPr>
        <p:spPr>
          <a:xfrm>
            <a:off x="3264210" y="1447135"/>
            <a:ext cx="6709144" cy="765544"/>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ea typeface="Verdana" panose="020B0604030504040204" pitchFamily="34" charset="0"/>
                <a:cs typeface="Cavolini" panose="03000502040302020204" pitchFamily="66" charset="0"/>
              </a:rPr>
              <a:t>Penanganan</a:t>
            </a:r>
            <a:r>
              <a:rPr lang="en-US" altLang="en-US" sz="2400" b="1" dirty="0">
                <a:latin typeface="Cavolini" panose="03000502040302020204" pitchFamily="66" charset="0"/>
                <a:ea typeface="Verdana" panose="020B0604030504040204" pitchFamily="34" charset="0"/>
                <a:cs typeface="Cavolini" panose="03000502040302020204" pitchFamily="66" charset="0"/>
              </a:rPr>
              <a:t> Loss di Section 26”</a:t>
            </a:r>
            <a:endParaRPr lang="en-ID" sz="2400" b="1" dirty="0">
              <a:latin typeface="Cavolini" panose="03000502040302020204" pitchFamily="66" charset="0"/>
              <a:ea typeface="Verdana" panose="020B0604030504040204" pitchFamily="34" charset="0"/>
              <a:cs typeface="Cavolini" panose="03000502040302020204" pitchFamily="66"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2131155" y="1480511"/>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5.1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3264210" y="2418244"/>
            <a:ext cx="6709144" cy="748783"/>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Pencegahan</a:t>
            </a:r>
            <a:r>
              <a:rPr lang="en-US" altLang="en-US" sz="2400" b="1" dirty="0">
                <a:latin typeface="Cavolini" panose="03000502040302020204" pitchFamily="66" charset="0"/>
                <a:cs typeface="Cavolini" panose="03000502040302020204" pitchFamily="66" charset="0"/>
              </a:rPr>
              <a:t> Stuck Pipe</a:t>
            </a:r>
            <a:endParaRPr lang="en-ID" sz="2400" b="1" dirty="0">
              <a:latin typeface="Cavolini" panose="03000502040302020204" pitchFamily="66" charset="0"/>
              <a:cs typeface="Cavolini" panose="03000502040302020204" pitchFamily="66" charset="0"/>
            </a:endParaRPr>
          </a:p>
        </p:txBody>
      </p:sp>
      <p:sp>
        <p:nvSpPr>
          <p:cNvPr id="5" name="Rectangle 4">
            <a:extLst>
              <a:ext uri="{FF2B5EF4-FFF2-40B4-BE49-F238E27FC236}">
                <a16:creationId xmlns:a16="http://schemas.microsoft.com/office/drawing/2014/main" id="{FEA18FA2-826B-D284-53B8-B37906FB6BBA}"/>
              </a:ext>
            </a:extLst>
          </p:cNvPr>
          <p:cNvSpPr/>
          <p:nvPr/>
        </p:nvSpPr>
        <p:spPr>
          <a:xfrm>
            <a:off x="3264210" y="3371111"/>
            <a:ext cx="6709144"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Metode</a:t>
            </a:r>
            <a:r>
              <a:rPr lang="en-US" altLang="en-US" sz="2400" b="1" dirty="0">
                <a:latin typeface="Cavolini" panose="03000502040302020204" pitchFamily="66" charset="0"/>
                <a:cs typeface="Cavolini" panose="03000502040302020204" pitchFamily="66" charset="0"/>
              </a:rPr>
              <a:t> Pipe Recovery</a:t>
            </a:r>
            <a:endParaRPr lang="en-ID" sz="2400" b="1" dirty="0">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2131154" y="2451620"/>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5.2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7" name="Rectangle 6">
            <a:extLst>
              <a:ext uri="{FF2B5EF4-FFF2-40B4-BE49-F238E27FC236}">
                <a16:creationId xmlns:a16="http://schemas.microsoft.com/office/drawing/2014/main" id="{EEC3DBDE-A9D3-E986-BC78-CB0BDA109893}"/>
              </a:ext>
            </a:extLst>
          </p:cNvPr>
          <p:cNvSpPr/>
          <p:nvPr/>
        </p:nvSpPr>
        <p:spPr>
          <a:xfrm>
            <a:off x="2131154" y="3371111"/>
            <a:ext cx="891363" cy="765544"/>
          </a:xfrm>
          <a:prstGeom prst="rect">
            <a:avLst/>
          </a:prstGeom>
          <a:solidFill>
            <a:srgbClr val="FFCC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5.3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BAB-5</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11" name="Rectangle 10">
            <a:extLst>
              <a:ext uri="{FF2B5EF4-FFF2-40B4-BE49-F238E27FC236}">
                <a16:creationId xmlns:a16="http://schemas.microsoft.com/office/drawing/2014/main" id="{0A378644-540E-962B-692D-FB65E974E4F7}"/>
              </a:ext>
            </a:extLst>
          </p:cNvPr>
          <p:cNvSpPr/>
          <p:nvPr/>
        </p:nvSpPr>
        <p:spPr>
          <a:xfrm>
            <a:off x="3264210" y="4318704"/>
            <a:ext cx="6709144"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a:latin typeface="Cavolini" panose="03000502040302020204" pitchFamily="66" charset="0"/>
                <a:cs typeface="Cavolini" panose="03000502040302020204" pitchFamily="66" charset="0"/>
              </a:rPr>
              <a:t>Evaluasi Teknis </a:t>
            </a:r>
            <a:r>
              <a:rPr lang="en-US" altLang="en-US" sz="2400" b="1" dirty="0" err="1">
                <a:latin typeface="Cavolini" panose="03000502040302020204" pitchFamily="66" charset="0"/>
                <a:cs typeface="Cavolini" panose="03000502040302020204" pitchFamily="66" charset="0"/>
              </a:rPr>
              <a:t>Paska</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Pemboran</a:t>
            </a:r>
            <a:endParaRPr lang="en-ID" sz="2400" b="1" dirty="0">
              <a:latin typeface="Cavolini" panose="03000502040302020204" pitchFamily="66" charset="0"/>
              <a:cs typeface="Cavolini" panose="03000502040302020204" pitchFamily="66" charset="0"/>
            </a:endParaRPr>
          </a:p>
        </p:txBody>
      </p:sp>
      <p:sp>
        <p:nvSpPr>
          <p:cNvPr id="12" name="Rectangle 11">
            <a:extLst>
              <a:ext uri="{FF2B5EF4-FFF2-40B4-BE49-F238E27FC236}">
                <a16:creationId xmlns:a16="http://schemas.microsoft.com/office/drawing/2014/main" id="{75E85C1B-72DA-6786-B82D-FD52ABFF8D39}"/>
              </a:ext>
            </a:extLst>
          </p:cNvPr>
          <p:cNvSpPr/>
          <p:nvPr/>
        </p:nvSpPr>
        <p:spPr>
          <a:xfrm>
            <a:off x="2131154" y="4318704"/>
            <a:ext cx="891363" cy="765544"/>
          </a:xfrm>
          <a:prstGeom prst="rect">
            <a:avLst/>
          </a:prstGeom>
          <a:solidFill>
            <a:schemeClr val="accent4">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5.4</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388146757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863600" y="1585913"/>
            <a:ext cx="10647680" cy="1143000"/>
          </a:xfrm>
        </p:spPr>
        <p:txBody>
          <a:bodyPr>
            <a:normAutofit/>
          </a:bodyPr>
          <a:lstStyle/>
          <a:p>
            <a:pPr algn="ctr"/>
            <a:r>
              <a:rPr lang="en-US" altLang="en-US" sz="4000" b="1" dirty="0">
                <a:solidFill>
                  <a:srgbClr val="D24726"/>
                </a:solidFill>
              </a:rPr>
              <a:t>26” and 17-1/2” Curing Losses</a:t>
            </a:r>
          </a:p>
        </p:txBody>
      </p:sp>
    </p:spTree>
    <p:extLst>
      <p:ext uri="{BB962C8B-B14F-4D97-AF65-F5344CB8AC3E}">
        <p14:creationId xmlns:p14="http://schemas.microsoft.com/office/powerpoint/2010/main" val="268812974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FC99-2284-4B64-A059-0838C510B5B9}"/>
              </a:ext>
            </a:extLst>
          </p:cNvPr>
          <p:cNvSpPr>
            <a:spLocks noGrp="1"/>
          </p:cNvSpPr>
          <p:nvPr>
            <p:ph type="title"/>
          </p:nvPr>
        </p:nvSpPr>
        <p:spPr/>
        <p:txBody>
          <a:bodyPr/>
          <a:lstStyle/>
          <a:p>
            <a:r>
              <a:rPr lang="en-US" dirty="0"/>
              <a:t>Surface Losses</a:t>
            </a:r>
            <a:endParaRPr lang="en-ID" dirty="0"/>
          </a:p>
        </p:txBody>
      </p:sp>
      <p:pic>
        <p:nvPicPr>
          <p:cNvPr id="5" name="Picture 4">
            <a:extLst>
              <a:ext uri="{FF2B5EF4-FFF2-40B4-BE49-F238E27FC236}">
                <a16:creationId xmlns:a16="http://schemas.microsoft.com/office/drawing/2014/main" id="{8766132A-C3E6-4D68-81F7-E5ED3CE817A6}"/>
              </a:ext>
            </a:extLst>
          </p:cNvPr>
          <p:cNvPicPr>
            <a:picLocks noChangeAspect="1"/>
          </p:cNvPicPr>
          <p:nvPr/>
        </p:nvPicPr>
        <p:blipFill>
          <a:blip r:embed="rId2"/>
          <a:stretch>
            <a:fillRect/>
          </a:stretch>
        </p:blipFill>
        <p:spPr>
          <a:xfrm>
            <a:off x="625577" y="1229360"/>
            <a:ext cx="6619310" cy="5313680"/>
          </a:xfrm>
          <a:prstGeom prst="rect">
            <a:avLst/>
          </a:prstGeom>
        </p:spPr>
      </p:pic>
      <p:pic>
        <p:nvPicPr>
          <p:cNvPr id="6" name="Picture 5">
            <a:extLst>
              <a:ext uri="{FF2B5EF4-FFF2-40B4-BE49-F238E27FC236}">
                <a16:creationId xmlns:a16="http://schemas.microsoft.com/office/drawing/2014/main" id="{C37FF71E-6CEC-4749-BD9E-61846F14E710}"/>
              </a:ext>
            </a:extLst>
          </p:cNvPr>
          <p:cNvPicPr>
            <a:picLocks noChangeAspect="1"/>
          </p:cNvPicPr>
          <p:nvPr/>
        </p:nvPicPr>
        <p:blipFill>
          <a:blip r:embed="rId3"/>
          <a:stretch>
            <a:fillRect/>
          </a:stretch>
        </p:blipFill>
        <p:spPr>
          <a:xfrm>
            <a:off x="7335151" y="1203061"/>
            <a:ext cx="2167035" cy="5366278"/>
          </a:xfrm>
          <a:prstGeom prst="rect">
            <a:avLst/>
          </a:prstGeom>
        </p:spPr>
      </p:pic>
      <p:pic>
        <p:nvPicPr>
          <p:cNvPr id="1028" name="Picture 4" descr="See the source image">
            <a:extLst>
              <a:ext uri="{FF2B5EF4-FFF2-40B4-BE49-F238E27FC236}">
                <a16:creationId xmlns:a16="http://schemas.microsoft.com/office/drawing/2014/main" id="{9B74363A-7279-4B31-B366-AE087C2E3F5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60240" y="314960"/>
            <a:ext cx="1120544" cy="9629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e the source image">
            <a:extLst>
              <a:ext uri="{FF2B5EF4-FFF2-40B4-BE49-F238E27FC236}">
                <a16:creationId xmlns:a16="http://schemas.microsoft.com/office/drawing/2014/main" id="{53C9EF83-8E30-458B-B2E5-DC6CEAD348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2080" y="381508"/>
            <a:ext cx="773176" cy="7731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C6D2EE5-2760-45E4-BFE9-771C77F90436}"/>
              </a:ext>
            </a:extLst>
          </p:cNvPr>
          <p:cNvSpPr txBox="1"/>
          <p:nvPr/>
        </p:nvSpPr>
        <p:spPr>
          <a:xfrm>
            <a:off x="2985487" y="3886200"/>
            <a:ext cx="425940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Losses</a:t>
            </a:r>
          </a:p>
          <a:p>
            <a:pPr marL="285750" indent="-285750">
              <a:buFont typeface="Arial" panose="020B0604020202020204" pitchFamily="34" charset="0"/>
              <a:buChar char="•"/>
            </a:pPr>
            <a:r>
              <a:rPr lang="en-US" dirty="0"/>
              <a:t>Stop drilling, POOH</a:t>
            </a:r>
          </a:p>
          <a:p>
            <a:pPr marL="285750" indent="-285750">
              <a:buFont typeface="Arial" panose="020B0604020202020204" pitchFamily="34" charset="0"/>
              <a:buChar char="•"/>
            </a:pPr>
            <a:r>
              <a:rPr lang="en-US" dirty="0"/>
              <a:t>RIH OEDP</a:t>
            </a:r>
          </a:p>
          <a:p>
            <a:pPr marL="285750" indent="-285750">
              <a:buFont typeface="Arial" panose="020B0604020202020204" pitchFamily="34" charset="0"/>
              <a:buChar char="•"/>
            </a:pPr>
            <a:r>
              <a:rPr lang="en-US" dirty="0"/>
              <a:t>Cement Plug, POOH</a:t>
            </a:r>
          </a:p>
          <a:p>
            <a:pPr marL="285750" indent="-285750">
              <a:buFont typeface="Arial" panose="020B0604020202020204" pitchFamily="34" charset="0"/>
              <a:buChar char="•"/>
            </a:pPr>
            <a:r>
              <a:rPr lang="en-US" dirty="0"/>
              <a:t>WOC</a:t>
            </a:r>
          </a:p>
          <a:p>
            <a:pPr marL="285750" indent="-285750">
              <a:buFont typeface="Arial" panose="020B0604020202020204" pitchFamily="34" charset="0"/>
              <a:buChar char="•"/>
            </a:pPr>
            <a:r>
              <a:rPr lang="en-US" dirty="0"/>
              <a:t>Repeated if still losses</a:t>
            </a:r>
          </a:p>
          <a:p>
            <a:pPr marL="285750" indent="-285750">
              <a:buFont typeface="Arial" panose="020B0604020202020204" pitchFamily="34" charset="0"/>
              <a:buChar char="•"/>
            </a:pPr>
            <a:r>
              <a:rPr lang="en-US" dirty="0"/>
              <a:t>If losses cured, continue drilling</a:t>
            </a:r>
          </a:p>
          <a:p>
            <a:pPr marL="285750" indent="-285750">
              <a:buFont typeface="Arial" panose="020B0604020202020204" pitchFamily="34" charset="0"/>
              <a:buChar char="•"/>
            </a:pPr>
            <a:r>
              <a:rPr lang="en-US" dirty="0"/>
              <a:t>If any losses again, repeat process to set cement plug</a:t>
            </a:r>
          </a:p>
          <a:p>
            <a:pPr marL="285750" indent="-285750">
              <a:buFont typeface="Arial" panose="020B0604020202020204" pitchFamily="34" charset="0"/>
              <a:buChar char="•"/>
            </a:pPr>
            <a:r>
              <a:rPr lang="en-US" b="1" dirty="0">
                <a:solidFill>
                  <a:srgbClr val="FF0000"/>
                </a:solidFill>
              </a:rPr>
              <a:t>Do option-1 if hole un-stable </a:t>
            </a:r>
            <a:endParaRPr lang="en-ID" b="1" dirty="0">
              <a:solidFill>
                <a:srgbClr val="FF0000"/>
              </a:solidFill>
            </a:endParaRPr>
          </a:p>
        </p:txBody>
      </p:sp>
      <p:sp>
        <p:nvSpPr>
          <p:cNvPr id="11" name="TextBox 10">
            <a:extLst>
              <a:ext uri="{FF2B5EF4-FFF2-40B4-BE49-F238E27FC236}">
                <a16:creationId xmlns:a16="http://schemas.microsoft.com/office/drawing/2014/main" id="{93751527-9FC0-4D1E-8989-AD57E6482D20}"/>
              </a:ext>
            </a:extLst>
          </p:cNvPr>
          <p:cNvSpPr txBox="1"/>
          <p:nvPr/>
        </p:nvSpPr>
        <p:spPr>
          <a:xfrm>
            <a:off x="9415447" y="1154684"/>
            <a:ext cx="2776553" cy="5632311"/>
          </a:xfrm>
          <a:prstGeom prst="rect">
            <a:avLst/>
          </a:prstGeom>
          <a:noFill/>
        </p:spPr>
        <p:txBody>
          <a:bodyPr wrap="square" rtlCol="0">
            <a:spAutoFit/>
          </a:bodyPr>
          <a:lstStyle/>
          <a:p>
            <a:pPr marL="173038" indent="-173038">
              <a:buFont typeface="Arial" panose="020B0604020202020204" pitchFamily="34" charset="0"/>
              <a:buChar char="•"/>
            </a:pPr>
            <a:r>
              <a:rPr lang="en-US" dirty="0"/>
              <a:t>Losses</a:t>
            </a:r>
          </a:p>
          <a:p>
            <a:pPr marL="173038" indent="-173038">
              <a:buFont typeface="Arial" panose="020B0604020202020204" pitchFamily="34" charset="0"/>
              <a:buChar char="•"/>
            </a:pPr>
            <a:r>
              <a:rPr lang="en-US" dirty="0"/>
              <a:t>Spot LCM</a:t>
            </a:r>
          </a:p>
          <a:p>
            <a:pPr marL="173038" indent="-173038">
              <a:buFont typeface="Arial" panose="020B0604020202020204" pitchFamily="34" charset="0"/>
              <a:buChar char="•"/>
            </a:pPr>
            <a:r>
              <a:rPr lang="en-US" dirty="0"/>
              <a:t>Keep drilling with losses to bottom losses depth</a:t>
            </a:r>
          </a:p>
          <a:p>
            <a:pPr marL="173038" indent="-173038">
              <a:buFont typeface="Arial" panose="020B0604020202020204" pitchFamily="34" charset="0"/>
              <a:buChar char="•"/>
            </a:pPr>
            <a:r>
              <a:rPr lang="en-US" dirty="0"/>
              <a:t>Keep low concentration LCM in the system</a:t>
            </a:r>
          </a:p>
          <a:p>
            <a:pPr marL="173038" indent="-173038">
              <a:buFont typeface="Arial" panose="020B0604020202020204" pitchFamily="34" charset="0"/>
              <a:buChar char="•"/>
            </a:pPr>
            <a:r>
              <a:rPr lang="en-US" dirty="0"/>
              <a:t>If losses cured by drilled cutting </a:t>
            </a:r>
            <a:r>
              <a:rPr lang="en-US" dirty="0">
                <a:sym typeface="Wingdings" panose="05000000000000000000" pitchFamily="2" charset="2"/>
              </a:rPr>
              <a:t> continue drilling</a:t>
            </a:r>
          </a:p>
          <a:p>
            <a:pPr marL="173038" indent="-173038">
              <a:buFont typeface="Arial" panose="020B0604020202020204" pitchFamily="34" charset="0"/>
              <a:buChar char="•"/>
            </a:pPr>
            <a:r>
              <a:rPr lang="en-US" dirty="0">
                <a:sym typeface="Wingdings" panose="05000000000000000000" pitchFamily="2" charset="2"/>
              </a:rPr>
              <a:t>If still severe losses, stop drilling  do cement plug as per option-1.</a:t>
            </a:r>
          </a:p>
          <a:p>
            <a:endParaRPr lang="en-US" dirty="0">
              <a:sym typeface="Wingdings" panose="05000000000000000000" pitchFamily="2" charset="2"/>
            </a:endParaRPr>
          </a:p>
          <a:p>
            <a:r>
              <a:rPr lang="en-US" dirty="0">
                <a:solidFill>
                  <a:srgbClr val="C00000"/>
                </a:solidFill>
                <a:sym typeface="Wingdings" panose="05000000000000000000" pitchFamily="2" charset="2"/>
              </a:rPr>
              <a:t>Advantage: </a:t>
            </a:r>
          </a:p>
          <a:p>
            <a:pPr marL="285750" indent="-285750">
              <a:buFont typeface="Arial" panose="020B0604020202020204" pitchFamily="34" charset="0"/>
              <a:buChar char="•"/>
            </a:pPr>
            <a:r>
              <a:rPr lang="en-US" dirty="0">
                <a:solidFill>
                  <a:srgbClr val="C00000"/>
                </a:solidFill>
                <a:sym typeface="Wingdings" panose="05000000000000000000" pitchFamily="2" charset="2"/>
              </a:rPr>
              <a:t>cement plug could be easier since drilled cutting has plugged the loss zone.</a:t>
            </a:r>
            <a:endParaRPr lang="en-US" dirty="0">
              <a:solidFill>
                <a:srgbClr val="C00000"/>
              </a:solidFill>
            </a:endParaRPr>
          </a:p>
          <a:p>
            <a:pPr marL="173038" indent="-173038">
              <a:buFont typeface="Arial" panose="020B0604020202020204" pitchFamily="34" charset="0"/>
              <a:buChar char="•"/>
            </a:pPr>
            <a:endParaRPr lang="en-ID" dirty="0"/>
          </a:p>
        </p:txBody>
      </p:sp>
    </p:spTree>
    <p:extLst>
      <p:ext uri="{BB962C8B-B14F-4D97-AF65-F5344CB8AC3E}">
        <p14:creationId xmlns:p14="http://schemas.microsoft.com/office/powerpoint/2010/main" val="99975605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FC99-2284-4B64-A059-0838C510B5B9}"/>
              </a:ext>
            </a:extLst>
          </p:cNvPr>
          <p:cNvSpPr>
            <a:spLocks noGrp="1"/>
          </p:cNvSpPr>
          <p:nvPr>
            <p:ph type="title"/>
          </p:nvPr>
        </p:nvSpPr>
        <p:spPr>
          <a:xfrm>
            <a:off x="562667" y="477519"/>
            <a:ext cx="6711893" cy="641809"/>
          </a:xfrm>
        </p:spPr>
        <p:txBody>
          <a:bodyPr>
            <a:normAutofit/>
          </a:bodyPr>
          <a:lstStyle/>
          <a:p>
            <a:r>
              <a:rPr lang="en-US" sz="3200" b="1" dirty="0">
                <a:solidFill>
                  <a:srgbClr val="C00000"/>
                </a:solidFill>
              </a:rPr>
              <a:t>Surface Losses – Cost Comparison</a:t>
            </a:r>
            <a:endParaRPr lang="en-ID" sz="3200" b="1" dirty="0">
              <a:solidFill>
                <a:srgbClr val="C00000"/>
              </a:solidFill>
            </a:endParaRPr>
          </a:p>
        </p:txBody>
      </p:sp>
      <p:pic>
        <p:nvPicPr>
          <p:cNvPr id="5" name="Picture 4">
            <a:extLst>
              <a:ext uri="{FF2B5EF4-FFF2-40B4-BE49-F238E27FC236}">
                <a16:creationId xmlns:a16="http://schemas.microsoft.com/office/drawing/2014/main" id="{8766132A-C3E6-4D68-81F7-E5ED3CE817A6}"/>
              </a:ext>
            </a:extLst>
          </p:cNvPr>
          <p:cNvPicPr>
            <a:picLocks noChangeAspect="1"/>
          </p:cNvPicPr>
          <p:nvPr/>
        </p:nvPicPr>
        <p:blipFill rotWithShape="1">
          <a:blip r:embed="rId2"/>
          <a:srcRect l="32605"/>
          <a:stretch/>
        </p:blipFill>
        <p:spPr>
          <a:xfrm>
            <a:off x="379744" y="1225329"/>
            <a:ext cx="4461047" cy="5313680"/>
          </a:xfrm>
          <a:prstGeom prst="rect">
            <a:avLst/>
          </a:prstGeom>
        </p:spPr>
      </p:pic>
      <p:pic>
        <p:nvPicPr>
          <p:cNvPr id="6" name="Picture 5">
            <a:extLst>
              <a:ext uri="{FF2B5EF4-FFF2-40B4-BE49-F238E27FC236}">
                <a16:creationId xmlns:a16="http://schemas.microsoft.com/office/drawing/2014/main" id="{C37FF71E-6CEC-4749-BD9E-61846F14E710}"/>
              </a:ext>
            </a:extLst>
          </p:cNvPr>
          <p:cNvPicPr>
            <a:picLocks noChangeAspect="1"/>
          </p:cNvPicPr>
          <p:nvPr/>
        </p:nvPicPr>
        <p:blipFill>
          <a:blip r:embed="rId3"/>
          <a:stretch>
            <a:fillRect/>
          </a:stretch>
        </p:blipFill>
        <p:spPr>
          <a:xfrm>
            <a:off x="9726501" y="1225329"/>
            <a:ext cx="2167035" cy="5366278"/>
          </a:xfrm>
          <a:prstGeom prst="rect">
            <a:avLst/>
          </a:prstGeom>
        </p:spPr>
      </p:pic>
      <p:pic>
        <p:nvPicPr>
          <p:cNvPr id="1028" name="Picture 4" descr="See the source image">
            <a:extLst>
              <a:ext uri="{FF2B5EF4-FFF2-40B4-BE49-F238E27FC236}">
                <a16:creationId xmlns:a16="http://schemas.microsoft.com/office/drawing/2014/main" id="{9B74363A-7279-4B31-B366-AE087C2E3F5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240" y="5503588"/>
            <a:ext cx="1120544" cy="9629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e the source image">
            <a:extLst>
              <a:ext uri="{FF2B5EF4-FFF2-40B4-BE49-F238E27FC236}">
                <a16:creationId xmlns:a16="http://schemas.microsoft.com/office/drawing/2014/main" id="{53C9EF83-8E30-458B-B2E5-DC6CEAD348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42150" y="346153"/>
            <a:ext cx="773176" cy="7731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C438388-5E33-4FDC-8C82-D408170957DD}"/>
              </a:ext>
            </a:extLst>
          </p:cNvPr>
          <p:cNvPicPr>
            <a:picLocks noChangeAspect="1"/>
          </p:cNvPicPr>
          <p:nvPr/>
        </p:nvPicPr>
        <p:blipFill>
          <a:blip r:embed="rId6"/>
          <a:stretch>
            <a:fillRect/>
          </a:stretch>
        </p:blipFill>
        <p:spPr>
          <a:xfrm>
            <a:off x="4861111" y="1225328"/>
            <a:ext cx="4822686" cy="5049520"/>
          </a:xfrm>
          <a:prstGeom prst="rect">
            <a:avLst/>
          </a:prstGeom>
        </p:spPr>
      </p:pic>
      <p:sp>
        <p:nvSpPr>
          <p:cNvPr id="12" name="TextBox 11">
            <a:extLst>
              <a:ext uri="{FF2B5EF4-FFF2-40B4-BE49-F238E27FC236}">
                <a16:creationId xmlns:a16="http://schemas.microsoft.com/office/drawing/2014/main" id="{B8CCD950-01AA-4B6B-83EA-53BD3C8C7776}"/>
              </a:ext>
            </a:extLst>
          </p:cNvPr>
          <p:cNvSpPr txBox="1"/>
          <p:nvPr/>
        </p:nvSpPr>
        <p:spPr>
          <a:xfrm>
            <a:off x="7142480" y="6244762"/>
            <a:ext cx="2722880" cy="369332"/>
          </a:xfrm>
          <a:prstGeom prst="rect">
            <a:avLst/>
          </a:prstGeom>
          <a:noFill/>
        </p:spPr>
        <p:txBody>
          <a:bodyPr wrap="square">
            <a:spAutoFit/>
          </a:bodyPr>
          <a:lstStyle/>
          <a:p>
            <a:r>
              <a:rPr lang="en-US" dirty="0"/>
              <a:t>Cost saving: </a:t>
            </a:r>
            <a:r>
              <a:rPr lang="en-US" b="1" dirty="0">
                <a:solidFill>
                  <a:srgbClr val="FF0000"/>
                </a:solidFill>
              </a:rPr>
              <a:t>USD 140 K</a:t>
            </a:r>
            <a:endParaRPr lang="en-ID" b="1" dirty="0">
              <a:solidFill>
                <a:srgbClr val="FF0000"/>
              </a:solidFill>
            </a:endParaRPr>
          </a:p>
        </p:txBody>
      </p:sp>
    </p:spTree>
    <p:extLst>
      <p:ext uri="{BB962C8B-B14F-4D97-AF65-F5344CB8AC3E}">
        <p14:creationId xmlns:p14="http://schemas.microsoft.com/office/powerpoint/2010/main" val="373371390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1624013" y="1585913"/>
            <a:ext cx="8839200" cy="1143000"/>
          </a:xfrm>
        </p:spPr>
        <p:txBody>
          <a:bodyPr>
            <a:normAutofit/>
          </a:bodyPr>
          <a:lstStyle/>
          <a:p>
            <a:pPr algn="ctr"/>
            <a:r>
              <a:rPr lang="en-US" altLang="en-US" sz="4000" b="1" dirty="0">
                <a:solidFill>
                  <a:srgbClr val="D24726"/>
                </a:solidFill>
              </a:rPr>
              <a:t>Stuck Pipe Prevention</a:t>
            </a:r>
          </a:p>
        </p:txBody>
      </p:sp>
      <p:grpSp>
        <p:nvGrpSpPr>
          <p:cNvPr id="41988" name="Group 6"/>
          <p:cNvGrpSpPr>
            <a:grpSpLocks/>
          </p:cNvGrpSpPr>
          <p:nvPr/>
        </p:nvGrpSpPr>
        <p:grpSpPr bwMode="auto">
          <a:xfrm>
            <a:off x="3105151" y="3338514"/>
            <a:ext cx="5324475" cy="1800225"/>
            <a:chOff x="1581150" y="3338909"/>
            <a:chExt cx="5324250" cy="1800000"/>
          </a:xfrm>
        </p:grpSpPr>
        <p:sp>
          <p:nvSpPr>
            <p:cNvPr id="8" name="Dodecagon 7"/>
            <p:cNvSpPr/>
            <p:nvPr/>
          </p:nvSpPr>
          <p:spPr>
            <a:xfrm>
              <a:off x="5105251" y="3338909"/>
              <a:ext cx="1800149" cy="1800000"/>
            </a:xfrm>
            <a:prstGeom prst="dodecagon">
              <a:avLst/>
            </a:prstGeom>
            <a:noFill/>
            <a:ln w="30480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6600" dirty="0">
                  <a:solidFill>
                    <a:srgbClr val="FFC000"/>
                  </a:solidFill>
                  <a:latin typeface="Arial Black" panose="020B0A04020102020204" pitchFamily="34" charset="0"/>
                </a:rPr>
                <a:t>18</a:t>
              </a:r>
            </a:p>
          </p:txBody>
        </p:sp>
        <p:pic>
          <p:nvPicPr>
            <p:cNvPr id="41990" name="Picture 8" descr="Image result for COST SAVI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581150" y="3606006"/>
              <a:ext cx="302895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63484543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solidFill>
                  <a:srgbClr val="C00000"/>
                </a:solidFill>
              </a:rPr>
              <a:t>Stuck Pipe Prevention</a:t>
            </a:r>
          </a:p>
        </p:txBody>
      </p:sp>
      <p:graphicFrame>
        <p:nvGraphicFramePr>
          <p:cNvPr id="4" name="Table 3"/>
          <p:cNvGraphicFramePr>
            <a:graphicFrameLocks noGrp="1"/>
          </p:cNvGraphicFramePr>
          <p:nvPr/>
        </p:nvGraphicFramePr>
        <p:xfrm>
          <a:off x="354841" y="1280160"/>
          <a:ext cx="11477768" cy="5577840"/>
        </p:xfrm>
        <a:graphic>
          <a:graphicData uri="http://schemas.openxmlformats.org/drawingml/2006/table">
            <a:tbl>
              <a:tblPr firstRow="1" bandRow="1">
                <a:tableStyleId>{17292A2E-F333-43FB-9621-5CBBE7FDCDCB}</a:tableStyleId>
              </a:tblPr>
              <a:tblGrid>
                <a:gridCol w="5738884">
                  <a:extLst>
                    <a:ext uri="{9D8B030D-6E8A-4147-A177-3AD203B41FA5}">
                      <a16:colId xmlns:a16="http://schemas.microsoft.com/office/drawing/2014/main" val="4171156735"/>
                    </a:ext>
                  </a:extLst>
                </a:gridCol>
                <a:gridCol w="5738884">
                  <a:extLst>
                    <a:ext uri="{9D8B030D-6E8A-4147-A177-3AD203B41FA5}">
                      <a16:colId xmlns:a16="http://schemas.microsoft.com/office/drawing/2014/main" val="3662106388"/>
                    </a:ext>
                  </a:extLst>
                </a:gridCol>
              </a:tblGrid>
              <a:tr h="370840">
                <a:tc>
                  <a:txBody>
                    <a:bodyPr/>
                    <a:lstStyle/>
                    <a:p>
                      <a:r>
                        <a:rPr lang="en-US" sz="2400" dirty="0"/>
                        <a:t>Non</a:t>
                      </a:r>
                      <a:r>
                        <a:rPr lang="en-US" sz="2400" baseline="0" dirty="0"/>
                        <a:t> Production Hole (26” &amp; 17-1/2”)</a:t>
                      </a:r>
                      <a:endParaRPr lang="en-US" sz="2400" dirty="0"/>
                    </a:p>
                  </a:txBody>
                  <a:tcPr/>
                </a:tc>
                <a:tc>
                  <a:txBody>
                    <a:bodyPr/>
                    <a:lstStyle/>
                    <a:p>
                      <a:r>
                        <a:rPr lang="en-US" sz="2400" dirty="0"/>
                        <a:t>Production Hole (12-1/4”)</a:t>
                      </a:r>
                    </a:p>
                  </a:txBody>
                  <a:tcPr/>
                </a:tc>
                <a:extLst>
                  <a:ext uri="{0D108BD9-81ED-4DB2-BD59-A6C34878D82A}">
                    <a16:rowId xmlns:a16="http://schemas.microsoft.com/office/drawing/2014/main" val="1014518464"/>
                  </a:ext>
                </a:extLst>
              </a:tr>
              <a:tr h="370840">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Enhance hole cleaning:</a:t>
                      </a:r>
                    </a:p>
                    <a:p>
                      <a:pPr marL="742950" lvl="1" indent="-285750">
                        <a:buFont typeface="Arial" panose="020B0604020202020204" pitchFamily="34" charset="0"/>
                        <a:buChar char="•"/>
                      </a:pPr>
                      <a:r>
                        <a:rPr lang="en-US" sz="2200" dirty="0"/>
                        <a:t>High flow rate (900 – 1200 </a:t>
                      </a:r>
                      <a:r>
                        <a:rPr lang="en-US" sz="2200" dirty="0" err="1"/>
                        <a:t>gpm</a:t>
                      </a:r>
                      <a:r>
                        <a:rPr lang="en-US" sz="2200" dirty="0"/>
                        <a:t>)</a:t>
                      </a:r>
                    </a:p>
                    <a:p>
                      <a:pPr marL="742950" lvl="1" indent="-285750">
                        <a:buFont typeface="Arial" panose="020B0604020202020204" pitchFamily="34" charset="0"/>
                        <a:buChar char="•"/>
                      </a:pPr>
                      <a:r>
                        <a:rPr lang="en-US" sz="2200" dirty="0"/>
                        <a:t>Sweep with fiber</a:t>
                      </a:r>
                      <a:r>
                        <a:rPr lang="en-US" sz="2200" baseline="0" dirty="0"/>
                        <a:t> Hi-Vis </a:t>
                      </a:r>
                    </a:p>
                    <a:p>
                      <a:pPr marL="742950" lvl="1" indent="-285750">
                        <a:buFont typeface="Arial" panose="020B0604020202020204" pitchFamily="34" charset="0"/>
                        <a:buChar char="•"/>
                      </a:pPr>
                      <a:r>
                        <a:rPr lang="en-US" sz="2200" baseline="0" dirty="0"/>
                        <a:t>Pump Tandem Hi-Vis if required</a:t>
                      </a:r>
                    </a:p>
                    <a:p>
                      <a:pPr marL="285750" lvl="0" indent="-285750">
                        <a:buFont typeface="Arial" panose="020B0604020202020204" pitchFamily="34" charset="0"/>
                        <a:buChar char="•"/>
                      </a:pPr>
                      <a:r>
                        <a:rPr lang="en-US" sz="2200" baseline="0" dirty="0"/>
                        <a:t>Use asphaltic mud chemical if any un-stable formation (ruble zone).</a:t>
                      </a:r>
                    </a:p>
                    <a:p>
                      <a:pPr marL="285750" lvl="0" indent="-285750">
                        <a:buFont typeface="Arial" panose="020B0604020202020204" pitchFamily="34" charset="0"/>
                        <a:buChar char="•"/>
                      </a:pPr>
                      <a:r>
                        <a:rPr lang="en-US" sz="2200" baseline="0" dirty="0"/>
                        <a:t>PLC-TLC: Pump 3 X LCM (50 -100 ppb) and drill blind to let drill cutting cure losses.</a:t>
                      </a:r>
                    </a:p>
                    <a:p>
                      <a:pPr marL="285750" lvl="0" indent="-285750">
                        <a:buFont typeface="Arial" panose="020B0604020202020204" pitchFamily="34" charset="0"/>
                        <a:buChar char="•"/>
                      </a:pPr>
                      <a:r>
                        <a:rPr lang="en-US" sz="2200" baseline="0" dirty="0"/>
                        <a:t>Closely monitor Off Bottom Torque </a:t>
                      </a:r>
                    </a:p>
                    <a:p>
                      <a:pPr marL="285750" lvl="0" indent="-285750">
                        <a:buFont typeface="Arial" panose="020B0604020202020204" pitchFamily="34" charset="0"/>
                        <a:buChar char="•"/>
                      </a:pPr>
                      <a:r>
                        <a:rPr lang="en-US" sz="2200" baseline="0" dirty="0"/>
                        <a:t>Only Use 1 or 2 string stabilizers </a:t>
                      </a:r>
                    </a:p>
                    <a:p>
                      <a:pPr marL="285750" lvl="0" indent="-285750">
                        <a:buFont typeface="Arial" panose="020B0604020202020204" pitchFamily="34" charset="0"/>
                        <a:buChar char="•"/>
                      </a:pPr>
                      <a:r>
                        <a:rPr lang="en-US" sz="2200" baseline="0" dirty="0"/>
                        <a:t>Use strong Hydro Mechanical Drilling Jars (</a:t>
                      </a:r>
                      <a:r>
                        <a:rPr lang="en-US" sz="2200" b="1" baseline="0" dirty="0">
                          <a:solidFill>
                            <a:srgbClr val="C00000"/>
                          </a:solidFill>
                        </a:rPr>
                        <a:t>8” Jars Yield Torque &gt; 100000 </a:t>
                      </a:r>
                      <a:r>
                        <a:rPr lang="en-US" sz="2200" b="1" baseline="0" dirty="0" err="1">
                          <a:solidFill>
                            <a:srgbClr val="C00000"/>
                          </a:solidFill>
                        </a:rPr>
                        <a:t>ft.lbs</a:t>
                      </a:r>
                      <a:endParaRPr lang="en-US" sz="2200" b="1" dirty="0">
                        <a:solidFill>
                          <a:srgbClr val="C00000"/>
                        </a:solidFill>
                      </a:endParaRP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Enhance hole cleaning:</a:t>
                      </a:r>
                    </a:p>
                    <a:p>
                      <a:pPr marL="742950" lvl="1" indent="-285750">
                        <a:buFont typeface="Arial" panose="020B0604020202020204" pitchFamily="34" charset="0"/>
                        <a:buChar char="•"/>
                      </a:pPr>
                      <a:r>
                        <a:rPr lang="en-US" sz="2200" dirty="0"/>
                        <a:t>High flow rate (900 – 1000 </a:t>
                      </a:r>
                      <a:r>
                        <a:rPr lang="en-US" sz="2200" dirty="0" err="1"/>
                        <a:t>gpm</a:t>
                      </a:r>
                      <a:r>
                        <a:rPr lang="en-US" sz="2200" dirty="0"/>
                        <a:t>)</a:t>
                      </a:r>
                    </a:p>
                    <a:p>
                      <a:pPr marL="742950" lvl="1" indent="-285750">
                        <a:buFont typeface="Arial" panose="020B0604020202020204" pitchFamily="34" charset="0"/>
                        <a:buChar char="•"/>
                      </a:pPr>
                      <a:r>
                        <a:rPr lang="en-US" sz="2200" baseline="0" dirty="0"/>
                        <a:t>Pump Tandem Hi-Vis</a:t>
                      </a:r>
                    </a:p>
                    <a:p>
                      <a:pPr marL="285750" lvl="0" indent="-285750">
                        <a:buFont typeface="Arial" panose="020B0604020202020204" pitchFamily="34" charset="0"/>
                        <a:buChar char="•"/>
                      </a:pPr>
                      <a:r>
                        <a:rPr lang="en-US" sz="2200" baseline="0" dirty="0"/>
                        <a:t>Drill with losses:</a:t>
                      </a:r>
                    </a:p>
                    <a:p>
                      <a:pPr marL="742950" lvl="1" indent="-285750">
                        <a:buFont typeface="Arial" panose="020B0604020202020204" pitchFamily="34" charset="0"/>
                        <a:buChar char="•"/>
                      </a:pPr>
                      <a:r>
                        <a:rPr lang="en-US" sz="2200" baseline="0" dirty="0"/>
                        <a:t>PLC up to 200 </a:t>
                      </a:r>
                      <a:r>
                        <a:rPr lang="en-US" sz="2200" baseline="0" dirty="0" err="1"/>
                        <a:t>bph</a:t>
                      </a:r>
                      <a:r>
                        <a:rPr lang="en-US" sz="2200" baseline="0" dirty="0"/>
                        <a:t>: Keep drilling with mud</a:t>
                      </a:r>
                    </a:p>
                    <a:p>
                      <a:pPr marL="742950" lvl="1" indent="-285750">
                        <a:buFont typeface="Arial" panose="020B0604020202020204" pitchFamily="34" charset="0"/>
                        <a:buChar char="•"/>
                      </a:pPr>
                      <a:r>
                        <a:rPr lang="en-US" sz="2200" baseline="0" dirty="0"/>
                        <a:t>PLC &gt; 200 </a:t>
                      </a:r>
                      <a:r>
                        <a:rPr lang="en-US" sz="2200" baseline="0" dirty="0" err="1"/>
                        <a:t>blh</a:t>
                      </a:r>
                      <a:r>
                        <a:rPr lang="en-US" sz="2200" baseline="0" dirty="0"/>
                        <a:t>: Drill with aerated mud</a:t>
                      </a:r>
                    </a:p>
                    <a:p>
                      <a:pPr marL="742950" lvl="1" indent="-285750">
                        <a:buFont typeface="Arial" panose="020B0604020202020204" pitchFamily="34" charset="0"/>
                        <a:buChar char="•"/>
                      </a:pPr>
                      <a:r>
                        <a:rPr lang="en-US" sz="2200" baseline="0" dirty="0"/>
                        <a:t>TLC: Drill blind with aerated mud or hi-rate technic.</a:t>
                      </a:r>
                    </a:p>
                    <a:p>
                      <a:pPr marL="285750" lvl="0" indent="-285750">
                        <a:buFont typeface="Arial" panose="020B0604020202020204" pitchFamily="34" charset="0"/>
                        <a:buChar char="•"/>
                      </a:pPr>
                      <a:r>
                        <a:rPr lang="en-US" sz="2200" baseline="0" dirty="0"/>
                        <a:t>Closely monitor Off Bottom Torque </a:t>
                      </a:r>
                    </a:p>
                    <a:p>
                      <a:pPr marL="285750" lvl="0" indent="-285750">
                        <a:buFont typeface="Arial" panose="020B0604020202020204" pitchFamily="34" charset="0"/>
                        <a:buChar char="•"/>
                      </a:pPr>
                      <a:r>
                        <a:rPr lang="en-US" sz="2200" baseline="0" dirty="0"/>
                        <a:t>Only Use 1 or 2 string stabilizers </a:t>
                      </a:r>
                    </a:p>
                    <a:p>
                      <a:pPr marL="285750" lvl="0" indent="-285750">
                        <a:buFont typeface="Arial" panose="020B0604020202020204" pitchFamily="34" charset="0"/>
                        <a:buChar char="•"/>
                      </a:pPr>
                      <a:r>
                        <a:rPr lang="en-US" sz="2200" baseline="0" dirty="0"/>
                        <a:t>Use strong Hydro Mechanical Drilling Jars</a:t>
                      </a:r>
                    </a:p>
                    <a:p>
                      <a:pPr marL="285750" lvl="0" indent="-285750">
                        <a:buFont typeface="Arial" panose="020B0604020202020204" pitchFamily="34" charset="0"/>
                        <a:buChar char="•"/>
                      </a:pPr>
                      <a:r>
                        <a:rPr lang="en-US" sz="2200" baseline="0" dirty="0"/>
                        <a:t>Monitor pick up weight to keep less pipe pulling capacity with 100-150 </a:t>
                      </a:r>
                      <a:r>
                        <a:rPr lang="en-US" sz="2200" baseline="0" dirty="0" err="1"/>
                        <a:t>klbs</a:t>
                      </a:r>
                      <a:r>
                        <a:rPr lang="en-US" sz="2200" baseline="0" dirty="0"/>
                        <a:t> over pulled to activated Drilling Jars up.</a:t>
                      </a:r>
                      <a:endParaRPr lang="en-US" sz="2200" dirty="0"/>
                    </a:p>
                  </a:txBody>
                  <a:tcPr/>
                </a:tc>
                <a:extLst>
                  <a:ext uri="{0D108BD9-81ED-4DB2-BD59-A6C34878D82A}">
                    <a16:rowId xmlns:a16="http://schemas.microsoft.com/office/drawing/2014/main" val="160832802"/>
                  </a:ext>
                </a:extLst>
              </a:tr>
            </a:tbl>
          </a:graphicData>
        </a:graphic>
      </p:graphicFrame>
    </p:spTree>
    <p:extLst>
      <p:ext uri="{BB962C8B-B14F-4D97-AF65-F5344CB8AC3E}">
        <p14:creationId xmlns:p14="http://schemas.microsoft.com/office/powerpoint/2010/main" val="79370510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39496" y="1162970"/>
            <a:ext cx="8229600" cy="5635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algn="l" eaLnBrk="1" hangingPunct="1"/>
            <a:r>
              <a:rPr lang="en-US" altLang="en-US" b="1" dirty="0">
                <a:solidFill>
                  <a:srgbClr val="C00000"/>
                </a:solidFill>
              </a:rPr>
              <a:t>Why Drilling Jars fail..?</a:t>
            </a:r>
          </a:p>
        </p:txBody>
      </p:sp>
      <p:sp>
        <p:nvSpPr>
          <p:cNvPr id="75779" name="Rectangle 3"/>
          <p:cNvSpPr>
            <a:spLocks noGrp="1" noChangeArrowheads="1"/>
          </p:cNvSpPr>
          <p:nvPr>
            <p:ph type="body" idx="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z="2800"/>
          </a:p>
          <a:p>
            <a:pPr eaLnBrk="1" hangingPunct="1">
              <a:buFontTx/>
              <a:buNone/>
            </a:pPr>
            <a:endParaRPr lang="en-US" altLang="en-US" sz="2800"/>
          </a:p>
        </p:txBody>
      </p:sp>
      <p:pic>
        <p:nvPicPr>
          <p:cNvPr id="75780" name="Picture 6"/>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84739" y="1769853"/>
            <a:ext cx="8545512" cy="447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781" name="Picture 1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rot="5187692">
            <a:off x="3882771" y="3800265"/>
            <a:ext cx="619125" cy="539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82" name="Line 19"/>
          <p:cNvSpPr>
            <a:spLocks noChangeShapeType="1"/>
          </p:cNvSpPr>
          <p:nvPr/>
        </p:nvSpPr>
        <p:spPr bwMode="auto">
          <a:xfrm>
            <a:off x="4074858" y="2553620"/>
            <a:ext cx="782638" cy="3832225"/>
          </a:xfrm>
          <a:prstGeom prst="line">
            <a:avLst/>
          </a:prstGeom>
          <a:noFill/>
          <a:ln w="22225">
            <a:solidFill>
              <a:srgbClr val="FF66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3" name="Line 21"/>
          <p:cNvSpPr>
            <a:spLocks noChangeShapeType="1"/>
          </p:cNvSpPr>
          <p:nvPr/>
        </p:nvSpPr>
        <p:spPr bwMode="auto">
          <a:xfrm flipH="1">
            <a:off x="1345947" y="4890420"/>
            <a:ext cx="1044575" cy="2119313"/>
          </a:xfrm>
          <a:prstGeom prst="line">
            <a:avLst/>
          </a:prstGeom>
          <a:noFill/>
          <a:ln w="19050">
            <a:solidFill>
              <a:srgbClr val="FF66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4" name="AutoShape 22"/>
          <p:cNvSpPr>
            <a:spLocks noChangeArrowheads="1"/>
          </p:cNvSpPr>
          <p:nvPr/>
        </p:nvSpPr>
        <p:spPr bwMode="auto">
          <a:xfrm rot="1242299">
            <a:off x="4168520" y="2690602"/>
            <a:ext cx="449262" cy="290512"/>
          </a:xfrm>
          <a:prstGeom prst="downArrow">
            <a:avLst>
              <a:gd name="adj1" fmla="val 50000"/>
              <a:gd name="adj2" fmla="val 25000"/>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id-ID" altLang="en-US" sz="1000">
              <a:cs typeface="Arial" panose="020B0604020202020204" pitchFamily="34" charset="0"/>
            </a:endParaRPr>
          </a:p>
        </p:txBody>
      </p:sp>
      <p:sp>
        <p:nvSpPr>
          <p:cNvPr id="75785" name="Text Box 23"/>
          <p:cNvSpPr txBox="1">
            <a:spLocks noChangeArrowheads="1"/>
          </p:cNvSpPr>
          <p:nvPr/>
        </p:nvSpPr>
        <p:spPr bwMode="auto">
          <a:xfrm rot="-216797">
            <a:off x="4792407" y="5932277"/>
            <a:ext cx="4730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solidFill>
                  <a:srgbClr val="008000"/>
                </a:solidFill>
                <a:cs typeface="Arial" panose="020B0604020202020204" pitchFamily="34" charset="0"/>
              </a:rPr>
              <a:t>Jars position at maximum torsional displacement</a:t>
            </a:r>
          </a:p>
        </p:txBody>
      </p:sp>
      <p:sp>
        <p:nvSpPr>
          <p:cNvPr id="75786" name="Text Box 24"/>
          <p:cNvSpPr txBox="1">
            <a:spLocks noChangeArrowheads="1"/>
          </p:cNvSpPr>
          <p:nvPr/>
        </p:nvSpPr>
        <p:spPr bwMode="auto">
          <a:xfrm>
            <a:off x="9227248" y="6530966"/>
            <a:ext cx="27370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200" dirty="0" err="1">
                <a:solidFill>
                  <a:schemeClr val="accent2"/>
                </a:solidFill>
                <a:cs typeface="Arial" panose="020B0604020202020204" pitchFamily="34" charset="0"/>
              </a:rPr>
              <a:t>Wellplan</a:t>
            </a:r>
            <a:r>
              <a:rPr lang="en-US" altLang="en-US" sz="1200" dirty="0">
                <a:solidFill>
                  <a:schemeClr val="accent2"/>
                </a:solidFill>
                <a:cs typeface="Arial" panose="020B0604020202020204" pitchFamily="34" charset="0"/>
              </a:rPr>
              <a:t> 2000, Critical Speed Module</a:t>
            </a:r>
          </a:p>
        </p:txBody>
      </p:sp>
      <p:sp>
        <p:nvSpPr>
          <p:cNvPr id="11" name="Title 1"/>
          <p:cNvSpPr txBox="1">
            <a:spLocks/>
          </p:cNvSpPr>
          <p:nvPr/>
        </p:nvSpPr>
        <p:spPr bwMode="auto">
          <a:xfrm>
            <a:off x="564896" y="212421"/>
            <a:ext cx="5886704"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ＭＳ Ｐゴシック" pitchFamily="34" charset="-128"/>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algn="l">
              <a:defRPr/>
            </a:pPr>
            <a:r>
              <a:rPr lang="en-US" altLang="en-US" kern="0" dirty="0">
                <a:solidFill>
                  <a:srgbClr val="FF9933"/>
                </a:solidFill>
              </a:rPr>
              <a:t>BHA STUDY</a:t>
            </a:r>
          </a:p>
        </p:txBody>
      </p:sp>
    </p:spTree>
    <p:extLst>
      <p:ext uri="{BB962C8B-B14F-4D97-AF65-F5344CB8AC3E}">
        <p14:creationId xmlns:p14="http://schemas.microsoft.com/office/powerpoint/2010/main" val="376222375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831975" y="1399987"/>
            <a:ext cx="852805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3" name="Rectangle 3"/>
          <p:cNvSpPr>
            <a:spLocks noGrp="1" noChangeArrowheads="1"/>
          </p:cNvSpPr>
          <p:nvPr>
            <p:ph type="title"/>
          </p:nvPr>
        </p:nvSpPr>
        <p:spPr>
          <a:xfrm>
            <a:off x="670878" y="529032"/>
            <a:ext cx="8229600" cy="5635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noAutofit/>
          </a:bodyPr>
          <a:lstStyle/>
          <a:p>
            <a:r>
              <a:rPr lang="en-US" altLang="en-US" sz="3600" b="1" kern="0" dirty="0">
                <a:solidFill>
                  <a:srgbClr val="FF9933"/>
                </a:solidFill>
              </a:rPr>
              <a:t>BHA STUDY: Jars Construction</a:t>
            </a:r>
            <a:br>
              <a:rPr lang="en-US" altLang="en-US" sz="3600" b="1" kern="0" dirty="0">
                <a:solidFill>
                  <a:srgbClr val="FF9933"/>
                </a:solidFill>
              </a:rPr>
            </a:br>
            <a:endParaRPr lang="en-US" altLang="en-US" sz="3600" b="1" dirty="0">
              <a:solidFill>
                <a:schemeClr val="bg1"/>
              </a:solidFill>
            </a:endParaRPr>
          </a:p>
        </p:txBody>
      </p:sp>
      <p:sp>
        <p:nvSpPr>
          <p:cNvPr id="76804" name="Rectangle 4"/>
          <p:cNvSpPr>
            <a:spLocks noGrp="1" noChangeArrowheads="1"/>
          </p:cNvSpPr>
          <p:nvPr>
            <p:ph type="body" idx="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z="2800"/>
          </a:p>
          <a:p>
            <a:pPr eaLnBrk="1" hangingPunct="1">
              <a:buFontTx/>
              <a:buNone/>
            </a:pPr>
            <a:endParaRPr lang="en-US" altLang="en-US" sz="2800"/>
          </a:p>
        </p:txBody>
      </p:sp>
      <p:pic>
        <p:nvPicPr>
          <p:cNvPr id="76805" name="Picture 5"/>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981200" y="2831911"/>
            <a:ext cx="2916238" cy="296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806" name="Picture 6"/>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594351" y="2893824"/>
            <a:ext cx="3687763"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7" name="Oval 7"/>
          <p:cNvSpPr>
            <a:spLocks noChangeArrowheads="1"/>
          </p:cNvSpPr>
          <p:nvPr/>
        </p:nvSpPr>
        <p:spPr bwMode="auto">
          <a:xfrm>
            <a:off x="7526339" y="1607949"/>
            <a:ext cx="769937" cy="538163"/>
          </a:xfrm>
          <a:prstGeom prst="ellipse">
            <a:avLst/>
          </a:prstGeom>
          <a:noFill/>
          <a:ln w="19050">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id-ID" altLang="en-US" sz="1000">
              <a:solidFill>
                <a:schemeClr val="accent5">
                  <a:lumMod val="50000"/>
                </a:schemeClr>
              </a:solidFill>
              <a:cs typeface="Arial" panose="020B0604020202020204" pitchFamily="34" charset="0"/>
            </a:endParaRPr>
          </a:p>
        </p:txBody>
      </p:sp>
      <p:sp>
        <p:nvSpPr>
          <p:cNvPr id="76808" name="Oval 8"/>
          <p:cNvSpPr>
            <a:spLocks noChangeArrowheads="1"/>
          </p:cNvSpPr>
          <p:nvPr/>
        </p:nvSpPr>
        <p:spPr bwMode="auto">
          <a:xfrm>
            <a:off x="2238376" y="1530161"/>
            <a:ext cx="841375" cy="798512"/>
          </a:xfrm>
          <a:prstGeom prst="ellipse">
            <a:avLst/>
          </a:prstGeom>
          <a:noFill/>
          <a:ln w="19050">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id-ID" altLang="en-US" sz="1000">
              <a:solidFill>
                <a:schemeClr val="accent5">
                  <a:lumMod val="50000"/>
                </a:schemeClr>
              </a:solidFill>
              <a:cs typeface="Arial" panose="020B0604020202020204" pitchFamily="34" charset="0"/>
            </a:endParaRPr>
          </a:p>
        </p:txBody>
      </p:sp>
      <p:sp>
        <p:nvSpPr>
          <p:cNvPr id="76809" name="Text Box 9"/>
          <p:cNvSpPr txBox="1">
            <a:spLocks noChangeArrowheads="1"/>
          </p:cNvSpPr>
          <p:nvPr/>
        </p:nvSpPr>
        <p:spPr bwMode="auto">
          <a:xfrm>
            <a:off x="1817688" y="2277874"/>
            <a:ext cx="48205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pPr>
            <a:r>
              <a:rPr lang="en-US" altLang="en-US" sz="1600">
                <a:solidFill>
                  <a:schemeClr val="accent5">
                    <a:lumMod val="50000"/>
                  </a:schemeClr>
                </a:solidFill>
                <a:cs typeface="Arial" panose="020B0604020202020204" pitchFamily="34" charset="0"/>
              </a:rPr>
              <a:t> Not solid part, but consist of mandrel and housing</a:t>
            </a:r>
          </a:p>
          <a:p>
            <a:pPr eaLnBrk="1" hangingPunct="1">
              <a:spcBef>
                <a:spcPct val="0"/>
              </a:spcBef>
            </a:pPr>
            <a:r>
              <a:rPr lang="en-US" altLang="en-US" sz="1600">
                <a:solidFill>
                  <a:schemeClr val="accent5">
                    <a:lumMod val="50000"/>
                  </a:schemeClr>
                </a:solidFill>
                <a:cs typeface="Arial" panose="020B0604020202020204" pitchFamily="34" charset="0"/>
              </a:rPr>
              <a:t> Flex section, OD reduction</a:t>
            </a:r>
          </a:p>
        </p:txBody>
      </p:sp>
      <p:sp>
        <p:nvSpPr>
          <p:cNvPr id="76810" name="Text Box 10"/>
          <p:cNvSpPr txBox="1">
            <a:spLocks noChangeArrowheads="1"/>
          </p:cNvSpPr>
          <p:nvPr/>
        </p:nvSpPr>
        <p:spPr bwMode="auto">
          <a:xfrm>
            <a:off x="5223357" y="4344799"/>
            <a:ext cx="5500687"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solidFill>
                  <a:schemeClr val="accent5">
                    <a:lumMod val="50000"/>
                  </a:schemeClr>
                </a:solidFill>
                <a:cs typeface="Arial" panose="020B0604020202020204" pitchFamily="34" charset="0"/>
              </a:rPr>
              <a:t>Weak Points </a:t>
            </a:r>
            <a:r>
              <a:rPr lang="en-US" altLang="en-US" sz="1200">
                <a:solidFill>
                  <a:schemeClr val="accent5">
                    <a:lumMod val="50000"/>
                  </a:schemeClr>
                </a:solidFill>
                <a:cs typeface="Arial" panose="020B0604020202020204" pitchFamily="34" charset="0"/>
              </a:rPr>
              <a:t>(T Drilling Dynamics Study):</a:t>
            </a:r>
          </a:p>
          <a:p>
            <a:pPr eaLnBrk="1" hangingPunct="1">
              <a:spcBef>
                <a:spcPct val="0"/>
              </a:spcBef>
            </a:pPr>
            <a:r>
              <a:rPr lang="en-US" altLang="en-US" sz="1500">
                <a:solidFill>
                  <a:schemeClr val="accent5">
                    <a:lumMod val="50000"/>
                  </a:schemeClr>
                </a:solidFill>
                <a:cs typeface="Arial" panose="020B0604020202020204" pitchFamily="34" charset="0"/>
              </a:rPr>
              <a:t>ACME or non-API thread with sharper root radii than API RSC thread root</a:t>
            </a:r>
          </a:p>
          <a:p>
            <a:pPr eaLnBrk="1" hangingPunct="1">
              <a:spcBef>
                <a:spcPct val="0"/>
              </a:spcBef>
            </a:pPr>
            <a:r>
              <a:rPr lang="en-US" altLang="en-US" sz="1500">
                <a:solidFill>
                  <a:schemeClr val="accent5">
                    <a:lumMod val="50000"/>
                  </a:schemeClr>
                </a:solidFill>
                <a:cs typeface="Arial" panose="020B0604020202020204" pitchFamily="34" charset="0"/>
              </a:rPr>
              <a:t>Mid body connection have smaller cross-section areas</a:t>
            </a:r>
          </a:p>
          <a:p>
            <a:pPr eaLnBrk="1" hangingPunct="1">
              <a:spcBef>
                <a:spcPct val="0"/>
              </a:spcBef>
            </a:pPr>
            <a:r>
              <a:rPr lang="en-US" altLang="en-US" sz="1500">
                <a:solidFill>
                  <a:schemeClr val="accent5">
                    <a:lumMod val="50000"/>
                  </a:schemeClr>
                </a:solidFill>
                <a:cs typeface="Arial" panose="020B0604020202020204" pitchFamily="34" charset="0"/>
              </a:rPr>
              <a:t>Notch or hole in jars housing will accelerate fatigue</a:t>
            </a:r>
          </a:p>
          <a:p>
            <a:pPr eaLnBrk="1" hangingPunct="1">
              <a:spcBef>
                <a:spcPct val="0"/>
              </a:spcBef>
            </a:pPr>
            <a:r>
              <a:rPr lang="en-US" altLang="en-US" sz="1500">
                <a:solidFill>
                  <a:schemeClr val="accent5">
                    <a:lumMod val="50000"/>
                  </a:schemeClr>
                </a:solidFill>
                <a:cs typeface="Arial" panose="020B0604020202020204" pitchFamily="34" charset="0"/>
              </a:rPr>
              <a:t>Various internal component age traceability</a:t>
            </a:r>
          </a:p>
        </p:txBody>
      </p:sp>
      <p:sp>
        <p:nvSpPr>
          <p:cNvPr id="76811" name="Rectangle 11"/>
          <p:cNvSpPr>
            <a:spLocks noChangeArrowheads="1"/>
          </p:cNvSpPr>
          <p:nvPr/>
        </p:nvSpPr>
        <p:spPr bwMode="auto">
          <a:xfrm>
            <a:off x="6686550" y="2885887"/>
            <a:ext cx="1130300" cy="274637"/>
          </a:xfrm>
          <a:prstGeom prst="rect">
            <a:avLst/>
          </a:prstGeom>
          <a:noFill/>
          <a:ln w="158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id-ID" altLang="en-US" sz="1000">
              <a:solidFill>
                <a:schemeClr val="accent5">
                  <a:lumMod val="50000"/>
                </a:schemeClr>
              </a:solidFill>
              <a:cs typeface="Arial" panose="020B0604020202020204" pitchFamily="34" charset="0"/>
            </a:endParaRPr>
          </a:p>
        </p:txBody>
      </p:sp>
      <p:sp>
        <p:nvSpPr>
          <p:cNvPr id="76812" name="AutoShape 12"/>
          <p:cNvSpPr>
            <a:spLocks noChangeArrowheads="1"/>
          </p:cNvSpPr>
          <p:nvPr/>
        </p:nvSpPr>
        <p:spPr bwMode="auto">
          <a:xfrm>
            <a:off x="7743826" y="2549336"/>
            <a:ext cx="449263" cy="290512"/>
          </a:xfrm>
          <a:prstGeom prst="downArrow">
            <a:avLst>
              <a:gd name="adj1" fmla="val 50000"/>
              <a:gd name="adj2" fmla="val 25000"/>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id-ID" altLang="en-US" sz="1000">
              <a:solidFill>
                <a:schemeClr val="accent5">
                  <a:lumMod val="50000"/>
                </a:schemeClr>
              </a:solidFill>
              <a:cs typeface="Arial" panose="020B0604020202020204" pitchFamily="34" charset="0"/>
            </a:endParaRPr>
          </a:p>
        </p:txBody>
      </p:sp>
      <p:sp>
        <p:nvSpPr>
          <p:cNvPr id="76813" name="Text Box 13"/>
          <p:cNvSpPr txBox="1">
            <a:spLocks noChangeArrowheads="1"/>
          </p:cNvSpPr>
          <p:nvPr/>
        </p:nvSpPr>
        <p:spPr bwMode="auto">
          <a:xfrm>
            <a:off x="1789113" y="5760848"/>
            <a:ext cx="498951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solidFill>
                  <a:schemeClr val="accent5">
                    <a:lumMod val="50000"/>
                  </a:schemeClr>
                </a:solidFill>
                <a:cs typeface="Arial" panose="020B0604020202020204" pitchFamily="34" charset="0"/>
              </a:rPr>
              <a:t>Jars Placement</a:t>
            </a:r>
          </a:p>
          <a:p>
            <a:pPr eaLnBrk="1" hangingPunct="1">
              <a:spcBef>
                <a:spcPct val="0"/>
              </a:spcBef>
            </a:pPr>
            <a:r>
              <a:rPr lang="en-US" altLang="en-US" sz="1600">
                <a:solidFill>
                  <a:schemeClr val="accent5">
                    <a:lumMod val="50000"/>
                  </a:schemeClr>
                </a:solidFill>
                <a:cs typeface="Arial" panose="020B0604020202020204" pitchFamily="34" charset="0"/>
              </a:rPr>
              <a:t>Most of the jars were placed at distance from bit where torque displacement is maximum</a:t>
            </a:r>
          </a:p>
        </p:txBody>
      </p:sp>
      <p:sp>
        <p:nvSpPr>
          <p:cNvPr id="76814" name="AutoShape 14"/>
          <p:cNvSpPr>
            <a:spLocks noChangeArrowheads="1"/>
          </p:cNvSpPr>
          <p:nvPr/>
        </p:nvSpPr>
        <p:spPr bwMode="auto">
          <a:xfrm rot="1242299">
            <a:off x="3078163" y="3416111"/>
            <a:ext cx="449262" cy="290512"/>
          </a:xfrm>
          <a:prstGeom prst="downArrow">
            <a:avLst>
              <a:gd name="adj1" fmla="val 50000"/>
              <a:gd name="adj2" fmla="val 25000"/>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id-ID" altLang="en-US" sz="1000">
              <a:solidFill>
                <a:schemeClr val="accent5">
                  <a:lumMod val="50000"/>
                </a:schemeClr>
              </a:solidFill>
              <a:cs typeface="Arial" panose="020B0604020202020204" pitchFamily="34" charset="0"/>
            </a:endParaRPr>
          </a:p>
        </p:txBody>
      </p:sp>
      <p:sp>
        <p:nvSpPr>
          <p:cNvPr id="15" name="Title 1"/>
          <p:cNvSpPr txBox="1">
            <a:spLocks/>
          </p:cNvSpPr>
          <p:nvPr/>
        </p:nvSpPr>
        <p:spPr bwMode="auto">
          <a:xfrm>
            <a:off x="2218638" y="-42824"/>
            <a:ext cx="8839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ＭＳ Ｐゴシック" pitchFamily="34" charset="-128"/>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pitchFamily="34" charset="-128"/>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a:defRPr/>
            </a:pPr>
            <a:endParaRPr lang="en-US" altLang="en-US" kern="0" dirty="0">
              <a:solidFill>
                <a:srgbClr val="FF9933"/>
              </a:solidFill>
            </a:endParaRPr>
          </a:p>
        </p:txBody>
      </p:sp>
    </p:spTree>
    <p:extLst>
      <p:ext uri="{BB962C8B-B14F-4D97-AF65-F5344CB8AC3E}">
        <p14:creationId xmlns:p14="http://schemas.microsoft.com/office/powerpoint/2010/main" val="320961262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F9027-CBF0-AFC6-653A-ED48AE7288EE}"/>
              </a:ext>
            </a:extLst>
          </p:cNvPr>
          <p:cNvSpPr>
            <a:spLocks noGrp="1"/>
          </p:cNvSpPr>
          <p:nvPr>
            <p:ph type="title"/>
          </p:nvPr>
        </p:nvSpPr>
        <p:spPr/>
        <p:txBody>
          <a:bodyPr/>
          <a:lstStyle/>
          <a:p>
            <a:r>
              <a:rPr lang="en-US" dirty="0"/>
              <a:t>Drilling Jars Specification Comparison</a:t>
            </a:r>
            <a:endParaRPr lang="en-ID" dirty="0"/>
          </a:p>
        </p:txBody>
      </p:sp>
      <p:pic>
        <p:nvPicPr>
          <p:cNvPr id="5" name="Picture 4">
            <a:extLst>
              <a:ext uri="{FF2B5EF4-FFF2-40B4-BE49-F238E27FC236}">
                <a16:creationId xmlns:a16="http://schemas.microsoft.com/office/drawing/2014/main" id="{B29616C9-86DE-B0DE-B363-62BD886CED42}"/>
              </a:ext>
            </a:extLst>
          </p:cNvPr>
          <p:cNvPicPr>
            <a:picLocks noChangeAspect="1"/>
          </p:cNvPicPr>
          <p:nvPr/>
        </p:nvPicPr>
        <p:blipFill>
          <a:blip r:embed="rId2"/>
          <a:stretch>
            <a:fillRect/>
          </a:stretch>
        </p:blipFill>
        <p:spPr>
          <a:xfrm>
            <a:off x="605266" y="1302285"/>
            <a:ext cx="10981467" cy="5107659"/>
          </a:xfrm>
          <a:prstGeom prst="rect">
            <a:avLst/>
          </a:prstGeom>
        </p:spPr>
      </p:pic>
      <p:sp>
        <p:nvSpPr>
          <p:cNvPr id="7" name="TextBox 6">
            <a:extLst>
              <a:ext uri="{FF2B5EF4-FFF2-40B4-BE49-F238E27FC236}">
                <a16:creationId xmlns:a16="http://schemas.microsoft.com/office/drawing/2014/main" id="{62F3D496-90C0-05F8-4AE9-4A751751557A}"/>
              </a:ext>
            </a:extLst>
          </p:cNvPr>
          <p:cNvSpPr txBox="1"/>
          <p:nvPr/>
        </p:nvSpPr>
        <p:spPr>
          <a:xfrm>
            <a:off x="605266" y="5916207"/>
            <a:ext cx="7921458" cy="707886"/>
          </a:xfrm>
          <a:prstGeom prst="rect">
            <a:avLst/>
          </a:prstGeom>
          <a:noFill/>
        </p:spPr>
        <p:txBody>
          <a:bodyPr wrap="square">
            <a:spAutoFit/>
          </a:bodyPr>
          <a:lstStyle/>
          <a:p>
            <a:r>
              <a:rPr lang="en-US" sz="2000" dirty="0">
                <a:effectLst/>
                <a:latin typeface="Calibri" panose="020F0502020204030204" pitchFamily="34" charset="0"/>
                <a:ea typeface="Calibri" panose="020F0502020204030204" pitchFamily="34" charset="0"/>
              </a:rPr>
              <a:t>Jars yang </a:t>
            </a:r>
            <a:r>
              <a:rPr lang="en-US" sz="2000" dirty="0" err="1">
                <a:effectLst/>
                <a:latin typeface="Calibri" panose="020F0502020204030204" pitchFamily="34" charset="0"/>
                <a:ea typeface="Calibri" panose="020F0502020204030204" pitchFamily="34" charset="0"/>
              </a:rPr>
              <a:t>kuat</a:t>
            </a:r>
            <a:r>
              <a:rPr lang="en-US" sz="2000" dirty="0">
                <a:effectLst/>
                <a:latin typeface="Calibri" panose="020F0502020204030204" pitchFamily="34" charset="0"/>
                <a:ea typeface="Calibri" panose="020F0502020204030204" pitchFamily="34" charset="0"/>
              </a:rPr>
              <a:t>: Drilling Jars </a:t>
            </a:r>
            <a:r>
              <a:rPr lang="en-US" sz="2000" dirty="0" err="1">
                <a:effectLst/>
                <a:latin typeface="Calibri" panose="020F0502020204030204" pitchFamily="34" charset="0"/>
                <a:ea typeface="Calibri" panose="020F0502020204030204" pitchFamily="34" charset="0"/>
              </a:rPr>
              <a:t>ukuran</a:t>
            </a:r>
            <a:r>
              <a:rPr lang="en-US" sz="2000" dirty="0">
                <a:effectLst/>
                <a:latin typeface="Calibri" panose="020F0502020204030204" pitchFamily="34" charset="0"/>
                <a:ea typeface="Calibri" panose="020F0502020204030204" pitchFamily="34" charset="0"/>
              </a:rPr>
              <a:t> 8”, </a:t>
            </a:r>
            <a:r>
              <a:rPr lang="en-US" sz="2000" dirty="0" err="1">
                <a:effectLst/>
                <a:latin typeface="Calibri" panose="020F0502020204030204" pitchFamily="34" charset="0"/>
                <a:ea typeface="Calibri" panose="020F0502020204030204" pitchFamily="34" charset="0"/>
              </a:rPr>
              <a:t>sebaiknya</a:t>
            </a:r>
            <a:r>
              <a:rPr lang="en-US" sz="2000" dirty="0">
                <a:effectLst/>
                <a:latin typeface="Calibri" panose="020F0502020204030204" pitchFamily="34" charset="0"/>
                <a:ea typeface="Calibri" panose="020F0502020204030204" pitchFamily="34" charset="0"/>
              </a:rPr>
              <a:t> mempunyai Torsional Yield </a:t>
            </a:r>
            <a:r>
              <a:rPr lang="en-US" sz="2000" dirty="0" err="1">
                <a:latin typeface="Calibri" panose="020F0502020204030204" pitchFamily="34" charset="0"/>
                <a:ea typeface="Calibri" panose="020F0502020204030204" pitchFamily="34" charset="0"/>
              </a:rPr>
              <a:t>lebih</a:t>
            </a:r>
            <a:r>
              <a:rPr lang="en-US" sz="2000" dirty="0">
                <a:latin typeface="Calibri" panose="020F0502020204030204" pitchFamily="34" charset="0"/>
                <a:ea typeface="Calibri" panose="020F0502020204030204" pitchFamily="34" charset="0"/>
              </a:rPr>
              <a:t> </a:t>
            </a:r>
            <a:r>
              <a:rPr lang="en-US" sz="2000" dirty="0" err="1">
                <a:effectLst/>
                <a:latin typeface="Calibri" panose="020F0502020204030204" pitchFamily="34" charset="0"/>
                <a:ea typeface="Calibri" panose="020F0502020204030204" pitchFamily="34" charset="0"/>
              </a:rPr>
              <a:t>dari</a:t>
            </a:r>
            <a:r>
              <a:rPr lang="en-US" sz="2000" dirty="0">
                <a:effectLst/>
                <a:latin typeface="Calibri" panose="020F0502020204030204" pitchFamily="34" charset="0"/>
                <a:ea typeface="Calibri" panose="020F0502020204030204" pitchFamily="34" charset="0"/>
              </a:rPr>
              <a:t> 100 ft-Klbs.</a:t>
            </a:r>
            <a:endParaRPr lang="en-ID" sz="2000" dirty="0"/>
          </a:p>
        </p:txBody>
      </p:sp>
    </p:spTree>
    <p:extLst>
      <p:ext uri="{BB962C8B-B14F-4D97-AF65-F5344CB8AC3E}">
        <p14:creationId xmlns:p14="http://schemas.microsoft.com/office/powerpoint/2010/main" val="103186409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1624013" y="1585913"/>
            <a:ext cx="8839200" cy="1143000"/>
          </a:xfrm>
        </p:spPr>
        <p:txBody>
          <a:bodyPr>
            <a:normAutofit/>
          </a:bodyPr>
          <a:lstStyle/>
          <a:p>
            <a:pPr algn="ctr"/>
            <a:r>
              <a:rPr lang="en-US" altLang="en-US" sz="4000" b="1" dirty="0">
                <a:solidFill>
                  <a:srgbClr val="D24726"/>
                </a:solidFill>
              </a:rPr>
              <a:t>Pipe Recovery Method</a:t>
            </a:r>
          </a:p>
        </p:txBody>
      </p:sp>
      <p:sp>
        <p:nvSpPr>
          <p:cNvPr id="41987"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15CA882A-1E86-4EB9-94A9-0A7DE4FAED5E}" type="slidenum">
              <a:rPr lang="en-US" altLang="en-US" sz="1400"/>
              <a:pPr>
                <a:spcBef>
                  <a:spcPct val="0"/>
                </a:spcBef>
                <a:buFontTx/>
                <a:buNone/>
              </a:pPr>
              <a:t>190</a:t>
            </a:fld>
            <a:endParaRPr lang="en-US" altLang="en-US" sz="1400"/>
          </a:p>
        </p:txBody>
      </p:sp>
      <p:grpSp>
        <p:nvGrpSpPr>
          <p:cNvPr id="41988" name="Group 6"/>
          <p:cNvGrpSpPr>
            <a:grpSpLocks/>
          </p:cNvGrpSpPr>
          <p:nvPr/>
        </p:nvGrpSpPr>
        <p:grpSpPr bwMode="auto">
          <a:xfrm>
            <a:off x="3105151" y="3338514"/>
            <a:ext cx="5324475" cy="1800225"/>
            <a:chOff x="1581150" y="3338909"/>
            <a:chExt cx="5324250" cy="1800000"/>
          </a:xfrm>
        </p:grpSpPr>
        <p:sp>
          <p:nvSpPr>
            <p:cNvPr id="8" name="Dodecagon 7"/>
            <p:cNvSpPr/>
            <p:nvPr/>
          </p:nvSpPr>
          <p:spPr>
            <a:xfrm>
              <a:off x="5105251" y="3338909"/>
              <a:ext cx="1800149" cy="1800000"/>
            </a:xfrm>
            <a:prstGeom prst="dodecagon">
              <a:avLst/>
            </a:prstGeom>
            <a:noFill/>
            <a:ln w="30480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6600" dirty="0">
                  <a:solidFill>
                    <a:srgbClr val="FFC000"/>
                  </a:solidFill>
                  <a:latin typeface="Arial Black" panose="020B0A04020102020204" pitchFamily="34" charset="0"/>
                </a:rPr>
                <a:t>19</a:t>
              </a:r>
            </a:p>
          </p:txBody>
        </p:sp>
        <p:pic>
          <p:nvPicPr>
            <p:cNvPr id="41990" name="Picture 8" descr="Image result for COST SAVI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581150" y="3606006"/>
              <a:ext cx="302895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11764228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3A72-33AA-4D8F-AB4F-734315995532}"/>
              </a:ext>
            </a:extLst>
          </p:cNvPr>
          <p:cNvSpPr>
            <a:spLocks noGrp="1"/>
          </p:cNvSpPr>
          <p:nvPr>
            <p:ph type="title"/>
          </p:nvPr>
        </p:nvSpPr>
        <p:spPr/>
        <p:txBody>
          <a:bodyPr/>
          <a:lstStyle/>
          <a:p>
            <a:r>
              <a:rPr lang="en-US" dirty="0"/>
              <a:t>Pipe Recovery Type</a:t>
            </a:r>
            <a:endParaRPr lang="en-ID" dirty="0"/>
          </a:p>
        </p:txBody>
      </p:sp>
      <p:graphicFrame>
        <p:nvGraphicFramePr>
          <p:cNvPr id="4" name="Diagram 3">
            <a:extLst>
              <a:ext uri="{FF2B5EF4-FFF2-40B4-BE49-F238E27FC236}">
                <a16:creationId xmlns:a16="http://schemas.microsoft.com/office/drawing/2014/main" id="{19DC3A78-A81C-4FE6-AC2A-BCF16F7DDD7A}"/>
              </a:ext>
            </a:extLst>
          </p:cNvPr>
          <p:cNvGraphicFramePr/>
          <p:nvPr/>
        </p:nvGraphicFramePr>
        <p:xfrm>
          <a:off x="2032000" y="44805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5">
            <a:extLst>
              <a:ext uri="{FF2B5EF4-FFF2-40B4-BE49-F238E27FC236}">
                <a16:creationId xmlns:a16="http://schemas.microsoft.com/office/drawing/2014/main" id="{08DD3BF7-71F9-49C5-BA68-C5B68FA57D27}"/>
              </a:ext>
            </a:extLst>
          </p:cNvPr>
          <p:cNvGraphicFramePr>
            <a:graphicFrameLocks noGrp="1"/>
          </p:cNvGraphicFramePr>
          <p:nvPr/>
        </p:nvGraphicFramePr>
        <p:xfrm>
          <a:off x="2032000" y="5135203"/>
          <a:ext cx="8128000" cy="1463040"/>
        </p:xfrm>
        <a:graphic>
          <a:graphicData uri="http://schemas.openxmlformats.org/drawingml/2006/table">
            <a:tbl>
              <a:tblPr firstRow="1" bandRow="1">
                <a:tableStyleId>{00A15C55-8517-42AA-B614-E9B94910E393}</a:tableStyleId>
              </a:tblPr>
              <a:tblGrid>
                <a:gridCol w="4064000">
                  <a:extLst>
                    <a:ext uri="{9D8B030D-6E8A-4147-A177-3AD203B41FA5}">
                      <a16:colId xmlns:a16="http://schemas.microsoft.com/office/drawing/2014/main" val="3430310655"/>
                    </a:ext>
                  </a:extLst>
                </a:gridCol>
                <a:gridCol w="4064000">
                  <a:extLst>
                    <a:ext uri="{9D8B030D-6E8A-4147-A177-3AD203B41FA5}">
                      <a16:colId xmlns:a16="http://schemas.microsoft.com/office/drawing/2014/main" val="2763895935"/>
                    </a:ext>
                  </a:extLst>
                </a:gridCol>
              </a:tblGrid>
              <a:tr h="370840">
                <a:tc>
                  <a:txBody>
                    <a:bodyPr/>
                    <a:lstStyle/>
                    <a:p>
                      <a:r>
                        <a:rPr lang="en-US" dirty="0"/>
                        <a:t>Could cut all type of BHA Component as long Explosive OD could pass drift ID of BHA component</a:t>
                      </a:r>
                    </a:p>
                    <a:p>
                      <a:r>
                        <a:rPr lang="en-US" dirty="0"/>
                        <a:t>Need various Permits</a:t>
                      </a:r>
                      <a:endParaRPr lang="en-ID" dirty="0"/>
                    </a:p>
                  </a:txBody>
                  <a:tcPr/>
                </a:tc>
                <a:tc>
                  <a:txBody>
                    <a:bodyPr/>
                    <a:lstStyle/>
                    <a:p>
                      <a:r>
                        <a:rPr lang="en-US" dirty="0"/>
                        <a:t>Only could cut 5” Drill Pipe or Smaller.</a:t>
                      </a:r>
                    </a:p>
                    <a:p>
                      <a:r>
                        <a:rPr lang="en-US" dirty="0"/>
                        <a:t>Un-able to cut 5” HWDP and all DC type and sizes</a:t>
                      </a:r>
                      <a:endParaRPr lang="en-ID" dirty="0"/>
                    </a:p>
                  </a:txBody>
                  <a:tcPr/>
                </a:tc>
                <a:extLst>
                  <a:ext uri="{0D108BD9-81ED-4DB2-BD59-A6C34878D82A}">
                    <a16:rowId xmlns:a16="http://schemas.microsoft.com/office/drawing/2014/main" val="3270996489"/>
                  </a:ext>
                </a:extLst>
              </a:tr>
            </a:tbl>
          </a:graphicData>
        </a:graphic>
      </p:graphicFrame>
    </p:spTree>
    <p:extLst>
      <p:ext uri="{BB962C8B-B14F-4D97-AF65-F5344CB8AC3E}">
        <p14:creationId xmlns:p14="http://schemas.microsoft.com/office/powerpoint/2010/main" val="40471924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3A72-33AA-4D8F-AB4F-734315995532}"/>
              </a:ext>
            </a:extLst>
          </p:cNvPr>
          <p:cNvSpPr>
            <a:spLocks noGrp="1"/>
          </p:cNvSpPr>
          <p:nvPr>
            <p:ph type="title"/>
          </p:nvPr>
        </p:nvSpPr>
        <p:spPr/>
        <p:txBody>
          <a:bodyPr/>
          <a:lstStyle/>
          <a:p>
            <a:r>
              <a:rPr lang="en-US" dirty="0"/>
              <a:t>Pipe Recovery Type: Cost Impact</a:t>
            </a:r>
            <a:endParaRPr lang="en-ID" dirty="0"/>
          </a:p>
        </p:txBody>
      </p:sp>
      <p:graphicFrame>
        <p:nvGraphicFramePr>
          <p:cNvPr id="4" name="Diagram 3">
            <a:extLst>
              <a:ext uri="{FF2B5EF4-FFF2-40B4-BE49-F238E27FC236}">
                <a16:creationId xmlns:a16="http://schemas.microsoft.com/office/drawing/2014/main" id="{19DC3A78-A81C-4FE6-AC2A-BCF16F7DDD7A}"/>
              </a:ext>
            </a:extLst>
          </p:cNvPr>
          <p:cNvGraphicFramePr/>
          <p:nvPr/>
        </p:nvGraphicFramePr>
        <p:xfrm>
          <a:off x="1056639" y="1320800"/>
          <a:ext cx="10038081" cy="2468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5">
            <a:extLst>
              <a:ext uri="{FF2B5EF4-FFF2-40B4-BE49-F238E27FC236}">
                <a16:creationId xmlns:a16="http://schemas.microsoft.com/office/drawing/2014/main" id="{08DD3BF7-71F9-49C5-BA68-C5B68FA57D27}"/>
              </a:ext>
            </a:extLst>
          </p:cNvPr>
          <p:cNvGraphicFramePr>
            <a:graphicFrameLocks noGrp="1"/>
          </p:cNvGraphicFramePr>
          <p:nvPr/>
        </p:nvGraphicFramePr>
        <p:xfrm>
          <a:off x="1137920" y="4022344"/>
          <a:ext cx="9956800" cy="2011680"/>
        </p:xfrm>
        <a:graphic>
          <a:graphicData uri="http://schemas.openxmlformats.org/drawingml/2006/table">
            <a:tbl>
              <a:tblPr firstRow="1" bandRow="1">
                <a:tableStyleId>{00A15C55-8517-42AA-B614-E9B94910E393}</a:tableStyleId>
              </a:tblPr>
              <a:tblGrid>
                <a:gridCol w="4978400">
                  <a:extLst>
                    <a:ext uri="{9D8B030D-6E8A-4147-A177-3AD203B41FA5}">
                      <a16:colId xmlns:a16="http://schemas.microsoft.com/office/drawing/2014/main" val="3430310655"/>
                    </a:ext>
                  </a:extLst>
                </a:gridCol>
                <a:gridCol w="4978400">
                  <a:extLst>
                    <a:ext uri="{9D8B030D-6E8A-4147-A177-3AD203B41FA5}">
                      <a16:colId xmlns:a16="http://schemas.microsoft.com/office/drawing/2014/main" val="2763895935"/>
                    </a:ext>
                  </a:extLst>
                </a:gridCol>
              </a:tblGrid>
              <a:tr h="370840">
                <a:tc>
                  <a:txBody>
                    <a:bodyPr/>
                    <a:lstStyle/>
                    <a:p>
                      <a:pPr marL="285750" indent="-285750">
                        <a:buFont typeface="Arial" panose="020B0604020202020204" pitchFamily="34" charset="0"/>
                        <a:buChar char="•"/>
                      </a:pPr>
                      <a:r>
                        <a:rPr lang="en-US" b="0" dirty="0">
                          <a:solidFill>
                            <a:schemeClr val="accent5">
                              <a:lumMod val="50000"/>
                            </a:schemeClr>
                          </a:solidFill>
                        </a:rPr>
                        <a:t>Less BHA component left in hole</a:t>
                      </a:r>
                    </a:p>
                    <a:p>
                      <a:pPr marL="742950" lvl="1" indent="-285750">
                        <a:buFont typeface="Arial" panose="020B0604020202020204" pitchFamily="34" charset="0"/>
                        <a:buChar char="•"/>
                      </a:pPr>
                      <a:r>
                        <a:rPr lang="en-ID" b="0" dirty="0">
                          <a:solidFill>
                            <a:schemeClr val="accent5">
                              <a:lumMod val="50000"/>
                            </a:schemeClr>
                          </a:solidFill>
                        </a:rPr>
                        <a:t>More chance to recover BHA left in hole</a:t>
                      </a:r>
                    </a:p>
                    <a:p>
                      <a:pPr marL="742950" lvl="1" indent="-285750">
                        <a:buFont typeface="Arial" panose="020B0604020202020204" pitchFamily="34" charset="0"/>
                        <a:buChar char="•"/>
                      </a:pPr>
                      <a:r>
                        <a:rPr lang="en-ID" b="0" dirty="0">
                          <a:solidFill>
                            <a:schemeClr val="accent5">
                              <a:lumMod val="50000"/>
                            </a:schemeClr>
                          </a:solidFill>
                        </a:rPr>
                        <a:t>Less LIH Prices</a:t>
                      </a:r>
                    </a:p>
                    <a:p>
                      <a:pPr marL="742950" lvl="1" indent="-285750">
                        <a:buFont typeface="Arial" panose="020B0604020202020204" pitchFamily="34" charset="0"/>
                        <a:buChar char="•"/>
                      </a:pPr>
                      <a:r>
                        <a:rPr lang="en-ID" b="0" dirty="0">
                          <a:solidFill>
                            <a:schemeClr val="accent5">
                              <a:lumMod val="50000"/>
                            </a:schemeClr>
                          </a:solidFill>
                        </a:rPr>
                        <a:t>Deeper top of fish (TOF) </a:t>
                      </a:r>
                      <a:r>
                        <a:rPr lang="en-ID" b="0" dirty="0">
                          <a:solidFill>
                            <a:schemeClr val="accent5">
                              <a:lumMod val="50000"/>
                            </a:schemeClr>
                          </a:solidFill>
                          <a:sym typeface="Wingdings" panose="05000000000000000000" pitchFamily="2" charset="2"/>
                        </a:rPr>
                        <a:t> deeper </a:t>
                      </a:r>
                      <a:r>
                        <a:rPr lang="en-ID" b="0" dirty="0" err="1">
                          <a:solidFill>
                            <a:schemeClr val="accent5">
                              <a:lumMod val="50000"/>
                            </a:schemeClr>
                          </a:solidFill>
                          <a:sym typeface="Wingdings" panose="05000000000000000000" pitchFamily="2" charset="2"/>
                        </a:rPr>
                        <a:t>sidetrack</a:t>
                      </a:r>
                      <a:r>
                        <a:rPr lang="en-ID" b="0" dirty="0">
                          <a:solidFill>
                            <a:schemeClr val="accent5">
                              <a:lumMod val="50000"/>
                            </a:schemeClr>
                          </a:solidFill>
                          <a:sym typeface="Wingdings" panose="05000000000000000000" pitchFamily="2" charset="2"/>
                        </a:rPr>
                        <a:t> point</a:t>
                      </a:r>
                    </a:p>
                    <a:p>
                      <a:pPr marL="742950" lvl="1" indent="-285750">
                        <a:buFont typeface="Arial" panose="020B0604020202020204" pitchFamily="34" charset="0"/>
                        <a:buChar char="•"/>
                      </a:pPr>
                      <a:r>
                        <a:rPr lang="en-ID" b="0" dirty="0">
                          <a:solidFill>
                            <a:schemeClr val="accent5">
                              <a:lumMod val="50000"/>
                            </a:schemeClr>
                          </a:solidFill>
                          <a:sym typeface="Wingdings" panose="05000000000000000000" pitchFamily="2" charset="2"/>
                        </a:rPr>
                        <a:t>More chance TOF still in open hole  easier to side track in open hole</a:t>
                      </a:r>
                      <a:endParaRPr lang="en-ID" b="0" dirty="0">
                        <a:solidFill>
                          <a:schemeClr val="accent5">
                            <a:lumMod val="50000"/>
                          </a:schemeClr>
                        </a:solidFill>
                      </a:endParaRPr>
                    </a:p>
                  </a:txBody>
                  <a:tcPr>
                    <a:solidFill>
                      <a:srgbClr val="FFFF99"/>
                    </a:solidFill>
                  </a:tcPr>
                </a:tc>
                <a:tc>
                  <a:txBody>
                    <a:bodyPr/>
                    <a:lstStyle/>
                    <a:p>
                      <a:pPr marL="285750" indent="-285750">
                        <a:buFont typeface="Arial" panose="020B0604020202020204" pitchFamily="34" charset="0"/>
                        <a:buChar char="•"/>
                      </a:pPr>
                      <a:r>
                        <a:rPr lang="en-US" b="0" dirty="0">
                          <a:solidFill>
                            <a:schemeClr val="accent5">
                              <a:lumMod val="50000"/>
                            </a:schemeClr>
                          </a:solidFill>
                        </a:rPr>
                        <a:t>More (longer) BHA component left in hole</a:t>
                      </a:r>
                    </a:p>
                    <a:p>
                      <a:pPr marL="742950" lvl="1" indent="-285750">
                        <a:buFont typeface="Arial" panose="020B0604020202020204" pitchFamily="34" charset="0"/>
                        <a:buChar char="•"/>
                      </a:pPr>
                      <a:r>
                        <a:rPr lang="en-ID" b="0" dirty="0">
                          <a:solidFill>
                            <a:schemeClr val="accent5">
                              <a:lumMod val="50000"/>
                            </a:schemeClr>
                          </a:solidFill>
                        </a:rPr>
                        <a:t>Less chance to recover BHA left in hole</a:t>
                      </a:r>
                    </a:p>
                    <a:p>
                      <a:pPr marL="742950" lvl="1" indent="-285750">
                        <a:buFont typeface="Arial" panose="020B0604020202020204" pitchFamily="34" charset="0"/>
                        <a:buChar char="•"/>
                      </a:pPr>
                      <a:r>
                        <a:rPr lang="en-ID" b="0" dirty="0">
                          <a:solidFill>
                            <a:schemeClr val="accent5">
                              <a:lumMod val="50000"/>
                            </a:schemeClr>
                          </a:solidFill>
                        </a:rPr>
                        <a:t>Expensive LIH Prices</a:t>
                      </a:r>
                    </a:p>
                    <a:p>
                      <a:pPr marL="742950" lvl="1" indent="-285750">
                        <a:buFont typeface="Arial" panose="020B0604020202020204" pitchFamily="34" charset="0"/>
                        <a:buChar char="•"/>
                      </a:pPr>
                      <a:r>
                        <a:rPr lang="en-ID" b="0" dirty="0">
                          <a:solidFill>
                            <a:schemeClr val="accent5">
                              <a:lumMod val="50000"/>
                            </a:schemeClr>
                          </a:solidFill>
                        </a:rPr>
                        <a:t>Shallower top of fish (TOF) </a:t>
                      </a:r>
                      <a:r>
                        <a:rPr lang="en-ID" b="0" dirty="0">
                          <a:solidFill>
                            <a:schemeClr val="accent5">
                              <a:lumMod val="50000"/>
                            </a:schemeClr>
                          </a:solidFill>
                          <a:sym typeface="Wingdings" panose="05000000000000000000" pitchFamily="2" charset="2"/>
                        </a:rPr>
                        <a:t> Shallow </a:t>
                      </a:r>
                      <a:r>
                        <a:rPr lang="en-ID" b="0" dirty="0" err="1">
                          <a:solidFill>
                            <a:schemeClr val="accent5">
                              <a:lumMod val="50000"/>
                            </a:schemeClr>
                          </a:solidFill>
                          <a:sym typeface="Wingdings" panose="05000000000000000000" pitchFamily="2" charset="2"/>
                        </a:rPr>
                        <a:t>sidetrack</a:t>
                      </a:r>
                      <a:r>
                        <a:rPr lang="en-ID" b="0" dirty="0">
                          <a:solidFill>
                            <a:schemeClr val="accent5">
                              <a:lumMod val="50000"/>
                            </a:schemeClr>
                          </a:solidFill>
                          <a:sym typeface="Wingdings" panose="05000000000000000000" pitchFamily="2" charset="2"/>
                        </a:rPr>
                        <a:t> point  </a:t>
                      </a:r>
                      <a:r>
                        <a:rPr lang="en-ID" b="0" dirty="0">
                          <a:solidFill>
                            <a:srgbClr val="FF0000"/>
                          </a:solidFill>
                          <a:sym typeface="Wingdings" panose="05000000000000000000" pitchFamily="2" charset="2"/>
                        </a:rPr>
                        <a:t>costly</a:t>
                      </a:r>
                    </a:p>
                    <a:p>
                      <a:pPr marL="742950" lvl="1" indent="-285750">
                        <a:buFont typeface="Arial" panose="020B0604020202020204" pitchFamily="34" charset="0"/>
                        <a:buChar char="•"/>
                      </a:pPr>
                      <a:r>
                        <a:rPr lang="en-ID" b="0" dirty="0">
                          <a:solidFill>
                            <a:schemeClr val="accent5">
                              <a:lumMod val="50000"/>
                            </a:schemeClr>
                          </a:solidFill>
                          <a:sym typeface="Wingdings" panose="05000000000000000000" pitchFamily="2" charset="2"/>
                        </a:rPr>
                        <a:t>Risk of TOF in CASE hole  Need Whipstock to side track  </a:t>
                      </a:r>
                      <a:r>
                        <a:rPr lang="en-ID" b="0" dirty="0">
                          <a:solidFill>
                            <a:srgbClr val="FF0000"/>
                          </a:solidFill>
                          <a:sym typeface="Wingdings" panose="05000000000000000000" pitchFamily="2" charset="2"/>
                        </a:rPr>
                        <a:t>costly</a:t>
                      </a:r>
                      <a:endParaRPr lang="en-ID" b="0" dirty="0">
                        <a:solidFill>
                          <a:schemeClr val="accent5">
                            <a:lumMod val="50000"/>
                          </a:schemeClr>
                        </a:solidFill>
                      </a:endParaRPr>
                    </a:p>
                  </a:txBody>
                  <a:tcPr>
                    <a:solidFill>
                      <a:srgbClr val="FFFF99"/>
                    </a:solidFill>
                  </a:tcPr>
                </a:tc>
                <a:extLst>
                  <a:ext uri="{0D108BD9-81ED-4DB2-BD59-A6C34878D82A}">
                    <a16:rowId xmlns:a16="http://schemas.microsoft.com/office/drawing/2014/main" val="3270996489"/>
                  </a:ext>
                </a:extLst>
              </a:tr>
            </a:tbl>
          </a:graphicData>
        </a:graphic>
      </p:graphicFrame>
    </p:spTree>
    <p:extLst>
      <p:ext uri="{BB962C8B-B14F-4D97-AF65-F5344CB8AC3E}">
        <p14:creationId xmlns:p14="http://schemas.microsoft.com/office/powerpoint/2010/main" val="181315239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3A72-33AA-4D8F-AB4F-734315995532}"/>
              </a:ext>
            </a:extLst>
          </p:cNvPr>
          <p:cNvSpPr>
            <a:spLocks noGrp="1"/>
          </p:cNvSpPr>
          <p:nvPr>
            <p:ph type="title"/>
          </p:nvPr>
        </p:nvSpPr>
        <p:spPr/>
        <p:txBody>
          <a:bodyPr/>
          <a:lstStyle/>
          <a:p>
            <a:r>
              <a:rPr lang="en-US" dirty="0"/>
              <a:t>Pipe Recovery Type: Cost Impact</a:t>
            </a:r>
            <a:endParaRPr lang="en-ID" dirty="0"/>
          </a:p>
        </p:txBody>
      </p:sp>
      <p:pic>
        <p:nvPicPr>
          <p:cNvPr id="3" name="Picture 2">
            <a:extLst>
              <a:ext uri="{FF2B5EF4-FFF2-40B4-BE49-F238E27FC236}">
                <a16:creationId xmlns:a16="http://schemas.microsoft.com/office/drawing/2014/main" id="{53F59692-4EA8-41FF-A645-90728E72E4C5}"/>
              </a:ext>
            </a:extLst>
          </p:cNvPr>
          <p:cNvPicPr>
            <a:picLocks noChangeAspect="1"/>
          </p:cNvPicPr>
          <p:nvPr/>
        </p:nvPicPr>
        <p:blipFill>
          <a:blip r:embed="rId2"/>
          <a:stretch>
            <a:fillRect/>
          </a:stretch>
        </p:blipFill>
        <p:spPr>
          <a:xfrm>
            <a:off x="645460" y="1236263"/>
            <a:ext cx="10283986" cy="5313393"/>
          </a:xfrm>
          <a:prstGeom prst="rect">
            <a:avLst/>
          </a:prstGeom>
        </p:spPr>
      </p:pic>
    </p:spTree>
    <p:extLst>
      <p:ext uri="{BB962C8B-B14F-4D97-AF65-F5344CB8AC3E}">
        <p14:creationId xmlns:p14="http://schemas.microsoft.com/office/powerpoint/2010/main" val="163909951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0255D-A16E-4276-B30F-FB1E74EEF475}"/>
              </a:ext>
            </a:extLst>
          </p:cNvPr>
          <p:cNvSpPr>
            <a:spLocks noGrp="1"/>
          </p:cNvSpPr>
          <p:nvPr>
            <p:ph type="title"/>
          </p:nvPr>
        </p:nvSpPr>
        <p:spPr>
          <a:xfrm>
            <a:off x="838200" y="136525"/>
            <a:ext cx="10515600" cy="628179"/>
          </a:xfrm>
        </p:spPr>
        <p:txBody>
          <a:bodyPr>
            <a:normAutofit/>
          </a:bodyPr>
          <a:lstStyle/>
          <a:p>
            <a:r>
              <a:rPr lang="en-US" dirty="0"/>
              <a:t>Workflow For Explosive Handling</a:t>
            </a:r>
            <a:endParaRPr lang="en-ID" dirty="0"/>
          </a:p>
        </p:txBody>
      </p:sp>
      <p:sp>
        <p:nvSpPr>
          <p:cNvPr id="4" name="Slide Number Placeholder 3">
            <a:extLst>
              <a:ext uri="{FF2B5EF4-FFF2-40B4-BE49-F238E27FC236}">
                <a16:creationId xmlns:a16="http://schemas.microsoft.com/office/drawing/2014/main" id="{73D9C00E-0AB6-449F-B1ED-E990CF58EC01}"/>
              </a:ext>
            </a:extLst>
          </p:cNvPr>
          <p:cNvSpPr>
            <a:spLocks noGrp="1"/>
          </p:cNvSpPr>
          <p:nvPr>
            <p:ph type="sldNum" sz="quarter" idx="12"/>
          </p:nvPr>
        </p:nvSpPr>
        <p:spPr/>
        <p:txBody>
          <a:bodyPr/>
          <a:lstStyle/>
          <a:p>
            <a:fld id="{6BF90BF1-B7CF-435F-8A87-87FC079061B9}" type="slidenum">
              <a:rPr lang="id-ID" smtClean="0"/>
              <a:t>194</a:t>
            </a:fld>
            <a:endParaRPr lang="id-ID" dirty="0"/>
          </a:p>
        </p:txBody>
      </p:sp>
      <p:pic>
        <p:nvPicPr>
          <p:cNvPr id="7" name="Picture 6">
            <a:extLst>
              <a:ext uri="{FF2B5EF4-FFF2-40B4-BE49-F238E27FC236}">
                <a16:creationId xmlns:a16="http://schemas.microsoft.com/office/drawing/2014/main" id="{E016A4BB-7381-4A38-9907-466407B75D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91184" y="1225452"/>
            <a:ext cx="9052256" cy="5496023"/>
          </a:xfrm>
          <a:prstGeom prst="rect">
            <a:avLst/>
          </a:prstGeom>
        </p:spPr>
      </p:pic>
      <p:sp>
        <p:nvSpPr>
          <p:cNvPr id="8" name="Rectangle 7">
            <a:extLst>
              <a:ext uri="{FF2B5EF4-FFF2-40B4-BE49-F238E27FC236}">
                <a16:creationId xmlns:a16="http://schemas.microsoft.com/office/drawing/2014/main" id="{A17C4487-AE5C-44D2-8BED-DB5736B051C3}"/>
              </a:ext>
            </a:extLst>
          </p:cNvPr>
          <p:cNvSpPr/>
          <p:nvPr/>
        </p:nvSpPr>
        <p:spPr>
          <a:xfrm>
            <a:off x="3359696" y="1228120"/>
            <a:ext cx="4248472"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TextBox 18">
            <a:extLst>
              <a:ext uri="{FF2B5EF4-FFF2-40B4-BE49-F238E27FC236}">
                <a16:creationId xmlns:a16="http://schemas.microsoft.com/office/drawing/2014/main" id="{8DA81305-8DA2-4294-8071-17D05D034120}"/>
              </a:ext>
            </a:extLst>
          </p:cNvPr>
          <p:cNvSpPr txBox="1"/>
          <p:nvPr/>
        </p:nvSpPr>
        <p:spPr>
          <a:xfrm>
            <a:off x="4490408" y="1316700"/>
            <a:ext cx="5253032" cy="923330"/>
          </a:xfrm>
          <a:prstGeom prst="rect">
            <a:avLst/>
          </a:prstGeom>
          <a:noFill/>
        </p:spPr>
        <p:txBody>
          <a:bodyPr wrap="square">
            <a:spAutoFit/>
          </a:bodyPr>
          <a:lstStyle/>
          <a:p>
            <a:pPr marL="285750" indent="-285750">
              <a:buFont typeface="Arial" panose="020B0604020202020204" pitchFamily="34" charset="0"/>
              <a:buChar char="•"/>
            </a:pPr>
            <a:r>
              <a:rPr lang="en-ID" dirty="0"/>
              <a:t>P3 </a:t>
            </a:r>
            <a:r>
              <a:rPr lang="en-ID" dirty="0">
                <a:sym typeface="Wingdings" panose="05000000000000000000" pitchFamily="2" charset="2"/>
              </a:rPr>
              <a:t> </a:t>
            </a:r>
            <a:r>
              <a:rPr lang="en-ID" dirty="0" err="1"/>
              <a:t>Pemilikan</a:t>
            </a:r>
            <a:r>
              <a:rPr lang="en-ID" dirty="0"/>
              <a:t> </a:t>
            </a:r>
            <a:r>
              <a:rPr lang="en-ID" dirty="0" err="1"/>
              <a:t>Penguasaan</a:t>
            </a:r>
            <a:r>
              <a:rPr lang="en-ID" dirty="0"/>
              <a:t> dan </a:t>
            </a:r>
            <a:r>
              <a:rPr lang="en-ID" dirty="0" err="1"/>
              <a:t>Penyimpanan</a:t>
            </a:r>
            <a:endParaRPr lang="en-ID" dirty="0"/>
          </a:p>
          <a:p>
            <a:pPr marL="285750" indent="-285750">
              <a:buFont typeface="Arial" panose="020B0604020202020204" pitchFamily="34" charset="0"/>
              <a:buChar char="•"/>
            </a:pPr>
            <a:r>
              <a:rPr lang="en-ID" dirty="0"/>
              <a:t>P2 </a:t>
            </a:r>
            <a:r>
              <a:rPr lang="en-ID" dirty="0">
                <a:sym typeface="Wingdings" panose="05000000000000000000" pitchFamily="2" charset="2"/>
              </a:rPr>
              <a:t> </a:t>
            </a:r>
            <a:r>
              <a:rPr lang="en-ID" dirty="0" err="1">
                <a:sym typeface="Wingdings" panose="05000000000000000000" pitchFamily="2" charset="2"/>
              </a:rPr>
              <a:t>Pembelian</a:t>
            </a:r>
            <a:r>
              <a:rPr lang="en-ID" dirty="0">
                <a:sym typeface="Wingdings" panose="05000000000000000000" pitchFamily="2" charset="2"/>
              </a:rPr>
              <a:t> dan </a:t>
            </a:r>
            <a:r>
              <a:rPr lang="en-ID" dirty="0" err="1">
                <a:sym typeface="Wingdings" panose="05000000000000000000" pitchFamily="2" charset="2"/>
              </a:rPr>
              <a:t>Penggunaan</a:t>
            </a:r>
            <a:endParaRPr lang="en-ID" dirty="0">
              <a:sym typeface="Wingdings" panose="05000000000000000000" pitchFamily="2" charset="2"/>
            </a:endParaRPr>
          </a:p>
          <a:p>
            <a:pPr marL="285750" indent="-285750">
              <a:buFont typeface="Arial" panose="020B0604020202020204" pitchFamily="34" charset="0"/>
              <a:buChar char="•"/>
            </a:pPr>
            <a:r>
              <a:rPr lang="en-ID" dirty="0">
                <a:sym typeface="Wingdings" panose="05000000000000000000" pitchFamily="2" charset="2"/>
              </a:rPr>
              <a:t>P1  </a:t>
            </a:r>
            <a:r>
              <a:rPr lang="en-ID" dirty="0" err="1">
                <a:sym typeface="Wingdings" panose="05000000000000000000" pitchFamily="2" charset="2"/>
              </a:rPr>
              <a:t>Pengunaan</a:t>
            </a:r>
            <a:r>
              <a:rPr lang="en-ID" dirty="0">
                <a:sym typeface="Wingdings" panose="05000000000000000000" pitchFamily="2" charset="2"/>
              </a:rPr>
              <a:t> </a:t>
            </a:r>
            <a:r>
              <a:rPr lang="en-ID" dirty="0" err="1">
                <a:sym typeface="Wingdings" panose="05000000000000000000" pitchFamily="2" charset="2"/>
              </a:rPr>
              <a:t>Sisa</a:t>
            </a:r>
            <a:r>
              <a:rPr lang="en-ID" dirty="0">
                <a:sym typeface="Wingdings" panose="05000000000000000000" pitchFamily="2" charset="2"/>
              </a:rPr>
              <a:t> </a:t>
            </a:r>
            <a:r>
              <a:rPr lang="en-ID" dirty="0" err="1">
                <a:sym typeface="Wingdings" panose="05000000000000000000" pitchFamily="2" charset="2"/>
              </a:rPr>
              <a:t>Bahan</a:t>
            </a:r>
            <a:r>
              <a:rPr lang="en-ID" dirty="0">
                <a:sym typeface="Wingdings" panose="05000000000000000000" pitchFamily="2" charset="2"/>
              </a:rPr>
              <a:t> </a:t>
            </a:r>
            <a:r>
              <a:rPr lang="en-ID" dirty="0" err="1">
                <a:sym typeface="Wingdings" panose="05000000000000000000" pitchFamily="2" charset="2"/>
              </a:rPr>
              <a:t>Peledak</a:t>
            </a:r>
            <a:endParaRPr lang="en-ID" dirty="0"/>
          </a:p>
        </p:txBody>
      </p:sp>
    </p:spTree>
    <p:extLst>
      <p:ext uri="{BB962C8B-B14F-4D97-AF65-F5344CB8AC3E}">
        <p14:creationId xmlns:p14="http://schemas.microsoft.com/office/powerpoint/2010/main" val="143494710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Strategi</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Pengadaan</a:t>
            </a:r>
            <a:r>
              <a:rPr lang="es-ES" altLang="en-US" b="1" dirty="0">
                <a:solidFill>
                  <a:schemeClr val="accent6">
                    <a:lumMod val="50000"/>
                  </a:schemeClr>
                </a:solidFill>
                <a:latin typeface="Cavolini" panose="03000502040302020204" pitchFamily="66" charset="0"/>
                <a:cs typeface="Cavolini" panose="03000502040302020204" pitchFamily="66" charset="0"/>
              </a:rPr>
              <a:t> </a:t>
            </a:r>
            <a:r>
              <a:rPr lang="es-ES" altLang="en-US" b="1" dirty="0" err="1">
                <a:solidFill>
                  <a:schemeClr val="accent6">
                    <a:lumMod val="50000"/>
                  </a:schemeClr>
                </a:solidFill>
                <a:latin typeface="Cavolini" panose="03000502040302020204" pitchFamily="66" charset="0"/>
                <a:cs typeface="Cavolini" panose="03000502040302020204" pitchFamily="66" charset="0"/>
              </a:rPr>
              <a:t>Barang</a:t>
            </a:r>
            <a:r>
              <a:rPr lang="es-ES" altLang="en-US" b="1" dirty="0">
                <a:solidFill>
                  <a:schemeClr val="accent6">
                    <a:lumMod val="50000"/>
                  </a:schemeClr>
                </a:solidFill>
                <a:latin typeface="Cavolini" panose="03000502040302020204" pitchFamily="66" charset="0"/>
                <a:cs typeface="Cavolini" panose="03000502040302020204" pitchFamily="66" charset="0"/>
              </a:rPr>
              <a:t> dan Jasa </a:t>
            </a:r>
            <a:r>
              <a:rPr lang="es-ES" altLang="en-US" b="1" dirty="0" err="1">
                <a:solidFill>
                  <a:schemeClr val="accent6">
                    <a:lumMod val="50000"/>
                  </a:schemeClr>
                </a:solidFill>
                <a:latin typeface="Cavolini" panose="03000502040302020204" pitchFamily="66" charset="0"/>
                <a:cs typeface="Cavolini" panose="03000502040302020204" pitchFamily="66" charset="0"/>
              </a:rPr>
              <a:t>Pemboran</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Rectangle 1">
            <a:extLst>
              <a:ext uri="{FF2B5EF4-FFF2-40B4-BE49-F238E27FC236}">
                <a16:creationId xmlns:a16="http://schemas.microsoft.com/office/drawing/2014/main" id="{DA7BD951-32F0-EBB7-4734-9615E2BDA736}"/>
              </a:ext>
            </a:extLst>
          </p:cNvPr>
          <p:cNvSpPr/>
          <p:nvPr/>
        </p:nvSpPr>
        <p:spPr>
          <a:xfrm>
            <a:off x="2668772" y="1299750"/>
            <a:ext cx="8389088" cy="765544"/>
          </a:xfrm>
          <a:prstGeom prst="rect">
            <a:avLst/>
          </a:prstGeom>
          <a:solidFill>
            <a:schemeClr val="accent6">
              <a:lumMod val="40000"/>
              <a:lumOff val="6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sv-SE" altLang="en-US" sz="2400" b="1"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rPr>
              <a:t>Daftar Pengadaan Peralatan dan Jasa Pemboran</a:t>
            </a:r>
            <a:endParaRPr lang="en-ID" sz="2400" b="1" dirty="0">
              <a:solidFill>
                <a:schemeClr val="accent6">
                  <a:lumMod val="50000"/>
                </a:schemeClr>
              </a:solidFill>
              <a:latin typeface="Cavolini" panose="03000502040302020204" pitchFamily="66" charset="0"/>
              <a:ea typeface="Verdana" panose="020B0604030504040204" pitchFamily="34" charset="0"/>
              <a:cs typeface="Cavolini" panose="03000502040302020204" pitchFamily="66"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1535717" y="1299750"/>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6.1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2668772" y="2196428"/>
            <a:ext cx="8389088" cy="748783"/>
          </a:xfrm>
          <a:prstGeom prst="rect">
            <a:avLst/>
          </a:prstGeom>
          <a:solidFill>
            <a:schemeClr val="accent6">
              <a:lumMod val="60000"/>
              <a:lumOff val="4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sv-SE" altLang="en-US" sz="2400" b="1" dirty="0">
                <a:solidFill>
                  <a:schemeClr val="accent6">
                    <a:lumMod val="50000"/>
                  </a:schemeClr>
                </a:solidFill>
                <a:latin typeface="Cavolini" panose="03000502040302020204" pitchFamily="66" charset="0"/>
                <a:cs typeface="Cavolini" panose="03000502040302020204" pitchFamily="66" charset="0"/>
              </a:rPr>
              <a:t>Kajian Metoda Pengadaan Peralatan dan Jasa Pemboran</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5" name="Rectangle 4">
            <a:extLst>
              <a:ext uri="{FF2B5EF4-FFF2-40B4-BE49-F238E27FC236}">
                <a16:creationId xmlns:a16="http://schemas.microsoft.com/office/drawing/2014/main" id="{FEA18FA2-826B-D284-53B8-B37906FB6BBA}"/>
              </a:ext>
            </a:extLst>
          </p:cNvPr>
          <p:cNvSpPr/>
          <p:nvPr/>
        </p:nvSpPr>
        <p:spPr>
          <a:xfrm>
            <a:off x="2668772" y="3085497"/>
            <a:ext cx="8389088" cy="748783"/>
          </a:xfrm>
          <a:prstGeom prst="rect">
            <a:avLst/>
          </a:prstGeom>
          <a:solidFill>
            <a:schemeClr val="accent6">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a:latin typeface="Cavolini" panose="03000502040302020204" pitchFamily="66" charset="0"/>
                <a:cs typeface="Cavolini" panose="03000502040302020204" pitchFamily="66" charset="0"/>
              </a:rPr>
              <a:t>Strategi </a:t>
            </a:r>
            <a:r>
              <a:rPr lang="en-US" altLang="en-US" sz="2400" b="1" dirty="0" err="1">
                <a:latin typeface="Cavolini" panose="03000502040302020204" pitchFamily="66" charset="0"/>
                <a:cs typeface="Cavolini" panose="03000502040302020204" pitchFamily="66" charset="0"/>
              </a:rPr>
              <a:t>Metoda</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Pengadaan</a:t>
            </a:r>
            <a:r>
              <a:rPr lang="en-US" altLang="en-US" sz="2400" b="1" dirty="0">
                <a:latin typeface="Cavolini" panose="03000502040302020204" pitchFamily="66" charset="0"/>
                <a:cs typeface="Cavolini" panose="03000502040302020204" pitchFamily="66" charset="0"/>
              </a:rPr>
              <a:t> IPM/Turnkey</a:t>
            </a:r>
            <a:endParaRPr lang="en-ID" sz="2400" b="1" dirty="0">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1535716" y="2196428"/>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6.2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7" name="Rectangle 6">
            <a:extLst>
              <a:ext uri="{FF2B5EF4-FFF2-40B4-BE49-F238E27FC236}">
                <a16:creationId xmlns:a16="http://schemas.microsoft.com/office/drawing/2014/main" id="{EEC3DBDE-A9D3-E986-BC78-CB0BDA109893}"/>
              </a:ext>
            </a:extLst>
          </p:cNvPr>
          <p:cNvSpPr/>
          <p:nvPr/>
        </p:nvSpPr>
        <p:spPr>
          <a:xfrm>
            <a:off x="1535716" y="3052121"/>
            <a:ext cx="891363" cy="765544"/>
          </a:xfrm>
          <a:prstGeom prst="rect">
            <a:avLst/>
          </a:prstGeom>
          <a:solidFill>
            <a:srgbClr val="FFCC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6.3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BAB-6</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11" name="Rectangle 10">
            <a:extLst>
              <a:ext uri="{FF2B5EF4-FFF2-40B4-BE49-F238E27FC236}">
                <a16:creationId xmlns:a16="http://schemas.microsoft.com/office/drawing/2014/main" id="{0A378644-540E-962B-692D-FB65E974E4F7}"/>
              </a:ext>
            </a:extLst>
          </p:cNvPr>
          <p:cNvSpPr/>
          <p:nvPr/>
        </p:nvSpPr>
        <p:spPr>
          <a:xfrm>
            <a:off x="2668772" y="3979925"/>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a:latin typeface="Cavolini" panose="03000502040302020204" pitchFamily="66" charset="0"/>
                <a:cs typeface="Cavolini" panose="03000502040302020204" pitchFamily="66" charset="0"/>
              </a:rPr>
              <a:t>Strategi </a:t>
            </a:r>
            <a:r>
              <a:rPr lang="en-US" altLang="en-US" sz="2400" b="1" dirty="0" err="1">
                <a:latin typeface="Cavolini" panose="03000502040302020204" pitchFamily="66" charset="0"/>
                <a:cs typeface="Cavolini" panose="03000502040302020204" pitchFamily="66" charset="0"/>
              </a:rPr>
              <a:t>Metoda</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Pengadaan</a:t>
            </a:r>
            <a:r>
              <a:rPr lang="en-US" altLang="en-US" sz="2400" b="1" dirty="0">
                <a:latin typeface="Cavolini" panose="03000502040302020204" pitchFamily="66" charset="0"/>
                <a:cs typeface="Cavolini" panose="03000502040302020204" pitchFamily="66" charset="0"/>
              </a:rPr>
              <a:t> Discrete </a:t>
            </a:r>
            <a:r>
              <a:rPr lang="en-US" altLang="en-US" sz="2400" b="1" dirty="0" err="1">
                <a:latin typeface="Cavolini" panose="03000502040302020204" pitchFamily="66" charset="0"/>
                <a:cs typeface="Cavolini" panose="03000502040302020204" pitchFamily="66" charset="0"/>
              </a:rPr>
              <a:t>atau</a:t>
            </a:r>
            <a:r>
              <a:rPr lang="en-US" altLang="en-US" sz="2400" b="1" dirty="0">
                <a:latin typeface="Cavolini" panose="03000502040302020204" pitchFamily="66" charset="0"/>
                <a:cs typeface="Cavolini" panose="03000502040302020204" pitchFamily="66" charset="0"/>
              </a:rPr>
              <a:t> Bundle</a:t>
            </a:r>
          </a:p>
        </p:txBody>
      </p:sp>
      <p:sp>
        <p:nvSpPr>
          <p:cNvPr id="12" name="Rectangle 11">
            <a:extLst>
              <a:ext uri="{FF2B5EF4-FFF2-40B4-BE49-F238E27FC236}">
                <a16:creationId xmlns:a16="http://schemas.microsoft.com/office/drawing/2014/main" id="{75E85C1B-72DA-6786-B82D-FD52ABFF8D39}"/>
              </a:ext>
            </a:extLst>
          </p:cNvPr>
          <p:cNvSpPr/>
          <p:nvPr/>
        </p:nvSpPr>
        <p:spPr>
          <a:xfrm>
            <a:off x="1535716" y="3948547"/>
            <a:ext cx="891363" cy="765544"/>
          </a:xfrm>
          <a:prstGeom prst="rect">
            <a:avLst/>
          </a:prstGeom>
          <a:solidFill>
            <a:schemeClr val="accent4">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6.4</a:t>
            </a:r>
            <a:endParaRPr lang="en-ID" sz="2400" b="1" dirty="0">
              <a:solidFill>
                <a:srgbClr val="FFFF00"/>
              </a:solidFill>
              <a:latin typeface="Cavolini" panose="03000502040302020204" pitchFamily="66" charset="0"/>
              <a:cs typeface="Cavolini" panose="03000502040302020204" pitchFamily="66" charset="0"/>
            </a:endParaRPr>
          </a:p>
        </p:txBody>
      </p:sp>
      <p:sp>
        <p:nvSpPr>
          <p:cNvPr id="13" name="Rectangle 12">
            <a:extLst>
              <a:ext uri="{FF2B5EF4-FFF2-40B4-BE49-F238E27FC236}">
                <a16:creationId xmlns:a16="http://schemas.microsoft.com/office/drawing/2014/main" id="{8F2D8D1F-AF01-B51A-0A8F-EA5D508CAEDD}"/>
              </a:ext>
            </a:extLst>
          </p:cNvPr>
          <p:cNvSpPr/>
          <p:nvPr/>
        </p:nvSpPr>
        <p:spPr>
          <a:xfrm>
            <a:off x="2668772" y="4881167"/>
            <a:ext cx="8389088" cy="748783"/>
          </a:xfrm>
          <a:prstGeom prst="rect">
            <a:avLst/>
          </a:prstGeom>
          <a:solidFill>
            <a:schemeClr val="accent6">
              <a:lumMod val="50000"/>
            </a:schemeClr>
          </a:solid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b="1" dirty="0" err="1">
                <a:latin typeface="Cavolini" panose="03000502040302020204" pitchFamily="66" charset="0"/>
                <a:cs typeface="Cavolini" panose="03000502040302020204" pitchFamily="66" charset="0"/>
              </a:rPr>
              <a:t>Ringkasan</a:t>
            </a:r>
            <a:r>
              <a:rPr lang="en-US" altLang="en-US" sz="2400" b="1" dirty="0">
                <a:latin typeface="Cavolini" panose="03000502040302020204" pitchFamily="66" charset="0"/>
                <a:cs typeface="Cavolini" panose="03000502040302020204" pitchFamily="66" charset="0"/>
              </a:rPr>
              <a:t> Kontrak Drilling dan </a:t>
            </a:r>
            <a:r>
              <a:rPr lang="en-US" altLang="en-US" sz="2400" b="1" dirty="0" err="1">
                <a:latin typeface="Cavolini" panose="03000502040302020204" pitchFamily="66" charset="0"/>
                <a:cs typeface="Cavolini" panose="03000502040302020204" pitchFamily="66" charset="0"/>
              </a:rPr>
              <a:t>Pedoman</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Biaya</a:t>
            </a:r>
            <a:r>
              <a:rPr lang="en-US" altLang="en-US" sz="2400" b="1" dirty="0">
                <a:latin typeface="Cavolini" panose="03000502040302020204" pitchFamily="66" charset="0"/>
                <a:cs typeface="Cavolini" panose="03000502040302020204" pitchFamily="66" charset="0"/>
              </a:rPr>
              <a:t> </a:t>
            </a:r>
            <a:r>
              <a:rPr lang="en-US" altLang="en-US" sz="2400" b="1" dirty="0" err="1">
                <a:latin typeface="Cavolini" panose="03000502040302020204" pitchFamily="66" charset="0"/>
                <a:cs typeface="Cavolini" panose="03000502040302020204" pitchFamily="66" charset="0"/>
              </a:rPr>
              <a:t>Pemboran</a:t>
            </a:r>
            <a:endParaRPr lang="en-ID" sz="2400" b="1" dirty="0">
              <a:latin typeface="Cavolini" panose="03000502040302020204" pitchFamily="66" charset="0"/>
              <a:cs typeface="Cavolini" panose="03000502040302020204" pitchFamily="66" charset="0"/>
            </a:endParaRPr>
          </a:p>
        </p:txBody>
      </p:sp>
      <p:sp>
        <p:nvSpPr>
          <p:cNvPr id="14" name="Rectangle 13">
            <a:extLst>
              <a:ext uri="{FF2B5EF4-FFF2-40B4-BE49-F238E27FC236}">
                <a16:creationId xmlns:a16="http://schemas.microsoft.com/office/drawing/2014/main" id="{780B02AB-F421-7230-5DF7-05605EBED893}"/>
              </a:ext>
            </a:extLst>
          </p:cNvPr>
          <p:cNvSpPr/>
          <p:nvPr/>
        </p:nvSpPr>
        <p:spPr>
          <a:xfrm>
            <a:off x="1535714" y="4881167"/>
            <a:ext cx="891363" cy="765544"/>
          </a:xfrm>
          <a:prstGeom prst="rect">
            <a:avLst/>
          </a:prstGeom>
          <a:solidFill>
            <a:schemeClr val="accent2">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6.5</a:t>
            </a:r>
            <a:endParaRPr lang="en-ID" sz="2400" b="1" dirty="0">
              <a:solidFill>
                <a:srgbClr val="FFFF00"/>
              </a:solidFill>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17004391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bwMode="auto">
          <a:xfrm>
            <a:off x="693761" y="343468"/>
            <a:ext cx="10879540" cy="789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200" b="1" dirty="0">
                <a:solidFill>
                  <a:srgbClr val="C00000"/>
                </a:solidFill>
              </a:rPr>
              <a:t>Procurement strategy for Drilling Material and Services</a:t>
            </a:r>
            <a:endParaRPr lang="en-US" altLang="en-US" sz="3200" dirty="0"/>
          </a:p>
        </p:txBody>
      </p:sp>
      <p:graphicFrame>
        <p:nvGraphicFramePr>
          <p:cNvPr id="4" name="Diagram 3"/>
          <p:cNvGraphicFramePr/>
          <p:nvPr/>
        </p:nvGraphicFramePr>
        <p:xfrm>
          <a:off x="-716643" y="1295400"/>
          <a:ext cx="6850743" cy="46762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Table 11"/>
          <p:cNvGraphicFramePr>
            <a:graphicFrameLocks noGrp="1"/>
          </p:cNvGraphicFramePr>
          <p:nvPr/>
        </p:nvGraphicFramePr>
        <p:xfrm>
          <a:off x="5453743" y="1276350"/>
          <a:ext cx="5678715" cy="5290039"/>
        </p:xfrm>
        <a:graphic>
          <a:graphicData uri="http://schemas.openxmlformats.org/drawingml/2006/table">
            <a:tbl>
              <a:tblPr firstRow="1" bandRow="1">
                <a:tableStyleId>{5C22544A-7EE6-4342-B048-85BDC9FD1C3A}</a:tableStyleId>
              </a:tblPr>
              <a:tblGrid>
                <a:gridCol w="1498550">
                  <a:extLst>
                    <a:ext uri="{9D8B030D-6E8A-4147-A177-3AD203B41FA5}">
                      <a16:colId xmlns:a16="http://schemas.microsoft.com/office/drawing/2014/main" val="20000"/>
                    </a:ext>
                  </a:extLst>
                </a:gridCol>
                <a:gridCol w="2050647">
                  <a:extLst>
                    <a:ext uri="{9D8B030D-6E8A-4147-A177-3AD203B41FA5}">
                      <a16:colId xmlns:a16="http://schemas.microsoft.com/office/drawing/2014/main" val="20001"/>
                    </a:ext>
                  </a:extLst>
                </a:gridCol>
                <a:gridCol w="2129518">
                  <a:extLst>
                    <a:ext uri="{9D8B030D-6E8A-4147-A177-3AD203B41FA5}">
                      <a16:colId xmlns:a16="http://schemas.microsoft.com/office/drawing/2014/main" val="20002"/>
                    </a:ext>
                  </a:extLst>
                </a:gridCol>
              </a:tblGrid>
              <a:tr h="345260">
                <a:tc>
                  <a:txBody>
                    <a:bodyPr/>
                    <a:lstStyle/>
                    <a:p>
                      <a:r>
                        <a:rPr lang="id-ID" sz="1800" b="1" dirty="0">
                          <a:solidFill>
                            <a:srgbClr val="002060"/>
                          </a:solidFill>
                        </a:rPr>
                        <a:t>Purchase</a:t>
                      </a:r>
                    </a:p>
                  </a:txBody>
                  <a:tcPr marT="45693" marB="45693">
                    <a:solidFill>
                      <a:srgbClr val="33CC33">
                        <a:alpha val="59000"/>
                      </a:srgbClr>
                    </a:solidFill>
                  </a:tcPr>
                </a:tc>
                <a:tc>
                  <a:txBody>
                    <a:bodyPr/>
                    <a:lstStyle/>
                    <a:p>
                      <a:r>
                        <a:rPr lang="id-ID" sz="1800" b="1" dirty="0">
                          <a:solidFill>
                            <a:srgbClr val="002060"/>
                          </a:solidFill>
                        </a:rPr>
                        <a:t>Services</a:t>
                      </a:r>
                    </a:p>
                  </a:txBody>
                  <a:tcPr marT="45693" marB="45693">
                    <a:solidFill>
                      <a:srgbClr val="33CC33">
                        <a:alpha val="59000"/>
                      </a:srgbClr>
                    </a:solidFill>
                  </a:tcPr>
                </a:tc>
                <a:tc>
                  <a:txBody>
                    <a:bodyPr/>
                    <a:lstStyle/>
                    <a:p>
                      <a:r>
                        <a:rPr lang="id-ID" sz="1800" b="1" dirty="0">
                          <a:solidFill>
                            <a:srgbClr val="002060"/>
                          </a:solidFill>
                        </a:rPr>
                        <a:t>Support</a:t>
                      </a:r>
                    </a:p>
                  </a:txBody>
                  <a:tcPr marT="45693" marB="45693">
                    <a:solidFill>
                      <a:srgbClr val="33CC33">
                        <a:alpha val="59000"/>
                      </a:srgbClr>
                    </a:solidFill>
                  </a:tcPr>
                </a:tc>
                <a:extLst>
                  <a:ext uri="{0D108BD9-81ED-4DB2-BD59-A6C34878D82A}">
                    <a16:rowId xmlns:a16="http://schemas.microsoft.com/office/drawing/2014/main" val="10000"/>
                  </a:ext>
                </a:extLst>
              </a:tr>
              <a:tr h="4924333">
                <a:tc>
                  <a:txBody>
                    <a:bodyPr/>
                    <a:lstStyle/>
                    <a:p>
                      <a:pPr marL="342900" indent="-342900">
                        <a:buFont typeface="+mj-lt"/>
                        <a:buAutoNum type="arabicPeriod"/>
                      </a:pPr>
                      <a:r>
                        <a:rPr lang="id-ID" sz="1200" b="1" dirty="0">
                          <a:solidFill>
                            <a:srgbClr val="002060"/>
                          </a:solidFill>
                        </a:rPr>
                        <a:t>Casing</a:t>
                      </a:r>
                    </a:p>
                    <a:p>
                      <a:pPr marL="342900" indent="-342900">
                        <a:buFont typeface="+mj-lt"/>
                        <a:buAutoNum type="arabicPeriod"/>
                      </a:pPr>
                      <a:r>
                        <a:rPr lang="id-ID" sz="1200" b="1" dirty="0">
                          <a:solidFill>
                            <a:srgbClr val="002060"/>
                          </a:solidFill>
                        </a:rPr>
                        <a:t>Wellhead</a:t>
                      </a:r>
                    </a:p>
                    <a:p>
                      <a:pPr marL="342900" indent="-342900">
                        <a:buFont typeface="+mj-lt"/>
                        <a:buAutoNum type="arabicPeriod"/>
                      </a:pPr>
                      <a:r>
                        <a:rPr lang="id-ID" sz="1200" b="1" dirty="0">
                          <a:solidFill>
                            <a:srgbClr val="002060"/>
                          </a:solidFill>
                        </a:rPr>
                        <a:t>Liner Adapter</a:t>
                      </a:r>
                    </a:p>
                    <a:p>
                      <a:pPr marL="342900" indent="-342900">
                        <a:buFont typeface="+mj-lt"/>
                        <a:buAutoNum type="arabicPeriod"/>
                      </a:pPr>
                      <a:r>
                        <a:rPr lang="id-ID" sz="1200" b="1" dirty="0">
                          <a:solidFill>
                            <a:srgbClr val="002060"/>
                          </a:solidFill>
                        </a:rPr>
                        <a:t>Drilling Bits</a:t>
                      </a:r>
                      <a:endParaRPr lang="en-US" sz="1200" b="1" dirty="0">
                        <a:solidFill>
                          <a:srgbClr val="002060"/>
                        </a:solidFill>
                      </a:endParaRPr>
                    </a:p>
                    <a:p>
                      <a:pPr marL="342900" indent="-342900">
                        <a:buFont typeface="+mj-lt"/>
                        <a:buAutoNum type="arabicPeriod"/>
                      </a:pPr>
                      <a:r>
                        <a:rPr lang="en-US" sz="1200" b="1" dirty="0">
                          <a:solidFill>
                            <a:srgbClr val="002060"/>
                          </a:solidFill>
                        </a:rPr>
                        <a:t>Casing</a:t>
                      </a:r>
                      <a:r>
                        <a:rPr lang="en-US" sz="1200" b="1" baseline="0" dirty="0">
                          <a:solidFill>
                            <a:srgbClr val="002060"/>
                          </a:solidFill>
                        </a:rPr>
                        <a:t> Accessories</a:t>
                      </a:r>
                    </a:p>
                    <a:p>
                      <a:pPr marL="342900" indent="-342900">
                        <a:buFont typeface="+mj-lt"/>
                        <a:buAutoNum type="arabicPeriod"/>
                      </a:pPr>
                      <a:r>
                        <a:rPr lang="en-US" sz="1200" b="1" baseline="0" dirty="0">
                          <a:solidFill>
                            <a:srgbClr val="002060"/>
                          </a:solidFill>
                        </a:rPr>
                        <a:t>DSA and X/O</a:t>
                      </a:r>
                    </a:p>
                    <a:p>
                      <a:pPr marL="342900" indent="-342900">
                        <a:buFont typeface="+mj-lt"/>
                        <a:buAutoNum type="arabicPeriod"/>
                      </a:pPr>
                      <a:endParaRPr lang="id-ID" sz="1200" b="1" dirty="0">
                        <a:solidFill>
                          <a:srgbClr val="002060"/>
                        </a:solidFill>
                      </a:endParaRPr>
                    </a:p>
                    <a:p>
                      <a:pPr marL="342900" indent="-342900">
                        <a:buFont typeface="+mj-lt"/>
                        <a:buAutoNum type="arabicPeriod"/>
                      </a:pPr>
                      <a:endParaRPr lang="id-ID" sz="1200" b="1" dirty="0">
                        <a:solidFill>
                          <a:srgbClr val="002060"/>
                        </a:solidFill>
                      </a:endParaRPr>
                    </a:p>
                  </a:txBody>
                  <a:tcPr marT="45693" marB="45693">
                    <a:solidFill>
                      <a:srgbClr val="FFFF00"/>
                    </a:solidFill>
                  </a:tcPr>
                </a:tc>
                <a:tc>
                  <a:txBody>
                    <a:bodyPr/>
                    <a:lstStyle/>
                    <a:p>
                      <a:pPr marL="449263" indent="-449263">
                        <a:buFont typeface="+mj-lt"/>
                        <a:buAutoNum type="arabicPeriod"/>
                      </a:pPr>
                      <a:r>
                        <a:rPr lang="id-ID" sz="1200" b="1" dirty="0">
                          <a:solidFill>
                            <a:srgbClr val="002060"/>
                          </a:solidFill>
                        </a:rPr>
                        <a:t>Drilling Rig</a:t>
                      </a:r>
                    </a:p>
                    <a:p>
                      <a:pPr marL="449263" indent="-449263">
                        <a:buFont typeface="+mj-lt"/>
                        <a:buAutoNum type="arabicPeriod"/>
                      </a:pPr>
                      <a:r>
                        <a:rPr lang="id-ID" sz="1200" b="1" dirty="0">
                          <a:solidFill>
                            <a:srgbClr val="002060"/>
                          </a:solidFill>
                        </a:rPr>
                        <a:t>Cement and Mud</a:t>
                      </a:r>
                    </a:p>
                    <a:p>
                      <a:pPr marL="449263" indent="-449263">
                        <a:buFont typeface="+mj-lt"/>
                        <a:buAutoNum type="arabicPeriod"/>
                      </a:pPr>
                      <a:r>
                        <a:rPr lang="id-ID" sz="1200" b="1" dirty="0">
                          <a:solidFill>
                            <a:srgbClr val="002060"/>
                          </a:solidFill>
                        </a:rPr>
                        <a:t>Directional</a:t>
                      </a:r>
                      <a:r>
                        <a:rPr lang="id-ID" sz="1200" b="1" baseline="0" dirty="0">
                          <a:solidFill>
                            <a:srgbClr val="002060"/>
                          </a:solidFill>
                        </a:rPr>
                        <a:t> Drilling</a:t>
                      </a:r>
                    </a:p>
                    <a:p>
                      <a:pPr marL="449263" indent="-449263">
                        <a:buFont typeface="+mj-lt"/>
                        <a:buAutoNum type="arabicPeriod"/>
                      </a:pPr>
                      <a:r>
                        <a:rPr lang="id-ID" sz="1200" b="1" baseline="0" dirty="0">
                          <a:solidFill>
                            <a:srgbClr val="002060"/>
                          </a:solidFill>
                        </a:rPr>
                        <a:t>Air Drilling</a:t>
                      </a:r>
                    </a:p>
                    <a:p>
                      <a:pPr marL="449263" indent="-449263">
                        <a:buFont typeface="+mj-lt"/>
                        <a:buAutoNum type="arabicPeriod"/>
                      </a:pPr>
                      <a:r>
                        <a:rPr lang="id-ID" sz="1200" b="1" baseline="0" dirty="0">
                          <a:solidFill>
                            <a:srgbClr val="002060"/>
                          </a:solidFill>
                        </a:rPr>
                        <a:t>Mud Coller</a:t>
                      </a:r>
                    </a:p>
                    <a:p>
                      <a:pPr marL="449263" indent="-449263">
                        <a:buFont typeface="+mj-lt"/>
                        <a:buAutoNum type="arabicPeriod"/>
                      </a:pPr>
                      <a:r>
                        <a:rPr lang="id-ID" sz="1200" b="1" baseline="0" dirty="0">
                          <a:solidFill>
                            <a:srgbClr val="002060"/>
                          </a:solidFill>
                        </a:rPr>
                        <a:t>Wellhead Installation</a:t>
                      </a:r>
                    </a:p>
                    <a:p>
                      <a:pPr marL="449263" indent="-449263">
                        <a:buFont typeface="+mj-lt"/>
                        <a:buAutoNum type="arabicPeriod"/>
                      </a:pPr>
                      <a:r>
                        <a:rPr lang="id-ID" sz="1200" b="1" baseline="0" dirty="0">
                          <a:solidFill>
                            <a:srgbClr val="002060"/>
                          </a:solidFill>
                        </a:rPr>
                        <a:t>Drilling Personnel</a:t>
                      </a:r>
                    </a:p>
                    <a:p>
                      <a:pPr marL="449263" indent="-449263">
                        <a:buFont typeface="+mj-lt"/>
                        <a:buAutoNum type="arabicPeriod"/>
                      </a:pPr>
                      <a:r>
                        <a:rPr lang="id-ID" sz="1200" b="1" baseline="0" dirty="0">
                          <a:solidFill>
                            <a:srgbClr val="002060"/>
                          </a:solidFill>
                        </a:rPr>
                        <a:t>Heavy Equipment</a:t>
                      </a:r>
                    </a:p>
                    <a:p>
                      <a:pPr marL="449263" indent="-449263">
                        <a:buFont typeface="+mj-lt"/>
                        <a:buAutoNum type="arabicPeriod"/>
                      </a:pPr>
                      <a:r>
                        <a:rPr lang="id-ID" sz="1200" b="1" baseline="0" dirty="0">
                          <a:solidFill>
                            <a:srgbClr val="002060"/>
                          </a:solidFill>
                        </a:rPr>
                        <a:t>Drilling Waste Handling</a:t>
                      </a:r>
                    </a:p>
                    <a:p>
                      <a:pPr marL="449263" indent="-449263">
                        <a:buFont typeface="+mj-lt"/>
                        <a:buAutoNum type="arabicPeriod"/>
                      </a:pPr>
                      <a:r>
                        <a:rPr lang="id-ID" sz="1200" b="1" baseline="0" dirty="0">
                          <a:solidFill>
                            <a:srgbClr val="002060"/>
                          </a:solidFill>
                        </a:rPr>
                        <a:t>VSAT</a:t>
                      </a:r>
                    </a:p>
                    <a:p>
                      <a:pPr marL="449263" indent="-449263">
                        <a:buFont typeface="+mj-lt"/>
                        <a:buAutoNum type="arabicPeriod"/>
                      </a:pPr>
                      <a:r>
                        <a:rPr lang="id-ID" sz="1200" b="1" baseline="0" dirty="0">
                          <a:solidFill>
                            <a:srgbClr val="002060"/>
                          </a:solidFill>
                        </a:rPr>
                        <a:t>Drilling Report</a:t>
                      </a:r>
                    </a:p>
                    <a:p>
                      <a:pPr marL="449263" indent="-449263">
                        <a:buFont typeface="+mj-lt"/>
                        <a:buAutoNum type="arabicPeriod"/>
                      </a:pPr>
                      <a:r>
                        <a:rPr lang="id-ID" sz="1200" b="1" baseline="0" dirty="0">
                          <a:solidFill>
                            <a:srgbClr val="002060"/>
                          </a:solidFill>
                        </a:rPr>
                        <a:t>Casing Handling</a:t>
                      </a:r>
                    </a:p>
                    <a:p>
                      <a:pPr marL="449263" indent="-449263">
                        <a:buFont typeface="+mj-lt"/>
                        <a:buAutoNum type="arabicPeriod"/>
                      </a:pPr>
                      <a:r>
                        <a:rPr lang="id-ID" sz="1200" b="1" baseline="0" dirty="0">
                          <a:solidFill>
                            <a:srgbClr val="002060"/>
                          </a:solidFill>
                        </a:rPr>
                        <a:t>H2S Service</a:t>
                      </a:r>
                    </a:p>
                    <a:p>
                      <a:pPr marL="449263" indent="-449263">
                        <a:buFont typeface="+mj-lt"/>
                        <a:buAutoNum type="arabicPeriod"/>
                      </a:pPr>
                      <a:r>
                        <a:rPr lang="id-ID" sz="1200" b="1" baseline="0" dirty="0">
                          <a:solidFill>
                            <a:srgbClr val="002060"/>
                          </a:solidFill>
                        </a:rPr>
                        <a:t>Mud Logging</a:t>
                      </a:r>
                    </a:p>
                    <a:p>
                      <a:pPr marL="449263" indent="-449263">
                        <a:buFont typeface="+mj-lt"/>
                        <a:buAutoNum type="arabicPeriod"/>
                      </a:pPr>
                      <a:r>
                        <a:rPr lang="id-ID" sz="1200" b="1" baseline="0" dirty="0">
                          <a:solidFill>
                            <a:srgbClr val="002060"/>
                          </a:solidFill>
                        </a:rPr>
                        <a:t>Drill String Inspection </a:t>
                      </a:r>
                    </a:p>
                    <a:p>
                      <a:pPr marL="449263" indent="-449263">
                        <a:buFont typeface="+mj-lt"/>
                        <a:buAutoNum type="arabicPeriod"/>
                      </a:pPr>
                      <a:r>
                        <a:rPr lang="id-ID" sz="1200" b="1" baseline="0" dirty="0">
                          <a:solidFill>
                            <a:srgbClr val="002060"/>
                          </a:solidFill>
                        </a:rPr>
                        <a:t>Hard Bending</a:t>
                      </a:r>
                    </a:p>
                    <a:p>
                      <a:pPr marL="449263" indent="-449263">
                        <a:buFont typeface="+mj-lt"/>
                        <a:buAutoNum type="arabicPeriod"/>
                      </a:pPr>
                      <a:r>
                        <a:rPr lang="id-ID" sz="1200" b="1" baseline="0" dirty="0">
                          <a:solidFill>
                            <a:srgbClr val="002060"/>
                          </a:solidFill>
                        </a:rPr>
                        <a:t>Solid Control Services</a:t>
                      </a:r>
                    </a:p>
                    <a:p>
                      <a:pPr marL="449263" indent="-449263">
                        <a:buFont typeface="+mj-lt"/>
                        <a:buAutoNum type="arabicPeriod"/>
                      </a:pPr>
                      <a:r>
                        <a:rPr lang="id-ID" sz="1200" b="1" baseline="0" dirty="0">
                          <a:solidFill>
                            <a:srgbClr val="002060"/>
                          </a:solidFill>
                        </a:rPr>
                        <a:t>Fishing Tool Services</a:t>
                      </a:r>
                    </a:p>
                    <a:p>
                      <a:pPr marL="449263" indent="-449263">
                        <a:buFont typeface="+mj-lt"/>
                        <a:buAutoNum type="arabicPeriod"/>
                      </a:pPr>
                      <a:r>
                        <a:rPr lang="id-ID" sz="1200" b="1" baseline="0" dirty="0">
                          <a:solidFill>
                            <a:srgbClr val="002060"/>
                          </a:solidFill>
                        </a:rPr>
                        <a:t>Coring Services</a:t>
                      </a:r>
                    </a:p>
                    <a:p>
                      <a:pPr marL="449263" indent="-449263">
                        <a:buFont typeface="+mj-lt"/>
                        <a:buAutoNum type="arabicPeriod"/>
                      </a:pPr>
                      <a:r>
                        <a:rPr lang="id-ID" sz="1200" b="1" baseline="0" dirty="0">
                          <a:solidFill>
                            <a:srgbClr val="002060"/>
                          </a:solidFill>
                        </a:rPr>
                        <a:t>E-Line &amp; Explosive</a:t>
                      </a:r>
                      <a:endParaRPr lang="id-ID" sz="1200" b="1" dirty="0">
                        <a:solidFill>
                          <a:srgbClr val="002060"/>
                        </a:solidFill>
                      </a:endParaRPr>
                    </a:p>
                  </a:txBody>
                  <a:tcPr marT="45693" marB="45693">
                    <a:solidFill>
                      <a:srgbClr val="FFFF66"/>
                    </a:solidFill>
                  </a:tcPr>
                </a:tc>
                <a:tc>
                  <a:txBody>
                    <a:bodyPr/>
                    <a:lstStyle/>
                    <a:p>
                      <a:pPr marL="342900" indent="-342900">
                        <a:buFont typeface="+mj-lt"/>
                        <a:buAutoNum type="arabicPeriod"/>
                      </a:pPr>
                      <a:r>
                        <a:rPr lang="en-US" sz="1200" b="1" dirty="0">
                          <a:solidFill>
                            <a:srgbClr val="002060"/>
                          </a:solidFill>
                        </a:rPr>
                        <a:t>Drilling</a:t>
                      </a:r>
                      <a:r>
                        <a:rPr lang="en-US" sz="1200" b="1" baseline="0" dirty="0">
                          <a:solidFill>
                            <a:srgbClr val="002060"/>
                          </a:solidFill>
                        </a:rPr>
                        <a:t> Site Construction</a:t>
                      </a:r>
                      <a:endParaRPr lang="en-US" sz="1200" b="1" dirty="0">
                        <a:solidFill>
                          <a:srgbClr val="002060"/>
                        </a:solidFill>
                      </a:endParaRPr>
                    </a:p>
                    <a:p>
                      <a:pPr marL="342900" indent="-342900">
                        <a:buFont typeface="+mj-lt"/>
                        <a:buAutoNum type="arabicPeriod"/>
                      </a:pPr>
                      <a:r>
                        <a:rPr lang="id-ID" sz="1200" b="1" dirty="0">
                          <a:solidFill>
                            <a:srgbClr val="002060"/>
                          </a:solidFill>
                        </a:rPr>
                        <a:t>Diesel Fuel</a:t>
                      </a:r>
                    </a:p>
                    <a:p>
                      <a:pPr marL="342900" indent="-342900">
                        <a:buFont typeface="+mj-lt"/>
                        <a:buAutoNum type="arabicPeriod"/>
                      </a:pPr>
                      <a:r>
                        <a:rPr lang="id-ID" sz="1200" b="1" dirty="0">
                          <a:solidFill>
                            <a:srgbClr val="002060"/>
                          </a:solidFill>
                        </a:rPr>
                        <a:t>Water</a:t>
                      </a:r>
                      <a:r>
                        <a:rPr lang="en-US" sz="1200" b="1" dirty="0">
                          <a:solidFill>
                            <a:srgbClr val="002060"/>
                          </a:solidFill>
                        </a:rPr>
                        <a:t> Pump Services</a:t>
                      </a:r>
                      <a:endParaRPr lang="id-ID" sz="1200" b="1" dirty="0">
                        <a:solidFill>
                          <a:srgbClr val="002060"/>
                        </a:solidFill>
                      </a:endParaRPr>
                    </a:p>
                    <a:p>
                      <a:pPr marL="342900" indent="-342900">
                        <a:buFont typeface="+mj-lt"/>
                        <a:buAutoNum type="arabicPeriod"/>
                      </a:pPr>
                      <a:r>
                        <a:rPr lang="id-ID" sz="1200" b="1" dirty="0">
                          <a:solidFill>
                            <a:srgbClr val="002060"/>
                          </a:solidFill>
                        </a:rPr>
                        <a:t>UKL / UPL</a:t>
                      </a:r>
                    </a:p>
                    <a:p>
                      <a:pPr marL="342900" indent="-342900">
                        <a:buFont typeface="+mj-lt"/>
                        <a:buAutoNum type="arabicPeriod"/>
                      </a:pPr>
                      <a:r>
                        <a:rPr lang="en-US" sz="1200" b="1" dirty="0">
                          <a:solidFill>
                            <a:srgbClr val="002060"/>
                          </a:solidFill>
                        </a:rPr>
                        <a:t>Security </a:t>
                      </a:r>
                      <a:r>
                        <a:rPr lang="id-ID" sz="1200" b="1" dirty="0">
                          <a:solidFill>
                            <a:srgbClr val="002060"/>
                          </a:solidFill>
                        </a:rPr>
                        <a:t>Services</a:t>
                      </a:r>
                    </a:p>
                    <a:p>
                      <a:pPr marL="342900" indent="-342900">
                        <a:buFont typeface="+mj-lt"/>
                        <a:buAutoNum type="arabicPeriod"/>
                      </a:pPr>
                      <a:r>
                        <a:rPr lang="id-ID" sz="1200" b="1" dirty="0">
                          <a:solidFill>
                            <a:srgbClr val="002060"/>
                          </a:solidFill>
                        </a:rPr>
                        <a:t>Road Survey</a:t>
                      </a:r>
                    </a:p>
                    <a:p>
                      <a:pPr marL="342900" indent="-342900">
                        <a:buFont typeface="+mj-lt"/>
                        <a:buAutoNum type="arabicPeriod"/>
                      </a:pPr>
                      <a:r>
                        <a:rPr lang="id-ID" sz="1200" b="1" dirty="0">
                          <a:solidFill>
                            <a:srgbClr val="002060"/>
                          </a:solidFill>
                        </a:rPr>
                        <a:t>Tubular</a:t>
                      </a:r>
                      <a:r>
                        <a:rPr lang="id-ID" sz="1200" b="1" baseline="0" dirty="0">
                          <a:solidFill>
                            <a:srgbClr val="002060"/>
                          </a:solidFill>
                        </a:rPr>
                        <a:t> Inspection</a:t>
                      </a:r>
                    </a:p>
                    <a:p>
                      <a:pPr marL="342900" indent="-342900">
                        <a:buFont typeface="+mj-lt"/>
                        <a:buAutoNum type="arabicPeriod"/>
                      </a:pPr>
                      <a:r>
                        <a:rPr lang="id-ID" sz="1200" b="1" baseline="0" dirty="0">
                          <a:solidFill>
                            <a:srgbClr val="002060"/>
                          </a:solidFill>
                        </a:rPr>
                        <a:t>Explosive Handling</a:t>
                      </a:r>
                    </a:p>
                    <a:p>
                      <a:pPr marL="342900" indent="-342900">
                        <a:buFont typeface="+mj-lt"/>
                        <a:buAutoNum type="arabicPeriod"/>
                      </a:pPr>
                      <a:r>
                        <a:rPr lang="id-ID" sz="1200" b="1" baseline="0" dirty="0">
                          <a:solidFill>
                            <a:srgbClr val="002060"/>
                          </a:solidFill>
                        </a:rPr>
                        <a:t>Permits</a:t>
                      </a:r>
                    </a:p>
                    <a:p>
                      <a:pPr marL="342900" indent="-342900">
                        <a:buFont typeface="+mj-lt"/>
                        <a:buAutoNum type="arabicPeriod"/>
                      </a:pPr>
                      <a:r>
                        <a:rPr lang="id-ID" sz="1200" b="1" baseline="0" dirty="0">
                          <a:solidFill>
                            <a:srgbClr val="002060"/>
                          </a:solidFill>
                        </a:rPr>
                        <a:t>Perforated Liner</a:t>
                      </a:r>
                      <a:endParaRPr lang="en-US" sz="1200" b="1" baseline="0" dirty="0">
                        <a:solidFill>
                          <a:srgbClr val="002060"/>
                        </a:solidFill>
                      </a:endParaRPr>
                    </a:p>
                    <a:p>
                      <a:pPr marL="342900" indent="-342900">
                        <a:buFont typeface="+mj-lt"/>
                        <a:buAutoNum type="arabicPeriod"/>
                      </a:pPr>
                      <a:r>
                        <a:rPr lang="en-US" sz="1200" b="1" baseline="0" dirty="0">
                          <a:solidFill>
                            <a:srgbClr val="002060"/>
                          </a:solidFill>
                        </a:rPr>
                        <a:t>Logistic Services</a:t>
                      </a:r>
                    </a:p>
                    <a:p>
                      <a:pPr marL="342900" indent="-342900">
                        <a:buFont typeface="+mj-lt"/>
                        <a:buAutoNum type="arabicPeriod"/>
                      </a:pPr>
                      <a:r>
                        <a:rPr lang="en-US" sz="1200" b="1" baseline="0" dirty="0">
                          <a:solidFill>
                            <a:srgbClr val="002060"/>
                          </a:solidFill>
                        </a:rPr>
                        <a:t>General Services</a:t>
                      </a:r>
                      <a:endParaRPr lang="id-ID" sz="1200" b="1" dirty="0">
                        <a:solidFill>
                          <a:srgbClr val="002060"/>
                        </a:solidFill>
                      </a:endParaRPr>
                    </a:p>
                  </a:txBody>
                  <a:tcPr marT="45693" marB="45693">
                    <a:solidFill>
                      <a:srgbClr val="FFFF99"/>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89205108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5486400" y="442594"/>
            <a:ext cx="6070862" cy="639763"/>
          </a:xfrm>
        </p:spPr>
        <p:txBody>
          <a:bodyPr anchor="t"/>
          <a:lstStyle/>
          <a:p>
            <a:pPr eaLnBrk="1" hangingPunct="1"/>
            <a:r>
              <a:rPr lang="id-ID" altLang="en-US" sz="3200" b="1" dirty="0">
                <a:solidFill>
                  <a:srgbClr val="C00000"/>
                </a:solidFill>
              </a:rPr>
              <a:t>COMPETITIVE BIDDING PROCESS</a:t>
            </a:r>
            <a:endParaRPr lang="en-US" altLang="en-US" sz="3200" b="1" dirty="0">
              <a:solidFill>
                <a:srgbClr val="C00000"/>
              </a:solidFill>
            </a:endParaRPr>
          </a:p>
        </p:txBody>
      </p:sp>
      <p:pic>
        <p:nvPicPr>
          <p:cNvPr id="6149" name="Picture 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87698" y="72548"/>
            <a:ext cx="5182718" cy="671290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4"/>
          <p:cNvSpPr txBox="1">
            <a:spLocks/>
          </p:cNvSpPr>
          <p:nvPr/>
        </p:nvSpPr>
        <p:spPr bwMode="auto">
          <a:xfrm>
            <a:off x="6553200" y="1261621"/>
            <a:ext cx="5004062"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FF6600"/>
                </a:solidFill>
                <a:latin typeface="Arial" charset="0"/>
              </a:defRPr>
            </a:lvl1pPr>
            <a:lvl2pPr marL="742950" indent="-285750">
              <a:defRPr b="1">
                <a:solidFill>
                  <a:srgbClr val="FF6600"/>
                </a:solidFill>
                <a:latin typeface="Arial" charset="0"/>
              </a:defRPr>
            </a:lvl2pPr>
            <a:lvl3pPr marL="1143000" indent="-228600">
              <a:defRPr b="1">
                <a:solidFill>
                  <a:srgbClr val="FF6600"/>
                </a:solidFill>
                <a:latin typeface="Arial" charset="0"/>
              </a:defRPr>
            </a:lvl3pPr>
            <a:lvl4pPr marL="1600200" indent="-228600">
              <a:defRPr b="1">
                <a:solidFill>
                  <a:srgbClr val="FF6600"/>
                </a:solidFill>
                <a:latin typeface="Arial" charset="0"/>
              </a:defRPr>
            </a:lvl4pPr>
            <a:lvl5pPr marL="2057400" indent="-228600">
              <a:defRPr b="1">
                <a:solidFill>
                  <a:srgbClr val="FF6600"/>
                </a:solidFill>
                <a:latin typeface="Arial" charset="0"/>
              </a:defRPr>
            </a:lvl5pPr>
            <a:lvl6pPr marL="25146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6pPr>
            <a:lvl7pPr marL="29718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7pPr>
            <a:lvl8pPr marL="34290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8pPr>
            <a:lvl9pPr marL="38862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9pPr>
          </a:lstStyle>
          <a:p>
            <a:pPr marL="0" indent="0">
              <a:defRPr/>
            </a:pPr>
            <a:r>
              <a:rPr lang="en-US" sz="2400" kern="0" dirty="0">
                <a:solidFill>
                  <a:schemeClr val="accent5">
                    <a:lumMod val="75000"/>
                  </a:schemeClr>
                </a:solidFill>
              </a:rPr>
              <a:t>12</a:t>
            </a:r>
            <a:r>
              <a:rPr lang="id-ID" sz="2400" kern="0" dirty="0">
                <a:solidFill>
                  <a:schemeClr val="accent5">
                    <a:lumMod val="75000"/>
                  </a:schemeClr>
                </a:solidFill>
              </a:rPr>
              <a:t> – 25 weeks:</a:t>
            </a:r>
          </a:p>
          <a:p>
            <a:pPr marL="444500" indent="-444500">
              <a:buFont typeface="Wingdings" pitchFamily="2" charset="2"/>
              <a:buChar char="v"/>
              <a:defRPr/>
            </a:pPr>
            <a:r>
              <a:rPr lang="id-ID" sz="2400" kern="0" dirty="0">
                <a:solidFill>
                  <a:schemeClr val="accent4">
                    <a:lumMod val="75000"/>
                  </a:schemeClr>
                </a:solidFill>
              </a:rPr>
              <a:t>Pra Qualification</a:t>
            </a:r>
          </a:p>
          <a:p>
            <a:pPr marL="444500" indent="-444500">
              <a:buFont typeface="Wingdings" pitchFamily="2" charset="2"/>
              <a:buChar char="v"/>
              <a:defRPr/>
            </a:pPr>
            <a:r>
              <a:rPr lang="id-ID" sz="2400" kern="0" dirty="0">
                <a:solidFill>
                  <a:schemeClr val="accent4">
                    <a:lumMod val="75000"/>
                  </a:schemeClr>
                </a:solidFill>
              </a:rPr>
              <a:t>CSMS Qualification</a:t>
            </a:r>
          </a:p>
          <a:p>
            <a:pPr marL="444500" indent="-444500">
              <a:buFont typeface="Wingdings" pitchFamily="2" charset="2"/>
              <a:buChar char="v"/>
              <a:defRPr/>
            </a:pPr>
            <a:r>
              <a:rPr lang="id-ID" sz="2400" kern="0" dirty="0">
                <a:solidFill>
                  <a:schemeClr val="accent4">
                    <a:lumMod val="75000"/>
                  </a:schemeClr>
                </a:solidFill>
              </a:rPr>
              <a:t>Legal (Terms and Condition) Clarification</a:t>
            </a:r>
          </a:p>
          <a:p>
            <a:pPr marL="444500" indent="-444500">
              <a:buFont typeface="Wingdings" pitchFamily="2" charset="2"/>
              <a:buChar char="v"/>
              <a:defRPr/>
            </a:pPr>
            <a:r>
              <a:rPr lang="id-ID" sz="2400" kern="0" dirty="0">
                <a:solidFill>
                  <a:schemeClr val="accent5">
                    <a:lumMod val="75000"/>
                  </a:schemeClr>
                </a:solidFill>
              </a:rPr>
              <a:t>Protest Clarification</a:t>
            </a:r>
            <a:endParaRPr lang="en-US" sz="2400" kern="0" dirty="0">
              <a:solidFill>
                <a:schemeClr val="accent5">
                  <a:lumMod val="75000"/>
                </a:schemeClr>
              </a:solidFill>
            </a:endParaRPr>
          </a:p>
          <a:p>
            <a:pPr marL="444500" indent="-444500">
              <a:buFont typeface="Wingdings" pitchFamily="2" charset="2"/>
              <a:buChar char="v"/>
              <a:defRPr/>
            </a:pPr>
            <a:r>
              <a:rPr lang="en-US" sz="2400" kern="0" dirty="0">
                <a:solidFill>
                  <a:schemeClr val="accent5">
                    <a:lumMod val="75000"/>
                  </a:schemeClr>
                </a:solidFill>
              </a:rPr>
              <a:t>Technical Evaluation</a:t>
            </a:r>
          </a:p>
          <a:p>
            <a:pPr marL="444500" indent="-444500">
              <a:buFont typeface="Wingdings" pitchFamily="2" charset="2"/>
              <a:buChar char="v"/>
              <a:defRPr/>
            </a:pPr>
            <a:r>
              <a:rPr lang="en-US" sz="2400" kern="0" dirty="0">
                <a:solidFill>
                  <a:schemeClr val="accent5">
                    <a:lumMod val="75000"/>
                  </a:schemeClr>
                </a:solidFill>
              </a:rPr>
              <a:t>Commercial Evaluation</a:t>
            </a:r>
          </a:p>
          <a:p>
            <a:pPr marL="444500" indent="-444500">
              <a:buFont typeface="Wingdings" pitchFamily="2" charset="2"/>
              <a:buChar char="v"/>
              <a:defRPr/>
            </a:pPr>
            <a:r>
              <a:rPr lang="en-US" sz="2400" kern="0" dirty="0">
                <a:solidFill>
                  <a:schemeClr val="accent5">
                    <a:lumMod val="75000"/>
                  </a:schemeClr>
                </a:solidFill>
              </a:rPr>
              <a:t>Contract Award</a:t>
            </a:r>
            <a:endParaRPr lang="id-ID" sz="2400" kern="0" dirty="0">
              <a:solidFill>
                <a:schemeClr val="accent5">
                  <a:lumMod val="75000"/>
                </a:schemeClr>
              </a:solidFill>
            </a:endParaRPr>
          </a:p>
          <a:p>
            <a:pPr marL="444500" indent="-444500">
              <a:buFont typeface="Wingdings" pitchFamily="2" charset="2"/>
              <a:buChar char="v"/>
              <a:defRPr/>
            </a:pPr>
            <a:r>
              <a:rPr lang="id-ID" sz="2400" kern="0" dirty="0">
                <a:solidFill>
                  <a:schemeClr val="accent5">
                    <a:lumMod val="75000"/>
                  </a:schemeClr>
                </a:solidFill>
              </a:rPr>
              <a:t>Delivery time</a:t>
            </a:r>
          </a:p>
          <a:p>
            <a:pPr marL="444500" indent="-444500">
              <a:buFont typeface="Wingdings" pitchFamily="2" charset="2"/>
              <a:buChar char="v"/>
              <a:defRPr/>
            </a:pPr>
            <a:r>
              <a:rPr lang="id-ID" sz="2400" kern="0" dirty="0">
                <a:solidFill>
                  <a:schemeClr val="accent5">
                    <a:lumMod val="75000"/>
                  </a:schemeClr>
                </a:solidFill>
              </a:rPr>
              <a:t>Rig Up or Installation time</a:t>
            </a:r>
          </a:p>
          <a:p>
            <a:pPr marL="444500" indent="-444500">
              <a:buFont typeface="Wingdings" pitchFamily="2" charset="2"/>
              <a:buChar char="v"/>
              <a:defRPr/>
            </a:pPr>
            <a:r>
              <a:rPr lang="id-ID" sz="2400" kern="0" dirty="0">
                <a:solidFill>
                  <a:schemeClr val="accent5">
                    <a:lumMod val="75000"/>
                  </a:schemeClr>
                </a:solidFill>
              </a:rPr>
              <a:t>Internal Approval </a:t>
            </a:r>
          </a:p>
          <a:p>
            <a:pPr marL="444500" indent="-444500">
              <a:buFont typeface="Wingdings" pitchFamily="2" charset="2"/>
              <a:buChar char="v"/>
              <a:defRPr/>
            </a:pPr>
            <a:r>
              <a:rPr lang="en-US" sz="2400" kern="0" dirty="0">
                <a:solidFill>
                  <a:srgbClr val="FF0000"/>
                </a:solidFill>
              </a:rPr>
              <a:t>Avoid any </a:t>
            </a:r>
            <a:r>
              <a:rPr lang="id-ID" sz="2400" kern="0" dirty="0">
                <a:solidFill>
                  <a:srgbClr val="FF0000"/>
                </a:solidFill>
              </a:rPr>
              <a:t>Conflict of interest</a:t>
            </a:r>
          </a:p>
          <a:p>
            <a:pPr marL="444500" indent="-444500">
              <a:buFont typeface="Wingdings" pitchFamily="2" charset="2"/>
              <a:buChar char="v"/>
              <a:defRPr/>
            </a:pPr>
            <a:endParaRPr lang="id-ID" sz="2400" kern="0" dirty="0">
              <a:solidFill>
                <a:schemeClr val="accent5">
                  <a:lumMod val="75000"/>
                </a:schemeClr>
              </a:solidFill>
            </a:endParaRPr>
          </a:p>
          <a:p>
            <a:pPr>
              <a:buFont typeface="Wingdings" pitchFamily="2" charset="2"/>
              <a:buChar char="v"/>
              <a:defRPr/>
            </a:pPr>
            <a:endParaRPr lang="en-US" sz="2400" kern="0" dirty="0">
              <a:solidFill>
                <a:schemeClr val="accent5">
                  <a:lumMod val="75000"/>
                </a:schemeClr>
              </a:solidFill>
            </a:endParaRPr>
          </a:p>
          <a:p>
            <a:pPr>
              <a:buFont typeface="Wingdings" pitchFamily="2" charset="2"/>
              <a:buChar char="v"/>
              <a:defRPr/>
            </a:pPr>
            <a:endParaRPr lang="id-ID" sz="2400" kern="0" dirty="0">
              <a:solidFill>
                <a:schemeClr val="accent5">
                  <a:lumMod val="75000"/>
                </a:schemeClr>
              </a:solidFill>
            </a:endParaRPr>
          </a:p>
        </p:txBody>
      </p:sp>
    </p:spTree>
    <p:extLst>
      <p:ext uri="{BB962C8B-B14F-4D97-AF65-F5344CB8AC3E}">
        <p14:creationId xmlns:p14="http://schemas.microsoft.com/office/powerpoint/2010/main" val="3142344565"/>
      </p:ext>
    </p:extLst>
  </p:cSld>
  <p:clrMapOvr>
    <a:masterClrMapping/>
  </p:clrMapOvr>
  <p:transition spd="slow"/>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90880" y="474121"/>
            <a:ext cx="10779760" cy="639763"/>
          </a:xfrm>
        </p:spPr>
        <p:txBody>
          <a:bodyPr anchor="t">
            <a:normAutofit/>
          </a:bodyPr>
          <a:lstStyle/>
          <a:p>
            <a:pPr eaLnBrk="1" hangingPunct="1"/>
            <a:r>
              <a:rPr lang="en-US" altLang="en-US" sz="3200" b="1" dirty="0">
                <a:solidFill>
                  <a:srgbClr val="C00000"/>
                </a:solidFill>
              </a:rPr>
              <a:t>Common Type</a:t>
            </a:r>
            <a:r>
              <a:rPr lang="id-ID" altLang="en-US" sz="3200" b="1" dirty="0">
                <a:solidFill>
                  <a:srgbClr val="C00000"/>
                </a:solidFill>
              </a:rPr>
              <a:t> </a:t>
            </a:r>
            <a:r>
              <a:rPr lang="en-US" altLang="en-US" sz="3200" b="1" dirty="0">
                <a:solidFill>
                  <a:srgbClr val="C00000"/>
                </a:solidFill>
              </a:rPr>
              <a:t>of Drilling Procurement Method in Indonesia</a:t>
            </a:r>
          </a:p>
        </p:txBody>
      </p:sp>
      <p:sp>
        <p:nvSpPr>
          <p:cNvPr id="6" name="Content Placeholder 4"/>
          <p:cNvSpPr txBox="1">
            <a:spLocks/>
          </p:cNvSpPr>
          <p:nvPr/>
        </p:nvSpPr>
        <p:spPr bwMode="auto">
          <a:xfrm>
            <a:off x="458769" y="1113884"/>
            <a:ext cx="11126773" cy="536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FF6600"/>
                </a:solidFill>
                <a:latin typeface="Arial" charset="0"/>
              </a:defRPr>
            </a:lvl1pPr>
            <a:lvl2pPr marL="742950" indent="-285750">
              <a:defRPr b="1">
                <a:solidFill>
                  <a:srgbClr val="FF6600"/>
                </a:solidFill>
                <a:latin typeface="Arial" charset="0"/>
              </a:defRPr>
            </a:lvl2pPr>
            <a:lvl3pPr marL="1143000" indent="-228600">
              <a:defRPr b="1">
                <a:solidFill>
                  <a:srgbClr val="FF6600"/>
                </a:solidFill>
                <a:latin typeface="Arial" charset="0"/>
              </a:defRPr>
            </a:lvl3pPr>
            <a:lvl4pPr marL="1600200" indent="-228600">
              <a:defRPr b="1">
                <a:solidFill>
                  <a:srgbClr val="FF6600"/>
                </a:solidFill>
                <a:latin typeface="Arial" charset="0"/>
              </a:defRPr>
            </a:lvl4pPr>
            <a:lvl5pPr marL="2057400" indent="-228600">
              <a:defRPr b="1">
                <a:solidFill>
                  <a:srgbClr val="FF6600"/>
                </a:solidFill>
                <a:latin typeface="Arial" charset="0"/>
              </a:defRPr>
            </a:lvl5pPr>
            <a:lvl6pPr marL="25146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6pPr>
            <a:lvl7pPr marL="29718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7pPr>
            <a:lvl8pPr marL="34290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8pPr>
            <a:lvl9pPr marL="38862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9pPr>
          </a:lstStyle>
          <a:p>
            <a:pPr marL="444500" indent="-444500">
              <a:buFont typeface="Wingdings" pitchFamily="2" charset="2"/>
              <a:buChar char="v"/>
              <a:defRPr/>
            </a:pPr>
            <a:r>
              <a:rPr lang="id-ID" sz="2800" kern="0" dirty="0">
                <a:solidFill>
                  <a:srgbClr val="FFC000"/>
                </a:solidFill>
              </a:rPr>
              <a:t>Individual or </a:t>
            </a:r>
            <a:r>
              <a:rPr lang="en-US" sz="2800" kern="0" dirty="0">
                <a:solidFill>
                  <a:srgbClr val="FFC000"/>
                </a:solidFill>
              </a:rPr>
              <a:t>Discrete Contract</a:t>
            </a:r>
          </a:p>
          <a:p>
            <a:pPr marL="857250" lvl="1" indent="-457200">
              <a:buFont typeface="Wingdings" panose="05000000000000000000" pitchFamily="2" charset="2"/>
              <a:buChar char="§"/>
              <a:defRPr/>
            </a:pPr>
            <a:r>
              <a:rPr lang="en-US" sz="2400" kern="0" dirty="0">
                <a:solidFill>
                  <a:schemeClr val="accent5">
                    <a:lumMod val="75000"/>
                  </a:schemeClr>
                </a:solidFill>
              </a:rPr>
              <a:t>Company has drilling team to do tender process to select each drilling services.</a:t>
            </a:r>
          </a:p>
          <a:p>
            <a:pPr marL="857250" lvl="1" indent="-457200">
              <a:buFont typeface="Wingdings" panose="05000000000000000000" pitchFamily="2" charset="2"/>
              <a:buChar char="§"/>
              <a:defRPr/>
            </a:pPr>
            <a:endParaRPr lang="en-US" sz="2400" kern="0" dirty="0">
              <a:solidFill>
                <a:srgbClr val="99FF99"/>
              </a:solidFill>
            </a:endParaRPr>
          </a:p>
          <a:p>
            <a:pPr marL="444500" indent="-444500">
              <a:buFont typeface="Wingdings" pitchFamily="2" charset="2"/>
              <a:buChar char="v"/>
              <a:defRPr/>
            </a:pPr>
            <a:r>
              <a:rPr lang="id-ID" sz="2800" kern="0" dirty="0">
                <a:solidFill>
                  <a:srgbClr val="FFC000"/>
                </a:solidFill>
              </a:rPr>
              <a:t>Bund</a:t>
            </a:r>
            <a:r>
              <a:rPr lang="en-US" sz="2800" kern="0" dirty="0">
                <a:solidFill>
                  <a:srgbClr val="FFC000"/>
                </a:solidFill>
              </a:rPr>
              <a:t>led</a:t>
            </a:r>
            <a:r>
              <a:rPr lang="id-ID" sz="2800" kern="0" dirty="0">
                <a:solidFill>
                  <a:srgbClr val="FFC000"/>
                </a:solidFill>
              </a:rPr>
              <a:t> Contract</a:t>
            </a:r>
            <a:r>
              <a:rPr lang="en-US" sz="2800" kern="0" dirty="0">
                <a:solidFill>
                  <a:srgbClr val="FFC000"/>
                </a:solidFill>
              </a:rPr>
              <a:t> </a:t>
            </a:r>
            <a:r>
              <a:rPr lang="en-US" sz="2800" kern="0" dirty="0">
                <a:solidFill>
                  <a:srgbClr val="FFC000"/>
                </a:solidFill>
                <a:sym typeface="Wingdings" panose="05000000000000000000" pitchFamily="2" charset="2"/>
              </a:rPr>
              <a:t> Semi IPM</a:t>
            </a:r>
          </a:p>
          <a:p>
            <a:pPr marL="857250" lvl="1" indent="-457200">
              <a:buFont typeface="Wingdings" panose="05000000000000000000" pitchFamily="2" charset="2"/>
              <a:buChar char="§"/>
              <a:defRPr/>
            </a:pPr>
            <a:r>
              <a:rPr lang="en-US" sz="2400" kern="0" dirty="0">
                <a:solidFill>
                  <a:schemeClr val="accent5">
                    <a:lumMod val="75000"/>
                  </a:schemeClr>
                </a:solidFill>
                <a:sym typeface="Wingdings" panose="05000000000000000000" pitchFamily="2" charset="2"/>
              </a:rPr>
              <a:t>Simplified Discrete Contract type by bundling 2 or more drilling services.</a:t>
            </a:r>
          </a:p>
          <a:p>
            <a:pPr marL="857250" lvl="1" indent="-457200">
              <a:buFont typeface="Wingdings" panose="05000000000000000000" pitchFamily="2" charset="2"/>
              <a:buChar char="§"/>
              <a:defRPr/>
            </a:pPr>
            <a:endParaRPr lang="id-ID" sz="2400" kern="0" dirty="0">
              <a:solidFill>
                <a:srgbClr val="99FF99"/>
              </a:solidFill>
            </a:endParaRPr>
          </a:p>
          <a:p>
            <a:pPr marL="444500" indent="-444500">
              <a:buFont typeface="Wingdings" pitchFamily="2" charset="2"/>
              <a:buChar char="v"/>
              <a:defRPr/>
            </a:pPr>
            <a:r>
              <a:rPr lang="id-ID" sz="2800" kern="0" dirty="0">
                <a:solidFill>
                  <a:srgbClr val="FFC000"/>
                </a:solidFill>
              </a:rPr>
              <a:t>Integrated </a:t>
            </a:r>
            <a:r>
              <a:rPr lang="en-US" sz="2800" kern="0" dirty="0">
                <a:solidFill>
                  <a:srgbClr val="FFC000"/>
                </a:solidFill>
              </a:rPr>
              <a:t>Project Management (IPM)</a:t>
            </a:r>
            <a:endParaRPr lang="id-ID" sz="2800" kern="0" dirty="0">
              <a:solidFill>
                <a:srgbClr val="FFC000"/>
              </a:solidFill>
            </a:endParaRPr>
          </a:p>
          <a:p>
            <a:pPr marL="857250" lvl="1" indent="-457200">
              <a:buFont typeface="Wingdings" panose="05000000000000000000" pitchFamily="2" charset="2"/>
              <a:buChar char="§"/>
              <a:defRPr/>
            </a:pPr>
            <a:r>
              <a:rPr lang="en-US" sz="2400" kern="0" dirty="0">
                <a:solidFill>
                  <a:schemeClr val="accent2">
                    <a:lumMod val="75000"/>
                  </a:schemeClr>
                </a:solidFill>
              </a:rPr>
              <a:t>One Contractor do all drilling services with </a:t>
            </a:r>
            <a:r>
              <a:rPr lang="en-US" sz="2400" u="sng" kern="0" dirty="0">
                <a:solidFill>
                  <a:schemeClr val="accent2">
                    <a:lumMod val="75000"/>
                  </a:schemeClr>
                </a:solidFill>
              </a:rPr>
              <a:t>drilling risk at Company</a:t>
            </a:r>
            <a:r>
              <a:rPr lang="en-US" sz="2400" kern="0" dirty="0">
                <a:solidFill>
                  <a:schemeClr val="accent2">
                    <a:lumMod val="75000"/>
                  </a:schemeClr>
                </a:solidFill>
              </a:rPr>
              <a:t>.</a:t>
            </a:r>
          </a:p>
          <a:p>
            <a:pPr marL="857250" lvl="1" indent="-457200">
              <a:buFont typeface="Wingdings" panose="05000000000000000000" pitchFamily="2" charset="2"/>
              <a:buChar char="q"/>
              <a:defRPr/>
            </a:pPr>
            <a:endParaRPr lang="en-US" sz="2400" kern="0" dirty="0">
              <a:solidFill>
                <a:srgbClr val="99FF99"/>
              </a:solidFill>
            </a:endParaRPr>
          </a:p>
          <a:p>
            <a:pPr marL="444500" indent="-444500">
              <a:buFont typeface="Wingdings" pitchFamily="2" charset="2"/>
              <a:buChar char="v"/>
              <a:defRPr/>
            </a:pPr>
            <a:r>
              <a:rPr lang="en-US" sz="2800" kern="0" dirty="0">
                <a:solidFill>
                  <a:srgbClr val="FFC000"/>
                </a:solidFill>
              </a:rPr>
              <a:t>Turnkey Project Contract</a:t>
            </a:r>
          </a:p>
          <a:p>
            <a:pPr marL="857250" lvl="1" indent="-457200">
              <a:buFont typeface="Wingdings" panose="05000000000000000000" pitchFamily="2" charset="2"/>
              <a:buChar char="§"/>
              <a:defRPr/>
            </a:pPr>
            <a:r>
              <a:rPr lang="en-US" sz="2400" kern="0" dirty="0">
                <a:solidFill>
                  <a:srgbClr val="FF0000"/>
                </a:solidFill>
              </a:rPr>
              <a:t>Contractor do all drilling project </a:t>
            </a:r>
            <a:r>
              <a:rPr lang="en-US" sz="2400" u="sng" kern="0" dirty="0">
                <a:solidFill>
                  <a:srgbClr val="FF0000"/>
                </a:solidFill>
              </a:rPr>
              <a:t>(including drilling risk)</a:t>
            </a:r>
            <a:r>
              <a:rPr lang="en-US" sz="2400" kern="0" dirty="0">
                <a:solidFill>
                  <a:srgbClr val="FF0000"/>
                </a:solidFill>
              </a:rPr>
              <a:t> with </a:t>
            </a:r>
            <a:r>
              <a:rPr lang="en-US" sz="2400" kern="0" dirty="0" err="1">
                <a:solidFill>
                  <a:srgbClr val="FF0000"/>
                </a:solidFill>
              </a:rPr>
              <a:t>Lumpsum</a:t>
            </a:r>
            <a:r>
              <a:rPr lang="en-US" sz="2400" kern="0" dirty="0">
                <a:solidFill>
                  <a:srgbClr val="FF0000"/>
                </a:solidFill>
              </a:rPr>
              <a:t> price / well.</a:t>
            </a:r>
          </a:p>
          <a:p>
            <a:pPr marL="0" indent="0">
              <a:defRPr/>
            </a:pPr>
            <a:endParaRPr lang="en-US" sz="2800" kern="0" dirty="0">
              <a:solidFill>
                <a:srgbClr val="FFC000"/>
              </a:solidFill>
            </a:endParaRPr>
          </a:p>
          <a:p>
            <a:pPr>
              <a:buFont typeface="Wingdings" pitchFamily="2" charset="2"/>
              <a:buChar char="v"/>
              <a:defRPr/>
            </a:pPr>
            <a:endParaRPr lang="id-ID" sz="2800" kern="0" dirty="0">
              <a:solidFill>
                <a:srgbClr val="FFC000"/>
              </a:solidFill>
            </a:endParaRPr>
          </a:p>
        </p:txBody>
      </p:sp>
      <p:pic>
        <p:nvPicPr>
          <p:cNvPr id="3" name="Graphic 2" descr="Badge 1 with solid fill">
            <a:extLst>
              <a:ext uri="{FF2B5EF4-FFF2-40B4-BE49-F238E27FC236}">
                <a16:creationId xmlns:a16="http://schemas.microsoft.com/office/drawing/2014/main" id="{0BDE6ACA-74B1-414E-8581-CE2056DEFF9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8925" y="1116926"/>
            <a:ext cx="914400" cy="914400"/>
          </a:xfrm>
          <a:prstGeom prst="rect">
            <a:avLst/>
          </a:prstGeom>
        </p:spPr>
      </p:pic>
      <p:pic>
        <p:nvPicPr>
          <p:cNvPr id="5" name="Graphic 4" descr="Badge with solid fill">
            <a:extLst>
              <a:ext uri="{FF2B5EF4-FFF2-40B4-BE49-F238E27FC236}">
                <a16:creationId xmlns:a16="http://schemas.microsoft.com/office/drawing/2014/main" id="{AF5ADD70-BB14-4F9F-BC6E-AE81B8ABA57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8925" y="2630967"/>
            <a:ext cx="914400" cy="914400"/>
          </a:xfrm>
          <a:prstGeom prst="rect">
            <a:avLst/>
          </a:prstGeom>
        </p:spPr>
      </p:pic>
      <p:pic>
        <p:nvPicPr>
          <p:cNvPr id="8" name="Graphic 7" descr="Badge 3 with solid fill">
            <a:extLst>
              <a:ext uri="{FF2B5EF4-FFF2-40B4-BE49-F238E27FC236}">
                <a16:creationId xmlns:a16="http://schemas.microsoft.com/office/drawing/2014/main" id="{197CB494-F2AE-4C57-8034-0B7FE7E8BB18}"/>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8925" y="4107487"/>
            <a:ext cx="914400" cy="914400"/>
          </a:xfrm>
          <a:prstGeom prst="rect">
            <a:avLst/>
          </a:prstGeom>
        </p:spPr>
      </p:pic>
      <p:pic>
        <p:nvPicPr>
          <p:cNvPr id="10" name="Graphic 9" descr="Badge 4 with solid fill">
            <a:extLst>
              <a:ext uri="{FF2B5EF4-FFF2-40B4-BE49-F238E27FC236}">
                <a16:creationId xmlns:a16="http://schemas.microsoft.com/office/drawing/2014/main" id="{EB906D43-2E06-46CA-B456-27B3D209A01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925" y="5283874"/>
            <a:ext cx="914400" cy="914400"/>
          </a:xfrm>
          <a:prstGeom prst="rect">
            <a:avLst/>
          </a:prstGeom>
        </p:spPr>
      </p:pic>
    </p:spTree>
    <p:extLst>
      <p:ext uri="{BB962C8B-B14F-4D97-AF65-F5344CB8AC3E}">
        <p14:creationId xmlns:p14="http://schemas.microsoft.com/office/powerpoint/2010/main" val="1534653441"/>
      </p:ext>
    </p:extLst>
  </p:cSld>
  <p:clrMapOvr>
    <a:masterClrMapping/>
  </p:clrMapOvr>
  <p:transition spd="slow"/>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143" y="448056"/>
            <a:ext cx="10929257" cy="640080"/>
          </a:xfrm>
        </p:spPr>
        <p:txBody>
          <a:bodyPr>
            <a:normAutofit/>
          </a:bodyPr>
          <a:lstStyle/>
          <a:p>
            <a:r>
              <a:rPr lang="en-US" sz="3600" b="1" dirty="0">
                <a:solidFill>
                  <a:srgbClr val="C00000"/>
                </a:solidFill>
              </a:rPr>
              <a:t>TYPE OF CONTRACT for Procuring Drilling Services </a:t>
            </a:r>
          </a:p>
        </p:txBody>
      </p:sp>
      <p:grpSp>
        <p:nvGrpSpPr>
          <p:cNvPr id="44" name="Group 43"/>
          <p:cNvGrpSpPr/>
          <p:nvPr/>
        </p:nvGrpSpPr>
        <p:grpSpPr>
          <a:xfrm>
            <a:off x="747490" y="2083566"/>
            <a:ext cx="2552700" cy="2743200"/>
            <a:chOff x="1066800" y="2083566"/>
            <a:chExt cx="2552700" cy="2743200"/>
          </a:xfrm>
        </p:grpSpPr>
        <p:sp>
          <p:nvSpPr>
            <p:cNvPr id="5" name="Rectangle 4"/>
            <p:cNvSpPr/>
            <p:nvPr/>
          </p:nvSpPr>
          <p:spPr bwMode="auto">
            <a:xfrm>
              <a:off x="1866900" y="2083566"/>
              <a:ext cx="990600" cy="457200"/>
            </a:xfrm>
            <a:prstGeom prst="rect">
              <a:avLst/>
            </a:prstGeom>
            <a:solidFill>
              <a:srgbClr val="FFFF00">
                <a:alpha val="22000"/>
              </a:srgb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COM</a:t>
              </a:r>
            </a:p>
          </p:txBody>
        </p:sp>
        <p:sp>
          <p:nvSpPr>
            <p:cNvPr id="6" name="Rectangle 5"/>
            <p:cNvSpPr/>
            <p:nvPr/>
          </p:nvSpPr>
          <p:spPr bwMode="auto">
            <a:xfrm>
              <a:off x="1066800" y="4369566"/>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cxnSp>
          <p:nvCxnSpPr>
            <p:cNvPr id="7" name="Straight Arrow Connector 6"/>
            <p:cNvCxnSpPr>
              <a:stCxn id="5" idx="2"/>
              <a:endCxn id="6" idx="0"/>
            </p:cNvCxnSpPr>
            <p:nvPr/>
          </p:nvCxnSpPr>
          <p:spPr bwMode="auto">
            <a:xfrm flipH="1">
              <a:off x="1466850" y="2540766"/>
              <a:ext cx="895350" cy="1828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auto">
            <a:xfrm>
              <a:off x="1943100" y="4369566"/>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sp>
          <p:nvSpPr>
            <p:cNvPr id="9" name="Rectangle 8"/>
            <p:cNvSpPr/>
            <p:nvPr/>
          </p:nvSpPr>
          <p:spPr bwMode="auto">
            <a:xfrm>
              <a:off x="2819400" y="4369566"/>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cxnSp>
          <p:nvCxnSpPr>
            <p:cNvPr id="10" name="Straight Arrow Connector 9"/>
            <p:cNvCxnSpPr>
              <a:stCxn id="5" idx="2"/>
              <a:endCxn id="8" idx="0"/>
            </p:cNvCxnSpPr>
            <p:nvPr/>
          </p:nvCxnSpPr>
          <p:spPr bwMode="auto">
            <a:xfrm flipH="1">
              <a:off x="2343150" y="2540766"/>
              <a:ext cx="19050" cy="1828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2"/>
              <a:endCxn id="9" idx="0"/>
            </p:cNvCxnSpPr>
            <p:nvPr/>
          </p:nvCxnSpPr>
          <p:spPr bwMode="auto">
            <a:xfrm>
              <a:off x="2362200" y="2540766"/>
              <a:ext cx="857250" cy="1828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2" name="Group 6"/>
          <p:cNvGrpSpPr>
            <a:grpSpLocks/>
          </p:cNvGrpSpPr>
          <p:nvPr/>
        </p:nvGrpSpPr>
        <p:grpSpPr bwMode="auto">
          <a:xfrm>
            <a:off x="7367824" y="2083567"/>
            <a:ext cx="2552700" cy="3375025"/>
            <a:chOff x="4191000" y="3102634"/>
            <a:chExt cx="2552700" cy="3374366"/>
          </a:xfrm>
        </p:grpSpPr>
        <p:sp>
          <p:nvSpPr>
            <p:cNvPr id="13" name="Rectangle 12"/>
            <p:cNvSpPr/>
            <p:nvPr/>
          </p:nvSpPr>
          <p:spPr>
            <a:xfrm>
              <a:off x="4591050" y="4495800"/>
              <a:ext cx="1752599" cy="457200"/>
            </a:xfrm>
            <a:prstGeom prst="rect">
              <a:avLst/>
            </a:prstGeom>
            <a:solidFill>
              <a:schemeClr val="accent4">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IPM</a:t>
              </a:r>
            </a:p>
          </p:txBody>
        </p:sp>
        <p:sp>
          <p:nvSpPr>
            <p:cNvPr id="14" name="Rectangle 13"/>
            <p:cNvSpPr/>
            <p:nvPr/>
          </p:nvSpPr>
          <p:spPr>
            <a:xfrm>
              <a:off x="4191000" y="6019800"/>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cxnSp>
          <p:nvCxnSpPr>
            <p:cNvPr id="15" name="Straight Arrow Connector 14"/>
            <p:cNvCxnSpPr>
              <a:stCxn id="13" idx="2"/>
              <a:endCxn id="14" idx="0"/>
            </p:cNvCxnSpPr>
            <p:nvPr/>
          </p:nvCxnSpPr>
          <p:spPr>
            <a:xfrm flipH="1">
              <a:off x="4591050" y="4953298"/>
              <a:ext cx="876300" cy="10665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067300" y="6019800"/>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sp>
          <p:nvSpPr>
            <p:cNvPr id="17" name="Rectangle 16"/>
            <p:cNvSpPr/>
            <p:nvPr/>
          </p:nvSpPr>
          <p:spPr>
            <a:xfrm>
              <a:off x="5943600" y="6019800"/>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cxnSp>
          <p:nvCxnSpPr>
            <p:cNvPr id="18" name="Straight Arrow Connector 17"/>
            <p:cNvCxnSpPr>
              <a:stCxn id="13" idx="2"/>
              <a:endCxn id="16" idx="0"/>
            </p:cNvCxnSpPr>
            <p:nvPr/>
          </p:nvCxnSpPr>
          <p:spPr>
            <a:xfrm>
              <a:off x="5467350" y="4953298"/>
              <a:ext cx="0" cy="10665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3" idx="2"/>
              <a:endCxn id="17" idx="0"/>
            </p:cNvCxnSpPr>
            <p:nvPr/>
          </p:nvCxnSpPr>
          <p:spPr>
            <a:xfrm>
              <a:off x="5467350" y="4953298"/>
              <a:ext cx="876300" cy="10665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4953000" y="3102634"/>
              <a:ext cx="990600" cy="457200"/>
            </a:xfrm>
            <a:prstGeom prst="rect">
              <a:avLst/>
            </a:prstGeom>
            <a:solidFill>
              <a:srgbClr val="FFFF00">
                <a:alpha val="22000"/>
              </a:srgb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COM</a:t>
              </a:r>
            </a:p>
          </p:txBody>
        </p:sp>
        <p:cxnSp>
          <p:nvCxnSpPr>
            <p:cNvPr id="21" name="Straight Arrow Connector 20"/>
            <p:cNvCxnSpPr>
              <a:stCxn id="20" idx="2"/>
              <a:endCxn id="13" idx="0"/>
            </p:cNvCxnSpPr>
            <p:nvPr/>
          </p:nvCxnSpPr>
          <p:spPr>
            <a:xfrm>
              <a:off x="5448300" y="3559745"/>
              <a:ext cx="19050" cy="9364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2" name="Group 7"/>
          <p:cNvGrpSpPr>
            <a:grpSpLocks/>
          </p:cNvGrpSpPr>
          <p:nvPr/>
        </p:nvGrpSpPr>
        <p:grpSpPr bwMode="auto">
          <a:xfrm>
            <a:off x="4042234" y="2083567"/>
            <a:ext cx="2552700" cy="4259263"/>
            <a:chOff x="2497986" y="2438400"/>
            <a:chExt cx="2552700" cy="4259317"/>
          </a:xfrm>
        </p:grpSpPr>
        <p:grpSp>
          <p:nvGrpSpPr>
            <p:cNvPr id="23" name="Group 30"/>
            <p:cNvGrpSpPr>
              <a:grpSpLocks/>
            </p:cNvGrpSpPr>
            <p:nvPr/>
          </p:nvGrpSpPr>
          <p:grpSpPr bwMode="auto">
            <a:xfrm>
              <a:off x="2497987" y="2438400"/>
              <a:ext cx="2552699" cy="2743200"/>
              <a:chOff x="572295" y="3124200"/>
              <a:chExt cx="2552699" cy="2743200"/>
            </a:xfrm>
          </p:grpSpPr>
          <p:sp>
            <p:nvSpPr>
              <p:cNvPr id="31" name="Rectangle 30"/>
              <p:cNvSpPr/>
              <p:nvPr/>
            </p:nvSpPr>
            <p:spPr>
              <a:xfrm>
                <a:off x="1371600" y="3124200"/>
                <a:ext cx="990600" cy="457200"/>
              </a:xfrm>
              <a:prstGeom prst="rect">
                <a:avLst/>
              </a:prstGeom>
              <a:solidFill>
                <a:srgbClr val="FFFF00">
                  <a:alpha val="22000"/>
                </a:srgb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COM</a:t>
                </a:r>
              </a:p>
            </p:txBody>
          </p:sp>
          <p:sp>
            <p:nvSpPr>
              <p:cNvPr id="32" name="Rectangle 31"/>
              <p:cNvSpPr/>
              <p:nvPr/>
            </p:nvSpPr>
            <p:spPr>
              <a:xfrm>
                <a:off x="572295" y="5410200"/>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cxnSp>
            <p:nvCxnSpPr>
              <p:cNvPr id="33" name="Straight Arrow Connector 32"/>
              <p:cNvCxnSpPr>
                <a:stCxn id="31" idx="2"/>
                <a:endCxn id="32" idx="0"/>
              </p:cNvCxnSpPr>
              <p:nvPr/>
            </p:nvCxnSpPr>
            <p:spPr>
              <a:xfrm flipH="1">
                <a:off x="972344" y="3581406"/>
                <a:ext cx="893763" cy="18288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448595" y="5410200"/>
                <a:ext cx="800100" cy="457200"/>
              </a:xfrm>
              <a:prstGeom prst="rect">
                <a:avLst/>
              </a:prstGeom>
              <a:solidFill>
                <a:srgbClr val="92D050">
                  <a:alpha val="22000"/>
                </a:srgb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b="1" dirty="0">
                    <a:solidFill>
                      <a:schemeClr val="accent5">
                        <a:lumMod val="50000"/>
                      </a:schemeClr>
                    </a:solidFill>
                  </a:rPr>
                  <a:t>IDS</a:t>
                </a:r>
                <a:endParaRPr lang="id-ID" b="1" dirty="0">
                  <a:solidFill>
                    <a:schemeClr val="accent5">
                      <a:lumMod val="50000"/>
                    </a:schemeClr>
                  </a:solidFill>
                </a:endParaRPr>
              </a:p>
            </p:txBody>
          </p:sp>
          <p:sp>
            <p:nvSpPr>
              <p:cNvPr id="35" name="Rectangle 34"/>
              <p:cNvSpPr/>
              <p:nvPr/>
            </p:nvSpPr>
            <p:spPr>
              <a:xfrm>
                <a:off x="2324894" y="5410200"/>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b="1" dirty="0">
                    <a:solidFill>
                      <a:schemeClr val="accent5">
                        <a:lumMod val="50000"/>
                      </a:schemeClr>
                    </a:solidFill>
                  </a:rPr>
                  <a:t>CON</a:t>
                </a:r>
                <a:endParaRPr lang="id-ID" b="1" dirty="0">
                  <a:solidFill>
                    <a:schemeClr val="accent5">
                      <a:lumMod val="50000"/>
                    </a:schemeClr>
                  </a:solidFill>
                </a:endParaRPr>
              </a:p>
            </p:txBody>
          </p:sp>
          <p:cxnSp>
            <p:nvCxnSpPr>
              <p:cNvPr id="36" name="Straight Arrow Connector 35"/>
              <p:cNvCxnSpPr>
                <a:stCxn id="31" idx="2"/>
                <a:endCxn id="34" idx="0"/>
              </p:cNvCxnSpPr>
              <p:nvPr/>
            </p:nvCxnSpPr>
            <p:spPr>
              <a:xfrm flipH="1">
                <a:off x="1848644" y="3581406"/>
                <a:ext cx="17463" cy="18288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1" idx="2"/>
                <a:endCxn id="35" idx="0"/>
              </p:cNvCxnSpPr>
              <p:nvPr/>
            </p:nvCxnSpPr>
            <p:spPr>
              <a:xfrm>
                <a:off x="1867694" y="3581406"/>
                <a:ext cx="857250" cy="18288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4" name="Group 31"/>
            <p:cNvGrpSpPr>
              <a:grpSpLocks/>
            </p:cNvGrpSpPr>
            <p:nvPr/>
          </p:nvGrpSpPr>
          <p:grpSpPr bwMode="auto">
            <a:xfrm>
              <a:off x="2497986" y="5173698"/>
              <a:ext cx="2552698" cy="1524019"/>
              <a:chOff x="4092603" y="4953279"/>
              <a:chExt cx="2552698" cy="1523721"/>
            </a:xfrm>
          </p:grpSpPr>
          <p:sp>
            <p:nvSpPr>
              <p:cNvPr id="25" name="Rectangle 24"/>
              <p:cNvSpPr/>
              <p:nvPr/>
            </p:nvSpPr>
            <p:spPr>
              <a:xfrm>
                <a:off x="4092603" y="6019800"/>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cxnSp>
            <p:nvCxnSpPr>
              <p:cNvPr id="26" name="Straight Arrow Connector 25"/>
              <p:cNvCxnSpPr>
                <a:endCxn id="25" idx="0"/>
              </p:cNvCxnSpPr>
              <p:nvPr/>
            </p:nvCxnSpPr>
            <p:spPr>
              <a:xfrm flipH="1">
                <a:off x="4492653" y="4953279"/>
                <a:ext cx="876300" cy="1066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4968903" y="6019800"/>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sp>
            <p:nvSpPr>
              <p:cNvPr id="28" name="Rectangle 27"/>
              <p:cNvSpPr/>
              <p:nvPr/>
            </p:nvSpPr>
            <p:spPr>
              <a:xfrm>
                <a:off x="5845201" y="6019800"/>
                <a:ext cx="800100" cy="457200"/>
              </a:xfrm>
              <a:prstGeom prst="rect">
                <a:avLst/>
              </a:prstGeom>
              <a:solidFill>
                <a:schemeClr val="accent5">
                  <a:lumMod val="75000"/>
                  <a:alpha val="22000"/>
                </a:schemeClr>
              </a:solidFill>
              <a:effectLst>
                <a:outerShdw blurRad="76200" dist="12700" dir="8100000" sy="-23000" kx="800400" algn="br" rotWithShape="0">
                  <a:prstClr val="black">
                    <a:alpha val="20000"/>
                  </a:prst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d-ID" b="1" dirty="0">
                    <a:solidFill>
                      <a:schemeClr val="accent5">
                        <a:lumMod val="50000"/>
                      </a:schemeClr>
                    </a:solidFill>
                  </a:rPr>
                  <a:t>CON</a:t>
                </a:r>
              </a:p>
            </p:txBody>
          </p:sp>
          <p:cxnSp>
            <p:nvCxnSpPr>
              <p:cNvPr id="29" name="Straight Arrow Connector 28"/>
              <p:cNvCxnSpPr>
                <a:endCxn id="27" idx="0"/>
              </p:cNvCxnSpPr>
              <p:nvPr/>
            </p:nvCxnSpPr>
            <p:spPr>
              <a:xfrm>
                <a:off x="5368953" y="4953279"/>
                <a:ext cx="0" cy="1066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28" idx="0"/>
              </p:cNvCxnSpPr>
              <p:nvPr/>
            </p:nvCxnSpPr>
            <p:spPr>
              <a:xfrm>
                <a:off x="5368953" y="4953279"/>
                <a:ext cx="876300" cy="1066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grpSp>
        <p:nvGrpSpPr>
          <p:cNvPr id="38" name="Group 8"/>
          <p:cNvGrpSpPr>
            <a:grpSpLocks/>
          </p:cNvGrpSpPr>
          <p:nvPr/>
        </p:nvGrpSpPr>
        <p:grpSpPr bwMode="auto">
          <a:xfrm>
            <a:off x="1356296" y="1299392"/>
            <a:ext cx="8286516" cy="472301"/>
            <a:chOff x="648181" y="1752599"/>
            <a:chExt cx="6858683" cy="471999"/>
          </a:xfrm>
          <a:solidFill>
            <a:srgbClr val="FFFF00"/>
          </a:solidFill>
        </p:grpSpPr>
        <p:sp>
          <p:nvSpPr>
            <p:cNvPr id="39" name="TextBox 7"/>
            <p:cNvSpPr txBox="1">
              <a:spLocks noChangeArrowheads="1"/>
            </p:cNvSpPr>
            <p:nvPr/>
          </p:nvSpPr>
          <p:spPr bwMode="auto">
            <a:xfrm>
              <a:off x="648181" y="1752600"/>
              <a:ext cx="1000667" cy="46137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accent5">
                      <a:lumMod val="50000"/>
                    </a:schemeClr>
                  </a:solidFill>
                  <a:latin typeface="Times New Roman" panose="02020603050405020304" pitchFamily="18" charset="0"/>
                  <a:cs typeface="Arial" panose="020B0604020202020204" pitchFamily="34" charset="0"/>
                </a:rPr>
                <a:t>Discrete</a:t>
              </a:r>
            </a:p>
          </p:txBody>
        </p:sp>
        <p:sp>
          <p:nvSpPr>
            <p:cNvPr id="40" name="TextBox 46"/>
            <p:cNvSpPr txBox="1">
              <a:spLocks noChangeArrowheads="1"/>
            </p:cNvSpPr>
            <p:nvPr/>
          </p:nvSpPr>
          <p:spPr bwMode="auto">
            <a:xfrm>
              <a:off x="3468156" y="1763228"/>
              <a:ext cx="1015262" cy="46137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dirty="0">
                  <a:solidFill>
                    <a:schemeClr val="accent5">
                      <a:lumMod val="50000"/>
                    </a:schemeClr>
                  </a:solidFill>
                  <a:latin typeface="Times New Roman" panose="02020603050405020304" pitchFamily="18" charset="0"/>
                  <a:cs typeface="Arial" panose="020B0604020202020204" pitchFamily="34" charset="0"/>
                </a:rPr>
                <a:t>Bundled</a:t>
              </a:r>
            </a:p>
          </p:txBody>
        </p:sp>
        <p:sp>
          <p:nvSpPr>
            <p:cNvPr id="41" name="TextBox 47"/>
            <p:cNvSpPr txBox="1">
              <a:spLocks noChangeArrowheads="1"/>
            </p:cNvSpPr>
            <p:nvPr/>
          </p:nvSpPr>
          <p:spPr bwMode="auto">
            <a:xfrm>
              <a:off x="5853733" y="1752599"/>
              <a:ext cx="1653131" cy="46137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a:solidFill>
                    <a:schemeClr val="accent5">
                      <a:lumMod val="50000"/>
                    </a:schemeClr>
                  </a:solidFill>
                  <a:latin typeface="Times New Roman" panose="02020603050405020304" pitchFamily="18" charset="0"/>
                  <a:cs typeface="Arial" panose="020B0604020202020204" pitchFamily="34" charset="0"/>
                </a:rPr>
                <a:t>IPM / Turnkey</a:t>
              </a:r>
            </a:p>
          </p:txBody>
        </p:sp>
      </p:grpSp>
      <p:sp>
        <p:nvSpPr>
          <p:cNvPr id="42" name="TextBox 48"/>
          <p:cNvSpPr txBox="1">
            <a:spLocks noChangeArrowheads="1"/>
          </p:cNvSpPr>
          <p:nvPr/>
        </p:nvSpPr>
        <p:spPr bwMode="auto">
          <a:xfrm>
            <a:off x="172021" y="5347287"/>
            <a:ext cx="372409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pPr>
            <a:r>
              <a:rPr lang="en-US" altLang="en-US" sz="1800" b="1" dirty="0">
                <a:solidFill>
                  <a:schemeClr val="accent5">
                    <a:lumMod val="50000"/>
                  </a:schemeClr>
                </a:solidFill>
                <a:latin typeface="Times New Roman" panose="02020603050405020304" pitchFamily="18" charset="0"/>
                <a:cs typeface="Arial" panose="020B0604020202020204" pitchFamily="34" charset="0"/>
              </a:rPr>
              <a:t>COM: Company</a:t>
            </a:r>
          </a:p>
          <a:p>
            <a:pPr eaLnBrk="1" hangingPunct="1">
              <a:spcBef>
                <a:spcPct val="0"/>
              </a:spcBef>
            </a:pPr>
            <a:r>
              <a:rPr lang="en-US" altLang="en-US" sz="1800" b="1" dirty="0">
                <a:solidFill>
                  <a:schemeClr val="accent5">
                    <a:lumMod val="50000"/>
                  </a:schemeClr>
                </a:solidFill>
                <a:latin typeface="Times New Roman" panose="02020603050405020304" pitchFamily="18" charset="0"/>
                <a:cs typeface="Arial" panose="020B0604020202020204" pitchFamily="34" charset="0"/>
              </a:rPr>
              <a:t>CON: Contractor</a:t>
            </a:r>
          </a:p>
          <a:p>
            <a:pPr eaLnBrk="1" hangingPunct="1">
              <a:spcBef>
                <a:spcPct val="0"/>
              </a:spcBef>
            </a:pPr>
            <a:r>
              <a:rPr lang="en-US" altLang="en-US" sz="1800" b="1" dirty="0">
                <a:solidFill>
                  <a:schemeClr val="accent5">
                    <a:lumMod val="50000"/>
                  </a:schemeClr>
                </a:solidFill>
                <a:latin typeface="Times New Roman" panose="02020603050405020304" pitchFamily="18" charset="0"/>
                <a:cs typeface="Arial" panose="020B0604020202020204" pitchFamily="34" charset="0"/>
              </a:rPr>
              <a:t>IDS: Integrated Drilling Services</a:t>
            </a:r>
          </a:p>
        </p:txBody>
      </p:sp>
      <p:pic>
        <p:nvPicPr>
          <p:cNvPr id="46" name="Picture 4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038686" y="3858544"/>
            <a:ext cx="1780622" cy="1780622"/>
          </a:xfrm>
          <a:prstGeom prst="rect">
            <a:avLst/>
          </a:prstGeom>
        </p:spPr>
      </p:pic>
      <p:pic>
        <p:nvPicPr>
          <p:cNvPr id="47" name="Picture 4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038686" y="1299392"/>
            <a:ext cx="1796716" cy="2357805"/>
          </a:xfrm>
          <a:prstGeom prst="rect">
            <a:avLst/>
          </a:prstGeom>
        </p:spPr>
      </p:pic>
    </p:spTree>
    <p:extLst>
      <p:ext uri="{BB962C8B-B14F-4D97-AF65-F5344CB8AC3E}">
        <p14:creationId xmlns:p14="http://schemas.microsoft.com/office/powerpoint/2010/main" val="377577411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50">
            <a:extLst>
              <a:ext uri="{FF2B5EF4-FFF2-40B4-BE49-F238E27FC236}">
                <a16:creationId xmlns:a16="http://schemas.microsoft.com/office/drawing/2014/main" id="{AB424F36-D3F4-497F-872B-797500EEB5B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265860" y="4159343"/>
            <a:ext cx="9609007" cy="2676643"/>
          </a:xfrm>
          <a:prstGeom prst="rect">
            <a:avLst/>
          </a:prstGeom>
          <a:effectLst>
            <a:glow rad="952500">
              <a:srgbClr val="FFCC00">
                <a:alpha val="19000"/>
              </a:srgbClr>
            </a:glow>
          </a:effectLst>
        </p:spPr>
      </p:pic>
      <p:sp>
        <p:nvSpPr>
          <p:cNvPr id="2" name="Title 1">
            <a:extLst>
              <a:ext uri="{FF2B5EF4-FFF2-40B4-BE49-F238E27FC236}">
                <a16:creationId xmlns:a16="http://schemas.microsoft.com/office/drawing/2014/main" id="{69E96C36-4B20-4555-A066-282DCBA9E9B1}"/>
              </a:ext>
            </a:extLst>
          </p:cNvPr>
          <p:cNvSpPr>
            <a:spLocks noGrp="1"/>
          </p:cNvSpPr>
          <p:nvPr>
            <p:ph type="title"/>
          </p:nvPr>
        </p:nvSpPr>
        <p:spPr>
          <a:xfrm>
            <a:off x="521207" y="448056"/>
            <a:ext cx="10949433" cy="640080"/>
          </a:xfrm>
        </p:spPr>
        <p:txBody>
          <a:bodyPr>
            <a:normAutofit/>
          </a:bodyPr>
          <a:lstStyle/>
          <a:p>
            <a:r>
              <a:rPr lang="en-US" sz="3600" b="1" dirty="0">
                <a:solidFill>
                  <a:srgbClr val="C00000"/>
                </a:solidFill>
              </a:rPr>
              <a:t>Common in our mindset of Non DRILLER</a:t>
            </a:r>
            <a:endParaRPr lang="en-ID" sz="3600" b="1" dirty="0">
              <a:solidFill>
                <a:srgbClr val="C00000"/>
              </a:solidFill>
            </a:endParaRPr>
          </a:p>
        </p:txBody>
      </p:sp>
      <p:pic>
        <p:nvPicPr>
          <p:cNvPr id="4" name="Picture 3">
            <a:extLst>
              <a:ext uri="{FF2B5EF4-FFF2-40B4-BE49-F238E27FC236}">
                <a16:creationId xmlns:a16="http://schemas.microsoft.com/office/drawing/2014/main" id="{C3FB9573-9FC1-4C76-9689-90AD6F9D28C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71535" y="32189"/>
            <a:ext cx="1077936" cy="1118870"/>
          </a:xfrm>
          <a:prstGeom prst="rect">
            <a:avLst/>
          </a:prstGeom>
        </p:spPr>
      </p:pic>
      <p:pic>
        <p:nvPicPr>
          <p:cNvPr id="5" name="Picture 4">
            <a:extLst>
              <a:ext uri="{FF2B5EF4-FFF2-40B4-BE49-F238E27FC236}">
                <a16:creationId xmlns:a16="http://schemas.microsoft.com/office/drawing/2014/main" id="{2EDE379C-01DC-4BAF-8F7D-D67E166F693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218916" y="43183"/>
            <a:ext cx="1077936" cy="1119540"/>
          </a:xfrm>
          <a:prstGeom prst="rect">
            <a:avLst/>
          </a:prstGeom>
        </p:spPr>
      </p:pic>
      <p:pic>
        <p:nvPicPr>
          <p:cNvPr id="7" name="Graphic 6" descr="Alarm clock outline">
            <a:extLst>
              <a:ext uri="{FF2B5EF4-FFF2-40B4-BE49-F238E27FC236}">
                <a16:creationId xmlns:a16="http://schemas.microsoft.com/office/drawing/2014/main" id="{02A7605F-84DA-4B4D-9FEC-93E048229D2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78201" y="2470264"/>
            <a:ext cx="914400" cy="914400"/>
          </a:xfrm>
          <a:prstGeom prst="rect">
            <a:avLst/>
          </a:prstGeom>
        </p:spPr>
      </p:pic>
      <p:sp>
        <p:nvSpPr>
          <p:cNvPr id="8" name="TextBox 7">
            <a:extLst>
              <a:ext uri="{FF2B5EF4-FFF2-40B4-BE49-F238E27FC236}">
                <a16:creationId xmlns:a16="http://schemas.microsoft.com/office/drawing/2014/main" id="{82FBD505-7D3F-4957-90BC-F3FF6F416C9B}"/>
              </a:ext>
            </a:extLst>
          </p:cNvPr>
          <p:cNvSpPr txBox="1"/>
          <p:nvPr/>
        </p:nvSpPr>
        <p:spPr>
          <a:xfrm>
            <a:off x="238856" y="1124074"/>
            <a:ext cx="1743234"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Discrete</a:t>
            </a:r>
          </a:p>
          <a:p>
            <a:pPr marL="285750" indent="-285750">
              <a:buFont typeface="Arial" panose="020B0604020202020204" pitchFamily="34" charset="0"/>
              <a:buChar char="•"/>
            </a:pPr>
            <a:r>
              <a:rPr lang="en-US" sz="2800" dirty="0"/>
              <a:t>Bundle</a:t>
            </a:r>
            <a:endParaRPr lang="en-ID" sz="2800" dirty="0"/>
          </a:p>
        </p:txBody>
      </p:sp>
      <p:sp>
        <p:nvSpPr>
          <p:cNvPr id="9" name="TextBox 8">
            <a:extLst>
              <a:ext uri="{FF2B5EF4-FFF2-40B4-BE49-F238E27FC236}">
                <a16:creationId xmlns:a16="http://schemas.microsoft.com/office/drawing/2014/main" id="{02428A4A-FE4B-4953-9D47-7F7A41135B89}"/>
              </a:ext>
            </a:extLst>
          </p:cNvPr>
          <p:cNvSpPr txBox="1"/>
          <p:nvPr/>
        </p:nvSpPr>
        <p:spPr>
          <a:xfrm>
            <a:off x="9722340" y="1176325"/>
            <a:ext cx="2230804"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Semi IPM</a:t>
            </a:r>
          </a:p>
          <a:p>
            <a:pPr marL="285750" indent="-285750">
              <a:buFont typeface="Arial" panose="020B0604020202020204" pitchFamily="34" charset="0"/>
              <a:buChar char="•"/>
            </a:pPr>
            <a:r>
              <a:rPr lang="en-US" sz="2400" dirty="0"/>
              <a:t>IPM, </a:t>
            </a:r>
            <a:r>
              <a:rPr lang="en-US" sz="2400" dirty="0" err="1"/>
              <a:t>TurnKey</a:t>
            </a:r>
            <a:endParaRPr lang="en-ID" sz="2400" dirty="0"/>
          </a:p>
        </p:txBody>
      </p:sp>
      <p:pic>
        <p:nvPicPr>
          <p:cNvPr id="11" name="Graphic 10" descr="Boardroom outline">
            <a:extLst>
              <a:ext uri="{FF2B5EF4-FFF2-40B4-BE49-F238E27FC236}">
                <a16:creationId xmlns:a16="http://schemas.microsoft.com/office/drawing/2014/main" id="{56EBA165-DA45-4A14-9F55-9E43483DD95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05543" y="3140678"/>
            <a:ext cx="914400" cy="914400"/>
          </a:xfrm>
          <a:prstGeom prst="rect">
            <a:avLst/>
          </a:prstGeom>
        </p:spPr>
      </p:pic>
      <p:pic>
        <p:nvPicPr>
          <p:cNvPr id="13" name="Graphic 12" descr="Books outline">
            <a:extLst>
              <a:ext uri="{FF2B5EF4-FFF2-40B4-BE49-F238E27FC236}">
                <a16:creationId xmlns:a16="http://schemas.microsoft.com/office/drawing/2014/main" id="{53E4EAF4-F5E8-4D3B-A83B-ED51B952F549}"/>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32885" y="3970865"/>
            <a:ext cx="914400" cy="914400"/>
          </a:xfrm>
          <a:prstGeom prst="rect">
            <a:avLst/>
          </a:prstGeom>
        </p:spPr>
      </p:pic>
      <p:pic>
        <p:nvPicPr>
          <p:cNvPr id="15" name="Graphic 14" descr="Calculator outline">
            <a:extLst>
              <a:ext uri="{FF2B5EF4-FFF2-40B4-BE49-F238E27FC236}">
                <a16:creationId xmlns:a16="http://schemas.microsoft.com/office/drawing/2014/main" id="{5D2EABD3-42AE-48D0-8F81-C1AB62BF6D6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1652" y="5579752"/>
            <a:ext cx="914400" cy="914400"/>
          </a:xfrm>
          <a:prstGeom prst="rect">
            <a:avLst/>
          </a:prstGeom>
        </p:spPr>
      </p:pic>
      <p:pic>
        <p:nvPicPr>
          <p:cNvPr id="17" name="Graphic 16" descr="Camera with solid fill">
            <a:extLst>
              <a:ext uri="{FF2B5EF4-FFF2-40B4-BE49-F238E27FC236}">
                <a16:creationId xmlns:a16="http://schemas.microsoft.com/office/drawing/2014/main" id="{255E904E-6848-4F3B-8693-4EE1240FF4C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60227" y="4746758"/>
            <a:ext cx="914400" cy="914400"/>
          </a:xfrm>
          <a:prstGeom prst="rect">
            <a:avLst/>
          </a:prstGeom>
        </p:spPr>
      </p:pic>
      <p:pic>
        <p:nvPicPr>
          <p:cNvPr id="21" name="Graphic 20" descr="Comment Dislike outline">
            <a:extLst>
              <a:ext uri="{FF2B5EF4-FFF2-40B4-BE49-F238E27FC236}">
                <a16:creationId xmlns:a16="http://schemas.microsoft.com/office/drawing/2014/main" id="{B7D04D45-3297-452B-90A7-6B096220E62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8933189" y="1149092"/>
            <a:ext cx="914400" cy="914400"/>
          </a:xfrm>
          <a:prstGeom prst="rect">
            <a:avLst/>
          </a:prstGeom>
        </p:spPr>
      </p:pic>
      <p:pic>
        <p:nvPicPr>
          <p:cNvPr id="23" name="Graphic 22" descr="Comment Like outline">
            <a:extLst>
              <a:ext uri="{FF2B5EF4-FFF2-40B4-BE49-F238E27FC236}">
                <a16:creationId xmlns:a16="http://schemas.microsoft.com/office/drawing/2014/main" id="{2AE1D2EB-8303-4978-A200-8DC297E1B007}"/>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875544" y="1149092"/>
            <a:ext cx="914400" cy="914400"/>
          </a:xfrm>
          <a:prstGeom prst="rect">
            <a:avLst/>
          </a:prstGeom>
        </p:spPr>
      </p:pic>
      <p:pic>
        <p:nvPicPr>
          <p:cNvPr id="25" name="Graphic 24" descr="Competition with solid fill">
            <a:extLst>
              <a:ext uri="{FF2B5EF4-FFF2-40B4-BE49-F238E27FC236}">
                <a16:creationId xmlns:a16="http://schemas.microsoft.com/office/drawing/2014/main" id="{8D2BDAD9-F25A-4BE1-AB4B-BFC13F95403F}"/>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1078293" y="2046604"/>
            <a:ext cx="914400" cy="914400"/>
          </a:xfrm>
          <a:prstGeom prst="rect">
            <a:avLst/>
          </a:prstGeom>
        </p:spPr>
      </p:pic>
      <p:pic>
        <p:nvPicPr>
          <p:cNvPr id="27" name="Graphic 26" descr="Cycle with people with solid fill">
            <a:extLst>
              <a:ext uri="{FF2B5EF4-FFF2-40B4-BE49-F238E27FC236}">
                <a16:creationId xmlns:a16="http://schemas.microsoft.com/office/drawing/2014/main" id="{F7E412D6-FB37-4120-AF53-4A0BD9B04EEB}"/>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1099399" y="2837183"/>
            <a:ext cx="914400" cy="914400"/>
          </a:xfrm>
          <a:prstGeom prst="rect">
            <a:avLst/>
          </a:prstGeom>
        </p:spPr>
      </p:pic>
      <p:sp>
        <p:nvSpPr>
          <p:cNvPr id="28" name="TextBox 27">
            <a:extLst>
              <a:ext uri="{FF2B5EF4-FFF2-40B4-BE49-F238E27FC236}">
                <a16:creationId xmlns:a16="http://schemas.microsoft.com/office/drawing/2014/main" id="{2C182E18-6E4C-4ADF-BE28-E9ACBAB134DF}"/>
              </a:ext>
            </a:extLst>
          </p:cNvPr>
          <p:cNvSpPr txBox="1"/>
          <p:nvPr/>
        </p:nvSpPr>
        <p:spPr>
          <a:xfrm>
            <a:off x="1147285" y="2700369"/>
            <a:ext cx="2516715" cy="461665"/>
          </a:xfrm>
          <a:prstGeom prst="rect">
            <a:avLst/>
          </a:prstGeom>
          <a:noFill/>
        </p:spPr>
        <p:txBody>
          <a:bodyPr wrap="none" rtlCol="0">
            <a:spAutoFit/>
          </a:bodyPr>
          <a:lstStyle/>
          <a:p>
            <a:r>
              <a:rPr lang="en-US" sz="2400" dirty="0"/>
              <a:t>Take longer time </a:t>
            </a:r>
            <a:endParaRPr lang="en-ID" sz="2400" dirty="0"/>
          </a:p>
        </p:txBody>
      </p:sp>
      <p:sp>
        <p:nvSpPr>
          <p:cNvPr id="29" name="TextBox 28">
            <a:extLst>
              <a:ext uri="{FF2B5EF4-FFF2-40B4-BE49-F238E27FC236}">
                <a16:creationId xmlns:a16="http://schemas.microsoft.com/office/drawing/2014/main" id="{EC3AA979-9968-41EC-A118-8DB62100E283}"/>
              </a:ext>
            </a:extLst>
          </p:cNvPr>
          <p:cNvSpPr txBox="1"/>
          <p:nvPr/>
        </p:nvSpPr>
        <p:spPr>
          <a:xfrm>
            <a:off x="1174627" y="3339128"/>
            <a:ext cx="3879203" cy="461665"/>
          </a:xfrm>
          <a:prstGeom prst="rect">
            <a:avLst/>
          </a:prstGeom>
          <a:noFill/>
        </p:spPr>
        <p:txBody>
          <a:bodyPr wrap="none" rtlCol="0">
            <a:spAutoFit/>
          </a:bodyPr>
          <a:lstStyle/>
          <a:p>
            <a:r>
              <a:rPr lang="en-US" sz="2400" dirty="0"/>
              <a:t>More man hours, resources</a:t>
            </a:r>
            <a:endParaRPr lang="en-ID" sz="2400" dirty="0"/>
          </a:p>
        </p:txBody>
      </p:sp>
      <p:sp>
        <p:nvSpPr>
          <p:cNvPr id="30" name="TextBox 29">
            <a:extLst>
              <a:ext uri="{FF2B5EF4-FFF2-40B4-BE49-F238E27FC236}">
                <a16:creationId xmlns:a16="http://schemas.microsoft.com/office/drawing/2014/main" id="{20ADCA07-A079-4B4B-A98A-EC36B3D73D1A}"/>
              </a:ext>
            </a:extLst>
          </p:cNvPr>
          <p:cNvSpPr txBox="1"/>
          <p:nvPr/>
        </p:nvSpPr>
        <p:spPr>
          <a:xfrm>
            <a:off x="1174627" y="4116635"/>
            <a:ext cx="2716513" cy="461665"/>
          </a:xfrm>
          <a:prstGeom prst="rect">
            <a:avLst/>
          </a:prstGeom>
          <a:noFill/>
        </p:spPr>
        <p:txBody>
          <a:bodyPr wrap="none" rtlCol="0">
            <a:spAutoFit/>
          </a:bodyPr>
          <a:lstStyle/>
          <a:p>
            <a:r>
              <a:rPr lang="en-US" sz="2400" dirty="0"/>
              <a:t>Lot of paper works</a:t>
            </a:r>
            <a:endParaRPr lang="en-ID" sz="2400" dirty="0"/>
          </a:p>
        </p:txBody>
      </p:sp>
      <p:sp>
        <p:nvSpPr>
          <p:cNvPr id="31" name="TextBox 30">
            <a:extLst>
              <a:ext uri="{FF2B5EF4-FFF2-40B4-BE49-F238E27FC236}">
                <a16:creationId xmlns:a16="http://schemas.microsoft.com/office/drawing/2014/main" id="{5A8032C1-5846-4280-B25F-EB9C71AE62BC}"/>
              </a:ext>
            </a:extLst>
          </p:cNvPr>
          <p:cNvSpPr txBox="1"/>
          <p:nvPr/>
        </p:nvSpPr>
        <p:spPr>
          <a:xfrm>
            <a:off x="1119943" y="4945366"/>
            <a:ext cx="3659913" cy="461665"/>
          </a:xfrm>
          <a:prstGeom prst="rect">
            <a:avLst/>
          </a:prstGeom>
          <a:noFill/>
        </p:spPr>
        <p:txBody>
          <a:bodyPr wrap="none" rtlCol="0">
            <a:spAutoFit/>
          </a:bodyPr>
          <a:lstStyle/>
          <a:p>
            <a:r>
              <a:rPr lang="en-US" sz="2400" dirty="0"/>
              <a:t>Old procurement method</a:t>
            </a:r>
            <a:endParaRPr lang="en-ID" sz="2400" dirty="0"/>
          </a:p>
        </p:txBody>
      </p:sp>
      <p:sp>
        <p:nvSpPr>
          <p:cNvPr id="32" name="TextBox 31">
            <a:extLst>
              <a:ext uri="{FF2B5EF4-FFF2-40B4-BE49-F238E27FC236}">
                <a16:creationId xmlns:a16="http://schemas.microsoft.com/office/drawing/2014/main" id="{CD5DEF10-C7A1-41CB-BDEA-C2514BB08F88}"/>
              </a:ext>
            </a:extLst>
          </p:cNvPr>
          <p:cNvSpPr txBox="1"/>
          <p:nvPr/>
        </p:nvSpPr>
        <p:spPr>
          <a:xfrm>
            <a:off x="1174892" y="5734172"/>
            <a:ext cx="2632452" cy="461665"/>
          </a:xfrm>
          <a:prstGeom prst="rect">
            <a:avLst/>
          </a:prstGeom>
          <a:noFill/>
        </p:spPr>
        <p:txBody>
          <a:bodyPr wrap="none" rtlCol="0">
            <a:spAutoFit/>
          </a:bodyPr>
          <a:lstStyle/>
          <a:p>
            <a:r>
              <a:rPr lang="en-US" sz="2400" dirty="0"/>
              <a:t>Manage Own Risk</a:t>
            </a:r>
            <a:endParaRPr lang="en-ID" sz="2400" dirty="0"/>
          </a:p>
        </p:txBody>
      </p:sp>
      <p:sp>
        <p:nvSpPr>
          <p:cNvPr id="33" name="TextBox 32">
            <a:extLst>
              <a:ext uri="{FF2B5EF4-FFF2-40B4-BE49-F238E27FC236}">
                <a16:creationId xmlns:a16="http://schemas.microsoft.com/office/drawing/2014/main" id="{4661D665-A5DB-4009-951C-AE5F811CE72B}"/>
              </a:ext>
            </a:extLst>
          </p:cNvPr>
          <p:cNvSpPr txBox="1"/>
          <p:nvPr/>
        </p:nvSpPr>
        <p:spPr>
          <a:xfrm>
            <a:off x="8510085" y="2187857"/>
            <a:ext cx="2356222" cy="461665"/>
          </a:xfrm>
          <a:prstGeom prst="rect">
            <a:avLst/>
          </a:prstGeom>
          <a:noFill/>
        </p:spPr>
        <p:txBody>
          <a:bodyPr wrap="none" rtlCol="0">
            <a:spAutoFit/>
          </a:bodyPr>
          <a:lstStyle/>
          <a:p>
            <a:pPr algn="just"/>
            <a:r>
              <a:rPr lang="en-US" sz="2400" dirty="0"/>
              <a:t>No risk, less risk</a:t>
            </a:r>
            <a:endParaRPr lang="en-ID" sz="2400" dirty="0"/>
          </a:p>
        </p:txBody>
      </p:sp>
      <p:sp>
        <p:nvSpPr>
          <p:cNvPr id="34" name="TextBox 33">
            <a:extLst>
              <a:ext uri="{FF2B5EF4-FFF2-40B4-BE49-F238E27FC236}">
                <a16:creationId xmlns:a16="http://schemas.microsoft.com/office/drawing/2014/main" id="{AFE6ACE5-DB02-409F-9027-4710A084173C}"/>
              </a:ext>
            </a:extLst>
          </p:cNvPr>
          <p:cNvSpPr txBox="1"/>
          <p:nvPr/>
        </p:nvSpPr>
        <p:spPr>
          <a:xfrm>
            <a:off x="8333408" y="2926510"/>
            <a:ext cx="2583528" cy="461665"/>
          </a:xfrm>
          <a:prstGeom prst="rect">
            <a:avLst/>
          </a:prstGeom>
          <a:noFill/>
        </p:spPr>
        <p:txBody>
          <a:bodyPr wrap="none" rtlCol="0">
            <a:spAutoFit/>
          </a:bodyPr>
          <a:lstStyle/>
          <a:p>
            <a:pPr algn="just"/>
            <a:r>
              <a:rPr lang="en-US" sz="2400" dirty="0"/>
              <a:t>More experiences</a:t>
            </a:r>
            <a:endParaRPr lang="en-ID" sz="2400" dirty="0"/>
          </a:p>
        </p:txBody>
      </p:sp>
      <p:sp>
        <p:nvSpPr>
          <p:cNvPr id="35" name="TextBox 34">
            <a:extLst>
              <a:ext uri="{FF2B5EF4-FFF2-40B4-BE49-F238E27FC236}">
                <a16:creationId xmlns:a16="http://schemas.microsoft.com/office/drawing/2014/main" id="{7E23B669-26A5-4877-92B2-CB8E67669727}"/>
              </a:ext>
            </a:extLst>
          </p:cNvPr>
          <p:cNvSpPr txBox="1"/>
          <p:nvPr/>
        </p:nvSpPr>
        <p:spPr>
          <a:xfrm>
            <a:off x="6117338" y="3780005"/>
            <a:ext cx="4900035" cy="461665"/>
          </a:xfrm>
          <a:prstGeom prst="rect">
            <a:avLst/>
          </a:prstGeom>
          <a:noFill/>
        </p:spPr>
        <p:txBody>
          <a:bodyPr wrap="square" rtlCol="0">
            <a:spAutoFit/>
          </a:bodyPr>
          <a:lstStyle/>
          <a:p>
            <a:pPr algn="just"/>
            <a:r>
              <a:rPr lang="en-US" sz="2400" dirty="0"/>
              <a:t>Less man hours, less of paper work</a:t>
            </a:r>
          </a:p>
        </p:txBody>
      </p:sp>
      <p:sp>
        <p:nvSpPr>
          <p:cNvPr id="36" name="TextBox 35">
            <a:extLst>
              <a:ext uri="{FF2B5EF4-FFF2-40B4-BE49-F238E27FC236}">
                <a16:creationId xmlns:a16="http://schemas.microsoft.com/office/drawing/2014/main" id="{3FF0BC19-05D2-4DCF-9CCA-CFD2E05BF8A1}"/>
              </a:ext>
            </a:extLst>
          </p:cNvPr>
          <p:cNvSpPr txBox="1"/>
          <p:nvPr/>
        </p:nvSpPr>
        <p:spPr>
          <a:xfrm>
            <a:off x="6945554" y="4872918"/>
            <a:ext cx="4282391" cy="461665"/>
          </a:xfrm>
          <a:prstGeom prst="rect">
            <a:avLst/>
          </a:prstGeom>
          <a:noFill/>
        </p:spPr>
        <p:txBody>
          <a:bodyPr wrap="none" rtlCol="0">
            <a:spAutoFit/>
          </a:bodyPr>
          <a:lstStyle/>
          <a:p>
            <a:pPr algn="just"/>
            <a:r>
              <a:rPr lang="en-US" sz="2400" dirty="0"/>
              <a:t>Trend of procurement method</a:t>
            </a:r>
            <a:endParaRPr lang="en-ID" sz="2400" dirty="0"/>
          </a:p>
        </p:txBody>
      </p:sp>
      <p:sp>
        <p:nvSpPr>
          <p:cNvPr id="37" name="TextBox 36">
            <a:extLst>
              <a:ext uri="{FF2B5EF4-FFF2-40B4-BE49-F238E27FC236}">
                <a16:creationId xmlns:a16="http://schemas.microsoft.com/office/drawing/2014/main" id="{5CEFD7D1-3F40-49FB-A70D-37A870908D27}"/>
              </a:ext>
            </a:extLst>
          </p:cNvPr>
          <p:cNvSpPr txBox="1"/>
          <p:nvPr/>
        </p:nvSpPr>
        <p:spPr>
          <a:xfrm>
            <a:off x="7229222" y="5661158"/>
            <a:ext cx="3715056" cy="461665"/>
          </a:xfrm>
          <a:prstGeom prst="rect">
            <a:avLst/>
          </a:prstGeom>
          <a:noFill/>
        </p:spPr>
        <p:txBody>
          <a:bodyPr wrap="none" rtlCol="0">
            <a:spAutoFit/>
          </a:bodyPr>
          <a:lstStyle/>
          <a:p>
            <a:pPr algn="just"/>
            <a:r>
              <a:rPr lang="en-US" sz="2400" dirty="0"/>
              <a:t>Faster in completion time </a:t>
            </a:r>
            <a:endParaRPr lang="en-ID" sz="2400" dirty="0"/>
          </a:p>
        </p:txBody>
      </p:sp>
      <p:pic>
        <p:nvPicPr>
          <p:cNvPr id="38" name="Graphic 37" descr="Comment Dislike outline">
            <a:extLst>
              <a:ext uri="{FF2B5EF4-FFF2-40B4-BE49-F238E27FC236}">
                <a16:creationId xmlns:a16="http://schemas.microsoft.com/office/drawing/2014/main" id="{BCF0E8D2-3089-45AF-864E-BDB369FE5312}"/>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575349" y="1141380"/>
            <a:ext cx="914400" cy="914400"/>
          </a:xfrm>
          <a:prstGeom prst="rect">
            <a:avLst/>
          </a:prstGeom>
        </p:spPr>
      </p:pic>
      <p:pic>
        <p:nvPicPr>
          <p:cNvPr id="39" name="Graphic 38" descr="Comment Like outline">
            <a:extLst>
              <a:ext uri="{FF2B5EF4-FFF2-40B4-BE49-F238E27FC236}">
                <a16:creationId xmlns:a16="http://schemas.microsoft.com/office/drawing/2014/main" id="{149E8518-55BF-497A-8ED4-F7E44EC77B98}"/>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233384" y="1152635"/>
            <a:ext cx="914400" cy="914400"/>
          </a:xfrm>
          <a:prstGeom prst="rect">
            <a:avLst/>
          </a:prstGeom>
        </p:spPr>
      </p:pic>
      <p:pic>
        <p:nvPicPr>
          <p:cNvPr id="41" name="Graphic 40" descr="Airplane with solid fill">
            <a:extLst>
              <a:ext uri="{FF2B5EF4-FFF2-40B4-BE49-F238E27FC236}">
                <a16:creationId xmlns:a16="http://schemas.microsoft.com/office/drawing/2014/main" id="{46BA0615-7622-450D-9565-298FE109B9D7}"/>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1103211" y="5476324"/>
            <a:ext cx="914400" cy="914400"/>
          </a:xfrm>
          <a:prstGeom prst="rect">
            <a:avLst/>
          </a:prstGeom>
        </p:spPr>
      </p:pic>
      <p:pic>
        <p:nvPicPr>
          <p:cNvPr id="43" name="Graphic 42" descr="Alarm clock with solid fill">
            <a:extLst>
              <a:ext uri="{FF2B5EF4-FFF2-40B4-BE49-F238E27FC236}">
                <a16:creationId xmlns:a16="http://schemas.microsoft.com/office/drawing/2014/main" id="{A6FF3B3B-A3F9-4C9E-91FE-5044843DA20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1120505" y="3678043"/>
            <a:ext cx="914400" cy="914400"/>
          </a:xfrm>
          <a:prstGeom prst="rect">
            <a:avLst/>
          </a:prstGeom>
        </p:spPr>
      </p:pic>
      <p:pic>
        <p:nvPicPr>
          <p:cNvPr id="49" name="Graphic 48" descr="Convertible outline">
            <a:extLst>
              <a:ext uri="{FF2B5EF4-FFF2-40B4-BE49-F238E27FC236}">
                <a16:creationId xmlns:a16="http://schemas.microsoft.com/office/drawing/2014/main" id="{5D2AE124-7CFB-420E-805A-E095A50D211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1236134" y="4685415"/>
            <a:ext cx="914400" cy="914400"/>
          </a:xfrm>
          <a:prstGeom prst="rect">
            <a:avLst/>
          </a:prstGeom>
        </p:spPr>
      </p:pic>
      <p:pic>
        <p:nvPicPr>
          <p:cNvPr id="50" name="Picture 49">
            <a:extLst>
              <a:ext uri="{FF2B5EF4-FFF2-40B4-BE49-F238E27FC236}">
                <a16:creationId xmlns:a16="http://schemas.microsoft.com/office/drawing/2014/main" id="{2DE113F5-5227-4397-A528-C36AC1A24D74}"/>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439427" y="1255022"/>
            <a:ext cx="3209567" cy="2129642"/>
          </a:xfrm>
          <a:prstGeom prst="rect">
            <a:avLst/>
          </a:prstGeom>
        </p:spPr>
      </p:pic>
    </p:spTree>
    <p:extLst>
      <p:ext uri="{BB962C8B-B14F-4D97-AF65-F5344CB8AC3E}">
        <p14:creationId xmlns:p14="http://schemas.microsoft.com/office/powerpoint/2010/main" val="15606854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B0A3E-E073-41F9-95BA-12816942848B}"/>
              </a:ext>
            </a:extLst>
          </p:cNvPr>
          <p:cNvSpPr>
            <a:spLocks noGrp="1"/>
          </p:cNvSpPr>
          <p:nvPr>
            <p:ph type="title"/>
          </p:nvPr>
        </p:nvSpPr>
        <p:spPr>
          <a:xfrm>
            <a:off x="521206" y="448056"/>
            <a:ext cx="11467593" cy="640080"/>
          </a:xfrm>
        </p:spPr>
        <p:txBody>
          <a:bodyPr>
            <a:noAutofit/>
          </a:bodyPr>
          <a:lstStyle/>
          <a:p>
            <a:r>
              <a:rPr lang="en-US" sz="3200" b="1" dirty="0">
                <a:solidFill>
                  <a:srgbClr val="C00000"/>
                </a:solidFill>
              </a:rPr>
              <a:t>Why Drilling Procurement Method is critical?.</a:t>
            </a:r>
            <a:endParaRPr lang="en-ID" sz="3200" b="1" dirty="0">
              <a:solidFill>
                <a:srgbClr val="C00000"/>
              </a:solidFill>
            </a:endParaRPr>
          </a:p>
        </p:txBody>
      </p:sp>
      <p:pic>
        <p:nvPicPr>
          <p:cNvPr id="5" name="Picture 4">
            <a:extLst>
              <a:ext uri="{FF2B5EF4-FFF2-40B4-BE49-F238E27FC236}">
                <a16:creationId xmlns:a16="http://schemas.microsoft.com/office/drawing/2014/main" id="{F028507F-31F3-4967-83D9-11CB86278C1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18007" y="1353601"/>
            <a:ext cx="6096000" cy="3596771"/>
          </a:xfrm>
          <a:prstGeom prst="rect">
            <a:avLst/>
          </a:prstGeom>
          <a:effectLst>
            <a:glow rad="101600">
              <a:srgbClr val="FFCC00">
                <a:alpha val="40000"/>
              </a:srgbClr>
            </a:glow>
          </a:effectLst>
        </p:spPr>
      </p:pic>
      <p:sp>
        <p:nvSpPr>
          <p:cNvPr id="4" name="Rectangle 3">
            <a:extLst>
              <a:ext uri="{FF2B5EF4-FFF2-40B4-BE49-F238E27FC236}">
                <a16:creationId xmlns:a16="http://schemas.microsoft.com/office/drawing/2014/main" id="{1B58CEE4-DE53-4421-8C38-6F82EEC9A3F3}"/>
              </a:ext>
            </a:extLst>
          </p:cNvPr>
          <p:cNvSpPr/>
          <p:nvPr/>
        </p:nvSpPr>
        <p:spPr>
          <a:xfrm>
            <a:off x="6759447" y="1353601"/>
            <a:ext cx="5229353" cy="4150798"/>
          </a:xfrm>
          <a:prstGeom prst="rect">
            <a:avLst/>
          </a:prstGeom>
          <a:solidFill>
            <a:srgbClr val="FFFF00">
              <a:alpha val="53000"/>
            </a:srgbClr>
          </a:solidFill>
          <a:ln>
            <a:no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rgbClr val="002060"/>
                </a:solidFill>
              </a:rPr>
              <a:t>Drilling Contract Scheme Evaluation indicate the following trend:</a:t>
            </a:r>
          </a:p>
          <a:p>
            <a:pPr marL="457200" indent="-457200">
              <a:buFont typeface="Arial" panose="020B0604020202020204" pitchFamily="34" charset="0"/>
              <a:buChar char="•"/>
            </a:pPr>
            <a:r>
              <a:rPr lang="en-US" sz="2400" dirty="0">
                <a:solidFill>
                  <a:srgbClr val="002060"/>
                </a:solidFill>
              </a:rPr>
              <a:t>2012-2016: Majority use Semi-IPM and Full IPM (Avg. 2180 m Depth)</a:t>
            </a:r>
          </a:p>
          <a:p>
            <a:pPr marL="457200" indent="-457200">
              <a:buFont typeface="Arial" panose="020B0604020202020204" pitchFamily="34" charset="0"/>
              <a:buChar char="•"/>
            </a:pPr>
            <a:r>
              <a:rPr lang="en-US" sz="2400" dirty="0">
                <a:solidFill>
                  <a:srgbClr val="002060"/>
                </a:solidFill>
              </a:rPr>
              <a:t>2017-2019: Majority use Discrete and Bundled (Avg. 2290 m Depth)</a:t>
            </a:r>
          </a:p>
          <a:p>
            <a:pPr marL="457200" indent="-457200">
              <a:buFont typeface="Arial" panose="020B0604020202020204" pitchFamily="34" charset="0"/>
              <a:buChar char="•"/>
            </a:pPr>
            <a:r>
              <a:rPr lang="en-US" sz="2400" dirty="0">
                <a:solidFill>
                  <a:srgbClr val="002060"/>
                </a:solidFill>
              </a:rPr>
              <a:t>Discrete and Bundled Contract scheme provide cheaper drilling cost.</a:t>
            </a:r>
            <a:endParaRPr lang="en-ID" sz="2400" dirty="0">
              <a:solidFill>
                <a:srgbClr val="002060"/>
              </a:solidFill>
            </a:endParaRPr>
          </a:p>
        </p:txBody>
      </p:sp>
      <p:sp>
        <p:nvSpPr>
          <p:cNvPr id="3" name="TextBox 2">
            <a:extLst>
              <a:ext uri="{FF2B5EF4-FFF2-40B4-BE49-F238E27FC236}">
                <a16:creationId xmlns:a16="http://schemas.microsoft.com/office/drawing/2014/main" id="{5E571639-A204-4A12-AA9D-20A5FC65F4EC}"/>
              </a:ext>
            </a:extLst>
          </p:cNvPr>
          <p:cNvSpPr txBox="1"/>
          <p:nvPr/>
        </p:nvSpPr>
        <p:spPr>
          <a:xfrm>
            <a:off x="436262" y="5215837"/>
            <a:ext cx="11104097" cy="1415772"/>
          </a:xfrm>
          <a:prstGeom prst="rect">
            <a:avLst/>
          </a:prstGeom>
          <a:noFill/>
        </p:spPr>
        <p:txBody>
          <a:bodyPr wrap="square" rtlCol="0">
            <a:spAutoFit/>
          </a:bodyPr>
          <a:lstStyle/>
          <a:p>
            <a:pPr marL="285750" indent="-285750">
              <a:buFont typeface="Arial" panose="020B0604020202020204" pitchFamily="34" charset="0"/>
              <a:buChar char="•"/>
            </a:pPr>
            <a:r>
              <a:rPr lang="en-US" dirty="0"/>
              <a:t>Bundle vs IPM </a:t>
            </a:r>
            <a:r>
              <a:rPr lang="en-US" dirty="0">
                <a:sym typeface="Wingdings" panose="05000000000000000000" pitchFamily="2" charset="2"/>
              </a:rPr>
              <a:t> Cost/m Different: USD 2384 /m</a:t>
            </a:r>
          </a:p>
          <a:p>
            <a:pPr marL="285750" indent="-285750">
              <a:buFont typeface="Arial" panose="020B0604020202020204" pitchFamily="34" charset="0"/>
              <a:buChar char="•"/>
            </a:pPr>
            <a:r>
              <a:rPr lang="en-US" dirty="0"/>
              <a:t>Bundle vs Semi IPM </a:t>
            </a:r>
            <a:r>
              <a:rPr lang="en-US" dirty="0">
                <a:sym typeface="Wingdings" panose="05000000000000000000" pitchFamily="2" charset="2"/>
              </a:rPr>
              <a:t> Cost/m Different: USD 936 /m</a:t>
            </a:r>
          </a:p>
          <a:p>
            <a:pPr marL="285750" indent="-285750">
              <a:buFont typeface="Arial" panose="020B0604020202020204" pitchFamily="34" charset="0"/>
              <a:buChar char="•"/>
            </a:pPr>
            <a:endParaRPr lang="en-US" dirty="0">
              <a:sym typeface="Wingdings" panose="05000000000000000000" pitchFamily="2" charset="2"/>
            </a:endParaRPr>
          </a:p>
          <a:p>
            <a:r>
              <a:rPr lang="en-US" sz="3200" dirty="0">
                <a:solidFill>
                  <a:schemeClr val="accent5">
                    <a:lumMod val="50000"/>
                  </a:schemeClr>
                </a:solidFill>
                <a:sym typeface="Wingdings" panose="05000000000000000000" pitchFamily="2" charset="2"/>
              </a:rPr>
              <a:t>Potential Cost Reduction: </a:t>
            </a:r>
            <a:r>
              <a:rPr lang="en-US" sz="3200" b="1" dirty="0">
                <a:solidFill>
                  <a:srgbClr val="C00000"/>
                </a:solidFill>
                <a:sym typeface="Wingdings" panose="05000000000000000000" pitchFamily="2" charset="2"/>
              </a:rPr>
              <a:t>USD 5.4 – 2.1 Million per Well</a:t>
            </a:r>
            <a:endParaRPr lang="en-ID" sz="3200" b="1" dirty="0">
              <a:solidFill>
                <a:srgbClr val="C00000"/>
              </a:solidFill>
            </a:endParaRPr>
          </a:p>
        </p:txBody>
      </p:sp>
      <p:pic>
        <p:nvPicPr>
          <p:cNvPr id="6" name="Picture 5">
            <a:extLst>
              <a:ext uri="{FF2B5EF4-FFF2-40B4-BE49-F238E27FC236}">
                <a16:creationId xmlns:a16="http://schemas.microsoft.com/office/drawing/2014/main" id="{C1B7E65C-785A-4AFD-95AD-3669930AF8D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851565" y="5923723"/>
            <a:ext cx="688794" cy="688794"/>
          </a:xfrm>
          <a:prstGeom prst="rect">
            <a:avLst/>
          </a:prstGeom>
        </p:spPr>
      </p:pic>
    </p:spTree>
    <p:extLst>
      <p:ext uri="{BB962C8B-B14F-4D97-AF65-F5344CB8AC3E}">
        <p14:creationId xmlns:p14="http://schemas.microsoft.com/office/powerpoint/2010/main" val="388611870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B0A3E-E073-41F9-95BA-12816942848B}"/>
              </a:ext>
            </a:extLst>
          </p:cNvPr>
          <p:cNvSpPr>
            <a:spLocks noGrp="1"/>
          </p:cNvSpPr>
          <p:nvPr>
            <p:ph type="title"/>
          </p:nvPr>
        </p:nvSpPr>
        <p:spPr>
          <a:xfrm>
            <a:off x="521206" y="448056"/>
            <a:ext cx="11467593" cy="640080"/>
          </a:xfrm>
        </p:spPr>
        <p:txBody>
          <a:bodyPr>
            <a:noAutofit/>
          </a:bodyPr>
          <a:lstStyle/>
          <a:p>
            <a:r>
              <a:rPr lang="en-US" sz="3200" b="1" dirty="0">
                <a:solidFill>
                  <a:srgbClr val="C00000"/>
                </a:solidFill>
              </a:rPr>
              <a:t>Why Drilling Procurement Method is critical?.</a:t>
            </a:r>
            <a:endParaRPr lang="en-ID" sz="3200" b="1" dirty="0">
              <a:solidFill>
                <a:srgbClr val="C00000"/>
              </a:solidFill>
            </a:endParaRPr>
          </a:p>
        </p:txBody>
      </p:sp>
      <p:sp>
        <p:nvSpPr>
          <p:cNvPr id="4" name="Rectangle 3">
            <a:extLst>
              <a:ext uri="{FF2B5EF4-FFF2-40B4-BE49-F238E27FC236}">
                <a16:creationId xmlns:a16="http://schemas.microsoft.com/office/drawing/2014/main" id="{1B58CEE4-DE53-4421-8C38-6F82EEC9A3F3}"/>
              </a:ext>
            </a:extLst>
          </p:cNvPr>
          <p:cNvSpPr/>
          <p:nvPr/>
        </p:nvSpPr>
        <p:spPr>
          <a:xfrm>
            <a:off x="7762672" y="1353601"/>
            <a:ext cx="4064946" cy="3461590"/>
          </a:xfrm>
          <a:prstGeom prst="rect">
            <a:avLst/>
          </a:prstGeom>
          <a:solidFill>
            <a:srgbClr val="FFFF00">
              <a:alpha val="53000"/>
            </a:srgbClr>
          </a:solidFill>
          <a:ln>
            <a:no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rgbClr val="002060"/>
                </a:solidFill>
              </a:rPr>
              <a:t>South Sumatra IPM in 2019:</a:t>
            </a:r>
          </a:p>
          <a:p>
            <a:pPr marL="342900" indent="-342900">
              <a:buFont typeface="Arial" panose="020B0604020202020204" pitchFamily="34" charset="0"/>
              <a:buChar char="•"/>
            </a:pPr>
            <a:r>
              <a:rPr lang="en-US" sz="2200" dirty="0">
                <a:solidFill>
                  <a:srgbClr val="002060"/>
                </a:solidFill>
              </a:rPr>
              <a:t>The IPM pricing was Lump Sum refer to TD range and capped with maximum drilling days. </a:t>
            </a:r>
          </a:p>
          <a:p>
            <a:pPr marL="342900" indent="-342900">
              <a:buFont typeface="Arial" panose="020B0604020202020204" pitchFamily="34" charset="0"/>
              <a:buChar char="•"/>
            </a:pPr>
            <a:r>
              <a:rPr lang="en-US" sz="2200" dirty="0">
                <a:solidFill>
                  <a:srgbClr val="002060"/>
                </a:solidFill>
              </a:rPr>
              <a:t>If exceeding maximum drilling days, Contractor will apply daily rate.</a:t>
            </a:r>
          </a:p>
        </p:txBody>
      </p:sp>
      <p:sp>
        <p:nvSpPr>
          <p:cNvPr id="3" name="TextBox 2">
            <a:extLst>
              <a:ext uri="{FF2B5EF4-FFF2-40B4-BE49-F238E27FC236}">
                <a16:creationId xmlns:a16="http://schemas.microsoft.com/office/drawing/2014/main" id="{5E571639-A204-4A12-AA9D-20A5FC65F4EC}"/>
              </a:ext>
            </a:extLst>
          </p:cNvPr>
          <p:cNvSpPr txBox="1"/>
          <p:nvPr/>
        </p:nvSpPr>
        <p:spPr>
          <a:xfrm>
            <a:off x="436262" y="5683345"/>
            <a:ext cx="11552537" cy="1077218"/>
          </a:xfrm>
          <a:prstGeom prst="rect">
            <a:avLst/>
          </a:prstGeom>
          <a:noFill/>
        </p:spPr>
        <p:txBody>
          <a:bodyPr wrap="square" rtlCol="0">
            <a:spAutoFit/>
          </a:bodyPr>
          <a:lstStyle/>
          <a:p>
            <a:r>
              <a:rPr lang="en-US" sz="3200" dirty="0">
                <a:solidFill>
                  <a:schemeClr val="accent5">
                    <a:lumMod val="50000"/>
                  </a:schemeClr>
                </a:solidFill>
                <a:sym typeface="Wingdings" panose="05000000000000000000" pitchFamily="2" charset="2"/>
              </a:rPr>
              <a:t>Cost Saving using Discrete for drilling in South Sumatra: </a:t>
            </a:r>
          </a:p>
          <a:p>
            <a:r>
              <a:rPr lang="en-US" sz="3200" b="1" dirty="0">
                <a:solidFill>
                  <a:srgbClr val="C00000"/>
                </a:solidFill>
                <a:sym typeface="Wingdings" panose="05000000000000000000" pitchFamily="2" charset="2"/>
              </a:rPr>
              <a:t>USD 682 per meter OR 1.5 Million per Well</a:t>
            </a:r>
            <a:endParaRPr lang="en-ID" sz="3200" b="1" dirty="0">
              <a:solidFill>
                <a:srgbClr val="C00000"/>
              </a:solidFill>
            </a:endParaRPr>
          </a:p>
        </p:txBody>
      </p:sp>
      <p:pic>
        <p:nvPicPr>
          <p:cNvPr id="6" name="Picture 5">
            <a:extLst>
              <a:ext uri="{FF2B5EF4-FFF2-40B4-BE49-F238E27FC236}">
                <a16:creationId xmlns:a16="http://schemas.microsoft.com/office/drawing/2014/main" id="{C1B7E65C-785A-4AFD-95AD-3669930AF8D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968296" y="5663969"/>
            <a:ext cx="787441" cy="787441"/>
          </a:xfrm>
          <a:prstGeom prst="rect">
            <a:avLst/>
          </a:prstGeom>
        </p:spPr>
      </p:pic>
      <p:pic>
        <p:nvPicPr>
          <p:cNvPr id="8" name="Picture 7">
            <a:extLst>
              <a:ext uri="{FF2B5EF4-FFF2-40B4-BE49-F238E27FC236}">
                <a16:creationId xmlns:a16="http://schemas.microsoft.com/office/drawing/2014/main" id="{FBD1CA51-FD84-2DEC-C45C-05ADF95FBEF0}"/>
              </a:ext>
            </a:extLst>
          </p:cNvPr>
          <p:cNvPicPr>
            <a:picLocks noChangeAspect="1"/>
          </p:cNvPicPr>
          <p:nvPr/>
        </p:nvPicPr>
        <p:blipFill>
          <a:blip r:embed="rId3"/>
          <a:stretch>
            <a:fillRect/>
          </a:stretch>
        </p:blipFill>
        <p:spPr>
          <a:xfrm>
            <a:off x="436262" y="1314053"/>
            <a:ext cx="7124700" cy="4143375"/>
          </a:xfrm>
          <a:prstGeom prst="rect">
            <a:avLst/>
          </a:prstGeom>
          <a:effectLst>
            <a:glow rad="63500">
              <a:schemeClr val="accent2">
                <a:lumMod val="75000"/>
                <a:alpha val="40000"/>
              </a:schemeClr>
            </a:glow>
          </a:effectLst>
        </p:spPr>
      </p:pic>
    </p:spTree>
    <p:extLst>
      <p:ext uri="{BB962C8B-B14F-4D97-AF65-F5344CB8AC3E}">
        <p14:creationId xmlns:p14="http://schemas.microsoft.com/office/powerpoint/2010/main" val="329857977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508" y="56768"/>
            <a:ext cx="10972800" cy="1676400"/>
          </a:xfrm>
        </p:spPr>
        <p:txBody>
          <a:bodyPr>
            <a:normAutofit/>
          </a:bodyPr>
          <a:lstStyle/>
          <a:p>
            <a:r>
              <a:rPr lang="en-US" sz="3200" b="1" dirty="0">
                <a:solidFill>
                  <a:srgbClr val="C00000"/>
                </a:solidFill>
              </a:rPr>
              <a:t>Drilling IPM</a:t>
            </a:r>
            <a:br>
              <a:rPr lang="en-US" sz="3200" b="1" dirty="0">
                <a:solidFill>
                  <a:srgbClr val="C00000"/>
                </a:solidFill>
              </a:rPr>
            </a:br>
            <a:r>
              <a:rPr lang="en-US" sz="3200" b="1" dirty="0">
                <a:solidFill>
                  <a:srgbClr val="C00000"/>
                </a:solidFill>
              </a:rPr>
              <a:t>(Integrated Project Management)</a:t>
            </a:r>
          </a:p>
        </p:txBody>
      </p:sp>
      <p:sp>
        <p:nvSpPr>
          <p:cNvPr id="4" name="Slide Number Placeholder 3"/>
          <p:cNvSpPr>
            <a:spLocks noGrp="1"/>
          </p:cNvSpPr>
          <p:nvPr>
            <p:ph type="sldNum" sz="quarter" idx="12"/>
          </p:nvPr>
        </p:nvSpPr>
        <p:spPr/>
        <p:txBody>
          <a:bodyPr/>
          <a:lstStyle/>
          <a:p>
            <a:pPr>
              <a:defRPr/>
            </a:pPr>
            <a:fld id="{45056E16-E5AF-4855-A682-D6D76EAA249E}" type="slidenum">
              <a:rPr lang="en-US" altLang="en-US" smtClean="0"/>
              <a:pPr>
                <a:defRPr/>
              </a:pPr>
              <a:t>203</a:t>
            </a:fld>
            <a:endParaRPr lang="en-US" altLang="en-US"/>
          </a:p>
        </p:txBody>
      </p:sp>
      <p:pic>
        <p:nvPicPr>
          <p:cNvPr id="5" name="Picture 2" descr="Integrated Project Management"/>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417490" y="2376890"/>
            <a:ext cx="4699111" cy="311903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473508" y="1796193"/>
            <a:ext cx="3771805" cy="3699732"/>
          </a:xfrm>
          <a:prstGeom prst="rect">
            <a:avLst/>
          </a:prstGeom>
        </p:spPr>
      </p:pic>
      <p:pic>
        <p:nvPicPr>
          <p:cNvPr id="1026" name="Picture 2" descr="Image result for integrated project management logo"/>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267757" y="2704772"/>
            <a:ext cx="2762250" cy="2762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097698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0077"/>
            <a:ext cx="10972800" cy="911754"/>
          </a:xfrm>
        </p:spPr>
        <p:txBody>
          <a:bodyPr>
            <a:normAutofit/>
          </a:bodyPr>
          <a:lstStyle/>
          <a:p>
            <a:r>
              <a:rPr lang="en-US" sz="3600" b="1" dirty="0">
                <a:solidFill>
                  <a:srgbClr val="C00000"/>
                </a:solidFill>
              </a:rPr>
              <a:t>Drilling Integrated Project Management</a:t>
            </a:r>
          </a:p>
        </p:txBody>
      </p:sp>
      <p:sp>
        <p:nvSpPr>
          <p:cNvPr id="4" name="Slide Number Placeholder 3"/>
          <p:cNvSpPr>
            <a:spLocks noGrp="1"/>
          </p:cNvSpPr>
          <p:nvPr>
            <p:ph type="sldNum" sz="quarter" idx="12"/>
          </p:nvPr>
        </p:nvSpPr>
        <p:spPr/>
        <p:txBody>
          <a:bodyPr/>
          <a:lstStyle/>
          <a:p>
            <a:pPr>
              <a:defRPr/>
            </a:pPr>
            <a:fld id="{45056E16-E5AF-4855-A682-D6D76EAA249E}" type="slidenum">
              <a:rPr lang="en-US" altLang="en-US" smtClean="0"/>
              <a:pPr>
                <a:defRPr/>
              </a:pPr>
              <a:t>204</a:t>
            </a:fld>
            <a:endParaRPr lang="en-US" altLang="en-US"/>
          </a:p>
        </p:txBody>
      </p:sp>
      <p:pic>
        <p:nvPicPr>
          <p:cNvPr id="5" name="Picture 2" descr="http://petrotool.ru/en/app/img/pages/IPM-%D0%BF%D1%80%D0%BE%D0%B5%D0%BA%D1%82%20%D0%B0%D0%BD%D0%B3%D0%BB.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92231" y="1338606"/>
            <a:ext cx="5725763" cy="551939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Diagram 5"/>
          <p:cNvGraphicFramePr/>
          <p:nvPr/>
        </p:nvGraphicFramePr>
        <p:xfrm>
          <a:off x="4924719" y="12878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Quad Arrow Callout 2"/>
          <p:cNvSpPr/>
          <p:nvPr/>
        </p:nvSpPr>
        <p:spPr>
          <a:xfrm>
            <a:off x="1745412" y="2650503"/>
            <a:ext cx="2819400" cy="2895600"/>
          </a:xfrm>
          <a:prstGeom prst="quadArrowCallout">
            <a:avLst/>
          </a:prstGeom>
          <a:solidFill>
            <a:srgbClr val="CC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666834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50253" y="465702"/>
            <a:ext cx="10941672" cy="639763"/>
          </a:xfrm>
        </p:spPr>
        <p:txBody>
          <a:bodyPr anchor="t">
            <a:noAutofit/>
          </a:bodyPr>
          <a:lstStyle/>
          <a:p>
            <a:pPr algn="ctr" eaLnBrk="1" hangingPunct="1"/>
            <a:r>
              <a:rPr lang="id-ID" altLang="en-US" sz="3600" b="1" dirty="0">
                <a:solidFill>
                  <a:srgbClr val="C00000"/>
                </a:solidFill>
              </a:rPr>
              <a:t>IDS / IPM</a:t>
            </a:r>
            <a:r>
              <a:rPr lang="en-US" altLang="en-US" sz="3600" b="1" dirty="0">
                <a:solidFill>
                  <a:srgbClr val="C00000"/>
                </a:solidFill>
              </a:rPr>
              <a:t> ADVANTAGES</a:t>
            </a:r>
          </a:p>
        </p:txBody>
      </p:sp>
      <p:sp>
        <p:nvSpPr>
          <p:cNvPr id="4" name="Content Placeholder 4"/>
          <p:cNvSpPr txBox="1">
            <a:spLocks/>
          </p:cNvSpPr>
          <p:nvPr/>
        </p:nvSpPr>
        <p:spPr bwMode="auto">
          <a:xfrm>
            <a:off x="1130430" y="1457554"/>
            <a:ext cx="9931139" cy="461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FF6600"/>
                </a:solidFill>
                <a:latin typeface="Arial" charset="0"/>
              </a:defRPr>
            </a:lvl1pPr>
            <a:lvl2pPr marL="742950" indent="-285750">
              <a:defRPr b="1">
                <a:solidFill>
                  <a:srgbClr val="FF6600"/>
                </a:solidFill>
                <a:latin typeface="Arial" charset="0"/>
              </a:defRPr>
            </a:lvl2pPr>
            <a:lvl3pPr marL="1143000" indent="-228600">
              <a:defRPr b="1">
                <a:solidFill>
                  <a:srgbClr val="FF6600"/>
                </a:solidFill>
                <a:latin typeface="Arial" charset="0"/>
              </a:defRPr>
            </a:lvl3pPr>
            <a:lvl4pPr marL="1600200" indent="-228600">
              <a:defRPr b="1">
                <a:solidFill>
                  <a:srgbClr val="FF6600"/>
                </a:solidFill>
                <a:latin typeface="Arial" charset="0"/>
              </a:defRPr>
            </a:lvl4pPr>
            <a:lvl5pPr marL="2057400" indent="-228600">
              <a:defRPr b="1">
                <a:solidFill>
                  <a:srgbClr val="FF6600"/>
                </a:solidFill>
                <a:latin typeface="Arial" charset="0"/>
              </a:defRPr>
            </a:lvl5pPr>
            <a:lvl6pPr marL="25146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6pPr>
            <a:lvl7pPr marL="29718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7pPr>
            <a:lvl8pPr marL="34290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8pPr>
            <a:lvl9pPr marL="38862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9pPr>
          </a:lstStyle>
          <a:p>
            <a:pPr>
              <a:buFont typeface="Wingdings" pitchFamily="2" charset="2"/>
              <a:buChar char="v"/>
              <a:defRPr/>
            </a:pPr>
            <a:r>
              <a:rPr lang="id-ID" sz="2800" kern="0" dirty="0">
                <a:solidFill>
                  <a:srgbClr val="002060"/>
                </a:solidFill>
              </a:rPr>
              <a:t>COMPANY are fucusing on their </a:t>
            </a:r>
            <a:r>
              <a:rPr lang="id-ID" sz="2800" kern="0" dirty="0">
                <a:solidFill>
                  <a:srgbClr val="C00000"/>
                </a:solidFill>
              </a:rPr>
              <a:t>core business</a:t>
            </a:r>
            <a:r>
              <a:rPr lang="id-ID" sz="2800" kern="0" dirty="0">
                <a:solidFill>
                  <a:srgbClr val="002060"/>
                </a:solidFill>
              </a:rPr>
              <a:t> and managing fewer CONTRACTORS</a:t>
            </a:r>
          </a:p>
          <a:p>
            <a:pPr>
              <a:buFont typeface="Wingdings" pitchFamily="2" charset="2"/>
              <a:buChar char="v"/>
              <a:defRPr/>
            </a:pPr>
            <a:endParaRPr lang="id-ID" sz="2800" kern="0" dirty="0">
              <a:solidFill>
                <a:srgbClr val="002060"/>
              </a:solidFill>
            </a:endParaRPr>
          </a:p>
          <a:p>
            <a:pPr>
              <a:buFont typeface="Wingdings" pitchFamily="2" charset="2"/>
              <a:buChar char="v"/>
              <a:defRPr/>
            </a:pPr>
            <a:r>
              <a:rPr lang="id-ID" sz="2800" kern="0" dirty="0">
                <a:solidFill>
                  <a:srgbClr val="002060"/>
                </a:solidFill>
              </a:rPr>
              <a:t>CONTRACTORS are becoming more </a:t>
            </a:r>
            <a:r>
              <a:rPr lang="id-ID" sz="2800" kern="0" dirty="0">
                <a:solidFill>
                  <a:srgbClr val="C00000"/>
                </a:solidFill>
              </a:rPr>
              <a:t>flexible</a:t>
            </a:r>
            <a:r>
              <a:rPr lang="id-ID" sz="2800" kern="0" dirty="0">
                <a:solidFill>
                  <a:srgbClr val="002060"/>
                </a:solidFill>
              </a:rPr>
              <a:t> in adapting to COMPANY requirement</a:t>
            </a:r>
          </a:p>
          <a:p>
            <a:pPr>
              <a:buFont typeface="Wingdings" pitchFamily="2" charset="2"/>
              <a:buChar char="v"/>
              <a:defRPr/>
            </a:pPr>
            <a:endParaRPr lang="id-ID" sz="2800" kern="0" dirty="0">
              <a:solidFill>
                <a:srgbClr val="002060"/>
              </a:solidFill>
            </a:endParaRPr>
          </a:p>
          <a:p>
            <a:pPr>
              <a:buFont typeface="Wingdings" pitchFamily="2" charset="2"/>
              <a:buChar char="v"/>
              <a:defRPr/>
            </a:pPr>
            <a:r>
              <a:rPr lang="id-ID" sz="2800" kern="0" dirty="0">
                <a:solidFill>
                  <a:srgbClr val="C00000"/>
                </a:solidFill>
              </a:rPr>
              <a:t>Experienced team members</a:t>
            </a:r>
            <a:r>
              <a:rPr lang="id-ID" sz="2800" kern="0" dirty="0">
                <a:solidFill>
                  <a:srgbClr val="002060"/>
                </a:solidFill>
              </a:rPr>
              <a:t> to provide best design and services</a:t>
            </a:r>
          </a:p>
        </p:txBody>
      </p:sp>
      <p:sp>
        <p:nvSpPr>
          <p:cNvPr id="41989" name="TextBox 1"/>
          <p:cNvSpPr txBox="1">
            <a:spLocks noChangeArrowheads="1"/>
          </p:cNvSpPr>
          <p:nvPr/>
        </p:nvSpPr>
        <p:spPr bwMode="auto">
          <a:xfrm>
            <a:off x="1600200" y="6400801"/>
            <a:ext cx="2446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pPr eaLnBrk="1" hangingPunct="1">
              <a:defRPr/>
            </a:pPr>
            <a:r>
              <a:rPr lang="en-US" altLang="en-US" sz="1400" dirty="0">
                <a:solidFill>
                  <a:schemeClr val="bg1">
                    <a:lumMod val="95000"/>
                  </a:schemeClr>
                </a:solidFill>
              </a:rPr>
              <a:t>Refer to SLB IPM brochures </a:t>
            </a:r>
          </a:p>
        </p:txBody>
      </p:sp>
      <p:sp>
        <p:nvSpPr>
          <p:cNvPr id="2" name="Callout: Up Arrow 1">
            <a:extLst>
              <a:ext uri="{FF2B5EF4-FFF2-40B4-BE49-F238E27FC236}">
                <a16:creationId xmlns:a16="http://schemas.microsoft.com/office/drawing/2014/main" id="{42AA0FCD-10E2-4585-AF47-A6F4276A76AE}"/>
              </a:ext>
            </a:extLst>
          </p:cNvPr>
          <p:cNvSpPr/>
          <p:nvPr/>
        </p:nvSpPr>
        <p:spPr>
          <a:xfrm>
            <a:off x="2641600" y="4663440"/>
            <a:ext cx="5852160" cy="1728858"/>
          </a:xfrm>
          <a:prstGeom prst="upArrowCallout">
            <a:avLst>
              <a:gd name="adj1" fmla="val 83325"/>
              <a:gd name="adj2" fmla="val 62911"/>
              <a:gd name="adj3" fmla="val 22083"/>
              <a:gd name="adj4" fmla="val 7081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solidFill>
                  <a:srgbClr val="C00000"/>
                </a:solidFill>
              </a:rPr>
              <a:t>None of the above IPM promises mentioned the competitive drilling well cost ???</a:t>
            </a:r>
            <a:endParaRPr lang="en-ID" sz="2000" b="1" dirty="0">
              <a:solidFill>
                <a:srgbClr val="C00000"/>
              </a:solidFill>
            </a:endParaRPr>
          </a:p>
        </p:txBody>
      </p:sp>
      <p:pic>
        <p:nvPicPr>
          <p:cNvPr id="6" name="Picture 5">
            <a:extLst>
              <a:ext uri="{FF2B5EF4-FFF2-40B4-BE49-F238E27FC236}">
                <a16:creationId xmlns:a16="http://schemas.microsoft.com/office/drawing/2014/main" id="{7F4313E0-BB17-4FC6-AA90-03D48B4EF9D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691816" y="313388"/>
            <a:ext cx="603586" cy="792077"/>
          </a:xfrm>
          <a:prstGeom prst="rect">
            <a:avLst/>
          </a:prstGeom>
        </p:spPr>
      </p:pic>
    </p:spTree>
    <p:extLst>
      <p:ext uri="{BB962C8B-B14F-4D97-AF65-F5344CB8AC3E}">
        <p14:creationId xmlns:p14="http://schemas.microsoft.com/office/powerpoint/2010/main" val="2163594304"/>
      </p:ext>
    </p:extLst>
  </p:cSld>
  <p:clrMapOvr>
    <a:masterClrMapping/>
  </p:clrMapOvr>
  <p:transition spd="slow"/>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0530" y="0"/>
            <a:ext cx="6370320" cy="1143000"/>
          </a:xfrm>
        </p:spPr>
        <p:txBody>
          <a:bodyPr>
            <a:normAutofit fontScale="90000"/>
          </a:bodyPr>
          <a:lstStyle/>
          <a:p>
            <a:r>
              <a:rPr lang="en-US" sz="4000" b="1" dirty="0">
                <a:solidFill>
                  <a:srgbClr val="C00000"/>
                </a:solidFill>
              </a:rPr>
              <a:t>IPM Contractors Market Survey</a:t>
            </a:r>
          </a:p>
        </p:txBody>
      </p:sp>
      <p:sp>
        <p:nvSpPr>
          <p:cNvPr id="3" name="Rectangle 2"/>
          <p:cNvSpPr/>
          <p:nvPr/>
        </p:nvSpPr>
        <p:spPr>
          <a:xfrm>
            <a:off x="6400800" y="1355348"/>
            <a:ext cx="5791200" cy="5262979"/>
          </a:xfrm>
          <a:prstGeom prst="rect">
            <a:avLst/>
          </a:prstGeom>
        </p:spPr>
        <p:txBody>
          <a:bodyPr wrap="square">
            <a:spAutoFit/>
          </a:bodyPr>
          <a:lstStyle/>
          <a:p>
            <a:r>
              <a:rPr lang="en-US" sz="2800" dirty="0">
                <a:solidFill>
                  <a:schemeClr val="accent5">
                    <a:lumMod val="50000"/>
                  </a:schemeClr>
                </a:solidFill>
              </a:rPr>
              <a:t>A major overspent for IPM providers comes from services that </a:t>
            </a:r>
            <a:r>
              <a:rPr lang="en-US" sz="2800" b="1" dirty="0">
                <a:solidFill>
                  <a:srgbClr val="C00000"/>
                </a:solidFill>
              </a:rPr>
              <a:t>are not their core business and outsourced</a:t>
            </a:r>
            <a:r>
              <a:rPr lang="en-US" sz="2800" dirty="0">
                <a:solidFill>
                  <a:srgbClr val="C00000"/>
                </a:solidFill>
              </a:rPr>
              <a:t>. </a:t>
            </a:r>
          </a:p>
          <a:p>
            <a:endParaRPr lang="en-US" sz="2800" dirty="0">
              <a:solidFill>
                <a:schemeClr val="accent5">
                  <a:lumMod val="50000"/>
                </a:schemeClr>
              </a:solidFill>
            </a:endParaRPr>
          </a:p>
          <a:p>
            <a:r>
              <a:rPr lang="en-US" sz="2800" dirty="0">
                <a:solidFill>
                  <a:schemeClr val="accent5">
                    <a:lumMod val="50000"/>
                  </a:schemeClr>
                </a:solidFill>
              </a:rPr>
              <a:t>Those include, drilling rigs, casing, wellheads, logistics, vessels, civil works and a like. On some projects, the degree of outsourcing can reach as much as </a:t>
            </a:r>
            <a:r>
              <a:rPr lang="en-US" sz="2800" b="1" u="sng" dirty="0">
                <a:solidFill>
                  <a:srgbClr val="C00000"/>
                </a:solidFill>
              </a:rPr>
              <a:t>40-90% of IPM scope</a:t>
            </a:r>
            <a:r>
              <a:rPr lang="en-US" sz="2800" b="1" dirty="0">
                <a:solidFill>
                  <a:srgbClr val="C00000"/>
                </a:solidFill>
              </a:rPr>
              <a:t>.</a:t>
            </a:r>
          </a:p>
          <a:p>
            <a:endParaRPr lang="en-US" sz="2800" dirty="0">
              <a:solidFill>
                <a:schemeClr val="accent5">
                  <a:lumMod val="50000"/>
                </a:schemeClr>
              </a:solidFill>
            </a:endParaRP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4271" y="0"/>
            <a:ext cx="5916259" cy="6858000"/>
          </a:xfrm>
          <a:prstGeom prst="rect">
            <a:avLst/>
          </a:prstGeom>
        </p:spPr>
      </p:pic>
      <p:sp>
        <p:nvSpPr>
          <p:cNvPr id="7" name="TextBox 6"/>
          <p:cNvSpPr txBox="1"/>
          <p:nvPr/>
        </p:nvSpPr>
        <p:spPr>
          <a:xfrm>
            <a:off x="2415540" y="5042118"/>
            <a:ext cx="3931920" cy="1815882"/>
          </a:xfrm>
          <a:prstGeom prst="rect">
            <a:avLst/>
          </a:prstGeom>
          <a:solidFill>
            <a:srgbClr val="FFC000"/>
          </a:solidFill>
        </p:spPr>
        <p:txBody>
          <a:bodyPr wrap="square" rtlCol="0">
            <a:spAutoFit/>
          </a:bodyPr>
          <a:lstStyle/>
          <a:p>
            <a:r>
              <a:rPr lang="en-US" sz="2800" dirty="0">
                <a:solidFill>
                  <a:srgbClr val="002060"/>
                </a:solidFill>
              </a:rPr>
              <a:t>Ownership of Drilling Services: </a:t>
            </a:r>
          </a:p>
          <a:p>
            <a:pPr marL="342900" indent="-342900">
              <a:buFont typeface="Arial" panose="020B0604020202020204" pitchFamily="34" charset="0"/>
              <a:buChar char="•"/>
            </a:pPr>
            <a:r>
              <a:rPr lang="en-US" sz="2800" dirty="0">
                <a:solidFill>
                  <a:schemeClr val="bg1"/>
                </a:solidFill>
              </a:rPr>
              <a:t>IPM Vendors: 9%  </a:t>
            </a:r>
          </a:p>
          <a:p>
            <a:pPr marL="342900" indent="-342900">
              <a:buFont typeface="Arial" panose="020B0604020202020204" pitchFamily="34" charset="0"/>
              <a:buChar char="•"/>
            </a:pPr>
            <a:r>
              <a:rPr lang="en-US" sz="2800" dirty="0">
                <a:solidFill>
                  <a:schemeClr val="bg1"/>
                </a:solidFill>
              </a:rPr>
              <a:t>Sub Contractor: 91%</a:t>
            </a:r>
          </a:p>
        </p:txBody>
      </p:sp>
    </p:spTree>
    <p:extLst>
      <p:ext uri="{BB962C8B-B14F-4D97-AF65-F5344CB8AC3E}">
        <p14:creationId xmlns:p14="http://schemas.microsoft.com/office/powerpoint/2010/main" val="303345333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ubtitle 2"/>
          <p:cNvSpPr txBox="1">
            <a:spLocks/>
          </p:cNvSpPr>
          <p:nvPr/>
        </p:nvSpPr>
        <p:spPr bwMode="auto">
          <a:xfrm>
            <a:off x="514545" y="297180"/>
            <a:ext cx="11201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4000" dirty="0">
                <a:solidFill>
                  <a:srgbClr val="D24726"/>
                </a:solidFill>
                <a:ea typeface="Neutraface Text Bold"/>
                <a:cs typeface="Neutraface Text Bold"/>
              </a:rPr>
              <a:t>Review of Drilling Contract Types</a:t>
            </a:r>
          </a:p>
        </p:txBody>
      </p:sp>
      <p:pic>
        <p:nvPicPr>
          <p:cNvPr id="122884"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71891" y="1143000"/>
            <a:ext cx="11086709"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Table 1"/>
          <p:cNvGraphicFramePr>
            <a:graphicFrameLocks noGrp="1"/>
          </p:cNvGraphicFramePr>
          <p:nvPr/>
        </p:nvGraphicFramePr>
        <p:xfrm>
          <a:off x="571891" y="1036320"/>
          <a:ext cx="11086709" cy="370840"/>
        </p:xfrm>
        <a:graphic>
          <a:graphicData uri="http://schemas.openxmlformats.org/drawingml/2006/table">
            <a:tbl>
              <a:tblPr firstRow="1" bandRow="1">
                <a:tableStyleId>{5C22544A-7EE6-4342-B048-85BDC9FD1C3A}</a:tableStyleId>
              </a:tblPr>
              <a:tblGrid>
                <a:gridCol w="11086709">
                  <a:extLst>
                    <a:ext uri="{9D8B030D-6E8A-4147-A177-3AD203B41FA5}">
                      <a16:colId xmlns:a16="http://schemas.microsoft.com/office/drawing/2014/main" val="3218821514"/>
                    </a:ext>
                  </a:extLst>
                </a:gridCol>
              </a:tblGrid>
              <a:tr h="370840">
                <a:tc>
                  <a:txBody>
                    <a:bodyPr/>
                    <a:lstStyle/>
                    <a:p>
                      <a:r>
                        <a:rPr lang="en-US" dirty="0">
                          <a:solidFill>
                            <a:schemeClr val="tx1"/>
                          </a:solidFill>
                        </a:rPr>
                        <a:t>Description           Discrete                  Bundle                      IPM</a:t>
                      </a:r>
                      <a:r>
                        <a:rPr lang="en-US" baseline="0" dirty="0">
                          <a:solidFill>
                            <a:schemeClr val="tx1"/>
                          </a:solidFill>
                        </a:rPr>
                        <a:t>                            Turnkey Project</a:t>
                      </a:r>
                      <a:endParaRPr lang="en-US" dirty="0">
                        <a:solidFill>
                          <a:schemeClr val="tx1"/>
                        </a:solidFill>
                      </a:endParaRPr>
                    </a:p>
                  </a:txBody>
                  <a:tcPr>
                    <a:solidFill>
                      <a:srgbClr val="FFC000"/>
                    </a:solidFill>
                  </a:tcPr>
                </a:tc>
                <a:extLst>
                  <a:ext uri="{0D108BD9-81ED-4DB2-BD59-A6C34878D82A}">
                    <a16:rowId xmlns:a16="http://schemas.microsoft.com/office/drawing/2014/main" val="2464978600"/>
                  </a:ext>
                </a:extLst>
              </a:tr>
            </a:tbl>
          </a:graphicData>
        </a:graphic>
      </p:graphicFrame>
    </p:spTree>
    <p:extLst>
      <p:ext uri="{BB962C8B-B14F-4D97-AF65-F5344CB8AC3E}">
        <p14:creationId xmlns:p14="http://schemas.microsoft.com/office/powerpoint/2010/main" val="1819872520"/>
      </p:ext>
    </p:extLst>
  </p:cSld>
  <p:clrMapOvr>
    <a:masterClrMapping/>
  </p:clrMapOvr>
  <p:transition spd="slow">
    <p:blinds dir="vert"/>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bwMode="auto">
          <a:xfrm>
            <a:off x="1364776" y="327546"/>
            <a:ext cx="8887526" cy="876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altLang="en-US" sz="3600" b="1" dirty="0">
                <a:solidFill>
                  <a:srgbClr val="C00000"/>
                </a:solidFill>
              </a:rPr>
              <a:t>Drilling Project Time Table</a:t>
            </a:r>
          </a:p>
        </p:txBody>
      </p:sp>
      <p:pic>
        <p:nvPicPr>
          <p:cNvPr id="78851"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752600" y="1735139"/>
            <a:ext cx="8793163"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8852" name="TextBox 1"/>
          <p:cNvSpPr txBox="1">
            <a:spLocks noChangeArrowheads="1"/>
          </p:cNvSpPr>
          <p:nvPr/>
        </p:nvSpPr>
        <p:spPr bwMode="auto">
          <a:xfrm>
            <a:off x="1752600" y="1126333"/>
            <a:ext cx="49762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solidFill>
                  <a:srgbClr val="006600"/>
                </a:solidFill>
                <a:latin typeface="Times New Roman" panose="02020603050405020304" pitchFamily="18" charset="0"/>
                <a:ea typeface="ＭＳ Ｐゴシック" panose="020B0600070205080204" pitchFamily="34" charset="-128"/>
              </a:rPr>
              <a:t>DISCRETE Versus IPM Services</a:t>
            </a:r>
          </a:p>
        </p:txBody>
      </p:sp>
      <p:sp>
        <p:nvSpPr>
          <p:cNvPr id="78853" name="TextBox 1"/>
          <p:cNvSpPr txBox="1">
            <a:spLocks noChangeArrowheads="1"/>
          </p:cNvSpPr>
          <p:nvPr/>
        </p:nvSpPr>
        <p:spPr bwMode="auto">
          <a:xfrm>
            <a:off x="2033588" y="5867401"/>
            <a:ext cx="74270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en-US" sz="3200" dirty="0">
                <a:solidFill>
                  <a:srgbClr val="FF0000"/>
                </a:solidFill>
                <a:latin typeface="Times New Roman" panose="02020603050405020304" pitchFamily="18" charset="0"/>
                <a:ea typeface="ＭＳ Ｐゴシック" panose="020B0600070205080204" pitchFamily="34" charset="-128"/>
              </a:rPr>
              <a:t>Longer project delay </a:t>
            </a:r>
            <a:r>
              <a:rPr lang="en-US" altLang="en-US" sz="3200" dirty="0">
                <a:solidFill>
                  <a:srgbClr val="FF0000"/>
                </a:solidFill>
                <a:latin typeface="Times New Roman" panose="02020603050405020304" pitchFamily="18" charset="0"/>
                <a:ea typeface="ＭＳ Ｐゴシック" panose="020B0600070205080204" pitchFamily="34" charset="-128"/>
                <a:sym typeface="Wingdings" panose="05000000000000000000" pitchFamily="2" charset="2"/>
              </a:rPr>
              <a:t></a:t>
            </a:r>
            <a:r>
              <a:rPr lang="en-US" altLang="en-US" sz="3200" dirty="0">
                <a:solidFill>
                  <a:srgbClr val="FF0000"/>
                </a:solidFill>
                <a:latin typeface="Times New Roman" panose="02020603050405020304" pitchFamily="18" charset="0"/>
                <a:ea typeface="ＭＳ Ｐゴシック" panose="020B0600070205080204" pitchFamily="34" charset="-128"/>
              </a:rPr>
              <a:t> more overhead cost</a:t>
            </a:r>
          </a:p>
        </p:txBody>
      </p:sp>
      <p:pic>
        <p:nvPicPr>
          <p:cNvPr id="78855" name="Picture 6" descr="Related imag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399588" y="5655544"/>
            <a:ext cx="11461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Arrow: Up 1">
            <a:extLst>
              <a:ext uri="{FF2B5EF4-FFF2-40B4-BE49-F238E27FC236}">
                <a16:creationId xmlns:a16="http://schemas.microsoft.com/office/drawing/2014/main" id="{8FAE7B65-6FEC-4A69-A81D-3254CBDB0549}"/>
              </a:ext>
            </a:extLst>
          </p:cNvPr>
          <p:cNvSpPr/>
          <p:nvPr/>
        </p:nvSpPr>
        <p:spPr>
          <a:xfrm>
            <a:off x="10515600" y="5913696"/>
            <a:ext cx="955040" cy="584774"/>
          </a:xfrm>
          <a:prstGeom prst="upArrow">
            <a:avLst>
              <a:gd name="adj1" fmla="val 62766"/>
              <a:gd name="adj2" fmla="val 50000"/>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46898710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137" y="0"/>
            <a:ext cx="10972800" cy="1143000"/>
          </a:xfrm>
        </p:spPr>
        <p:txBody>
          <a:bodyPr>
            <a:normAutofit/>
          </a:bodyPr>
          <a:lstStyle/>
          <a:p>
            <a:r>
              <a:rPr lang="en-US" sz="4000" dirty="0">
                <a:solidFill>
                  <a:srgbClr val="002060"/>
                </a:solidFill>
              </a:rPr>
              <a:t>Company Expectation from </a:t>
            </a:r>
            <a:r>
              <a:rPr lang="en-US" sz="4000" b="1" dirty="0">
                <a:solidFill>
                  <a:srgbClr val="C00000"/>
                </a:solidFill>
              </a:rPr>
              <a:t>IPM contracts Scheme</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758485979"/>
              </p:ext>
            </p:extLst>
          </p:nvPr>
        </p:nvGraphicFramePr>
        <p:xfrm>
          <a:off x="609600" y="2027412"/>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2" descr="Integrated Project Management">
            <a:extLst>
              <a:ext uri="{FF2B5EF4-FFF2-40B4-BE49-F238E27FC236}">
                <a16:creationId xmlns:a16="http://schemas.microsoft.com/office/drawing/2014/main" id="{7CB02CD8-6272-404F-892F-B62BD12121B8}"/>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965200" y="3180719"/>
            <a:ext cx="1818640" cy="15702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ee the source image">
            <a:extLst>
              <a:ext uri="{FF2B5EF4-FFF2-40B4-BE49-F238E27FC236}">
                <a16:creationId xmlns:a16="http://schemas.microsoft.com/office/drawing/2014/main" id="{F0FEED1C-51DF-467C-AE2A-37F19F8A9663}"/>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9570719" y="3193565"/>
            <a:ext cx="1818639" cy="162128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97EA5AF-6CCE-460B-931D-FD7983FB6E92}"/>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233790" y="1081016"/>
            <a:ext cx="1703493" cy="1143000"/>
          </a:xfrm>
          <a:prstGeom prst="rect">
            <a:avLst/>
          </a:prstGeom>
        </p:spPr>
      </p:pic>
    </p:spTree>
    <p:extLst>
      <p:ext uri="{BB962C8B-B14F-4D97-AF65-F5344CB8AC3E}">
        <p14:creationId xmlns:p14="http://schemas.microsoft.com/office/powerpoint/2010/main" val="187850861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137" y="0"/>
            <a:ext cx="10972800" cy="1143000"/>
          </a:xfrm>
        </p:spPr>
        <p:txBody>
          <a:bodyPr>
            <a:normAutofit/>
          </a:bodyPr>
          <a:lstStyle/>
          <a:p>
            <a:r>
              <a:rPr lang="en-US" sz="4000" dirty="0">
                <a:solidFill>
                  <a:srgbClr val="002060"/>
                </a:solidFill>
              </a:rPr>
              <a:t>Commercial Elements of </a:t>
            </a:r>
            <a:r>
              <a:rPr lang="en-US" sz="4000" b="1" dirty="0">
                <a:solidFill>
                  <a:srgbClr val="C00000"/>
                </a:solidFill>
              </a:rPr>
              <a:t>IPM contracts</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2194829909"/>
              </p:ext>
            </p:extLst>
          </p:nvPr>
        </p:nvGraphicFramePr>
        <p:xfrm>
          <a:off x="-812800" y="2007092"/>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p:cNvSpPr/>
          <p:nvPr/>
        </p:nvSpPr>
        <p:spPr>
          <a:xfrm>
            <a:off x="4514850" y="1162371"/>
            <a:ext cx="6610350" cy="830997"/>
          </a:xfrm>
          <a:prstGeom prst="rect">
            <a:avLst/>
          </a:prstGeom>
        </p:spPr>
        <p:txBody>
          <a:bodyPr wrap="square">
            <a:spAutoFit/>
          </a:bodyPr>
          <a:lstStyle/>
          <a:p>
            <a:r>
              <a:rPr lang="en-US" sz="2400" u="sng" dirty="0">
                <a:solidFill>
                  <a:srgbClr val="C00000"/>
                </a:solidFill>
              </a:rPr>
              <a:t>Pain-share &amp; Gain-share, </a:t>
            </a:r>
          </a:p>
          <a:p>
            <a:pPr marL="342900" indent="-342900">
              <a:buFont typeface="Arial" panose="020B0604020202020204" pitchFamily="34" charset="0"/>
              <a:buChar char="•"/>
            </a:pPr>
            <a:r>
              <a:rPr lang="en-US" sz="2400" dirty="0">
                <a:solidFill>
                  <a:srgbClr val="C00000"/>
                </a:solidFill>
              </a:rPr>
              <a:t>IPM Contractor: </a:t>
            </a:r>
            <a:r>
              <a:rPr lang="en-US" sz="2400" b="1" dirty="0" err="1">
                <a:solidFill>
                  <a:srgbClr val="FF0000"/>
                </a:solidFill>
              </a:rPr>
              <a:t>Sedikit</a:t>
            </a:r>
            <a:endParaRPr lang="en-US" sz="2400" dirty="0">
              <a:solidFill>
                <a:srgbClr val="C00000"/>
              </a:solidFill>
            </a:endParaRPr>
          </a:p>
        </p:txBody>
      </p:sp>
      <p:sp>
        <p:nvSpPr>
          <p:cNvPr id="6" name="Rectangle 5"/>
          <p:cNvSpPr/>
          <p:nvPr/>
        </p:nvSpPr>
        <p:spPr>
          <a:xfrm>
            <a:off x="7874793" y="3109900"/>
            <a:ext cx="4317207" cy="1569660"/>
          </a:xfrm>
          <a:prstGeom prst="rect">
            <a:avLst/>
          </a:prstGeom>
        </p:spPr>
        <p:txBody>
          <a:bodyPr wrap="none">
            <a:spAutoFit/>
          </a:bodyPr>
          <a:lstStyle/>
          <a:p>
            <a:r>
              <a:rPr lang="en-US" sz="2400" u="sng" dirty="0">
                <a:solidFill>
                  <a:srgbClr val="C00000"/>
                </a:solidFill>
              </a:rPr>
              <a:t>Reimbursable price list</a:t>
            </a:r>
          </a:p>
          <a:p>
            <a:pPr marL="342900" indent="-342900">
              <a:buFont typeface="Arial" panose="020B0604020202020204" pitchFamily="34" charset="0"/>
              <a:buChar char="•"/>
            </a:pPr>
            <a:r>
              <a:rPr lang="en-US" sz="2400" dirty="0">
                <a:solidFill>
                  <a:schemeClr val="accent5">
                    <a:lumMod val="50000"/>
                  </a:schemeClr>
                </a:solidFill>
              </a:rPr>
              <a:t>Minimum risk to Contractor</a:t>
            </a:r>
          </a:p>
          <a:p>
            <a:pPr marL="342900" indent="-342900">
              <a:buFont typeface="Arial" panose="020B0604020202020204" pitchFamily="34" charset="0"/>
              <a:buChar char="•"/>
            </a:pPr>
            <a:r>
              <a:rPr lang="en-US" sz="2400" b="1" dirty="0">
                <a:solidFill>
                  <a:srgbClr val="C00000"/>
                </a:solidFill>
              </a:rPr>
              <a:t>Major Risk to Company</a:t>
            </a:r>
          </a:p>
          <a:p>
            <a:pPr marL="342900" indent="-342900">
              <a:buFont typeface="Arial" panose="020B0604020202020204" pitchFamily="34" charset="0"/>
              <a:buChar char="•"/>
            </a:pPr>
            <a:r>
              <a:rPr lang="en-US" sz="2400" dirty="0">
                <a:solidFill>
                  <a:srgbClr val="002060"/>
                </a:solidFill>
              </a:rPr>
              <a:t>IPM Contractor: </a:t>
            </a:r>
            <a:r>
              <a:rPr lang="en-US" sz="2400" b="1" dirty="0">
                <a:solidFill>
                  <a:srgbClr val="002060"/>
                </a:solidFill>
              </a:rPr>
              <a:t>All</a:t>
            </a:r>
          </a:p>
        </p:txBody>
      </p:sp>
      <p:sp>
        <p:nvSpPr>
          <p:cNvPr id="7" name="Rectangle 6"/>
          <p:cNvSpPr/>
          <p:nvPr/>
        </p:nvSpPr>
        <p:spPr>
          <a:xfrm>
            <a:off x="152400" y="2286053"/>
            <a:ext cx="3810000" cy="830997"/>
          </a:xfrm>
          <a:prstGeom prst="rect">
            <a:avLst/>
          </a:prstGeom>
        </p:spPr>
        <p:txBody>
          <a:bodyPr wrap="square">
            <a:spAutoFit/>
          </a:bodyPr>
          <a:lstStyle/>
          <a:p>
            <a:r>
              <a:rPr lang="en-US" sz="2400" u="sng" dirty="0">
                <a:solidFill>
                  <a:srgbClr val="C00000"/>
                </a:solidFill>
              </a:rPr>
              <a:t>Risk at Contractor, </a:t>
            </a:r>
          </a:p>
          <a:p>
            <a:pPr marL="342900" indent="-342900">
              <a:buFont typeface="Arial" panose="020B0604020202020204" pitchFamily="34" charset="0"/>
              <a:buChar char="•"/>
            </a:pPr>
            <a:r>
              <a:rPr lang="en-US" sz="2400" dirty="0">
                <a:solidFill>
                  <a:srgbClr val="C00000"/>
                </a:solidFill>
              </a:rPr>
              <a:t>IPM Contractor: </a:t>
            </a:r>
            <a:r>
              <a:rPr lang="en-US" sz="2400" b="1" dirty="0">
                <a:solidFill>
                  <a:srgbClr val="FF0000"/>
                </a:solidFill>
              </a:rPr>
              <a:t>None</a:t>
            </a:r>
          </a:p>
        </p:txBody>
      </p:sp>
    </p:spTree>
    <p:extLst>
      <p:ext uri="{BB962C8B-B14F-4D97-AF65-F5344CB8AC3E}">
        <p14:creationId xmlns:p14="http://schemas.microsoft.com/office/powerpoint/2010/main" val="14469688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CEEDF-F8D0-3613-19B1-7163C0ED2274}"/>
              </a:ext>
            </a:extLst>
          </p:cNvPr>
          <p:cNvSpPr>
            <a:spLocks noGrp="1"/>
          </p:cNvSpPr>
          <p:nvPr>
            <p:ph type="title"/>
          </p:nvPr>
        </p:nvSpPr>
        <p:spPr>
          <a:xfrm>
            <a:off x="521207" y="448056"/>
            <a:ext cx="11064436" cy="640080"/>
          </a:xfrm>
        </p:spPr>
        <p:txBody>
          <a:bodyPr>
            <a:normAutofit/>
          </a:bodyPr>
          <a:lstStyle/>
          <a:p>
            <a:r>
              <a:rPr lang="en-US" sz="3200" dirty="0"/>
              <a:t>How IPM Contractor to build best Pricing ?</a:t>
            </a:r>
          </a:p>
        </p:txBody>
      </p:sp>
      <p:graphicFrame>
        <p:nvGraphicFramePr>
          <p:cNvPr id="4" name="Diagram 3">
            <a:extLst>
              <a:ext uri="{FF2B5EF4-FFF2-40B4-BE49-F238E27FC236}">
                <a16:creationId xmlns:a16="http://schemas.microsoft.com/office/drawing/2014/main" id="{726ABA2C-02F0-4214-BCDC-690237FDDAA2}"/>
              </a:ext>
            </a:extLst>
          </p:cNvPr>
          <p:cNvGraphicFramePr/>
          <p:nvPr>
            <p:extLst>
              <p:ext uri="{D42A27DB-BD31-4B8C-83A1-F6EECF244321}">
                <p14:modId xmlns:p14="http://schemas.microsoft.com/office/powerpoint/2010/main" val="1965020663"/>
              </p:ext>
            </p:extLst>
          </p:nvPr>
        </p:nvGraphicFramePr>
        <p:xfrm>
          <a:off x="1886085" y="1274142"/>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lowchart: Delay 6">
            <a:extLst>
              <a:ext uri="{FF2B5EF4-FFF2-40B4-BE49-F238E27FC236}">
                <a16:creationId xmlns:a16="http://schemas.microsoft.com/office/drawing/2014/main" id="{100F20D5-EE77-EB8A-07D4-64213A40B6E6}"/>
              </a:ext>
            </a:extLst>
          </p:cNvPr>
          <p:cNvSpPr/>
          <p:nvPr/>
        </p:nvSpPr>
        <p:spPr>
          <a:xfrm>
            <a:off x="1303506" y="1380147"/>
            <a:ext cx="2333557" cy="972766"/>
          </a:xfrm>
          <a:prstGeom prst="flowChartDelay">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5">
                    <a:lumMod val="50000"/>
                  </a:schemeClr>
                </a:solidFill>
              </a:rPr>
              <a:t>Best Market Price:</a:t>
            </a:r>
          </a:p>
          <a:p>
            <a:pPr marL="285750" indent="-285750">
              <a:buFont typeface="Arial" panose="020B0604020202020204" pitchFamily="34" charset="0"/>
              <a:buChar char="•"/>
            </a:pPr>
            <a:r>
              <a:rPr lang="en-US" dirty="0">
                <a:solidFill>
                  <a:schemeClr val="accent5">
                    <a:lumMod val="50000"/>
                  </a:schemeClr>
                </a:solidFill>
              </a:rPr>
              <a:t>Own services</a:t>
            </a:r>
          </a:p>
          <a:p>
            <a:pPr marL="285750" indent="-285750">
              <a:buFont typeface="Arial" panose="020B0604020202020204" pitchFamily="34" charset="0"/>
              <a:buChar char="•"/>
            </a:pPr>
            <a:r>
              <a:rPr lang="en-US" dirty="0">
                <a:solidFill>
                  <a:schemeClr val="accent5">
                    <a:lumMod val="50000"/>
                  </a:schemeClr>
                </a:solidFill>
              </a:rPr>
              <a:t>Outsource </a:t>
            </a:r>
          </a:p>
        </p:txBody>
      </p:sp>
      <p:sp>
        <p:nvSpPr>
          <p:cNvPr id="8" name="Flowchart: Delay 7">
            <a:extLst>
              <a:ext uri="{FF2B5EF4-FFF2-40B4-BE49-F238E27FC236}">
                <a16:creationId xmlns:a16="http://schemas.microsoft.com/office/drawing/2014/main" id="{D83CBA99-9657-29A1-8236-9B7A9CDB2A1E}"/>
              </a:ext>
            </a:extLst>
          </p:cNvPr>
          <p:cNvSpPr/>
          <p:nvPr/>
        </p:nvSpPr>
        <p:spPr>
          <a:xfrm>
            <a:off x="1303506" y="3429000"/>
            <a:ext cx="2333557" cy="972766"/>
          </a:xfrm>
          <a:prstGeom prst="flowChartDelay">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indent="-117475">
              <a:buFont typeface="Arial" panose="020B0604020202020204" pitchFamily="34" charset="0"/>
              <a:buChar char="•"/>
            </a:pPr>
            <a:r>
              <a:rPr lang="en-US" dirty="0">
                <a:solidFill>
                  <a:schemeClr val="accent5">
                    <a:lumMod val="50000"/>
                  </a:schemeClr>
                </a:solidFill>
              </a:rPr>
              <a:t>Un-certain cost</a:t>
            </a:r>
          </a:p>
          <a:p>
            <a:pPr marL="117475" indent="-117475">
              <a:buFont typeface="Arial" panose="020B0604020202020204" pitchFamily="34" charset="0"/>
              <a:buChar char="•"/>
            </a:pPr>
            <a:r>
              <a:rPr lang="en-US" dirty="0">
                <a:solidFill>
                  <a:schemeClr val="accent5">
                    <a:lumMod val="50000"/>
                  </a:schemeClr>
                </a:solidFill>
              </a:rPr>
              <a:t>Un-plan cost</a:t>
            </a:r>
          </a:p>
          <a:p>
            <a:pPr marL="117475" indent="-117475">
              <a:buFont typeface="Arial" panose="020B0604020202020204" pitchFamily="34" charset="0"/>
              <a:buChar char="•"/>
            </a:pPr>
            <a:r>
              <a:rPr lang="en-US" dirty="0">
                <a:solidFill>
                  <a:schemeClr val="accent5">
                    <a:lumMod val="50000"/>
                  </a:schemeClr>
                </a:solidFill>
              </a:rPr>
              <a:t>Community cost</a:t>
            </a:r>
          </a:p>
        </p:txBody>
      </p:sp>
      <p:sp>
        <p:nvSpPr>
          <p:cNvPr id="9" name="TextBox 8">
            <a:extLst>
              <a:ext uri="{FF2B5EF4-FFF2-40B4-BE49-F238E27FC236}">
                <a16:creationId xmlns:a16="http://schemas.microsoft.com/office/drawing/2014/main" id="{C6353D84-CFC7-94AA-BA68-3404278F3F1D}"/>
              </a:ext>
            </a:extLst>
          </p:cNvPr>
          <p:cNvSpPr txBox="1"/>
          <p:nvPr/>
        </p:nvSpPr>
        <p:spPr>
          <a:xfrm>
            <a:off x="2545845" y="5884274"/>
            <a:ext cx="1324402" cy="400110"/>
          </a:xfrm>
          <a:prstGeom prst="rect">
            <a:avLst/>
          </a:prstGeom>
          <a:noFill/>
        </p:spPr>
        <p:txBody>
          <a:bodyPr wrap="none" rtlCol="0">
            <a:spAutoFit/>
          </a:bodyPr>
          <a:lstStyle/>
          <a:p>
            <a:r>
              <a:rPr lang="en-US" sz="2000" b="1" dirty="0">
                <a:solidFill>
                  <a:schemeClr val="accent5">
                    <a:lumMod val="50000"/>
                  </a:schemeClr>
                </a:solidFill>
              </a:rPr>
              <a:t>10%-20%</a:t>
            </a:r>
          </a:p>
        </p:txBody>
      </p:sp>
      <p:sp>
        <p:nvSpPr>
          <p:cNvPr id="10" name="TextBox 9">
            <a:extLst>
              <a:ext uri="{FF2B5EF4-FFF2-40B4-BE49-F238E27FC236}">
                <a16:creationId xmlns:a16="http://schemas.microsoft.com/office/drawing/2014/main" id="{131460BF-C266-3656-56E8-C3C4F3F67184}"/>
              </a:ext>
            </a:extLst>
          </p:cNvPr>
          <p:cNvSpPr txBox="1"/>
          <p:nvPr/>
        </p:nvSpPr>
        <p:spPr>
          <a:xfrm rot="19307062">
            <a:off x="4702607" y="3114418"/>
            <a:ext cx="1077539" cy="369332"/>
          </a:xfrm>
          <a:prstGeom prst="rect">
            <a:avLst/>
          </a:prstGeom>
          <a:noFill/>
        </p:spPr>
        <p:txBody>
          <a:bodyPr wrap="none" rtlCol="0">
            <a:spAutoFit/>
          </a:bodyPr>
          <a:lstStyle/>
          <a:p>
            <a:r>
              <a:rPr lang="en-US" b="1" dirty="0">
                <a:solidFill>
                  <a:srgbClr val="FF0000"/>
                </a:solidFill>
              </a:rPr>
              <a:t>5%-15%</a:t>
            </a:r>
          </a:p>
        </p:txBody>
      </p:sp>
      <p:sp>
        <p:nvSpPr>
          <p:cNvPr id="11" name="TextBox 10">
            <a:extLst>
              <a:ext uri="{FF2B5EF4-FFF2-40B4-BE49-F238E27FC236}">
                <a16:creationId xmlns:a16="http://schemas.microsoft.com/office/drawing/2014/main" id="{0A601505-B9F7-6917-D9C6-8A48A07D844D}"/>
              </a:ext>
            </a:extLst>
          </p:cNvPr>
          <p:cNvSpPr txBox="1"/>
          <p:nvPr/>
        </p:nvSpPr>
        <p:spPr>
          <a:xfrm>
            <a:off x="8826671" y="3715328"/>
            <a:ext cx="2624436" cy="461665"/>
          </a:xfrm>
          <a:prstGeom prst="rect">
            <a:avLst/>
          </a:prstGeom>
          <a:noFill/>
        </p:spPr>
        <p:txBody>
          <a:bodyPr wrap="none" rtlCol="0">
            <a:spAutoFit/>
          </a:bodyPr>
          <a:lstStyle/>
          <a:p>
            <a:r>
              <a:rPr lang="en-US" sz="2400" b="1" dirty="0">
                <a:solidFill>
                  <a:srgbClr val="FF0000"/>
                </a:solidFill>
              </a:rPr>
              <a:t>15%-35% Higher</a:t>
            </a:r>
          </a:p>
        </p:txBody>
      </p:sp>
    </p:spTree>
    <p:extLst>
      <p:ext uri="{BB962C8B-B14F-4D97-AF65-F5344CB8AC3E}">
        <p14:creationId xmlns:p14="http://schemas.microsoft.com/office/powerpoint/2010/main" val="51121176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ubtitle 2"/>
          <p:cNvSpPr txBox="1">
            <a:spLocks/>
          </p:cNvSpPr>
          <p:nvPr/>
        </p:nvSpPr>
        <p:spPr bwMode="auto">
          <a:xfrm>
            <a:off x="1396790" y="384871"/>
            <a:ext cx="86106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dirty="0">
                <a:solidFill>
                  <a:schemeClr val="accent6">
                    <a:lumMod val="50000"/>
                  </a:schemeClr>
                </a:solidFill>
                <a:ea typeface="Neutraface Text Bold"/>
                <a:cs typeface="Neutraface Text Bold"/>
              </a:rPr>
              <a:t>Typical problem – IPM Drilling (</a:t>
            </a:r>
            <a:r>
              <a:rPr lang="en-US" altLang="en-US" dirty="0" err="1">
                <a:solidFill>
                  <a:schemeClr val="accent6">
                    <a:lumMod val="50000"/>
                  </a:schemeClr>
                </a:solidFill>
                <a:ea typeface="Neutraface Text Bold"/>
                <a:cs typeface="Neutraface Text Bold"/>
              </a:rPr>
              <a:t>Lumpsum</a:t>
            </a:r>
            <a:r>
              <a:rPr lang="en-US" altLang="en-US" dirty="0">
                <a:solidFill>
                  <a:schemeClr val="accent6">
                    <a:lumMod val="50000"/>
                  </a:schemeClr>
                </a:solidFill>
                <a:ea typeface="Neutraface Text Bold"/>
                <a:cs typeface="Neutraface Text Bold"/>
              </a:rPr>
              <a:t>)</a:t>
            </a:r>
          </a:p>
        </p:txBody>
      </p:sp>
      <p:sp>
        <p:nvSpPr>
          <p:cNvPr id="67587" name="Rectangle 4"/>
          <p:cNvSpPr>
            <a:spLocks noChangeArrowheads="1"/>
          </p:cNvSpPr>
          <p:nvPr/>
        </p:nvSpPr>
        <p:spPr bwMode="auto">
          <a:xfrm>
            <a:off x="1168373" y="1220592"/>
            <a:ext cx="9855253"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AutoNum type="arabicPeriod"/>
            </a:pPr>
            <a:r>
              <a:rPr lang="en-US" altLang="en-US" sz="2800" b="1" dirty="0">
                <a:solidFill>
                  <a:srgbClr val="C00000"/>
                </a:solidFill>
                <a:latin typeface="Times New Roman" panose="02020603050405020304" pitchFamily="18" charset="0"/>
                <a:cs typeface="Arial" panose="020B0604020202020204" pitchFamily="34" charset="0"/>
              </a:rPr>
              <a:t>Dispute – additional cost </a:t>
            </a:r>
            <a:r>
              <a:rPr lang="en-US" altLang="en-US" sz="2800" b="1" dirty="0">
                <a:solidFill>
                  <a:srgbClr val="C00000"/>
                </a:solidFill>
                <a:latin typeface="Times New Roman" panose="02020603050405020304" pitchFamily="18" charset="0"/>
                <a:cs typeface="Arial" panose="020B0604020202020204" pitchFamily="34" charset="0"/>
                <a:sym typeface="Wingdings" panose="05000000000000000000" pitchFamily="2" charset="2"/>
              </a:rPr>
              <a:t> un-predictable drilling events</a:t>
            </a:r>
            <a:endParaRPr lang="en-US" altLang="en-US" sz="2800" b="1" dirty="0">
              <a:solidFill>
                <a:srgbClr val="C00000"/>
              </a:solidFill>
              <a:latin typeface="Times New Roman" panose="02020603050405020304" pitchFamily="18" charset="0"/>
              <a:cs typeface="Arial" panose="020B0604020202020204" pitchFamily="34" charset="0"/>
            </a:endParaRP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rPr>
              <a:t>Less Flexibility to change </a:t>
            </a: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 Tight IPM contract</a:t>
            </a:r>
            <a:endParaRPr lang="en-US" altLang="en-US" sz="2000" dirty="0">
              <a:solidFill>
                <a:srgbClr val="C00000"/>
              </a:solidFill>
              <a:latin typeface="Times New Roman" panose="02020603050405020304" pitchFamily="18" charset="0"/>
              <a:cs typeface="Arial" panose="020B0604020202020204" pitchFamily="34" charset="0"/>
            </a:endParaRP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rPr>
              <a:t>Low quality of drilling services </a:t>
            </a: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 Sister company of IPM, cheap sub-contract price</a:t>
            </a:r>
            <a:endParaRPr lang="en-US" altLang="en-US" sz="2000" dirty="0">
              <a:solidFill>
                <a:srgbClr val="C00000"/>
              </a:solidFill>
              <a:latin typeface="Times New Roman" panose="02020603050405020304" pitchFamily="18" charset="0"/>
              <a:cs typeface="Arial" panose="020B0604020202020204" pitchFamily="34" charset="0"/>
            </a:endParaRPr>
          </a:p>
          <a:p>
            <a:pPr eaLnBrk="1" hangingPunct="1">
              <a:spcBef>
                <a:spcPct val="0"/>
              </a:spcBef>
              <a:buFontTx/>
              <a:buAutoNum type="arabicPeriod"/>
            </a:pPr>
            <a:r>
              <a:rPr lang="en-US" altLang="en-US" sz="2400" b="1" dirty="0">
                <a:solidFill>
                  <a:srgbClr val="C00000"/>
                </a:solidFill>
                <a:latin typeface="Times New Roman" panose="02020603050405020304" pitchFamily="18" charset="0"/>
                <a:cs typeface="Arial" panose="020B0604020202020204" pitchFamily="34" charset="0"/>
              </a:rPr>
              <a:t>Book Price utilization </a:t>
            </a:r>
            <a:r>
              <a:rPr lang="en-US" altLang="en-US" sz="2400" b="1" dirty="0">
                <a:solidFill>
                  <a:srgbClr val="C00000"/>
                </a:solidFill>
                <a:latin typeface="Times New Roman" panose="02020603050405020304" pitchFamily="18" charset="0"/>
                <a:cs typeface="Arial" panose="020B0604020202020204" pitchFamily="34" charset="0"/>
                <a:sym typeface="Wingdings" panose="05000000000000000000" pitchFamily="2" charset="2"/>
              </a:rPr>
              <a:t> in-complete pricing system</a:t>
            </a:r>
            <a:endParaRPr lang="en-US" altLang="en-US" sz="2400" b="1" dirty="0">
              <a:solidFill>
                <a:srgbClr val="C00000"/>
              </a:solidFill>
              <a:latin typeface="Times New Roman" panose="02020603050405020304" pitchFamily="18" charset="0"/>
              <a:cs typeface="Arial" panose="020B0604020202020204" pitchFamily="34" charset="0"/>
            </a:endParaRP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rPr>
              <a:t>Delay on payment to Sub Contractor </a:t>
            </a: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rPr>
              <a:t>Lack of HSE awareness </a:t>
            </a: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 </a:t>
            </a:r>
            <a:endParaRPr lang="en-US" altLang="en-US" sz="2000" dirty="0">
              <a:solidFill>
                <a:srgbClr val="C00000"/>
              </a:solidFill>
              <a:latin typeface="Times New Roman" panose="02020603050405020304" pitchFamily="18" charset="0"/>
              <a:cs typeface="Arial" panose="020B0604020202020204" pitchFamily="34" charset="0"/>
            </a:endParaRP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rPr>
              <a:t>Exceed maximum working days </a:t>
            </a: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 less control from Company</a:t>
            </a:r>
            <a:endParaRPr lang="en-US" altLang="en-US" sz="2000" dirty="0">
              <a:solidFill>
                <a:srgbClr val="C00000"/>
              </a:solidFill>
              <a:latin typeface="Times New Roman" panose="02020603050405020304" pitchFamily="18" charset="0"/>
              <a:cs typeface="Arial" panose="020B0604020202020204" pitchFamily="34" charset="0"/>
            </a:endParaRP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rPr>
              <a:t>High price on LIH </a:t>
            </a: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 not be evaluated in bidding</a:t>
            </a: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Community issue  not part of IPM business</a:t>
            </a:r>
          </a:p>
          <a:p>
            <a:pPr eaLnBrk="1" hangingPunct="1">
              <a:spcBef>
                <a:spcPct val="0"/>
              </a:spcBef>
              <a:buFontTx/>
              <a:buAutoNum type="arabicPeriod"/>
            </a:pPr>
            <a:r>
              <a:rPr lang="en-US" altLang="en-US" sz="2400" b="1" dirty="0">
                <a:solidFill>
                  <a:srgbClr val="C00000"/>
                </a:solidFill>
                <a:latin typeface="Times New Roman" panose="02020603050405020304" pitchFamily="18" charset="0"/>
                <a:cs typeface="Arial" panose="020B0604020202020204" pitchFamily="34" charset="0"/>
                <a:sym typeface="Wingdings" panose="05000000000000000000" pitchFamily="2" charset="2"/>
              </a:rPr>
              <a:t>Conflict of interest  Big Contract Value</a:t>
            </a: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Logistic issue  Weak of financial capability</a:t>
            </a: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Timesheet manipulation  less control from Company</a:t>
            </a: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In complete responsible matrix  to big scope of work</a:t>
            </a: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Commencement date dispute</a:t>
            </a: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rPr>
              <a:t>Excess Rig equipment problem </a:t>
            </a: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 limited drilling area</a:t>
            </a:r>
          </a:p>
          <a:p>
            <a:pPr eaLnBrk="1" hangingPunct="1">
              <a:spcBef>
                <a:spcPct val="0"/>
              </a:spcBef>
              <a:buFontTx/>
              <a:buAutoNum type="arabicPeriod"/>
            </a:pPr>
            <a:r>
              <a:rPr lang="en-US" altLang="en-US" sz="2000" dirty="0">
                <a:solidFill>
                  <a:srgbClr val="C00000"/>
                </a:solidFill>
                <a:latin typeface="Times New Roman" panose="02020603050405020304" pitchFamily="18" charset="0"/>
                <a:cs typeface="Arial" panose="020B0604020202020204" pitchFamily="34" charset="0"/>
                <a:sym typeface="Wingdings" panose="05000000000000000000" pitchFamily="2" charset="2"/>
              </a:rPr>
              <a:t>Use unnecessary services, material or chemicals  less control from Company.</a:t>
            </a:r>
          </a:p>
          <a:p>
            <a:pPr eaLnBrk="1" hangingPunct="1">
              <a:spcBef>
                <a:spcPct val="0"/>
              </a:spcBef>
              <a:buFontTx/>
              <a:buAutoNum type="arabicPeriod"/>
            </a:pPr>
            <a:r>
              <a:rPr lang="en-US" altLang="en-US" sz="2400" b="1" dirty="0">
                <a:solidFill>
                  <a:srgbClr val="C00000"/>
                </a:solidFill>
                <a:latin typeface="Times New Roman" panose="02020603050405020304" pitchFamily="18" charset="0"/>
                <a:cs typeface="Arial" panose="020B0604020202020204" pitchFamily="34" charset="0"/>
                <a:sym typeface="Wingdings" panose="05000000000000000000" pitchFamily="2" charset="2"/>
              </a:rPr>
              <a:t>Longer decision in handling drilling problem which cost related.</a:t>
            </a:r>
            <a:endParaRPr lang="en-US" altLang="en-US" sz="2400" b="1" dirty="0">
              <a:solidFill>
                <a:srgbClr val="C00000"/>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148092327"/>
      </p:ext>
    </p:extLst>
  </p:cSld>
  <p:clrMapOvr>
    <a:masterClrMapping/>
  </p:clrMapOvr>
  <p:transition spd="slow">
    <p:blinds dir="vert"/>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ubtitle 2"/>
          <p:cNvSpPr txBox="1">
            <a:spLocks/>
          </p:cNvSpPr>
          <p:nvPr/>
        </p:nvSpPr>
        <p:spPr bwMode="auto">
          <a:xfrm>
            <a:off x="2362200" y="311085"/>
            <a:ext cx="81534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3600" dirty="0">
                <a:solidFill>
                  <a:schemeClr val="accent6">
                    <a:lumMod val="50000"/>
                  </a:schemeClr>
                </a:solidFill>
                <a:ea typeface="Neutraface Text Bold"/>
                <a:cs typeface="Neutraface Text Bold"/>
              </a:rPr>
              <a:t>Strong Legal Expert </a:t>
            </a:r>
            <a:r>
              <a:rPr lang="en-US" altLang="en-US" sz="3600" dirty="0">
                <a:solidFill>
                  <a:srgbClr val="C00000"/>
                </a:solidFill>
                <a:ea typeface="Neutraface Text Bold"/>
                <a:cs typeface="Neutraface Text Bold"/>
              </a:rPr>
              <a:t>– IPM Contract</a:t>
            </a:r>
          </a:p>
        </p:txBody>
      </p:sp>
      <p:graphicFrame>
        <p:nvGraphicFramePr>
          <p:cNvPr id="3" name="Diagram 2"/>
          <p:cNvGraphicFramePr/>
          <p:nvPr/>
        </p:nvGraphicFramePr>
        <p:xfrm>
          <a:off x="1448193" y="1234910"/>
          <a:ext cx="9295614" cy="55266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4F47D2C0-8574-40E2-926E-C419709C6AB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92944" y="2771775"/>
            <a:ext cx="2124075" cy="2124075"/>
          </a:xfrm>
          <a:prstGeom prst="rect">
            <a:avLst/>
          </a:prstGeom>
        </p:spPr>
      </p:pic>
      <p:pic>
        <p:nvPicPr>
          <p:cNvPr id="5" name="Picture 4">
            <a:extLst>
              <a:ext uri="{FF2B5EF4-FFF2-40B4-BE49-F238E27FC236}">
                <a16:creationId xmlns:a16="http://schemas.microsoft.com/office/drawing/2014/main" id="{BE80473A-49FE-4A67-B6C4-545326EF4CFE}"/>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202044" y="2771775"/>
            <a:ext cx="2915919" cy="1950021"/>
          </a:xfrm>
          <a:prstGeom prst="rect">
            <a:avLst/>
          </a:prstGeom>
        </p:spPr>
      </p:pic>
      <p:grpSp>
        <p:nvGrpSpPr>
          <p:cNvPr id="2" name="Group 7">
            <a:extLst>
              <a:ext uri="{FF2B5EF4-FFF2-40B4-BE49-F238E27FC236}">
                <a16:creationId xmlns:a16="http://schemas.microsoft.com/office/drawing/2014/main" id="{2C7C642A-D0F1-3C09-5CFD-4327C59261CD}"/>
              </a:ext>
            </a:extLst>
          </p:cNvPr>
          <p:cNvGrpSpPr/>
          <p:nvPr/>
        </p:nvGrpSpPr>
        <p:grpSpPr>
          <a:xfrm>
            <a:off x="9798995" y="231307"/>
            <a:ext cx="2029839" cy="782003"/>
            <a:chOff x="0" y="0"/>
            <a:chExt cx="6531488" cy="2226149"/>
          </a:xfrm>
        </p:grpSpPr>
        <p:sp>
          <p:nvSpPr>
            <p:cNvPr id="6" name="Freeform 8">
              <a:extLst>
                <a:ext uri="{FF2B5EF4-FFF2-40B4-BE49-F238E27FC236}">
                  <a16:creationId xmlns:a16="http://schemas.microsoft.com/office/drawing/2014/main" id="{FF92B2E6-23B9-4EDA-EB21-AFEF9FBA61B2}"/>
                </a:ext>
              </a:extLst>
            </p:cNvPr>
            <p:cNvSpPr/>
            <p:nvPr/>
          </p:nvSpPr>
          <p:spPr>
            <a:xfrm>
              <a:off x="0" y="0"/>
              <a:ext cx="6531483" cy="2226183"/>
            </a:xfrm>
            <a:custGeom>
              <a:avLst/>
              <a:gdLst/>
              <a:ahLst/>
              <a:cxnLst/>
              <a:rect l="l" t="t" r="r" b="b"/>
              <a:pathLst>
                <a:path w="6531483" h="2226183">
                  <a:moveTo>
                    <a:pt x="0" y="0"/>
                  </a:moveTo>
                  <a:lnTo>
                    <a:pt x="6531483" y="0"/>
                  </a:lnTo>
                  <a:lnTo>
                    <a:pt x="6531483" y="2226183"/>
                  </a:lnTo>
                  <a:lnTo>
                    <a:pt x="0" y="2226183"/>
                  </a:lnTo>
                  <a:lnTo>
                    <a:pt x="0" y="0"/>
                  </a:lnTo>
                  <a:close/>
                </a:path>
              </a:pathLst>
            </a:custGeom>
            <a:blipFill>
              <a:blip r:embed="rId9"/>
              <a:stretch>
                <a:fillRect t="-61" b="-59"/>
              </a:stretch>
            </a:blipFill>
          </p:spPr>
          <p:txBody>
            <a:bodyPr/>
            <a:lstStyle/>
            <a:p>
              <a:endParaRPr lang="en-ID"/>
            </a:p>
          </p:txBody>
        </p:sp>
      </p:grpSp>
    </p:spTree>
    <p:extLst>
      <p:ext uri="{BB962C8B-B14F-4D97-AF65-F5344CB8AC3E}">
        <p14:creationId xmlns:p14="http://schemas.microsoft.com/office/powerpoint/2010/main" val="3870520572"/>
      </p:ext>
    </p:extLst>
  </p:cSld>
  <p:clrMapOvr>
    <a:masterClrMapping/>
  </p:clrMapOvr>
  <p:transition spd="slow">
    <p:blinds dir="vert"/>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6693-DA5B-4C37-B090-5921AFA27C5A}"/>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23CC8856-4E4B-4B4B-89EA-5317A0BE684F}"/>
              </a:ext>
            </a:extLst>
          </p:cNvPr>
          <p:cNvSpPr>
            <a:spLocks noGrp="1"/>
          </p:cNvSpPr>
          <p:nvPr>
            <p:ph sz="quarter" idx="10"/>
          </p:nvPr>
        </p:nvSpPr>
        <p:spPr/>
        <p:txBody>
          <a:bodyPr/>
          <a:lstStyle/>
          <a:p>
            <a:endParaRPr lang="en-ID"/>
          </a:p>
        </p:txBody>
      </p:sp>
      <p:pic>
        <p:nvPicPr>
          <p:cNvPr id="4" name="Picture 2" descr="See the source image">
            <a:extLst>
              <a:ext uri="{FF2B5EF4-FFF2-40B4-BE49-F238E27FC236}">
                <a16:creationId xmlns:a16="http://schemas.microsoft.com/office/drawing/2014/main" id="{8BF5B894-6480-4C8F-BE41-C35CB64518C1}"/>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26" y="11398"/>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071518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2949-1387-7FB6-9389-6BA37072EC31}"/>
              </a:ext>
            </a:extLst>
          </p:cNvPr>
          <p:cNvSpPr>
            <a:spLocks noGrp="1"/>
          </p:cNvSpPr>
          <p:nvPr>
            <p:ph type="title"/>
          </p:nvPr>
        </p:nvSpPr>
        <p:spPr>
          <a:xfrm>
            <a:off x="492024" y="3108960"/>
            <a:ext cx="11036384" cy="640080"/>
          </a:xfrm>
        </p:spPr>
        <p:txBody>
          <a:bodyPr>
            <a:normAutofit/>
          </a:bodyPr>
          <a:lstStyle/>
          <a:p>
            <a:pPr algn="ctr"/>
            <a:r>
              <a:rPr lang="en-ID" sz="3200" b="1" dirty="0">
                <a:solidFill>
                  <a:srgbClr val="C00000"/>
                </a:solidFill>
              </a:rPr>
              <a:t>Strategi </a:t>
            </a:r>
            <a:r>
              <a:rPr lang="en-ID" sz="3200" b="1" dirty="0" err="1">
                <a:solidFill>
                  <a:srgbClr val="C00000"/>
                </a:solidFill>
              </a:rPr>
              <a:t>Metoda</a:t>
            </a:r>
            <a:r>
              <a:rPr lang="en-ID" sz="3200" b="1" dirty="0">
                <a:solidFill>
                  <a:srgbClr val="C00000"/>
                </a:solidFill>
              </a:rPr>
              <a:t> </a:t>
            </a:r>
            <a:r>
              <a:rPr lang="en-ID" sz="3200" b="1" dirty="0" err="1">
                <a:solidFill>
                  <a:srgbClr val="C00000"/>
                </a:solidFill>
              </a:rPr>
              <a:t>Pengadaan</a:t>
            </a:r>
            <a:r>
              <a:rPr lang="en-ID" sz="3200" b="1" dirty="0">
                <a:solidFill>
                  <a:srgbClr val="C00000"/>
                </a:solidFill>
              </a:rPr>
              <a:t> Discrete </a:t>
            </a:r>
            <a:r>
              <a:rPr lang="en-ID" sz="3200" b="1" dirty="0" err="1">
                <a:solidFill>
                  <a:srgbClr val="C00000"/>
                </a:solidFill>
              </a:rPr>
              <a:t>atau</a:t>
            </a:r>
            <a:r>
              <a:rPr lang="en-ID" sz="3200" b="1" dirty="0">
                <a:solidFill>
                  <a:srgbClr val="C00000"/>
                </a:solidFill>
              </a:rPr>
              <a:t> Bundle</a:t>
            </a:r>
          </a:p>
        </p:txBody>
      </p:sp>
    </p:spTree>
    <p:extLst>
      <p:ext uri="{BB962C8B-B14F-4D97-AF65-F5344CB8AC3E}">
        <p14:creationId xmlns:p14="http://schemas.microsoft.com/office/powerpoint/2010/main" val="1965579023"/>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353063" y="148279"/>
            <a:ext cx="8229600" cy="639763"/>
          </a:xfrm>
        </p:spPr>
        <p:txBody>
          <a:bodyPr anchor="t">
            <a:normAutofit fontScale="90000"/>
          </a:bodyPr>
          <a:lstStyle/>
          <a:p>
            <a:pPr eaLnBrk="1" hangingPunct="1">
              <a:defRPr/>
            </a:pPr>
            <a:r>
              <a:rPr lang="en-US" altLang="en-US" b="1" dirty="0">
                <a:solidFill>
                  <a:srgbClr val="FFC000"/>
                </a:solidFill>
              </a:rPr>
              <a:t>6. </a:t>
            </a:r>
            <a:r>
              <a:rPr lang="id-ID" altLang="en-US" b="1" dirty="0">
                <a:solidFill>
                  <a:srgbClr val="FFC000"/>
                </a:solidFill>
              </a:rPr>
              <a:t>CONTRACT PRIORITY RANK</a:t>
            </a:r>
            <a:r>
              <a:rPr lang="en-US" altLang="en-US" b="1" dirty="0">
                <a:solidFill>
                  <a:srgbClr val="FFC000"/>
                </a:solidFill>
              </a:rPr>
              <a:t> - </a:t>
            </a:r>
            <a:r>
              <a:rPr lang="en-US" altLang="en-US" b="1" dirty="0">
                <a:solidFill>
                  <a:schemeClr val="accent6">
                    <a:lumMod val="50000"/>
                  </a:schemeClr>
                </a:solidFill>
              </a:rPr>
              <a:t>Delivery Time</a:t>
            </a:r>
            <a:br>
              <a:rPr lang="en-US" dirty="0">
                <a:solidFill>
                  <a:schemeClr val="accent6">
                    <a:lumMod val="50000"/>
                  </a:schemeClr>
                </a:solidFill>
              </a:rPr>
            </a:br>
            <a:endParaRPr lang="en-US" altLang="en-US" b="1" dirty="0">
              <a:solidFill>
                <a:schemeClr val="accent6">
                  <a:lumMod val="50000"/>
                </a:schemeClr>
              </a:solidFill>
            </a:endParaRPr>
          </a:p>
        </p:txBody>
      </p:sp>
      <p:pic>
        <p:nvPicPr>
          <p:cNvPr id="11281" name="Picture 17"/>
          <p:cNvPicPr>
            <a:picLocks noChangeAspect="1" noChangeArrowheads="1"/>
          </p:cNvPicPr>
          <p:nvPr/>
        </p:nvPicPr>
        <p:blipFill>
          <a:blip r:embed="rId2"/>
          <a:srcRect/>
          <a:stretch>
            <a:fillRect/>
          </a:stretch>
        </p:blipFill>
        <p:spPr bwMode="auto">
          <a:xfrm>
            <a:off x="1400689" y="918521"/>
            <a:ext cx="6200775" cy="611505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lowchart: Process 1"/>
          <p:cNvSpPr/>
          <p:nvPr/>
        </p:nvSpPr>
        <p:spPr>
          <a:xfrm>
            <a:off x="1353063" y="5719121"/>
            <a:ext cx="5715000" cy="990600"/>
          </a:xfrm>
          <a:prstGeom prst="flowChartProcess">
            <a:avLst/>
          </a:prstGeom>
          <a:solidFill>
            <a:srgbClr val="FFC000">
              <a:alpha val="34000"/>
            </a:srgbClr>
          </a:solid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p>
        </p:txBody>
      </p:sp>
      <p:pic>
        <p:nvPicPr>
          <p:cNvPr id="57349" name="Picture 18" descr="C:\Program Files (x86)\Microsoft Office\MEDIA\CAGCAT10\j023413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66088" y="4156076"/>
            <a:ext cx="1181100"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19" descr="C:\Program Files (x86)\Microsoft Office\MEDIA\CAGCAT10\j0233018.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69276" y="5638800"/>
            <a:ext cx="9747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35356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752600" y="428767"/>
            <a:ext cx="8229600" cy="639763"/>
          </a:xfrm>
        </p:spPr>
        <p:txBody>
          <a:bodyPr anchor="t"/>
          <a:lstStyle/>
          <a:p>
            <a:pPr eaLnBrk="1" hangingPunct="1"/>
            <a:r>
              <a:rPr lang="en-US" altLang="en-US" sz="3200" b="1" dirty="0">
                <a:solidFill>
                  <a:srgbClr val="FFC000"/>
                </a:solidFill>
              </a:rPr>
              <a:t>6.a. </a:t>
            </a:r>
            <a:r>
              <a:rPr lang="id-ID" altLang="en-US" sz="3200" b="1" dirty="0">
                <a:solidFill>
                  <a:srgbClr val="FFC000"/>
                </a:solidFill>
              </a:rPr>
              <a:t>CONTRACT PRIORITY RANK</a:t>
            </a:r>
            <a:endParaRPr lang="en-US" altLang="en-US" sz="3200" b="1" dirty="0">
              <a:solidFill>
                <a:srgbClr val="FFC000"/>
              </a:solidFill>
            </a:endParaRPr>
          </a:p>
        </p:txBody>
      </p:sp>
      <p:graphicFrame>
        <p:nvGraphicFramePr>
          <p:cNvPr id="3" name="Table 2"/>
          <p:cNvGraphicFramePr>
            <a:graphicFrameLocks noGrp="1"/>
          </p:cNvGraphicFramePr>
          <p:nvPr/>
        </p:nvGraphicFramePr>
        <p:xfrm>
          <a:off x="630195" y="1301877"/>
          <a:ext cx="10725663" cy="5332287"/>
        </p:xfrm>
        <a:graphic>
          <a:graphicData uri="http://schemas.openxmlformats.org/drawingml/2006/table">
            <a:tbl>
              <a:tblPr firstRow="1" bandRow="1">
                <a:tableStyleId>{5C22544A-7EE6-4342-B048-85BDC9FD1C3A}</a:tableStyleId>
              </a:tblPr>
              <a:tblGrid>
                <a:gridCol w="3198882">
                  <a:extLst>
                    <a:ext uri="{9D8B030D-6E8A-4147-A177-3AD203B41FA5}">
                      <a16:colId xmlns:a16="http://schemas.microsoft.com/office/drawing/2014/main" val="20000"/>
                    </a:ext>
                  </a:extLst>
                </a:gridCol>
                <a:gridCol w="3758964">
                  <a:extLst>
                    <a:ext uri="{9D8B030D-6E8A-4147-A177-3AD203B41FA5}">
                      <a16:colId xmlns:a16="http://schemas.microsoft.com/office/drawing/2014/main" val="20001"/>
                    </a:ext>
                  </a:extLst>
                </a:gridCol>
                <a:gridCol w="3767817">
                  <a:extLst>
                    <a:ext uri="{9D8B030D-6E8A-4147-A177-3AD203B41FA5}">
                      <a16:colId xmlns:a16="http://schemas.microsoft.com/office/drawing/2014/main" val="20002"/>
                    </a:ext>
                  </a:extLst>
                </a:gridCol>
              </a:tblGrid>
              <a:tr h="330136">
                <a:tc>
                  <a:txBody>
                    <a:bodyPr/>
                    <a:lstStyle/>
                    <a:p>
                      <a:r>
                        <a:rPr lang="id-ID" sz="1800" dirty="0">
                          <a:solidFill>
                            <a:schemeClr val="accent6">
                              <a:lumMod val="50000"/>
                            </a:schemeClr>
                          </a:solidFill>
                        </a:rPr>
                        <a:t>FIRST</a:t>
                      </a:r>
                    </a:p>
                  </a:txBody>
                  <a:tcPr marT="45710" marB="45710">
                    <a:solidFill>
                      <a:srgbClr val="33CC33">
                        <a:alpha val="59000"/>
                      </a:srgbClr>
                    </a:solidFill>
                  </a:tcPr>
                </a:tc>
                <a:tc>
                  <a:txBody>
                    <a:bodyPr/>
                    <a:lstStyle/>
                    <a:p>
                      <a:r>
                        <a:rPr lang="id-ID" sz="1800" dirty="0">
                          <a:solidFill>
                            <a:schemeClr val="accent6">
                              <a:lumMod val="50000"/>
                            </a:schemeClr>
                          </a:solidFill>
                        </a:rPr>
                        <a:t>SECOND</a:t>
                      </a:r>
                    </a:p>
                  </a:txBody>
                  <a:tcPr marT="45710" marB="45710">
                    <a:solidFill>
                      <a:srgbClr val="33CC33">
                        <a:alpha val="59000"/>
                      </a:srgbClr>
                    </a:solidFill>
                  </a:tcPr>
                </a:tc>
                <a:tc>
                  <a:txBody>
                    <a:bodyPr/>
                    <a:lstStyle/>
                    <a:p>
                      <a:r>
                        <a:rPr lang="id-ID" sz="1800" dirty="0">
                          <a:solidFill>
                            <a:schemeClr val="accent6">
                              <a:lumMod val="50000"/>
                            </a:schemeClr>
                          </a:solidFill>
                        </a:rPr>
                        <a:t>NEXT</a:t>
                      </a:r>
                    </a:p>
                  </a:txBody>
                  <a:tcPr marT="45710" marB="45710">
                    <a:solidFill>
                      <a:srgbClr val="33CC33">
                        <a:alpha val="59000"/>
                      </a:srgbClr>
                    </a:solidFill>
                  </a:tcPr>
                </a:tc>
                <a:extLst>
                  <a:ext uri="{0D108BD9-81ED-4DB2-BD59-A6C34878D82A}">
                    <a16:rowId xmlns:a16="http://schemas.microsoft.com/office/drawing/2014/main" val="10000"/>
                  </a:ext>
                </a:extLst>
              </a:tr>
              <a:tr h="4966547">
                <a:tc>
                  <a:txBody>
                    <a:bodyPr/>
                    <a:lstStyle/>
                    <a:p>
                      <a:pPr marL="342900" indent="-342900">
                        <a:buFont typeface="+mj-lt"/>
                        <a:buAutoNum type="arabicPeriod"/>
                      </a:pPr>
                      <a:r>
                        <a:rPr lang="id-ID" sz="1800" b="1" dirty="0">
                          <a:solidFill>
                            <a:schemeClr val="accent6">
                              <a:lumMod val="50000"/>
                            </a:schemeClr>
                          </a:solidFill>
                        </a:rPr>
                        <a:t>Casing</a:t>
                      </a:r>
                    </a:p>
                    <a:p>
                      <a:pPr marL="342900" indent="-342900">
                        <a:buFont typeface="+mj-lt"/>
                        <a:buAutoNum type="arabicPeriod"/>
                      </a:pPr>
                      <a:r>
                        <a:rPr lang="id-ID" sz="1800" b="1" dirty="0">
                          <a:solidFill>
                            <a:schemeClr val="accent6">
                              <a:lumMod val="50000"/>
                            </a:schemeClr>
                          </a:solidFill>
                        </a:rPr>
                        <a:t>Wellhead</a:t>
                      </a:r>
                    </a:p>
                    <a:p>
                      <a:pPr marL="342900" indent="-342900">
                        <a:buFont typeface="+mj-lt"/>
                        <a:buAutoNum type="arabicPeriod"/>
                      </a:pPr>
                      <a:r>
                        <a:rPr lang="id-ID" sz="1800" b="1" dirty="0">
                          <a:solidFill>
                            <a:schemeClr val="accent6">
                              <a:lumMod val="50000"/>
                            </a:schemeClr>
                          </a:solidFill>
                        </a:rPr>
                        <a:t>Liner Adapter</a:t>
                      </a:r>
                    </a:p>
                    <a:p>
                      <a:pPr marL="342900" indent="-342900">
                        <a:buFont typeface="+mj-lt"/>
                        <a:buAutoNum type="arabicPeriod"/>
                      </a:pPr>
                      <a:r>
                        <a:rPr lang="id-ID" sz="1800" b="1" dirty="0">
                          <a:solidFill>
                            <a:schemeClr val="accent6">
                              <a:lumMod val="50000"/>
                            </a:schemeClr>
                          </a:solidFill>
                        </a:rPr>
                        <a:t>Drilling Rig</a:t>
                      </a:r>
                    </a:p>
                    <a:p>
                      <a:pPr marL="342900" indent="-342900">
                        <a:buFont typeface="+mj-lt"/>
                        <a:buAutoNum type="arabicPeriod"/>
                      </a:pPr>
                      <a:r>
                        <a:rPr lang="id-ID" sz="1800" b="1" baseline="0" dirty="0">
                          <a:solidFill>
                            <a:schemeClr val="accent6">
                              <a:lumMod val="50000"/>
                            </a:schemeClr>
                          </a:solidFill>
                        </a:rPr>
                        <a:t>Drilling Personnel</a:t>
                      </a:r>
                    </a:p>
                    <a:p>
                      <a:pPr marL="342900" indent="-342900">
                        <a:buFont typeface="+mj-lt"/>
                        <a:buAutoNum type="arabicPeriod"/>
                      </a:pPr>
                      <a:r>
                        <a:rPr lang="id-ID" sz="1800" b="1" baseline="0" dirty="0">
                          <a:solidFill>
                            <a:schemeClr val="accent6">
                              <a:lumMod val="50000"/>
                            </a:schemeClr>
                          </a:solidFill>
                        </a:rPr>
                        <a:t>E-Line &amp; Explosive</a:t>
                      </a:r>
                    </a:p>
                    <a:p>
                      <a:pPr marL="342900" indent="-342900">
                        <a:buFont typeface="+mj-lt"/>
                        <a:buAutoNum type="arabicPeriod"/>
                      </a:pPr>
                      <a:r>
                        <a:rPr lang="id-ID" sz="1800" b="1" baseline="0" dirty="0">
                          <a:solidFill>
                            <a:schemeClr val="accent6">
                              <a:lumMod val="50000"/>
                            </a:schemeClr>
                          </a:solidFill>
                        </a:rPr>
                        <a:t>Explosive Handling</a:t>
                      </a:r>
                    </a:p>
                    <a:p>
                      <a:pPr marL="342900" indent="-342900">
                        <a:buFont typeface="+mj-lt"/>
                        <a:buAutoNum type="arabicPeriod"/>
                      </a:pPr>
                      <a:r>
                        <a:rPr lang="id-ID" sz="1800" b="1" dirty="0">
                          <a:solidFill>
                            <a:schemeClr val="accent6">
                              <a:lumMod val="50000"/>
                            </a:schemeClr>
                          </a:solidFill>
                        </a:rPr>
                        <a:t>UKL / UPL</a:t>
                      </a:r>
                    </a:p>
                    <a:p>
                      <a:pPr marL="342900" indent="-342900">
                        <a:buFont typeface="+mj-lt"/>
                        <a:buAutoNum type="arabicPeriod"/>
                      </a:pPr>
                      <a:r>
                        <a:rPr lang="id-ID" sz="1800" b="1" dirty="0">
                          <a:solidFill>
                            <a:schemeClr val="accent6">
                              <a:lumMod val="50000"/>
                            </a:schemeClr>
                          </a:solidFill>
                        </a:rPr>
                        <a:t>Civil work</a:t>
                      </a:r>
                    </a:p>
                    <a:p>
                      <a:pPr marL="342900" indent="-342900">
                        <a:buFont typeface="+mj-lt"/>
                        <a:buAutoNum type="arabicPeriod"/>
                      </a:pPr>
                      <a:r>
                        <a:rPr lang="id-ID" sz="1800" b="1" baseline="0" dirty="0">
                          <a:solidFill>
                            <a:schemeClr val="accent6">
                              <a:lumMod val="50000"/>
                            </a:schemeClr>
                          </a:solidFill>
                        </a:rPr>
                        <a:t>Permits</a:t>
                      </a:r>
                    </a:p>
                    <a:p>
                      <a:pPr marL="342900" indent="-342900">
                        <a:buFont typeface="+mj-lt"/>
                        <a:buAutoNum type="arabicPeriod"/>
                      </a:pPr>
                      <a:r>
                        <a:rPr lang="id-ID" sz="1800" b="1" dirty="0">
                          <a:solidFill>
                            <a:schemeClr val="accent6">
                              <a:lumMod val="50000"/>
                            </a:schemeClr>
                          </a:solidFill>
                        </a:rPr>
                        <a:t>Road Survey</a:t>
                      </a:r>
                    </a:p>
                  </a:txBody>
                  <a:tcPr marT="45710" marB="45710">
                    <a:solidFill>
                      <a:schemeClr val="accent1">
                        <a:alpha val="0"/>
                      </a:schemeClr>
                    </a:solidFill>
                  </a:tcPr>
                </a:tc>
                <a:tc>
                  <a:txBody>
                    <a:bodyPr/>
                    <a:lstStyle/>
                    <a:p>
                      <a:pPr marL="449263" marR="0" indent="-449263" algn="l" defTabSz="914400" rtl="0" eaLnBrk="1" fontAlgn="auto" latinLnBrk="0" hangingPunct="1">
                        <a:lnSpc>
                          <a:spcPct val="100000"/>
                        </a:lnSpc>
                        <a:spcBef>
                          <a:spcPts val="0"/>
                        </a:spcBef>
                        <a:spcAft>
                          <a:spcPts val="0"/>
                        </a:spcAft>
                        <a:buClrTx/>
                        <a:buSzTx/>
                        <a:buFont typeface="+mj-lt"/>
                        <a:buAutoNum type="arabicPeriod"/>
                        <a:tabLst/>
                        <a:defRPr/>
                      </a:pPr>
                      <a:r>
                        <a:rPr lang="id-ID" sz="1800" b="1" dirty="0">
                          <a:solidFill>
                            <a:schemeClr val="accent6">
                              <a:lumMod val="50000"/>
                            </a:schemeClr>
                          </a:solidFill>
                        </a:rPr>
                        <a:t>Drilling Bits</a:t>
                      </a:r>
                    </a:p>
                    <a:p>
                      <a:pPr marL="449263" indent="-449263">
                        <a:buFont typeface="+mj-lt"/>
                        <a:buAutoNum type="arabicPeriod"/>
                      </a:pPr>
                      <a:r>
                        <a:rPr lang="id-ID" sz="1800" b="1" dirty="0">
                          <a:solidFill>
                            <a:schemeClr val="accent6">
                              <a:lumMod val="50000"/>
                            </a:schemeClr>
                          </a:solidFill>
                        </a:rPr>
                        <a:t>Cement and Mud</a:t>
                      </a:r>
                    </a:p>
                    <a:p>
                      <a:pPr marL="449263" indent="-449263">
                        <a:buFont typeface="+mj-lt"/>
                        <a:buAutoNum type="arabicPeriod"/>
                      </a:pPr>
                      <a:r>
                        <a:rPr lang="id-ID" sz="1800" b="1" dirty="0">
                          <a:solidFill>
                            <a:schemeClr val="accent6">
                              <a:lumMod val="50000"/>
                            </a:schemeClr>
                          </a:solidFill>
                        </a:rPr>
                        <a:t>Directional</a:t>
                      </a:r>
                      <a:r>
                        <a:rPr lang="id-ID" sz="1800" b="1" baseline="0" dirty="0">
                          <a:solidFill>
                            <a:schemeClr val="accent6">
                              <a:lumMod val="50000"/>
                            </a:schemeClr>
                          </a:solidFill>
                        </a:rPr>
                        <a:t> Drilling</a:t>
                      </a:r>
                    </a:p>
                    <a:p>
                      <a:pPr marL="449263" indent="-449263">
                        <a:buFont typeface="+mj-lt"/>
                        <a:buAutoNum type="arabicPeriod"/>
                      </a:pPr>
                      <a:r>
                        <a:rPr lang="id-ID" sz="1800" b="1" baseline="0" dirty="0">
                          <a:solidFill>
                            <a:schemeClr val="accent6">
                              <a:lumMod val="50000"/>
                            </a:schemeClr>
                          </a:solidFill>
                        </a:rPr>
                        <a:t>Heavy Equipment</a:t>
                      </a:r>
                    </a:p>
                    <a:p>
                      <a:pPr marL="449263" indent="-449263">
                        <a:buFont typeface="+mj-lt"/>
                        <a:buAutoNum type="arabicPeriod"/>
                      </a:pPr>
                      <a:r>
                        <a:rPr lang="id-ID" sz="1800" b="1" baseline="0" dirty="0">
                          <a:solidFill>
                            <a:schemeClr val="accent6">
                              <a:lumMod val="50000"/>
                            </a:schemeClr>
                          </a:solidFill>
                        </a:rPr>
                        <a:t>Drill String Inspection </a:t>
                      </a:r>
                    </a:p>
                    <a:p>
                      <a:pPr marL="449263" indent="-449263">
                        <a:buFont typeface="+mj-lt"/>
                        <a:buAutoNum type="arabicPeriod"/>
                      </a:pPr>
                      <a:r>
                        <a:rPr lang="id-ID" sz="1800" b="1" baseline="0" dirty="0">
                          <a:solidFill>
                            <a:schemeClr val="accent6">
                              <a:lumMod val="50000"/>
                            </a:schemeClr>
                          </a:solidFill>
                        </a:rPr>
                        <a:t>Perforated Liner</a:t>
                      </a:r>
                    </a:p>
                    <a:p>
                      <a:pPr marL="449263" indent="-449263">
                        <a:buFont typeface="+mj-lt"/>
                        <a:buAutoNum type="arabicPeriod"/>
                      </a:pPr>
                      <a:r>
                        <a:rPr lang="id-ID" sz="1800" b="1" dirty="0">
                          <a:solidFill>
                            <a:schemeClr val="accent6">
                              <a:lumMod val="50000"/>
                            </a:schemeClr>
                          </a:solidFill>
                        </a:rPr>
                        <a:t>Diesel Fuel</a:t>
                      </a:r>
                    </a:p>
                    <a:p>
                      <a:pPr marL="449263" indent="-449263">
                        <a:buFont typeface="+mj-lt"/>
                        <a:buAutoNum type="arabicPeriod"/>
                      </a:pPr>
                      <a:r>
                        <a:rPr lang="id-ID" sz="1800" b="1" baseline="0" dirty="0">
                          <a:solidFill>
                            <a:schemeClr val="accent6">
                              <a:lumMod val="50000"/>
                            </a:schemeClr>
                          </a:solidFill>
                        </a:rPr>
                        <a:t>Air Drilling</a:t>
                      </a:r>
                    </a:p>
                    <a:p>
                      <a:pPr marL="449263" indent="-449263">
                        <a:buFont typeface="+mj-lt"/>
                        <a:buAutoNum type="arabicPeriod"/>
                      </a:pPr>
                      <a:r>
                        <a:rPr lang="id-ID" sz="1800" b="1" baseline="0" dirty="0">
                          <a:solidFill>
                            <a:schemeClr val="accent6">
                              <a:lumMod val="50000"/>
                            </a:schemeClr>
                          </a:solidFill>
                        </a:rPr>
                        <a:t>Mud Coller</a:t>
                      </a:r>
                    </a:p>
                    <a:p>
                      <a:pPr marL="449263" indent="-449263">
                        <a:buFont typeface="+mj-lt"/>
                        <a:buAutoNum type="arabicPeriod"/>
                      </a:pPr>
                      <a:r>
                        <a:rPr lang="id-ID" sz="1800" b="1" baseline="0" dirty="0">
                          <a:solidFill>
                            <a:schemeClr val="accent6">
                              <a:lumMod val="50000"/>
                            </a:schemeClr>
                          </a:solidFill>
                        </a:rPr>
                        <a:t>Wellhead Installation</a:t>
                      </a:r>
                      <a:endParaRPr lang="id-ID" sz="1800" b="1" dirty="0">
                        <a:solidFill>
                          <a:schemeClr val="accent6">
                            <a:lumMod val="50000"/>
                          </a:schemeClr>
                        </a:solidFill>
                      </a:endParaRPr>
                    </a:p>
                  </a:txBody>
                  <a:tcPr marT="45710" marB="45710">
                    <a:solidFill>
                      <a:schemeClr val="accent1">
                        <a:alpha val="0"/>
                      </a:schemeClr>
                    </a:solidFill>
                  </a:tcPr>
                </a:tc>
                <a:tc>
                  <a:txBody>
                    <a:bodyPr/>
                    <a:lstStyle/>
                    <a:p>
                      <a:pPr marL="342900" indent="-342900">
                        <a:buFont typeface="+mj-lt"/>
                        <a:buAutoNum type="arabicPeriod"/>
                      </a:pPr>
                      <a:r>
                        <a:rPr lang="id-ID" sz="1800" b="1" dirty="0">
                          <a:solidFill>
                            <a:schemeClr val="accent6">
                              <a:lumMod val="50000"/>
                            </a:schemeClr>
                          </a:solidFill>
                        </a:rPr>
                        <a:t>Water</a:t>
                      </a:r>
                    </a:p>
                    <a:p>
                      <a:pPr marL="342900" indent="-342900">
                        <a:buFont typeface="+mj-lt"/>
                        <a:buAutoNum type="arabicPeriod"/>
                      </a:pPr>
                      <a:r>
                        <a:rPr lang="id-ID" sz="1800" b="1" dirty="0">
                          <a:solidFill>
                            <a:schemeClr val="accent6">
                              <a:lumMod val="50000"/>
                            </a:schemeClr>
                          </a:solidFill>
                        </a:rPr>
                        <a:t>General Services</a:t>
                      </a:r>
                    </a:p>
                    <a:p>
                      <a:pPr marL="342900" indent="-342900">
                        <a:buFont typeface="+mj-lt"/>
                        <a:buAutoNum type="arabicPeriod"/>
                      </a:pPr>
                      <a:r>
                        <a:rPr lang="id-ID" sz="1800" b="1" dirty="0">
                          <a:solidFill>
                            <a:schemeClr val="accent6">
                              <a:lumMod val="50000"/>
                            </a:schemeClr>
                          </a:solidFill>
                        </a:rPr>
                        <a:t>Tubular</a:t>
                      </a:r>
                      <a:r>
                        <a:rPr lang="id-ID" sz="1800" b="1" baseline="0" dirty="0">
                          <a:solidFill>
                            <a:schemeClr val="accent6">
                              <a:lumMod val="50000"/>
                            </a:schemeClr>
                          </a:solidFill>
                        </a:rPr>
                        <a:t> Inspection</a:t>
                      </a:r>
                    </a:p>
                    <a:p>
                      <a:pPr marL="449263" indent="-449263">
                        <a:buFont typeface="+mj-lt"/>
                        <a:buAutoNum type="arabicPeriod"/>
                      </a:pPr>
                      <a:r>
                        <a:rPr lang="id-ID" sz="1800" b="1" baseline="0" dirty="0">
                          <a:solidFill>
                            <a:schemeClr val="accent6">
                              <a:lumMod val="50000"/>
                            </a:schemeClr>
                          </a:solidFill>
                        </a:rPr>
                        <a:t>Drilling Waste Handling</a:t>
                      </a:r>
                    </a:p>
                    <a:p>
                      <a:pPr marL="449263" indent="-449263">
                        <a:buFont typeface="+mj-lt"/>
                        <a:buAutoNum type="arabicPeriod"/>
                      </a:pPr>
                      <a:r>
                        <a:rPr lang="id-ID" sz="1800" b="1" baseline="0" dirty="0">
                          <a:solidFill>
                            <a:schemeClr val="accent6">
                              <a:lumMod val="50000"/>
                            </a:schemeClr>
                          </a:solidFill>
                        </a:rPr>
                        <a:t>VSAT</a:t>
                      </a:r>
                    </a:p>
                    <a:p>
                      <a:pPr marL="449263" indent="-449263">
                        <a:buFont typeface="+mj-lt"/>
                        <a:buAutoNum type="arabicPeriod"/>
                      </a:pPr>
                      <a:r>
                        <a:rPr lang="id-ID" sz="1800" b="1" baseline="0" dirty="0">
                          <a:solidFill>
                            <a:schemeClr val="accent6">
                              <a:lumMod val="50000"/>
                            </a:schemeClr>
                          </a:solidFill>
                        </a:rPr>
                        <a:t>Drilling Report</a:t>
                      </a:r>
                    </a:p>
                    <a:p>
                      <a:pPr marL="449263" indent="-449263">
                        <a:buFont typeface="+mj-lt"/>
                        <a:buAutoNum type="arabicPeriod"/>
                      </a:pPr>
                      <a:r>
                        <a:rPr lang="id-ID" sz="1800" b="1" baseline="0" dirty="0">
                          <a:solidFill>
                            <a:schemeClr val="accent6">
                              <a:lumMod val="50000"/>
                            </a:schemeClr>
                          </a:solidFill>
                        </a:rPr>
                        <a:t>Casing Handling</a:t>
                      </a:r>
                    </a:p>
                    <a:p>
                      <a:pPr marL="449263" indent="-449263">
                        <a:buFont typeface="+mj-lt"/>
                        <a:buAutoNum type="arabicPeriod"/>
                      </a:pPr>
                      <a:r>
                        <a:rPr lang="id-ID" sz="1800" b="1" baseline="0" dirty="0">
                          <a:solidFill>
                            <a:schemeClr val="accent6">
                              <a:lumMod val="50000"/>
                            </a:schemeClr>
                          </a:solidFill>
                        </a:rPr>
                        <a:t>H2S Service</a:t>
                      </a:r>
                    </a:p>
                    <a:p>
                      <a:pPr marL="449263" indent="-449263">
                        <a:buFont typeface="+mj-lt"/>
                        <a:buAutoNum type="arabicPeriod"/>
                      </a:pPr>
                      <a:r>
                        <a:rPr lang="id-ID" sz="1800" b="1" baseline="0" dirty="0">
                          <a:solidFill>
                            <a:schemeClr val="accent6">
                              <a:lumMod val="50000"/>
                            </a:schemeClr>
                          </a:solidFill>
                        </a:rPr>
                        <a:t>Mud Logging</a:t>
                      </a:r>
                    </a:p>
                    <a:p>
                      <a:pPr marL="449263" indent="-449263">
                        <a:buFont typeface="+mj-lt"/>
                        <a:buAutoNum type="arabicPeriod"/>
                      </a:pPr>
                      <a:r>
                        <a:rPr lang="id-ID" sz="1800" b="1" baseline="0" dirty="0">
                          <a:solidFill>
                            <a:schemeClr val="accent6">
                              <a:lumMod val="50000"/>
                            </a:schemeClr>
                          </a:solidFill>
                        </a:rPr>
                        <a:t>Hard Bending</a:t>
                      </a:r>
                    </a:p>
                    <a:p>
                      <a:pPr marL="449263" indent="-449263">
                        <a:buFont typeface="+mj-lt"/>
                        <a:buAutoNum type="arabicPeriod"/>
                      </a:pPr>
                      <a:r>
                        <a:rPr lang="id-ID" sz="1800" b="1" baseline="0" dirty="0">
                          <a:solidFill>
                            <a:schemeClr val="accent6">
                              <a:lumMod val="50000"/>
                            </a:schemeClr>
                          </a:solidFill>
                        </a:rPr>
                        <a:t>Solid Control Services</a:t>
                      </a:r>
                    </a:p>
                    <a:p>
                      <a:pPr marL="449263" indent="-449263">
                        <a:buFont typeface="+mj-lt"/>
                        <a:buAutoNum type="arabicPeriod"/>
                      </a:pPr>
                      <a:r>
                        <a:rPr lang="id-ID" sz="1800" b="1" baseline="0" dirty="0">
                          <a:solidFill>
                            <a:schemeClr val="accent6">
                              <a:lumMod val="50000"/>
                            </a:schemeClr>
                          </a:solidFill>
                        </a:rPr>
                        <a:t>Fishing Tool Services</a:t>
                      </a:r>
                    </a:p>
                    <a:p>
                      <a:pPr marL="449263" indent="-449263">
                        <a:buFont typeface="+mj-lt"/>
                        <a:buAutoNum type="arabicPeriod"/>
                      </a:pPr>
                      <a:r>
                        <a:rPr lang="id-ID" sz="1800" b="1" baseline="0" dirty="0">
                          <a:solidFill>
                            <a:schemeClr val="accent6">
                              <a:lumMod val="50000"/>
                            </a:schemeClr>
                          </a:solidFill>
                        </a:rPr>
                        <a:t>Coring Services</a:t>
                      </a:r>
                      <a:endParaRPr lang="id-ID" sz="1800" b="1" dirty="0">
                        <a:solidFill>
                          <a:schemeClr val="accent6">
                            <a:lumMod val="50000"/>
                          </a:schemeClr>
                        </a:solidFill>
                      </a:endParaRPr>
                    </a:p>
                    <a:p>
                      <a:pPr marL="342900" indent="-342900">
                        <a:buFont typeface="+mj-lt"/>
                        <a:buAutoNum type="arabicPeriod"/>
                      </a:pPr>
                      <a:endParaRPr lang="id-ID" sz="1800" b="1" dirty="0">
                        <a:solidFill>
                          <a:schemeClr val="accent6">
                            <a:lumMod val="50000"/>
                          </a:schemeClr>
                        </a:solidFill>
                      </a:endParaRPr>
                    </a:p>
                  </a:txBody>
                  <a:tcPr marT="45710" marB="45710">
                    <a:solidFill>
                      <a:schemeClr val="accent1">
                        <a:alpha val="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14707169"/>
      </p:ext>
    </p:extLst>
  </p:cSld>
  <p:clrMapOvr>
    <a:masterClrMapping/>
  </p:clrMapOvr>
  <p:transition spd="slow"/>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ubtitle 2"/>
          <p:cNvSpPr txBox="1">
            <a:spLocks/>
          </p:cNvSpPr>
          <p:nvPr/>
        </p:nvSpPr>
        <p:spPr bwMode="auto">
          <a:xfrm>
            <a:off x="613529" y="1315448"/>
            <a:ext cx="655161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3600" dirty="0">
                <a:solidFill>
                  <a:srgbClr val="002060"/>
                </a:solidFill>
                <a:ea typeface="Neutraface Text Bold"/>
                <a:cs typeface="Neutraface Text Bold"/>
              </a:rPr>
              <a:t>A Non IPM Contract Type</a:t>
            </a:r>
          </a:p>
        </p:txBody>
      </p:sp>
      <p:sp>
        <p:nvSpPr>
          <p:cNvPr id="45059" name="TextBox 2"/>
          <p:cNvSpPr txBox="1">
            <a:spLocks noChangeArrowheads="1"/>
          </p:cNvSpPr>
          <p:nvPr/>
        </p:nvSpPr>
        <p:spPr bwMode="auto">
          <a:xfrm>
            <a:off x="751191" y="526051"/>
            <a:ext cx="8534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3600" dirty="0">
                <a:solidFill>
                  <a:srgbClr val="EC7A19"/>
                </a:solidFill>
                <a:latin typeface="Neutraface Text Bold"/>
                <a:ea typeface="Neutraface Text Bold"/>
                <a:cs typeface="Neutraface Text Bold"/>
              </a:rPr>
              <a:t>Bundling and Discrete Contract Selection</a:t>
            </a:r>
          </a:p>
        </p:txBody>
      </p:sp>
      <p:sp>
        <p:nvSpPr>
          <p:cNvPr id="45060" name="TextBox 4"/>
          <p:cNvSpPr txBox="1">
            <a:spLocks noChangeArrowheads="1"/>
          </p:cNvSpPr>
          <p:nvPr/>
        </p:nvSpPr>
        <p:spPr bwMode="auto">
          <a:xfrm>
            <a:off x="1933084" y="2474324"/>
            <a:ext cx="13292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a:solidFill>
                  <a:srgbClr val="C00000"/>
                </a:solidFill>
                <a:latin typeface="Times New Roman" panose="02020603050405020304" pitchFamily="18" charset="0"/>
              </a:rPr>
              <a:t>Bundling</a:t>
            </a:r>
          </a:p>
        </p:txBody>
      </p:sp>
      <p:sp>
        <p:nvSpPr>
          <p:cNvPr id="45061" name="TextBox 15"/>
          <p:cNvSpPr txBox="1">
            <a:spLocks noChangeArrowheads="1"/>
          </p:cNvSpPr>
          <p:nvPr/>
        </p:nvSpPr>
        <p:spPr bwMode="auto">
          <a:xfrm>
            <a:off x="5076334" y="2093323"/>
            <a:ext cx="2819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a:solidFill>
                  <a:srgbClr val="C00000"/>
                </a:solidFill>
                <a:latin typeface="Times New Roman" panose="02020603050405020304" pitchFamily="18" charset="0"/>
              </a:rPr>
              <a:t>Discrete – Drilling Services</a:t>
            </a:r>
          </a:p>
        </p:txBody>
      </p:sp>
      <p:sp>
        <p:nvSpPr>
          <p:cNvPr id="45062" name="TextBox 17"/>
          <p:cNvSpPr txBox="1">
            <a:spLocks noChangeArrowheads="1"/>
          </p:cNvSpPr>
          <p:nvPr/>
        </p:nvSpPr>
        <p:spPr bwMode="auto">
          <a:xfrm>
            <a:off x="8057660" y="2093323"/>
            <a:ext cx="26574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a:solidFill>
                  <a:srgbClr val="C00000"/>
                </a:solidFill>
                <a:latin typeface="Times New Roman" panose="02020603050405020304" pitchFamily="18" charset="0"/>
              </a:rPr>
              <a:t>Discrete – Purchase Material</a:t>
            </a:r>
          </a:p>
        </p:txBody>
      </p:sp>
      <p:pic>
        <p:nvPicPr>
          <p:cNvPr id="4506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1009" y="2936286"/>
            <a:ext cx="1544638" cy="195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0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9760" y="2936286"/>
            <a:ext cx="6037263" cy="313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6847973"/>
      </p:ext>
    </p:extLst>
  </p:cSld>
  <p:clrMapOvr>
    <a:masterClrMapping/>
  </p:clrMapOvr>
  <p:transition spd="slow">
    <p:blinds dir="vert"/>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794667" y="333893"/>
            <a:ext cx="8229600" cy="639763"/>
          </a:xfrm>
        </p:spPr>
        <p:txBody>
          <a:bodyPr anchor="t">
            <a:noAutofit/>
          </a:bodyPr>
          <a:lstStyle/>
          <a:p>
            <a:pPr eaLnBrk="1" hangingPunct="1"/>
            <a:r>
              <a:rPr lang="id-ID" altLang="en-US" sz="3600" b="1" dirty="0">
                <a:solidFill>
                  <a:srgbClr val="FFC000"/>
                </a:solidFill>
              </a:rPr>
              <a:t>MANAG</a:t>
            </a:r>
            <a:r>
              <a:rPr lang="en-US" altLang="en-US" sz="3600" b="1" dirty="0">
                <a:solidFill>
                  <a:srgbClr val="FFC000"/>
                </a:solidFill>
              </a:rPr>
              <a:t>ING</a:t>
            </a:r>
            <a:r>
              <a:rPr lang="id-ID" altLang="en-US" sz="3600" b="1" dirty="0">
                <a:solidFill>
                  <a:srgbClr val="FFC000"/>
                </a:solidFill>
              </a:rPr>
              <a:t> </a:t>
            </a:r>
            <a:r>
              <a:rPr lang="en-US" altLang="en-US" sz="3600" b="1" dirty="0">
                <a:solidFill>
                  <a:srgbClr val="FFC000"/>
                </a:solidFill>
              </a:rPr>
              <a:t>DRILLING </a:t>
            </a:r>
            <a:r>
              <a:rPr lang="id-ID" altLang="en-US" sz="3600" b="1" dirty="0">
                <a:solidFill>
                  <a:srgbClr val="FFC000"/>
                </a:solidFill>
              </a:rPr>
              <a:t>CONTRACT </a:t>
            </a:r>
            <a:endParaRPr lang="en-US" altLang="en-US" sz="3600" b="1" dirty="0">
              <a:solidFill>
                <a:srgbClr val="FFC000"/>
              </a:solidFill>
            </a:endParaRPr>
          </a:p>
        </p:txBody>
      </p:sp>
      <p:graphicFrame>
        <p:nvGraphicFramePr>
          <p:cNvPr id="5" name="Diagram 4"/>
          <p:cNvGraphicFramePr/>
          <p:nvPr/>
        </p:nvGraphicFramePr>
        <p:xfrm>
          <a:off x="1180070" y="973656"/>
          <a:ext cx="10058400"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5956" name="Rectangle 1"/>
          <p:cNvSpPr>
            <a:spLocks noChangeArrowheads="1"/>
          </p:cNvSpPr>
          <p:nvPr/>
        </p:nvSpPr>
        <p:spPr bwMode="auto">
          <a:xfrm>
            <a:off x="519492" y="1156181"/>
            <a:ext cx="53290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dirty="0">
                <a:solidFill>
                  <a:srgbClr val="FFC000"/>
                </a:solidFill>
                <a:latin typeface="Times New Roman" panose="02020603050405020304" pitchFamily="18" charset="0"/>
                <a:cs typeface="Arial" panose="020B0604020202020204" pitchFamily="34" charset="0"/>
              </a:rPr>
              <a:t>Contract Owner Assignment:</a:t>
            </a:r>
            <a:endParaRPr lang="en-US" altLang="en-US" dirty="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938046312"/>
      </p:ext>
    </p:extLst>
  </p:cSld>
  <p:clrMapOvr>
    <a:masterClrMapping/>
  </p:clrMapOvr>
  <p:transition spd="slow"/>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96097" y="405714"/>
            <a:ext cx="8229600" cy="639763"/>
          </a:xfrm>
        </p:spPr>
        <p:txBody>
          <a:bodyPr anchor="t">
            <a:noAutofit/>
          </a:bodyPr>
          <a:lstStyle/>
          <a:p>
            <a:r>
              <a:rPr lang="id-ID" altLang="en-US" sz="3600" b="1" dirty="0">
                <a:solidFill>
                  <a:schemeClr val="accent6">
                    <a:lumMod val="50000"/>
                  </a:schemeClr>
                </a:solidFill>
              </a:rPr>
              <a:t>CONTRACT OWNER</a:t>
            </a:r>
            <a:r>
              <a:rPr lang="en-US" altLang="en-US" sz="3600" b="1" dirty="0">
                <a:solidFill>
                  <a:schemeClr val="accent6">
                    <a:lumMod val="50000"/>
                  </a:schemeClr>
                </a:solidFill>
              </a:rPr>
              <a:t> </a:t>
            </a:r>
            <a:r>
              <a:rPr lang="id-ID" sz="3600" kern="0" dirty="0">
                <a:solidFill>
                  <a:srgbClr val="FFC000"/>
                </a:solidFill>
              </a:rPr>
              <a:t>Responsibilities:</a:t>
            </a:r>
            <a:br>
              <a:rPr lang="id-ID" sz="3600" kern="0" dirty="0">
                <a:solidFill>
                  <a:srgbClr val="FFC000"/>
                </a:solidFill>
              </a:rPr>
            </a:br>
            <a:endParaRPr lang="en-US" altLang="en-US" sz="3600" b="1" dirty="0">
              <a:solidFill>
                <a:schemeClr val="accent6">
                  <a:lumMod val="50000"/>
                </a:schemeClr>
              </a:solidFill>
            </a:endParaRPr>
          </a:p>
        </p:txBody>
      </p:sp>
      <p:sp>
        <p:nvSpPr>
          <p:cNvPr id="4" name="Content Placeholder 4"/>
          <p:cNvSpPr txBox="1">
            <a:spLocks/>
          </p:cNvSpPr>
          <p:nvPr/>
        </p:nvSpPr>
        <p:spPr bwMode="auto">
          <a:xfrm>
            <a:off x="1130643" y="1295400"/>
            <a:ext cx="7162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FF6600"/>
                </a:solidFill>
                <a:latin typeface="Arial" charset="0"/>
              </a:defRPr>
            </a:lvl1pPr>
            <a:lvl2pPr marL="742950" indent="-285750">
              <a:defRPr b="1">
                <a:solidFill>
                  <a:srgbClr val="FF6600"/>
                </a:solidFill>
                <a:latin typeface="Arial" charset="0"/>
              </a:defRPr>
            </a:lvl2pPr>
            <a:lvl3pPr marL="1143000" indent="-228600">
              <a:defRPr b="1">
                <a:solidFill>
                  <a:srgbClr val="FF6600"/>
                </a:solidFill>
                <a:latin typeface="Arial" charset="0"/>
              </a:defRPr>
            </a:lvl3pPr>
            <a:lvl4pPr marL="1600200" indent="-228600">
              <a:defRPr b="1">
                <a:solidFill>
                  <a:srgbClr val="FF6600"/>
                </a:solidFill>
                <a:latin typeface="Arial" charset="0"/>
              </a:defRPr>
            </a:lvl4pPr>
            <a:lvl5pPr marL="2057400" indent="-228600">
              <a:defRPr b="1">
                <a:solidFill>
                  <a:srgbClr val="FF6600"/>
                </a:solidFill>
                <a:latin typeface="Arial" charset="0"/>
              </a:defRPr>
            </a:lvl5pPr>
            <a:lvl6pPr marL="25146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6pPr>
            <a:lvl7pPr marL="29718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7pPr>
            <a:lvl8pPr marL="34290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8pPr>
            <a:lvl9pPr marL="3886200" indent="-228600" eaLnBrk="0" fontAlgn="base" hangingPunct="0">
              <a:spcBef>
                <a:spcPct val="20000"/>
              </a:spcBef>
              <a:spcAft>
                <a:spcPct val="0"/>
              </a:spcAft>
              <a:buClr>
                <a:srgbClr val="5F5F5F"/>
              </a:buClr>
              <a:buFont typeface="Wingdings" pitchFamily="2" charset="2"/>
              <a:defRPr b="1">
                <a:solidFill>
                  <a:srgbClr val="FF6600"/>
                </a:solidFill>
                <a:latin typeface="Arial" charset="0"/>
              </a:defRPr>
            </a:lvl9pPr>
          </a:lstStyle>
          <a:p>
            <a:pPr marL="444500" indent="-444500">
              <a:buFont typeface="Wingdings" pitchFamily="2" charset="2"/>
              <a:buChar char="v"/>
              <a:defRPr/>
            </a:pPr>
            <a:r>
              <a:rPr lang="id-ID" sz="3200" b="0" kern="0" dirty="0">
                <a:solidFill>
                  <a:srgbClr val="C00000"/>
                </a:solidFill>
              </a:rPr>
              <a:t>Prepare SOW</a:t>
            </a:r>
          </a:p>
          <a:p>
            <a:pPr marL="444500" indent="-444500">
              <a:buFont typeface="Wingdings" pitchFamily="2" charset="2"/>
              <a:buChar char="v"/>
              <a:defRPr/>
            </a:pPr>
            <a:r>
              <a:rPr lang="id-ID" sz="3200" b="0" kern="0" dirty="0">
                <a:solidFill>
                  <a:srgbClr val="C00000"/>
                </a:solidFill>
              </a:rPr>
              <a:t>Prequalification Evaluation</a:t>
            </a:r>
          </a:p>
          <a:p>
            <a:pPr marL="444500" indent="-444500">
              <a:buFont typeface="Wingdings" pitchFamily="2" charset="2"/>
              <a:buChar char="v"/>
              <a:defRPr/>
            </a:pPr>
            <a:r>
              <a:rPr lang="id-ID" sz="3200" b="0" kern="0" dirty="0">
                <a:solidFill>
                  <a:srgbClr val="C00000"/>
                </a:solidFill>
              </a:rPr>
              <a:t>Pre-bid meeting and clarification</a:t>
            </a:r>
          </a:p>
          <a:p>
            <a:pPr marL="444500" indent="-444500">
              <a:buFont typeface="Wingdings" pitchFamily="2" charset="2"/>
              <a:buChar char="v"/>
              <a:defRPr/>
            </a:pPr>
            <a:r>
              <a:rPr lang="id-ID" sz="3200" b="0" kern="0" dirty="0">
                <a:solidFill>
                  <a:srgbClr val="C00000"/>
                </a:solidFill>
              </a:rPr>
              <a:t>Provide Justification (DA/DS)</a:t>
            </a:r>
          </a:p>
          <a:p>
            <a:pPr marL="444500" indent="-444500">
              <a:buFont typeface="Wingdings" pitchFamily="2" charset="2"/>
              <a:buChar char="v"/>
              <a:defRPr/>
            </a:pPr>
            <a:r>
              <a:rPr lang="id-ID" sz="3200" b="0" kern="0" dirty="0">
                <a:solidFill>
                  <a:srgbClr val="C00000"/>
                </a:solidFill>
              </a:rPr>
              <a:t>Tender technical evaluation</a:t>
            </a:r>
          </a:p>
          <a:p>
            <a:pPr marL="444500" indent="-444500">
              <a:buFont typeface="Wingdings" pitchFamily="2" charset="2"/>
              <a:buChar char="v"/>
              <a:defRPr/>
            </a:pPr>
            <a:r>
              <a:rPr lang="id-ID" sz="3200" b="0" kern="0" dirty="0">
                <a:solidFill>
                  <a:srgbClr val="C00000"/>
                </a:solidFill>
              </a:rPr>
              <a:t>Mobilization note</a:t>
            </a:r>
          </a:p>
          <a:p>
            <a:pPr marL="444500" indent="-444500">
              <a:buFont typeface="Wingdings" pitchFamily="2" charset="2"/>
              <a:buChar char="v"/>
              <a:defRPr/>
            </a:pPr>
            <a:r>
              <a:rPr lang="id-ID" sz="3200" b="0" kern="0" dirty="0">
                <a:solidFill>
                  <a:srgbClr val="C00000"/>
                </a:solidFill>
              </a:rPr>
              <a:t>Contract Summary</a:t>
            </a:r>
          </a:p>
          <a:p>
            <a:pPr marL="444500" indent="-444500">
              <a:buFont typeface="Wingdings" pitchFamily="2" charset="2"/>
              <a:buChar char="v"/>
              <a:defRPr/>
            </a:pPr>
            <a:r>
              <a:rPr lang="id-ID" sz="3200" b="0" kern="0" dirty="0">
                <a:solidFill>
                  <a:srgbClr val="C00000"/>
                </a:solidFill>
              </a:rPr>
              <a:t>Contract Monitoring</a:t>
            </a:r>
          </a:p>
          <a:p>
            <a:pPr marL="444500" indent="-444500">
              <a:buFont typeface="Wingdings" pitchFamily="2" charset="2"/>
              <a:buChar char="v"/>
              <a:defRPr/>
            </a:pPr>
            <a:r>
              <a:rPr lang="id-ID" sz="3200" b="0" kern="0" dirty="0">
                <a:solidFill>
                  <a:srgbClr val="C00000"/>
                </a:solidFill>
              </a:rPr>
              <a:t>Contract Amendmend</a:t>
            </a:r>
          </a:p>
          <a:p>
            <a:pPr marL="444500" indent="-444500">
              <a:buFont typeface="Wingdings" pitchFamily="2" charset="2"/>
              <a:buChar char="v"/>
              <a:defRPr/>
            </a:pPr>
            <a:r>
              <a:rPr lang="id-ID" sz="3200" b="0" kern="0" dirty="0">
                <a:solidFill>
                  <a:srgbClr val="C00000"/>
                </a:solidFill>
              </a:rPr>
              <a:t>Check invoice</a:t>
            </a:r>
          </a:p>
          <a:p>
            <a:pPr marL="0" indent="0">
              <a:defRPr/>
            </a:pPr>
            <a:endParaRPr lang="en-US" sz="3200" b="0" kern="0" dirty="0">
              <a:solidFill>
                <a:srgbClr val="C00000"/>
              </a:solidFill>
            </a:endParaRPr>
          </a:p>
          <a:p>
            <a:pPr>
              <a:buFont typeface="Wingdings" pitchFamily="2" charset="2"/>
              <a:buChar char="v"/>
              <a:defRPr/>
            </a:pPr>
            <a:endParaRPr lang="id-ID" sz="3200" b="0" kern="0" dirty="0">
              <a:solidFill>
                <a:srgbClr val="C00000"/>
              </a:solidFill>
            </a:endParaRPr>
          </a:p>
        </p:txBody>
      </p:sp>
    </p:spTree>
    <p:extLst>
      <p:ext uri="{BB962C8B-B14F-4D97-AF65-F5344CB8AC3E}">
        <p14:creationId xmlns:p14="http://schemas.microsoft.com/office/powerpoint/2010/main" val="590973549"/>
      </p:ext>
    </p:extLst>
  </p:cSld>
  <p:clrMapOvr>
    <a:masterClrMapping/>
  </p:clrMapOvr>
  <p:transition spd="slow"/>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003005" y="452477"/>
            <a:ext cx="8229600" cy="639763"/>
          </a:xfrm>
        </p:spPr>
        <p:txBody>
          <a:bodyPr anchor="t"/>
          <a:lstStyle/>
          <a:p>
            <a:pPr eaLnBrk="1" hangingPunct="1"/>
            <a:r>
              <a:rPr lang="id-ID" altLang="en-US" sz="3200" b="1" dirty="0">
                <a:solidFill>
                  <a:srgbClr val="FFC000"/>
                </a:solidFill>
              </a:rPr>
              <a:t>CONTRACT OWNER</a:t>
            </a:r>
            <a:endParaRPr lang="en-US" altLang="en-US" sz="3200" b="1" dirty="0">
              <a:solidFill>
                <a:srgbClr val="FFC000"/>
              </a:solidFill>
            </a:endParaRPr>
          </a:p>
        </p:txBody>
      </p:sp>
      <p:graphicFrame>
        <p:nvGraphicFramePr>
          <p:cNvPr id="4" name="Table 3"/>
          <p:cNvGraphicFramePr>
            <a:graphicFrameLocks noGrp="1"/>
          </p:cNvGraphicFramePr>
          <p:nvPr/>
        </p:nvGraphicFramePr>
        <p:xfrm>
          <a:off x="665204" y="1219200"/>
          <a:ext cx="4759410" cy="5669570"/>
        </p:xfrm>
        <a:graphic>
          <a:graphicData uri="http://schemas.openxmlformats.org/drawingml/2006/table">
            <a:tbl>
              <a:tblPr firstRow="1" bandRow="1">
                <a:tableStyleId>{5C22544A-7EE6-4342-B048-85BDC9FD1C3A}</a:tableStyleId>
              </a:tblPr>
              <a:tblGrid>
                <a:gridCol w="761506">
                  <a:extLst>
                    <a:ext uri="{9D8B030D-6E8A-4147-A177-3AD203B41FA5}">
                      <a16:colId xmlns:a16="http://schemas.microsoft.com/office/drawing/2014/main" val="20000"/>
                    </a:ext>
                  </a:extLst>
                </a:gridCol>
                <a:gridCol w="3997904">
                  <a:extLst>
                    <a:ext uri="{9D8B030D-6E8A-4147-A177-3AD203B41FA5}">
                      <a16:colId xmlns:a16="http://schemas.microsoft.com/office/drawing/2014/main" val="20001"/>
                    </a:ext>
                  </a:extLst>
                </a:gridCol>
              </a:tblGrid>
              <a:tr h="362464">
                <a:tc>
                  <a:txBody>
                    <a:bodyPr/>
                    <a:lstStyle/>
                    <a:p>
                      <a:r>
                        <a:rPr lang="id-ID" sz="1800" dirty="0">
                          <a:solidFill>
                            <a:srgbClr val="006600"/>
                          </a:solidFill>
                        </a:rPr>
                        <a:t>PIC</a:t>
                      </a:r>
                    </a:p>
                  </a:txBody>
                  <a:tcPr marT="45722" marB="45722"/>
                </a:tc>
                <a:tc>
                  <a:txBody>
                    <a:bodyPr/>
                    <a:lstStyle/>
                    <a:p>
                      <a:r>
                        <a:rPr lang="id-ID" sz="1800" dirty="0">
                          <a:solidFill>
                            <a:srgbClr val="006600"/>
                          </a:solidFill>
                        </a:rPr>
                        <a:t>Drilling</a:t>
                      </a:r>
                      <a:r>
                        <a:rPr lang="id-ID" sz="1800" baseline="0" dirty="0">
                          <a:solidFill>
                            <a:srgbClr val="006600"/>
                          </a:solidFill>
                        </a:rPr>
                        <a:t> Contract</a:t>
                      </a:r>
                      <a:endParaRPr lang="id-ID" sz="1800" dirty="0">
                        <a:solidFill>
                          <a:srgbClr val="006600"/>
                        </a:solidFill>
                      </a:endParaRPr>
                    </a:p>
                  </a:txBody>
                  <a:tcPr marT="45722" marB="45722"/>
                </a:tc>
                <a:extLst>
                  <a:ext uri="{0D108BD9-81ED-4DB2-BD59-A6C34878D82A}">
                    <a16:rowId xmlns:a16="http://schemas.microsoft.com/office/drawing/2014/main" val="10000"/>
                  </a:ext>
                </a:extLst>
              </a:tr>
              <a:tr h="5303806">
                <a:tc>
                  <a:txBody>
                    <a:bodyPr/>
                    <a:lstStyle/>
                    <a:p>
                      <a:r>
                        <a:rPr lang="id-ID" sz="1800" b="1" dirty="0">
                          <a:solidFill>
                            <a:srgbClr val="006600"/>
                          </a:solidFill>
                        </a:rPr>
                        <a:t>DE</a:t>
                      </a:r>
                    </a:p>
                    <a:p>
                      <a:r>
                        <a:rPr lang="id-ID" sz="1800" b="1" dirty="0">
                          <a:solidFill>
                            <a:srgbClr val="006600"/>
                          </a:solidFill>
                        </a:rPr>
                        <a:t>3-4</a:t>
                      </a:r>
                    </a:p>
                  </a:txBody>
                  <a:tcPr marT="45722" marB="45722"/>
                </a:tc>
                <a:tc>
                  <a:txBody>
                    <a:bodyPr/>
                    <a:lstStyle/>
                    <a:p>
                      <a:pPr marL="342900" indent="-342900">
                        <a:buFont typeface="+mj-lt"/>
                        <a:buAutoNum type="arabicPeriod"/>
                      </a:pPr>
                      <a:r>
                        <a:rPr lang="id-ID" sz="1800" b="1" dirty="0">
                          <a:solidFill>
                            <a:srgbClr val="006600"/>
                          </a:solidFill>
                        </a:rPr>
                        <a:t>Casing</a:t>
                      </a:r>
                    </a:p>
                    <a:p>
                      <a:pPr marL="342900" indent="-342900">
                        <a:buFont typeface="+mj-lt"/>
                        <a:buAutoNum type="arabicPeriod"/>
                      </a:pPr>
                      <a:r>
                        <a:rPr lang="id-ID" sz="1800" b="1" dirty="0">
                          <a:solidFill>
                            <a:srgbClr val="006600"/>
                          </a:solidFill>
                        </a:rPr>
                        <a:t>Wellhead</a:t>
                      </a:r>
                    </a:p>
                    <a:p>
                      <a:pPr marL="342900" indent="-342900">
                        <a:buFont typeface="+mj-lt"/>
                        <a:buAutoNum type="arabicPeriod"/>
                      </a:pPr>
                      <a:r>
                        <a:rPr lang="id-ID" sz="1800" b="1" dirty="0">
                          <a:solidFill>
                            <a:srgbClr val="006600"/>
                          </a:solidFill>
                        </a:rPr>
                        <a:t>Liner Adapter</a:t>
                      </a:r>
                    </a:p>
                    <a:p>
                      <a:pPr marL="342900" indent="-342900">
                        <a:buFont typeface="+mj-lt"/>
                        <a:buAutoNum type="arabicPeriod"/>
                      </a:pPr>
                      <a:r>
                        <a:rPr lang="id-ID" sz="1800" b="1" dirty="0">
                          <a:solidFill>
                            <a:srgbClr val="006600"/>
                          </a:solidFill>
                        </a:rPr>
                        <a:t>Drilling Rig</a:t>
                      </a:r>
                    </a:p>
                    <a:p>
                      <a:pPr marL="449263" marR="0" indent="-449263" algn="l" defTabSz="914400" rtl="0" eaLnBrk="1" fontAlgn="auto" latinLnBrk="0" hangingPunct="1">
                        <a:lnSpc>
                          <a:spcPct val="100000"/>
                        </a:lnSpc>
                        <a:spcBef>
                          <a:spcPts val="0"/>
                        </a:spcBef>
                        <a:spcAft>
                          <a:spcPts val="0"/>
                        </a:spcAft>
                        <a:buClrTx/>
                        <a:buSzTx/>
                        <a:buFont typeface="+mj-lt"/>
                        <a:buAutoNum type="arabicPeriod"/>
                        <a:tabLst/>
                        <a:defRPr/>
                      </a:pPr>
                      <a:r>
                        <a:rPr lang="id-ID" sz="1800" b="1" dirty="0">
                          <a:solidFill>
                            <a:srgbClr val="006600"/>
                          </a:solidFill>
                        </a:rPr>
                        <a:t>Drilling Bits</a:t>
                      </a:r>
                    </a:p>
                    <a:p>
                      <a:pPr marL="449263" indent="-449263">
                        <a:buFont typeface="+mj-lt"/>
                        <a:buAutoNum type="arabicPeriod"/>
                      </a:pPr>
                      <a:r>
                        <a:rPr lang="id-ID" sz="1800" b="1" dirty="0">
                          <a:solidFill>
                            <a:srgbClr val="006600"/>
                          </a:solidFill>
                        </a:rPr>
                        <a:t>Cement and Mud</a:t>
                      </a:r>
                    </a:p>
                    <a:p>
                      <a:pPr marL="449263" indent="-449263">
                        <a:buFont typeface="+mj-lt"/>
                        <a:buAutoNum type="arabicPeriod"/>
                      </a:pPr>
                      <a:r>
                        <a:rPr lang="id-ID" sz="1800" b="1" dirty="0">
                          <a:solidFill>
                            <a:srgbClr val="006600"/>
                          </a:solidFill>
                        </a:rPr>
                        <a:t>Directional</a:t>
                      </a:r>
                      <a:r>
                        <a:rPr lang="id-ID" sz="1800" b="1" baseline="0" dirty="0">
                          <a:solidFill>
                            <a:srgbClr val="006600"/>
                          </a:solidFill>
                        </a:rPr>
                        <a:t> Drilling</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Perforated Liner</a:t>
                      </a:r>
                    </a:p>
                    <a:p>
                      <a:pPr marL="449263" indent="-449263">
                        <a:buFont typeface="+mj-lt"/>
                        <a:buAutoNum type="arabicPeriod"/>
                      </a:pPr>
                      <a:r>
                        <a:rPr lang="id-ID" sz="1800" b="1" baseline="0" dirty="0">
                          <a:solidFill>
                            <a:srgbClr val="006600"/>
                          </a:solidFill>
                        </a:rPr>
                        <a:t>Air Drilling</a:t>
                      </a:r>
                    </a:p>
                    <a:p>
                      <a:pPr marL="449263" indent="-449263">
                        <a:buFont typeface="+mj-lt"/>
                        <a:buAutoNum type="arabicPeriod"/>
                      </a:pPr>
                      <a:r>
                        <a:rPr lang="id-ID" sz="1800" b="1" baseline="0" dirty="0">
                          <a:solidFill>
                            <a:srgbClr val="006600"/>
                          </a:solidFill>
                        </a:rPr>
                        <a:t>Mud Coller</a:t>
                      </a:r>
                    </a:p>
                    <a:p>
                      <a:pPr marL="449263" indent="-449263">
                        <a:buFont typeface="+mj-lt"/>
                        <a:buAutoNum type="arabicPeriod"/>
                      </a:pPr>
                      <a:r>
                        <a:rPr lang="id-ID" sz="1800" b="1" baseline="0" dirty="0">
                          <a:solidFill>
                            <a:srgbClr val="006600"/>
                          </a:solidFill>
                        </a:rPr>
                        <a:t>Wellhead Installation</a:t>
                      </a:r>
                    </a:p>
                    <a:p>
                      <a:pPr marL="449263" indent="-449263">
                        <a:buFont typeface="+mj-lt"/>
                        <a:buAutoNum type="arabicPeriod"/>
                      </a:pPr>
                      <a:r>
                        <a:rPr lang="id-ID" sz="1800" b="1" baseline="0" dirty="0">
                          <a:solidFill>
                            <a:srgbClr val="006600"/>
                          </a:solidFill>
                        </a:rPr>
                        <a:t>VSAT</a:t>
                      </a:r>
                    </a:p>
                    <a:p>
                      <a:pPr marL="449263" indent="-449263">
                        <a:buFont typeface="+mj-lt"/>
                        <a:buAutoNum type="arabicPeriod"/>
                      </a:pPr>
                      <a:r>
                        <a:rPr lang="id-ID" sz="1800" b="1" baseline="0" dirty="0">
                          <a:solidFill>
                            <a:srgbClr val="006600"/>
                          </a:solidFill>
                        </a:rPr>
                        <a:t>Drilling Report</a:t>
                      </a:r>
                    </a:p>
                    <a:p>
                      <a:pPr marL="449263" indent="-449263">
                        <a:buFont typeface="+mj-lt"/>
                        <a:buAutoNum type="arabicPeriod"/>
                      </a:pPr>
                      <a:r>
                        <a:rPr lang="id-ID" sz="1800" b="1" baseline="0" dirty="0">
                          <a:solidFill>
                            <a:srgbClr val="006600"/>
                          </a:solidFill>
                        </a:rPr>
                        <a:t>Casing Handling</a:t>
                      </a:r>
                    </a:p>
                    <a:p>
                      <a:pPr marL="449263" indent="-449263">
                        <a:buFont typeface="+mj-lt"/>
                        <a:buAutoNum type="arabicPeriod"/>
                      </a:pPr>
                      <a:r>
                        <a:rPr lang="id-ID" sz="1800" b="1" baseline="0" dirty="0">
                          <a:solidFill>
                            <a:srgbClr val="006600"/>
                          </a:solidFill>
                        </a:rPr>
                        <a:t>Hard Bending</a:t>
                      </a:r>
                    </a:p>
                    <a:p>
                      <a:pPr marL="449263" indent="-449263">
                        <a:buFont typeface="+mj-lt"/>
                        <a:buAutoNum type="arabicPeriod"/>
                      </a:pPr>
                      <a:r>
                        <a:rPr lang="id-ID" sz="1800" b="1" baseline="0" dirty="0">
                          <a:solidFill>
                            <a:srgbClr val="006600"/>
                          </a:solidFill>
                        </a:rPr>
                        <a:t>Solid Control Services</a:t>
                      </a:r>
                    </a:p>
                    <a:p>
                      <a:pPr marL="449263" indent="-449263">
                        <a:buFont typeface="+mj-lt"/>
                        <a:buAutoNum type="arabicPeriod"/>
                      </a:pPr>
                      <a:r>
                        <a:rPr lang="id-ID" sz="1800" b="1" baseline="0" dirty="0">
                          <a:solidFill>
                            <a:srgbClr val="006600"/>
                          </a:solidFill>
                        </a:rPr>
                        <a:t>Fishing Tool Services</a:t>
                      </a:r>
                    </a:p>
                    <a:p>
                      <a:pPr marL="449263" indent="-449263">
                        <a:buFont typeface="+mj-lt"/>
                        <a:buAutoNum type="arabicPeriod"/>
                      </a:pPr>
                      <a:r>
                        <a:rPr lang="id-ID" sz="1800" b="1" baseline="0" dirty="0">
                          <a:solidFill>
                            <a:srgbClr val="006600"/>
                          </a:solidFill>
                        </a:rPr>
                        <a:t>Coring Services</a:t>
                      </a:r>
                      <a:endParaRPr lang="en-US" sz="1800" b="1" baseline="0" dirty="0">
                        <a:solidFill>
                          <a:srgbClr val="006600"/>
                        </a:solidFill>
                      </a:endParaRPr>
                    </a:p>
                    <a:p>
                      <a:pPr marL="449263" marR="0" indent="-449263"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Drill String Inspection</a:t>
                      </a:r>
                      <a:endParaRPr lang="id-ID" sz="1800" dirty="0">
                        <a:solidFill>
                          <a:srgbClr val="006600"/>
                        </a:solidFill>
                      </a:endParaRPr>
                    </a:p>
                  </a:txBody>
                  <a:tcPr marT="45722" marB="45722"/>
                </a:tc>
                <a:extLst>
                  <a:ext uri="{0D108BD9-81ED-4DB2-BD59-A6C34878D82A}">
                    <a16:rowId xmlns:a16="http://schemas.microsoft.com/office/drawing/2014/main" val="10001"/>
                  </a:ext>
                </a:extLst>
              </a:tr>
            </a:tbl>
          </a:graphicData>
        </a:graphic>
      </p:graphicFrame>
      <p:graphicFrame>
        <p:nvGraphicFramePr>
          <p:cNvPr id="6" name="Table 5"/>
          <p:cNvGraphicFramePr>
            <a:graphicFrameLocks noGrp="1"/>
          </p:cNvGraphicFramePr>
          <p:nvPr/>
        </p:nvGraphicFramePr>
        <p:xfrm>
          <a:off x="6258698" y="1392196"/>
          <a:ext cx="4267200" cy="5013327"/>
        </p:xfrm>
        <a:graphic>
          <a:graphicData uri="http://schemas.openxmlformats.org/drawingml/2006/table">
            <a:tbl>
              <a:tblPr firstRow="1" bandRow="1">
                <a:tableStyleId>{5C22544A-7EE6-4342-B048-85BDC9FD1C3A}</a:tableStyleId>
              </a:tblPr>
              <a:tblGrid>
                <a:gridCol w="1133475">
                  <a:extLst>
                    <a:ext uri="{9D8B030D-6E8A-4147-A177-3AD203B41FA5}">
                      <a16:colId xmlns:a16="http://schemas.microsoft.com/office/drawing/2014/main" val="20000"/>
                    </a:ext>
                  </a:extLst>
                </a:gridCol>
                <a:gridCol w="3133725">
                  <a:extLst>
                    <a:ext uri="{9D8B030D-6E8A-4147-A177-3AD203B41FA5}">
                      <a16:colId xmlns:a16="http://schemas.microsoft.com/office/drawing/2014/main" val="20001"/>
                    </a:ext>
                  </a:extLst>
                </a:gridCol>
              </a:tblGrid>
              <a:tr h="599937">
                <a:tc>
                  <a:txBody>
                    <a:bodyPr/>
                    <a:lstStyle/>
                    <a:p>
                      <a:r>
                        <a:rPr lang="id-ID" sz="1800" dirty="0">
                          <a:solidFill>
                            <a:srgbClr val="006600"/>
                          </a:solidFill>
                        </a:rPr>
                        <a:t>PIC</a:t>
                      </a:r>
                    </a:p>
                  </a:txBody>
                  <a:tcPr marT="45710" marB="45710"/>
                </a:tc>
                <a:tc>
                  <a:txBody>
                    <a:bodyPr/>
                    <a:lstStyle/>
                    <a:p>
                      <a:r>
                        <a:rPr lang="id-ID" sz="1800" dirty="0">
                          <a:solidFill>
                            <a:srgbClr val="006600"/>
                          </a:solidFill>
                        </a:rPr>
                        <a:t>Drilling</a:t>
                      </a:r>
                      <a:r>
                        <a:rPr lang="id-ID" sz="1800" baseline="0" dirty="0">
                          <a:solidFill>
                            <a:srgbClr val="006600"/>
                          </a:solidFill>
                        </a:rPr>
                        <a:t> Contract</a:t>
                      </a:r>
                      <a:endParaRPr lang="id-ID" sz="1800" dirty="0">
                        <a:solidFill>
                          <a:srgbClr val="006600"/>
                        </a:solidFill>
                      </a:endParaRPr>
                    </a:p>
                  </a:txBody>
                  <a:tcPr marT="45710" marB="45710"/>
                </a:tc>
                <a:extLst>
                  <a:ext uri="{0D108BD9-81ED-4DB2-BD59-A6C34878D82A}">
                    <a16:rowId xmlns:a16="http://schemas.microsoft.com/office/drawing/2014/main" val="10000"/>
                  </a:ext>
                </a:extLst>
              </a:tr>
              <a:tr h="1304510">
                <a:tc>
                  <a:txBody>
                    <a:bodyPr/>
                    <a:lstStyle/>
                    <a:p>
                      <a:r>
                        <a:rPr lang="id-ID" sz="1800" b="1" dirty="0">
                          <a:solidFill>
                            <a:srgbClr val="006600"/>
                          </a:solidFill>
                        </a:rPr>
                        <a:t>Logistic</a:t>
                      </a:r>
                    </a:p>
                    <a:p>
                      <a:r>
                        <a:rPr lang="id-ID" sz="1800" b="1" dirty="0">
                          <a:solidFill>
                            <a:srgbClr val="006600"/>
                          </a:solidFill>
                        </a:rPr>
                        <a:t>&amp;</a:t>
                      </a:r>
                    </a:p>
                    <a:p>
                      <a:r>
                        <a:rPr lang="id-ID" sz="1800" b="1" dirty="0">
                          <a:solidFill>
                            <a:srgbClr val="006600"/>
                          </a:solidFill>
                        </a:rPr>
                        <a:t>Procurement</a:t>
                      </a:r>
                    </a:p>
                  </a:txBody>
                  <a:tcPr marT="45710" marB="45710"/>
                </a:tc>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Permits</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Heavy Equipment</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dirty="0">
                          <a:solidFill>
                            <a:srgbClr val="006600"/>
                          </a:solidFill>
                        </a:rPr>
                        <a:t>Diesel Fuel</a:t>
                      </a:r>
                    </a:p>
                    <a:p>
                      <a:pPr marL="342900" indent="-342900">
                        <a:buFont typeface="+mj-lt"/>
                        <a:buAutoNum type="arabicPeriod"/>
                      </a:pPr>
                      <a:r>
                        <a:rPr lang="id-ID" sz="1800" b="1" dirty="0">
                          <a:solidFill>
                            <a:srgbClr val="006600"/>
                          </a:solidFill>
                        </a:rPr>
                        <a:t>General Services</a:t>
                      </a:r>
                    </a:p>
                  </a:txBody>
                  <a:tcPr marT="45710" marB="45710"/>
                </a:tc>
                <a:extLst>
                  <a:ext uri="{0D108BD9-81ED-4DB2-BD59-A6C34878D82A}">
                    <a16:rowId xmlns:a16="http://schemas.microsoft.com/office/drawing/2014/main" val="10001"/>
                  </a:ext>
                </a:extLst>
              </a:tr>
              <a:tr h="914379">
                <a:tc>
                  <a:txBody>
                    <a:bodyPr/>
                    <a:lstStyle/>
                    <a:p>
                      <a:r>
                        <a:rPr lang="id-ID" sz="1800" b="1" dirty="0">
                          <a:solidFill>
                            <a:srgbClr val="006600"/>
                          </a:solidFill>
                        </a:rPr>
                        <a:t>Facility</a:t>
                      </a:r>
                      <a:r>
                        <a:rPr lang="en-US" sz="1800" b="1" dirty="0">
                          <a:solidFill>
                            <a:srgbClr val="006600"/>
                          </a:solidFill>
                        </a:rPr>
                        <a:t>/ Civil</a:t>
                      </a:r>
                      <a:endParaRPr lang="id-ID" sz="1800" b="1" dirty="0">
                        <a:solidFill>
                          <a:srgbClr val="006600"/>
                        </a:solidFill>
                      </a:endParaRPr>
                    </a:p>
                  </a:txBody>
                  <a:tcPr marT="45710" marB="45710">
                    <a:solidFill>
                      <a:srgbClr val="FFFF00"/>
                    </a:solidFill>
                  </a:tcPr>
                </a:tc>
                <a:tc>
                  <a:txBody>
                    <a:bodyPr/>
                    <a:lstStyle/>
                    <a:p>
                      <a:pPr marL="342900" indent="-342900">
                        <a:buFont typeface="+mj-lt"/>
                        <a:buAutoNum type="arabicPeriod"/>
                      </a:pPr>
                      <a:r>
                        <a:rPr lang="id-ID" sz="1800" b="1" baseline="0" dirty="0">
                          <a:solidFill>
                            <a:srgbClr val="006600"/>
                          </a:solidFill>
                        </a:rPr>
                        <a:t>Permits</a:t>
                      </a:r>
                    </a:p>
                    <a:p>
                      <a:pPr marL="342900" indent="-342900">
                        <a:buFont typeface="+mj-lt"/>
                        <a:buAutoNum type="arabicPeriod"/>
                      </a:pPr>
                      <a:r>
                        <a:rPr lang="id-ID" sz="1800" b="1" dirty="0">
                          <a:solidFill>
                            <a:srgbClr val="006600"/>
                          </a:solidFill>
                        </a:rPr>
                        <a:t>Road Survey</a:t>
                      </a:r>
                      <a:endParaRPr lang="en-US" sz="1800" b="1" dirty="0">
                        <a:solidFill>
                          <a:srgbClr val="006600"/>
                        </a:solidFill>
                      </a:endParaRPr>
                    </a:p>
                    <a:p>
                      <a:pPr marL="342900" indent="-342900">
                        <a:buFont typeface="+mj-lt"/>
                        <a:buAutoNum type="arabicPeriod"/>
                      </a:pPr>
                      <a:r>
                        <a:rPr lang="en-US" sz="1800" b="1" dirty="0">
                          <a:solidFill>
                            <a:srgbClr val="006600"/>
                          </a:solidFill>
                        </a:rPr>
                        <a:t>Water Pump</a:t>
                      </a:r>
                      <a:r>
                        <a:rPr lang="en-US" sz="1800" b="1" baseline="0" dirty="0">
                          <a:solidFill>
                            <a:srgbClr val="006600"/>
                          </a:solidFill>
                        </a:rPr>
                        <a:t> Services</a:t>
                      </a:r>
                      <a:endParaRPr lang="id-ID" sz="1800" dirty="0">
                        <a:solidFill>
                          <a:srgbClr val="006600"/>
                        </a:solidFill>
                      </a:endParaRPr>
                    </a:p>
                  </a:txBody>
                  <a:tcPr marT="45710" marB="45710">
                    <a:solidFill>
                      <a:srgbClr val="FFFF00"/>
                    </a:solidFill>
                  </a:tcPr>
                </a:tc>
                <a:extLst>
                  <a:ext uri="{0D108BD9-81ED-4DB2-BD59-A6C34878D82A}">
                    <a16:rowId xmlns:a16="http://schemas.microsoft.com/office/drawing/2014/main" val="10002"/>
                  </a:ext>
                </a:extLst>
              </a:tr>
              <a:tr h="914379">
                <a:tc>
                  <a:txBody>
                    <a:bodyPr/>
                    <a:lstStyle/>
                    <a:p>
                      <a:r>
                        <a:rPr lang="id-ID" sz="1800" b="1" dirty="0">
                          <a:solidFill>
                            <a:srgbClr val="006600"/>
                          </a:solidFill>
                        </a:rPr>
                        <a:t>HSE</a:t>
                      </a:r>
                    </a:p>
                  </a:txBody>
                  <a:tcPr marT="45710" marB="45710"/>
                </a:tc>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dirty="0">
                          <a:solidFill>
                            <a:srgbClr val="006600"/>
                          </a:solidFill>
                        </a:rPr>
                        <a:t>UKL / UPL</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Drilling Waste Handling</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H2S Service</a:t>
                      </a:r>
                      <a:endParaRPr lang="id-ID" sz="1800" dirty="0">
                        <a:solidFill>
                          <a:srgbClr val="006600"/>
                        </a:solidFill>
                      </a:endParaRPr>
                    </a:p>
                  </a:txBody>
                  <a:tcPr marT="45710" marB="45710"/>
                </a:tc>
                <a:extLst>
                  <a:ext uri="{0D108BD9-81ED-4DB2-BD59-A6C34878D82A}">
                    <a16:rowId xmlns:a16="http://schemas.microsoft.com/office/drawing/2014/main" val="10003"/>
                  </a:ext>
                </a:extLst>
              </a:tr>
              <a:tr h="640060">
                <a:tc>
                  <a:txBody>
                    <a:bodyPr/>
                    <a:lstStyle/>
                    <a:p>
                      <a:r>
                        <a:rPr lang="id-ID" sz="1800" b="1" dirty="0">
                          <a:solidFill>
                            <a:srgbClr val="006600"/>
                          </a:solidFill>
                        </a:rPr>
                        <a:t>G &amp; G</a:t>
                      </a:r>
                    </a:p>
                  </a:txBody>
                  <a:tcPr marT="45710" marB="45710">
                    <a:solidFill>
                      <a:srgbClr val="99FF99"/>
                    </a:solidFill>
                  </a:tcPr>
                </a:tc>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E-Line &amp; Explosive</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Mud Logging</a:t>
                      </a:r>
                      <a:endParaRPr lang="id-ID" sz="1800" dirty="0">
                        <a:solidFill>
                          <a:srgbClr val="006600"/>
                        </a:solidFill>
                      </a:endParaRPr>
                    </a:p>
                  </a:txBody>
                  <a:tcPr marT="45710" marB="45710">
                    <a:solidFill>
                      <a:srgbClr val="99FF99"/>
                    </a:solidFill>
                  </a:tcPr>
                </a:tc>
                <a:extLst>
                  <a:ext uri="{0D108BD9-81ED-4DB2-BD59-A6C34878D82A}">
                    <a16:rowId xmlns:a16="http://schemas.microsoft.com/office/drawing/2014/main" val="10004"/>
                  </a:ext>
                </a:extLst>
              </a:tr>
              <a:tr h="640060">
                <a:tc>
                  <a:txBody>
                    <a:bodyPr/>
                    <a:lstStyle/>
                    <a:p>
                      <a:r>
                        <a:rPr lang="id-ID" sz="1800" b="1" dirty="0">
                          <a:solidFill>
                            <a:srgbClr val="006600"/>
                          </a:solidFill>
                        </a:rPr>
                        <a:t>HRD</a:t>
                      </a:r>
                    </a:p>
                  </a:txBody>
                  <a:tcPr marT="45710" marB="45710"/>
                </a:tc>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id-ID" sz="1800" b="1" baseline="0" dirty="0">
                          <a:solidFill>
                            <a:srgbClr val="006600"/>
                          </a:solidFill>
                        </a:rPr>
                        <a:t>Drilling Personnel</a:t>
                      </a:r>
                    </a:p>
                    <a:p>
                      <a:pPr marL="342900" indent="-342900">
                        <a:buFont typeface="+mj-lt"/>
                        <a:buAutoNum type="arabicPeriod"/>
                      </a:pPr>
                      <a:endParaRPr lang="id-ID" sz="1800" dirty="0">
                        <a:solidFill>
                          <a:srgbClr val="006600"/>
                        </a:solidFill>
                      </a:endParaRPr>
                    </a:p>
                  </a:txBody>
                  <a:tcPr marT="45710" marB="4571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3551291"/>
      </p:ext>
    </p:extLst>
  </p:cSld>
  <p:clrMapOvr>
    <a:masterClrMapping/>
  </p:clrMapOvr>
  <p:transition spd="slow"/>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1624013" y="1585913"/>
            <a:ext cx="8839200" cy="1143000"/>
          </a:xfrm>
        </p:spPr>
        <p:txBody>
          <a:bodyPr>
            <a:normAutofit/>
          </a:bodyPr>
          <a:lstStyle/>
          <a:p>
            <a:pPr algn="ctr"/>
            <a:r>
              <a:rPr lang="en-US" altLang="en-US" sz="4000" b="1" dirty="0">
                <a:solidFill>
                  <a:srgbClr val="D24726"/>
                </a:solidFill>
              </a:rPr>
              <a:t>COMPETITIVE RENUMERATION TABLE</a:t>
            </a:r>
          </a:p>
        </p:txBody>
      </p:sp>
    </p:spTree>
    <p:extLst>
      <p:ext uri="{BB962C8B-B14F-4D97-AF65-F5344CB8AC3E}">
        <p14:creationId xmlns:p14="http://schemas.microsoft.com/office/powerpoint/2010/main" val="41420280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676" y="267303"/>
            <a:ext cx="11437113" cy="640080"/>
          </a:xfrm>
        </p:spPr>
        <p:txBody>
          <a:bodyPr>
            <a:noAutofit/>
          </a:bodyPr>
          <a:lstStyle/>
          <a:p>
            <a:r>
              <a:rPr lang="en-US" sz="4000" b="1" dirty="0">
                <a:solidFill>
                  <a:schemeClr val="accent6">
                    <a:lumMod val="50000"/>
                  </a:schemeClr>
                </a:solidFill>
              </a:rPr>
              <a:t>Competitive Renumeration Table - Drilling Services</a:t>
            </a:r>
          </a:p>
        </p:txBody>
      </p:sp>
      <p:graphicFrame>
        <p:nvGraphicFramePr>
          <p:cNvPr id="4" name="Table 3"/>
          <p:cNvGraphicFramePr>
            <a:graphicFrameLocks noGrp="1"/>
          </p:cNvGraphicFramePr>
          <p:nvPr/>
        </p:nvGraphicFramePr>
        <p:xfrm>
          <a:off x="276211" y="811689"/>
          <a:ext cx="11437113" cy="5953760"/>
        </p:xfrm>
        <a:graphic>
          <a:graphicData uri="http://schemas.openxmlformats.org/drawingml/2006/table">
            <a:tbl>
              <a:tblPr firstRow="1" bandRow="1">
                <a:tableStyleId>{5C22544A-7EE6-4342-B048-85BDC9FD1C3A}</a:tableStyleId>
              </a:tblPr>
              <a:tblGrid>
                <a:gridCol w="815231">
                  <a:extLst>
                    <a:ext uri="{9D8B030D-6E8A-4147-A177-3AD203B41FA5}">
                      <a16:colId xmlns:a16="http://schemas.microsoft.com/office/drawing/2014/main" val="567268424"/>
                    </a:ext>
                  </a:extLst>
                </a:gridCol>
                <a:gridCol w="3008153">
                  <a:extLst>
                    <a:ext uri="{9D8B030D-6E8A-4147-A177-3AD203B41FA5}">
                      <a16:colId xmlns:a16="http://schemas.microsoft.com/office/drawing/2014/main" val="3304530452"/>
                    </a:ext>
                  </a:extLst>
                </a:gridCol>
                <a:gridCol w="7613729">
                  <a:extLst>
                    <a:ext uri="{9D8B030D-6E8A-4147-A177-3AD203B41FA5}">
                      <a16:colId xmlns:a16="http://schemas.microsoft.com/office/drawing/2014/main" val="2791784059"/>
                    </a:ext>
                  </a:extLst>
                </a:gridCol>
              </a:tblGrid>
              <a:tr h="370840">
                <a:tc>
                  <a:txBody>
                    <a:bodyPr/>
                    <a:lstStyle/>
                    <a:p>
                      <a:pPr algn="ctr"/>
                      <a:r>
                        <a:rPr lang="en-US" dirty="0"/>
                        <a:t>No</a:t>
                      </a:r>
                    </a:p>
                  </a:txBody>
                  <a:tcPr/>
                </a:tc>
                <a:tc>
                  <a:txBody>
                    <a:bodyPr/>
                    <a:lstStyle/>
                    <a:p>
                      <a:pPr algn="ctr"/>
                      <a:r>
                        <a:rPr lang="en-US" dirty="0"/>
                        <a:t>Drilling </a:t>
                      </a:r>
                      <a:r>
                        <a:rPr lang="en-US" baseline="0" dirty="0"/>
                        <a:t>Services</a:t>
                      </a:r>
                      <a:endParaRPr lang="en-US" dirty="0"/>
                    </a:p>
                  </a:txBody>
                  <a:tcPr/>
                </a:tc>
                <a:tc>
                  <a:txBody>
                    <a:bodyPr/>
                    <a:lstStyle/>
                    <a:p>
                      <a:pPr algn="ctr"/>
                      <a:r>
                        <a:rPr lang="en-US" dirty="0"/>
                        <a:t>Cost Saving Initiative</a:t>
                      </a:r>
                    </a:p>
                  </a:txBody>
                  <a:tcPr/>
                </a:tc>
                <a:extLst>
                  <a:ext uri="{0D108BD9-81ED-4DB2-BD59-A6C34878D82A}">
                    <a16:rowId xmlns:a16="http://schemas.microsoft.com/office/drawing/2014/main" val="1953090245"/>
                  </a:ext>
                </a:extLst>
              </a:tr>
              <a:tr h="370840">
                <a:tc>
                  <a:txBody>
                    <a:bodyPr/>
                    <a:lstStyle/>
                    <a:p>
                      <a:pPr algn="ctr"/>
                      <a:r>
                        <a:rPr lang="en-US" dirty="0"/>
                        <a:t>1</a:t>
                      </a:r>
                    </a:p>
                  </a:txBody>
                  <a:tcPr/>
                </a:tc>
                <a:tc>
                  <a:txBody>
                    <a:bodyPr/>
                    <a:lstStyle/>
                    <a:p>
                      <a:r>
                        <a:rPr lang="en-US" dirty="0"/>
                        <a:t>Directional Drilling</a:t>
                      </a:r>
                    </a:p>
                  </a:txBody>
                  <a:tcPr/>
                </a:tc>
                <a:tc>
                  <a:txBody>
                    <a:bodyPr/>
                    <a:lstStyle/>
                    <a:p>
                      <a:pPr marL="285750" indent="-285750">
                        <a:buFont typeface="Arial" panose="020B0604020202020204" pitchFamily="34" charset="0"/>
                        <a:buChar char="•"/>
                      </a:pPr>
                      <a:r>
                        <a:rPr lang="en-US" dirty="0"/>
                        <a:t>LS Cost per day</a:t>
                      </a:r>
                      <a:r>
                        <a:rPr lang="en-US" baseline="0" dirty="0"/>
                        <a:t> for each hole section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LIH include in contract price</a:t>
                      </a:r>
                    </a:p>
                  </a:txBody>
                  <a:tcPr/>
                </a:tc>
                <a:extLst>
                  <a:ext uri="{0D108BD9-81ED-4DB2-BD59-A6C34878D82A}">
                    <a16:rowId xmlns:a16="http://schemas.microsoft.com/office/drawing/2014/main" val="2183287629"/>
                  </a:ext>
                </a:extLst>
              </a:tr>
              <a:tr h="370840">
                <a:tc>
                  <a:txBody>
                    <a:bodyPr/>
                    <a:lstStyle/>
                    <a:p>
                      <a:pPr algn="ctr"/>
                      <a:r>
                        <a:rPr lang="en-US" dirty="0"/>
                        <a:t>2</a:t>
                      </a:r>
                    </a:p>
                  </a:txBody>
                  <a:tcPr/>
                </a:tc>
                <a:tc>
                  <a:txBody>
                    <a:bodyPr/>
                    <a:lstStyle/>
                    <a:p>
                      <a:r>
                        <a:rPr lang="en-US" dirty="0"/>
                        <a:t>Cementing</a:t>
                      </a:r>
                      <a:r>
                        <a:rPr lang="en-US"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Drilling Fluid</a:t>
                      </a:r>
                    </a:p>
                  </a:txBody>
                  <a:tcPr/>
                </a:tc>
                <a:tc>
                  <a:txBody>
                    <a:bodyPr/>
                    <a:lstStyle/>
                    <a:p>
                      <a:pPr marL="285750" indent="-285750">
                        <a:buFont typeface="Arial" panose="020B0604020202020204" pitchFamily="34" charset="0"/>
                        <a:buChar char="•"/>
                      </a:pPr>
                      <a:r>
                        <a:rPr lang="en-US" dirty="0"/>
                        <a:t>Itemize</a:t>
                      </a:r>
                      <a:r>
                        <a:rPr lang="en-US" baseline="0" dirty="0"/>
                        <a:t> unit price for each mud chemical</a:t>
                      </a:r>
                    </a:p>
                    <a:p>
                      <a:pPr marL="285750" indent="-285750">
                        <a:buFont typeface="Arial" panose="020B0604020202020204" pitchFamily="34" charset="0"/>
                        <a:buChar char="•"/>
                      </a:pPr>
                      <a:r>
                        <a:rPr lang="en-US" baseline="0" dirty="0"/>
                        <a:t>Consignment basis</a:t>
                      </a:r>
                      <a:endParaRPr lang="en-US" dirty="0"/>
                    </a:p>
                  </a:txBody>
                  <a:tcPr/>
                </a:tc>
                <a:extLst>
                  <a:ext uri="{0D108BD9-81ED-4DB2-BD59-A6C34878D82A}">
                    <a16:rowId xmlns:a16="http://schemas.microsoft.com/office/drawing/2014/main" val="1427734470"/>
                  </a:ext>
                </a:extLst>
              </a:tr>
              <a:tr h="370840">
                <a:tc>
                  <a:txBody>
                    <a:bodyPr/>
                    <a:lstStyle/>
                    <a:p>
                      <a:pPr algn="ctr"/>
                      <a:r>
                        <a:rPr lang="en-US" dirty="0"/>
                        <a:t>4</a:t>
                      </a:r>
                    </a:p>
                  </a:txBody>
                  <a:tcPr/>
                </a:tc>
                <a:tc>
                  <a:txBody>
                    <a:bodyPr/>
                    <a:lstStyle/>
                    <a:p>
                      <a:r>
                        <a:rPr lang="en-US" dirty="0"/>
                        <a:t>Wire</a:t>
                      </a:r>
                      <a:r>
                        <a:rPr lang="en-US" baseline="0" dirty="0"/>
                        <a:t> Line</a:t>
                      </a:r>
                      <a:endParaRPr lang="en-US"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Stand rate for Unit and personnel</a:t>
                      </a:r>
                    </a:p>
                    <a:p>
                      <a:pPr marL="285750" indent="-285750">
                        <a:buFont typeface="Arial" panose="020B0604020202020204" pitchFamily="34" charset="0"/>
                        <a:buChar char="•"/>
                      </a:pPr>
                      <a:r>
                        <a:rPr lang="en-US" dirty="0"/>
                        <a:t>Tool: Call Out, no stand by rental cost</a:t>
                      </a:r>
                    </a:p>
                    <a:p>
                      <a:pPr marL="285750" indent="-285750">
                        <a:buFont typeface="Arial" panose="020B0604020202020204" pitchFamily="34" charset="0"/>
                        <a:buChar char="•"/>
                      </a:pPr>
                      <a:r>
                        <a:rPr lang="en-US" dirty="0"/>
                        <a:t>LS</a:t>
                      </a:r>
                      <a:r>
                        <a:rPr lang="en-US" baseline="0" dirty="0"/>
                        <a:t> cost for only successful run job</a:t>
                      </a:r>
                    </a:p>
                    <a:p>
                      <a:pPr marL="285750" indent="-285750">
                        <a:buFont typeface="Arial" panose="020B0604020202020204" pitchFamily="34" charset="0"/>
                        <a:buChar char="•"/>
                      </a:pPr>
                      <a:r>
                        <a:rPr lang="en-US" baseline="0" dirty="0"/>
                        <a:t>Consignment Explosive material</a:t>
                      </a:r>
                    </a:p>
                    <a:p>
                      <a:pPr marL="285750" indent="-285750">
                        <a:buFont typeface="Arial" panose="020B0604020202020204" pitchFamily="34" charset="0"/>
                        <a:buChar char="•"/>
                      </a:pPr>
                      <a:r>
                        <a:rPr lang="en-US" dirty="0"/>
                        <a:t>LIH include in contract price</a:t>
                      </a:r>
                    </a:p>
                  </a:txBody>
                  <a:tcPr/>
                </a:tc>
                <a:extLst>
                  <a:ext uri="{0D108BD9-81ED-4DB2-BD59-A6C34878D82A}">
                    <a16:rowId xmlns:a16="http://schemas.microsoft.com/office/drawing/2014/main" val="2715590186"/>
                  </a:ext>
                </a:extLst>
              </a:tr>
              <a:tr h="370840">
                <a:tc>
                  <a:txBody>
                    <a:bodyPr/>
                    <a:lstStyle/>
                    <a:p>
                      <a:pPr algn="ctr"/>
                      <a:r>
                        <a:rPr lang="en-US" dirty="0"/>
                        <a:t>5</a:t>
                      </a:r>
                    </a:p>
                  </a:txBody>
                  <a:tcPr/>
                </a:tc>
                <a:tc>
                  <a:txBody>
                    <a:bodyPr/>
                    <a:lstStyle/>
                    <a:p>
                      <a:r>
                        <a:rPr lang="en-US" dirty="0"/>
                        <a:t>Aerated Drilling</a:t>
                      </a:r>
                    </a:p>
                  </a:txBody>
                  <a:tcPr/>
                </a:tc>
                <a:tc>
                  <a:txBody>
                    <a:bodyPr/>
                    <a:lstStyle/>
                    <a:p>
                      <a:pPr marL="285750" indent="-285750">
                        <a:buFont typeface="Arial" panose="020B0604020202020204" pitchFamily="34" charset="0"/>
                        <a:buChar char="•"/>
                      </a:pPr>
                      <a:r>
                        <a:rPr lang="en-US" dirty="0"/>
                        <a:t>Stand by and</a:t>
                      </a:r>
                      <a:r>
                        <a:rPr lang="en-US" baseline="0" dirty="0"/>
                        <a:t> Operating Monthly Rate</a:t>
                      </a:r>
                      <a:endParaRPr lang="en-US" dirty="0"/>
                    </a:p>
                  </a:txBody>
                  <a:tcPr/>
                </a:tc>
                <a:extLst>
                  <a:ext uri="{0D108BD9-81ED-4DB2-BD59-A6C34878D82A}">
                    <a16:rowId xmlns:a16="http://schemas.microsoft.com/office/drawing/2014/main" val="3465195057"/>
                  </a:ext>
                </a:extLst>
              </a:tr>
              <a:tr h="370840">
                <a:tc>
                  <a:txBody>
                    <a:bodyPr/>
                    <a:lstStyle/>
                    <a:p>
                      <a:pPr algn="ctr"/>
                      <a:r>
                        <a:rPr lang="en-US" dirty="0"/>
                        <a:t>6</a:t>
                      </a:r>
                    </a:p>
                  </a:txBody>
                  <a:tcPr/>
                </a:tc>
                <a:tc>
                  <a:txBody>
                    <a:bodyPr/>
                    <a:lstStyle/>
                    <a:p>
                      <a:r>
                        <a:rPr lang="en-US" dirty="0"/>
                        <a:t>Fishing Services</a:t>
                      </a:r>
                    </a:p>
                  </a:txBody>
                  <a:tcPr/>
                </a:tc>
                <a:tc>
                  <a:txBody>
                    <a:bodyPr/>
                    <a:lstStyle/>
                    <a:p>
                      <a:pPr marL="285750" indent="-285750">
                        <a:buFont typeface="Arial" panose="020B0604020202020204" pitchFamily="34" charset="0"/>
                        <a:buChar char="•"/>
                      </a:pPr>
                      <a:r>
                        <a:rPr lang="en-US" dirty="0"/>
                        <a:t>Monthly rate for dedicated fishing equipment</a:t>
                      </a:r>
                    </a:p>
                    <a:p>
                      <a:pPr marL="285750" indent="-285750">
                        <a:buFont typeface="Arial" panose="020B0604020202020204" pitchFamily="34" charset="0"/>
                        <a:buChar char="•"/>
                      </a:pPr>
                      <a:r>
                        <a:rPr lang="en-US" dirty="0"/>
                        <a:t>Call out daily rate for</a:t>
                      </a:r>
                      <a:r>
                        <a:rPr lang="en-US" baseline="0" dirty="0"/>
                        <a:t> secondary fishing equipment</a:t>
                      </a:r>
                      <a:endParaRPr lang="en-US" dirty="0"/>
                    </a:p>
                  </a:txBody>
                  <a:tcPr/>
                </a:tc>
                <a:extLst>
                  <a:ext uri="{0D108BD9-81ED-4DB2-BD59-A6C34878D82A}">
                    <a16:rowId xmlns:a16="http://schemas.microsoft.com/office/drawing/2014/main" val="1131568843"/>
                  </a:ext>
                </a:extLst>
              </a:tr>
              <a:tr h="370840">
                <a:tc>
                  <a:txBody>
                    <a:bodyPr/>
                    <a:lstStyle/>
                    <a:p>
                      <a:pPr algn="ctr"/>
                      <a:r>
                        <a:rPr lang="en-US" dirty="0"/>
                        <a:t>7</a:t>
                      </a:r>
                    </a:p>
                  </a:txBody>
                  <a:tcPr/>
                </a:tc>
                <a:tc>
                  <a:txBody>
                    <a:bodyPr/>
                    <a:lstStyle/>
                    <a:p>
                      <a:pPr marL="0" indent="0">
                        <a:buFont typeface="Arial" panose="020B0604020202020204" pitchFamily="34" charset="0"/>
                        <a:buNone/>
                      </a:pPr>
                      <a:r>
                        <a:rPr lang="en-US" dirty="0"/>
                        <a:t>Water Supply</a:t>
                      </a:r>
                    </a:p>
                  </a:txBody>
                  <a:tcPr/>
                </a:tc>
                <a:tc>
                  <a:txBody>
                    <a:bodyPr/>
                    <a:lstStyle/>
                    <a:p>
                      <a:pPr marL="285750" indent="-285750">
                        <a:buFont typeface="Arial" panose="020B0604020202020204" pitchFamily="34" charset="0"/>
                        <a:buChar char="•"/>
                      </a:pPr>
                      <a:r>
                        <a:rPr lang="en-US" dirty="0"/>
                        <a:t>Use </a:t>
                      </a:r>
                      <a:r>
                        <a:rPr lang="en-US" dirty="0" err="1"/>
                        <a:t>Vitolic</a:t>
                      </a:r>
                      <a:r>
                        <a:rPr lang="en-US" dirty="0"/>
                        <a:t> or steel pipe (1000 psi working pressure) instead of HDPE</a:t>
                      </a:r>
                      <a:r>
                        <a:rPr lang="en-US" baseline="0" dirty="0"/>
                        <a:t> Pipe (3</a:t>
                      </a:r>
                      <a:r>
                        <a:rPr lang="en-US" dirty="0"/>
                        <a:t>00 psi working pressure) </a:t>
                      </a:r>
                      <a:r>
                        <a:rPr lang="en-US" dirty="0">
                          <a:sym typeface="Wingdings" panose="05000000000000000000" pitchFamily="2" charset="2"/>
                        </a:rPr>
                        <a:t> reduce no of water pumps  less price.</a:t>
                      </a:r>
                      <a:endParaRPr lang="en-US" dirty="0"/>
                    </a:p>
                  </a:txBody>
                  <a:tcPr/>
                </a:tc>
                <a:extLst>
                  <a:ext uri="{0D108BD9-81ED-4DB2-BD59-A6C34878D82A}">
                    <a16:rowId xmlns:a16="http://schemas.microsoft.com/office/drawing/2014/main" val="1206151874"/>
                  </a:ext>
                </a:extLst>
              </a:tr>
              <a:tr h="370840">
                <a:tc>
                  <a:txBody>
                    <a:bodyPr/>
                    <a:lstStyle/>
                    <a:p>
                      <a:pPr algn="ctr"/>
                      <a:r>
                        <a:rPr lang="en-US" dirty="0"/>
                        <a:t>8</a:t>
                      </a:r>
                    </a:p>
                  </a:txBody>
                  <a:tcPr/>
                </a:tc>
                <a:tc>
                  <a:txBody>
                    <a:bodyPr/>
                    <a:lstStyle/>
                    <a:p>
                      <a:pPr marL="0" indent="0">
                        <a:buFont typeface="Arial" panose="020B0604020202020204" pitchFamily="34" charset="0"/>
                        <a:buNone/>
                      </a:pPr>
                      <a:r>
                        <a:rPr lang="en-US" dirty="0"/>
                        <a:t>Drilling Rig</a:t>
                      </a:r>
                    </a:p>
                  </a:txBody>
                  <a:tcPr/>
                </a:tc>
                <a:tc>
                  <a:txBody>
                    <a:bodyPr/>
                    <a:lstStyle/>
                    <a:p>
                      <a:pPr marL="285750" indent="-285750">
                        <a:buFont typeface="Arial" panose="020B0604020202020204" pitchFamily="34" charset="0"/>
                        <a:buChar char="•"/>
                      </a:pPr>
                      <a:r>
                        <a:rPr lang="en-US" dirty="0"/>
                        <a:t>LS Rig Mob/</a:t>
                      </a:r>
                      <a:r>
                        <a:rPr lang="en-US" dirty="0" err="1"/>
                        <a:t>Demob</a:t>
                      </a:r>
                      <a:r>
                        <a:rPr lang="en-US" dirty="0"/>
                        <a:t>, Skidding, Move </a:t>
                      </a:r>
                      <a:r>
                        <a:rPr lang="en-US" dirty="0" err="1"/>
                        <a:t>interpad</a:t>
                      </a:r>
                      <a:endParaRPr lang="en-US" dirty="0"/>
                    </a:p>
                    <a:p>
                      <a:pPr marL="285750" indent="-285750">
                        <a:buFont typeface="Arial" panose="020B0604020202020204" pitchFamily="34" charset="0"/>
                        <a:buChar char="•"/>
                      </a:pPr>
                      <a:r>
                        <a:rPr lang="en-US" dirty="0"/>
                        <a:t>Include Fuel consumption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LIH include in contract price</a:t>
                      </a:r>
                    </a:p>
                  </a:txBody>
                  <a:tcPr/>
                </a:tc>
                <a:extLst>
                  <a:ext uri="{0D108BD9-81ED-4DB2-BD59-A6C34878D82A}">
                    <a16:rowId xmlns:a16="http://schemas.microsoft.com/office/drawing/2014/main" val="3684214991"/>
                  </a:ext>
                </a:extLst>
              </a:tr>
            </a:tbl>
          </a:graphicData>
        </a:graphic>
      </p:graphicFrame>
    </p:spTree>
    <p:extLst>
      <p:ext uri="{BB962C8B-B14F-4D97-AF65-F5344CB8AC3E}">
        <p14:creationId xmlns:p14="http://schemas.microsoft.com/office/powerpoint/2010/main" val="765797361"/>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7" y="448056"/>
            <a:ext cx="11437113" cy="640080"/>
          </a:xfrm>
        </p:spPr>
        <p:txBody>
          <a:bodyPr>
            <a:noAutofit/>
          </a:bodyPr>
          <a:lstStyle/>
          <a:p>
            <a:r>
              <a:rPr lang="en-US" sz="4000" b="1" dirty="0">
                <a:solidFill>
                  <a:schemeClr val="accent6">
                    <a:lumMod val="50000"/>
                  </a:schemeClr>
                </a:solidFill>
              </a:rPr>
              <a:t>Competitive Renumeration Table - Drilling Services</a:t>
            </a:r>
          </a:p>
        </p:txBody>
      </p:sp>
      <p:graphicFrame>
        <p:nvGraphicFramePr>
          <p:cNvPr id="4" name="Table 3"/>
          <p:cNvGraphicFramePr>
            <a:graphicFrameLocks noGrp="1"/>
          </p:cNvGraphicFramePr>
          <p:nvPr/>
        </p:nvGraphicFramePr>
        <p:xfrm>
          <a:off x="981122" y="1511236"/>
          <a:ext cx="10169100" cy="4414520"/>
        </p:xfrm>
        <a:graphic>
          <a:graphicData uri="http://schemas.openxmlformats.org/drawingml/2006/table">
            <a:tbl>
              <a:tblPr firstRow="1" bandRow="1">
                <a:tableStyleId>{5C22544A-7EE6-4342-B048-85BDC9FD1C3A}</a:tableStyleId>
              </a:tblPr>
              <a:tblGrid>
                <a:gridCol w="724848">
                  <a:extLst>
                    <a:ext uri="{9D8B030D-6E8A-4147-A177-3AD203B41FA5}">
                      <a16:colId xmlns:a16="http://schemas.microsoft.com/office/drawing/2014/main" val="567268424"/>
                    </a:ext>
                  </a:extLst>
                </a:gridCol>
                <a:gridCol w="2674644">
                  <a:extLst>
                    <a:ext uri="{9D8B030D-6E8A-4147-A177-3AD203B41FA5}">
                      <a16:colId xmlns:a16="http://schemas.microsoft.com/office/drawing/2014/main" val="3304530452"/>
                    </a:ext>
                  </a:extLst>
                </a:gridCol>
                <a:gridCol w="6769608">
                  <a:extLst>
                    <a:ext uri="{9D8B030D-6E8A-4147-A177-3AD203B41FA5}">
                      <a16:colId xmlns:a16="http://schemas.microsoft.com/office/drawing/2014/main" val="2791784059"/>
                    </a:ext>
                  </a:extLst>
                </a:gridCol>
              </a:tblGrid>
              <a:tr h="370840">
                <a:tc>
                  <a:txBody>
                    <a:bodyPr/>
                    <a:lstStyle/>
                    <a:p>
                      <a:pPr algn="ctr"/>
                      <a:r>
                        <a:rPr lang="en-US" dirty="0"/>
                        <a:t>No</a:t>
                      </a:r>
                    </a:p>
                  </a:txBody>
                  <a:tcPr/>
                </a:tc>
                <a:tc>
                  <a:txBody>
                    <a:bodyPr/>
                    <a:lstStyle/>
                    <a:p>
                      <a:pPr algn="ctr"/>
                      <a:r>
                        <a:rPr lang="en-US" dirty="0"/>
                        <a:t>Drilling </a:t>
                      </a:r>
                      <a:r>
                        <a:rPr lang="en-US" baseline="0" dirty="0"/>
                        <a:t>Services</a:t>
                      </a:r>
                      <a:endParaRPr lang="en-US" dirty="0"/>
                    </a:p>
                  </a:txBody>
                  <a:tcPr/>
                </a:tc>
                <a:tc>
                  <a:txBody>
                    <a:bodyPr/>
                    <a:lstStyle/>
                    <a:p>
                      <a:pPr algn="ctr"/>
                      <a:r>
                        <a:rPr lang="en-US" dirty="0"/>
                        <a:t>Cost Saving Initiative</a:t>
                      </a:r>
                    </a:p>
                  </a:txBody>
                  <a:tcPr/>
                </a:tc>
                <a:extLst>
                  <a:ext uri="{0D108BD9-81ED-4DB2-BD59-A6C34878D82A}">
                    <a16:rowId xmlns:a16="http://schemas.microsoft.com/office/drawing/2014/main" val="1953090245"/>
                  </a:ext>
                </a:extLst>
              </a:tr>
              <a:tr h="370840">
                <a:tc>
                  <a:txBody>
                    <a:bodyPr/>
                    <a:lstStyle/>
                    <a:p>
                      <a:pPr algn="ctr"/>
                      <a:r>
                        <a:rPr lang="en-US" dirty="0"/>
                        <a:t>9</a:t>
                      </a:r>
                    </a:p>
                  </a:txBody>
                  <a:tcPr/>
                </a:tc>
                <a:tc>
                  <a:txBody>
                    <a:bodyPr/>
                    <a:lstStyle/>
                    <a:p>
                      <a:r>
                        <a:rPr lang="en-US" dirty="0"/>
                        <a:t>Drilling Bit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Consignment basis</a:t>
                      </a:r>
                      <a:endParaRPr lang="en-US" dirty="0"/>
                    </a:p>
                  </a:txBody>
                  <a:tcPr/>
                </a:tc>
                <a:extLst>
                  <a:ext uri="{0D108BD9-81ED-4DB2-BD59-A6C34878D82A}">
                    <a16:rowId xmlns:a16="http://schemas.microsoft.com/office/drawing/2014/main" val="2183287629"/>
                  </a:ext>
                </a:extLst>
              </a:tr>
              <a:tr h="370840">
                <a:tc>
                  <a:txBody>
                    <a:bodyPr/>
                    <a:lstStyle/>
                    <a:p>
                      <a:pPr algn="ctr"/>
                      <a:r>
                        <a:rPr lang="en-US" dirty="0"/>
                        <a:t>10</a:t>
                      </a:r>
                    </a:p>
                  </a:txBody>
                  <a:tcPr/>
                </a:tc>
                <a:tc>
                  <a:txBody>
                    <a:bodyPr/>
                    <a:lstStyle/>
                    <a:p>
                      <a:r>
                        <a:rPr lang="en-US" dirty="0"/>
                        <a:t>Explosive</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Cost per run for back off and severing</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Re-export remaining explosive</a:t>
                      </a:r>
                    </a:p>
                  </a:txBody>
                  <a:tcPr/>
                </a:tc>
                <a:extLst>
                  <a:ext uri="{0D108BD9-81ED-4DB2-BD59-A6C34878D82A}">
                    <a16:rowId xmlns:a16="http://schemas.microsoft.com/office/drawing/2014/main" val="1427734470"/>
                  </a:ext>
                </a:extLst>
              </a:tr>
              <a:tr h="370840">
                <a:tc>
                  <a:txBody>
                    <a:bodyPr/>
                    <a:lstStyle/>
                    <a:p>
                      <a:pPr algn="ctr"/>
                      <a:r>
                        <a:rPr lang="en-US" dirty="0"/>
                        <a:t>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Cutting Disposal</a:t>
                      </a:r>
                    </a:p>
                  </a:txBody>
                  <a:tcPr/>
                </a:tc>
                <a:tc>
                  <a:txBody>
                    <a:bodyPr/>
                    <a:lstStyle/>
                    <a:p>
                      <a:pPr marL="285750" indent="-285750">
                        <a:buFont typeface="Arial" panose="020B0604020202020204" pitchFamily="34" charset="0"/>
                        <a:buChar char="•"/>
                      </a:pPr>
                      <a:r>
                        <a:rPr lang="en-US" dirty="0"/>
                        <a:t>Lump Sum price per well</a:t>
                      </a:r>
                    </a:p>
                  </a:txBody>
                  <a:tcPr/>
                </a:tc>
                <a:extLst>
                  <a:ext uri="{0D108BD9-81ED-4DB2-BD59-A6C34878D82A}">
                    <a16:rowId xmlns:a16="http://schemas.microsoft.com/office/drawing/2014/main" val="2657998260"/>
                  </a:ext>
                </a:extLst>
              </a:tr>
              <a:tr h="370840">
                <a:tc>
                  <a:txBody>
                    <a:bodyPr/>
                    <a:lstStyle/>
                    <a:p>
                      <a:pPr algn="ctr"/>
                      <a:r>
                        <a:rPr lang="en-US" dirty="0"/>
                        <a:t>12</a:t>
                      </a:r>
                    </a:p>
                  </a:txBody>
                  <a:tcPr/>
                </a:tc>
                <a:tc>
                  <a:txBody>
                    <a:bodyPr/>
                    <a:lstStyle/>
                    <a:p>
                      <a:endParaRPr lang="en-US" dirty="0"/>
                    </a:p>
                  </a:txBody>
                  <a:tcPr/>
                </a:tc>
                <a:tc>
                  <a:txBody>
                    <a:bodyPr/>
                    <a:lstStyle/>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2715590186"/>
                  </a:ext>
                </a:extLst>
              </a:tr>
              <a:tr h="370840">
                <a:tc>
                  <a:txBody>
                    <a:bodyPr/>
                    <a:lstStyle/>
                    <a:p>
                      <a:pPr algn="ctr"/>
                      <a:r>
                        <a:rPr lang="en-US" dirty="0"/>
                        <a:t>13</a:t>
                      </a:r>
                    </a:p>
                  </a:txBody>
                  <a:tcPr/>
                </a:tc>
                <a:tc>
                  <a:txBody>
                    <a:bodyPr/>
                    <a:lstStyle/>
                    <a:p>
                      <a:r>
                        <a:rPr lang="en-US" dirty="0"/>
                        <a:t>Mud Logging, H2S, Casing Handling, </a:t>
                      </a:r>
                    </a:p>
                  </a:txBody>
                  <a:tcPr/>
                </a:tc>
                <a:tc>
                  <a:txBody>
                    <a:bodyPr/>
                    <a:lstStyle/>
                    <a:p>
                      <a:pPr marL="285750" indent="-285750">
                        <a:buFont typeface="Arial" panose="020B0604020202020204" pitchFamily="34" charset="0"/>
                        <a:buChar char="•"/>
                      </a:pPr>
                      <a:r>
                        <a:rPr lang="en-US" dirty="0"/>
                        <a:t>Include in rig daily rate</a:t>
                      </a:r>
                    </a:p>
                  </a:txBody>
                  <a:tcPr/>
                </a:tc>
                <a:extLst>
                  <a:ext uri="{0D108BD9-81ED-4DB2-BD59-A6C34878D82A}">
                    <a16:rowId xmlns:a16="http://schemas.microsoft.com/office/drawing/2014/main" val="3465195057"/>
                  </a:ext>
                </a:extLst>
              </a:tr>
              <a:tr h="370840">
                <a:tc>
                  <a:txBody>
                    <a:bodyPr/>
                    <a:lstStyle/>
                    <a:p>
                      <a:pPr algn="ctr"/>
                      <a:r>
                        <a:rPr lang="en-US" dirty="0"/>
                        <a:t>14</a:t>
                      </a:r>
                    </a:p>
                  </a:txBody>
                  <a:tcPr/>
                </a:tc>
                <a:tc>
                  <a:txBody>
                    <a:bodyPr/>
                    <a:lstStyle/>
                    <a:p>
                      <a:r>
                        <a:rPr lang="en-US" dirty="0"/>
                        <a:t>Rig Inspection</a:t>
                      </a:r>
                    </a:p>
                  </a:txBody>
                  <a:tcPr/>
                </a:tc>
                <a:tc>
                  <a:txBody>
                    <a:bodyPr/>
                    <a:lstStyle/>
                    <a:p>
                      <a:pPr marL="285750" indent="-285750">
                        <a:buFont typeface="Arial" panose="020B0604020202020204" pitchFamily="34" charset="0"/>
                        <a:buChar char="•"/>
                      </a:pPr>
                      <a:r>
                        <a:rPr lang="en-US" dirty="0"/>
                        <a:t>Lum sump per rig inspection</a:t>
                      </a:r>
                    </a:p>
                  </a:txBody>
                  <a:tcPr/>
                </a:tc>
                <a:extLst>
                  <a:ext uri="{0D108BD9-81ED-4DB2-BD59-A6C34878D82A}">
                    <a16:rowId xmlns:a16="http://schemas.microsoft.com/office/drawing/2014/main" val="1131568843"/>
                  </a:ext>
                </a:extLst>
              </a:tr>
              <a:tr h="370840">
                <a:tc>
                  <a:txBody>
                    <a:bodyPr/>
                    <a:lstStyle/>
                    <a:p>
                      <a:pPr algn="ctr"/>
                      <a:r>
                        <a:rPr lang="en-US" dirty="0"/>
                        <a:t>15</a:t>
                      </a:r>
                    </a:p>
                  </a:txBody>
                  <a:tcPr/>
                </a:tc>
                <a:tc>
                  <a:txBody>
                    <a:bodyPr/>
                    <a:lstStyle/>
                    <a:p>
                      <a:pPr marL="0" indent="0">
                        <a:buFont typeface="Arial" panose="020B0604020202020204" pitchFamily="34" charset="0"/>
                        <a:buNone/>
                      </a:pPr>
                      <a:r>
                        <a:rPr lang="en-US" dirty="0"/>
                        <a:t>Tubular Inspection</a:t>
                      </a:r>
                    </a:p>
                  </a:txBody>
                  <a:tcPr/>
                </a:tc>
                <a:tc>
                  <a:txBody>
                    <a:bodyPr/>
                    <a:lstStyle/>
                    <a:p>
                      <a:pPr marL="285750" indent="-285750">
                        <a:buFont typeface="Arial" panose="020B0604020202020204" pitchFamily="34" charset="0"/>
                        <a:buChar char="•"/>
                      </a:pPr>
                      <a:r>
                        <a:rPr lang="en-US" dirty="0"/>
                        <a:t>Daily Rate</a:t>
                      </a:r>
                    </a:p>
                    <a:p>
                      <a:pPr marL="285750" indent="-285750">
                        <a:buFont typeface="Arial" panose="020B0604020202020204" pitchFamily="34" charset="0"/>
                        <a:buChar char="•"/>
                      </a:pPr>
                      <a:r>
                        <a:rPr lang="en-US" dirty="0"/>
                        <a:t>USD per joint</a:t>
                      </a:r>
                    </a:p>
                  </a:txBody>
                  <a:tcPr/>
                </a:tc>
                <a:extLst>
                  <a:ext uri="{0D108BD9-81ED-4DB2-BD59-A6C34878D82A}">
                    <a16:rowId xmlns:a16="http://schemas.microsoft.com/office/drawing/2014/main" val="1206151874"/>
                  </a:ext>
                </a:extLst>
              </a:tr>
              <a:tr h="370840">
                <a:tc>
                  <a:txBody>
                    <a:bodyPr/>
                    <a:lstStyle/>
                    <a:p>
                      <a:pPr algn="ctr"/>
                      <a:r>
                        <a:rPr lang="en-US" dirty="0"/>
                        <a:t>16</a:t>
                      </a:r>
                    </a:p>
                  </a:txBody>
                  <a:tcPr/>
                </a:tc>
                <a:tc>
                  <a:txBody>
                    <a:bodyPr/>
                    <a:lstStyle/>
                    <a:p>
                      <a:pPr marL="0" indent="0">
                        <a:buFont typeface="Arial" panose="020B0604020202020204" pitchFamily="34" charset="0"/>
                        <a:buNone/>
                      </a:pPr>
                      <a:r>
                        <a:rPr lang="en-US" dirty="0"/>
                        <a:t>Aerated Drilling</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LS Mob/</a:t>
                      </a:r>
                      <a:r>
                        <a:rPr lang="en-US" dirty="0" err="1"/>
                        <a:t>Demob</a:t>
                      </a:r>
                      <a:r>
                        <a:rPr lang="en-US" dirty="0"/>
                        <a:t>, Skidding, Move </a:t>
                      </a:r>
                      <a:r>
                        <a:rPr lang="en-US" dirty="0" err="1"/>
                        <a:t>interpad</a:t>
                      </a:r>
                      <a:endParaRPr lang="en-US" dirty="0"/>
                    </a:p>
                    <a:p>
                      <a:pPr marL="285750" indent="-285750">
                        <a:buFont typeface="Arial" panose="020B0604020202020204" pitchFamily="34" charset="0"/>
                        <a:buChar char="•"/>
                      </a:pPr>
                      <a:r>
                        <a:rPr lang="en-US" dirty="0"/>
                        <a:t>Use </a:t>
                      </a:r>
                      <a:r>
                        <a:rPr lang="en-US" dirty="0" err="1"/>
                        <a:t>Synpol</a:t>
                      </a:r>
                      <a:r>
                        <a:rPr lang="en-US" dirty="0"/>
                        <a:t> and Injection pump</a:t>
                      </a:r>
                    </a:p>
                  </a:txBody>
                  <a:tcPr/>
                </a:tc>
                <a:extLst>
                  <a:ext uri="{0D108BD9-81ED-4DB2-BD59-A6C34878D82A}">
                    <a16:rowId xmlns:a16="http://schemas.microsoft.com/office/drawing/2014/main" val="3684214991"/>
                  </a:ext>
                </a:extLst>
              </a:tr>
            </a:tbl>
          </a:graphicData>
        </a:graphic>
      </p:graphicFrame>
    </p:spTree>
    <p:extLst>
      <p:ext uri="{BB962C8B-B14F-4D97-AF65-F5344CB8AC3E}">
        <p14:creationId xmlns:p14="http://schemas.microsoft.com/office/powerpoint/2010/main" val="1895327813"/>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907DC-7E37-1380-F8E2-9E3118D73B15}"/>
              </a:ext>
            </a:extLst>
          </p:cNvPr>
          <p:cNvSpPr>
            <a:spLocks noGrp="1"/>
          </p:cNvSpPr>
          <p:nvPr>
            <p:ph type="title"/>
          </p:nvPr>
        </p:nvSpPr>
        <p:spPr>
          <a:xfrm>
            <a:off x="521207" y="448056"/>
            <a:ext cx="10870234" cy="640080"/>
          </a:xfrm>
        </p:spPr>
        <p:txBody>
          <a:bodyPr>
            <a:noAutofit/>
          </a:bodyPr>
          <a:lstStyle/>
          <a:p>
            <a:r>
              <a:rPr lang="en-ID" sz="3200" dirty="0" err="1"/>
              <a:t>Ringkasan</a:t>
            </a:r>
            <a:r>
              <a:rPr lang="en-ID" sz="3200" dirty="0"/>
              <a:t> </a:t>
            </a:r>
            <a:r>
              <a:rPr lang="en-ID" sz="3200" dirty="0" err="1"/>
              <a:t>Kontrak</a:t>
            </a:r>
            <a:r>
              <a:rPr lang="en-ID" sz="3200" dirty="0"/>
              <a:t> Drilling dan </a:t>
            </a:r>
            <a:r>
              <a:rPr lang="en-ID" sz="3200" dirty="0" err="1"/>
              <a:t>Pedoman</a:t>
            </a:r>
            <a:r>
              <a:rPr lang="en-ID" sz="3200" dirty="0"/>
              <a:t> </a:t>
            </a:r>
            <a:r>
              <a:rPr lang="en-ID" sz="3200" dirty="0" err="1"/>
              <a:t>Biaya</a:t>
            </a:r>
            <a:r>
              <a:rPr lang="en-ID" sz="3200" dirty="0"/>
              <a:t> </a:t>
            </a:r>
            <a:r>
              <a:rPr lang="en-ID" sz="3200" dirty="0" err="1"/>
              <a:t>Pemboran</a:t>
            </a:r>
            <a:endParaRPr lang="en-ID" sz="3200" dirty="0"/>
          </a:p>
        </p:txBody>
      </p:sp>
      <p:sp>
        <p:nvSpPr>
          <p:cNvPr id="5" name="TextBox 4">
            <a:extLst>
              <a:ext uri="{FF2B5EF4-FFF2-40B4-BE49-F238E27FC236}">
                <a16:creationId xmlns:a16="http://schemas.microsoft.com/office/drawing/2014/main" id="{47F560E9-DE34-918B-B891-C1183FF3B542}"/>
              </a:ext>
            </a:extLst>
          </p:cNvPr>
          <p:cNvSpPr txBox="1"/>
          <p:nvPr/>
        </p:nvSpPr>
        <p:spPr>
          <a:xfrm>
            <a:off x="521207" y="1291974"/>
            <a:ext cx="11354976" cy="5382243"/>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alphaLcPeriod"/>
            </a:pP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Mengkompile</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semua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kontrak</a:t>
            </a:r>
            <a:r>
              <a:rPr lang="en-US" sz="1800" dirty="0">
                <a:effectLst/>
                <a:latin typeface="Calibri" panose="020F0502020204030204" pitchFamily="34" charset="0"/>
                <a:ea typeface="Calibri" panose="020F0502020204030204" pitchFamily="34" charset="0"/>
                <a:cs typeface="Times New Roman" panose="02020603050405020304" pitchFamily="18" charset="0"/>
              </a:rPr>
              <a:t> drilling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dalam</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betuk</a:t>
            </a:r>
            <a:r>
              <a:rPr lang="en-US" sz="1800" dirty="0">
                <a:effectLst/>
                <a:latin typeface="Calibri" panose="020F0502020204030204" pitchFamily="34" charset="0"/>
                <a:ea typeface="Calibri" panose="020F0502020204030204" pitchFamily="34" charset="0"/>
                <a:cs typeface="Times New Roman" panose="02020603050405020304" pitchFamily="18" charset="0"/>
              </a:rPr>
              <a:t> soft copy.</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Membuat</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resume masing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kontrak</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drilling</a:t>
            </a:r>
            <a:r>
              <a:rPr lang="en-US" sz="1800" dirty="0">
                <a:effectLst/>
                <a:latin typeface="Calibri" panose="020F0502020204030204" pitchFamily="34" charset="0"/>
                <a:ea typeface="Calibri" panose="020F0502020204030204" pitchFamily="34" charset="0"/>
                <a:cs typeface="Times New Roman" panose="02020603050405020304" pitchFamily="18" charset="0"/>
              </a:rPr>
              <a:t> yang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meliputi</a:t>
            </a:r>
            <a:r>
              <a:rPr lang="en-US" sz="1800" dirty="0">
                <a:effectLst/>
                <a:latin typeface="Calibri" panose="020F0502020204030204" pitchFamily="34" charset="0"/>
                <a:ea typeface="Calibri" panose="020F0502020204030204" pitchFamily="34" charset="0"/>
                <a:cs typeface="Times New Roman" panose="02020603050405020304" pitchFamily="18" charset="0"/>
              </a:rPr>
              <a:t>: point on/off hire,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klausal</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pinalti</a:t>
            </a:r>
            <a:r>
              <a:rPr lang="en-US" sz="1800" dirty="0">
                <a:effectLst/>
                <a:latin typeface="Calibri" panose="020F0502020204030204" pitchFamily="34" charset="0"/>
                <a:ea typeface="Calibri" panose="020F0502020204030204" pitchFamily="34" charset="0"/>
                <a:cs typeface="Times New Roman" panose="02020603050405020304" pitchFamily="18" charset="0"/>
              </a:rPr>
              <a:t>, table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harga</a:t>
            </a:r>
            <a:r>
              <a:rPr lang="en-US" sz="1800" dirty="0">
                <a:effectLst/>
                <a:latin typeface="Calibri" panose="020F0502020204030204" pitchFamily="34" charset="0"/>
                <a:ea typeface="Calibri" panose="020F0502020204030204" pitchFamily="34" charset="0"/>
                <a:cs typeface="Times New Roman" panose="02020603050405020304" pitchFamily="18" charset="0"/>
              </a:rPr>
              <a:t>, scope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pekerjaan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matrik</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tanggung</a:t>
            </a:r>
            <a:r>
              <a:rPr lang="en-US" sz="1800" dirty="0">
                <a:effectLst/>
                <a:latin typeface="Calibri" panose="020F0502020204030204" pitchFamily="34" charset="0"/>
                <a:ea typeface="Calibri" panose="020F0502020204030204" pitchFamily="34" charset="0"/>
                <a:cs typeface="Times New Roman" panose="02020603050405020304" pitchFamily="18" charset="0"/>
              </a:rPr>
              <a:t> jawab,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definisi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nomenklatur</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ketentuan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hilang</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dalam</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lubang</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barang</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konsumable</a:t>
            </a:r>
            <a:r>
              <a:rPr lang="en-US" sz="1800" dirty="0">
                <a:effectLst/>
                <a:latin typeface="Calibri" panose="020F0502020204030204" pitchFamily="34" charset="0"/>
                <a:ea typeface="Calibri" panose="020F0502020204030204" pitchFamily="34" charset="0"/>
                <a:cs typeface="Times New Roman" panose="02020603050405020304" pitchFamily="18" charset="0"/>
              </a:rPr>
              <a:t> dan lain-lain</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Buatkan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pedoman</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biaya</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pemboran</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(Drilling Cost Guide) </a:t>
            </a:r>
            <a:r>
              <a:rPr lang="en-US" sz="1800" dirty="0">
                <a:effectLst/>
                <a:latin typeface="Calibri" panose="020F0502020204030204" pitchFamily="34" charset="0"/>
                <a:ea typeface="Calibri" panose="020F0502020204030204" pitchFamily="34" charset="0"/>
                <a:cs typeface="Times New Roman" panose="02020603050405020304" pitchFamily="18" charset="0"/>
              </a:rPr>
              <a:t>yang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isinya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semua</a:t>
            </a:r>
            <a:r>
              <a:rPr lang="en-US" sz="1800" dirty="0">
                <a:effectLst/>
                <a:latin typeface="Calibri" panose="020F0502020204030204" pitchFamily="34" charset="0"/>
                <a:ea typeface="Calibri" panose="020F0502020204030204" pitchFamily="34" charset="0"/>
                <a:cs typeface="Times New Roman" panose="02020603050405020304" pitchFamily="18" charset="0"/>
              </a:rPr>
              <a:t> table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biaya</a:t>
            </a:r>
            <a:r>
              <a:rPr lang="en-US" sz="1800" dirty="0">
                <a:effectLst/>
                <a:latin typeface="Calibri" panose="020F0502020204030204" pitchFamily="34" charset="0"/>
                <a:ea typeface="Calibri" panose="020F0502020204030204" pitchFamily="34" charset="0"/>
                <a:cs typeface="Times New Roman" panose="02020603050405020304" pitchFamily="18" charset="0"/>
              </a:rPr>
              <a:t> jasa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1800" dirty="0">
                <a:effectLst/>
                <a:latin typeface="Calibri" panose="020F0502020204030204" pitchFamily="34" charset="0"/>
                <a:ea typeface="Calibri" panose="020F0502020204030204" pitchFamily="34" charset="0"/>
                <a:cs typeface="Times New Roman" panose="02020603050405020304" pitchFamily="18" charset="0"/>
              </a:rPr>
              <a:t> dan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harga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satuan</a:t>
            </a:r>
            <a:r>
              <a:rPr lang="en-US" sz="1800" dirty="0">
                <a:effectLst/>
                <a:latin typeface="Calibri" panose="020F0502020204030204" pitchFamily="34" charset="0"/>
                <a:ea typeface="Calibri" panose="020F0502020204030204" pitchFamily="34" charset="0"/>
                <a:cs typeface="Times New Roman" panose="02020603050405020304" pitchFamily="18" charset="0"/>
              </a:rPr>
              <a:t> material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Sosialisasikan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poin-poin</a:t>
            </a:r>
            <a:r>
              <a:rPr lang="en-US" sz="1800" dirty="0">
                <a:effectLst/>
                <a:latin typeface="Calibri" panose="020F0502020204030204" pitchFamily="34" charset="0"/>
                <a:ea typeface="Calibri" panose="020F0502020204030204" pitchFamily="34" charset="0"/>
                <a:cs typeface="Times New Roman" panose="02020603050405020304" pitchFamily="18" charset="0"/>
              </a:rPr>
              <a:t> diatas kepada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seluruh</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tim</a:t>
            </a:r>
            <a:r>
              <a:rPr lang="en-US" sz="1800" dirty="0">
                <a:effectLst/>
                <a:latin typeface="Calibri" panose="020F0502020204030204" pitchFamily="34" charset="0"/>
                <a:ea typeface="Calibri" panose="020F0502020204030204" pitchFamily="34" charset="0"/>
                <a:cs typeface="Times New Roman" panose="02020603050405020304" pitchFamily="18" charset="0"/>
              </a:rPr>
              <a:t> drilling,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kususnya</a:t>
            </a:r>
            <a:r>
              <a:rPr lang="en-US" sz="1800" dirty="0">
                <a:effectLst/>
                <a:latin typeface="Calibri" panose="020F0502020204030204" pitchFamily="34" charset="0"/>
                <a:ea typeface="Calibri" panose="020F0502020204030204" pitchFamily="34" charset="0"/>
                <a:cs typeface="Times New Roman" panose="02020603050405020304" pitchFamily="18" charset="0"/>
              </a:rPr>
              <a:t> kepada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tim</a:t>
            </a:r>
            <a:r>
              <a:rPr lang="en-US" sz="1800" dirty="0">
                <a:effectLst/>
                <a:latin typeface="Calibri" panose="020F0502020204030204" pitchFamily="34" charset="0"/>
                <a:ea typeface="Calibri" panose="020F0502020204030204" pitchFamily="34" charset="0"/>
                <a:cs typeface="Times New Roman" panose="02020603050405020304" pitchFamily="18" charset="0"/>
              </a:rPr>
              <a:t> drilling operation yang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ada</a:t>
            </a:r>
            <a:r>
              <a:rPr lang="en-US" sz="1800" dirty="0">
                <a:effectLst/>
                <a:latin typeface="Calibri" panose="020F0502020204030204" pitchFamily="34" charset="0"/>
                <a:ea typeface="Calibri" panose="020F0502020204030204" pitchFamily="34" charset="0"/>
                <a:cs typeface="Times New Roman" panose="02020603050405020304" pitchFamily="18" charset="0"/>
              </a:rPr>
              <a:t> di lapangan.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Dengan</a:t>
            </a:r>
            <a:r>
              <a:rPr lang="en-US" sz="1800" dirty="0">
                <a:effectLst/>
                <a:latin typeface="Calibri" panose="020F0502020204030204" pitchFamily="34" charset="0"/>
                <a:ea typeface="Calibri" panose="020F0502020204030204" pitchFamily="34" charset="0"/>
                <a:cs typeface="Times New Roman" panose="02020603050405020304" pitchFamily="18" charset="0"/>
              </a:rPr>
              <a:t> sosialisasi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ini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akan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meningkatkan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awareness dan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kepedulian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semua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tim</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atas</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besaran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biaya</a:t>
            </a:r>
            <a:r>
              <a:rPr lang="en-US" sz="1800" dirty="0">
                <a:effectLst/>
                <a:latin typeface="Calibri" panose="020F0502020204030204" pitchFamily="34" charset="0"/>
                <a:ea typeface="Calibri" panose="020F0502020204030204" pitchFamily="34" charset="0"/>
                <a:cs typeface="Times New Roman" panose="02020603050405020304" pitchFamily="18" charset="0"/>
              </a:rPr>
              <a:t> yang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akan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timbul</a:t>
            </a:r>
            <a:r>
              <a:rPr lang="en-US" sz="1800" dirty="0">
                <a:effectLst/>
                <a:latin typeface="Calibri" panose="020F0502020204030204" pitchFamily="34" charset="0"/>
                <a:ea typeface="Calibri" panose="020F0502020204030204" pitchFamily="34" charset="0"/>
                <a:cs typeface="Times New Roman" panose="02020603050405020304" pitchFamily="18" charset="0"/>
              </a:rPr>
              <a:t> dan tentunya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hal</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ini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akan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mempengaruhi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cara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memanage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operasi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1800" dirty="0">
                <a:effectLst/>
                <a:latin typeface="Calibri" panose="020F0502020204030204" pitchFamily="34" charset="0"/>
                <a:ea typeface="Calibri" panose="020F0502020204030204" pitchFamily="34" charset="0"/>
                <a:cs typeface="Times New Roman" panose="02020603050405020304" pitchFamily="18" charset="0"/>
              </a:rPr>
              <a:t> secara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lebih</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effisien</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Membuat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rangkuman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pedoman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tentang</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cara</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dan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syarat-syarat</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pengajuan</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penagihan</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(invoicing) </a:t>
            </a:r>
            <a:r>
              <a:rPr lang="en-US" sz="1800" dirty="0">
                <a:effectLst/>
                <a:latin typeface="Calibri" panose="020F0502020204030204" pitchFamily="34" charset="0"/>
                <a:ea typeface="Calibri" panose="020F0502020204030204" pitchFamily="34" charset="0"/>
                <a:cs typeface="Times New Roman" panose="02020603050405020304" pitchFamily="18" charset="0"/>
              </a:rPr>
              <a:t>dan proses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pembayaran</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Membuat</a:t>
            </a:r>
            <a:r>
              <a:rPr lang="en-US" sz="1800" dirty="0">
                <a:effectLst/>
                <a:latin typeface="Calibri" panose="020F0502020204030204" pitchFamily="34" charset="0"/>
                <a:ea typeface="Calibri" panose="020F0502020204030204" pitchFamily="34" charset="0"/>
                <a:cs typeface="Times New Roman" panose="02020603050405020304" pitchFamily="18" charset="0"/>
              </a:rPr>
              <a:t> template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untuk</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pengontrolan</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spending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setiap</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kontrak</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Melakukan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rapat</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bulanan</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untuk</a:t>
            </a: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monitor progress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setiap</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kontrak</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1800" dirty="0">
                <a:effectLst/>
                <a:latin typeface="Calibri" panose="020F0502020204030204" pitchFamily="34" charset="0"/>
                <a:ea typeface="Calibri" panose="020F0502020204030204" pitchFamily="34" charset="0"/>
                <a:cs typeface="Times New Roman" panose="02020603050405020304" pitchFamily="18" charset="0"/>
              </a:rPr>
              <a:t> termasuk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penyelesaian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semua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tagihan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bulanan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Melakukan SQM (Service Quality Meeting)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untuk</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meningkatkan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kinerja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setiap</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kontrak</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1800" dirty="0">
                <a:effectLst/>
                <a:latin typeface="Calibri" panose="020F0502020204030204" pitchFamily="34" charset="0"/>
                <a:ea typeface="Calibri" panose="020F0502020204030204" pitchFamily="34" charset="0"/>
                <a:cs typeface="Times New Roman" panose="02020603050405020304" pitchFamily="18" charset="0"/>
              </a:rPr>
              <a:t>. Termasuk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mendiskusikan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langkah-langkah</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efisiensi</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biaya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pemboran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kedepan</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endParaRPr lang="en-ID"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227054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981396" y="334577"/>
            <a:ext cx="9873905" cy="765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pPr eaLnBrk="1" hangingPunct="1"/>
            <a:r>
              <a:rPr lang="es-ES" altLang="en-US" b="1" dirty="0" err="1">
                <a:solidFill>
                  <a:schemeClr val="accent6">
                    <a:lumMod val="50000"/>
                  </a:schemeClr>
                </a:solidFill>
                <a:latin typeface="Cavolini" panose="03000502040302020204" pitchFamily="66" charset="0"/>
                <a:cs typeface="Cavolini" panose="03000502040302020204" pitchFamily="66" charset="0"/>
              </a:rPr>
              <a:t>Kesimpulan</a:t>
            </a:r>
            <a:r>
              <a:rPr lang="es-ES" altLang="en-US" b="1" dirty="0">
                <a:solidFill>
                  <a:schemeClr val="accent6">
                    <a:lumMod val="50000"/>
                  </a:schemeClr>
                </a:solidFill>
                <a:latin typeface="Cavolini" panose="03000502040302020204" pitchFamily="66" charset="0"/>
                <a:cs typeface="Cavolini" panose="03000502040302020204" pitchFamily="66" charset="0"/>
              </a:rPr>
              <a:t> dan </a:t>
            </a:r>
            <a:r>
              <a:rPr lang="es-ES" altLang="en-US" b="1" dirty="0" err="1">
                <a:solidFill>
                  <a:schemeClr val="accent6">
                    <a:lumMod val="50000"/>
                  </a:schemeClr>
                </a:solidFill>
                <a:latin typeface="Cavolini" panose="03000502040302020204" pitchFamily="66" charset="0"/>
                <a:cs typeface="Cavolini" panose="03000502040302020204" pitchFamily="66" charset="0"/>
              </a:rPr>
              <a:t>Penutup</a:t>
            </a:r>
            <a:endParaRPr lang="en-US" altLang="en-US" b="1" dirty="0">
              <a:solidFill>
                <a:schemeClr val="accent6">
                  <a:lumMod val="50000"/>
                </a:schemeClr>
              </a:solidFill>
              <a:latin typeface="Cavolini" panose="03000502040302020204" pitchFamily="66" charset="0"/>
              <a:cs typeface="Cavolini" panose="03000502040302020204" pitchFamily="66" charset="0"/>
            </a:endParaRPr>
          </a:p>
        </p:txBody>
      </p:sp>
      <p:sp>
        <p:nvSpPr>
          <p:cNvPr id="2" name="Rectangle 1">
            <a:extLst>
              <a:ext uri="{FF2B5EF4-FFF2-40B4-BE49-F238E27FC236}">
                <a16:creationId xmlns:a16="http://schemas.microsoft.com/office/drawing/2014/main" id="{DA7BD951-32F0-EBB7-4734-9615E2BDA736}"/>
              </a:ext>
            </a:extLst>
          </p:cNvPr>
          <p:cNvSpPr/>
          <p:nvPr/>
        </p:nvSpPr>
        <p:spPr>
          <a:xfrm>
            <a:off x="2668771" y="1480511"/>
            <a:ext cx="9090835" cy="765544"/>
          </a:xfrm>
          <a:prstGeom prst="rect">
            <a:avLst/>
          </a:prstGeom>
          <a:noFill/>
        </p:spPr>
        <p:style>
          <a:lnRef idx="0">
            <a:schemeClr val="accent6"/>
          </a:lnRef>
          <a:fillRef idx="3">
            <a:schemeClr val="accent6"/>
          </a:fillRef>
          <a:effectRef idx="3">
            <a:schemeClr val="accent6"/>
          </a:effectRef>
          <a:fontRef idx="minor">
            <a:schemeClr val="lt1"/>
          </a:fontRef>
        </p:style>
        <p:txBody>
          <a:bodyPr rtlCol="0" anchor="ctr"/>
          <a:lstStyle/>
          <a:p>
            <a:r>
              <a:rPr lang="en-US" altLang="en-US" sz="2400" dirty="0" err="1">
                <a:solidFill>
                  <a:srgbClr val="C00000"/>
                </a:solidFill>
                <a:latin typeface="Cavolini" panose="03000502040302020204" pitchFamily="66" charset="0"/>
                <a:ea typeface="Verdana" panose="020B0604030504040204" pitchFamily="34" charset="0"/>
                <a:cs typeface="Cavolini" panose="03000502040302020204" pitchFamily="66" charset="0"/>
              </a:rPr>
              <a:t>Membangun</a:t>
            </a:r>
            <a:r>
              <a:rPr lang="en-US" altLang="en-US" sz="2400" dirty="0">
                <a:solidFill>
                  <a:srgbClr val="C00000"/>
                </a:solidFill>
                <a:latin typeface="Cavolini" panose="03000502040302020204" pitchFamily="66" charset="0"/>
                <a:ea typeface="Verdana" panose="020B0604030504040204" pitchFamily="34" charset="0"/>
                <a:cs typeface="Cavolini" panose="03000502040302020204" pitchFamily="66" charset="0"/>
              </a:rPr>
              <a:t> </a:t>
            </a:r>
            <a:r>
              <a:rPr lang="en-US" altLang="en-US" sz="2400" dirty="0" err="1">
                <a:solidFill>
                  <a:srgbClr val="C00000"/>
                </a:solidFill>
                <a:latin typeface="Cavolini" panose="03000502040302020204" pitchFamily="66" charset="0"/>
                <a:ea typeface="Verdana" panose="020B0604030504040204" pitchFamily="34" charset="0"/>
                <a:cs typeface="Cavolini" panose="03000502040302020204" pitchFamily="66" charset="0"/>
              </a:rPr>
              <a:t>Departemen</a:t>
            </a:r>
            <a:r>
              <a:rPr lang="en-US" altLang="en-US" sz="2400" dirty="0">
                <a:solidFill>
                  <a:srgbClr val="C00000"/>
                </a:solidFill>
                <a:latin typeface="Cavolini" panose="03000502040302020204" pitchFamily="66" charset="0"/>
                <a:ea typeface="Verdana" panose="020B0604030504040204" pitchFamily="34" charset="0"/>
                <a:cs typeface="Cavolini" panose="03000502040302020204" pitchFamily="66" charset="0"/>
              </a:rPr>
              <a:t> Drilling </a:t>
            </a:r>
            <a:r>
              <a:rPr lang="en-US" altLang="en-US" sz="2400" dirty="0" err="1">
                <a:solidFill>
                  <a:srgbClr val="C00000"/>
                </a:solidFill>
                <a:latin typeface="Cavolini" panose="03000502040302020204" pitchFamily="66" charset="0"/>
                <a:ea typeface="Verdana" panose="020B0604030504040204" pitchFamily="34" charset="0"/>
                <a:cs typeface="Cavolini" panose="03000502040302020204" pitchFamily="66" charset="0"/>
              </a:rPr>
              <a:t>adalah</a:t>
            </a:r>
            <a:r>
              <a:rPr lang="en-US" altLang="en-US" sz="2400" dirty="0">
                <a:solidFill>
                  <a:srgbClr val="C00000"/>
                </a:solidFill>
                <a:latin typeface="Cavolini" panose="03000502040302020204" pitchFamily="66" charset="0"/>
                <a:ea typeface="Verdana" panose="020B0604030504040204" pitchFamily="34" charset="0"/>
                <a:cs typeface="Cavolini" panose="03000502040302020204" pitchFamily="66" charset="0"/>
              </a:rPr>
              <a:t> </a:t>
            </a:r>
            <a:r>
              <a:rPr lang="en-US" altLang="en-US" sz="2400" dirty="0" err="1">
                <a:solidFill>
                  <a:srgbClr val="C00000"/>
                </a:solidFill>
                <a:latin typeface="Cavolini" panose="03000502040302020204" pitchFamily="66" charset="0"/>
                <a:ea typeface="Verdana" panose="020B0604030504040204" pitchFamily="34" charset="0"/>
                <a:cs typeface="Cavolini" panose="03000502040302020204" pitchFamily="66" charset="0"/>
              </a:rPr>
              <a:t>suatu</a:t>
            </a:r>
            <a:r>
              <a:rPr lang="en-US" altLang="en-US" sz="2400" dirty="0">
                <a:solidFill>
                  <a:srgbClr val="C00000"/>
                </a:solidFill>
                <a:latin typeface="Cavolini" panose="03000502040302020204" pitchFamily="66" charset="0"/>
                <a:ea typeface="Verdana" panose="020B0604030504040204" pitchFamily="34" charset="0"/>
                <a:cs typeface="Cavolini" panose="03000502040302020204" pitchFamily="66" charset="0"/>
              </a:rPr>
              <a:t> </a:t>
            </a:r>
            <a:r>
              <a:rPr lang="en-US" altLang="en-US" sz="2400" dirty="0" err="1">
                <a:solidFill>
                  <a:srgbClr val="C00000"/>
                </a:solidFill>
                <a:latin typeface="Cavolini" panose="03000502040302020204" pitchFamily="66" charset="0"/>
                <a:ea typeface="Verdana" panose="020B0604030504040204" pitchFamily="34" charset="0"/>
                <a:cs typeface="Cavolini" panose="03000502040302020204" pitchFamily="66" charset="0"/>
              </a:rPr>
              <a:t>keharusan</a:t>
            </a:r>
            <a:endParaRPr lang="en-ID" sz="2400" dirty="0">
              <a:solidFill>
                <a:srgbClr val="C00000"/>
              </a:solidFill>
              <a:latin typeface="Cavolini" panose="03000502040302020204" pitchFamily="66" charset="0"/>
              <a:ea typeface="Verdana" panose="020B0604030504040204" pitchFamily="34" charset="0"/>
              <a:cs typeface="Cavolini" panose="03000502040302020204" pitchFamily="66" charset="0"/>
            </a:endParaRPr>
          </a:p>
        </p:txBody>
      </p:sp>
      <p:sp>
        <p:nvSpPr>
          <p:cNvPr id="3" name="Rectangle 2">
            <a:extLst>
              <a:ext uri="{FF2B5EF4-FFF2-40B4-BE49-F238E27FC236}">
                <a16:creationId xmlns:a16="http://schemas.microsoft.com/office/drawing/2014/main" id="{70249480-56A0-119B-C828-19D17F47D722}"/>
              </a:ext>
            </a:extLst>
          </p:cNvPr>
          <p:cNvSpPr/>
          <p:nvPr/>
        </p:nvSpPr>
        <p:spPr>
          <a:xfrm>
            <a:off x="1535717" y="1480511"/>
            <a:ext cx="891363"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1</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4" name="Rectangle 3">
            <a:extLst>
              <a:ext uri="{FF2B5EF4-FFF2-40B4-BE49-F238E27FC236}">
                <a16:creationId xmlns:a16="http://schemas.microsoft.com/office/drawing/2014/main" id="{6E1FF2EB-3F84-B071-C226-EF45022D848A}"/>
              </a:ext>
            </a:extLst>
          </p:cNvPr>
          <p:cNvSpPr/>
          <p:nvPr/>
        </p:nvSpPr>
        <p:spPr>
          <a:xfrm>
            <a:off x="2668771" y="2451620"/>
            <a:ext cx="9090835" cy="748783"/>
          </a:xfrm>
          <a:prstGeom prst="rect">
            <a:avLst/>
          </a:prstGeom>
          <a:noFill/>
        </p:spPr>
        <p:style>
          <a:lnRef idx="0">
            <a:schemeClr val="accent6"/>
          </a:lnRef>
          <a:fillRef idx="3">
            <a:schemeClr val="accent6"/>
          </a:fillRef>
          <a:effectRef idx="3">
            <a:schemeClr val="accent6"/>
          </a:effectRef>
          <a:fontRef idx="minor">
            <a:schemeClr val="lt1"/>
          </a:fontRef>
        </p:style>
        <p:txBody>
          <a:bodyPr rtlCol="0" anchor="ctr"/>
          <a:lstStyle/>
          <a:p>
            <a:r>
              <a:rPr lang="en-US" sz="2400" dirty="0" err="1">
                <a:solidFill>
                  <a:srgbClr val="C00000"/>
                </a:solidFill>
                <a:latin typeface="Cavolini" panose="03000502040302020204" pitchFamily="66" charset="0"/>
                <a:cs typeface="Cavolini" panose="03000502040302020204" pitchFamily="66" charset="0"/>
              </a:rPr>
              <a:t>Pengembangan</a:t>
            </a:r>
            <a:r>
              <a:rPr lang="en-US" sz="2400" dirty="0">
                <a:solidFill>
                  <a:srgbClr val="C00000"/>
                </a:solidFill>
                <a:latin typeface="Cavolini" panose="03000502040302020204" pitchFamily="66" charset="0"/>
                <a:cs typeface="Cavolini" panose="03000502040302020204" pitchFamily="66" charset="0"/>
              </a:rPr>
              <a:t> Program </a:t>
            </a:r>
            <a:r>
              <a:rPr lang="en-US" sz="2400" dirty="0" err="1">
                <a:solidFill>
                  <a:srgbClr val="C00000"/>
                </a:solidFill>
                <a:latin typeface="Cavolini" panose="03000502040302020204" pitchFamily="66" charset="0"/>
                <a:cs typeface="Cavolini" panose="03000502040302020204" pitchFamily="66" charset="0"/>
              </a:rPr>
              <a:t>penghematan</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biaya</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pemboran</a:t>
            </a:r>
            <a:r>
              <a:rPr lang="en-US" sz="2400" dirty="0">
                <a:solidFill>
                  <a:srgbClr val="C00000"/>
                </a:solidFill>
                <a:latin typeface="Cavolini" panose="03000502040302020204" pitchFamily="66" charset="0"/>
                <a:cs typeface="Cavolini" panose="03000502040302020204" pitchFamily="66" charset="0"/>
              </a:rPr>
              <a:t> secara </a:t>
            </a:r>
            <a:r>
              <a:rPr lang="en-US" sz="2400" dirty="0" err="1">
                <a:solidFill>
                  <a:srgbClr val="C00000"/>
                </a:solidFill>
                <a:latin typeface="Cavolini" panose="03000502040302020204" pitchFamily="66" charset="0"/>
                <a:cs typeface="Cavolini" panose="03000502040302020204" pitchFamily="66" charset="0"/>
              </a:rPr>
              <a:t>berkelanjutan</a:t>
            </a:r>
            <a:endParaRPr lang="en-ID" sz="2400" dirty="0">
              <a:solidFill>
                <a:srgbClr val="C00000"/>
              </a:solidFill>
              <a:latin typeface="Cavolini" panose="03000502040302020204" pitchFamily="66" charset="0"/>
              <a:cs typeface="Cavolini" panose="03000502040302020204" pitchFamily="66" charset="0"/>
            </a:endParaRPr>
          </a:p>
        </p:txBody>
      </p:sp>
      <p:sp>
        <p:nvSpPr>
          <p:cNvPr id="6" name="Rectangle 5">
            <a:extLst>
              <a:ext uri="{FF2B5EF4-FFF2-40B4-BE49-F238E27FC236}">
                <a16:creationId xmlns:a16="http://schemas.microsoft.com/office/drawing/2014/main" id="{30251F12-AB0E-4C69-97A8-C18A739F2B39}"/>
              </a:ext>
            </a:extLst>
          </p:cNvPr>
          <p:cNvSpPr/>
          <p:nvPr/>
        </p:nvSpPr>
        <p:spPr>
          <a:xfrm>
            <a:off x="1535716" y="2451620"/>
            <a:ext cx="891363" cy="765544"/>
          </a:xfrm>
          <a:prstGeom prst="rect">
            <a:avLst/>
          </a:prstGeom>
          <a:solidFill>
            <a:srgbClr val="FFFF66"/>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2</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8" name="Rectangle 7">
            <a:extLst>
              <a:ext uri="{FF2B5EF4-FFF2-40B4-BE49-F238E27FC236}">
                <a16:creationId xmlns:a16="http://schemas.microsoft.com/office/drawing/2014/main" id="{29D79B4A-D159-4ADA-C6EC-EDD7D1BAAF6E}"/>
              </a:ext>
            </a:extLst>
          </p:cNvPr>
          <p:cNvSpPr/>
          <p:nvPr/>
        </p:nvSpPr>
        <p:spPr>
          <a:xfrm>
            <a:off x="655403" y="334577"/>
            <a:ext cx="1234607" cy="765544"/>
          </a:xfrm>
          <a:prstGeom prst="rect">
            <a:avLst/>
          </a:prstGeom>
          <a:solidFill>
            <a:srgbClr val="FFFFCC"/>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BAB-7</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5" name="Rectangle 4">
            <a:extLst>
              <a:ext uri="{FF2B5EF4-FFF2-40B4-BE49-F238E27FC236}">
                <a16:creationId xmlns:a16="http://schemas.microsoft.com/office/drawing/2014/main" id="{5761B387-584F-CD6D-6C5C-A18094425F1B}"/>
              </a:ext>
            </a:extLst>
          </p:cNvPr>
          <p:cNvSpPr/>
          <p:nvPr/>
        </p:nvSpPr>
        <p:spPr>
          <a:xfrm>
            <a:off x="2668773" y="3439344"/>
            <a:ext cx="9090835" cy="748783"/>
          </a:xfrm>
          <a:prstGeom prst="rect">
            <a:avLst/>
          </a:prstGeom>
          <a:noFill/>
        </p:spPr>
        <p:style>
          <a:lnRef idx="0">
            <a:schemeClr val="accent6"/>
          </a:lnRef>
          <a:fillRef idx="3">
            <a:schemeClr val="accent6"/>
          </a:fillRef>
          <a:effectRef idx="3">
            <a:schemeClr val="accent6"/>
          </a:effectRef>
          <a:fontRef idx="minor">
            <a:schemeClr val="lt1"/>
          </a:fontRef>
        </p:style>
        <p:txBody>
          <a:bodyPr rtlCol="0" anchor="ctr"/>
          <a:lstStyle/>
          <a:p>
            <a:r>
              <a:rPr lang="en-US" sz="2400" dirty="0" err="1">
                <a:solidFill>
                  <a:srgbClr val="C00000"/>
                </a:solidFill>
                <a:latin typeface="Cavolini" panose="03000502040302020204" pitchFamily="66" charset="0"/>
                <a:cs typeface="Cavolini" panose="03000502040302020204" pitchFamily="66" charset="0"/>
              </a:rPr>
              <a:t>Efisiensi</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Biaya</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Pemboran</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merupakan</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dokumen</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hidup</a:t>
            </a:r>
            <a:r>
              <a:rPr lang="en-US" sz="2400" dirty="0">
                <a:solidFill>
                  <a:srgbClr val="C00000"/>
                </a:solidFill>
                <a:latin typeface="Cavolini" panose="03000502040302020204" pitchFamily="66" charset="0"/>
                <a:cs typeface="Cavolini" panose="03000502040302020204" pitchFamily="66" charset="0"/>
              </a:rPr>
              <a:t> yang </a:t>
            </a:r>
            <a:r>
              <a:rPr lang="en-US" sz="2400" dirty="0" err="1">
                <a:solidFill>
                  <a:srgbClr val="C00000"/>
                </a:solidFill>
                <a:latin typeface="Cavolini" panose="03000502040302020204" pitchFamily="66" charset="0"/>
                <a:cs typeface="Cavolini" panose="03000502040302020204" pitchFamily="66" charset="0"/>
              </a:rPr>
              <a:t>akan</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selalu</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terupdate</a:t>
            </a:r>
            <a:r>
              <a:rPr lang="en-US" sz="2400" dirty="0">
                <a:solidFill>
                  <a:srgbClr val="C00000"/>
                </a:solidFill>
                <a:latin typeface="Cavolini" panose="03000502040302020204" pitchFamily="66" charset="0"/>
                <a:cs typeface="Cavolini" panose="03000502040302020204" pitchFamily="66" charset="0"/>
              </a:rPr>
              <a:t> oleh ide-ide </a:t>
            </a:r>
            <a:r>
              <a:rPr lang="en-US" sz="2400" dirty="0" err="1">
                <a:solidFill>
                  <a:srgbClr val="C00000"/>
                </a:solidFill>
                <a:latin typeface="Cavolini" panose="03000502040302020204" pitchFamily="66" charset="0"/>
                <a:cs typeface="Cavolini" panose="03000502040302020204" pitchFamily="66" charset="0"/>
              </a:rPr>
              <a:t>baru</a:t>
            </a:r>
            <a:r>
              <a:rPr lang="en-US" sz="2400" dirty="0">
                <a:solidFill>
                  <a:srgbClr val="C00000"/>
                </a:solidFill>
                <a:latin typeface="Cavolini" panose="03000502040302020204" pitchFamily="66" charset="0"/>
                <a:cs typeface="Cavolini" panose="03000502040302020204" pitchFamily="66" charset="0"/>
              </a:rPr>
              <a:t>.</a:t>
            </a:r>
            <a:endParaRPr lang="en-ID" sz="2400" dirty="0">
              <a:solidFill>
                <a:srgbClr val="C00000"/>
              </a:solidFill>
              <a:latin typeface="Cavolini" panose="03000502040302020204" pitchFamily="66" charset="0"/>
              <a:cs typeface="Cavolini" panose="03000502040302020204" pitchFamily="66" charset="0"/>
            </a:endParaRPr>
          </a:p>
        </p:txBody>
      </p:sp>
      <p:sp>
        <p:nvSpPr>
          <p:cNvPr id="7" name="Rectangle 6">
            <a:extLst>
              <a:ext uri="{FF2B5EF4-FFF2-40B4-BE49-F238E27FC236}">
                <a16:creationId xmlns:a16="http://schemas.microsoft.com/office/drawing/2014/main" id="{75C1CA28-8154-BA51-2FFA-BD9D4899BE32}"/>
              </a:ext>
            </a:extLst>
          </p:cNvPr>
          <p:cNvSpPr/>
          <p:nvPr/>
        </p:nvSpPr>
        <p:spPr>
          <a:xfrm>
            <a:off x="1535718" y="3405968"/>
            <a:ext cx="891363" cy="765544"/>
          </a:xfrm>
          <a:prstGeom prst="rect">
            <a:avLst/>
          </a:prstGeom>
          <a:solidFill>
            <a:srgbClr val="FFCC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accent6">
                    <a:lumMod val="50000"/>
                  </a:schemeClr>
                </a:solidFill>
                <a:latin typeface="Cavolini" panose="03000502040302020204" pitchFamily="66" charset="0"/>
                <a:cs typeface="Cavolini" panose="03000502040302020204" pitchFamily="66" charset="0"/>
              </a:rPr>
              <a:t>3</a:t>
            </a:r>
            <a:endParaRPr lang="en-ID" sz="2400" b="1" dirty="0">
              <a:solidFill>
                <a:schemeClr val="accent6">
                  <a:lumMod val="50000"/>
                </a:schemeClr>
              </a:solidFill>
              <a:latin typeface="Cavolini" panose="03000502040302020204" pitchFamily="66" charset="0"/>
              <a:cs typeface="Cavolini" panose="03000502040302020204" pitchFamily="66" charset="0"/>
            </a:endParaRPr>
          </a:p>
        </p:txBody>
      </p:sp>
      <p:sp>
        <p:nvSpPr>
          <p:cNvPr id="9" name="Rectangle 8">
            <a:extLst>
              <a:ext uri="{FF2B5EF4-FFF2-40B4-BE49-F238E27FC236}">
                <a16:creationId xmlns:a16="http://schemas.microsoft.com/office/drawing/2014/main" id="{0727EA7E-0AA2-941D-2891-CF6C411063CD}"/>
              </a:ext>
            </a:extLst>
          </p:cNvPr>
          <p:cNvSpPr/>
          <p:nvPr/>
        </p:nvSpPr>
        <p:spPr>
          <a:xfrm>
            <a:off x="2668773" y="4333772"/>
            <a:ext cx="9090835" cy="748783"/>
          </a:xfrm>
          <a:prstGeom prst="rect">
            <a:avLst/>
          </a:prstGeom>
          <a:noFill/>
        </p:spPr>
        <p:style>
          <a:lnRef idx="0">
            <a:schemeClr val="accent6"/>
          </a:lnRef>
          <a:fillRef idx="3">
            <a:schemeClr val="accent6"/>
          </a:fillRef>
          <a:effectRef idx="3">
            <a:schemeClr val="accent6"/>
          </a:effectRef>
          <a:fontRef idx="minor">
            <a:schemeClr val="lt1"/>
          </a:fontRef>
        </p:style>
        <p:txBody>
          <a:bodyPr rtlCol="0" anchor="ctr"/>
          <a:lstStyle/>
          <a:p>
            <a:r>
              <a:rPr lang="en-US" sz="2400">
                <a:solidFill>
                  <a:srgbClr val="C00000"/>
                </a:solidFill>
                <a:latin typeface="Cavolini" panose="03000502040302020204" pitchFamily="66" charset="0"/>
                <a:cs typeface="Cavolini" panose="03000502040302020204" pitchFamily="66" charset="0"/>
              </a:rPr>
              <a:t>Biaya sumur murah, proyek lebih ekonomis, menarik investor, lebih banyak sumur yang dibor</a:t>
            </a:r>
            <a:endParaRPr lang="en-ID" sz="2400" dirty="0">
              <a:solidFill>
                <a:srgbClr val="C00000"/>
              </a:solidFill>
              <a:latin typeface="Cavolini" panose="03000502040302020204" pitchFamily="66" charset="0"/>
              <a:cs typeface="Cavolini" panose="03000502040302020204" pitchFamily="66" charset="0"/>
            </a:endParaRPr>
          </a:p>
        </p:txBody>
      </p:sp>
      <p:sp>
        <p:nvSpPr>
          <p:cNvPr id="10" name="Rectangle 9">
            <a:extLst>
              <a:ext uri="{FF2B5EF4-FFF2-40B4-BE49-F238E27FC236}">
                <a16:creationId xmlns:a16="http://schemas.microsoft.com/office/drawing/2014/main" id="{68750505-CC7B-6FBA-BB9D-CEBAA4B09E43}"/>
              </a:ext>
            </a:extLst>
          </p:cNvPr>
          <p:cNvSpPr/>
          <p:nvPr/>
        </p:nvSpPr>
        <p:spPr>
          <a:xfrm>
            <a:off x="1535718" y="4302394"/>
            <a:ext cx="891363" cy="765544"/>
          </a:xfrm>
          <a:prstGeom prst="rect">
            <a:avLst/>
          </a:prstGeom>
          <a:solidFill>
            <a:schemeClr val="accent4">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4</a:t>
            </a:r>
            <a:endParaRPr lang="en-ID" sz="2400" b="1" dirty="0">
              <a:solidFill>
                <a:srgbClr val="FFFF00"/>
              </a:solidFill>
              <a:latin typeface="Cavolini" panose="03000502040302020204" pitchFamily="66" charset="0"/>
              <a:cs typeface="Cavolini" panose="03000502040302020204" pitchFamily="66" charset="0"/>
            </a:endParaRPr>
          </a:p>
        </p:txBody>
      </p:sp>
      <p:sp>
        <p:nvSpPr>
          <p:cNvPr id="11" name="Rectangle 10">
            <a:extLst>
              <a:ext uri="{FF2B5EF4-FFF2-40B4-BE49-F238E27FC236}">
                <a16:creationId xmlns:a16="http://schemas.microsoft.com/office/drawing/2014/main" id="{109341DB-886E-C59E-D52D-2D4A5EC7B9DD}"/>
              </a:ext>
            </a:extLst>
          </p:cNvPr>
          <p:cNvSpPr/>
          <p:nvPr/>
        </p:nvSpPr>
        <p:spPr>
          <a:xfrm>
            <a:off x="2668773" y="5235014"/>
            <a:ext cx="9090835" cy="748783"/>
          </a:xfrm>
          <a:prstGeom prst="rect">
            <a:avLst/>
          </a:prstGeom>
          <a:noFill/>
        </p:spPr>
        <p:style>
          <a:lnRef idx="0">
            <a:schemeClr val="accent6"/>
          </a:lnRef>
          <a:fillRef idx="3">
            <a:schemeClr val="accent6"/>
          </a:fillRef>
          <a:effectRef idx="3">
            <a:schemeClr val="accent6"/>
          </a:effectRef>
          <a:fontRef idx="minor">
            <a:schemeClr val="lt1"/>
          </a:fontRef>
        </p:style>
        <p:txBody>
          <a:bodyPr rtlCol="0" anchor="ctr"/>
          <a:lstStyle/>
          <a:p>
            <a:r>
              <a:rPr lang="en-US" sz="2400" dirty="0" err="1">
                <a:solidFill>
                  <a:srgbClr val="C00000"/>
                </a:solidFill>
                <a:latin typeface="Cavolini" panose="03000502040302020204" pitchFamily="66" charset="0"/>
                <a:cs typeface="Cavolini" panose="03000502040302020204" pitchFamily="66" charset="0"/>
              </a:rPr>
              <a:t>Ucapan</a:t>
            </a:r>
            <a:r>
              <a:rPr lang="en-US" sz="2400" dirty="0">
                <a:solidFill>
                  <a:srgbClr val="C00000"/>
                </a:solidFill>
                <a:latin typeface="Cavolini" panose="03000502040302020204" pitchFamily="66" charset="0"/>
                <a:cs typeface="Cavolini" panose="03000502040302020204" pitchFamily="66" charset="0"/>
              </a:rPr>
              <a:t> terima </a:t>
            </a:r>
            <a:r>
              <a:rPr lang="en-US" sz="2400" dirty="0" err="1">
                <a:solidFill>
                  <a:srgbClr val="C00000"/>
                </a:solidFill>
                <a:latin typeface="Cavolini" panose="03000502040302020204" pitchFamily="66" charset="0"/>
                <a:cs typeface="Cavolini" panose="03000502040302020204" pitchFamily="66" charset="0"/>
              </a:rPr>
              <a:t>kasih</a:t>
            </a:r>
            <a:r>
              <a:rPr lang="en-US" sz="2400" dirty="0">
                <a:solidFill>
                  <a:srgbClr val="C00000"/>
                </a:solidFill>
                <a:latin typeface="Cavolini" panose="03000502040302020204" pitchFamily="66" charset="0"/>
                <a:cs typeface="Cavolini" panose="03000502040302020204" pitchFamily="66" charset="0"/>
              </a:rPr>
              <a:t> kepada EBTKE yang sangat </a:t>
            </a:r>
            <a:r>
              <a:rPr lang="en-US" sz="2400" dirty="0" err="1">
                <a:solidFill>
                  <a:srgbClr val="C00000"/>
                </a:solidFill>
                <a:latin typeface="Cavolini" panose="03000502040302020204" pitchFamily="66" charset="0"/>
                <a:cs typeface="Cavolini" panose="03000502040302020204" pitchFamily="66" charset="0"/>
              </a:rPr>
              <a:t>mensupport</a:t>
            </a:r>
            <a:r>
              <a:rPr lang="en-US" sz="2400" dirty="0">
                <a:solidFill>
                  <a:srgbClr val="C00000"/>
                </a:solidFill>
                <a:latin typeface="Cavolini" panose="03000502040302020204" pitchFamily="66" charset="0"/>
                <a:cs typeface="Cavolini" panose="03000502040302020204" pitchFamily="66" charset="0"/>
              </a:rPr>
              <a:t> program </a:t>
            </a:r>
            <a:r>
              <a:rPr lang="en-US" sz="2400" dirty="0" err="1">
                <a:solidFill>
                  <a:srgbClr val="C00000"/>
                </a:solidFill>
                <a:latin typeface="Cavolini" panose="03000502040302020204" pitchFamily="66" charset="0"/>
                <a:cs typeface="Cavolini" panose="03000502040302020204" pitchFamily="66" charset="0"/>
              </a:rPr>
              <a:t>Efisiensi</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Biaya</a:t>
            </a:r>
            <a:r>
              <a:rPr lang="en-US" sz="2400" dirty="0">
                <a:solidFill>
                  <a:srgbClr val="C00000"/>
                </a:solidFill>
                <a:latin typeface="Cavolini" panose="03000502040302020204" pitchFamily="66" charset="0"/>
                <a:cs typeface="Cavolini" panose="03000502040302020204" pitchFamily="66" charset="0"/>
              </a:rPr>
              <a:t> </a:t>
            </a:r>
            <a:r>
              <a:rPr lang="en-US" sz="2400" dirty="0" err="1">
                <a:solidFill>
                  <a:srgbClr val="C00000"/>
                </a:solidFill>
                <a:latin typeface="Cavolini" panose="03000502040302020204" pitchFamily="66" charset="0"/>
                <a:cs typeface="Cavolini" panose="03000502040302020204" pitchFamily="66" charset="0"/>
              </a:rPr>
              <a:t>Pemboran</a:t>
            </a:r>
            <a:endParaRPr lang="en-ID" sz="2400" dirty="0">
              <a:solidFill>
                <a:srgbClr val="C00000"/>
              </a:solidFill>
              <a:latin typeface="Cavolini" panose="03000502040302020204" pitchFamily="66" charset="0"/>
              <a:cs typeface="Cavolini" panose="03000502040302020204" pitchFamily="66" charset="0"/>
            </a:endParaRPr>
          </a:p>
        </p:txBody>
      </p:sp>
      <p:sp>
        <p:nvSpPr>
          <p:cNvPr id="12" name="Rectangle 11">
            <a:extLst>
              <a:ext uri="{FF2B5EF4-FFF2-40B4-BE49-F238E27FC236}">
                <a16:creationId xmlns:a16="http://schemas.microsoft.com/office/drawing/2014/main" id="{BE6DC85A-CDAB-9B28-B7A7-D91166DB9DF7}"/>
              </a:ext>
            </a:extLst>
          </p:cNvPr>
          <p:cNvSpPr/>
          <p:nvPr/>
        </p:nvSpPr>
        <p:spPr>
          <a:xfrm>
            <a:off x="1535716" y="5235014"/>
            <a:ext cx="891363" cy="765544"/>
          </a:xfrm>
          <a:prstGeom prst="rect">
            <a:avLst/>
          </a:prstGeom>
          <a:solidFill>
            <a:schemeClr val="accent2">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rgbClr val="FFFF00"/>
                </a:solidFill>
                <a:latin typeface="Cavolini" panose="03000502040302020204" pitchFamily="66" charset="0"/>
                <a:cs typeface="Cavolini" panose="03000502040302020204" pitchFamily="66" charset="0"/>
              </a:rPr>
              <a:t>5</a:t>
            </a:r>
            <a:endParaRPr lang="en-ID" sz="2400" b="1" dirty="0">
              <a:solidFill>
                <a:srgbClr val="FFFF00"/>
              </a:solidFill>
              <a:latin typeface="Cavolini" panose="03000502040302020204" pitchFamily="66" charset="0"/>
              <a:cs typeface="Cavolini" panose="03000502040302020204" pitchFamily="66" charset="0"/>
            </a:endParaRPr>
          </a:p>
        </p:txBody>
      </p:sp>
    </p:spTree>
    <p:extLst>
      <p:ext uri="{BB962C8B-B14F-4D97-AF65-F5344CB8AC3E}">
        <p14:creationId xmlns:p14="http://schemas.microsoft.com/office/powerpoint/2010/main" val="1106462459"/>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3" descr="C:\Documents and Settings\UMAR\My Documents\My Pictures\429909-xs.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324100" y="1260144"/>
            <a:ext cx="7543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3916430" y="1295400"/>
            <a:ext cx="4359142" cy="923330"/>
          </a:xfrm>
          <a:prstGeom prst="rect">
            <a:avLst/>
          </a:prstGeom>
          <a:noFill/>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defRPr/>
            </a:pPr>
            <a:r>
              <a:rPr lang="id-ID" sz="5400" cap="all" dirty="0">
                <a:ln w="0"/>
                <a:solidFill>
                  <a:srgbClr val="FFFF00"/>
                </a:solidFill>
                <a:effectLst>
                  <a:reflection blurRad="12700" stA="50000" endPos="50000" dist="5000" dir="5400000" sy="-100000" rotWithShape="0"/>
                </a:effectLst>
                <a:latin typeface="Tahoma" pitchFamily="34" charset="0"/>
                <a:ea typeface="Tahoma" pitchFamily="34" charset="0"/>
                <a:cs typeface="Tahoma" pitchFamily="34" charset="0"/>
              </a:rPr>
              <a:t>DISCUSSION </a:t>
            </a:r>
            <a:endParaRPr lang="en-US" sz="5400" cap="all" dirty="0">
              <a:ln w="0"/>
              <a:solidFill>
                <a:srgbClr val="FFFF00"/>
              </a:solidFill>
              <a:effectLst>
                <a:reflection blurRad="12700" stA="50000" endPos="50000" dist="5000" dir="5400000" sy="-100000" rotWithShape="0"/>
              </a:effectLst>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124105582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500" name="Picture 6" descr="Image result for thank you"/>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08000" y="1300480"/>
            <a:ext cx="822960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0C6C5579-0511-4985-B130-F62F39C67B4D}"/>
              </a:ext>
            </a:extLst>
          </p:cNvPr>
          <p:cNvSpPr txBox="1"/>
          <p:nvPr/>
        </p:nvSpPr>
        <p:spPr>
          <a:xfrm>
            <a:off x="914400" y="3888740"/>
            <a:ext cx="5181600" cy="830997"/>
          </a:xfrm>
          <a:prstGeom prst="rect">
            <a:avLst/>
          </a:prstGeom>
          <a:noFill/>
        </p:spPr>
        <p:txBody>
          <a:bodyPr wrap="square" rtlCol="0">
            <a:spAutoFit/>
          </a:bodyPr>
          <a:lstStyle/>
          <a:p>
            <a:pPr algn="ctr"/>
            <a:r>
              <a:rPr lang="en-US" sz="2400" b="1" dirty="0">
                <a:solidFill>
                  <a:schemeClr val="accent6">
                    <a:lumMod val="50000"/>
                  </a:schemeClr>
                </a:solidFill>
              </a:rPr>
              <a:t>+62-813 988 66556</a:t>
            </a:r>
          </a:p>
          <a:p>
            <a:pPr algn="ctr"/>
            <a:r>
              <a:rPr lang="en-US" sz="2400" dirty="0">
                <a:solidFill>
                  <a:schemeClr val="accent6">
                    <a:lumMod val="50000"/>
                  </a:schemeClr>
                </a:solidFill>
              </a:rPr>
              <a:t>yhartono.67@gmail.com</a:t>
            </a:r>
            <a:endParaRPr lang="en-ID" sz="2400" dirty="0">
              <a:solidFill>
                <a:schemeClr val="accent6">
                  <a:lumMod val="50000"/>
                </a:schemeClr>
              </a:solidFill>
            </a:endParaRPr>
          </a:p>
        </p:txBody>
      </p:sp>
      <p:pic>
        <p:nvPicPr>
          <p:cNvPr id="1026" name="Picture 2">
            <a:extLst>
              <a:ext uri="{FF2B5EF4-FFF2-40B4-BE49-F238E27FC236}">
                <a16:creationId xmlns:a16="http://schemas.microsoft.com/office/drawing/2014/main" id="{4F5F72D6-D268-AB90-BD2B-BFAC25E9BD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083" r="18500"/>
          <a:stretch/>
        </p:blipFill>
        <p:spPr bwMode="auto">
          <a:xfrm>
            <a:off x="6664960" y="1300480"/>
            <a:ext cx="4968240" cy="5176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296160"/>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Welcome to PowerPoint_Win32_new.potx" id="{95F22252-1276-4CE0-B5B2-7173AC23E7C1}" vid="{5251F4FC-9BFF-4FAA-9D53-CA332557379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TM04033923[[fn=Depth]]</Template>
  <TotalTime>35083</TotalTime>
  <Words>13635</Words>
  <Application>Microsoft Office PowerPoint</Application>
  <PresentationFormat>Widescreen</PresentationFormat>
  <Paragraphs>2663</Paragraphs>
  <Slides>228</Slides>
  <Notes>3</Notes>
  <HiddenSlides>1</HiddenSlides>
  <MMClips>0</MMClips>
  <ScaleCrop>false</ScaleCrop>
  <HeadingPairs>
    <vt:vector size="8" baseType="variant">
      <vt:variant>
        <vt:lpstr>Fonts Used</vt:lpstr>
      </vt:variant>
      <vt:variant>
        <vt:i4>22</vt:i4>
      </vt:variant>
      <vt:variant>
        <vt:lpstr>Theme</vt:lpstr>
      </vt:variant>
      <vt:variant>
        <vt:i4>1</vt:i4>
      </vt:variant>
      <vt:variant>
        <vt:lpstr>Embedded OLE Servers</vt:lpstr>
      </vt:variant>
      <vt:variant>
        <vt:i4>1</vt:i4>
      </vt:variant>
      <vt:variant>
        <vt:lpstr>Slide Titles</vt:lpstr>
      </vt:variant>
      <vt:variant>
        <vt:i4>228</vt:i4>
      </vt:variant>
    </vt:vector>
  </HeadingPairs>
  <TitlesOfParts>
    <vt:vector size="252" baseType="lpstr">
      <vt:lpstr>Arial</vt:lpstr>
      <vt:lpstr>Arial Black</vt:lpstr>
      <vt:lpstr>Arimo Bold</vt:lpstr>
      <vt:lpstr>Arimo Italics</vt:lpstr>
      <vt:lpstr>Avenir Next LT Pro</vt:lpstr>
      <vt:lpstr>Avenir Next LT Pro Light</vt:lpstr>
      <vt:lpstr>Calibri</vt:lpstr>
      <vt:lpstr>Cavolini</vt:lpstr>
      <vt:lpstr>Cera Pro</vt:lpstr>
      <vt:lpstr>Comic Sans MS</vt:lpstr>
      <vt:lpstr>Courier New</vt:lpstr>
      <vt:lpstr>Dream Avenue Bold</vt:lpstr>
      <vt:lpstr>Dreaming Outloud Pro</vt:lpstr>
      <vt:lpstr>Franklin Gothic Book</vt:lpstr>
      <vt:lpstr>Neutraface Text Bold</vt:lpstr>
      <vt:lpstr>Segoe UI</vt:lpstr>
      <vt:lpstr>Segoe UI Light</vt:lpstr>
      <vt:lpstr>Symbol</vt:lpstr>
      <vt:lpstr>Tahoma</vt:lpstr>
      <vt:lpstr>Times New Roman</vt:lpstr>
      <vt:lpstr>Verdana</vt:lpstr>
      <vt:lpstr>Wingdings</vt:lpstr>
      <vt:lpstr>WelcomeDoc</vt:lpstr>
      <vt:lpstr>Chart</vt:lpstr>
      <vt:lpstr>PowerPoint Presentation</vt:lpstr>
      <vt:lpstr>Objectives</vt:lpstr>
      <vt:lpstr>Introduction …book history..</vt:lpstr>
      <vt:lpstr>Content …</vt:lpstr>
      <vt:lpstr>Pendahuluan …</vt:lpstr>
      <vt:lpstr>DRILLING IS CRITICAL PART, Why?.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Best Geothermal Drilling Performance by 2024</vt:lpstr>
      <vt:lpstr>How to achieve drilling cost below USD 1000 per meter </vt:lpstr>
      <vt:lpstr>Efisiensi Biaya Pengeboran Sumur Panas Bumi</vt:lpstr>
      <vt:lpstr>Drilling Geothermal Well &lt; USD 3 Million</vt:lpstr>
      <vt:lpstr>MAJOR WELL COST COMPONENT</vt:lpstr>
      <vt:lpstr>MAJOR WELL COST COMPONENT</vt:lpstr>
      <vt:lpstr>Drilling Cost Reduction Method</vt:lpstr>
      <vt:lpstr>When We could cut WELL COST</vt:lpstr>
      <vt:lpstr>Drilling Cost Saving Initiative</vt:lpstr>
      <vt:lpstr>Main Topic of Drilling Cost Saving</vt:lpstr>
      <vt:lpstr>Persiapan Umum Sebelum Dimulainya Pengeboran</vt:lpstr>
      <vt:lpstr>Persiapan Umum Sebelum Dimulainya Pengeboran</vt:lpstr>
      <vt:lpstr>Kejujuran …</vt:lpstr>
      <vt:lpstr>Kejujuran dan Professional …!!!</vt:lpstr>
      <vt:lpstr>Hiring Key Office Drilling Personnel</vt:lpstr>
      <vt:lpstr>Ideal Geothermal Drilling Organization Chart</vt:lpstr>
      <vt:lpstr>Drilling Personnel and Status</vt:lpstr>
      <vt:lpstr>Drilling Personnel Hiring Method</vt:lpstr>
      <vt:lpstr>Geothermal Drilling Personnel Cost  Recruitment and Hiring Method</vt:lpstr>
      <vt:lpstr>Cost Comparison vs Hiring Process Method </vt:lpstr>
      <vt:lpstr>Drilling Team Qualification</vt:lpstr>
      <vt:lpstr>Persiapan Umum Sebelum Dimulainya Pengeboran</vt:lpstr>
      <vt:lpstr>Rig Selection: Big Hole, Standards Hole and Slim Hole</vt:lpstr>
      <vt:lpstr>Onshore Drilling Rig Overview – Main Rig Component</vt:lpstr>
      <vt:lpstr>Rig Horsepower Selection</vt:lpstr>
      <vt:lpstr>RIG SIZING</vt:lpstr>
      <vt:lpstr>Rig Manufacturer’s Rated Drilling Depth …</vt:lpstr>
      <vt:lpstr>RATED DRILLING DEPTH</vt:lpstr>
      <vt:lpstr>Rig 1000-1340 HP RATED DRILLING DEPTH</vt:lpstr>
      <vt:lpstr>Rig 1500 HP RATED DRILLING DEPTH</vt:lpstr>
      <vt:lpstr>Kajian Kemampuan dan Kecepatan Rig Moving</vt:lpstr>
      <vt:lpstr>The Economic Rig Moving System Rig Skid vs Walking System</vt:lpstr>
      <vt:lpstr>Main Heavy Equipment For Rig Moving &amp; Daily Operation</vt:lpstr>
      <vt:lpstr>Main Heavy Equipment For Rig Moving &amp; Daily Rig Operation</vt:lpstr>
      <vt:lpstr>Optional Heavy Equipment For Rig Moving</vt:lpstr>
      <vt:lpstr>RIG RENUMERATION TABLE STRUCTURE</vt:lpstr>
      <vt:lpstr>RIG FUEL CONSUMPTION</vt:lpstr>
      <vt:lpstr>RIG FUEL CONSUMPTION</vt:lpstr>
      <vt:lpstr>RIG RENUMERATION TABLE STRUCTURE</vt:lpstr>
      <vt:lpstr>PERTAMINA FUEL Cost Component</vt:lpstr>
      <vt:lpstr>CHANCE TO GET PERTAMINA FUEL PRICE DISCOUNT</vt:lpstr>
      <vt:lpstr>RIG FUEL Supply – Cost Saving</vt:lpstr>
      <vt:lpstr>Own 1000 – 1500 HP Used Rig Cases: KS Orka owned DATI 231 Rig  Rig Kaisan-01 </vt:lpstr>
      <vt:lpstr>SMGP Year 2020 Drilling Statistics – Use Own Rig</vt:lpstr>
      <vt:lpstr>Persiapan Umum Sebelum Dimulainya Pengeboran</vt:lpstr>
      <vt:lpstr>Effective Well Pad Design</vt:lpstr>
      <vt:lpstr>Elevated Well-Pad Design</vt:lpstr>
      <vt:lpstr>Layout higher elevation for Rig Mini Camps</vt:lpstr>
      <vt:lpstr>Mud Pond Size and Design</vt:lpstr>
      <vt:lpstr>Rig Picture</vt:lpstr>
      <vt:lpstr>Rig Picture: Side View for Determining Distance between Cellars</vt:lpstr>
      <vt:lpstr>Surface Anticollision</vt:lpstr>
      <vt:lpstr>PAD BB: Cellar Assignment</vt:lpstr>
      <vt:lpstr>Cellar Assignment, Optimized ?</vt:lpstr>
      <vt:lpstr>Additional Cellar to the Existing Pad. Is it safe?</vt:lpstr>
      <vt:lpstr>Cellars Design-2: 3m X 3m X 0.8m depth</vt:lpstr>
      <vt:lpstr>Cellars Design-2: 3m X 3m X 0.8m depth</vt:lpstr>
      <vt:lpstr>30” Conductor Specification and Installation</vt:lpstr>
      <vt:lpstr>30” CASING CONDUCTOR SPECIFICATION</vt:lpstr>
      <vt:lpstr>30” CASING CONDUCTOR MANUFACTURE PROCESS</vt:lpstr>
      <vt:lpstr>CASING MANUFACTURE PROCESS</vt:lpstr>
      <vt:lpstr>Ketebalan Pipa 30” Konduktor</vt:lpstr>
      <vt:lpstr>30” Cost Comparison </vt:lpstr>
      <vt:lpstr>30” Conductor Setting Depth</vt:lpstr>
      <vt:lpstr>Conductor Depth Illustration</vt:lpstr>
      <vt:lpstr>Conductor Depth Illustration</vt:lpstr>
      <vt:lpstr>Advantages to set Deeper 30” Conductor Depth</vt:lpstr>
      <vt:lpstr>WellPad Surface Location</vt:lpstr>
      <vt:lpstr>30” Conductor Depth</vt:lpstr>
      <vt:lpstr>Cellar Off Center and Rig Alignment</vt:lpstr>
      <vt:lpstr>Maximum Conductor - Rig Off Center</vt:lpstr>
      <vt:lpstr>Cellar Off Center and Rig Alignment</vt:lpstr>
      <vt:lpstr>Pre-Welded 2 Joints of 30” Conductors</vt:lpstr>
      <vt:lpstr>Persiapan Umum Sebelum Dimulainya Pengeboran</vt:lpstr>
      <vt:lpstr>WATER SUPPLY – 1300 GPM</vt:lpstr>
      <vt:lpstr>Water Supply</vt:lpstr>
      <vt:lpstr>WATER SUPPLY – 1300 GPM</vt:lpstr>
      <vt:lpstr>WATER SUPPLY – 1400 GPM</vt:lpstr>
      <vt:lpstr>Optimasi Desain Sumur Pengeboran</vt:lpstr>
      <vt:lpstr>Optimasi Desain Sumur Pengeboran</vt:lpstr>
      <vt:lpstr>Hence, Cost/MW increased with depth (more drilling cost with almost no increase in production gain).</vt:lpstr>
      <vt:lpstr>Pad XX Case Study (ABC 28 &amp; ABC 30)</vt:lpstr>
      <vt:lpstr>Optimasi Desain Sumur Pengeboran</vt:lpstr>
      <vt:lpstr>Well Design: STANDARD Hole OR BIG BORE Hole</vt:lpstr>
      <vt:lpstr>Ideal Well Design: Big Bore Casing Schematic, Dual String</vt:lpstr>
      <vt:lpstr>Well Design: INTERMEDIATE – PRODUCTION Hole Section with Contingency Plan</vt:lpstr>
      <vt:lpstr>Optimasi Desain Sumur Pengeboran</vt:lpstr>
      <vt:lpstr>CASING SPECIFICATION</vt:lpstr>
      <vt:lpstr>SEAMLESS VS ERW CASING</vt:lpstr>
      <vt:lpstr>Tipikal spesifikasi casing yang umum dipakai sumur Big Bore</vt:lpstr>
      <vt:lpstr>CASING CONNECTION</vt:lpstr>
      <vt:lpstr>BUTRESS vs QUICK Connection Thread</vt:lpstr>
      <vt:lpstr>20” Casing Thread List and Comparison</vt:lpstr>
      <vt:lpstr>13-3/8” Casing Design: Tie Back instead of Long String </vt:lpstr>
      <vt:lpstr>Casing Schematic</vt:lpstr>
      <vt:lpstr>Running Operation</vt:lpstr>
      <vt:lpstr>Running Operation – 13-3/8” Liner &amp; Tie Back</vt:lpstr>
      <vt:lpstr>Running Operation – 13-3/8” Tie Back Casing</vt:lpstr>
      <vt:lpstr>Risk Of Losses While Cementing</vt:lpstr>
      <vt:lpstr>Cement Quality in 20” X 13-3/8” Case Hole</vt:lpstr>
      <vt:lpstr>Remedial Cementing – Tie Back Design</vt:lpstr>
      <vt:lpstr>Remedial Cementing – Long String Design</vt:lpstr>
      <vt:lpstr>Remedial Cementing – Long String Design</vt:lpstr>
      <vt:lpstr>Wellhead &amp; MV Installation Comparison</vt:lpstr>
      <vt:lpstr>Rig Time Comparison</vt:lpstr>
      <vt:lpstr>Additional Cost Comparison</vt:lpstr>
      <vt:lpstr>Conclusion</vt:lpstr>
      <vt:lpstr>20” X 13-3/8” Liner Adapter and Guide Shoe Design</vt:lpstr>
      <vt:lpstr>20” X 13-3/8” Liner Adapter Design – Tie Back Receptacle Lenght</vt:lpstr>
      <vt:lpstr>20” X 13-3/8” Liner Adapter Design – Bore Receptacle Lenght</vt:lpstr>
      <vt:lpstr>Tie Back Cementing Bond Improvement</vt:lpstr>
      <vt:lpstr>Tie Back Cementing Bond Improvement</vt:lpstr>
      <vt:lpstr>Casing Configuration, Float Equipment and Guide Shoe Design</vt:lpstr>
      <vt:lpstr>Float Equipment and Guide Shoe Design</vt:lpstr>
      <vt:lpstr>Float Equipment and Guide Shoe Design</vt:lpstr>
      <vt:lpstr>Float Equipment and Guide Shoe Design</vt:lpstr>
      <vt:lpstr>Casing Procurement Strategy  Casing Unit: Feet (Meter) vs Joint Casing Size Grouping Casing Sources Casing Perforation</vt:lpstr>
      <vt:lpstr>Casing Pricing: Joint vs Feet</vt:lpstr>
      <vt:lpstr>CASING VENDOR SURVEY: Casing Size Grouping for Procurement</vt:lpstr>
      <vt:lpstr>CASING SOURCES - Casing from China </vt:lpstr>
      <vt:lpstr>CASING PRICE COMPARISON (2010)</vt:lpstr>
      <vt:lpstr>Perforated Casing Method: At Workshop</vt:lpstr>
      <vt:lpstr>Perforated Casing Method: At Rig Site</vt:lpstr>
      <vt:lpstr>Perforated Casing Method: At Workshop vs At Rig Site</vt:lpstr>
      <vt:lpstr>Optimasi Desain Sumur Pengeboran</vt:lpstr>
      <vt:lpstr>WELLHEAD for GEOTHERMAL WELL</vt:lpstr>
      <vt:lpstr> Landing Slip for 20” casing installation</vt:lpstr>
      <vt:lpstr> Landing Slip for 20” casing installation</vt:lpstr>
      <vt:lpstr>STARTING HEAD: 21-1/4” Housing Slip on Weld vs Slip Lock System</vt:lpstr>
      <vt:lpstr>Pre-Welded 13-5/8” Wellhead Housing</vt:lpstr>
      <vt:lpstr>Non Pre-Welded                 vs                    Pre-Welded 13-5/8” Wellhead Housing</vt:lpstr>
      <vt:lpstr>Non Pre-Welded                 vs                    Pre-Welded 13-5/8” Wellhead Housing</vt:lpstr>
      <vt:lpstr>Pre-Welded 13-5/8” Wellhead Housing</vt:lpstr>
      <vt:lpstr>PRE-WELDED WELLHEAD 13-3/8” Casing + 13-5/8” 3M Section A Wellhead</vt:lpstr>
      <vt:lpstr>Optimasi Desain Sumur Pengeboran</vt:lpstr>
      <vt:lpstr>DRILLING BIT SELECTION – CASE STUDY</vt:lpstr>
      <vt:lpstr>ROCK BIT KREV:  Single vs Double Bearing (premium)</vt:lpstr>
      <vt:lpstr>New Enhance Bit Type: Faster and Longer Run</vt:lpstr>
      <vt:lpstr>FuseTek Bit Series for Geothermal Drilling</vt:lpstr>
      <vt:lpstr>ReedHycalog – FuseTek Bit Series</vt:lpstr>
      <vt:lpstr>SMGP: Drilling time Saving – New technology Bit</vt:lpstr>
      <vt:lpstr>Optimasi Desain Sumur Pengeboran</vt:lpstr>
      <vt:lpstr>Mud Motor and MWD Size Selection</vt:lpstr>
      <vt:lpstr>Mud Motor and MWD Size Selection</vt:lpstr>
      <vt:lpstr>Directional BHA for 12-1/4” Production Hole Section – Typical Slant Section </vt:lpstr>
      <vt:lpstr>Hole Size vs Mud Motor and MWD Size Selection</vt:lpstr>
      <vt:lpstr>Mud Motor and MWD Size Selection</vt:lpstr>
      <vt:lpstr>Mud Motor and MWD Size Selection: 9-7/8” &amp; 7-7/8” Hole</vt:lpstr>
      <vt:lpstr>Hard Facing and Drill String Hard Banding</vt:lpstr>
      <vt:lpstr>HARDFACING FOR BLADES STABILIZER</vt:lpstr>
      <vt:lpstr>Hard Banding Durability vs. Casing Wear</vt:lpstr>
      <vt:lpstr>Deep Geothermal Well</vt:lpstr>
      <vt:lpstr>Drill Pipe Selection</vt:lpstr>
      <vt:lpstr>Drilling Torque On Bottom</vt:lpstr>
      <vt:lpstr>Drill Pipe Tensile Load</vt:lpstr>
      <vt:lpstr>Drill Pipe Selection</vt:lpstr>
      <vt:lpstr>OVER PULLED – at 3000 m-MD</vt:lpstr>
      <vt:lpstr>OVER PULLED – 3200 m-MD</vt:lpstr>
      <vt:lpstr>Drill Pipe Tension Yield</vt:lpstr>
      <vt:lpstr>Drill Pipe Selection</vt:lpstr>
      <vt:lpstr>Downhole Inspection Level</vt:lpstr>
      <vt:lpstr>Directional – MWD Pricing System: Conventional Renumeration Table</vt:lpstr>
      <vt:lpstr>Directional – MWD Pricing System: Lumpsum Per Day for Each Hole Section</vt:lpstr>
      <vt:lpstr>Directional – MWD Pricing System: Lumpsum Per Day for Each Hole Section</vt:lpstr>
      <vt:lpstr>Effesiensi Operasi Pengeboran</vt:lpstr>
      <vt:lpstr>26” and 17-1/2” Curing Losses</vt:lpstr>
      <vt:lpstr>Surface Losses</vt:lpstr>
      <vt:lpstr>Surface Losses – Cost Comparison</vt:lpstr>
      <vt:lpstr>Stuck Pipe Prevention</vt:lpstr>
      <vt:lpstr>Stuck Pipe Prevention</vt:lpstr>
      <vt:lpstr>Why Drilling Jars fail..?</vt:lpstr>
      <vt:lpstr>BHA STUDY: Jars Construction </vt:lpstr>
      <vt:lpstr>Drilling Jars Specification Comparison</vt:lpstr>
      <vt:lpstr>Pipe Recovery Method</vt:lpstr>
      <vt:lpstr>Pipe Recovery Type</vt:lpstr>
      <vt:lpstr>Pipe Recovery Type: Cost Impact</vt:lpstr>
      <vt:lpstr>Pipe Recovery Type: Cost Impact</vt:lpstr>
      <vt:lpstr>Workflow For Explosive Handling</vt:lpstr>
      <vt:lpstr>Strategi Pengadaan Barang dan Jasa Pemboran</vt:lpstr>
      <vt:lpstr>Procurement strategy for Drilling Material and Services</vt:lpstr>
      <vt:lpstr>COMPETITIVE BIDDING PROCESS</vt:lpstr>
      <vt:lpstr>Common Type of Drilling Procurement Method in Indonesia</vt:lpstr>
      <vt:lpstr>TYPE OF CONTRACT for Procuring Drilling Services </vt:lpstr>
      <vt:lpstr>Common in our mindset of Non DRILLER</vt:lpstr>
      <vt:lpstr>Why Drilling Procurement Method is critical?.</vt:lpstr>
      <vt:lpstr>Why Drilling Procurement Method is critical?.</vt:lpstr>
      <vt:lpstr>Drilling IPM (Integrated Project Management)</vt:lpstr>
      <vt:lpstr>Drilling Integrated Project Management</vt:lpstr>
      <vt:lpstr>IDS / IPM ADVANTAGES</vt:lpstr>
      <vt:lpstr>IPM Contractors Market Survey</vt:lpstr>
      <vt:lpstr>PowerPoint Presentation</vt:lpstr>
      <vt:lpstr>Drilling Project Time Table</vt:lpstr>
      <vt:lpstr>Company Expectation from IPM contracts Scheme</vt:lpstr>
      <vt:lpstr>Commercial Elements of IPM contracts</vt:lpstr>
      <vt:lpstr>How IPM Contractor to build best Pricing ?</vt:lpstr>
      <vt:lpstr>PowerPoint Presentation</vt:lpstr>
      <vt:lpstr>PowerPoint Presentation</vt:lpstr>
      <vt:lpstr>PowerPoint Presentation</vt:lpstr>
      <vt:lpstr>Strategi Metoda Pengadaan Discrete atau Bundle</vt:lpstr>
      <vt:lpstr>6. CONTRACT PRIORITY RANK - Delivery Time </vt:lpstr>
      <vt:lpstr>6.a. CONTRACT PRIORITY RANK</vt:lpstr>
      <vt:lpstr>PowerPoint Presentation</vt:lpstr>
      <vt:lpstr>MANAGING DRILLING CONTRACT </vt:lpstr>
      <vt:lpstr>CONTRACT OWNER Responsibilities: </vt:lpstr>
      <vt:lpstr>CONTRACT OWNER</vt:lpstr>
      <vt:lpstr>COMPETITIVE RENUMERATION TABLE</vt:lpstr>
      <vt:lpstr>Competitive Renumeration Table - Drilling Services</vt:lpstr>
      <vt:lpstr>Competitive Renumeration Table - Drilling Services</vt:lpstr>
      <vt:lpstr>Ringkasan Kontrak Drilling dan Pedoman Biaya Pemboran</vt:lpstr>
      <vt:lpstr>Kesimpulan dan Penutup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7  Habit of Effective People</dc:title>
  <dc:creator>Ashadi</dc:creator>
  <cp:keywords/>
  <cp:lastModifiedBy>yudi hartono</cp:lastModifiedBy>
  <cp:revision>480</cp:revision>
  <dcterms:created xsi:type="dcterms:W3CDTF">2018-09-09T09:06:16Z</dcterms:created>
  <dcterms:modified xsi:type="dcterms:W3CDTF">2026-10-17T01:49:35Z</dcterms:modified>
  <cp:version/>
</cp:coreProperties>
</file>