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301" r:id="rId4"/>
    <p:sldId id="315" r:id="rId5"/>
    <p:sldId id="327" r:id="rId6"/>
    <p:sldId id="328" r:id="rId7"/>
    <p:sldId id="306" r:id="rId8"/>
    <p:sldId id="303" r:id="rId9"/>
    <p:sldId id="308" r:id="rId10"/>
    <p:sldId id="266" r:id="rId11"/>
    <p:sldId id="296" r:id="rId12"/>
    <p:sldId id="270" r:id="rId13"/>
    <p:sldId id="307" r:id="rId14"/>
    <p:sldId id="310" r:id="rId15"/>
    <p:sldId id="311" r:id="rId16"/>
    <p:sldId id="298" r:id="rId17"/>
    <p:sldId id="297" r:id="rId18"/>
    <p:sldId id="299" r:id="rId19"/>
    <p:sldId id="300" r:id="rId20"/>
    <p:sldId id="302" r:id="rId21"/>
    <p:sldId id="325" r:id="rId22"/>
    <p:sldId id="309" r:id="rId23"/>
    <p:sldId id="316" r:id="rId24"/>
    <p:sldId id="317" r:id="rId25"/>
    <p:sldId id="319" r:id="rId26"/>
    <p:sldId id="314" r:id="rId27"/>
    <p:sldId id="320" r:id="rId28"/>
    <p:sldId id="321" r:id="rId29"/>
    <p:sldId id="323" r:id="rId30"/>
    <p:sldId id="322" r:id="rId31"/>
    <p:sldId id="324" r:id="rId32"/>
    <p:sldId id="318" r:id="rId33"/>
    <p:sldId id="326" r:id="rId34"/>
    <p:sldId id="304" r:id="rId35"/>
    <p:sldId id="329" r:id="rId36"/>
    <p:sldId id="305" r:id="rId37"/>
    <p:sldId id="312" r:id="rId38"/>
    <p:sldId id="313" r:id="rId39"/>
  </p:sldIdLst>
  <p:sldSz cx="12192000" cy="6858000"/>
  <p:notesSz cx="6858000" cy="9144000"/>
  <p:embeddedFontLst>
    <p:embeddedFont>
      <p:font typeface="Cambria" panose="02040503050406030204" pitchFamily="18" charset="0"/>
      <p:regular r:id="rId41"/>
      <p:bold r:id="rId42"/>
      <p:italic r:id="rId43"/>
      <p:boldItalic r:id="rId44"/>
    </p:embeddedFont>
    <p:embeddedFont>
      <p:font typeface="Play" panose="020B0604020202020204" charset="0"/>
      <p:regular r:id="rId45"/>
      <p:bold r:id="rId46"/>
    </p:embeddedFont>
    <p:embeddedFont>
      <p:font typeface="Quattrocento Sans" panose="020B0502050000020003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Cover" id="{BDA2A763-0BD8-480C-8FD2-815A92E4BE49}">
          <p14:sldIdLst>
            <p14:sldId id="256"/>
            <p14:sldId id="257"/>
            <p14:sldId id="301"/>
          </p14:sldIdLst>
        </p14:section>
        <p14:section name="1" id="{7B740498-5942-4088-B3D9-DDFAFAA0B282}">
          <p14:sldIdLst>
            <p14:sldId id="315"/>
            <p14:sldId id="327"/>
            <p14:sldId id="328"/>
          </p14:sldIdLst>
        </p14:section>
        <p14:section name="2" id="{201E95C1-1645-4894-AFCF-C7D7CA580D43}">
          <p14:sldIdLst>
            <p14:sldId id="306"/>
            <p14:sldId id="303"/>
          </p14:sldIdLst>
        </p14:section>
        <p14:section name="3" id="{29E5BEF4-199D-4BCC-88F7-FC5048B7E8B9}">
          <p14:sldIdLst>
            <p14:sldId id="308"/>
            <p14:sldId id="266"/>
            <p14:sldId id="296"/>
          </p14:sldIdLst>
        </p14:section>
        <p14:section name="4" id="{617DC885-E3AC-4DBD-88A2-8E872BA0F4D1}">
          <p14:sldIdLst>
            <p14:sldId id="270"/>
            <p14:sldId id="307"/>
            <p14:sldId id="310"/>
            <p14:sldId id="311"/>
          </p14:sldIdLst>
        </p14:section>
        <p14:section name="5" id="{DA8A3D11-9DE8-4BEB-B8EC-AFE476306567}">
          <p14:sldIdLst>
            <p14:sldId id="298"/>
            <p14:sldId id="297"/>
            <p14:sldId id="299"/>
            <p14:sldId id="300"/>
            <p14:sldId id="302"/>
          </p14:sldIdLst>
        </p14:section>
        <p14:section name="6" id="{91D4F8CD-67CE-485A-82A9-61D80564794C}">
          <p14:sldIdLst>
            <p14:sldId id="325"/>
            <p14:sldId id="309"/>
            <p14:sldId id="316"/>
          </p14:sldIdLst>
        </p14:section>
        <p14:section name="7" id="{44711DCA-F4A6-4D25-9D2E-BE768EEA0412}">
          <p14:sldIdLst>
            <p14:sldId id="317"/>
            <p14:sldId id="319"/>
            <p14:sldId id="314"/>
          </p14:sldIdLst>
        </p14:section>
        <p14:section name="8" id="{CCAE35B4-DC87-4A48-8F72-A428A8C68794}">
          <p14:sldIdLst>
            <p14:sldId id="320"/>
            <p14:sldId id="321"/>
            <p14:sldId id="323"/>
            <p14:sldId id="322"/>
          </p14:sldIdLst>
        </p14:section>
        <p14:section name="9" id="{60A0F6E4-6DB8-4CAD-9786-2074700CDC17}">
          <p14:sldIdLst>
            <p14:sldId id="324"/>
            <p14:sldId id="318"/>
            <p14:sldId id="326"/>
          </p14:sldIdLst>
        </p14:section>
        <p14:section name="Penutup" id="{6A5CFC97-DB29-438D-9CFD-49988F7B488C}">
          <p14:sldIdLst>
            <p14:sldId id="304"/>
          </p14:sldIdLst>
        </p14:section>
        <p14:section name="Revision" id="{58BE6DC3-5F95-4605-B649-CB3D0F16EFEC}">
          <p14:sldIdLst>
            <p14:sldId id="329"/>
          </p14:sldIdLst>
        </p14:section>
        <p14:section name="Supporting Slides" id="{9965C45B-3919-46AB-B6DA-29EEA36DD9EB}">
          <p14:sldIdLst>
            <p14:sldId id="305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jp9D+0yNhipUR2Pf7HbZBR242o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717EF0-EBA5-4AD1-A440-9D4246EC4173}" v="7" dt="2026-08-29T03:24:39.812"/>
  </p1510:revLst>
</p1510:revInfo>
</file>

<file path=ppt/tableStyles.xml><?xml version="1.0" encoding="utf-8"?>
<a:tblStyleLst xmlns:a="http://schemas.openxmlformats.org/drawingml/2006/main" def="{6BCC1849-8CA0-4801-B112-7BDA3C9239C5}">
  <a:tblStyle styleId="{6BCC1849-8CA0-4801-B112-7BDA3C9239C5}" styleName="Table_0">
    <a:wholeTbl>
      <a:tcTxStyle b="off" i="off">
        <a:font>
          <a:latin typeface="Aptos"/>
          <a:ea typeface="Aptos"/>
          <a:cs typeface="Aptos"/>
        </a:font>
        <a:schemeClr val="lt1"/>
      </a:tcTxStyle>
      <a:tcStyle>
        <a:tcBdr>
          <a:left>
            <a:ln w="9525" cap="flat" cmpd="sng">
              <a:solidFill>
                <a:srgbClr val="BAC4CC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BAC4CC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BAC4CC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BAC4CC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</a:tcBdr>
      </a:tcStyle>
    </a:lastCol>
    <a:firstCol>
      <a:tcTxStyle b="on" i="off"/>
      <a:tcStyle>
        <a:tcBdr>
          <a:right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firstCol>
    <a:lastRow>
      <a:tcTxStyle b="on" i="off"/>
      <a:tcStyle>
        <a:tcBdr>
          <a:top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seCell>
    <a:swCell>
      <a:tcTxStyle/>
      <a:tcStyle>
        <a:tcBdr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swCell>
    <a:firstRow>
      <a:tcTxStyle b="on" i="off"/>
      <a:tcStyle>
        <a:tcBdr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neCell>
    <a:nwCell>
      <a:tcTxStyle/>
      <a:tcStyle>
        <a:tcBdr/>
      </a:tcStyle>
    </a:nwCell>
  </a:tblStyle>
  <a:tblStyle styleId="{891155F4-7167-400F-A9EB-1B299D4651A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68E536C-3B86-482E-AF28-2FEE06D51694}" styleName="Table_2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58" autoAdjust="0"/>
    <p:restoredTop sz="96323" autoAdjust="0"/>
  </p:normalViewPr>
  <p:slideViewPr>
    <p:cSldViewPr snapToGrid="0">
      <p:cViewPr>
        <p:scale>
          <a:sx n="66" d="100"/>
          <a:sy n="66" d="100"/>
        </p:scale>
        <p:origin x="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6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HAMMAM REZA" userId="6f12bb17-f50d-4a66-af65-c2edb74213f0" providerId="ADAL" clId="{DE1C7D37-0B55-4D8C-A231-D9E21C179BD4}"/>
    <pc:docChg chg="undo redo custSel addSld delSld modSld sldOrd addSection modSection">
      <pc:chgData name="MUHAMMAD HAMMAM REZA" userId="6f12bb17-f50d-4a66-af65-c2edb74213f0" providerId="ADAL" clId="{DE1C7D37-0B55-4D8C-A231-D9E21C179BD4}" dt="2026-08-29T03:34:26.227" v="78" actId="14100"/>
      <pc:docMkLst>
        <pc:docMk/>
      </pc:docMkLst>
      <pc:sldChg chg="addSp modSp mod modAnim">
        <pc:chgData name="MUHAMMAD HAMMAM REZA" userId="6f12bb17-f50d-4a66-af65-c2edb74213f0" providerId="ADAL" clId="{DE1C7D37-0B55-4D8C-A231-D9E21C179BD4}" dt="2026-08-29T02:58:02.123" v="26" actId="1076"/>
        <pc:sldMkLst>
          <pc:docMk/>
          <pc:sldMk cId="3996164061" sldId="299"/>
        </pc:sldMkLst>
        <pc:picChg chg="add mod">
          <ac:chgData name="MUHAMMAD HAMMAM REZA" userId="6f12bb17-f50d-4a66-af65-c2edb74213f0" providerId="ADAL" clId="{DE1C7D37-0B55-4D8C-A231-D9E21C179BD4}" dt="2026-08-29T02:58:02.123" v="26" actId="1076"/>
          <ac:picMkLst>
            <pc:docMk/>
            <pc:sldMk cId="3996164061" sldId="299"/>
            <ac:picMk id="3" creationId="{2B122D78-C876-8DF6-0117-83C39A8D6E2E}"/>
          </ac:picMkLst>
        </pc:picChg>
      </pc:sldChg>
      <pc:sldChg chg="ord">
        <pc:chgData name="MUHAMMAD HAMMAM REZA" userId="6f12bb17-f50d-4a66-af65-c2edb74213f0" providerId="ADAL" clId="{DE1C7D37-0B55-4D8C-A231-D9E21C179BD4}" dt="2026-08-29T03:33:26.597" v="70"/>
        <pc:sldMkLst>
          <pc:docMk/>
          <pc:sldMk cId="146763807" sldId="305"/>
        </pc:sldMkLst>
      </pc:sldChg>
      <pc:sldChg chg="modSp mod">
        <pc:chgData name="MUHAMMAD HAMMAM REZA" userId="6f12bb17-f50d-4a66-af65-c2edb74213f0" providerId="ADAL" clId="{DE1C7D37-0B55-4D8C-A231-D9E21C179BD4}" dt="2026-08-29T02:41:11.482" v="24" actId="403"/>
        <pc:sldMkLst>
          <pc:docMk/>
          <pc:sldMk cId="2331498376" sldId="309"/>
        </pc:sldMkLst>
        <pc:spChg chg="mod">
          <ac:chgData name="MUHAMMAD HAMMAM REZA" userId="6f12bb17-f50d-4a66-af65-c2edb74213f0" providerId="ADAL" clId="{DE1C7D37-0B55-4D8C-A231-D9E21C179BD4}" dt="2026-08-29T02:41:11.482" v="24" actId="403"/>
          <ac:spMkLst>
            <pc:docMk/>
            <pc:sldMk cId="2331498376" sldId="309"/>
            <ac:spMk id="297" creationId="{0E3BB1B9-D5A3-F2F5-8293-72990A071633}"/>
          </ac:spMkLst>
        </pc:spChg>
      </pc:sldChg>
      <pc:sldChg chg="ord">
        <pc:chgData name="MUHAMMAD HAMMAM REZA" userId="6f12bb17-f50d-4a66-af65-c2edb74213f0" providerId="ADAL" clId="{DE1C7D37-0B55-4D8C-A231-D9E21C179BD4}" dt="2026-08-29T03:33:26.597" v="70"/>
        <pc:sldMkLst>
          <pc:docMk/>
          <pc:sldMk cId="3935251545" sldId="312"/>
        </pc:sldMkLst>
      </pc:sldChg>
      <pc:sldChg chg="ord">
        <pc:chgData name="MUHAMMAD HAMMAM REZA" userId="6f12bb17-f50d-4a66-af65-c2edb74213f0" providerId="ADAL" clId="{DE1C7D37-0B55-4D8C-A231-D9E21C179BD4}" dt="2026-08-29T03:33:26.597" v="70"/>
        <pc:sldMkLst>
          <pc:docMk/>
          <pc:sldMk cId="2304017585" sldId="313"/>
        </pc:sldMkLst>
      </pc:sldChg>
      <pc:sldChg chg="modSp mod">
        <pc:chgData name="MUHAMMAD HAMMAM REZA" userId="6f12bb17-f50d-4a66-af65-c2edb74213f0" providerId="ADAL" clId="{DE1C7D37-0B55-4D8C-A231-D9E21C179BD4}" dt="2026-08-29T03:34:26.227" v="78" actId="14100"/>
        <pc:sldMkLst>
          <pc:docMk/>
          <pc:sldMk cId="0" sldId="327"/>
        </pc:sldMkLst>
        <pc:spChg chg="mod">
          <ac:chgData name="MUHAMMAD HAMMAM REZA" userId="6f12bb17-f50d-4a66-af65-c2edb74213f0" providerId="ADAL" clId="{DE1C7D37-0B55-4D8C-A231-D9E21C179BD4}" dt="2026-08-29T03:34:26.227" v="78" actId="14100"/>
          <ac:spMkLst>
            <pc:docMk/>
            <pc:sldMk cId="0" sldId="327"/>
            <ac:spMk id="1019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8-29T00:11:36.237" v="13" actId="20577"/>
          <ac:spMkLst>
            <pc:docMk/>
            <pc:sldMk cId="0" sldId="327"/>
            <ac:spMk id="1039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8-29T00:11:55.563" v="14" actId="14100"/>
          <ac:spMkLst>
            <pc:docMk/>
            <pc:sldMk cId="0" sldId="327"/>
            <ac:spMk id="1049" creationId="{00000000-0000-0000-0000-000000000000}"/>
          </ac:spMkLst>
        </pc:spChg>
      </pc:sldChg>
      <pc:sldChg chg="delSp modSp mod">
        <pc:chgData name="MUHAMMAD HAMMAM REZA" userId="6f12bb17-f50d-4a66-af65-c2edb74213f0" providerId="ADAL" clId="{DE1C7D37-0B55-4D8C-A231-D9E21C179BD4}" dt="2026-08-29T00:09:43.384" v="6" actId="14100"/>
        <pc:sldMkLst>
          <pc:docMk/>
          <pc:sldMk cId="0" sldId="328"/>
        </pc:sldMkLst>
        <pc:spChg chg="mod">
          <ac:chgData name="MUHAMMAD HAMMAM REZA" userId="6f12bb17-f50d-4a66-af65-c2edb74213f0" providerId="ADAL" clId="{DE1C7D37-0B55-4D8C-A231-D9E21C179BD4}" dt="2026-08-29T00:09:43.384" v="6" actId="14100"/>
          <ac:spMkLst>
            <pc:docMk/>
            <pc:sldMk cId="0" sldId="328"/>
            <ac:spMk id="1077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8-29T00:09:36.464" v="4" actId="14100"/>
          <ac:spMkLst>
            <pc:docMk/>
            <pc:sldMk cId="0" sldId="328"/>
            <ac:spMk id="1081" creationId="{00000000-0000-0000-0000-000000000000}"/>
          </ac:spMkLst>
        </pc:spChg>
        <pc:spChg chg="mod">
          <ac:chgData name="MUHAMMAD HAMMAM REZA" userId="6f12bb17-f50d-4a66-af65-c2edb74213f0" providerId="ADAL" clId="{DE1C7D37-0B55-4D8C-A231-D9E21C179BD4}" dt="2026-08-29T00:09:39.907" v="5" actId="14100"/>
          <ac:spMkLst>
            <pc:docMk/>
            <pc:sldMk cId="0" sldId="328"/>
            <ac:spMk id="1083" creationId="{00000000-0000-0000-0000-000000000000}"/>
          </ac:spMkLst>
        </pc:spChg>
        <pc:spChg chg="del mod">
          <ac:chgData name="MUHAMMAD HAMMAM REZA" userId="6f12bb17-f50d-4a66-af65-c2edb74213f0" providerId="ADAL" clId="{DE1C7D37-0B55-4D8C-A231-D9E21C179BD4}" dt="2026-08-29T00:09:26.245" v="1" actId="478"/>
          <ac:spMkLst>
            <pc:docMk/>
            <pc:sldMk cId="0" sldId="328"/>
            <ac:spMk id="1085" creationId="{00000000-0000-0000-0000-000000000000}"/>
          </ac:spMkLst>
        </pc:spChg>
      </pc:sldChg>
      <pc:sldChg chg="addSp delSp modSp new add del mod ord">
        <pc:chgData name="MUHAMMAD HAMMAM REZA" userId="6f12bb17-f50d-4a66-af65-c2edb74213f0" providerId="ADAL" clId="{DE1C7D37-0B55-4D8C-A231-D9E21C179BD4}" dt="2026-08-29T03:33:28.455" v="72"/>
        <pc:sldMkLst>
          <pc:docMk/>
          <pc:sldMk cId="3530553871" sldId="329"/>
        </pc:sldMkLst>
        <pc:spChg chg="add">
          <ac:chgData name="MUHAMMAD HAMMAM REZA" userId="6f12bb17-f50d-4a66-af65-c2edb74213f0" providerId="ADAL" clId="{DE1C7D37-0B55-4D8C-A231-D9E21C179BD4}" dt="2026-08-29T03:23:32.599" v="29"/>
          <ac:spMkLst>
            <pc:docMk/>
            <pc:sldMk cId="3530553871" sldId="329"/>
            <ac:spMk id="5" creationId="{B40D24CC-B31C-FC23-B72E-DEC345A3F66F}"/>
          </ac:spMkLst>
        </pc:spChg>
        <pc:spChg chg="add mod">
          <ac:chgData name="MUHAMMAD HAMMAM REZA" userId="6f12bb17-f50d-4a66-af65-c2edb74213f0" providerId="ADAL" clId="{DE1C7D37-0B55-4D8C-A231-D9E21C179BD4}" dt="2026-08-29T03:25:09.490" v="58" actId="1076"/>
          <ac:spMkLst>
            <pc:docMk/>
            <pc:sldMk cId="3530553871" sldId="329"/>
            <ac:spMk id="7" creationId="{8F0CA398-25A7-1D1C-3CC3-22FDA4F7DAB9}"/>
          </ac:spMkLst>
        </pc:spChg>
        <pc:graphicFrameChg chg="add del mod modGraphic">
          <ac:chgData name="MUHAMMAD HAMMAM REZA" userId="6f12bb17-f50d-4a66-af65-c2edb74213f0" providerId="ADAL" clId="{DE1C7D37-0B55-4D8C-A231-D9E21C179BD4}" dt="2026-08-29T03:24:09.407" v="39" actId="478"/>
          <ac:graphicFrameMkLst>
            <pc:docMk/>
            <pc:sldMk cId="3530553871" sldId="329"/>
            <ac:graphicFrameMk id="3" creationId="{72044441-FBD6-A83A-031D-0D3FC6135FE7}"/>
          </ac:graphicFrameMkLst>
        </pc:graphicFrameChg>
        <pc:graphicFrameChg chg="add mod">
          <ac:chgData name="MUHAMMAD HAMMAM REZA" userId="6f12bb17-f50d-4a66-af65-c2edb74213f0" providerId="ADAL" clId="{DE1C7D37-0B55-4D8C-A231-D9E21C179BD4}" dt="2026-08-29T03:24:36.442" v="42"/>
          <ac:graphicFrameMkLst>
            <pc:docMk/>
            <pc:sldMk cId="3530553871" sldId="329"/>
            <ac:graphicFrameMk id="8" creationId="{2FD6B5AB-D4F5-0E2D-4702-9EC2DC53349D}"/>
          </ac:graphicFrameMkLst>
        </pc:graphicFrameChg>
        <pc:graphicFrameChg chg="add mod modGraphic">
          <ac:chgData name="MUHAMMAD HAMMAM REZA" userId="6f12bb17-f50d-4a66-af65-c2edb74213f0" providerId="ADAL" clId="{DE1C7D37-0B55-4D8C-A231-D9E21C179BD4}" dt="2026-08-29T03:25:15.142" v="61" actId="403"/>
          <ac:graphicFrameMkLst>
            <pc:docMk/>
            <pc:sldMk cId="3530553871" sldId="329"/>
            <ac:graphicFrameMk id="9" creationId="{B82A5822-6CF8-7E1D-306D-C00648EADC8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2EE87252-6C73-769D-1BF6-405C200E2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E8F5BC39-0148-CB2E-8F71-36513D687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08DB61D9-2530-3B34-5C1B-6C708D952D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39300F0F-DD26-681D-B2EC-4DCD0797CA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6709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B5E6AD8C-8D44-F731-D41E-2871DDE95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>
            <a:extLst>
              <a:ext uri="{FF2B5EF4-FFF2-40B4-BE49-F238E27FC236}">
                <a16:creationId xmlns:a16="http://schemas.microsoft.com/office/drawing/2014/main" id="{73CB2E7A-C722-320B-B7D6-19BA8672A4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:notes">
            <a:extLst>
              <a:ext uri="{FF2B5EF4-FFF2-40B4-BE49-F238E27FC236}">
                <a16:creationId xmlns:a16="http://schemas.microsoft.com/office/drawing/2014/main" id="{338CAF1D-9850-1EC9-AC61-AF4AA32DEA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1590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588F957-9933-B0B1-2579-8BE149FB5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>
            <a:extLst>
              <a:ext uri="{FF2B5EF4-FFF2-40B4-BE49-F238E27FC236}">
                <a16:creationId xmlns:a16="http://schemas.microsoft.com/office/drawing/2014/main" id="{0DE74393-8AA2-6043-3953-B2E683446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:notes">
            <a:extLst>
              <a:ext uri="{FF2B5EF4-FFF2-40B4-BE49-F238E27FC236}">
                <a16:creationId xmlns:a16="http://schemas.microsoft.com/office/drawing/2014/main" id="{F69BCB01-0D10-7911-1D20-1096823B3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0486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3EF8C5FE-DEE9-CA7F-800F-13ADE4F62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EA74ED23-80E8-B8A5-92FD-4F0EA96E1D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5594A24B-DCA1-51A3-DB74-9D7C06247F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BA3F7316-D22F-25CC-8028-CF9A7131D2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7090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039280A-DF1F-D756-F3D0-78F3B637B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>
            <a:extLst>
              <a:ext uri="{FF2B5EF4-FFF2-40B4-BE49-F238E27FC236}">
                <a16:creationId xmlns:a16="http://schemas.microsoft.com/office/drawing/2014/main" id="{5C2C155E-2E3A-A627-302D-EDF5E2F79F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:notes">
            <a:extLst>
              <a:ext uri="{FF2B5EF4-FFF2-40B4-BE49-F238E27FC236}">
                <a16:creationId xmlns:a16="http://schemas.microsoft.com/office/drawing/2014/main" id="{65DEE433-5E3D-C9F9-B3B7-B1ECA77B4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5084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F3052A9F-3F71-5EA7-1F8F-0F922E0B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411C61A0-CC13-3D74-93E7-5670EE40E0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5F8DBB57-881C-5A5C-0699-401CDC9F3B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FE80228F-7610-69DF-80D8-FB2AFA3210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2352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F80E9612-5D8C-2751-5EB2-412360C5D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FB988963-EFD4-E824-4DE4-27F8D16B0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9F60C451-319C-878F-508E-425CCF3BB2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2FFEEC0E-AB81-AA5D-3970-A99C687DA7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05517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874AAD9D-F133-964C-070C-6964F92C1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7D4CDE81-3729-23E8-BC22-F0D888853F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CB6FA016-96CD-6497-4C27-ED78117300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3B4591D5-7842-CF8D-6BF6-929EFEF322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2116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D9676743-E713-5EBB-1175-08BCF5D2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9D3666A7-5CE9-3265-0EAB-CF0340BA76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E0FEB47F-FE5F-EBB0-A7DC-CC89AB3AA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CAC6E2B9-C7CF-AEC8-1E7E-BC45BCA0DC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6683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AEFBCCD-0838-3F55-D5BC-E2E19D80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>
            <a:extLst>
              <a:ext uri="{FF2B5EF4-FFF2-40B4-BE49-F238E27FC236}">
                <a16:creationId xmlns:a16="http://schemas.microsoft.com/office/drawing/2014/main" id="{9CA1E698-6FAC-E201-5F64-010CF5DC33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:notes">
            <a:extLst>
              <a:ext uri="{FF2B5EF4-FFF2-40B4-BE49-F238E27FC236}">
                <a16:creationId xmlns:a16="http://schemas.microsoft.com/office/drawing/2014/main" id="{AE3C5765-BE1E-9EFE-F3A2-D9526C60A4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9820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BF9E41DE-39A6-C2FF-E4A2-851F676D1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16D2C44B-AB08-605E-B82B-13C19DD63F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0E08CBBE-204F-63C5-433B-D4A186C76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D6D5B340-BCC6-853E-D7CD-08EA2B5A2F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01239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C8411075-D256-E6BB-79A0-5C34B5CA9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76B09DA3-A9DB-D7F9-AE37-A21774CB8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FBF6FC66-0D67-FF2B-95F3-AD7A567568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957AE680-9C65-4195-326F-0B2C063DF9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8264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F8395B16-2A5A-6862-1886-5DB0FE47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76526C2D-6811-1CED-35BB-3AD8A63772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BFCD98B2-BE02-68DF-94B6-A8EA00A84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C79644D9-E89A-0329-D9B1-1EA4FB9F24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25602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4E232A3A-2492-6639-378F-994FC4B45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66786410-7E61-EF1F-A1DA-018A793A7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58DCEEC6-E0A9-A701-02F6-F8C5A4850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CEC932DC-58F5-F41C-B42D-B26B819D0E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96790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B4EB1D17-7958-5372-C19E-C96E0C9F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>
            <a:extLst>
              <a:ext uri="{FF2B5EF4-FFF2-40B4-BE49-F238E27FC236}">
                <a16:creationId xmlns:a16="http://schemas.microsoft.com/office/drawing/2014/main" id="{EBFEAB90-56B7-9502-3EAD-415B6A9529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:notes">
            <a:extLst>
              <a:ext uri="{FF2B5EF4-FFF2-40B4-BE49-F238E27FC236}">
                <a16:creationId xmlns:a16="http://schemas.microsoft.com/office/drawing/2014/main" id="{66AA005F-2883-B581-5959-2E0BD3F9BD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63624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27B442D8-60D7-A0AF-46D6-7B703F30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84A0660C-9BA8-7D42-8536-FA149EF22B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33C69C58-9FDA-E4A1-360F-BAC810ACD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41576D0E-9B68-3E8D-1C37-A4C3ED3E9D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80039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E1F034D1-83BD-8F93-7306-C2E3512B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B9E9216C-C5FE-68CD-C246-77E51EE3F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73090EB0-88FC-9F18-7BCB-9D1343615C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B2BB2E7B-D4E7-2825-6911-4ED09C0EC4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68580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5407A5DE-D4B8-2D7E-CBA6-16BDBEFF1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>
            <a:extLst>
              <a:ext uri="{FF2B5EF4-FFF2-40B4-BE49-F238E27FC236}">
                <a16:creationId xmlns:a16="http://schemas.microsoft.com/office/drawing/2014/main" id="{5B9E027B-247C-CDEB-05A0-F004F4BA9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:notes">
            <a:extLst>
              <a:ext uri="{FF2B5EF4-FFF2-40B4-BE49-F238E27FC236}">
                <a16:creationId xmlns:a16="http://schemas.microsoft.com/office/drawing/2014/main" id="{74C5A444-E568-503A-2791-35D95CF3B5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66559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E11CCFCA-08B1-DDC2-C53B-7011BDAF4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15002242-E980-4AC1-DBC7-7F9F3B4E65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804E2B3E-12AD-81FB-4D9E-1B1409AECC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441E6DEF-5E0E-D87B-14F8-718192FFC5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76931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4A534726-9CBB-B2D0-7C1D-3AC424C4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89A6B8A2-D74E-2A3C-8AAF-D9708CD498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67975706-7A79-1396-DC09-93EE0D48F1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EC5AFFF5-F20C-8DA3-19B3-92677BE7D8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9745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E3A00ACC-88BF-8A2A-0065-0FD14AEE8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>
            <a:extLst>
              <a:ext uri="{FF2B5EF4-FFF2-40B4-BE49-F238E27FC236}">
                <a16:creationId xmlns:a16="http://schemas.microsoft.com/office/drawing/2014/main" id="{EAE37EE1-8454-5069-F4C9-9C89C2284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:notes">
            <a:extLst>
              <a:ext uri="{FF2B5EF4-FFF2-40B4-BE49-F238E27FC236}">
                <a16:creationId xmlns:a16="http://schemas.microsoft.com/office/drawing/2014/main" id="{4C72641C-E10B-FA06-8B77-323481F9B6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36865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00D1FC10-8486-C638-9CE5-9921FB2DD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C04BA481-866B-8029-BE6E-125D0CB527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3FBF0C2B-1FDA-1FEF-4FA1-4C74891F8B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9E494B5D-7424-8095-A134-99809B12EE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3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8F94481C-9BD7-E15F-70FD-FF4A5A11F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B327B8C4-CD05-9B94-5C9D-D2CB07EBF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5F107A07-4AA3-3DB7-5EB8-4E310BA435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F2A6EB8A-DB47-B627-654D-F710AA3319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64299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756F5F71-D00E-0B11-2595-4891DD63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B0633684-2BF5-2129-2993-5D1C9B6E5D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6A5DA3AF-B33A-CB9C-B942-7F8DB9CE6B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CCB4A71B-645A-B809-A1E4-3965C8BE0A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21586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70594A4D-42CF-A503-91C0-2AF867D2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>
            <a:extLst>
              <a:ext uri="{FF2B5EF4-FFF2-40B4-BE49-F238E27FC236}">
                <a16:creationId xmlns:a16="http://schemas.microsoft.com/office/drawing/2014/main" id="{94450EA9-FDFF-5C30-230A-4D88701AE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:notes">
            <a:extLst>
              <a:ext uri="{FF2B5EF4-FFF2-40B4-BE49-F238E27FC236}">
                <a16:creationId xmlns:a16="http://schemas.microsoft.com/office/drawing/2014/main" id="{B46A6241-5517-11CC-7ADA-20997FA81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56476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54CA2DBD-DFDE-5608-692D-9C0F080FC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4FDB47C3-3359-5339-7F47-85218E9FB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4B1E268C-BA1B-F39A-8E62-3E551215B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85AC08CE-CF40-3C15-FD72-CA165504A7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66481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F71E588D-8AE6-56D7-9B15-F4BEF885C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3B2FBE14-B028-DC7B-1FDB-0905CFD20B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AD4DAC7F-8312-BB39-21A3-D0744B92A9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24049969-5676-9147-58C6-C539225418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29128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7C91053-5D62-3C14-D430-3B2AA080A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4D1E4BF5-BE41-5463-CD2D-1644556714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88D77B6A-BA0E-D340-9CFA-7D55DC637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03684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4B980708-1D1E-E85F-B18E-56BC8E76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A0B018A8-2873-BEEE-2521-BE05CAA2C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5CC530FB-9C81-3A8D-F215-1E482036F1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C8960ABB-3CEB-97DD-098D-169B12320E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6914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463DAE8B-FB3E-811D-E33D-E1716D70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E153C6BF-C95E-2B11-3CCD-B24867C590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1423987D-F827-B392-D7E7-DEB4D49796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95E0F602-E720-C1C0-D140-C4443FB616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74614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CB9D7EC0-4DD0-8ED5-5431-0754165F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>
            <a:extLst>
              <a:ext uri="{FF2B5EF4-FFF2-40B4-BE49-F238E27FC236}">
                <a16:creationId xmlns:a16="http://schemas.microsoft.com/office/drawing/2014/main" id="{BEE06798-0B09-33FF-BB47-564967298A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1:notes">
            <a:extLst>
              <a:ext uri="{FF2B5EF4-FFF2-40B4-BE49-F238E27FC236}">
                <a16:creationId xmlns:a16="http://schemas.microsoft.com/office/drawing/2014/main" id="{ACDE80AD-8D8A-6F96-A00B-A4ABCC2A2E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>
            <a:extLst>
              <a:ext uri="{FF2B5EF4-FFF2-40B4-BE49-F238E27FC236}">
                <a16:creationId xmlns:a16="http://schemas.microsoft.com/office/drawing/2014/main" id="{295F1FF1-93F2-1DBD-40FE-95B2365F29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943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" name="Google Shape;300;p11">
            <a:extLst>
              <a:ext uri="{FF2B5EF4-FFF2-40B4-BE49-F238E27FC236}">
                <a16:creationId xmlns:a16="http://schemas.microsoft.com/office/drawing/2014/main" id="{68143381-496D-BB43-5D4E-2253E3FE8BC2}"/>
              </a:ext>
            </a:extLst>
          </p:cNvPr>
          <p:cNvSpPr/>
          <p:nvPr userDrawn="1"/>
        </p:nvSpPr>
        <p:spPr>
          <a:xfrm flipH="1">
            <a:off x="9891379" y="5574840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 extrusionOk="0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5513B-C1EA-CCB4-3D2A-74CAC1380B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FD0BC-2DED-2FB9-E7B8-9B7E44417B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E96511-162B-1FF4-C2A5-4E07AC3238F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68000" y="6356349"/>
            <a:ext cx="13716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300;p11">
            <a:extLst>
              <a:ext uri="{FF2B5EF4-FFF2-40B4-BE49-F238E27FC236}">
                <a16:creationId xmlns:a16="http://schemas.microsoft.com/office/drawing/2014/main" id="{55673C83-8354-031A-CCDE-CDF9FC70D72C}"/>
              </a:ext>
            </a:extLst>
          </p:cNvPr>
          <p:cNvSpPr/>
          <p:nvPr userDrawn="1"/>
        </p:nvSpPr>
        <p:spPr>
          <a:xfrm flipH="1">
            <a:off x="9891379" y="5574840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 extrusionOk="0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840874-90B4-3684-0F9B-023780D348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68000" y="6356349"/>
            <a:ext cx="13716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300;p11">
            <a:extLst>
              <a:ext uri="{FF2B5EF4-FFF2-40B4-BE49-F238E27FC236}">
                <a16:creationId xmlns:a16="http://schemas.microsoft.com/office/drawing/2014/main" id="{29950AB9-739F-22C0-7300-EDC750AAE723}"/>
              </a:ext>
            </a:extLst>
          </p:cNvPr>
          <p:cNvSpPr/>
          <p:nvPr userDrawn="1"/>
        </p:nvSpPr>
        <p:spPr>
          <a:xfrm flipH="1">
            <a:off x="9891379" y="5574840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 extrusionOk="0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DF61386-A909-F6F2-A2DF-755215D419C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68000" y="6356349"/>
            <a:ext cx="13716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300;p11">
            <a:extLst>
              <a:ext uri="{FF2B5EF4-FFF2-40B4-BE49-F238E27FC236}">
                <a16:creationId xmlns:a16="http://schemas.microsoft.com/office/drawing/2014/main" id="{1D68E66E-6C91-EAAE-0AF7-73A608FA7AE8}"/>
              </a:ext>
            </a:extLst>
          </p:cNvPr>
          <p:cNvSpPr/>
          <p:nvPr userDrawn="1"/>
        </p:nvSpPr>
        <p:spPr>
          <a:xfrm flipH="1">
            <a:off x="9891379" y="5574840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 extrusionOk="0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73ED9C7-FFFB-E6ED-9AB6-9DC4CB51FCB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68000" y="6356349"/>
            <a:ext cx="13716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300;p11">
            <a:extLst>
              <a:ext uri="{FF2B5EF4-FFF2-40B4-BE49-F238E27FC236}">
                <a16:creationId xmlns:a16="http://schemas.microsoft.com/office/drawing/2014/main" id="{126E4FBB-6FE7-DB01-3FC9-719234B5C4C0}"/>
              </a:ext>
            </a:extLst>
          </p:cNvPr>
          <p:cNvSpPr/>
          <p:nvPr userDrawn="1"/>
        </p:nvSpPr>
        <p:spPr>
          <a:xfrm flipH="1">
            <a:off x="9891379" y="5574840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 extrusionOk="0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0A225AF-848F-816D-9D36-7DFCA8FA68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68000" y="6356349"/>
            <a:ext cx="13716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300;p11">
            <a:extLst>
              <a:ext uri="{FF2B5EF4-FFF2-40B4-BE49-F238E27FC236}">
                <a16:creationId xmlns:a16="http://schemas.microsoft.com/office/drawing/2014/main" id="{A2E9F0B4-DDC4-F2B7-E296-A28291CBADEC}"/>
              </a:ext>
            </a:extLst>
          </p:cNvPr>
          <p:cNvSpPr/>
          <p:nvPr userDrawn="1"/>
        </p:nvSpPr>
        <p:spPr>
          <a:xfrm flipH="1">
            <a:off x="9891379" y="5574840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 extrusionOk="0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E00FF6-A963-0E77-90DC-1F8204A6EF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68000" y="6356349"/>
            <a:ext cx="13716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300;p11">
            <a:extLst>
              <a:ext uri="{FF2B5EF4-FFF2-40B4-BE49-F238E27FC236}">
                <a16:creationId xmlns:a16="http://schemas.microsoft.com/office/drawing/2014/main" id="{049B2345-1A24-24D3-9D90-84E05B302D10}"/>
              </a:ext>
            </a:extLst>
          </p:cNvPr>
          <p:cNvSpPr/>
          <p:nvPr userDrawn="1"/>
        </p:nvSpPr>
        <p:spPr>
          <a:xfrm flipH="1">
            <a:off x="9891379" y="5574840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 extrusionOk="0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5797BB9-DE5B-AF17-1D5B-3A4FF592FF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68000" y="6356349"/>
            <a:ext cx="13716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300;p11">
            <a:extLst>
              <a:ext uri="{FF2B5EF4-FFF2-40B4-BE49-F238E27FC236}">
                <a16:creationId xmlns:a16="http://schemas.microsoft.com/office/drawing/2014/main" id="{9512679B-9D04-AA81-CA83-C207A2A3E75D}"/>
              </a:ext>
            </a:extLst>
          </p:cNvPr>
          <p:cNvSpPr/>
          <p:nvPr userDrawn="1"/>
        </p:nvSpPr>
        <p:spPr>
          <a:xfrm flipH="1">
            <a:off x="9891379" y="5574840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 extrusionOk="0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5DEAB40-1237-2195-29FE-C4C3F3F3C7A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68000" y="6356349"/>
            <a:ext cx="13716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300;p11">
            <a:extLst>
              <a:ext uri="{FF2B5EF4-FFF2-40B4-BE49-F238E27FC236}">
                <a16:creationId xmlns:a16="http://schemas.microsoft.com/office/drawing/2014/main" id="{E4500008-AF81-6A71-D8AC-162CA5675869}"/>
              </a:ext>
            </a:extLst>
          </p:cNvPr>
          <p:cNvSpPr/>
          <p:nvPr userDrawn="1"/>
        </p:nvSpPr>
        <p:spPr>
          <a:xfrm flipH="1">
            <a:off x="9891379" y="5574840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 extrusionOk="0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92AA1EE-F54E-2A7E-5EF4-FF39E321FAD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68000" y="6356349"/>
            <a:ext cx="13716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300;p11">
            <a:extLst>
              <a:ext uri="{FF2B5EF4-FFF2-40B4-BE49-F238E27FC236}">
                <a16:creationId xmlns:a16="http://schemas.microsoft.com/office/drawing/2014/main" id="{FBCADA52-3B25-66F5-E017-13631C901EBA}"/>
              </a:ext>
            </a:extLst>
          </p:cNvPr>
          <p:cNvSpPr/>
          <p:nvPr userDrawn="1"/>
        </p:nvSpPr>
        <p:spPr>
          <a:xfrm flipH="1">
            <a:off x="9891379" y="5574840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 extrusionOk="0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993DD13-7111-3A93-DDB3-D73BB14BC4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68000" y="6356349"/>
            <a:ext cx="13716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300;p11">
            <a:extLst>
              <a:ext uri="{FF2B5EF4-FFF2-40B4-BE49-F238E27FC236}">
                <a16:creationId xmlns:a16="http://schemas.microsoft.com/office/drawing/2014/main" id="{B29F1EAB-73E8-64A5-4448-3DBFB688DDFF}"/>
              </a:ext>
            </a:extLst>
          </p:cNvPr>
          <p:cNvSpPr/>
          <p:nvPr userDrawn="1"/>
        </p:nvSpPr>
        <p:spPr>
          <a:xfrm flipH="1">
            <a:off x="9891379" y="5574840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 extrusionOk="0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844DEC-7BC2-129B-64D9-E5501F7558F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68000" y="6356349"/>
            <a:ext cx="13716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75" y="287290"/>
            <a:ext cx="11716269" cy="630408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259075" y="1840243"/>
            <a:ext cx="11716269" cy="4381447"/>
          </a:xfrm>
          <a:prstGeom prst="rect">
            <a:avLst/>
          </a:prstGeom>
          <a:solidFill>
            <a:srgbClr val="365DA8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553039" y="2585930"/>
            <a:ext cx="1120218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JDS 2026 DRILLING CAMPAIGN</a:t>
            </a:r>
            <a:b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SW (Single Well) DPM (Drilling Project Management) BOD: ALPHA-07</a:t>
            </a: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553039" y="5092537"/>
            <a:ext cx="9144000" cy="140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 ENERGY SOLUTION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6 ONLINE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 descr="Blue text and blue letter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075" y="287290"/>
            <a:ext cx="140017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MEET THE TEAM</a:t>
            </a:r>
            <a:endParaRPr sz="3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 descr="Blue text and blue letter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135B4491-DBA2-A312-9D32-61F63BE847DE}"/>
              </a:ext>
            </a:extLst>
          </p:cNvPr>
          <p:cNvSpPr/>
          <p:nvPr/>
        </p:nvSpPr>
        <p:spPr>
          <a:xfrm>
            <a:off x="364346" y="1189192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AD6BB2F-0C15-A0D3-E691-1E99B9E16A31}"/>
              </a:ext>
            </a:extLst>
          </p:cNvPr>
          <p:cNvSpPr/>
          <p:nvPr/>
        </p:nvSpPr>
        <p:spPr>
          <a:xfrm>
            <a:off x="455786" y="1271488"/>
            <a:ext cx="132588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E4D"/>
                </a:solidFill>
                <a:latin typeface="+mj-lt"/>
                <a:ea typeface="Aptos" pitchFamily="34" charset="-122"/>
                <a:cs typeface="Aptos" pitchFamily="34" charset="-120"/>
              </a:rPr>
              <a:t>Total Members</a:t>
            </a:r>
            <a:endParaRPr lang="en-US" sz="950" dirty="0">
              <a:latin typeface="+mj-lt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047F1140-F74C-8B13-EAC9-516B2FBFA737}"/>
              </a:ext>
            </a:extLst>
          </p:cNvPr>
          <p:cNvSpPr/>
          <p:nvPr/>
        </p:nvSpPr>
        <p:spPr>
          <a:xfrm>
            <a:off x="455786" y="1454368"/>
            <a:ext cx="1325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D7D31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700" dirty="0">
              <a:latin typeface="+mj-lt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B685540-FF24-3B9D-15AB-18E3E017EE01}"/>
              </a:ext>
            </a:extLst>
          </p:cNvPr>
          <p:cNvSpPr/>
          <p:nvPr/>
        </p:nvSpPr>
        <p:spPr>
          <a:xfrm>
            <a:off x="1982834" y="1189192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FFF2C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E9A5093-666B-3448-1E4D-F11F202ABE99}"/>
              </a:ext>
            </a:extLst>
          </p:cNvPr>
          <p:cNvSpPr/>
          <p:nvPr/>
        </p:nvSpPr>
        <p:spPr>
          <a:xfrm>
            <a:off x="2074274" y="1271488"/>
            <a:ext cx="132588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E4D"/>
                </a:solidFill>
                <a:latin typeface="+mj-lt"/>
                <a:ea typeface="Aptos" pitchFamily="34" charset="-122"/>
                <a:cs typeface="Aptos" pitchFamily="34" charset="-120"/>
              </a:rPr>
              <a:t>Drilling Eng.</a:t>
            </a:r>
            <a:endParaRPr lang="en-US" sz="950" dirty="0">
              <a:latin typeface="+mj-lt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7D9EE0F-5251-CA64-EBD8-E33B7F8B53D5}"/>
              </a:ext>
            </a:extLst>
          </p:cNvPr>
          <p:cNvSpPr/>
          <p:nvPr/>
        </p:nvSpPr>
        <p:spPr>
          <a:xfrm>
            <a:off x="2074274" y="1454368"/>
            <a:ext cx="1325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D7D31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5</a:t>
            </a:r>
            <a:endParaRPr lang="en-US" sz="1700" dirty="0">
              <a:latin typeface="+mj-lt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C4AE24AB-D283-06F8-D9E8-F3160D1B1A23}"/>
              </a:ext>
            </a:extLst>
          </p:cNvPr>
          <p:cNvSpPr/>
          <p:nvPr/>
        </p:nvSpPr>
        <p:spPr>
          <a:xfrm>
            <a:off x="3601322" y="1189192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E2F0D9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3F3B5548-C2FE-F489-301C-1EC7F35B5C67}"/>
              </a:ext>
            </a:extLst>
          </p:cNvPr>
          <p:cNvSpPr/>
          <p:nvPr/>
        </p:nvSpPr>
        <p:spPr>
          <a:xfrm>
            <a:off x="3692762" y="1271488"/>
            <a:ext cx="132588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E4D"/>
                </a:solidFill>
                <a:latin typeface="+mj-lt"/>
                <a:ea typeface="Aptos" pitchFamily="34" charset="-122"/>
                <a:cs typeface="Aptos" pitchFamily="34" charset="-120"/>
              </a:rPr>
              <a:t>Subsurface</a:t>
            </a:r>
            <a:endParaRPr lang="en-US" sz="950" dirty="0">
              <a:latin typeface="+mj-lt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C39D12F8-1505-149E-05F9-79D154BA8621}"/>
              </a:ext>
            </a:extLst>
          </p:cNvPr>
          <p:cNvSpPr/>
          <p:nvPr/>
        </p:nvSpPr>
        <p:spPr>
          <a:xfrm>
            <a:off x="3692762" y="1454368"/>
            <a:ext cx="1325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D7D31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2</a:t>
            </a:r>
            <a:endParaRPr lang="en-US" sz="1700" dirty="0">
              <a:latin typeface="+mj-lt"/>
            </a:endParaRPr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5862D8AE-17C0-EB9B-50DC-25F89BCA36EB}"/>
              </a:ext>
            </a:extLst>
          </p:cNvPr>
          <p:cNvSpPr/>
          <p:nvPr/>
        </p:nvSpPr>
        <p:spPr>
          <a:xfrm>
            <a:off x="5219810" y="1189192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DDEBF7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90D872F2-12BF-59F0-4E4B-E43B86A36B0F}"/>
              </a:ext>
            </a:extLst>
          </p:cNvPr>
          <p:cNvSpPr/>
          <p:nvPr/>
        </p:nvSpPr>
        <p:spPr>
          <a:xfrm>
            <a:off x="5311250" y="1271488"/>
            <a:ext cx="132588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E4D"/>
                </a:solidFill>
                <a:latin typeface="+mj-lt"/>
                <a:ea typeface="Aptos" pitchFamily="34" charset="-122"/>
                <a:cs typeface="Aptos" pitchFamily="34" charset="-120"/>
              </a:rPr>
              <a:t>Facilities / HSE</a:t>
            </a:r>
            <a:endParaRPr lang="en-US" sz="950" dirty="0">
              <a:latin typeface="+mj-lt"/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AC7D058C-7BF2-6FA9-4AEC-D149320C1E9C}"/>
              </a:ext>
            </a:extLst>
          </p:cNvPr>
          <p:cNvSpPr/>
          <p:nvPr/>
        </p:nvSpPr>
        <p:spPr>
          <a:xfrm>
            <a:off x="5311250" y="1454368"/>
            <a:ext cx="1325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D7D31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2</a:t>
            </a:r>
            <a:endParaRPr lang="en-US" sz="1700" dirty="0">
              <a:latin typeface="+mj-lt"/>
            </a:endParaRPr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6E659D53-2844-1510-3A50-4DBC5A291EFA}"/>
              </a:ext>
            </a:extLst>
          </p:cNvPr>
          <p:cNvSpPr/>
          <p:nvPr/>
        </p:nvSpPr>
        <p:spPr>
          <a:xfrm>
            <a:off x="6838298" y="1189192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E4DFE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3207F3C9-5EBA-2330-9087-BBA4102A5880}"/>
              </a:ext>
            </a:extLst>
          </p:cNvPr>
          <p:cNvSpPr/>
          <p:nvPr/>
        </p:nvSpPr>
        <p:spPr>
          <a:xfrm>
            <a:off x="6929738" y="1271488"/>
            <a:ext cx="132588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E4D"/>
                </a:solidFill>
                <a:latin typeface="+mj-lt"/>
                <a:ea typeface="Aptos" pitchFamily="34" charset="-122"/>
                <a:cs typeface="Aptos" pitchFamily="34" charset="-120"/>
              </a:rPr>
              <a:t>Project Integration</a:t>
            </a:r>
            <a:endParaRPr lang="en-US" sz="950" dirty="0">
              <a:latin typeface="+mj-lt"/>
            </a:endParaRPr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7310348E-CBC7-D99D-1CCA-06467ED4F038}"/>
              </a:ext>
            </a:extLst>
          </p:cNvPr>
          <p:cNvSpPr/>
          <p:nvPr/>
        </p:nvSpPr>
        <p:spPr>
          <a:xfrm>
            <a:off x="6929738" y="1454368"/>
            <a:ext cx="13258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D7D31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1</a:t>
            </a:r>
            <a:endParaRPr lang="en-US" sz="1700" dirty="0">
              <a:latin typeface="+mj-lt"/>
            </a:endParaRPr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00114012-464D-D5FC-CE9A-C0566EA64C8D}"/>
              </a:ext>
            </a:extLst>
          </p:cNvPr>
          <p:cNvSpPr/>
          <p:nvPr/>
        </p:nvSpPr>
        <p:spPr>
          <a:xfrm>
            <a:off x="364346" y="2057872"/>
            <a:ext cx="71780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3">
            <a:extLst>
              <a:ext uri="{FF2B5EF4-FFF2-40B4-BE49-F238E27FC236}">
                <a16:creationId xmlns:a16="http://schemas.microsoft.com/office/drawing/2014/main" id="{A3229167-AA4E-7A8E-F65B-47E82F442F5E}"/>
              </a:ext>
            </a:extLst>
          </p:cNvPr>
          <p:cNvSpPr/>
          <p:nvPr/>
        </p:nvSpPr>
        <p:spPr>
          <a:xfrm>
            <a:off x="364346" y="2057872"/>
            <a:ext cx="7178040" cy="320040"/>
          </a:xfrm>
          <a:prstGeom prst="roundRect">
            <a:avLst>
              <a:gd name="adj" fmla="val 14286"/>
            </a:avLst>
          </a:prstGeom>
          <a:solidFill>
            <a:schemeClr val="bg2">
              <a:lumMod val="25000"/>
              <a:lumOff val="75000"/>
            </a:schemeClr>
          </a:solidFill>
          <a:ln w="12700">
            <a:solidFill>
              <a:srgbClr val="DD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E3222003-2B2F-A593-9A80-48BE4132E6C4}"/>
              </a:ext>
            </a:extLst>
          </p:cNvPr>
          <p:cNvSpPr/>
          <p:nvPr/>
        </p:nvSpPr>
        <p:spPr>
          <a:xfrm>
            <a:off x="474074" y="2131024"/>
            <a:ext cx="695858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E4D"/>
                </a:solidFill>
                <a:latin typeface="+mj-lt"/>
                <a:ea typeface="Aptos" pitchFamily="34" charset="-122"/>
                <a:cs typeface="Aptos" pitchFamily="34" charset="-120"/>
              </a:rPr>
              <a:t>Alpha-07 BOD Preparation Team</a:t>
            </a:r>
            <a:endParaRPr lang="en-US" sz="1200" dirty="0">
              <a:latin typeface="+mj-lt"/>
            </a:endParaRPr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FA6F1DE2-E9C0-205F-DAC1-CF558DA01843}"/>
              </a:ext>
            </a:extLst>
          </p:cNvPr>
          <p:cNvSpPr/>
          <p:nvPr/>
        </p:nvSpPr>
        <p:spPr>
          <a:xfrm>
            <a:off x="547226" y="2478496"/>
            <a:ext cx="502920" cy="338328"/>
          </a:xfrm>
          <a:prstGeom prst="rect">
            <a:avLst/>
          </a:prstGeom>
          <a:solidFill>
            <a:srgbClr val="132E4D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lt"/>
                <a:ea typeface="Aptos" pitchFamily="34" charset="-122"/>
                <a:cs typeface="Aptos" pitchFamily="34" charset="-120"/>
              </a:rPr>
              <a:t>No.</a:t>
            </a:r>
            <a:endParaRPr lang="en-US" sz="1050" dirty="0">
              <a:latin typeface="+mj-lt"/>
            </a:endParaRPr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14ADBB0A-A1ED-B523-6312-EC5E807434C2}"/>
              </a:ext>
            </a:extLst>
          </p:cNvPr>
          <p:cNvSpPr/>
          <p:nvPr/>
        </p:nvSpPr>
        <p:spPr>
          <a:xfrm>
            <a:off x="1050146" y="2478496"/>
            <a:ext cx="3794760" cy="338328"/>
          </a:xfrm>
          <a:prstGeom prst="rect">
            <a:avLst/>
          </a:prstGeom>
          <a:solidFill>
            <a:srgbClr val="132E4D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lt"/>
                <a:ea typeface="Aptos" pitchFamily="34" charset="-122"/>
                <a:cs typeface="Aptos" pitchFamily="34" charset="-120"/>
              </a:rPr>
              <a:t>Name</a:t>
            </a:r>
            <a:endParaRPr lang="en-US" sz="1050" dirty="0">
              <a:latin typeface="+mj-lt"/>
            </a:endParaRPr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573B7947-CAE5-54A7-874F-B5AC88F81E5E}"/>
              </a:ext>
            </a:extLst>
          </p:cNvPr>
          <p:cNvSpPr/>
          <p:nvPr/>
        </p:nvSpPr>
        <p:spPr>
          <a:xfrm>
            <a:off x="4844906" y="2478496"/>
            <a:ext cx="2514600" cy="338328"/>
          </a:xfrm>
          <a:prstGeom prst="rect">
            <a:avLst/>
          </a:prstGeom>
          <a:solidFill>
            <a:srgbClr val="132E4D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lt"/>
                <a:ea typeface="Aptos" pitchFamily="34" charset="-122"/>
                <a:cs typeface="Aptos" pitchFamily="34" charset="-120"/>
              </a:rPr>
              <a:t>Discipline / Responsibility</a:t>
            </a:r>
            <a:endParaRPr lang="en-US" sz="1050" dirty="0">
              <a:latin typeface="+mj-lt"/>
            </a:endParaRPr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0DBE41B5-825A-4706-2282-CADE607F8F76}"/>
              </a:ext>
            </a:extLst>
          </p:cNvPr>
          <p:cNvSpPr/>
          <p:nvPr/>
        </p:nvSpPr>
        <p:spPr>
          <a:xfrm>
            <a:off x="547226" y="2816824"/>
            <a:ext cx="5029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1</a:t>
            </a:r>
            <a:endParaRPr lang="en-US" sz="1000" dirty="0">
              <a:latin typeface="+mj-lt"/>
            </a:endParaRPr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F8645A98-AAA9-A494-7B3A-025DA9242EEF}"/>
              </a:ext>
            </a:extLst>
          </p:cNvPr>
          <p:cNvSpPr/>
          <p:nvPr/>
        </p:nvSpPr>
        <p:spPr>
          <a:xfrm>
            <a:off x="1050146" y="2816824"/>
            <a:ext cx="379476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Abrar Laylramadhan</a:t>
            </a:r>
            <a:endParaRPr lang="en-US" sz="1000" dirty="0">
              <a:latin typeface="+mj-lt"/>
            </a:endParaRPr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1B599D4A-9F55-94FC-E32D-82C83F5A74FF}"/>
              </a:ext>
            </a:extLst>
          </p:cNvPr>
          <p:cNvSpPr/>
          <p:nvPr/>
        </p:nvSpPr>
        <p:spPr>
          <a:xfrm>
            <a:off x="4844906" y="2816824"/>
            <a:ext cx="251460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Drilling Engineering</a:t>
            </a:r>
            <a:endParaRPr lang="en-US" sz="1000" dirty="0">
              <a:latin typeface="+mj-lt"/>
            </a:endParaRPr>
          </a:p>
        </p:txBody>
      </p:sp>
      <p:sp>
        <p:nvSpPr>
          <p:cNvPr id="55" name="Text 31">
            <a:extLst>
              <a:ext uri="{FF2B5EF4-FFF2-40B4-BE49-F238E27FC236}">
                <a16:creationId xmlns:a16="http://schemas.microsoft.com/office/drawing/2014/main" id="{43375887-1A5D-9DF8-139A-03081722ECEA}"/>
              </a:ext>
            </a:extLst>
          </p:cNvPr>
          <p:cNvSpPr/>
          <p:nvPr/>
        </p:nvSpPr>
        <p:spPr>
          <a:xfrm>
            <a:off x="547226" y="3155152"/>
            <a:ext cx="50292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2</a:t>
            </a:r>
            <a:endParaRPr lang="en-US" sz="1000" dirty="0">
              <a:latin typeface="+mj-lt"/>
            </a:endParaRPr>
          </a:p>
        </p:txBody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F3733181-BC91-5DEB-ED4C-2A6108C4413F}"/>
              </a:ext>
            </a:extLst>
          </p:cNvPr>
          <p:cNvSpPr/>
          <p:nvPr/>
        </p:nvSpPr>
        <p:spPr>
          <a:xfrm>
            <a:off x="1050146" y="3155152"/>
            <a:ext cx="379476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Bernard Cavin Ronlei Sihombing</a:t>
            </a:r>
            <a:endParaRPr lang="en-US" sz="1000" dirty="0">
              <a:latin typeface="+mj-lt"/>
            </a:endParaRPr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15AC9DBF-EAA3-A18C-D507-7A2BADDF400D}"/>
              </a:ext>
            </a:extLst>
          </p:cNvPr>
          <p:cNvSpPr/>
          <p:nvPr/>
        </p:nvSpPr>
        <p:spPr>
          <a:xfrm>
            <a:off x="4844906" y="3155152"/>
            <a:ext cx="251460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Drilling Engineering</a:t>
            </a:r>
            <a:endParaRPr lang="en-US" sz="1000" dirty="0">
              <a:latin typeface="+mj-lt"/>
            </a:endParaRPr>
          </a:p>
        </p:txBody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BA378BD9-D122-B1FC-AA42-2C6D7919D3AB}"/>
              </a:ext>
            </a:extLst>
          </p:cNvPr>
          <p:cNvSpPr/>
          <p:nvPr/>
        </p:nvSpPr>
        <p:spPr>
          <a:xfrm>
            <a:off x="547226" y="3493480"/>
            <a:ext cx="5029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3</a:t>
            </a:r>
            <a:endParaRPr lang="en-US" sz="1000" dirty="0">
              <a:latin typeface="+mj-lt"/>
            </a:endParaRPr>
          </a:p>
        </p:txBody>
      </p:sp>
      <p:sp>
        <p:nvSpPr>
          <p:cNvPr id="63" name="Text 35">
            <a:extLst>
              <a:ext uri="{FF2B5EF4-FFF2-40B4-BE49-F238E27FC236}">
                <a16:creationId xmlns:a16="http://schemas.microsoft.com/office/drawing/2014/main" id="{7B100929-3D46-9D88-6C37-6D946E648B39}"/>
              </a:ext>
            </a:extLst>
          </p:cNvPr>
          <p:cNvSpPr/>
          <p:nvPr/>
        </p:nvSpPr>
        <p:spPr>
          <a:xfrm>
            <a:off x="1050146" y="3493480"/>
            <a:ext cx="379476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Adriansyah Andra Kusuma</a:t>
            </a:r>
            <a:endParaRPr lang="en-US" sz="1000" dirty="0">
              <a:latin typeface="+mj-lt"/>
            </a:endParaRPr>
          </a:p>
        </p:txBody>
      </p:sp>
      <p:sp>
        <p:nvSpPr>
          <p:cNvPr id="65" name="Text 36">
            <a:extLst>
              <a:ext uri="{FF2B5EF4-FFF2-40B4-BE49-F238E27FC236}">
                <a16:creationId xmlns:a16="http://schemas.microsoft.com/office/drawing/2014/main" id="{CCD2B0B5-8301-C58C-CFDB-36759605D644}"/>
              </a:ext>
            </a:extLst>
          </p:cNvPr>
          <p:cNvSpPr/>
          <p:nvPr/>
        </p:nvSpPr>
        <p:spPr>
          <a:xfrm>
            <a:off x="4844906" y="3493480"/>
            <a:ext cx="251460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Drilling Engineering</a:t>
            </a:r>
            <a:endParaRPr lang="en-US" sz="1000" dirty="0">
              <a:latin typeface="+mj-lt"/>
            </a:endParaRPr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B3F1032E-D7C9-975E-7030-88266F61979B}"/>
              </a:ext>
            </a:extLst>
          </p:cNvPr>
          <p:cNvSpPr/>
          <p:nvPr/>
        </p:nvSpPr>
        <p:spPr>
          <a:xfrm>
            <a:off x="547226" y="3831808"/>
            <a:ext cx="50292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4</a:t>
            </a:r>
            <a:endParaRPr lang="en-US" sz="1000" dirty="0">
              <a:latin typeface="+mj-lt"/>
            </a:endParaRPr>
          </a:p>
        </p:txBody>
      </p:sp>
      <p:sp>
        <p:nvSpPr>
          <p:cNvPr id="69" name="Text 38">
            <a:extLst>
              <a:ext uri="{FF2B5EF4-FFF2-40B4-BE49-F238E27FC236}">
                <a16:creationId xmlns:a16="http://schemas.microsoft.com/office/drawing/2014/main" id="{53CEE7D4-5CC7-7759-1C47-2D13DFB09E65}"/>
              </a:ext>
            </a:extLst>
          </p:cNvPr>
          <p:cNvSpPr/>
          <p:nvPr/>
        </p:nvSpPr>
        <p:spPr>
          <a:xfrm>
            <a:off x="1050146" y="3831808"/>
            <a:ext cx="379476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Nyoman Prema Ananda</a:t>
            </a:r>
            <a:endParaRPr lang="en-US" sz="1000" dirty="0">
              <a:latin typeface="+mj-lt"/>
            </a:endParaRPr>
          </a:p>
        </p:txBody>
      </p:sp>
      <p:sp>
        <p:nvSpPr>
          <p:cNvPr id="71" name="Text 39">
            <a:extLst>
              <a:ext uri="{FF2B5EF4-FFF2-40B4-BE49-F238E27FC236}">
                <a16:creationId xmlns:a16="http://schemas.microsoft.com/office/drawing/2014/main" id="{975E9853-B6D7-1786-C59D-7D07001F6FEE}"/>
              </a:ext>
            </a:extLst>
          </p:cNvPr>
          <p:cNvSpPr/>
          <p:nvPr/>
        </p:nvSpPr>
        <p:spPr>
          <a:xfrm>
            <a:off x="4844906" y="3831808"/>
            <a:ext cx="251460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Drilling Engineering</a:t>
            </a:r>
            <a:endParaRPr lang="en-US" sz="1000" dirty="0">
              <a:latin typeface="+mj-lt"/>
            </a:endParaRPr>
          </a:p>
        </p:txBody>
      </p:sp>
      <p:sp>
        <p:nvSpPr>
          <p:cNvPr id="73" name="Text 40">
            <a:extLst>
              <a:ext uri="{FF2B5EF4-FFF2-40B4-BE49-F238E27FC236}">
                <a16:creationId xmlns:a16="http://schemas.microsoft.com/office/drawing/2014/main" id="{07A80988-D416-CDAE-B28C-B225081DC582}"/>
              </a:ext>
            </a:extLst>
          </p:cNvPr>
          <p:cNvSpPr/>
          <p:nvPr/>
        </p:nvSpPr>
        <p:spPr>
          <a:xfrm>
            <a:off x="547226" y="4170136"/>
            <a:ext cx="5029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5</a:t>
            </a:r>
            <a:endParaRPr lang="en-US" sz="1000" dirty="0">
              <a:latin typeface="+mj-lt"/>
            </a:endParaRPr>
          </a:p>
        </p:txBody>
      </p:sp>
      <p:sp>
        <p:nvSpPr>
          <p:cNvPr id="75" name="Text 41">
            <a:extLst>
              <a:ext uri="{FF2B5EF4-FFF2-40B4-BE49-F238E27FC236}">
                <a16:creationId xmlns:a16="http://schemas.microsoft.com/office/drawing/2014/main" id="{7610A810-D47F-75D2-9623-BFE04042F469}"/>
              </a:ext>
            </a:extLst>
          </p:cNvPr>
          <p:cNvSpPr/>
          <p:nvPr/>
        </p:nvSpPr>
        <p:spPr>
          <a:xfrm>
            <a:off x="1050146" y="4170136"/>
            <a:ext cx="379476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Salman Arkan</a:t>
            </a:r>
            <a:endParaRPr lang="en-US" sz="1000" dirty="0">
              <a:latin typeface="+mj-lt"/>
            </a:endParaRPr>
          </a:p>
        </p:txBody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9B8EFE8B-96EB-CB6B-6FA1-DD0C25BE5949}"/>
              </a:ext>
            </a:extLst>
          </p:cNvPr>
          <p:cNvSpPr/>
          <p:nvPr/>
        </p:nvSpPr>
        <p:spPr>
          <a:xfrm>
            <a:off x="4844906" y="4170136"/>
            <a:ext cx="251460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Drilling Engineering</a:t>
            </a:r>
            <a:endParaRPr lang="en-US" sz="1000" dirty="0">
              <a:latin typeface="+mj-lt"/>
            </a:endParaRPr>
          </a:p>
        </p:txBody>
      </p:sp>
      <p:sp>
        <p:nvSpPr>
          <p:cNvPr id="79" name="Text 43">
            <a:extLst>
              <a:ext uri="{FF2B5EF4-FFF2-40B4-BE49-F238E27FC236}">
                <a16:creationId xmlns:a16="http://schemas.microsoft.com/office/drawing/2014/main" id="{4566E0D2-F540-37CB-6EDA-B08F1BAEC305}"/>
              </a:ext>
            </a:extLst>
          </p:cNvPr>
          <p:cNvSpPr/>
          <p:nvPr/>
        </p:nvSpPr>
        <p:spPr>
          <a:xfrm>
            <a:off x="547226" y="4508464"/>
            <a:ext cx="50292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6</a:t>
            </a:r>
            <a:endParaRPr lang="en-US" sz="1000" dirty="0">
              <a:latin typeface="+mj-lt"/>
            </a:endParaRPr>
          </a:p>
        </p:txBody>
      </p:sp>
      <p:sp>
        <p:nvSpPr>
          <p:cNvPr id="81" name="Text 44">
            <a:extLst>
              <a:ext uri="{FF2B5EF4-FFF2-40B4-BE49-F238E27FC236}">
                <a16:creationId xmlns:a16="http://schemas.microsoft.com/office/drawing/2014/main" id="{E158A6F9-6137-F831-3AA5-9A3C5A3E6474}"/>
              </a:ext>
            </a:extLst>
          </p:cNvPr>
          <p:cNvSpPr/>
          <p:nvPr/>
        </p:nvSpPr>
        <p:spPr>
          <a:xfrm>
            <a:off x="1050146" y="4508464"/>
            <a:ext cx="379476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Asri Permatasari Sirait</a:t>
            </a:r>
            <a:endParaRPr lang="en-US" sz="1000" dirty="0">
              <a:latin typeface="+mj-lt"/>
            </a:endParaRPr>
          </a:p>
        </p:txBody>
      </p:sp>
      <p:sp>
        <p:nvSpPr>
          <p:cNvPr id="83" name="Text 45">
            <a:extLst>
              <a:ext uri="{FF2B5EF4-FFF2-40B4-BE49-F238E27FC236}">
                <a16:creationId xmlns:a16="http://schemas.microsoft.com/office/drawing/2014/main" id="{B227D1E8-4608-EB68-739F-5CD58E757F97}"/>
              </a:ext>
            </a:extLst>
          </p:cNvPr>
          <p:cNvSpPr/>
          <p:nvPr/>
        </p:nvSpPr>
        <p:spPr>
          <a:xfrm>
            <a:off x="4844906" y="4508464"/>
            <a:ext cx="251460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Subsurface</a:t>
            </a:r>
            <a:endParaRPr lang="en-US" sz="1000" dirty="0">
              <a:latin typeface="+mj-lt"/>
            </a:endParaRPr>
          </a:p>
        </p:txBody>
      </p:sp>
      <p:sp>
        <p:nvSpPr>
          <p:cNvPr id="85" name="Text 46">
            <a:extLst>
              <a:ext uri="{FF2B5EF4-FFF2-40B4-BE49-F238E27FC236}">
                <a16:creationId xmlns:a16="http://schemas.microsoft.com/office/drawing/2014/main" id="{1149C5C0-ABA3-B060-C696-84D7F6421482}"/>
              </a:ext>
            </a:extLst>
          </p:cNvPr>
          <p:cNvSpPr/>
          <p:nvPr/>
        </p:nvSpPr>
        <p:spPr>
          <a:xfrm>
            <a:off x="547226" y="4846792"/>
            <a:ext cx="5029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7</a:t>
            </a:r>
            <a:endParaRPr lang="en-US" sz="1000" dirty="0">
              <a:latin typeface="+mj-lt"/>
            </a:endParaRPr>
          </a:p>
        </p:txBody>
      </p:sp>
      <p:sp>
        <p:nvSpPr>
          <p:cNvPr id="87" name="Text 47">
            <a:extLst>
              <a:ext uri="{FF2B5EF4-FFF2-40B4-BE49-F238E27FC236}">
                <a16:creationId xmlns:a16="http://schemas.microsoft.com/office/drawing/2014/main" id="{E709718C-B707-99E0-F58D-D73ED81625B8}"/>
              </a:ext>
            </a:extLst>
          </p:cNvPr>
          <p:cNvSpPr/>
          <p:nvPr/>
        </p:nvSpPr>
        <p:spPr>
          <a:xfrm>
            <a:off x="1050146" y="4846792"/>
            <a:ext cx="379476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Abdi Surya</a:t>
            </a:r>
            <a:endParaRPr lang="en-US" sz="1000" dirty="0">
              <a:latin typeface="+mj-lt"/>
            </a:endParaRPr>
          </a:p>
        </p:txBody>
      </p:sp>
      <p:sp>
        <p:nvSpPr>
          <p:cNvPr id="89" name="Text 48">
            <a:extLst>
              <a:ext uri="{FF2B5EF4-FFF2-40B4-BE49-F238E27FC236}">
                <a16:creationId xmlns:a16="http://schemas.microsoft.com/office/drawing/2014/main" id="{B18F6033-9BDB-F686-3B63-F18BFAAB3AD0}"/>
              </a:ext>
            </a:extLst>
          </p:cNvPr>
          <p:cNvSpPr/>
          <p:nvPr/>
        </p:nvSpPr>
        <p:spPr>
          <a:xfrm>
            <a:off x="4844906" y="4846792"/>
            <a:ext cx="251460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Subsurface</a:t>
            </a:r>
            <a:endParaRPr lang="en-US" sz="1000" dirty="0">
              <a:latin typeface="+mj-lt"/>
            </a:endParaRPr>
          </a:p>
        </p:txBody>
      </p:sp>
      <p:sp>
        <p:nvSpPr>
          <p:cNvPr id="91" name="Text 49">
            <a:extLst>
              <a:ext uri="{FF2B5EF4-FFF2-40B4-BE49-F238E27FC236}">
                <a16:creationId xmlns:a16="http://schemas.microsoft.com/office/drawing/2014/main" id="{7D4494DA-F57C-1988-2566-E710C9EC7F5F}"/>
              </a:ext>
            </a:extLst>
          </p:cNvPr>
          <p:cNvSpPr/>
          <p:nvPr/>
        </p:nvSpPr>
        <p:spPr>
          <a:xfrm>
            <a:off x="547226" y="5185120"/>
            <a:ext cx="50292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8</a:t>
            </a:r>
            <a:endParaRPr lang="en-US" sz="1000" dirty="0">
              <a:latin typeface="+mj-lt"/>
            </a:endParaRPr>
          </a:p>
        </p:txBody>
      </p:sp>
      <p:sp>
        <p:nvSpPr>
          <p:cNvPr id="93" name="Text 50">
            <a:extLst>
              <a:ext uri="{FF2B5EF4-FFF2-40B4-BE49-F238E27FC236}">
                <a16:creationId xmlns:a16="http://schemas.microsoft.com/office/drawing/2014/main" id="{8E5407D5-0757-C875-1B9A-883BC91ED5C5}"/>
              </a:ext>
            </a:extLst>
          </p:cNvPr>
          <p:cNvSpPr/>
          <p:nvPr/>
        </p:nvSpPr>
        <p:spPr>
          <a:xfrm>
            <a:off x="1050146" y="5185120"/>
            <a:ext cx="379476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Hana Malem Karina Panjaitan</a:t>
            </a:r>
            <a:endParaRPr lang="en-US" sz="1000" dirty="0">
              <a:latin typeface="+mj-lt"/>
            </a:endParaRPr>
          </a:p>
        </p:txBody>
      </p:sp>
      <p:sp>
        <p:nvSpPr>
          <p:cNvPr id="95" name="Text 51">
            <a:extLst>
              <a:ext uri="{FF2B5EF4-FFF2-40B4-BE49-F238E27FC236}">
                <a16:creationId xmlns:a16="http://schemas.microsoft.com/office/drawing/2014/main" id="{2F101F5E-F2A6-7836-1BDA-A17B3BFA345F}"/>
              </a:ext>
            </a:extLst>
          </p:cNvPr>
          <p:cNvSpPr/>
          <p:nvPr/>
        </p:nvSpPr>
        <p:spPr>
          <a:xfrm>
            <a:off x="4844906" y="5185120"/>
            <a:ext cx="251460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Facilities</a:t>
            </a:r>
            <a:endParaRPr lang="en-US" sz="1000" dirty="0">
              <a:latin typeface="+mj-lt"/>
            </a:endParaRPr>
          </a:p>
        </p:txBody>
      </p:sp>
      <p:sp>
        <p:nvSpPr>
          <p:cNvPr id="97" name="Text 52">
            <a:extLst>
              <a:ext uri="{FF2B5EF4-FFF2-40B4-BE49-F238E27FC236}">
                <a16:creationId xmlns:a16="http://schemas.microsoft.com/office/drawing/2014/main" id="{E651305D-AD18-97A4-BDB9-5639C38CDF50}"/>
              </a:ext>
            </a:extLst>
          </p:cNvPr>
          <p:cNvSpPr/>
          <p:nvPr/>
        </p:nvSpPr>
        <p:spPr>
          <a:xfrm>
            <a:off x="547226" y="5523448"/>
            <a:ext cx="5029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9</a:t>
            </a:r>
            <a:endParaRPr lang="en-US" sz="1000" dirty="0">
              <a:latin typeface="+mj-lt"/>
            </a:endParaRPr>
          </a:p>
        </p:txBody>
      </p:sp>
      <p:sp>
        <p:nvSpPr>
          <p:cNvPr id="108" name="Text 53">
            <a:extLst>
              <a:ext uri="{FF2B5EF4-FFF2-40B4-BE49-F238E27FC236}">
                <a16:creationId xmlns:a16="http://schemas.microsoft.com/office/drawing/2014/main" id="{4BC9FB3B-CC11-DE96-D47D-7B94834695C4}"/>
              </a:ext>
            </a:extLst>
          </p:cNvPr>
          <p:cNvSpPr/>
          <p:nvPr/>
        </p:nvSpPr>
        <p:spPr>
          <a:xfrm>
            <a:off x="1050146" y="5523448"/>
            <a:ext cx="379476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Shanaz Ivona Dewi Limaran</a:t>
            </a:r>
            <a:endParaRPr lang="en-US" sz="1000" dirty="0">
              <a:latin typeface="+mj-lt"/>
            </a:endParaRPr>
          </a:p>
        </p:txBody>
      </p:sp>
      <p:sp>
        <p:nvSpPr>
          <p:cNvPr id="110" name="Text 54">
            <a:extLst>
              <a:ext uri="{FF2B5EF4-FFF2-40B4-BE49-F238E27FC236}">
                <a16:creationId xmlns:a16="http://schemas.microsoft.com/office/drawing/2014/main" id="{9E162265-CCEA-EA9C-E03B-8AC9D1A41795}"/>
              </a:ext>
            </a:extLst>
          </p:cNvPr>
          <p:cNvSpPr/>
          <p:nvPr/>
        </p:nvSpPr>
        <p:spPr>
          <a:xfrm>
            <a:off x="4844906" y="5523448"/>
            <a:ext cx="251460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Facilities / HSE</a:t>
            </a:r>
            <a:endParaRPr lang="en-US" sz="1000" dirty="0">
              <a:latin typeface="+mj-lt"/>
            </a:endParaRPr>
          </a:p>
        </p:txBody>
      </p:sp>
      <p:sp>
        <p:nvSpPr>
          <p:cNvPr id="112" name="Text 55">
            <a:extLst>
              <a:ext uri="{FF2B5EF4-FFF2-40B4-BE49-F238E27FC236}">
                <a16:creationId xmlns:a16="http://schemas.microsoft.com/office/drawing/2014/main" id="{C8E43772-9A63-779B-79C0-5C2869D546FB}"/>
              </a:ext>
            </a:extLst>
          </p:cNvPr>
          <p:cNvSpPr/>
          <p:nvPr/>
        </p:nvSpPr>
        <p:spPr>
          <a:xfrm>
            <a:off x="547226" y="5861776"/>
            <a:ext cx="50292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10</a:t>
            </a:r>
            <a:endParaRPr lang="en-US" sz="1000" dirty="0">
              <a:latin typeface="+mj-lt"/>
            </a:endParaRPr>
          </a:p>
        </p:txBody>
      </p:sp>
      <p:sp>
        <p:nvSpPr>
          <p:cNvPr id="114" name="Text 56">
            <a:extLst>
              <a:ext uri="{FF2B5EF4-FFF2-40B4-BE49-F238E27FC236}">
                <a16:creationId xmlns:a16="http://schemas.microsoft.com/office/drawing/2014/main" id="{ABEC740F-0A03-673E-8D25-790758365A50}"/>
              </a:ext>
            </a:extLst>
          </p:cNvPr>
          <p:cNvSpPr/>
          <p:nvPr/>
        </p:nvSpPr>
        <p:spPr>
          <a:xfrm>
            <a:off x="1050146" y="5861776"/>
            <a:ext cx="379476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Muhammad Hammam Reza</a:t>
            </a:r>
            <a:endParaRPr lang="en-US" sz="1000" dirty="0">
              <a:latin typeface="+mj-lt"/>
            </a:endParaRPr>
          </a:p>
        </p:txBody>
      </p:sp>
      <p:sp>
        <p:nvSpPr>
          <p:cNvPr id="116" name="Text 57">
            <a:extLst>
              <a:ext uri="{FF2B5EF4-FFF2-40B4-BE49-F238E27FC236}">
                <a16:creationId xmlns:a16="http://schemas.microsoft.com/office/drawing/2014/main" id="{FACAFBAB-669A-8385-89E5-0DD69FB52C33}"/>
              </a:ext>
            </a:extLst>
          </p:cNvPr>
          <p:cNvSpPr/>
          <p:nvPr/>
        </p:nvSpPr>
        <p:spPr>
          <a:xfrm>
            <a:off x="4844906" y="5861776"/>
            <a:ext cx="2514600" cy="338328"/>
          </a:xfrm>
          <a:prstGeom prst="rect">
            <a:avLst/>
          </a:prstGeom>
          <a:solidFill>
            <a:srgbClr val="F8F9FB"/>
          </a:solidFill>
          <a:ln w="8255">
            <a:solidFill>
              <a:srgbClr val="C7C7C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Project Integration</a:t>
            </a:r>
            <a:endParaRPr lang="en-US" sz="1000" dirty="0">
              <a:latin typeface="+mj-lt"/>
            </a:endParaRPr>
          </a:p>
        </p:txBody>
      </p:sp>
      <p:sp>
        <p:nvSpPr>
          <p:cNvPr id="118" name="Shape 58">
            <a:extLst>
              <a:ext uri="{FF2B5EF4-FFF2-40B4-BE49-F238E27FC236}">
                <a16:creationId xmlns:a16="http://schemas.microsoft.com/office/drawing/2014/main" id="{EDBE79F2-ABE0-682A-CAB0-0AFFC83EF589}"/>
              </a:ext>
            </a:extLst>
          </p:cNvPr>
          <p:cNvSpPr/>
          <p:nvPr/>
        </p:nvSpPr>
        <p:spPr>
          <a:xfrm>
            <a:off x="7770986" y="2057872"/>
            <a:ext cx="3977640" cy="4142232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59">
            <a:extLst>
              <a:ext uri="{FF2B5EF4-FFF2-40B4-BE49-F238E27FC236}">
                <a16:creationId xmlns:a16="http://schemas.microsoft.com/office/drawing/2014/main" id="{C295AD6E-EC2F-5F82-297C-924C452A76C2}"/>
              </a:ext>
            </a:extLst>
          </p:cNvPr>
          <p:cNvSpPr/>
          <p:nvPr/>
        </p:nvSpPr>
        <p:spPr>
          <a:xfrm>
            <a:off x="7770986" y="2057872"/>
            <a:ext cx="3977640" cy="320040"/>
          </a:xfrm>
          <a:prstGeom prst="roundRect">
            <a:avLst>
              <a:gd name="adj" fmla="val 14286"/>
            </a:avLst>
          </a:prstGeom>
          <a:solidFill>
            <a:schemeClr val="bg2">
              <a:lumMod val="25000"/>
              <a:lumOff val="75000"/>
            </a:schemeClr>
          </a:solidFill>
          <a:ln w="12700">
            <a:solidFill>
              <a:srgbClr val="DDEB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60">
            <a:extLst>
              <a:ext uri="{FF2B5EF4-FFF2-40B4-BE49-F238E27FC236}">
                <a16:creationId xmlns:a16="http://schemas.microsoft.com/office/drawing/2014/main" id="{6AC2FB76-1B80-ECF0-82F9-B03CF0D4778D}"/>
              </a:ext>
            </a:extLst>
          </p:cNvPr>
          <p:cNvSpPr/>
          <p:nvPr/>
        </p:nvSpPr>
        <p:spPr>
          <a:xfrm>
            <a:off x="7880714" y="2131024"/>
            <a:ext cx="375818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E4D"/>
                </a:solidFill>
                <a:latin typeface="+mj-lt"/>
                <a:ea typeface="Aptos" pitchFamily="34" charset="-122"/>
                <a:cs typeface="Aptos" pitchFamily="34" charset="-120"/>
              </a:rPr>
              <a:t>Responsibility Coverage</a:t>
            </a:r>
            <a:endParaRPr lang="en-US" sz="1200" dirty="0">
              <a:latin typeface="+mj-lt"/>
            </a:endParaRPr>
          </a:p>
        </p:txBody>
      </p:sp>
      <p:sp>
        <p:nvSpPr>
          <p:cNvPr id="124" name="Shape 61">
            <a:extLst>
              <a:ext uri="{FF2B5EF4-FFF2-40B4-BE49-F238E27FC236}">
                <a16:creationId xmlns:a16="http://schemas.microsoft.com/office/drawing/2014/main" id="{533C56F9-409D-8734-BFF7-FC07CEF08876}"/>
              </a:ext>
            </a:extLst>
          </p:cNvPr>
          <p:cNvSpPr/>
          <p:nvPr/>
        </p:nvSpPr>
        <p:spPr>
          <a:xfrm>
            <a:off x="7981298" y="2460208"/>
            <a:ext cx="1764792" cy="1234440"/>
          </a:xfrm>
          <a:prstGeom prst="roundRect">
            <a:avLst>
              <a:gd name="adj" fmla="val 5926"/>
            </a:avLst>
          </a:prstGeom>
          <a:solidFill>
            <a:srgbClr val="FFF2CC"/>
          </a:solidFill>
          <a:ln w="1524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62">
            <a:extLst>
              <a:ext uri="{FF2B5EF4-FFF2-40B4-BE49-F238E27FC236}">
                <a16:creationId xmlns:a16="http://schemas.microsoft.com/office/drawing/2014/main" id="{E9F2A948-4FA6-9BDF-5A32-6B960487FCB8}"/>
              </a:ext>
            </a:extLst>
          </p:cNvPr>
          <p:cNvSpPr/>
          <p:nvPr/>
        </p:nvSpPr>
        <p:spPr>
          <a:xfrm>
            <a:off x="8145890" y="2569936"/>
            <a:ext cx="106984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32E4D"/>
                </a:solidFill>
                <a:latin typeface="+mj-lt"/>
                <a:ea typeface="Aptos" pitchFamily="34" charset="-122"/>
                <a:cs typeface="Aptos" pitchFamily="34" charset="-120"/>
              </a:rPr>
              <a:t>Drilling Engineering</a:t>
            </a:r>
            <a:endParaRPr lang="en-US" sz="1120" dirty="0">
              <a:latin typeface="+mj-lt"/>
            </a:endParaRPr>
          </a:p>
        </p:txBody>
      </p:sp>
      <p:sp>
        <p:nvSpPr>
          <p:cNvPr id="128" name="Shape 63">
            <a:extLst>
              <a:ext uri="{FF2B5EF4-FFF2-40B4-BE49-F238E27FC236}">
                <a16:creationId xmlns:a16="http://schemas.microsoft.com/office/drawing/2014/main" id="{5373540B-5770-FC05-0058-58B51BC50BD5}"/>
              </a:ext>
            </a:extLst>
          </p:cNvPr>
          <p:cNvSpPr/>
          <p:nvPr/>
        </p:nvSpPr>
        <p:spPr>
          <a:xfrm>
            <a:off x="9243170" y="2533360"/>
            <a:ext cx="329184" cy="329184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64">
            <a:extLst>
              <a:ext uri="{FF2B5EF4-FFF2-40B4-BE49-F238E27FC236}">
                <a16:creationId xmlns:a16="http://schemas.microsoft.com/office/drawing/2014/main" id="{417F5644-CD5E-2D35-E302-8FAE2585FEEF}"/>
              </a:ext>
            </a:extLst>
          </p:cNvPr>
          <p:cNvSpPr/>
          <p:nvPr/>
        </p:nvSpPr>
        <p:spPr>
          <a:xfrm>
            <a:off x="9243170" y="2601940"/>
            <a:ext cx="329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lt"/>
                <a:ea typeface="Aptos" pitchFamily="34" charset="-122"/>
                <a:cs typeface="Aptos" pitchFamily="34" charset="-120"/>
              </a:rPr>
              <a:t>5</a:t>
            </a:r>
            <a:endParaRPr lang="en-US" sz="1050" dirty="0">
              <a:latin typeface="+mj-lt"/>
            </a:endParaRPr>
          </a:p>
        </p:txBody>
      </p:sp>
      <p:sp>
        <p:nvSpPr>
          <p:cNvPr id="132" name="Text 65">
            <a:extLst>
              <a:ext uri="{FF2B5EF4-FFF2-40B4-BE49-F238E27FC236}">
                <a16:creationId xmlns:a16="http://schemas.microsoft.com/office/drawing/2014/main" id="{F44A6D47-9931-EF88-3CD3-333A89FF1240}"/>
              </a:ext>
            </a:extLst>
          </p:cNvPr>
          <p:cNvSpPr/>
          <p:nvPr/>
        </p:nvSpPr>
        <p:spPr>
          <a:xfrm>
            <a:off x="8145890" y="2871688"/>
            <a:ext cx="1435608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• Well design basis</a:t>
            </a:r>
            <a:endParaRPr lang="en-US" sz="920" dirty="0">
              <a:latin typeface="+mj-lt"/>
            </a:endParaRPr>
          </a:p>
          <a:p>
            <a:pPr marL="0" indent="0">
              <a:buNone/>
            </a:pPr>
            <a:r>
              <a:rPr lang="en-US" sz="92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• Trajectory / BHA</a:t>
            </a:r>
            <a:endParaRPr lang="en-US" sz="920" dirty="0">
              <a:latin typeface="+mj-lt"/>
            </a:endParaRPr>
          </a:p>
          <a:p>
            <a:pPr marL="0" indent="0">
              <a:buNone/>
            </a:pPr>
            <a:r>
              <a:rPr lang="en-US" sz="92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• Drilling execution</a:t>
            </a:r>
            <a:endParaRPr lang="en-US" sz="920" dirty="0">
              <a:latin typeface="+mj-lt"/>
            </a:endParaRPr>
          </a:p>
        </p:txBody>
      </p:sp>
      <p:sp>
        <p:nvSpPr>
          <p:cNvPr id="134" name="Shape 66">
            <a:extLst>
              <a:ext uri="{FF2B5EF4-FFF2-40B4-BE49-F238E27FC236}">
                <a16:creationId xmlns:a16="http://schemas.microsoft.com/office/drawing/2014/main" id="{58266B22-4FBE-13F6-8F0B-4B4C6B686922}"/>
              </a:ext>
            </a:extLst>
          </p:cNvPr>
          <p:cNvSpPr/>
          <p:nvPr/>
        </p:nvSpPr>
        <p:spPr>
          <a:xfrm>
            <a:off x="9810098" y="2460208"/>
            <a:ext cx="1719072" cy="1234440"/>
          </a:xfrm>
          <a:prstGeom prst="roundRect">
            <a:avLst>
              <a:gd name="adj" fmla="val 5926"/>
            </a:avLst>
          </a:prstGeom>
          <a:solidFill>
            <a:srgbClr val="E2F0D9"/>
          </a:solidFill>
          <a:ln w="1524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67">
            <a:extLst>
              <a:ext uri="{FF2B5EF4-FFF2-40B4-BE49-F238E27FC236}">
                <a16:creationId xmlns:a16="http://schemas.microsoft.com/office/drawing/2014/main" id="{5F9D5336-D898-9627-C89F-2567E7CAE216}"/>
              </a:ext>
            </a:extLst>
          </p:cNvPr>
          <p:cNvSpPr/>
          <p:nvPr/>
        </p:nvSpPr>
        <p:spPr>
          <a:xfrm>
            <a:off x="9974690" y="2569936"/>
            <a:ext cx="10241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32E4D"/>
                </a:solidFill>
                <a:latin typeface="+mj-lt"/>
                <a:ea typeface="Aptos" pitchFamily="34" charset="-122"/>
                <a:cs typeface="Aptos" pitchFamily="34" charset="-120"/>
              </a:rPr>
              <a:t>Subsurface</a:t>
            </a:r>
            <a:endParaRPr lang="en-US" sz="1120" dirty="0">
              <a:latin typeface="+mj-lt"/>
            </a:endParaRPr>
          </a:p>
        </p:txBody>
      </p:sp>
      <p:sp>
        <p:nvSpPr>
          <p:cNvPr id="138" name="Shape 68">
            <a:extLst>
              <a:ext uri="{FF2B5EF4-FFF2-40B4-BE49-F238E27FC236}">
                <a16:creationId xmlns:a16="http://schemas.microsoft.com/office/drawing/2014/main" id="{6D54BC30-3A78-FC0A-9596-1DD7529F1F1B}"/>
              </a:ext>
            </a:extLst>
          </p:cNvPr>
          <p:cNvSpPr/>
          <p:nvPr/>
        </p:nvSpPr>
        <p:spPr>
          <a:xfrm>
            <a:off x="11026250" y="2533360"/>
            <a:ext cx="329184" cy="329184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69">
            <a:extLst>
              <a:ext uri="{FF2B5EF4-FFF2-40B4-BE49-F238E27FC236}">
                <a16:creationId xmlns:a16="http://schemas.microsoft.com/office/drawing/2014/main" id="{5BDB8F59-95EE-385C-5CE2-9A3FAE720DA5}"/>
              </a:ext>
            </a:extLst>
          </p:cNvPr>
          <p:cNvSpPr/>
          <p:nvPr/>
        </p:nvSpPr>
        <p:spPr>
          <a:xfrm>
            <a:off x="11026250" y="2601940"/>
            <a:ext cx="329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lt"/>
                <a:ea typeface="Aptos" pitchFamily="34" charset="-122"/>
                <a:cs typeface="Aptos" pitchFamily="34" charset="-120"/>
              </a:rPr>
              <a:t>2</a:t>
            </a:r>
            <a:endParaRPr lang="en-US" sz="1050" dirty="0">
              <a:latin typeface="+mj-lt"/>
            </a:endParaRPr>
          </a:p>
        </p:txBody>
      </p:sp>
      <p:sp>
        <p:nvSpPr>
          <p:cNvPr id="142" name="Text 70">
            <a:extLst>
              <a:ext uri="{FF2B5EF4-FFF2-40B4-BE49-F238E27FC236}">
                <a16:creationId xmlns:a16="http://schemas.microsoft.com/office/drawing/2014/main" id="{23BE68DD-AE49-D7C3-3DC5-F7EFEE749F04}"/>
              </a:ext>
            </a:extLst>
          </p:cNvPr>
          <p:cNvSpPr/>
          <p:nvPr/>
        </p:nvSpPr>
        <p:spPr>
          <a:xfrm>
            <a:off x="9974690" y="2871688"/>
            <a:ext cx="1389888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• Targets &amp; geology</a:t>
            </a:r>
            <a:endParaRPr lang="en-US" sz="920" dirty="0">
              <a:latin typeface="+mj-lt"/>
            </a:endParaRPr>
          </a:p>
          <a:p>
            <a:pPr marL="0" indent="0">
              <a:buNone/>
            </a:pPr>
            <a:r>
              <a:rPr lang="en-US" sz="92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• PPFG / fluids</a:t>
            </a:r>
            <a:endParaRPr lang="en-US" sz="920" dirty="0">
              <a:latin typeface="+mj-lt"/>
            </a:endParaRPr>
          </a:p>
          <a:p>
            <a:pPr marL="0" indent="0">
              <a:buNone/>
            </a:pPr>
            <a:r>
              <a:rPr lang="en-US" sz="92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• Reservoir basis</a:t>
            </a:r>
            <a:endParaRPr lang="en-US" sz="920" dirty="0">
              <a:latin typeface="+mj-lt"/>
            </a:endParaRPr>
          </a:p>
        </p:txBody>
      </p:sp>
      <p:sp>
        <p:nvSpPr>
          <p:cNvPr id="144" name="Shape 71">
            <a:extLst>
              <a:ext uri="{FF2B5EF4-FFF2-40B4-BE49-F238E27FC236}">
                <a16:creationId xmlns:a16="http://schemas.microsoft.com/office/drawing/2014/main" id="{29705391-667A-1705-D141-D97CA56AFA18}"/>
              </a:ext>
            </a:extLst>
          </p:cNvPr>
          <p:cNvSpPr/>
          <p:nvPr/>
        </p:nvSpPr>
        <p:spPr>
          <a:xfrm>
            <a:off x="7981298" y="3904960"/>
            <a:ext cx="1764792" cy="1234440"/>
          </a:xfrm>
          <a:prstGeom prst="roundRect">
            <a:avLst>
              <a:gd name="adj" fmla="val 5926"/>
            </a:avLst>
          </a:prstGeom>
          <a:solidFill>
            <a:srgbClr val="DDEBF7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72">
            <a:extLst>
              <a:ext uri="{FF2B5EF4-FFF2-40B4-BE49-F238E27FC236}">
                <a16:creationId xmlns:a16="http://schemas.microsoft.com/office/drawing/2014/main" id="{A0C3AAAE-F759-F83B-2612-64BEAC67440A}"/>
              </a:ext>
            </a:extLst>
          </p:cNvPr>
          <p:cNvSpPr/>
          <p:nvPr/>
        </p:nvSpPr>
        <p:spPr>
          <a:xfrm>
            <a:off x="8145890" y="4014688"/>
            <a:ext cx="106984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32E4D"/>
                </a:solidFill>
                <a:latin typeface="+mj-lt"/>
                <a:ea typeface="Aptos" pitchFamily="34" charset="-122"/>
                <a:cs typeface="Aptos" pitchFamily="34" charset="-120"/>
              </a:rPr>
              <a:t>Facilities / HSE</a:t>
            </a:r>
            <a:endParaRPr lang="en-US" sz="1120" dirty="0">
              <a:latin typeface="+mj-lt"/>
            </a:endParaRPr>
          </a:p>
        </p:txBody>
      </p:sp>
      <p:sp>
        <p:nvSpPr>
          <p:cNvPr id="148" name="Shape 73">
            <a:extLst>
              <a:ext uri="{FF2B5EF4-FFF2-40B4-BE49-F238E27FC236}">
                <a16:creationId xmlns:a16="http://schemas.microsoft.com/office/drawing/2014/main" id="{289A0FE4-A9FF-719C-570A-9B75B0319563}"/>
              </a:ext>
            </a:extLst>
          </p:cNvPr>
          <p:cNvSpPr/>
          <p:nvPr/>
        </p:nvSpPr>
        <p:spPr>
          <a:xfrm>
            <a:off x="9243170" y="3978112"/>
            <a:ext cx="329184" cy="32918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74">
            <a:extLst>
              <a:ext uri="{FF2B5EF4-FFF2-40B4-BE49-F238E27FC236}">
                <a16:creationId xmlns:a16="http://schemas.microsoft.com/office/drawing/2014/main" id="{F0EEDC61-B296-CEF0-684C-2E8ED37B4EAB}"/>
              </a:ext>
            </a:extLst>
          </p:cNvPr>
          <p:cNvSpPr/>
          <p:nvPr/>
        </p:nvSpPr>
        <p:spPr>
          <a:xfrm>
            <a:off x="9243170" y="4046692"/>
            <a:ext cx="329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lt"/>
                <a:ea typeface="Aptos" pitchFamily="34" charset="-122"/>
                <a:cs typeface="Aptos" pitchFamily="34" charset="-120"/>
              </a:rPr>
              <a:t>2</a:t>
            </a:r>
            <a:endParaRPr lang="en-US" sz="1050" dirty="0">
              <a:latin typeface="+mj-lt"/>
            </a:endParaRPr>
          </a:p>
        </p:txBody>
      </p:sp>
      <p:sp>
        <p:nvSpPr>
          <p:cNvPr id="152" name="Text 75">
            <a:extLst>
              <a:ext uri="{FF2B5EF4-FFF2-40B4-BE49-F238E27FC236}">
                <a16:creationId xmlns:a16="http://schemas.microsoft.com/office/drawing/2014/main" id="{1D283675-BAAF-95DB-42B6-6D4532C0F037}"/>
              </a:ext>
            </a:extLst>
          </p:cNvPr>
          <p:cNvSpPr/>
          <p:nvPr/>
        </p:nvSpPr>
        <p:spPr>
          <a:xfrm>
            <a:off x="8145890" y="4316440"/>
            <a:ext cx="1435608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• Wellsite readiness</a:t>
            </a:r>
            <a:endParaRPr lang="en-US" sz="920" dirty="0">
              <a:latin typeface="+mj-lt"/>
            </a:endParaRPr>
          </a:p>
          <a:p>
            <a:pPr marL="0" indent="0">
              <a:buNone/>
            </a:pPr>
            <a:r>
              <a:rPr lang="en-US" sz="92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• Surface facilities</a:t>
            </a:r>
            <a:endParaRPr lang="en-US" sz="920" dirty="0">
              <a:latin typeface="+mj-lt"/>
            </a:endParaRPr>
          </a:p>
          <a:p>
            <a:pPr marL="0" indent="0">
              <a:buNone/>
            </a:pPr>
            <a:r>
              <a:rPr lang="en-US" sz="92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• HSSE interface</a:t>
            </a:r>
            <a:endParaRPr lang="en-US" sz="920" dirty="0">
              <a:latin typeface="+mj-lt"/>
            </a:endParaRPr>
          </a:p>
        </p:txBody>
      </p:sp>
      <p:sp>
        <p:nvSpPr>
          <p:cNvPr id="154" name="Shape 76">
            <a:extLst>
              <a:ext uri="{FF2B5EF4-FFF2-40B4-BE49-F238E27FC236}">
                <a16:creationId xmlns:a16="http://schemas.microsoft.com/office/drawing/2014/main" id="{391C7A34-473F-ABC2-3885-D07FFD008061}"/>
              </a:ext>
            </a:extLst>
          </p:cNvPr>
          <p:cNvSpPr/>
          <p:nvPr/>
        </p:nvSpPr>
        <p:spPr>
          <a:xfrm>
            <a:off x="9810098" y="3904960"/>
            <a:ext cx="1719072" cy="1234440"/>
          </a:xfrm>
          <a:prstGeom prst="roundRect">
            <a:avLst>
              <a:gd name="adj" fmla="val 5926"/>
            </a:avLst>
          </a:prstGeom>
          <a:solidFill>
            <a:srgbClr val="E4DFEC"/>
          </a:solidFill>
          <a:ln w="1524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77">
            <a:extLst>
              <a:ext uri="{FF2B5EF4-FFF2-40B4-BE49-F238E27FC236}">
                <a16:creationId xmlns:a16="http://schemas.microsoft.com/office/drawing/2014/main" id="{95B77225-0A9C-354E-7A0B-8BB4C87A26E9}"/>
              </a:ext>
            </a:extLst>
          </p:cNvPr>
          <p:cNvSpPr/>
          <p:nvPr/>
        </p:nvSpPr>
        <p:spPr>
          <a:xfrm>
            <a:off x="9974690" y="4014688"/>
            <a:ext cx="10241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32E4D"/>
                </a:solidFill>
                <a:latin typeface="+mj-lt"/>
                <a:ea typeface="Aptos" pitchFamily="34" charset="-122"/>
                <a:cs typeface="Aptos" pitchFamily="34" charset="-120"/>
              </a:rPr>
              <a:t>Project Integration</a:t>
            </a:r>
            <a:endParaRPr lang="en-US" sz="1120" dirty="0">
              <a:latin typeface="+mj-lt"/>
            </a:endParaRPr>
          </a:p>
        </p:txBody>
      </p:sp>
      <p:sp>
        <p:nvSpPr>
          <p:cNvPr id="158" name="Shape 78">
            <a:extLst>
              <a:ext uri="{FF2B5EF4-FFF2-40B4-BE49-F238E27FC236}">
                <a16:creationId xmlns:a16="http://schemas.microsoft.com/office/drawing/2014/main" id="{301725F9-1CF5-EF73-1657-198796F1BFDD}"/>
              </a:ext>
            </a:extLst>
          </p:cNvPr>
          <p:cNvSpPr/>
          <p:nvPr/>
        </p:nvSpPr>
        <p:spPr>
          <a:xfrm>
            <a:off x="11026250" y="3978112"/>
            <a:ext cx="329184" cy="32918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79">
            <a:extLst>
              <a:ext uri="{FF2B5EF4-FFF2-40B4-BE49-F238E27FC236}">
                <a16:creationId xmlns:a16="http://schemas.microsoft.com/office/drawing/2014/main" id="{C68E6C2A-BF4E-1FA7-A1E0-AE5C7D413B3A}"/>
              </a:ext>
            </a:extLst>
          </p:cNvPr>
          <p:cNvSpPr/>
          <p:nvPr/>
        </p:nvSpPr>
        <p:spPr>
          <a:xfrm>
            <a:off x="11026250" y="4046692"/>
            <a:ext cx="329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+mj-lt"/>
                <a:ea typeface="Aptos" pitchFamily="34" charset="-122"/>
                <a:cs typeface="Aptos" pitchFamily="34" charset="-120"/>
              </a:rPr>
              <a:t>1</a:t>
            </a:r>
            <a:endParaRPr lang="en-US" sz="1050" dirty="0">
              <a:latin typeface="+mj-lt"/>
            </a:endParaRPr>
          </a:p>
        </p:txBody>
      </p:sp>
      <p:sp>
        <p:nvSpPr>
          <p:cNvPr id="162" name="Text 80">
            <a:extLst>
              <a:ext uri="{FF2B5EF4-FFF2-40B4-BE49-F238E27FC236}">
                <a16:creationId xmlns:a16="http://schemas.microsoft.com/office/drawing/2014/main" id="{15BA4A10-B8F2-3CC8-4BD3-2AFFD3BF1138}"/>
              </a:ext>
            </a:extLst>
          </p:cNvPr>
          <p:cNvSpPr/>
          <p:nvPr/>
        </p:nvSpPr>
        <p:spPr>
          <a:xfrm>
            <a:off x="9974690" y="4316440"/>
            <a:ext cx="1389888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• BOD coordination</a:t>
            </a:r>
            <a:endParaRPr lang="en-US" sz="920" dirty="0">
              <a:latin typeface="+mj-lt"/>
            </a:endParaRPr>
          </a:p>
          <a:p>
            <a:pPr marL="0" indent="0">
              <a:buNone/>
            </a:pPr>
            <a:r>
              <a:rPr lang="en-US" sz="92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• Cross-discipline alignment</a:t>
            </a:r>
            <a:endParaRPr lang="en-US" sz="920" dirty="0">
              <a:latin typeface="+mj-lt"/>
            </a:endParaRPr>
          </a:p>
          <a:p>
            <a:pPr marL="0" indent="0">
              <a:buNone/>
            </a:pPr>
            <a:r>
              <a:rPr lang="en-US" sz="920" dirty="0">
                <a:solidFill>
                  <a:srgbClr val="000000"/>
                </a:solidFill>
                <a:latin typeface="+mj-lt"/>
                <a:ea typeface="Aptos" pitchFamily="34" charset="-122"/>
                <a:cs typeface="Aptos" pitchFamily="34" charset="-120"/>
              </a:rPr>
              <a:t>• Document control</a:t>
            </a:r>
            <a:endParaRPr lang="en-US" sz="92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DCA3F1-0640-C633-C325-D9F3F77BAE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5D7C9B42-68A4-961B-F27F-A1F099D3E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A69CD844-DB5F-C102-8C8F-DB876797EA4F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AFDC08E1-1DC2-9420-85B5-D999C09211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3170E1F5-D10F-99C8-BFF0-643A93776C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roup 330">
            <a:extLst>
              <a:ext uri="{FF2B5EF4-FFF2-40B4-BE49-F238E27FC236}">
                <a16:creationId xmlns:a16="http://schemas.microsoft.com/office/drawing/2014/main" id="{3DF99E4D-834A-6234-3707-651C5DDF1D30}"/>
              </a:ext>
            </a:extLst>
          </p:cNvPr>
          <p:cNvGrpSpPr/>
          <p:nvPr/>
        </p:nvGrpSpPr>
        <p:grpSpPr>
          <a:xfrm>
            <a:off x="417576" y="1436550"/>
            <a:ext cx="11356848" cy="4654296"/>
            <a:chOff x="325939" y="1841903"/>
            <a:chExt cx="11356848" cy="4654296"/>
          </a:xfrm>
        </p:grpSpPr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A028CF94-437F-4050-0699-FFB0AF1EA260}"/>
                </a:ext>
              </a:extLst>
            </p:cNvPr>
            <p:cNvSpPr/>
            <p:nvPr/>
          </p:nvSpPr>
          <p:spPr>
            <a:xfrm>
              <a:off x="325939" y="1841903"/>
              <a:ext cx="3639312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5240">
              <a:solidFill>
                <a:srgbClr val="D9E2F3"/>
              </a:solidFill>
              <a:prstDash val="solid"/>
            </a:ln>
            <a:effectLst>
              <a:outerShdw blurRad="12700" dist="50800" dir="2700000" algn="bl" rotWithShape="0">
                <a:srgbClr val="BBBBBB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9">
              <a:extLst>
                <a:ext uri="{FF2B5EF4-FFF2-40B4-BE49-F238E27FC236}">
                  <a16:creationId xmlns:a16="http://schemas.microsoft.com/office/drawing/2014/main" id="{36E228FF-4937-1E2A-1780-044013BBC6D7}"/>
                </a:ext>
              </a:extLst>
            </p:cNvPr>
            <p:cNvSpPr/>
            <p:nvPr/>
          </p:nvSpPr>
          <p:spPr>
            <a:xfrm>
              <a:off x="435667" y="1969919"/>
              <a:ext cx="566928" cy="438912"/>
            </a:xfrm>
            <a:prstGeom prst="roundRect">
              <a:avLst>
                <a:gd name="adj" fmla="val 10417"/>
              </a:avLst>
            </a:prstGeom>
            <a:solidFill>
              <a:srgbClr val="2F5597"/>
            </a:solidFill>
            <a:ln w="12700">
              <a:solidFill>
                <a:srgbClr val="2F559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9BBAD9FA-2F67-CFF0-D87A-E6FD3ED67EC8}"/>
                </a:ext>
              </a:extLst>
            </p:cNvPr>
            <p:cNvSpPr txBox="1"/>
            <p:nvPr/>
          </p:nvSpPr>
          <p:spPr>
            <a:xfrm>
              <a:off x="435667" y="2047643"/>
              <a:ext cx="566928" cy="16459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01</a:t>
              </a:r>
              <a:endParaRPr lang="en-US" sz="1300" dirty="0">
                <a:latin typeface="+mj-lt"/>
              </a:endParaRPr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86813F46-8119-B5F7-CA13-F2BA9B7EB347}"/>
                </a:ext>
              </a:extLst>
            </p:cNvPr>
            <p:cNvSpPr txBox="1"/>
            <p:nvPr/>
          </p:nvSpPr>
          <p:spPr>
            <a:xfrm>
              <a:off x="1084891" y="1951631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F5597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Ch. 1–2</a:t>
              </a:r>
              <a:endParaRPr lang="en-US" sz="1050" dirty="0">
                <a:latin typeface="+mj-lt"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0A637EC7-B474-8485-8E95-FC15A6363D47}"/>
                </a:ext>
              </a:extLst>
            </p:cNvPr>
            <p:cNvSpPr txBox="1"/>
            <p:nvPr/>
          </p:nvSpPr>
          <p:spPr>
            <a:xfrm>
              <a:off x="1084891" y="2189375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60" b="1" dirty="0">
                  <a:solidFill>
                    <a:srgbClr val="12304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Well Overview &amp; Project Basis</a:t>
              </a:r>
              <a:endParaRPr lang="en-US" sz="1360" dirty="0">
                <a:latin typeface="+mj-lt"/>
              </a:endParaRPr>
            </a:p>
          </p:txBody>
        </p:sp>
        <p:sp>
          <p:nvSpPr>
            <p:cNvPr id="17" name="Shape 13">
              <a:extLst>
                <a:ext uri="{FF2B5EF4-FFF2-40B4-BE49-F238E27FC236}">
                  <a16:creationId xmlns:a16="http://schemas.microsoft.com/office/drawing/2014/main" id="{FBE3686B-8F0F-95BE-7586-6BE61AACDEDE}"/>
                </a:ext>
              </a:extLst>
            </p:cNvPr>
            <p:cNvSpPr/>
            <p:nvPr/>
          </p:nvSpPr>
          <p:spPr>
            <a:xfrm>
              <a:off x="1084891" y="2555135"/>
              <a:ext cx="2633472" cy="0"/>
            </a:xfrm>
            <a:prstGeom prst="line">
              <a:avLst/>
            </a:prstGeom>
            <a:noFill/>
            <a:ln w="10160">
              <a:solidFill>
                <a:srgbClr val="E6E6E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89E289C5-75A7-37F2-0ECF-31C320BD246A}"/>
                </a:ext>
              </a:extLst>
            </p:cNvPr>
            <p:cNvSpPr txBox="1"/>
            <p:nvPr/>
          </p:nvSpPr>
          <p:spPr>
            <a:xfrm>
              <a:off x="490531" y="2628287"/>
              <a:ext cx="3310128" cy="49377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20" dirty="0">
                  <a:solidFill>
                    <a:srgbClr val="4D4D4D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General well information, project background, objectives, success criteria, constraints, assumptions, and well schematic.</a:t>
              </a:r>
              <a:endParaRPr lang="en-US" sz="1020" dirty="0">
                <a:latin typeface="+mj-lt"/>
              </a:endParaRPr>
            </a:p>
          </p:txBody>
        </p:sp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504A7103-69EC-D725-51A9-3CED905DA401}"/>
                </a:ext>
              </a:extLst>
            </p:cNvPr>
            <p:cNvSpPr/>
            <p:nvPr/>
          </p:nvSpPr>
          <p:spPr>
            <a:xfrm>
              <a:off x="4184707" y="1841903"/>
              <a:ext cx="3639312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5240">
              <a:solidFill>
                <a:srgbClr val="D9E2F3"/>
              </a:solidFill>
              <a:prstDash val="solid"/>
            </a:ln>
            <a:effectLst>
              <a:outerShdw blurRad="12700" dist="50800" dir="2700000" algn="bl" rotWithShape="0">
                <a:srgbClr val="BBBBBB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DDC134B9-0BB4-9852-E365-BA785793AF77}"/>
                </a:ext>
              </a:extLst>
            </p:cNvPr>
            <p:cNvSpPr/>
            <p:nvPr/>
          </p:nvSpPr>
          <p:spPr>
            <a:xfrm>
              <a:off x="4294435" y="1969919"/>
              <a:ext cx="566928" cy="438912"/>
            </a:xfrm>
            <a:prstGeom prst="roundRect">
              <a:avLst>
                <a:gd name="adj" fmla="val 10417"/>
              </a:avLst>
            </a:prstGeom>
            <a:solidFill>
              <a:srgbClr val="2F5597"/>
            </a:solidFill>
            <a:ln w="12700">
              <a:solidFill>
                <a:srgbClr val="2F559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903DDA5F-D208-E0FD-51BB-68A2DCC1BCCE}"/>
                </a:ext>
              </a:extLst>
            </p:cNvPr>
            <p:cNvSpPr txBox="1"/>
            <p:nvPr/>
          </p:nvSpPr>
          <p:spPr>
            <a:xfrm>
              <a:off x="4294435" y="2047643"/>
              <a:ext cx="566928" cy="16459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02</a:t>
              </a:r>
              <a:endParaRPr lang="en-US" sz="1300" dirty="0">
                <a:latin typeface="+mj-lt"/>
              </a:endParaRPr>
            </a:p>
          </p:txBody>
        </p:sp>
        <p:sp>
          <p:nvSpPr>
            <p:cNvPr id="27" name="Text 18">
              <a:extLst>
                <a:ext uri="{FF2B5EF4-FFF2-40B4-BE49-F238E27FC236}">
                  <a16:creationId xmlns:a16="http://schemas.microsoft.com/office/drawing/2014/main" id="{975F4BD1-2C16-A79F-1FC0-CFD629703376}"/>
                </a:ext>
              </a:extLst>
            </p:cNvPr>
            <p:cNvSpPr txBox="1"/>
            <p:nvPr/>
          </p:nvSpPr>
          <p:spPr>
            <a:xfrm>
              <a:off x="4943659" y="1951631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F5597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Ch. 3 + 6</a:t>
              </a:r>
              <a:endParaRPr lang="en-US" sz="1050" dirty="0">
                <a:latin typeface="+mj-lt"/>
              </a:endParaRPr>
            </a:p>
          </p:txBody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74868FCF-AD0A-305A-F4F8-3630B9EC11E0}"/>
                </a:ext>
              </a:extLst>
            </p:cNvPr>
            <p:cNvSpPr txBox="1"/>
            <p:nvPr/>
          </p:nvSpPr>
          <p:spPr>
            <a:xfrm>
              <a:off x="4943659" y="2189375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85000" lnSpcReduction="10000"/>
            </a:bodyPr>
            <a:lstStyle/>
            <a:p>
              <a:pPr marL="0" indent="0" algn="l">
                <a:buNone/>
              </a:pPr>
              <a:r>
                <a:rPr lang="en-US" sz="1360" b="1" dirty="0">
                  <a:solidFill>
                    <a:srgbClr val="12304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Subsurface &amp; Geomechanics Basis</a:t>
              </a:r>
              <a:endParaRPr lang="en-US" sz="1360" dirty="0">
                <a:latin typeface="+mj-lt"/>
              </a:endParaRPr>
            </a:p>
          </p:txBody>
        </p:sp>
        <p:sp>
          <p:nvSpPr>
            <p:cNvPr id="31" name="Shape 20">
              <a:extLst>
                <a:ext uri="{FF2B5EF4-FFF2-40B4-BE49-F238E27FC236}">
                  <a16:creationId xmlns:a16="http://schemas.microsoft.com/office/drawing/2014/main" id="{D1E57C97-D1C0-C86B-E3FA-37EBD4AFD737}"/>
                </a:ext>
              </a:extLst>
            </p:cNvPr>
            <p:cNvSpPr/>
            <p:nvPr/>
          </p:nvSpPr>
          <p:spPr>
            <a:xfrm>
              <a:off x="4943659" y="2555135"/>
              <a:ext cx="2633472" cy="0"/>
            </a:xfrm>
            <a:prstGeom prst="line">
              <a:avLst/>
            </a:prstGeom>
            <a:noFill/>
            <a:ln w="10160">
              <a:solidFill>
                <a:srgbClr val="E6E6E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1">
              <a:extLst>
                <a:ext uri="{FF2B5EF4-FFF2-40B4-BE49-F238E27FC236}">
                  <a16:creationId xmlns:a16="http://schemas.microsoft.com/office/drawing/2014/main" id="{56970434-4999-E2C7-6047-14E7FBAFB132}"/>
                </a:ext>
              </a:extLst>
            </p:cNvPr>
            <p:cNvSpPr txBox="1"/>
            <p:nvPr/>
          </p:nvSpPr>
          <p:spPr>
            <a:xfrm>
              <a:off x="4349299" y="2628287"/>
              <a:ext cx="3310128" cy="49377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20" dirty="0">
                  <a:solidFill>
                    <a:srgbClr val="4D4D4D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Reservoir targets, offset data, PPFG, subsurface hazards, stress model, wellbore stability and mud-weight window.</a:t>
              </a:r>
              <a:endParaRPr lang="en-US" sz="1020" dirty="0">
                <a:latin typeface="+mj-lt"/>
              </a:endParaRPr>
            </a:p>
          </p:txBody>
        </p:sp>
        <p:sp>
          <p:nvSpPr>
            <p:cNvPr id="35" name="Shape 22">
              <a:extLst>
                <a:ext uri="{FF2B5EF4-FFF2-40B4-BE49-F238E27FC236}">
                  <a16:creationId xmlns:a16="http://schemas.microsoft.com/office/drawing/2014/main" id="{6E7CC1ED-11A3-B563-3546-06D0220C1CBD}"/>
                </a:ext>
              </a:extLst>
            </p:cNvPr>
            <p:cNvSpPr/>
            <p:nvPr/>
          </p:nvSpPr>
          <p:spPr>
            <a:xfrm>
              <a:off x="8043475" y="1841903"/>
              <a:ext cx="3639312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5240">
              <a:solidFill>
                <a:srgbClr val="D9E2F3"/>
              </a:solidFill>
              <a:prstDash val="solid"/>
            </a:ln>
            <a:effectLst>
              <a:outerShdw blurRad="12700" dist="50800" dir="2700000" algn="bl" rotWithShape="0">
                <a:srgbClr val="BBBBBB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23">
              <a:extLst>
                <a:ext uri="{FF2B5EF4-FFF2-40B4-BE49-F238E27FC236}">
                  <a16:creationId xmlns:a16="http://schemas.microsoft.com/office/drawing/2014/main" id="{DF0E749F-7608-101D-7EA5-B94B3F9D6277}"/>
                </a:ext>
              </a:extLst>
            </p:cNvPr>
            <p:cNvSpPr/>
            <p:nvPr/>
          </p:nvSpPr>
          <p:spPr>
            <a:xfrm>
              <a:off x="8153203" y="1969919"/>
              <a:ext cx="566928" cy="438912"/>
            </a:xfrm>
            <a:prstGeom prst="roundRect">
              <a:avLst>
                <a:gd name="adj" fmla="val 10417"/>
              </a:avLst>
            </a:prstGeom>
            <a:solidFill>
              <a:srgbClr val="ED7D31"/>
            </a:solidFill>
            <a:ln w="12700">
              <a:solidFill>
                <a:srgbClr val="ED7D3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24">
              <a:extLst>
                <a:ext uri="{FF2B5EF4-FFF2-40B4-BE49-F238E27FC236}">
                  <a16:creationId xmlns:a16="http://schemas.microsoft.com/office/drawing/2014/main" id="{A95A4061-9E0F-0619-D167-72300600A29D}"/>
                </a:ext>
              </a:extLst>
            </p:cNvPr>
            <p:cNvSpPr txBox="1"/>
            <p:nvPr/>
          </p:nvSpPr>
          <p:spPr>
            <a:xfrm>
              <a:off x="8153203" y="2047643"/>
              <a:ext cx="566928" cy="16459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03</a:t>
              </a:r>
              <a:endParaRPr lang="en-US" sz="1300" dirty="0">
                <a:latin typeface="+mj-lt"/>
              </a:endParaRPr>
            </a:p>
          </p:txBody>
        </p:sp>
        <p:sp>
          <p:nvSpPr>
            <p:cNvPr id="41" name="Text 25">
              <a:extLst>
                <a:ext uri="{FF2B5EF4-FFF2-40B4-BE49-F238E27FC236}">
                  <a16:creationId xmlns:a16="http://schemas.microsoft.com/office/drawing/2014/main" id="{96D738A1-CB5E-8995-6BE4-9E1B25A18E00}"/>
                </a:ext>
              </a:extLst>
            </p:cNvPr>
            <p:cNvSpPr txBox="1"/>
            <p:nvPr/>
          </p:nvSpPr>
          <p:spPr>
            <a:xfrm>
              <a:off x="8802427" y="1951631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ED7D31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Ch. 4 + 9</a:t>
              </a:r>
              <a:endParaRPr lang="en-US" sz="1050" dirty="0">
                <a:latin typeface="+mj-lt"/>
              </a:endParaRPr>
            </a:p>
          </p:txBody>
        </p:sp>
        <p:sp>
          <p:nvSpPr>
            <p:cNvPr id="43" name="Text 26">
              <a:extLst>
                <a:ext uri="{FF2B5EF4-FFF2-40B4-BE49-F238E27FC236}">
                  <a16:creationId xmlns:a16="http://schemas.microsoft.com/office/drawing/2014/main" id="{946A617B-1EA6-D6D8-DCD4-6E52625B13AA}"/>
                </a:ext>
              </a:extLst>
            </p:cNvPr>
            <p:cNvSpPr txBox="1"/>
            <p:nvPr/>
          </p:nvSpPr>
          <p:spPr>
            <a:xfrm>
              <a:off x="8802427" y="2189375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360" b="1" dirty="0">
                  <a:solidFill>
                    <a:srgbClr val="12304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Well Trajectory, Directional Drilling &amp; BHA</a:t>
              </a:r>
              <a:endParaRPr lang="en-US" sz="1360" dirty="0">
                <a:latin typeface="+mj-lt"/>
              </a:endParaRPr>
            </a:p>
          </p:txBody>
        </p:sp>
        <p:sp>
          <p:nvSpPr>
            <p:cNvPr id="45" name="Shape 27">
              <a:extLst>
                <a:ext uri="{FF2B5EF4-FFF2-40B4-BE49-F238E27FC236}">
                  <a16:creationId xmlns:a16="http://schemas.microsoft.com/office/drawing/2014/main" id="{9D52EBE5-968D-0E9D-3921-BBE63827674D}"/>
                </a:ext>
              </a:extLst>
            </p:cNvPr>
            <p:cNvSpPr/>
            <p:nvPr/>
          </p:nvSpPr>
          <p:spPr>
            <a:xfrm>
              <a:off x="8802427" y="2555135"/>
              <a:ext cx="2633472" cy="0"/>
            </a:xfrm>
            <a:prstGeom prst="line">
              <a:avLst/>
            </a:prstGeom>
            <a:noFill/>
            <a:ln w="10160">
              <a:solidFill>
                <a:srgbClr val="E6E6E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28">
              <a:extLst>
                <a:ext uri="{FF2B5EF4-FFF2-40B4-BE49-F238E27FC236}">
                  <a16:creationId xmlns:a16="http://schemas.microsoft.com/office/drawing/2014/main" id="{1413ACE7-593A-E34B-E8FD-84DFE9D3E79D}"/>
                </a:ext>
              </a:extLst>
            </p:cNvPr>
            <p:cNvSpPr txBox="1"/>
            <p:nvPr/>
          </p:nvSpPr>
          <p:spPr>
            <a:xfrm>
              <a:off x="8208067" y="2628287"/>
              <a:ext cx="3310128" cy="49377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20" dirty="0">
                  <a:solidFill>
                    <a:srgbClr val="4D4D4D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J-type profile, KOP/BUR/DLS, torque &amp; drag, BHA configuration, bit selection, MWD and directional-control plan.</a:t>
              </a:r>
              <a:endParaRPr lang="en-US" sz="1020" dirty="0">
                <a:latin typeface="+mj-lt"/>
              </a:endParaRPr>
            </a:p>
          </p:txBody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03CA7355-61A2-59EE-383E-D8DB78AC5421}"/>
                </a:ext>
              </a:extLst>
            </p:cNvPr>
            <p:cNvSpPr/>
            <p:nvPr/>
          </p:nvSpPr>
          <p:spPr>
            <a:xfrm>
              <a:off x="325939" y="3460391"/>
              <a:ext cx="3639312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5240">
              <a:solidFill>
                <a:srgbClr val="D9E2F3"/>
              </a:solidFill>
              <a:prstDash val="solid"/>
            </a:ln>
            <a:effectLst>
              <a:outerShdw blurRad="12700" dist="50800" dir="2700000" algn="bl" rotWithShape="0">
                <a:srgbClr val="BBBBBB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30">
              <a:extLst>
                <a:ext uri="{FF2B5EF4-FFF2-40B4-BE49-F238E27FC236}">
                  <a16:creationId xmlns:a16="http://schemas.microsoft.com/office/drawing/2014/main" id="{90E46E7C-70D7-C9E6-3AC3-AC96C41C7367}"/>
                </a:ext>
              </a:extLst>
            </p:cNvPr>
            <p:cNvSpPr/>
            <p:nvPr/>
          </p:nvSpPr>
          <p:spPr>
            <a:xfrm>
              <a:off x="435667" y="3588407"/>
              <a:ext cx="566928" cy="438912"/>
            </a:xfrm>
            <a:prstGeom prst="roundRect">
              <a:avLst>
                <a:gd name="adj" fmla="val 10417"/>
              </a:avLst>
            </a:prstGeom>
            <a:solidFill>
              <a:srgbClr val="70AD47"/>
            </a:solidFill>
            <a:ln w="12700">
              <a:solidFill>
                <a:srgbClr val="70AD4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31">
              <a:extLst>
                <a:ext uri="{FF2B5EF4-FFF2-40B4-BE49-F238E27FC236}">
                  <a16:creationId xmlns:a16="http://schemas.microsoft.com/office/drawing/2014/main" id="{1318FE8D-C779-2C9B-69C2-CBC2000AA9FB}"/>
                </a:ext>
              </a:extLst>
            </p:cNvPr>
            <p:cNvSpPr txBox="1"/>
            <p:nvPr/>
          </p:nvSpPr>
          <p:spPr>
            <a:xfrm>
              <a:off x="435667" y="3666131"/>
              <a:ext cx="566928" cy="16459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04</a:t>
              </a:r>
              <a:endParaRPr lang="en-US" sz="1300" dirty="0">
                <a:latin typeface="+mj-lt"/>
              </a:endParaRPr>
            </a:p>
          </p:txBody>
        </p:sp>
        <p:sp>
          <p:nvSpPr>
            <p:cNvPr id="55" name="Text 32">
              <a:extLst>
                <a:ext uri="{FF2B5EF4-FFF2-40B4-BE49-F238E27FC236}">
                  <a16:creationId xmlns:a16="http://schemas.microsoft.com/office/drawing/2014/main" id="{753408F5-3497-6C28-16CD-CE450B15FCD9}"/>
                </a:ext>
              </a:extLst>
            </p:cNvPr>
            <p:cNvSpPr txBox="1"/>
            <p:nvPr/>
          </p:nvSpPr>
          <p:spPr>
            <a:xfrm>
              <a:off x="1084891" y="3570119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70AD47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Ch. 5 + 8</a:t>
              </a:r>
              <a:endParaRPr lang="en-US" sz="1050" dirty="0">
                <a:latin typeface="+mj-lt"/>
              </a:endParaRPr>
            </a:p>
          </p:txBody>
        </p:sp>
        <p:sp>
          <p:nvSpPr>
            <p:cNvPr id="57" name="Text 33">
              <a:extLst>
                <a:ext uri="{FF2B5EF4-FFF2-40B4-BE49-F238E27FC236}">
                  <a16:creationId xmlns:a16="http://schemas.microsoft.com/office/drawing/2014/main" id="{7C8F0A92-A26F-8DF5-9923-D98158A52F7C}"/>
                </a:ext>
              </a:extLst>
            </p:cNvPr>
            <p:cNvSpPr txBox="1"/>
            <p:nvPr/>
          </p:nvSpPr>
          <p:spPr>
            <a:xfrm>
              <a:off x="1084891" y="3807863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85000" lnSpcReduction="10000"/>
            </a:bodyPr>
            <a:lstStyle/>
            <a:p>
              <a:pPr marL="0" indent="0" algn="l">
                <a:buNone/>
              </a:pPr>
              <a:r>
                <a:rPr lang="en-US" sz="1360" b="1" dirty="0">
                  <a:solidFill>
                    <a:srgbClr val="12304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Casing, Tubing &amp; Cementing Design</a:t>
              </a:r>
              <a:endParaRPr lang="en-US" sz="1360" dirty="0">
                <a:latin typeface="+mj-lt"/>
              </a:endParaRPr>
            </a:p>
          </p:txBody>
        </p:sp>
        <p:sp>
          <p:nvSpPr>
            <p:cNvPr id="59" name="Shape 34">
              <a:extLst>
                <a:ext uri="{FF2B5EF4-FFF2-40B4-BE49-F238E27FC236}">
                  <a16:creationId xmlns:a16="http://schemas.microsoft.com/office/drawing/2014/main" id="{D4BFB0A7-D158-50F2-EAE6-3E78EE7EFBF1}"/>
                </a:ext>
              </a:extLst>
            </p:cNvPr>
            <p:cNvSpPr/>
            <p:nvPr/>
          </p:nvSpPr>
          <p:spPr>
            <a:xfrm>
              <a:off x="1084891" y="4173623"/>
              <a:ext cx="2633472" cy="0"/>
            </a:xfrm>
            <a:prstGeom prst="line">
              <a:avLst/>
            </a:prstGeom>
            <a:noFill/>
            <a:ln w="10160">
              <a:solidFill>
                <a:srgbClr val="E6E6E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35">
              <a:extLst>
                <a:ext uri="{FF2B5EF4-FFF2-40B4-BE49-F238E27FC236}">
                  <a16:creationId xmlns:a16="http://schemas.microsoft.com/office/drawing/2014/main" id="{0FFB1A9A-362A-C701-86C9-A8B4E684470D}"/>
                </a:ext>
              </a:extLst>
            </p:cNvPr>
            <p:cNvSpPr txBox="1"/>
            <p:nvPr/>
          </p:nvSpPr>
          <p:spPr>
            <a:xfrm>
              <a:off x="490531" y="4246775"/>
              <a:ext cx="3310128" cy="49377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20" dirty="0">
                  <a:solidFill>
                    <a:srgbClr val="4D4D4D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Casing seat, kick tolerance, structural load, material/connection selection, cement slurry and zonal isolation.</a:t>
              </a:r>
              <a:endParaRPr lang="en-US" sz="1020" dirty="0">
                <a:latin typeface="+mj-lt"/>
              </a:endParaRPr>
            </a:p>
          </p:txBody>
        </p:sp>
        <p:sp>
          <p:nvSpPr>
            <p:cNvPr id="63" name="Shape 36">
              <a:extLst>
                <a:ext uri="{FF2B5EF4-FFF2-40B4-BE49-F238E27FC236}">
                  <a16:creationId xmlns:a16="http://schemas.microsoft.com/office/drawing/2014/main" id="{959551F7-CBEB-3E46-3002-561210C1BABC}"/>
                </a:ext>
              </a:extLst>
            </p:cNvPr>
            <p:cNvSpPr/>
            <p:nvPr/>
          </p:nvSpPr>
          <p:spPr>
            <a:xfrm>
              <a:off x="4184707" y="3460391"/>
              <a:ext cx="3639312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5240">
              <a:solidFill>
                <a:srgbClr val="D9E2F3"/>
              </a:solidFill>
              <a:prstDash val="solid"/>
            </a:ln>
            <a:effectLst>
              <a:outerShdw blurRad="12700" dist="50800" dir="2700000" algn="bl" rotWithShape="0">
                <a:srgbClr val="BBBBBB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Shape 37">
              <a:extLst>
                <a:ext uri="{FF2B5EF4-FFF2-40B4-BE49-F238E27FC236}">
                  <a16:creationId xmlns:a16="http://schemas.microsoft.com/office/drawing/2014/main" id="{E7C32D02-AB3A-7A96-F9CC-AFFC1D2111F8}"/>
                </a:ext>
              </a:extLst>
            </p:cNvPr>
            <p:cNvSpPr/>
            <p:nvPr/>
          </p:nvSpPr>
          <p:spPr>
            <a:xfrm>
              <a:off x="4294435" y="3588407"/>
              <a:ext cx="566928" cy="438912"/>
            </a:xfrm>
            <a:prstGeom prst="roundRect">
              <a:avLst>
                <a:gd name="adj" fmla="val 10417"/>
              </a:avLst>
            </a:prstGeom>
            <a:solidFill>
              <a:srgbClr val="70AD47"/>
            </a:solidFill>
            <a:ln w="12700">
              <a:solidFill>
                <a:srgbClr val="70AD4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Text 38">
              <a:extLst>
                <a:ext uri="{FF2B5EF4-FFF2-40B4-BE49-F238E27FC236}">
                  <a16:creationId xmlns:a16="http://schemas.microsoft.com/office/drawing/2014/main" id="{875BBC4B-A514-3E16-DB62-9F2AA4A763C5}"/>
                </a:ext>
              </a:extLst>
            </p:cNvPr>
            <p:cNvSpPr txBox="1"/>
            <p:nvPr/>
          </p:nvSpPr>
          <p:spPr>
            <a:xfrm>
              <a:off x="4294435" y="3666131"/>
              <a:ext cx="566928" cy="16459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05</a:t>
              </a:r>
              <a:endParaRPr lang="en-US" sz="1300" dirty="0">
                <a:latin typeface="+mj-lt"/>
              </a:endParaRPr>
            </a:p>
          </p:txBody>
        </p:sp>
        <p:sp>
          <p:nvSpPr>
            <p:cNvPr id="261" name="Text 39">
              <a:extLst>
                <a:ext uri="{FF2B5EF4-FFF2-40B4-BE49-F238E27FC236}">
                  <a16:creationId xmlns:a16="http://schemas.microsoft.com/office/drawing/2014/main" id="{CAA90169-9AB2-B833-95B5-030FB437356D}"/>
                </a:ext>
              </a:extLst>
            </p:cNvPr>
            <p:cNvSpPr txBox="1"/>
            <p:nvPr/>
          </p:nvSpPr>
          <p:spPr>
            <a:xfrm>
              <a:off x="4943659" y="3570119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70AD47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Ch. 7</a:t>
              </a:r>
              <a:endParaRPr lang="en-US" sz="1050" dirty="0">
                <a:latin typeface="+mj-lt"/>
              </a:endParaRPr>
            </a:p>
          </p:txBody>
        </p:sp>
        <p:sp>
          <p:nvSpPr>
            <p:cNvPr id="263" name="Text 40">
              <a:extLst>
                <a:ext uri="{FF2B5EF4-FFF2-40B4-BE49-F238E27FC236}">
                  <a16:creationId xmlns:a16="http://schemas.microsoft.com/office/drawing/2014/main" id="{302FD9FC-A5B9-E7F8-193C-09D1500BCC44}"/>
                </a:ext>
              </a:extLst>
            </p:cNvPr>
            <p:cNvSpPr txBox="1"/>
            <p:nvPr/>
          </p:nvSpPr>
          <p:spPr>
            <a:xfrm>
              <a:off x="4943659" y="3807863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60" b="1" dirty="0">
                  <a:solidFill>
                    <a:srgbClr val="12304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Drilling Fluids &amp; Hydraulics</a:t>
              </a:r>
              <a:endParaRPr lang="en-US" sz="1360" dirty="0">
                <a:latin typeface="+mj-lt"/>
              </a:endParaRPr>
            </a:p>
          </p:txBody>
        </p:sp>
        <p:sp>
          <p:nvSpPr>
            <p:cNvPr id="265" name="Shape 41">
              <a:extLst>
                <a:ext uri="{FF2B5EF4-FFF2-40B4-BE49-F238E27FC236}">
                  <a16:creationId xmlns:a16="http://schemas.microsoft.com/office/drawing/2014/main" id="{4EED7EC1-6B5B-6EFE-2575-13D476240677}"/>
                </a:ext>
              </a:extLst>
            </p:cNvPr>
            <p:cNvSpPr/>
            <p:nvPr/>
          </p:nvSpPr>
          <p:spPr>
            <a:xfrm>
              <a:off x="4943659" y="4173623"/>
              <a:ext cx="2633472" cy="0"/>
            </a:xfrm>
            <a:prstGeom prst="line">
              <a:avLst/>
            </a:prstGeom>
            <a:noFill/>
            <a:ln w="10160">
              <a:solidFill>
                <a:srgbClr val="E6E6E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" name="Text 42">
              <a:extLst>
                <a:ext uri="{FF2B5EF4-FFF2-40B4-BE49-F238E27FC236}">
                  <a16:creationId xmlns:a16="http://schemas.microsoft.com/office/drawing/2014/main" id="{422A0378-C76A-8AE4-B62A-BC03EE142F1E}"/>
                </a:ext>
              </a:extLst>
            </p:cNvPr>
            <p:cNvSpPr txBox="1"/>
            <p:nvPr/>
          </p:nvSpPr>
          <p:spPr>
            <a:xfrm>
              <a:off x="4349299" y="4246775"/>
              <a:ext cx="3310128" cy="49377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20" dirty="0">
                  <a:solidFill>
                    <a:srgbClr val="4D4D4D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KCl-Polymer WBM, mud weight, rheology, ECD/SPP limits, hole cleaning, flow-rate requirement and bit hydraulics.</a:t>
              </a:r>
              <a:endParaRPr lang="en-US" sz="1020" dirty="0">
                <a:latin typeface="+mj-lt"/>
              </a:endParaRPr>
            </a:p>
          </p:txBody>
        </p:sp>
        <p:sp>
          <p:nvSpPr>
            <p:cNvPr id="269" name="Shape 43">
              <a:extLst>
                <a:ext uri="{FF2B5EF4-FFF2-40B4-BE49-F238E27FC236}">
                  <a16:creationId xmlns:a16="http://schemas.microsoft.com/office/drawing/2014/main" id="{9C8D64DE-4FC0-000E-BA26-13B3815ABF85}"/>
                </a:ext>
              </a:extLst>
            </p:cNvPr>
            <p:cNvSpPr/>
            <p:nvPr/>
          </p:nvSpPr>
          <p:spPr>
            <a:xfrm>
              <a:off x="8043475" y="3460391"/>
              <a:ext cx="3639312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5240">
              <a:solidFill>
                <a:srgbClr val="D9E2F3"/>
              </a:solidFill>
              <a:prstDash val="solid"/>
            </a:ln>
            <a:effectLst>
              <a:outerShdw blurRad="12700" dist="50800" dir="2700000" algn="bl" rotWithShape="0">
                <a:srgbClr val="BBBBBB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Shape 44">
              <a:extLst>
                <a:ext uri="{FF2B5EF4-FFF2-40B4-BE49-F238E27FC236}">
                  <a16:creationId xmlns:a16="http://schemas.microsoft.com/office/drawing/2014/main" id="{679E57E8-C8BF-08F3-9ADD-FE96AC4F48D5}"/>
                </a:ext>
              </a:extLst>
            </p:cNvPr>
            <p:cNvSpPr/>
            <p:nvPr/>
          </p:nvSpPr>
          <p:spPr>
            <a:xfrm>
              <a:off x="8153203" y="3588407"/>
              <a:ext cx="566928" cy="438912"/>
            </a:xfrm>
            <a:prstGeom prst="roundRect">
              <a:avLst>
                <a:gd name="adj" fmla="val 10417"/>
              </a:avLst>
            </a:prstGeom>
            <a:solidFill>
              <a:srgbClr val="7030A0"/>
            </a:solidFill>
            <a:ln w="12700">
              <a:solidFill>
                <a:srgbClr val="7030A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Text 45">
              <a:extLst>
                <a:ext uri="{FF2B5EF4-FFF2-40B4-BE49-F238E27FC236}">
                  <a16:creationId xmlns:a16="http://schemas.microsoft.com/office/drawing/2014/main" id="{AF19B649-10C1-8177-7BF6-DE9845CB3FEC}"/>
                </a:ext>
              </a:extLst>
            </p:cNvPr>
            <p:cNvSpPr txBox="1"/>
            <p:nvPr/>
          </p:nvSpPr>
          <p:spPr>
            <a:xfrm>
              <a:off x="8153203" y="3666131"/>
              <a:ext cx="566928" cy="16459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06</a:t>
              </a:r>
              <a:endParaRPr lang="en-US" sz="1300" dirty="0">
                <a:latin typeface="+mj-lt"/>
              </a:endParaRPr>
            </a:p>
          </p:txBody>
        </p:sp>
        <p:sp>
          <p:nvSpPr>
            <p:cNvPr id="275" name="Text 46">
              <a:extLst>
                <a:ext uri="{FF2B5EF4-FFF2-40B4-BE49-F238E27FC236}">
                  <a16:creationId xmlns:a16="http://schemas.microsoft.com/office/drawing/2014/main" id="{58055DAA-70F0-3F99-BA9C-3D4EC0F3CD41}"/>
                </a:ext>
              </a:extLst>
            </p:cNvPr>
            <p:cNvSpPr txBox="1"/>
            <p:nvPr/>
          </p:nvSpPr>
          <p:spPr>
            <a:xfrm>
              <a:off x="8802427" y="3570119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7030A0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Ch. 10 + 14</a:t>
              </a:r>
              <a:endParaRPr lang="en-US" sz="1050" dirty="0">
                <a:latin typeface="+mj-lt"/>
              </a:endParaRPr>
            </a:p>
          </p:txBody>
        </p:sp>
        <p:sp>
          <p:nvSpPr>
            <p:cNvPr id="277" name="Text 47">
              <a:extLst>
                <a:ext uri="{FF2B5EF4-FFF2-40B4-BE49-F238E27FC236}">
                  <a16:creationId xmlns:a16="http://schemas.microsoft.com/office/drawing/2014/main" id="{0A77B4B5-B950-FA11-2F3D-310B24BB792B}"/>
                </a:ext>
              </a:extLst>
            </p:cNvPr>
            <p:cNvSpPr txBox="1"/>
            <p:nvPr/>
          </p:nvSpPr>
          <p:spPr>
            <a:xfrm>
              <a:off x="8802427" y="3807863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360" b="1" dirty="0">
                  <a:solidFill>
                    <a:srgbClr val="12304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Well Control, Pressure Control &amp; Rig Capability</a:t>
              </a:r>
              <a:endParaRPr lang="en-US" sz="1360" dirty="0">
                <a:latin typeface="+mj-lt"/>
              </a:endParaRPr>
            </a:p>
          </p:txBody>
        </p:sp>
        <p:sp>
          <p:nvSpPr>
            <p:cNvPr id="279" name="Shape 48">
              <a:extLst>
                <a:ext uri="{FF2B5EF4-FFF2-40B4-BE49-F238E27FC236}">
                  <a16:creationId xmlns:a16="http://schemas.microsoft.com/office/drawing/2014/main" id="{743C9615-6DCE-797D-431D-C85CFB76B738}"/>
                </a:ext>
              </a:extLst>
            </p:cNvPr>
            <p:cNvSpPr/>
            <p:nvPr/>
          </p:nvSpPr>
          <p:spPr>
            <a:xfrm>
              <a:off x="8802427" y="4173623"/>
              <a:ext cx="2633472" cy="0"/>
            </a:xfrm>
            <a:prstGeom prst="line">
              <a:avLst/>
            </a:prstGeom>
            <a:noFill/>
            <a:ln w="10160">
              <a:solidFill>
                <a:srgbClr val="E6E6E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Text 49">
              <a:extLst>
                <a:ext uri="{FF2B5EF4-FFF2-40B4-BE49-F238E27FC236}">
                  <a16:creationId xmlns:a16="http://schemas.microsoft.com/office/drawing/2014/main" id="{52848AC6-5C40-D87C-2A36-8FBCAFDB2AFD}"/>
                </a:ext>
              </a:extLst>
            </p:cNvPr>
            <p:cNvSpPr txBox="1"/>
            <p:nvPr/>
          </p:nvSpPr>
          <p:spPr>
            <a:xfrm>
              <a:off x="8208067" y="4246775"/>
              <a:ext cx="3310128" cy="49377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20" dirty="0">
                  <a:solidFill>
                    <a:srgbClr val="4D4D4D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Well barrier philosophy, pressure rating, BOP/choke manifold, wellhead, rig hoisting, mud pump and power capability.</a:t>
              </a:r>
              <a:endParaRPr lang="en-US" sz="1020" dirty="0">
                <a:latin typeface="+mj-lt"/>
              </a:endParaRPr>
            </a:p>
          </p:txBody>
        </p:sp>
        <p:sp>
          <p:nvSpPr>
            <p:cNvPr id="283" name="Shape 50">
              <a:extLst>
                <a:ext uri="{FF2B5EF4-FFF2-40B4-BE49-F238E27FC236}">
                  <a16:creationId xmlns:a16="http://schemas.microsoft.com/office/drawing/2014/main" id="{CC10B621-D542-5150-B867-3E68932EEFC4}"/>
                </a:ext>
              </a:extLst>
            </p:cNvPr>
            <p:cNvSpPr/>
            <p:nvPr/>
          </p:nvSpPr>
          <p:spPr>
            <a:xfrm>
              <a:off x="325939" y="5078879"/>
              <a:ext cx="3639312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5240">
              <a:solidFill>
                <a:srgbClr val="D9E2F3"/>
              </a:solidFill>
              <a:prstDash val="solid"/>
            </a:ln>
            <a:effectLst>
              <a:outerShdw blurRad="12700" dist="50800" dir="2700000" algn="bl" rotWithShape="0">
                <a:srgbClr val="BBBBBB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5" name="Shape 51">
              <a:extLst>
                <a:ext uri="{FF2B5EF4-FFF2-40B4-BE49-F238E27FC236}">
                  <a16:creationId xmlns:a16="http://schemas.microsoft.com/office/drawing/2014/main" id="{B321E115-058D-1F60-2ED9-2944B78FC020}"/>
                </a:ext>
              </a:extLst>
            </p:cNvPr>
            <p:cNvSpPr/>
            <p:nvPr/>
          </p:nvSpPr>
          <p:spPr>
            <a:xfrm>
              <a:off x="435667" y="5206895"/>
              <a:ext cx="566928" cy="438912"/>
            </a:xfrm>
            <a:prstGeom prst="roundRect">
              <a:avLst>
                <a:gd name="adj" fmla="val 10417"/>
              </a:avLst>
            </a:prstGeom>
            <a:solidFill>
              <a:srgbClr val="7030A0"/>
            </a:solidFill>
            <a:ln w="12700">
              <a:solidFill>
                <a:srgbClr val="7030A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" name="Text 52">
              <a:extLst>
                <a:ext uri="{FF2B5EF4-FFF2-40B4-BE49-F238E27FC236}">
                  <a16:creationId xmlns:a16="http://schemas.microsoft.com/office/drawing/2014/main" id="{D755B756-097C-6BFC-7849-14110FA1ADBD}"/>
                </a:ext>
              </a:extLst>
            </p:cNvPr>
            <p:cNvSpPr txBox="1"/>
            <p:nvPr/>
          </p:nvSpPr>
          <p:spPr>
            <a:xfrm>
              <a:off x="435667" y="5284619"/>
              <a:ext cx="566928" cy="16459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07</a:t>
              </a:r>
              <a:endParaRPr lang="en-US" sz="1300" dirty="0">
                <a:latin typeface="+mj-lt"/>
              </a:endParaRPr>
            </a:p>
          </p:txBody>
        </p:sp>
        <p:sp>
          <p:nvSpPr>
            <p:cNvPr id="289" name="Text 53">
              <a:extLst>
                <a:ext uri="{FF2B5EF4-FFF2-40B4-BE49-F238E27FC236}">
                  <a16:creationId xmlns:a16="http://schemas.microsoft.com/office/drawing/2014/main" id="{9C539FAD-853C-445A-9843-EAB317C099EC}"/>
                </a:ext>
              </a:extLst>
            </p:cNvPr>
            <p:cNvSpPr txBox="1"/>
            <p:nvPr/>
          </p:nvSpPr>
          <p:spPr>
            <a:xfrm>
              <a:off x="1084891" y="5188607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7030A0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Ch. 11 + 12</a:t>
              </a:r>
              <a:endParaRPr lang="en-US" sz="1050" dirty="0">
                <a:latin typeface="+mj-lt"/>
              </a:endParaRPr>
            </a:p>
          </p:txBody>
        </p:sp>
        <p:sp>
          <p:nvSpPr>
            <p:cNvPr id="291" name="Text 54">
              <a:extLst>
                <a:ext uri="{FF2B5EF4-FFF2-40B4-BE49-F238E27FC236}">
                  <a16:creationId xmlns:a16="http://schemas.microsoft.com/office/drawing/2014/main" id="{AC3AF72A-A128-85EA-5CD6-A469276C7887}"/>
                </a:ext>
              </a:extLst>
            </p:cNvPr>
            <p:cNvSpPr txBox="1"/>
            <p:nvPr/>
          </p:nvSpPr>
          <p:spPr>
            <a:xfrm>
              <a:off x="1084891" y="5426351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360" b="1" dirty="0">
                  <a:solidFill>
                    <a:srgbClr val="12304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Completion, Production &amp; Well Abandonment</a:t>
              </a:r>
              <a:endParaRPr lang="en-US" sz="1360" dirty="0">
                <a:latin typeface="+mj-lt"/>
              </a:endParaRPr>
            </a:p>
          </p:txBody>
        </p:sp>
        <p:sp>
          <p:nvSpPr>
            <p:cNvPr id="293" name="Shape 55">
              <a:extLst>
                <a:ext uri="{FF2B5EF4-FFF2-40B4-BE49-F238E27FC236}">
                  <a16:creationId xmlns:a16="http://schemas.microsoft.com/office/drawing/2014/main" id="{F679D9F6-0337-9670-A6B2-B88DC6D30DDB}"/>
                </a:ext>
              </a:extLst>
            </p:cNvPr>
            <p:cNvSpPr/>
            <p:nvPr/>
          </p:nvSpPr>
          <p:spPr>
            <a:xfrm>
              <a:off x="1084891" y="5792111"/>
              <a:ext cx="2633472" cy="0"/>
            </a:xfrm>
            <a:prstGeom prst="line">
              <a:avLst/>
            </a:prstGeom>
            <a:noFill/>
            <a:ln w="10160">
              <a:solidFill>
                <a:srgbClr val="E6E6E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Text 56">
              <a:extLst>
                <a:ext uri="{FF2B5EF4-FFF2-40B4-BE49-F238E27FC236}">
                  <a16:creationId xmlns:a16="http://schemas.microsoft.com/office/drawing/2014/main" id="{48E98E2A-C532-B7A0-F1C2-16D8E3737ED9}"/>
                </a:ext>
              </a:extLst>
            </p:cNvPr>
            <p:cNvSpPr txBox="1"/>
            <p:nvPr/>
          </p:nvSpPr>
          <p:spPr>
            <a:xfrm>
              <a:off x="490531" y="5865263"/>
              <a:ext cx="3310128" cy="49377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20" dirty="0">
                  <a:solidFill>
                    <a:srgbClr val="4D4D4D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Cased-hole ESP completion, production tubing/accessories, completion testing, suspension and abandonment philosophy.</a:t>
              </a:r>
              <a:endParaRPr lang="en-US" sz="1020" dirty="0">
                <a:latin typeface="+mj-lt"/>
              </a:endParaRPr>
            </a:p>
          </p:txBody>
        </p:sp>
        <p:sp>
          <p:nvSpPr>
            <p:cNvPr id="302" name="Shape 57">
              <a:extLst>
                <a:ext uri="{FF2B5EF4-FFF2-40B4-BE49-F238E27FC236}">
                  <a16:creationId xmlns:a16="http://schemas.microsoft.com/office/drawing/2014/main" id="{A1B5F31F-0AAD-CDC0-FC92-2D5D6B3B86F7}"/>
                </a:ext>
              </a:extLst>
            </p:cNvPr>
            <p:cNvSpPr/>
            <p:nvPr/>
          </p:nvSpPr>
          <p:spPr>
            <a:xfrm>
              <a:off x="4184707" y="5078879"/>
              <a:ext cx="3639312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5240">
              <a:solidFill>
                <a:srgbClr val="D9E2F3"/>
              </a:solidFill>
              <a:prstDash val="solid"/>
            </a:ln>
            <a:effectLst>
              <a:outerShdw blurRad="12700" dist="50800" dir="2700000" algn="bl" rotWithShape="0">
                <a:srgbClr val="BBBBBB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Shape 58">
              <a:extLst>
                <a:ext uri="{FF2B5EF4-FFF2-40B4-BE49-F238E27FC236}">
                  <a16:creationId xmlns:a16="http://schemas.microsoft.com/office/drawing/2014/main" id="{FF300E0D-BE06-F546-6CAC-2A3D3EAB1A33}"/>
                </a:ext>
              </a:extLst>
            </p:cNvPr>
            <p:cNvSpPr/>
            <p:nvPr/>
          </p:nvSpPr>
          <p:spPr>
            <a:xfrm>
              <a:off x="4294435" y="5206895"/>
              <a:ext cx="566928" cy="438912"/>
            </a:xfrm>
            <a:prstGeom prst="roundRect">
              <a:avLst>
                <a:gd name="adj" fmla="val 10417"/>
              </a:avLst>
            </a:prstGeom>
            <a:solidFill>
              <a:srgbClr val="12304F"/>
            </a:solidFill>
            <a:ln w="12700">
              <a:solidFill>
                <a:srgbClr val="12304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Text 59">
              <a:extLst>
                <a:ext uri="{FF2B5EF4-FFF2-40B4-BE49-F238E27FC236}">
                  <a16:creationId xmlns:a16="http://schemas.microsoft.com/office/drawing/2014/main" id="{9161FA58-5459-02C8-1242-83F739A10952}"/>
                </a:ext>
              </a:extLst>
            </p:cNvPr>
            <p:cNvSpPr txBox="1"/>
            <p:nvPr/>
          </p:nvSpPr>
          <p:spPr>
            <a:xfrm>
              <a:off x="4294435" y="5284619"/>
              <a:ext cx="566928" cy="16459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08</a:t>
              </a:r>
              <a:endParaRPr lang="en-US" sz="1300" dirty="0">
                <a:latin typeface="+mj-lt"/>
              </a:endParaRPr>
            </a:p>
          </p:txBody>
        </p:sp>
        <p:sp>
          <p:nvSpPr>
            <p:cNvPr id="308" name="Text 60">
              <a:extLst>
                <a:ext uri="{FF2B5EF4-FFF2-40B4-BE49-F238E27FC236}">
                  <a16:creationId xmlns:a16="http://schemas.microsoft.com/office/drawing/2014/main" id="{F3AB6F50-036D-8F29-138A-83F1F6FFE925}"/>
                </a:ext>
              </a:extLst>
            </p:cNvPr>
            <p:cNvSpPr txBox="1"/>
            <p:nvPr/>
          </p:nvSpPr>
          <p:spPr>
            <a:xfrm>
              <a:off x="4943659" y="5188607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2304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Ch. 13 + 15</a:t>
              </a:r>
              <a:endParaRPr lang="en-US" sz="1050" dirty="0">
                <a:latin typeface="+mj-lt"/>
              </a:endParaRPr>
            </a:p>
          </p:txBody>
        </p:sp>
        <p:sp>
          <p:nvSpPr>
            <p:cNvPr id="310" name="Text 61">
              <a:extLst>
                <a:ext uri="{FF2B5EF4-FFF2-40B4-BE49-F238E27FC236}">
                  <a16:creationId xmlns:a16="http://schemas.microsoft.com/office/drawing/2014/main" id="{806247C2-883D-3AE4-4211-8E062B603FB3}"/>
                </a:ext>
              </a:extLst>
            </p:cNvPr>
            <p:cNvSpPr txBox="1"/>
            <p:nvPr/>
          </p:nvSpPr>
          <p:spPr>
            <a:xfrm>
              <a:off x="4943659" y="5426351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60" b="1" dirty="0">
                  <a:solidFill>
                    <a:srgbClr val="12304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Wellsite &amp; Execution Strategy</a:t>
              </a:r>
              <a:endParaRPr lang="en-US" sz="1360" dirty="0">
                <a:latin typeface="+mj-lt"/>
              </a:endParaRPr>
            </a:p>
          </p:txBody>
        </p:sp>
        <p:sp>
          <p:nvSpPr>
            <p:cNvPr id="312" name="Shape 62">
              <a:extLst>
                <a:ext uri="{FF2B5EF4-FFF2-40B4-BE49-F238E27FC236}">
                  <a16:creationId xmlns:a16="http://schemas.microsoft.com/office/drawing/2014/main" id="{C0F9B563-0E5D-2D03-4092-F22DBC606735}"/>
                </a:ext>
              </a:extLst>
            </p:cNvPr>
            <p:cNvSpPr/>
            <p:nvPr/>
          </p:nvSpPr>
          <p:spPr>
            <a:xfrm>
              <a:off x="4943659" y="5792111"/>
              <a:ext cx="2633472" cy="0"/>
            </a:xfrm>
            <a:prstGeom prst="line">
              <a:avLst/>
            </a:prstGeom>
            <a:noFill/>
            <a:ln w="10160">
              <a:solidFill>
                <a:srgbClr val="E6E6E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Text 63">
              <a:extLst>
                <a:ext uri="{FF2B5EF4-FFF2-40B4-BE49-F238E27FC236}">
                  <a16:creationId xmlns:a16="http://schemas.microsoft.com/office/drawing/2014/main" id="{D8A649FA-22AF-DDC5-3A3D-DAFE608C4A2E}"/>
                </a:ext>
              </a:extLst>
            </p:cNvPr>
            <p:cNvSpPr txBox="1"/>
            <p:nvPr/>
          </p:nvSpPr>
          <p:spPr>
            <a:xfrm>
              <a:off x="4349299" y="5865263"/>
              <a:ext cx="3310128" cy="49377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20" dirty="0">
                  <a:solidFill>
                    <a:srgbClr val="4D4D4D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Wellpad, cellar/conductor, access road, water, waste management, logistics readiness and operational sequence.</a:t>
              </a:r>
              <a:endParaRPr lang="en-US" sz="1020" dirty="0">
                <a:latin typeface="+mj-lt"/>
              </a:endParaRPr>
            </a:p>
          </p:txBody>
        </p:sp>
        <p:sp>
          <p:nvSpPr>
            <p:cNvPr id="316" name="Shape 64">
              <a:extLst>
                <a:ext uri="{FF2B5EF4-FFF2-40B4-BE49-F238E27FC236}">
                  <a16:creationId xmlns:a16="http://schemas.microsoft.com/office/drawing/2014/main" id="{4444CB4E-2EE8-0D73-F7ED-14BD219947BA}"/>
                </a:ext>
              </a:extLst>
            </p:cNvPr>
            <p:cNvSpPr/>
            <p:nvPr/>
          </p:nvSpPr>
          <p:spPr>
            <a:xfrm>
              <a:off x="8043475" y="5078879"/>
              <a:ext cx="3639312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5240">
              <a:solidFill>
                <a:srgbClr val="D9E2F3"/>
              </a:solidFill>
              <a:prstDash val="solid"/>
            </a:ln>
            <a:effectLst>
              <a:outerShdw blurRad="12700" dist="50800" dir="2700000" algn="bl" rotWithShape="0">
                <a:srgbClr val="BBBBBB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Shape 65">
              <a:extLst>
                <a:ext uri="{FF2B5EF4-FFF2-40B4-BE49-F238E27FC236}">
                  <a16:creationId xmlns:a16="http://schemas.microsoft.com/office/drawing/2014/main" id="{EBA7C50D-6CC8-4DC6-FA7A-B9F34F0C2791}"/>
                </a:ext>
              </a:extLst>
            </p:cNvPr>
            <p:cNvSpPr/>
            <p:nvPr/>
          </p:nvSpPr>
          <p:spPr>
            <a:xfrm>
              <a:off x="8153203" y="5206895"/>
              <a:ext cx="566928" cy="438912"/>
            </a:xfrm>
            <a:prstGeom prst="roundRect">
              <a:avLst>
                <a:gd name="adj" fmla="val 10417"/>
              </a:avLst>
            </a:prstGeom>
            <a:solidFill>
              <a:srgbClr val="12304F"/>
            </a:solidFill>
            <a:ln w="12700">
              <a:solidFill>
                <a:srgbClr val="12304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Text 66">
              <a:extLst>
                <a:ext uri="{FF2B5EF4-FFF2-40B4-BE49-F238E27FC236}">
                  <a16:creationId xmlns:a16="http://schemas.microsoft.com/office/drawing/2014/main" id="{43436525-690D-461A-529D-A9AD3464DEE4}"/>
                </a:ext>
              </a:extLst>
            </p:cNvPr>
            <p:cNvSpPr txBox="1"/>
            <p:nvPr/>
          </p:nvSpPr>
          <p:spPr>
            <a:xfrm>
              <a:off x="8153203" y="5284619"/>
              <a:ext cx="566928" cy="16459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09</a:t>
              </a:r>
              <a:endParaRPr lang="en-US" sz="1300" dirty="0">
                <a:latin typeface="+mj-lt"/>
              </a:endParaRPr>
            </a:p>
          </p:txBody>
        </p:sp>
        <p:sp>
          <p:nvSpPr>
            <p:cNvPr id="322" name="Text 67">
              <a:extLst>
                <a:ext uri="{FF2B5EF4-FFF2-40B4-BE49-F238E27FC236}">
                  <a16:creationId xmlns:a16="http://schemas.microsoft.com/office/drawing/2014/main" id="{CDECD009-5CF7-D3F3-EF18-D66E9A88831E}"/>
                </a:ext>
              </a:extLst>
            </p:cNvPr>
            <p:cNvSpPr txBox="1"/>
            <p:nvPr/>
          </p:nvSpPr>
          <p:spPr>
            <a:xfrm>
              <a:off x="8802427" y="5188607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85000" lnSpcReduction="10000"/>
            </a:bodyPr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2304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Ch. 16 + 17 + 18</a:t>
              </a:r>
              <a:endParaRPr lang="en-US" sz="1050" dirty="0">
                <a:latin typeface="+mj-lt"/>
              </a:endParaRPr>
            </a:p>
          </p:txBody>
        </p:sp>
        <p:sp>
          <p:nvSpPr>
            <p:cNvPr id="324" name="Text 68">
              <a:extLst>
                <a:ext uri="{FF2B5EF4-FFF2-40B4-BE49-F238E27FC236}">
                  <a16:creationId xmlns:a16="http://schemas.microsoft.com/office/drawing/2014/main" id="{53B4D88E-13E0-226F-AF22-3BC7E4291B61}"/>
                </a:ext>
              </a:extLst>
            </p:cNvPr>
            <p:cNvSpPr txBox="1"/>
            <p:nvPr/>
          </p:nvSpPr>
          <p:spPr>
            <a:xfrm>
              <a:off x="8802427" y="5426351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360" b="1" dirty="0">
                  <a:solidFill>
                    <a:srgbClr val="12304F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Risk, Schedule, Cost &amp; Project Assurance</a:t>
              </a:r>
              <a:endParaRPr lang="en-US" sz="1360" dirty="0">
                <a:latin typeface="+mj-lt"/>
              </a:endParaRPr>
            </a:p>
          </p:txBody>
        </p:sp>
        <p:sp>
          <p:nvSpPr>
            <p:cNvPr id="326" name="Shape 69">
              <a:extLst>
                <a:ext uri="{FF2B5EF4-FFF2-40B4-BE49-F238E27FC236}">
                  <a16:creationId xmlns:a16="http://schemas.microsoft.com/office/drawing/2014/main" id="{14EE9D72-3BB4-97E4-E399-FF3781F94DC1}"/>
                </a:ext>
              </a:extLst>
            </p:cNvPr>
            <p:cNvSpPr/>
            <p:nvPr/>
          </p:nvSpPr>
          <p:spPr>
            <a:xfrm>
              <a:off x="8802427" y="5792111"/>
              <a:ext cx="2633472" cy="0"/>
            </a:xfrm>
            <a:prstGeom prst="line">
              <a:avLst/>
            </a:prstGeom>
            <a:noFill/>
            <a:ln w="10160">
              <a:solidFill>
                <a:srgbClr val="E6E6E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Text 70">
              <a:extLst>
                <a:ext uri="{FF2B5EF4-FFF2-40B4-BE49-F238E27FC236}">
                  <a16:creationId xmlns:a16="http://schemas.microsoft.com/office/drawing/2014/main" id="{0F8DF14F-1DEF-BDA7-0381-94242478DCD1}"/>
                </a:ext>
              </a:extLst>
            </p:cNvPr>
            <p:cNvSpPr txBox="1"/>
            <p:nvPr/>
          </p:nvSpPr>
          <p:spPr>
            <a:xfrm>
              <a:off x="8208067" y="5865263"/>
              <a:ext cx="3310128" cy="49377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20" dirty="0">
                  <a:solidFill>
                    <a:srgbClr val="4D4D4D"/>
                  </a:solidFill>
                  <a:latin typeface="+mj-lt"/>
                  <a:ea typeface="Aptos" pitchFamily="34" charset="-122"/>
                  <a:cs typeface="Aptos" pitchFamily="34" charset="-120"/>
                </a:rPr>
                <a:t>Risk register, mitigation, detailed timeline, cost, document control, references, review and approval workflow.</a:t>
              </a:r>
              <a:endParaRPr lang="en-US" sz="1020" dirty="0">
                <a:latin typeface="+mj-lt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B3F66C-8CF3-B5BE-A959-EBB9E0AB47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06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B6C3773C-ABB8-CC9A-A9A7-07980E35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5">
            <a:extLst>
              <a:ext uri="{FF2B5EF4-FFF2-40B4-BE49-F238E27FC236}">
                <a16:creationId xmlns:a16="http://schemas.microsoft.com/office/drawing/2014/main" id="{42029124-75B8-A418-C6E2-D35A032AF8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75" y="287290"/>
            <a:ext cx="11716269" cy="630408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>
            <a:extLst>
              <a:ext uri="{FF2B5EF4-FFF2-40B4-BE49-F238E27FC236}">
                <a16:creationId xmlns:a16="http://schemas.microsoft.com/office/drawing/2014/main" id="{9928A041-6301-A8D7-CEA1-8896CD1E42E6}"/>
              </a:ext>
            </a:extLst>
          </p:cNvPr>
          <p:cNvSpPr/>
          <p:nvPr/>
        </p:nvSpPr>
        <p:spPr>
          <a:xfrm>
            <a:off x="259075" y="2007908"/>
            <a:ext cx="11716269" cy="2780907"/>
          </a:xfrm>
          <a:prstGeom prst="rect">
            <a:avLst/>
          </a:prstGeom>
          <a:solidFill>
            <a:srgbClr val="365DA8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15">
            <a:extLst>
              <a:ext uri="{FF2B5EF4-FFF2-40B4-BE49-F238E27FC236}">
                <a16:creationId xmlns:a16="http://schemas.microsoft.com/office/drawing/2014/main" id="{AD2B205B-BDD3-0547-3731-2DC500990A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94907" y="2459920"/>
            <a:ext cx="11202186" cy="195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WELL OVERVIEW &amp; PROJECT BASIS</a:t>
            </a:r>
            <a:endParaRPr lang="en-US" dirty="0"/>
          </a:p>
        </p:txBody>
      </p:sp>
      <p:pic>
        <p:nvPicPr>
          <p:cNvPr id="344" name="Google Shape;344;p15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5423B286-7A09-1C44-FCB5-312C4428E8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5">
            <a:extLst>
              <a:ext uri="{FF2B5EF4-FFF2-40B4-BE49-F238E27FC236}">
                <a16:creationId xmlns:a16="http://schemas.microsoft.com/office/drawing/2014/main" id="{A571B5EC-CB06-D157-AC67-2D25C16AF46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075" y="287290"/>
            <a:ext cx="1400175" cy="140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049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WELL OVERVIEW &amp; PROJECT BASIS</a:t>
            </a:r>
          </a:p>
        </p:txBody>
      </p:sp>
      <p:pic>
        <p:nvPicPr>
          <p:cNvPr id="298" name="Google Shape;29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Panel 1002"/>
          <p:cNvSpPr/>
          <p:nvPr/>
        </p:nvSpPr>
        <p:spPr>
          <a:xfrm>
            <a:off x="283464" y="1088136"/>
            <a:ext cx="5623560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Header 1004"/>
          <p:cNvSpPr/>
          <p:nvPr/>
        </p:nvSpPr>
        <p:spPr>
          <a:xfrm>
            <a:off x="283464" y="1088136"/>
            <a:ext cx="5623560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132E4D"/>
                </a:solidFill>
              </a:rPr>
              <a:t>Project Background &amp; Development Justification</a:t>
            </a:r>
          </a:p>
        </p:txBody>
      </p:sp>
      <p:sp>
        <p:nvSpPr>
          <p:cNvPr id="1005" name="Body 1006"/>
          <p:cNvSpPr txBox="1"/>
          <p:nvPr/>
        </p:nvSpPr>
        <p:spPr>
          <a:xfrm>
            <a:off x="402336" y="1444752"/>
            <a:ext cx="5385816" cy="12984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32E4D"/>
                </a:solidFill>
              </a:rPr>
              <a:t>Field maturity: </a:t>
            </a:r>
            <a:r>
              <a:rPr lang="en-US" sz="900" dirty="0">
                <a:solidFill>
                  <a:srgbClr val="000000"/>
                </a:solidFill>
              </a:rPr>
              <a:t>Alpha Field OOIP is 21.66 MMSTB against ~6.48 MMSTB cumulative production — a recovery factor of only 16.62% at ~99% water cut.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32E4D"/>
                </a:solidFill>
              </a:rPr>
              <a:t>Development concept: </a:t>
            </a:r>
            <a:r>
              <a:rPr lang="en-US" sz="900" dirty="0">
                <a:solidFill>
                  <a:srgbClr val="000000"/>
                </a:solidFill>
              </a:rPr>
              <a:t>Alpha-07 is the anchor well of a phased five-well infill programme delivering ~0.58 MMBO incremental recovery to the 2041 economic limit.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32E4D"/>
                </a:solidFill>
              </a:rPr>
              <a:t>Production basis: </a:t>
            </a:r>
            <a:r>
              <a:rPr lang="en-US" sz="900" dirty="0">
                <a:solidFill>
                  <a:srgbClr val="000000"/>
                </a:solidFill>
              </a:rPr>
              <a:t>commingled oil from the Bara, Bama, Raja and Prima sands; IP 132 BOPD (P10–P90 106–158) and EUR 156 MBO.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32E4D"/>
                </a:solidFill>
              </a:rPr>
              <a:t>Capital efficiency: </a:t>
            </a:r>
            <a:r>
              <a:rPr lang="en-US" sz="900" dirty="0">
                <a:solidFill>
                  <a:srgbClr val="000000"/>
                </a:solidFill>
              </a:rPr>
              <a:t>existing Core Energy Solution facilities are used, no major new infrastructure is required and the wellpad is held to 2–2.5 ha.</a:t>
            </a:r>
          </a:p>
        </p:txBody>
      </p:sp>
      <p:sp>
        <p:nvSpPr>
          <p:cNvPr id="1007" name="Card 1008"/>
          <p:cNvSpPr/>
          <p:nvPr/>
        </p:nvSpPr>
        <p:spPr>
          <a:xfrm>
            <a:off x="402336" y="2825496"/>
            <a:ext cx="1261872" cy="566928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OOIP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21.66 MMSTB</a:t>
            </a:r>
          </a:p>
        </p:txBody>
      </p:sp>
      <p:sp>
        <p:nvSpPr>
          <p:cNvPr id="1009" name="Card 1010"/>
          <p:cNvSpPr/>
          <p:nvPr/>
        </p:nvSpPr>
        <p:spPr>
          <a:xfrm>
            <a:off x="1773936" y="2825496"/>
            <a:ext cx="1261872" cy="566928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Cumulative Oil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6.48 MMSTB</a:t>
            </a:r>
          </a:p>
        </p:txBody>
      </p:sp>
      <p:sp>
        <p:nvSpPr>
          <p:cNvPr id="1011" name="Card 1012"/>
          <p:cNvSpPr/>
          <p:nvPr/>
        </p:nvSpPr>
        <p:spPr>
          <a:xfrm>
            <a:off x="3145536" y="2825496"/>
            <a:ext cx="1261872" cy="566928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Recovery Factor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16.62%</a:t>
            </a:r>
          </a:p>
        </p:txBody>
      </p:sp>
      <p:sp>
        <p:nvSpPr>
          <p:cNvPr id="1013" name="Card 1014"/>
          <p:cNvSpPr/>
          <p:nvPr/>
        </p:nvSpPr>
        <p:spPr>
          <a:xfrm>
            <a:off x="4517136" y="2825496"/>
            <a:ext cx="1261872" cy="566928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Water Cut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~99%</a:t>
            </a:r>
          </a:p>
        </p:txBody>
      </p:sp>
      <p:sp>
        <p:nvSpPr>
          <p:cNvPr id="1015" name="Panel 1016"/>
          <p:cNvSpPr/>
          <p:nvPr/>
        </p:nvSpPr>
        <p:spPr>
          <a:xfrm>
            <a:off x="6053328" y="1088136"/>
            <a:ext cx="5751576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Header 1018"/>
          <p:cNvSpPr/>
          <p:nvPr/>
        </p:nvSpPr>
        <p:spPr>
          <a:xfrm>
            <a:off x="6053328" y="1088136"/>
            <a:ext cx="5751576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132E4D"/>
                </a:solidFill>
              </a:rPr>
              <a:t>Well Identification, Location &amp; Administrative Data</a:t>
            </a:r>
          </a:p>
        </p:txBody>
      </p:sp>
      <p:sp>
        <p:nvSpPr>
          <p:cNvPr id="1019" name="Body 1020"/>
          <p:cNvSpPr txBox="1"/>
          <p:nvPr/>
        </p:nvSpPr>
        <p:spPr>
          <a:xfrm>
            <a:off x="6172200" y="1523268"/>
            <a:ext cx="5513832" cy="187829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40"/>
              </a:spcAft>
              <a:buNone/>
            </a:pPr>
            <a:r>
              <a:rPr lang="en-US" sz="1050" b="1" dirty="0">
                <a:solidFill>
                  <a:srgbClr val="132E4D"/>
                </a:solidFill>
              </a:rPr>
              <a:t>Well name: </a:t>
            </a:r>
            <a:r>
              <a:rPr lang="en-US" sz="1050" dirty="0">
                <a:solidFill>
                  <a:srgbClr val="000000"/>
                </a:solidFill>
              </a:rPr>
              <a:t>Alpha-07 — legal well name Alpha 07, assigned on PTD approval.</a:t>
            </a:r>
          </a:p>
          <a:p>
            <a:pPr algn="l">
              <a:lnSpc>
                <a:spcPct val="100000"/>
              </a:lnSpc>
              <a:spcAft>
                <a:spcPts val="340"/>
              </a:spcAft>
              <a:buNone/>
            </a:pPr>
            <a:r>
              <a:rPr lang="en-US" sz="1050" b="1" dirty="0">
                <a:solidFill>
                  <a:srgbClr val="132E4D"/>
                </a:solidFill>
              </a:rPr>
              <a:t>Operator / area: </a:t>
            </a:r>
            <a:r>
              <a:rPr lang="en-US" sz="1050" dirty="0">
                <a:solidFill>
                  <a:srgbClr val="000000"/>
                </a:solidFill>
              </a:rPr>
              <a:t>Core Energy Solution, WK Core Energy Solution; regulator SKK </a:t>
            </a:r>
            <a:r>
              <a:rPr lang="en-US" sz="1050" dirty="0" err="1">
                <a:solidFill>
                  <a:srgbClr val="000000"/>
                </a:solidFill>
              </a:rPr>
              <a:t>Migas</a:t>
            </a:r>
            <a:r>
              <a:rPr lang="en-US" sz="1050" dirty="0">
                <a:solidFill>
                  <a:srgbClr val="000000"/>
                </a:solidFill>
              </a:rPr>
              <a:t>.</a:t>
            </a:r>
          </a:p>
          <a:p>
            <a:pPr algn="l">
              <a:lnSpc>
                <a:spcPct val="100000"/>
              </a:lnSpc>
              <a:spcAft>
                <a:spcPts val="340"/>
              </a:spcAft>
              <a:buNone/>
            </a:pPr>
            <a:r>
              <a:rPr lang="en-US" sz="1050" b="1" dirty="0">
                <a:solidFill>
                  <a:srgbClr val="132E4D"/>
                </a:solidFill>
              </a:rPr>
              <a:t>Classification: </a:t>
            </a:r>
            <a:r>
              <a:rPr lang="en-US" sz="1050" dirty="0">
                <a:solidFill>
                  <a:srgbClr val="000000"/>
                </a:solidFill>
              </a:rPr>
              <a:t>development well — directional producer, infill and step-out.</a:t>
            </a:r>
          </a:p>
          <a:p>
            <a:pPr algn="l">
              <a:lnSpc>
                <a:spcPct val="100000"/>
              </a:lnSpc>
              <a:spcAft>
                <a:spcPts val="340"/>
              </a:spcAft>
              <a:buNone/>
            </a:pPr>
            <a:r>
              <a:rPr lang="en-US" sz="1050" b="1" dirty="0">
                <a:solidFill>
                  <a:srgbClr val="132E4D"/>
                </a:solidFill>
              </a:rPr>
              <a:t>Trajectory category: </a:t>
            </a:r>
            <a:r>
              <a:rPr lang="en-US" sz="1050" dirty="0">
                <a:solidFill>
                  <a:srgbClr val="000000"/>
                </a:solidFill>
              </a:rPr>
              <a:t>Directional Oil Well (DOW), J-type; well 1 of 5 in the </a:t>
            </a:r>
            <a:r>
              <a:rPr lang="en-US" sz="1050" dirty="0" err="1">
                <a:solidFill>
                  <a:srgbClr val="000000"/>
                </a:solidFill>
              </a:rPr>
              <a:t>programme</a:t>
            </a:r>
            <a:r>
              <a:rPr lang="en-US" sz="1050" dirty="0">
                <a:solidFill>
                  <a:srgbClr val="000000"/>
                </a:solidFill>
              </a:rPr>
              <a:t>.</a:t>
            </a:r>
          </a:p>
          <a:p>
            <a:pPr algn="l">
              <a:lnSpc>
                <a:spcPct val="100000"/>
              </a:lnSpc>
              <a:spcAft>
                <a:spcPts val="340"/>
              </a:spcAft>
              <a:buNone/>
            </a:pPr>
            <a:r>
              <a:rPr lang="en-US" sz="1050" b="1" dirty="0">
                <a:solidFill>
                  <a:srgbClr val="132E4D"/>
                </a:solidFill>
              </a:rPr>
              <a:t>Field / basin: </a:t>
            </a:r>
            <a:r>
              <a:rPr lang="en-US" sz="1050" dirty="0">
                <a:solidFill>
                  <a:srgbClr val="000000"/>
                </a:solidFill>
              </a:rPr>
              <a:t>Alpha Field, Central Sumatra Basin — onshore, approximately 2 × 2 km².</a:t>
            </a:r>
          </a:p>
          <a:p>
            <a:pPr algn="l">
              <a:lnSpc>
                <a:spcPct val="100000"/>
              </a:lnSpc>
              <a:spcAft>
                <a:spcPts val="340"/>
              </a:spcAft>
              <a:buNone/>
            </a:pPr>
            <a:r>
              <a:rPr lang="en-US" sz="1050" b="1" dirty="0">
                <a:solidFill>
                  <a:srgbClr val="132E4D"/>
                </a:solidFill>
              </a:rPr>
              <a:t>Coordinates: </a:t>
            </a:r>
            <a:r>
              <a:rPr lang="en-US" sz="1050" dirty="0">
                <a:solidFill>
                  <a:srgbClr val="000000"/>
                </a:solidFill>
              </a:rPr>
              <a:t>surface 748,934.38 [TBC] / 110,089.99; target 749,434.38 / 109,589.99.</a:t>
            </a:r>
          </a:p>
          <a:p>
            <a:pPr algn="l">
              <a:lnSpc>
                <a:spcPct val="100000"/>
              </a:lnSpc>
              <a:spcAft>
                <a:spcPts val="340"/>
              </a:spcAft>
              <a:buNone/>
            </a:pPr>
            <a:r>
              <a:rPr lang="en-US" sz="1050" b="1" dirty="0" err="1">
                <a:solidFill>
                  <a:srgbClr val="132E4D"/>
                </a:solidFill>
              </a:rPr>
              <a:t>Wellpad</a:t>
            </a:r>
            <a:r>
              <a:rPr lang="en-US" sz="1050" b="1" dirty="0">
                <a:solidFill>
                  <a:srgbClr val="132E4D"/>
                </a:solidFill>
              </a:rPr>
              <a:t>: </a:t>
            </a:r>
            <a:r>
              <a:rPr lang="en-US" sz="1050" dirty="0">
                <a:solidFill>
                  <a:srgbClr val="000000"/>
                </a:solidFill>
              </a:rPr>
              <a:t>new pad on a clustering concept, 2–2.5 ha footprint; terrain generally flat.</a:t>
            </a:r>
          </a:p>
          <a:p>
            <a:pPr algn="l">
              <a:lnSpc>
                <a:spcPct val="100000"/>
              </a:lnSpc>
              <a:spcAft>
                <a:spcPts val="340"/>
              </a:spcAft>
              <a:buNone/>
            </a:pPr>
            <a:r>
              <a:rPr lang="en-US" sz="1050" b="1" dirty="0">
                <a:solidFill>
                  <a:srgbClr val="132E4D"/>
                </a:solidFill>
              </a:rPr>
              <a:t>Land &amp; permits: </a:t>
            </a:r>
            <a:r>
              <a:rPr lang="en-US" sz="1050" dirty="0">
                <a:solidFill>
                  <a:srgbClr val="000000"/>
                </a:solidFill>
              </a:rPr>
              <a:t>LI / LER land process; AMDAL / UKL-UPL; drilling waste routed to CMTF.</a:t>
            </a:r>
          </a:p>
          <a:p>
            <a:pPr algn="l">
              <a:lnSpc>
                <a:spcPct val="100000"/>
              </a:lnSpc>
              <a:spcAft>
                <a:spcPts val="340"/>
              </a:spcAft>
              <a:buNone/>
            </a:pPr>
            <a:r>
              <a:rPr lang="en-US" sz="1050" b="1" dirty="0">
                <a:solidFill>
                  <a:srgbClr val="132E4D"/>
                </a:solidFill>
              </a:rPr>
              <a:t>Status: </a:t>
            </a:r>
            <a:r>
              <a:rPr lang="en-US" sz="1050" dirty="0">
                <a:solidFill>
                  <a:srgbClr val="000000"/>
                </a:solidFill>
              </a:rPr>
              <a:t>Gate-1 sanctioned; Phase 2 Basis of Design in preparation.</a:t>
            </a:r>
          </a:p>
        </p:txBody>
      </p:sp>
      <p:sp>
        <p:nvSpPr>
          <p:cNvPr id="1021" name="Panel 1022"/>
          <p:cNvSpPr/>
          <p:nvPr/>
        </p:nvSpPr>
        <p:spPr>
          <a:xfrm>
            <a:off x="283464" y="3621024"/>
            <a:ext cx="1152144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Header 1024"/>
          <p:cNvSpPr/>
          <p:nvPr/>
        </p:nvSpPr>
        <p:spPr>
          <a:xfrm>
            <a:off x="283464" y="3621024"/>
            <a:ext cx="11521440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132E4D"/>
                </a:solidFill>
              </a:rPr>
              <a:t>Key Design Parameters — Alpha-07 BOD Rev. 0 (Table 1.4)</a:t>
            </a:r>
          </a:p>
        </p:txBody>
      </p:sp>
      <p:sp>
        <p:nvSpPr>
          <p:cNvPr id="1025" name="Card 1026"/>
          <p:cNvSpPr/>
          <p:nvPr/>
        </p:nvSpPr>
        <p:spPr>
          <a:xfrm>
            <a:off x="402336" y="4005072"/>
            <a:ext cx="1792224" cy="54864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Planned TD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5,312 ft MD</a:t>
            </a:r>
          </a:p>
        </p:txBody>
      </p:sp>
      <p:sp>
        <p:nvSpPr>
          <p:cNvPr id="1027" name="Card 1028"/>
          <p:cNvSpPr/>
          <p:nvPr/>
        </p:nvSpPr>
        <p:spPr>
          <a:xfrm>
            <a:off x="2298802" y="4005072"/>
            <a:ext cx="1792224" cy="54864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TVD at TD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4,664 ft TVD</a:t>
            </a:r>
          </a:p>
        </p:txBody>
      </p:sp>
      <p:sp>
        <p:nvSpPr>
          <p:cNvPr id="1029" name="Card 1030"/>
          <p:cNvSpPr/>
          <p:nvPr/>
        </p:nvSpPr>
        <p:spPr>
          <a:xfrm>
            <a:off x="4195267" y="4005072"/>
            <a:ext cx="1792224" cy="54864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Hole Sections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12-1/4" / 8-1/2"</a:t>
            </a:r>
          </a:p>
        </p:txBody>
      </p:sp>
      <p:sp>
        <p:nvSpPr>
          <p:cNvPr id="1031" name="Card 1032"/>
          <p:cNvSpPr/>
          <p:nvPr/>
        </p:nvSpPr>
        <p:spPr>
          <a:xfrm>
            <a:off x="6091733" y="4005072"/>
            <a:ext cx="1792224" cy="54864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Casing Programme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9-5/8" &amp; 7" K-55</a:t>
            </a:r>
          </a:p>
        </p:txBody>
      </p:sp>
      <p:sp>
        <p:nvSpPr>
          <p:cNvPr id="1033" name="Card 1034"/>
          <p:cNvSpPr/>
          <p:nvPr/>
        </p:nvSpPr>
        <p:spPr>
          <a:xfrm>
            <a:off x="7988198" y="4005072"/>
            <a:ext cx="1792224" cy="54864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Trajectory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J-type 30.41°/135°</a:t>
            </a:r>
          </a:p>
        </p:txBody>
      </p:sp>
      <p:sp>
        <p:nvSpPr>
          <p:cNvPr id="1035" name="Card 1036"/>
          <p:cNvSpPr/>
          <p:nvPr/>
        </p:nvSpPr>
        <p:spPr>
          <a:xfrm>
            <a:off x="9884664" y="4005072"/>
            <a:ext cx="1792224" cy="54864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Surface Csg Point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1,821 ft MD</a:t>
            </a:r>
          </a:p>
        </p:txBody>
      </p:sp>
      <p:sp>
        <p:nvSpPr>
          <p:cNvPr id="1037" name="Card 1038"/>
          <p:cNvSpPr/>
          <p:nvPr/>
        </p:nvSpPr>
        <p:spPr>
          <a:xfrm>
            <a:off x="402336" y="4608576"/>
            <a:ext cx="1792224" cy="54864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Drilling Fluid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KCl-Polymer WBM</a:t>
            </a:r>
          </a:p>
        </p:txBody>
      </p:sp>
      <p:sp>
        <p:nvSpPr>
          <p:cNvPr id="1039" name="Card 1040"/>
          <p:cNvSpPr/>
          <p:nvPr/>
        </p:nvSpPr>
        <p:spPr>
          <a:xfrm>
            <a:off x="2298802" y="4608576"/>
            <a:ext cx="1792224" cy="54864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Completion String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3-1/2" EUE + ESP</a:t>
            </a:r>
          </a:p>
        </p:txBody>
      </p:sp>
      <p:sp>
        <p:nvSpPr>
          <p:cNvPr id="1041" name="Card 1042"/>
          <p:cNvSpPr/>
          <p:nvPr/>
        </p:nvSpPr>
        <p:spPr>
          <a:xfrm>
            <a:off x="4195267" y="4608576"/>
            <a:ext cx="1792224" cy="54864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Rig Class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750 HP land rig</a:t>
            </a:r>
          </a:p>
        </p:txBody>
      </p:sp>
      <p:sp>
        <p:nvSpPr>
          <p:cNvPr id="1043" name="Card 1044"/>
          <p:cNvSpPr/>
          <p:nvPr/>
        </p:nvSpPr>
        <p:spPr>
          <a:xfrm>
            <a:off x="6091733" y="4608576"/>
            <a:ext cx="1792224" cy="54864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Well Control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13-5/8" 5M BOP</a:t>
            </a:r>
          </a:p>
        </p:txBody>
      </p:sp>
      <p:sp>
        <p:nvSpPr>
          <p:cNvPr id="1045" name="Card 1046"/>
          <p:cNvSpPr/>
          <p:nvPr/>
        </p:nvSpPr>
        <p:spPr>
          <a:xfrm>
            <a:off x="7988198" y="4608576"/>
            <a:ext cx="1792224" cy="54864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Well Cycle Time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21.3–29.3 days</a:t>
            </a:r>
          </a:p>
        </p:txBody>
      </p:sp>
      <p:sp>
        <p:nvSpPr>
          <p:cNvPr id="1047" name="Card 1048"/>
          <p:cNvSpPr/>
          <p:nvPr/>
        </p:nvSpPr>
        <p:spPr>
          <a:xfrm>
            <a:off x="9884664" y="4608576"/>
            <a:ext cx="1792224" cy="54864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00" tIns="18000" rIns="45700" bIns="18000" rtlCol="0" anchor="ctr"/>
          <a:lstStyle/>
          <a:p>
            <a:pPr algn="ctr"/>
            <a:r>
              <a:rPr lang="en-US" sz="850" b="1" dirty="0">
                <a:solidFill>
                  <a:srgbClr val="132E4D"/>
                </a:solidFill>
              </a:rPr>
              <a:t>Total AFE</a:t>
            </a:r>
          </a:p>
          <a:p>
            <a:pPr algn="ctr"/>
            <a:r>
              <a:rPr lang="en-US" sz="1050" b="1" dirty="0">
                <a:solidFill>
                  <a:srgbClr val="ED7D31"/>
                </a:solidFill>
              </a:rPr>
              <a:t>USD 1.96 M</a:t>
            </a:r>
          </a:p>
        </p:txBody>
      </p:sp>
      <p:sp>
        <p:nvSpPr>
          <p:cNvPr id="1049" name="Panel 1050"/>
          <p:cNvSpPr/>
          <p:nvPr/>
        </p:nvSpPr>
        <p:spPr>
          <a:xfrm>
            <a:off x="283464" y="5431536"/>
            <a:ext cx="11521440" cy="915385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Header 1052"/>
          <p:cNvSpPr/>
          <p:nvPr/>
        </p:nvSpPr>
        <p:spPr>
          <a:xfrm>
            <a:off x="283464" y="5431536"/>
            <a:ext cx="11521440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132E4D"/>
                </a:solidFill>
              </a:rPr>
              <a:t>Well Objective, Target Reservoirs &amp; Surface Constraint (Table 2.4)</a:t>
            </a:r>
          </a:p>
        </p:txBody>
      </p:sp>
      <p:sp>
        <p:nvSpPr>
          <p:cNvPr id="1053" name="Body 1054"/>
          <p:cNvSpPr txBox="1"/>
          <p:nvPr/>
        </p:nvSpPr>
        <p:spPr>
          <a:xfrm>
            <a:off x="402336" y="5797296"/>
            <a:ext cx="361188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32E4D"/>
                </a:solidFill>
              </a:rPr>
              <a:t>Objective: </a:t>
            </a:r>
            <a:r>
              <a:rPr lang="en-US" sz="900" dirty="0">
                <a:solidFill>
                  <a:srgbClr val="000000"/>
                </a:solidFill>
              </a:rPr>
              <a:t>commingled oil production from four stacked sandstone reservoirs — Bara (4,042–4,238 ft TVD), Bama (4,238–4,367), Raja (4,367–4,527) and Prima (4,527–4,676 ft TVD).</a:t>
            </a:r>
          </a:p>
        </p:txBody>
      </p:sp>
      <p:sp>
        <p:nvSpPr>
          <p:cNvPr id="1055" name="Body 1056"/>
          <p:cNvSpPr txBox="1"/>
          <p:nvPr/>
        </p:nvSpPr>
        <p:spPr>
          <a:xfrm>
            <a:off x="4206240" y="5797296"/>
            <a:ext cx="361188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32E4D"/>
                </a:solidFill>
              </a:rPr>
              <a:t>Completion targets: </a:t>
            </a:r>
            <a:r>
              <a:rPr lang="en-US" sz="900" dirty="0">
                <a:solidFill>
                  <a:srgbClr val="000000"/>
                </a:solidFill>
              </a:rPr>
              <a:t>six sand markers carry movable hydrocarbon — T_Bara1, T_Bama2 (oil and gas), T_Raja1, T_Raja3, T_Raja5 and T_Prima1. TD is set near top of argillite basement.</a:t>
            </a:r>
          </a:p>
        </p:txBody>
      </p:sp>
      <p:sp>
        <p:nvSpPr>
          <p:cNvPr id="1057" name="Body 1058"/>
          <p:cNvSpPr txBox="1"/>
          <p:nvPr/>
        </p:nvSpPr>
        <p:spPr>
          <a:xfrm>
            <a:off x="8010144" y="5797296"/>
            <a:ext cx="379476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32E4D"/>
                </a:solidFill>
              </a:rPr>
              <a:t>Surface constraint: </a:t>
            </a:r>
            <a:r>
              <a:rPr lang="en-US" sz="900" dirty="0">
                <a:solidFill>
                  <a:srgbClr val="000000"/>
                </a:solidFill>
              </a:rPr>
              <a:t>population, oil palm, HTI and protected forest overlie the targets, so the J-type profile carries 2,437 ft of displacement to keep the pad clear of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A3994-29A7-F97D-B73E-44C3B7BD13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DRIVERS, SUCCESS CRITERIA &amp; PROJECT CONSTRAINTS</a:t>
            </a:r>
          </a:p>
        </p:txBody>
      </p:sp>
      <p:pic>
        <p:nvPicPr>
          <p:cNvPr id="298" name="Google Shape;29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Panel 1060"/>
          <p:cNvSpPr/>
          <p:nvPr/>
        </p:nvSpPr>
        <p:spPr>
          <a:xfrm>
            <a:off x="283464" y="1088136"/>
            <a:ext cx="5623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Header 1062"/>
          <p:cNvSpPr/>
          <p:nvPr/>
        </p:nvSpPr>
        <p:spPr>
          <a:xfrm>
            <a:off x="283464" y="1088136"/>
            <a:ext cx="5623560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132E4D"/>
                </a:solidFill>
              </a:rPr>
              <a:t>Key Technical Design Drivers (Table 1.2)</a:t>
            </a:r>
          </a:p>
        </p:txBody>
      </p:sp>
      <p:sp>
        <p:nvSpPr>
          <p:cNvPr id="1063" name="Body 1064"/>
          <p:cNvSpPr txBox="1"/>
          <p:nvPr/>
        </p:nvSpPr>
        <p:spPr>
          <a:xfrm>
            <a:off x="402336" y="1463040"/>
            <a:ext cx="5385816" cy="3090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32E4D"/>
                </a:solidFill>
              </a:rPr>
              <a:t>1 · Depleted reservoir beneath normally pressured shale — </a:t>
            </a:r>
            <a:r>
              <a:rPr lang="en-US" sz="1000" dirty="0">
                <a:solidFill>
                  <a:srgbClr val="000000"/>
                </a:solidFill>
              </a:rPr>
              <a:t>shale pore pressure ~8.66 ppg against reservoir pressure ~6.21 ppg (RFT) and minimum sand FG ~10.75 ppg. Narrow operating MW window; losses and differential sticking governed by one MW-versus-depth policy (Ch. 3, 6, 7).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32E4D"/>
                </a:solidFill>
              </a:rPr>
              <a:t>2 · Chronic instability in the Arya and Buana shales — </a:t>
            </a:r>
            <a:r>
              <a:rPr lang="en-US" sz="1000" dirty="0">
                <a:solidFill>
                  <a:srgbClr val="000000"/>
                </a:solidFill>
              </a:rPr>
              <a:t>tight hole in 5 of 6 offsets and sloughing in 3 of 6; MW raised to 10.0–10.3 ppg on Alpha-03 and Alpha-05. Proactive MW profile, minimum 5% KCl inhibition, conditioning and wiper trips before logging and casing (Ch. 6, 7).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32E4D"/>
                </a:solidFill>
              </a:rPr>
              <a:t>3 · J-type profile with large surface-to-target offset — </a:t>
            </a:r>
            <a:r>
              <a:rPr lang="en-US" sz="1000" dirty="0">
                <a:solidFill>
                  <a:srgbClr val="000000"/>
                </a:solidFill>
              </a:rPr>
              <a:t>2,437 ft horizontal displacement at 30.41° inclination, forced by surface land constraints. Top drive mandatory; torque and drag envelope, DLS limits and directional hole-cleaning and ECD criteria (Ch. 4, 7).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32E4D"/>
                </a:solidFill>
              </a:rPr>
              <a:t>4 · Casing running and logging tool access risk — </a:t>
            </a:r>
            <a:r>
              <a:rPr lang="en-US" sz="1000" dirty="0">
                <a:solidFill>
                  <a:srgbClr val="000000"/>
                </a:solidFill>
              </a:rPr>
              <a:t>three offsets required a casing swage, Alpha-05 set its shoe 11 ft short of TD and logging tools stopped in 3 of 6 wells. Hole conditioning acceptance criteria plus contingency logging and a standard swage (Ch. 9, 11).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32E4D"/>
                </a:solidFill>
              </a:rPr>
              <a:t>5 · Long lead item and completion criticality — </a:t>
            </a:r>
            <a:r>
              <a:rPr lang="en-US" sz="1000" dirty="0">
                <a:solidFill>
                  <a:srgbClr val="000000"/>
                </a:solidFill>
              </a:rPr>
              <a:t>ESP is custom manufactured on a 16–24 week lead time; 140 jts of 7" casing, 48 jts of 9-5/8" and 161 jts of tubing. Casing, tubing and completion design frozen at BOD approval (Ch. 5, 11).</a:t>
            </a:r>
          </a:p>
        </p:txBody>
      </p:sp>
      <p:sp>
        <p:nvSpPr>
          <p:cNvPr id="1065" name="Panel 1066"/>
          <p:cNvSpPr/>
          <p:nvPr/>
        </p:nvSpPr>
        <p:spPr>
          <a:xfrm>
            <a:off x="6053328" y="1088136"/>
            <a:ext cx="5751576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Header 1068"/>
          <p:cNvSpPr/>
          <p:nvPr/>
        </p:nvSpPr>
        <p:spPr>
          <a:xfrm>
            <a:off x="6053328" y="1088136"/>
            <a:ext cx="5751576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132E4D"/>
                </a:solidFill>
              </a:rPr>
              <a:t>Scope and Authority of This Basis of Design</a:t>
            </a:r>
          </a:p>
        </p:txBody>
      </p:sp>
      <p:sp>
        <p:nvSpPr>
          <p:cNvPr id="1069" name="Body 1070"/>
          <p:cNvSpPr txBox="1"/>
          <p:nvPr/>
        </p:nvSpPr>
        <p:spPr>
          <a:xfrm>
            <a:off x="6172200" y="1463040"/>
            <a:ext cx="5513832" cy="11521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2E4D"/>
                </a:solidFill>
              </a:rPr>
              <a:t>In scope: </a:t>
            </a:r>
            <a:r>
              <a:rPr lang="en-US" sz="850" dirty="0">
                <a:solidFill>
                  <a:srgbClr val="000000"/>
                </a:solidFill>
              </a:rPr>
              <a:t>design criteria and acceptance limits for subsurface and PPFG, geomechanics, trajectory, casing and cementing, fluids and hydraulics, BHA and directional, well control, completion, rig and site, risk, schedule and cost.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2E4D"/>
                </a:solidFill>
              </a:rPr>
              <a:t>Out of scope: </a:t>
            </a:r>
            <a:r>
              <a:rPr lang="en-US" sz="850" dirty="0">
                <a:solidFill>
                  <a:srgbClr val="000000"/>
                </a:solidFill>
              </a:rPr>
              <a:t>step-by-step operating procedures (DDP), commercial terms of rig and service contracts, surface facilities downstream of the wellhead, reservoir management beyond interval selection.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2E4D"/>
                </a:solidFill>
              </a:rPr>
              <a:t>Change control: </a:t>
            </a:r>
            <a:r>
              <a:rPr lang="en-US" sz="850" dirty="0">
                <a:solidFill>
                  <a:srgbClr val="000000"/>
                </a:solidFill>
              </a:rPr>
              <a:t>any deviation from the criteria stated here is a formal design change requiring re-endorsement by the Drilling Review Board.</a:t>
            </a:r>
          </a:p>
        </p:txBody>
      </p:sp>
      <p:sp>
        <p:nvSpPr>
          <p:cNvPr id="1071" name="Panel 1072"/>
          <p:cNvSpPr/>
          <p:nvPr/>
        </p:nvSpPr>
        <p:spPr>
          <a:xfrm>
            <a:off x="6053328" y="2798064"/>
            <a:ext cx="5751576" cy="1856232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Header 1074"/>
          <p:cNvSpPr/>
          <p:nvPr/>
        </p:nvSpPr>
        <p:spPr>
          <a:xfrm>
            <a:off x="6053328" y="2798064"/>
            <a:ext cx="5751576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132E4D"/>
                </a:solidFill>
              </a:rPr>
              <a:t>Well Success Criteria (Table 1.5)</a:t>
            </a:r>
          </a:p>
        </p:txBody>
      </p:sp>
      <p:sp>
        <p:nvSpPr>
          <p:cNvPr id="1075" name="Body 1076"/>
          <p:cNvSpPr txBox="1"/>
          <p:nvPr/>
        </p:nvSpPr>
        <p:spPr>
          <a:xfrm>
            <a:off x="6172200" y="3172968"/>
            <a:ext cx="5513832" cy="14264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875" b="1" dirty="0">
                <a:solidFill>
                  <a:srgbClr val="132E4D"/>
                </a:solidFill>
              </a:rPr>
              <a:t>Technical — </a:t>
            </a:r>
            <a:r>
              <a:rPr lang="en-US" sz="875" dirty="0">
                <a:solidFill>
                  <a:srgbClr val="000000"/>
                </a:solidFill>
              </a:rPr>
              <a:t>penetrate all four target reservoirs and reach TD 5,312 ft MD with the production casing landed at the design shoe depth.</a:t>
            </a:r>
          </a:p>
          <a:p>
            <a:pPr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875" b="1" dirty="0">
                <a:solidFill>
                  <a:srgbClr val="132E4D"/>
                </a:solidFill>
              </a:rPr>
              <a:t>Subsurface data — </a:t>
            </a:r>
            <a:r>
              <a:rPr lang="en-US" sz="875" dirty="0">
                <a:solidFill>
                  <a:srgbClr val="000000"/>
                </a:solidFill>
              </a:rPr>
              <a:t>acquire a complete evaluation dataset: triple combo, pressure test and sidewall core over the full interval.</a:t>
            </a:r>
          </a:p>
          <a:p>
            <a:pPr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875" b="1" dirty="0">
                <a:solidFill>
                  <a:srgbClr val="132E4D"/>
                </a:solidFill>
              </a:rPr>
              <a:t>Production — </a:t>
            </a:r>
            <a:r>
              <a:rPr lang="en-US" sz="875" dirty="0">
                <a:solidFill>
                  <a:srgbClr val="000000"/>
                </a:solidFill>
              </a:rPr>
              <a:t>confirm the DCA forecast against the Alpha-01, Alpha-02 and Alpha-05 analogues: IP 132 BOPD, EUR 156 MBO.</a:t>
            </a:r>
          </a:p>
          <a:p>
            <a:pPr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875" b="1" dirty="0">
                <a:solidFill>
                  <a:srgbClr val="132E4D"/>
                </a:solidFill>
              </a:rPr>
              <a:t>Cost &amp; schedule — </a:t>
            </a:r>
            <a:r>
              <a:rPr lang="en-US" sz="875" dirty="0">
                <a:solidFill>
                  <a:srgbClr val="000000"/>
                </a:solidFill>
              </a:rPr>
              <a:t>cost overrun no more than 10% of AFE, NPT below 5–10%, well cycle time 21.3–29.3 days.</a:t>
            </a:r>
          </a:p>
          <a:p>
            <a:pPr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875" b="1" dirty="0">
                <a:solidFill>
                  <a:srgbClr val="132E4D"/>
                </a:solidFill>
              </a:rPr>
              <a:t>HSSE — </a:t>
            </a:r>
            <a:r>
              <a:rPr lang="en-US" sz="875" dirty="0">
                <a:solidFill>
                  <a:srgbClr val="000000"/>
                </a:solidFill>
              </a:rPr>
              <a:t>zero LTI, zero fatality, zero major incident and zero reportable spill.</a:t>
            </a:r>
          </a:p>
        </p:txBody>
      </p:sp>
      <p:sp>
        <p:nvSpPr>
          <p:cNvPr id="1077" name="Panel 1078"/>
          <p:cNvSpPr/>
          <p:nvPr/>
        </p:nvSpPr>
        <p:spPr>
          <a:xfrm>
            <a:off x="283464" y="4773168"/>
            <a:ext cx="11521440" cy="1482597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Header 1080"/>
          <p:cNvSpPr/>
          <p:nvPr/>
        </p:nvSpPr>
        <p:spPr>
          <a:xfrm>
            <a:off x="283464" y="4773168"/>
            <a:ext cx="11521440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132E4D"/>
                </a:solidFill>
              </a:rPr>
              <a:t>Design Assumptions, Project Constraints and Open Items to Close Before Gate 2 (Table 1.6)</a:t>
            </a:r>
          </a:p>
        </p:txBody>
      </p:sp>
      <p:sp>
        <p:nvSpPr>
          <p:cNvPr id="1081" name="Body 1082"/>
          <p:cNvSpPr txBox="1"/>
          <p:nvPr/>
        </p:nvSpPr>
        <p:spPr>
          <a:xfrm>
            <a:off x="402336" y="5157216"/>
            <a:ext cx="5093208" cy="1316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850" b="1" dirty="0">
                <a:solidFill>
                  <a:srgbClr val="132E4D"/>
                </a:solidFill>
              </a:rPr>
              <a:t>Assumptions</a:t>
            </a:r>
          </a:p>
          <a:p>
            <a:pPr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850" dirty="0">
                <a:solidFill>
                  <a:srgbClr val="000000"/>
                </a:solidFill>
              </a:rPr>
              <a:t>PPFG is calibrated on offset data over ten years old with limited sonic, LOT/FIT and pressure points — the largest single technical uncertainty.</a:t>
            </a:r>
          </a:p>
          <a:p>
            <a:pPr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850" dirty="0">
                <a:solidFill>
                  <a:srgbClr val="000000"/>
                </a:solidFill>
              </a:rPr>
              <a:t>Depletion is assumed to have continued since the last survey; actual reservoir pressure may be lower.</a:t>
            </a:r>
          </a:p>
          <a:p>
            <a:pPr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850" dirty="0">
                <a:solidFill>
                  <a:srgbClr val="000000"/>
                </a:solidFill>
              </a:rPr>
              <a:t>No shallow gas, negligible H₂S and acceptable CO₂ — this assumption governs the 5M well control specification.</a:t>
            </a:r>
          </a:p>
          <a:p>
            <a:pPr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850" dirty="0">
                <a:solidFill>
                  <a:srgbClr val="000000"/>
                </a:solidFill>
              </a:rPr>
              <a:t>Existing surface facilities can accept up to 2,000 BFPD without modification.</a:t>
            </a:r>
          </a:p>
        </p:txBody>
      </p:sp>
      <p:sp>
        <p:nvSpPr>
          <p:cNvPr id="1083" name="Body 1084"/>
          <p:cNvSpPr txBox="1"/>
          <p:nvPr/>
        </p:nvSpPr>
        <p:spPr>
          <a:xfrm>
            <a:off x="6336792" y="5157216"/>
            <a:ext cx="5184648" cy="1316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850" b="1" dirty="0">
                <a:solidFill>
                  <a:srgbClr val="132E4D"/>
                </a:solidFill>
              </a:rPr>
              <a:t>Constraints</a:t>
            </a:r>
          </a:p>
          <a:p>
            <a:pPr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850" dirty="0">
                <a:solidFill>
                  <a:srgbClr val="000000"/>
                </a:solidFill>
              </a:rPr>
              <a:t>Surface land use — population, oil palm, HTI and protected forest — limits the wellpad to 2–2.5 ha.</a:t>
            </a:r>
          </a:p>
          <a:p>
            <a:pPr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850" dirty="0">
                <a:solidFill>
                  <a:srgbClr val="000000"/>
                </a:solidFill>
              </a:rPr>
              <a:t>Sanctioned envelope USD 1,779,610 plus 10% contingency; target spud 1 November 2026.</a:t>
            </a:r>
          </a:p>
          <a:p>
            <a:pPr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850" dirty="0">
                <a:solidFill>
                  <a:srgbClr val="000000"/>
                </a:solidFill>
              </a:rPr>
              <a:t>ESP lead time 16–24 weeks; casing, tubing and completion design frozen at BOD approval.</a:t>
            </a:r>
          </a:p>
          <a:p>
            <a:pPr algn="l">
              <a:lnSpc>
                <a:spcPct val="100000"/>
              </a:lnSpc>
              <a:spcAft>
                <a:spcPts val="180"/>
              </a:spcAft>
              <a:buNone/>
            </a:pPr>
            <a:r>
              <a:rPr lang="en-US" sz="850" dirty="0">
                <a:solidFill>
                  <a:srgbClr val="000000"/>
                </a:solidFill>
              </a:rPr>
              <a:t>Risk baseline of 29 items — 7 high, 17 medium, 5 low, none rated extreme.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A3994-29A7-F97D-B73E-44C3B7BD13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D83F8DE-EA79-E6C9-41D7-99495CC8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5">
            <a:extLst>
              <a:ext uri="{FF2B5EF4-FFF2-40B4-BE49-F238E27FC236}">
                <a16:creationId xmlns:a16="http://schemas.microsoft.com/office/drawing/2014/main" id="{105589C3-CFF7-D3F7-C9B1-CFF25DDF4A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75" y="287290"/>
            <a:ext cx="11716269" cy="630408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>
            <a:extLst>
              <a:ext uri="{FF2B5EF4-FFF2-40B4-BE49-F238E27FC236}">
                <a16:creationId xmlns:a16="http://schemas.microsoft.com/office/drawing/2014/main" id="{40C4AAF3-0421-D205-1138-D71DF2EC6347}"/>
              </a:ext>
            </a:extLst>
          </p:cNvPr>
          <p:cNvSpPr/>
          <p:nvPr/>
        </p:nvSpPr>
        <p:spPr>
          <a:xfrm>
            <a:off x="259075" y="2007908"/>
            <a:ext cx="11716269" cy="2780907"/>
          </a:xfrm>
          <a:prstGeom prst="rect">
            <a:avLst/>
          </a:prstGeom>
          <a:solidFill>
            <a:srgbClr val="365DA8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15">
            <a:extLst>
              <a:ext uri="{FF2B5EF4-FFF2-40B4-BE49-F238E27FC236}">
                <a16:creationId xmlns:a16="http://schemas.microsoft.com/office/drawing/2014/main" id="{EE98BCA9-69E6-047F-C419-8E9EB89D37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94907" y="2459920"/>
            <a:ext cx="11202186" cy="195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SUBSURFACE &amp; GEOMECHANICS BASIS</a:t>
            </a:r>
            <a:endParaRPr lang="en-US" dirty="0"/>
          </a:p>
        </p:txBody>
      </p:sp>
      <p:pic>
        <p:nvPicPr>
          <p:cNvPr id="344" name="Google Shape;344;p15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A66C566F-92A9-3118-F046-57282D3F11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5">
            <a:extLst>
              <a:ext uri="{FF2B5EF4-FFF2-40B4-BE49-F238E27FC236}">
                <a16:creationId xmlns:a16="http://schemas.microsoft.com/office/drawing/2014/main" id="{7B29861E-722A-412F-39A4-09FFB3C60D7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075" y="287290"/>
            <a:ext cx="1400175" cy="140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749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70F09CB6-C2FE-764C-6DD2-95B32AFCD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DAE03BF2-7AB0-FA4F-737A-0D21000E6AAC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SUBSURFACE &amp; GEOMECHANICS BASIS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A4EDDCCB-EC52-5CE1-3206-1B46033E6E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E6CAF2C8-14A8-FCD9-6CC7-ED51520A6C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32A67CC-4D18-C809-522B-F2BD8DCF9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0" b="50799"/>
          <a:stretch>
            <a:fillRect/>
          </a:stretch>
        </p:blipFill>
        <p:spPr>
          <a:xfrm>
            <a:off x="2054352" y="1032440"/>
            <a:ext cx="9976104" cy="26103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6693AB-CCD6-A035-AF3F-8306A3674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4" t="58321" r="104" b="1261"/>
          <a:stretch>
            <a:fillRect/>
          </a:stretch>
        </p:blipFill>
        <p:spPr>
          <a:xfrm>
            <a:off x="2054351" y="3852075"/>
            <a:ext cx="9976103" cy="255829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10172C-5DAC-DC16-0C01-A4338DF016B2}"/>
              </a:ext>
            </a:extLst>
          </p:cNvPr>
          <p:cNvSpPr/>
          <p:nvPr/>
        </p:nvSpPr>
        <p:spPr>
          <a:xfrm>
            <a:off x="11715750" y="3391979"/>
            <a:ext cx="249555" cy="235204"/>
          </a:xfrm>
          <a:prstGeom prst="roundRect">
            <a:avLst/>
          </a:prstGeom>
          <a:solidFill>
            <a:srgbClr val="D4E6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F6FB5E-0DE0-9ADB-CE6F-8B7631BFDC3D}"/>
              </a:ext>
            </a:extLst>
          </p:cNvPr>
          <p:cNvSpPr/>
          <p:nvPr/>
        </p:nvSpPr>
        <p:spPr>
          <a:xfrm>
            <a:off x="11715750" y="6160803"/>
            <a:ext cx="249555" cy="235204"/>
          </a:xfrm>
          <a:prstGeom prst="roundRect">
            <a:avLst/>
          </a:prstGeom>
          <a:solidFill>
            <a:srgbClr val="C6D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722397-6429-1494-06C3-E416FFC512CD}"/>
              </a:ext>
            </a:extLst>
          </p:cNvPr>
          <p:cNvCxnSpPr>
            <a:cxnSpLocks/>
          </p:cNvCxnSpPr>
          <p:nvPr/>
        </p:nvCxnSpPr>
        <p:spPr>
          <a:xfrm>
            <a:off x="161544" y="3735405"/>
            <a:ext cx="117403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798444FC-D244-181A-0242-6D89175519ED}"/>
              </a:ext>
            </a:extLst>
          </p:cNvPr>
          <p:cNvSpPr/>
          <p:nvPr/>
        </p:nvSpPr>
        <p:spPr>
          <a:xfrm>
            <a:off x="161544" y="1093216"/>
            <a:ext cx="1717040" cy="1341969"/>
          </a:xfrm>
          <a:prstGeom prst="rightArrow">
            <a:avLst>
              <a:gd name="adj1" fmla="val 100000"/>
              <a:gd name="adj2" fmla="val 2374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Subsurface &amp; Drilling Environment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A97212E-FEFB-30D3-3107-CDCA84DEB746}"/>
              </a:ext>
            </a:extLst>
          </p:cNvPr>
          <p:cNvSpPr/>
          <p:nvPr/>
        </p:nvSpPr>
        <p:spPr>
          <a:xfrm>
            <a:off x="161544" y="3882803"/>
            <a:ext cx="1717040" cy="1341969"/>
          </a:xfrm>
          <a:prstGeom prst="rightArrow">
            <a:avLst>
              <a:gd name="adj1" fmla="val 100000"/>
              <a:gd name="adj2" fmla="val 2374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Geomechanics &amp; Wellbore Stability Basis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96C676-37A0-B430-95AA-A9ECB29E4CCD}"/>
              </a:ext>
            </a:extLst>
          </p:cNvPr>
          <p:cNvSpPr txBox="1"/>
          <p:nvPr/>
        </p:nvSpPr>
        <p:spPr>
          <a:xfrm>
            <a:off x="82596" y="2527785"/>
            <a:ext cx="1795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Integrated Subsurface Understanding to Support Safe Drilling &amp; Effective Reservoir Evaluation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B0432B-0647-006D-0D5D-C957586AC45B}"/>
              </a:ext>
            </a:extLst>
          </p:cNvPr>
          <p:cNvSpPr txBox="1"/>
          <p:nvPr/>
        </p:nvSpPr>
        <p:spPr>
          <a:xfrm>
            <a:off x="128192" y="5292183"/>
            <a:ext cx="1926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Stress Model, SFG, and Mud-Weight Window to Maintain Wellbore Stability without Compromising Formation Integrity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13524C-9B97-A4A6-903E-528B2F963249}"/>
              </a:ext>
            </a:extLst>
          </p:cNvPr>
          <p:cNvSpPr/>
          <p:nvPr/>
        </p:nvSpPr>
        <p:spPr>
          <a:xfrm>
            <a:off x="4259580" y="3035616"/>
            <a:ext cx="3101340" cy="25215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0761548-6EEE-EF9F-9599-7D8D5FEB0B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70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18F479B4-9EAC-1AF1-DA9C-4AFA15D00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5">
            <a:extLst>
              <a:ext uri="{FF2B5EF4-FFF2-40B4-BE49-F238E27FC236}">
                <a16:creationId xmlns:a16="http://schemas.microsoft.com/office/drawing/2014/main" id="{944B95B7-8478-7BCE-E969-A4B8694B09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75" y="287290"/>
            <a:ext cx="11716269" cy="630408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>
            <a:extLst>
              <a:ext uri="{FF2B5EF4-FFF2-40B4-BE49-F238E27FC236}">
                <a16:creationId xmlns:a16="http://schemas.microsoft.com/office/drawing/2014/main" id="{22DC4D64-589F-6F49-47EF-5435733B8324}"/>
              </a:ext>
            </a:extLst>
          </p:cNvPr>
          <p:cNvSpPr/>
          <p:nvPr/>
        </p:nvSpPr>
        <p:spPr>
          <a:xfrm>
            <a:off x="259075" y="2007908"/>
            <a:ext cx="11716269" cy="2780907"/>
          </a:xfrm>
          <a:prstGeom prst="rect">
            <a:avLst/>
          </a:prstGeom>
          <a:solidFill>
            <a:srgbClr val="365DA8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15">
            <a:extLst>
              <a:ext uri="{FF2B5EF4-FFF2-40B4-BE49-F238E27FC236}">
                <a16:creationId xmlns:a16="http://schemas.microsoft.com/office/drawing/2014/main" id="{B4AD6281-4B9D-7FB3-6596-682964813DD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94907" y="2459920"/>
            <a:ext cx="11202186" cy="195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WELL TRAJECTORY, DIRECTIONAL DRILLING &amp; BHA</a:t>
            </a:r>
            <a:endParaRPr lang="en-US" dirty="0"/>
          </a:p>
        </p:txBody>
      </p:sp>
      <p:pic>
        <p:nvPicPr>
          <p:cNvPr id="344" name="Google Shape;344;p15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7E9E7815-4375-E777-D37E-716EF5F4E2E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5">
            <a:extLst>
              <a:ext uri="{FF2B5EF4-FFF2-40B4-BE49-F238E27FC236}">
                <a16:creationId xmlns:a16="http://schemas.microsoft.com/office/drawing/2014/main" id="{CD86BC1F-43C2-F448-6095-8F560B79072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075" y="287290"/>
            <a:ext cx="1400175" cy="140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376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WELL TRAJECTORY &amp; DIRECTIONAL DRILLING BASIS</a:t>
            </a:r>
          </a:p>
        </p:txBody>
      </p:sp>
      <p:pic>
        <p:nvPicPr>
          <p:cNvPr id="298" name="Google Shape;29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B62CB496-C5EC-DDDE-11D6-074FE34CF0AF}"/>
              </a:ext>
            </a:extLst>
          </p:cNvPr>
          <p:cNvSpPr/>
          <p:nvPr/>
        </p:nvSpPr>
        <p:spPr>
          <a:xfrm>
            <a:off x="280262" y="1085032"/>
            <a:ext cx="507492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46D91A7F-5815-B1A5-2C28-66475F7FEDF7}"/>
              </a:ext>
            </a:extLst>
          </p:cNvPr>
          <p:cNvSpPr/>
          <p:nvPr/>
        </p:nvSpPr>
        <p:spPr>
          <a:xfrm>
            <a:off x="280262" y="1085032"/>
            <a:ext cx="5074920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32E4D"/>
                </a:solidFill>
              </a:defRPr>
            </a:pPr>
            <a:r>
              <a:rPr dirty="0"/>
              <a:t>Proposed J-Type Trajectory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FFBDDA-39A9-AA4C-86D5-53E2C719D09A}"/>
              </a:ext>
            </a:extLst>
          </p:cNvPr>
          <p:cNvSpPr txBox="1"/>
          <p:nvPr/>
        </p:nvSpPr>
        <p:spPr>
          <a:xfrm>
            <a:off x="508862" y="5547304"/>
            <a:ext cx="4663440" cy="60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defRPr sz="1100">
                <a:solidFill>
                  <a:srgbClr val="000000"/>
                </a:solidFill>
              </a:defRPr>
            </a:pPr>
            <a:r>
              <a:rPr b="1" dirty="0"/>
              <a:t>Design </a:t>
            </a:r>
            <a:r>
              <a:rPr lang="en-US" b="1" dirty="0"/>
              <a:t>I</a:t>
            </a:r>
            <a:r>
              <a:rPr b="1" dirty="0"/>
              <a:t>ntent</a:t>
            </a:r>
            <a:r>
              <a:rPr dirty="0"/>
              <a:t>: </a:t>
            </a:r>
            <a:r>
              <a:rPr lang="en-US" dirty="0"/>
              <a:t>S</a:t>
            </a:r>
            <a:r>
              <a:rPr dirty="0"/>
              <a:t>mooth vertical–build–tangent profile to reach Bara, Bama, Raja and Prima targets while reducing land constraints and keeping logging/casing/completion operations practicable.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3792C7C-6E87-265B-A5AC-38117C5B5687}"/>
              </a:ext>
            </a:extLst>
          </p:cNvPr>
          <p:cNvSpPr/>
          <p:nvPr/>
        </p:nvSpPr>
        <p:spPr>
          <a:xfrm>
            <a:off x="5492342" y="1085032"/>
            <a:ext cx="6309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C5750863-55A7-C7B1-1FAB-62A195D6DC2E}"/>
              </a:ext>
            </a:extLst>
          </p:cNvPr>
          <p:cNvSpPr/>
          <p:nvPr/>
        </p:nvSpPr>
        <p:spPr>
          <a:xfrm>
            <a:off x="5492342" y="1085032"/>
            <a:ext cx="6309360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32E4D"/>
                </a:solidFill>
              </a:defRPr>
            </a:pPr>
            <a:r>
              <a:rPr dirty="0"/>
              <a:t>Key Trajectory Design Parameters</a:t>
            </a:r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69A21C34-4C9D-7D22-2E32-B8695725D29F}"/>
              </a:ext>
            </a:extLst>
          </p:cNvPr>
          <p:cNvSpPr/>
          <p:nvPr/>
        </p:nvSpPr>
        <p:spPr>
          <a:xfrm>
            <a:off x="5629502" y="1432504"/>
            <a:ext cx="1444752" cy="530352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rPr dirty="0"/>
              <a:t>Well Profile</a:t>
            </a:r>
          </a:p>
          <a:p>
            <a:pPr algn="ctr">
              <a:defRPr sz="1300" b="1">
                <a:solidFill>
                  <a:srgbClr val="ED7D31"/>
                </a:solidFill>
              </a:defRPr>
            </a:pPr>
            <a:r>
              <a:rPr dirty="0"/>
              <a:t>J-Type</a:t>
            </a:r>
            <a:br>
              <a:rPr dirty="0"/>
            </a:br>
            <a:r>
              <a:rPr dirty="0"/>
              <a:t>Directional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36EC0128-62C3-B473-F8AC-82AB656B7F54}"/>
              </a:ext>
            </a:extLst>
          </p:cNvPr>
          <p:cNvSpPr/>
          <p:nvPr/>
        </p:nvSpPr>
        <p:spPr>
          <a:xfrm>
            <a:off x="7129118" y="1432504"/>
            <a:ext cx="1444752" cy="530352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t>KOP</a:t>
            </a:r>
          </a:p>
          <a:p>
            <a:pPr algn="ctr">
              <a:defRPr sz="1300" b="1">
                <a:solidFill>
                  <a:srgbClr val="ED7D31"/>
                </a:solidFill>
              </a:defRPr>
            </a:pPr>
            <a:r>
              <a:t>200 ft MD</a:t>
            </a: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616762DD-4B6D-9533-3CC9-A0955742D7BB}"/>
              </a:ext>
            </a:extLst>
          </p:cNvPr>
          <p:cNvSpPr/>
          <p:nvPr/>
        </p:nvSpPr>
        <p:spPr>
          <a:xfrm>
            <a:off x="8628734" y="1432504"/>
            <a:ext cx="1444752" cy="530352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t>BUR</a:t>
            </a:r>
          </a:p>
          <a:p>
            <a:pPr algn="ctr">
              <a:defRPr sz="1300" b="1">
                <a:solidFill>
                  <a:srgbClr val="ED7D31"/>
                </a:solidFill>
              </a:defRPr>
            </a:pPr>
            <a:r>
              <a:t>5°/100 ft</a:t>
            </a:r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AE175ACF-3DFE-F4B4-4CB1-3B8BDB91037B}"/>
              </a:ext>
            </a:extLst>
          </p:cNvPr>
          <p:cNvSpPr/>
          <p:nvPr/>
        </p:nvSpPr>
        <p:spPr>
          <a:xfrm>
            <a:off x="10128350" y="1432504"/>
            <a:ext cx="1444752" cy="530352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t>EOB</a:t>
            </a:r>
          </a:p>
          <a:p>
            <a:pPr algn="ctr">
              <a:defRPr sz="1300" b="1">
                <a:solidFill>
                  <a:srgbClr val="ED7D31"/>
                </a:solidFill>
              </a:defRPr>
            </a:pPr>
            <a:r>
              <a:t>808.2 ft MD</a:t>
            </a:r>
          </a:p>
        </p:txBody>
      </p:sp>
      <p:sp>
        <p:nvSpPr>
          <p:cNvPr id="23" name="Rounded Rectangle 16">
            <a:extLst>
              <a:ext uri="{FF2B5EF4-FFF2-40B4-BE49-F238E27FC236}">
                <a16:creationId xmlns:a16="http://schemas.microsoft.com/office/drawing/2014/main" id="{8703902E-5C68-7B1D-621C-AA5DD3A7A2F0}"/>
              </a:ext>
            </a:extLst>
          </p:cNvPr>
          <p:cNvSpPr/>
          <p:nvPr/>
        </p:nvSpPr>
        <p:spPr>
          <a:xfrm>
            <a:off x="5629502" y="1999432"/>
            <a:ext cx="1444752" cy="530352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t>Hold Inclination</a:t>
            </a:r>
          </a:p>
          <a:p>
            <a:pPr algn="ctr">
              <a:defRPr sz="1300" b="1">
                <a:solidFill>
                  <a:srgbClr val="ED7D31"/>
                </a:solidFill>
              </a:defRPr>
            </a:pPr>
            <a:r>
              <a:t>30.41°</a:t>
            </a:r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C84F76EE-4B39-E3FF-0D81-7A91A3328C8A}"/>
              </a:ext>
            </a:extLst>
          </p:cNvPr>
          <p:cNvSpPr/>
          <p:nvPr/>
        </p:nvSpPr>
        <p:spPr>
          <a:xfrm>
            <a:off x="7129118" y="1999432"/>
            <a:ext cx="1444752" cy="530352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t>Azimuth</a:t>
            </a:r>
          </a:p>
          <a:p>
            <a:pPr algn="ctr">
              <a:defRPr sz="1300" b="1">
                <a:solidFill>
                  <a:srgbClr val="ED7D31"/>
                </a:solidFill>
              </a:defRPr>
            </a:pPr>
            <a:r>
              <a:t>135°</a:t>
            </a:r>
          </a:p>
        </p:txBody>
      </p:sp>
      <p:sp>
        <p:nvSpPr>
          <p:cNvPr id="27" name="Rounded Rectangle 18">
            <a:extLst>
              <a:ext uri="{FF2B5EF4-FFF2-40B4-BE49-F238E27FC236}">
                <a16:creationId xmlns:a16="http://schemas.microsoft.com/office/drawing/2014/main" id="{9488A219-C6B9-6091-262C-9566E3A9E584}"/>
              </a:ext>
            </a:extLst>
          </p:cNvPr>
          <p:cNvSpPr/>
          <p:nvPr/>
        </p:nvSpPr>
        <p:spPr>
          <a:xfrm>
            <a:off x="8628734" y="1999432"/>
            <a:ext cx="1444752" cy="530352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t>Horz. Displacement</a:t>
            </a:r>
          </a:p>
          <a:p>
            <a:pPr algn="ctr">
              <a:defRPr sz="1300" b="1">
                <a:solidFill>
                  <a:srgbClr val="ED7D31"/>
                </a:solidFill>
              </a:defRPr>
            </a:pPr>
            <a:r>
              <a:t>2,437 ft</a:t>
            </a:r>
          </a:p>
        </p:txBody>
      </p:sp>
      <p:sp>
        <p:nvSpPr>
          <p:cNvPr id="29" name="Rounded Rectangle 19">
            <a:extLst>
              <a:ext uri="{FF2B5EF4-FFF2-40B4-BE49-F238E27FC236}">
                <a16:creationId xmlns:a16="http://schemas.microsoft.com/office/drawing/2014/main" id="{D54EC412-BAF5-F993-9C6C-F9FDDD20DA13}"/>
              </a:ext>
            </a:extLst>
          </p:cNvPr>
          <p:cNvSpPr/>
          <p:nvPr/>
        </p:nvSpPr>
        <p:spPr>
          <a:xfrm>
            <a:off x="10128350" y="1999432"/>
            <a:ext cx="1444752" cy="530352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t>Planned TD</a:t>
            </a:r>
          </a:p>
          <a:p>
            <a:pPr algn="ctr">
              <a:defRPr sz="1300" b="1">
                <a:solidFill>
                  <a:srgbClr val="ED7D31"/>
                </a:solidFill>
              </a:defRPr>
            </a:pPr>
            <a:r>
              <a:t>~5,312 ft MD</a:t>
            </a:r>
          </a:p>
        </p:txBody>
      </p:sp>
      <p:sp>
        <p:nvSpPr>
          <p:cNvPr id="31" name="Rounded Rectangle 20">
            <a:extLst>
              <a:ext uri="{FF2B5EF4-FFF2-40B4-BE49-F238E27FC236}">
                <a16:creationId xmlns:a16="http://schemas.microsoft.com/office/drawing/2014/main" id="{6B7884E2-97B0-3208-A38C-242300BA3777}"/>
              </a:ext>
            </a:extLst>
          </p:cNvPr>
          <p:cNvSpPr/>
          <p:nvPr/>
        </p:nvSpPr>
        <p:spPr>
          <a:xfrm>
            <a:off x="5492342" y="2913832"/>
            <a:ext cx="2971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21">
            <a:extLst>
              <a:ext uri="{FF2B5EF4-FFF2-40B4-BE49-F238E27FC236}">
                <a16:creationId xmlns:a16="http://schemas.microsoft.com/office/drawing/2014/main" id="{D03B8382-9120-4718-7E59-B4F22EC3F632}"/>
              </a:ext>
            </a:extLst>
          </p:cNvPr>
          <p:cNvSpPr/>
          <p:nvPr/>
        </p:nvSpPr>
        <p:spPr>
          <a:xfrm>
            <a:off x="5492342" y="2913832"/>
            <a:ext cx="2971800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32E4D"/>
                </a:solidFill>
              </a:defRPr>
            </a:pPr>
            <a:r>
              <a:rPr sz="1100" dirty="0"/>
              <a:t>Directional Drilling Operating Philosophy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C63B93-E403-F704-8DC4-B5DD90358683}"/>
              </a:ext>
            </a:extLst>
          </p:cNvPr>
          <p:cNvSpPr txBox="1"/>
          <p:nvPr/>
        </p:nvSpPr>
        <p:spPr>
          <a:xfrm>
            <a:off x="5611214" y="3215584"/>
            <a:ext cx="2743200" cy="1580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defRPr sz="1100">
                <a:solidFill>
                  <a:srgbClr val="000000"/>
                </a:solidFill>
              </a:defRPr>
            </a:pPr>
            <a:r>
              <a:rPr sz="1000" b="1" dirty="0"/>
              <a:t>Build </a:t>
            </a:r>
            <a:r>
              <a:rPr lang="en-US" sz="1000" b="1" dirty="0"/>
              <a:t>S</a:t>
            </a:r>
            <a:r>
              <a:rPr sz="1000" b="1" dirty="0"/>
              <a:t>ection</a:t>
            </a:r>
            <a:r>
              <a:rPr sz="1000" dirty="0"/>
              <a:t>: </a:t>
            </a:r>
            <a:r>
              <a:rPr lang="en-US" sz="1000" dirty="0"/>
              <a:t>C</a:t>
            </a:r>
            <a:r>
              <a:rPr sz="1000" dirty="0"/>
              <a:t>ontrolled steering from KOP until 30.41° tangent is achieved.</a:t>
            </a:r>
          </a:p>
          <a:p>
            <a:pPr>
              <a:lnSpc>
                <a:spcPct val="102000"/>
              </a:lnSpc>
              <a:defRPr sz="1100">
                <a:solidFill>
                  <a:srgbClr val="000000"/>
                </a:solidFill>
              </a:defRPr>
            </a:pPr>
            <a:r>
              <a:rPr sz="1000" b="1" dirty="0"/>
              <a:t>Tangent </a:t>
            </a:r>
            <a:r>
              <a:rPr lang="en-US" sz="1000" b="1" dirty="0"/>
              <a:t>S</a:t>
            </a:r>
            <a:r>
              <a:rPr sz="1000" b="1" dirty="0"/>
              <a:t>ection</a:t>
            </a:r>
            <a:r>
              <a:rPr sz="1000" dirty="0"/>
              <a:t>: </a:t>
            </a:r>
            <a:r>
              <a:rPr lang="en-US" sz="1000" dirty="0"/>
              <a:t>M</a:t>
            </a:r>
            <a:r>
              <a:rPr sz="1000" dirty="0"/>
              <a:t>inimize inclination/azimuth corrections to reduce tortuosity and local doglegs.</a:t>
            </a:r>
          </a:p>
          <a:p>
            <a:pPr>
              <a:lnSpc>
                <a:spcPct val="102000"/>
              </a:lnSpc>
              <a:defRPr sz="1100">
                <a:solidFill>
                  <a:srgbClr val="000000"/>
                </a:solidFill>
              </a:defRPr>
            </a:pPr>
            <a:r>
              <a:rPr sz="1000" b="1" dirty="0"/>
              <a:t>Target </a:t>
            </a:r>
            <a:r>
              <a:rPr lang="en-US" sz="1000" b="1" dirty="0"/>
              <a:t>A</a:t>
            </a:r>
            <a:r>
              <a:rPr sz="1000" b="1" dirty="0"/>
              <a:t>ssurance</a:t>
            </a:r>
            <a:r>
              <a:rPr sz="1000" dirty="0"/>
              <a:t>: </a:t>
            </a:r>
            <a:r>
              <a:rPr lang="en-US" sz="1000" dirty="0"/>
              <a:t>K</a:t>
            </a:r>
            <a:r>
              <a:rPr sz="1000" dirty="0"/>
              <a:t>eep well inside approved trajectory and 75-ft target radius.</a:t>
            </a:r>
          </a:p>
          <a:p>
            <a:pPr>
              <a:lnSpc>
                <a:spcPct val="102000"/>
              </a:lnSpc>
              <a:defRPr sz="1100">
                <a:solidFill>
                  <a:srgbClr val="000000"/>
                </a:solidFill>
              </a:defRPr>
            </a:pPr>
            <a:r>
              <a:rPr b="1" dirty="0"/>
              <a:t>Survey </a:t>
            </a:r>
            <a:r>
              <a:rPr lang="en-US" b="1" dirty="0"/>
              <a:t>P</a:t>
            </a:r>
            <a:r>
              <a:rPr b="1" dirty="0"/>
              <a:t>olicy</a:t>
            </a:r>
            <a:r>
              <a:rPr dirty="0"/>
              <a:t>: 1 survey/stand in build; ~300 ft (≈5 stands) in stable tangent.</a:t>
            </a:r>
          </a:p>
        </p:txBody>
      </p:sp>
      <p:sp>
        <p:nvSpPr>
          <p:cNvPr id="37" name="Rounded Rectangle 23">
            <a:extLst>
              <a:ext uri="{FF2B5EF4-FFF2-40B4-BE49-F238E27FC236}">
                <a16:creationId xmlns:a16="http://schemas.microsoft.com/office/drawing/2014/main" id="{BBB569FF-7697-3499-C92A-ACFA704CA78E}"/>
              </a:ext>
            </a:extLst>
          </p:cNvPr>
          <p:cNvSpPr/>
          <p:nvPr/>
        </p:nvSpPr>
        <p:spPr>
          <a:xfrm>
            <a:off x="8601302" y="2913832"/>
            <a:ext cx="32004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24">
            <a:extLst>
              <a:ext uri="{FF2B5EF4-FFF2-40B4-BE49-F238E27FC236}">
                <a16:creationId xmlns:a16="http://schemas.microsoft.com/office/drawing/2014/main" id="{99787D84-6AB9-B58A-856B-A9AD921AC3EA}"/>
              </a:ext>
            </a:extLst>
          </p:cNvPr>
          <p:cNvSpPr/>
          <p:nvPr/>
        </p:nvSpPr>
        <p:spPr>
          <a:xfrm>
            <a:off x="8601302" y="2913832"/>
            <a:ext cx="3200400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32E4D"/>
                </a:solidFill>
              </a:defRPr>
            </a:pPr>
            <a:r>
              <a:rPr dirty="0"/>
              <a:t>Survey / Correction Limits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964998-7525-FA7D-FE3D-459A1E40C6E5}"/>
              </a:ext>
            </a:extLst>
          </p:cNvPr>
          <p:cNvSpPr txBox="1"/>
          <p:nvPr/>
        </p:nvSpPr>
        <p:spPr>
          <a:xfrm>
            <a:off x="8720174" y="3215584"/>
            <a:ext cx="2962656" cy="1462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defRPr sz="1100">
                <a:solidFill>
                  <a:srgbClr val="000000"/>
                </a:solidFill>
              </a:defRPr>
            </a:pPr>
            <a:r>
              <a:rPr b="1" dirty="0"/>
              <a:t>Directional </a:t>
            </a:r>
            <a:r>
              <a:rPr lang="en-US" b="1" dirty="0"/>
              <a:t>S</a:t>
            </a:r>
            <a:r>
              <a:rPr b="1" dirty="0"/>
              <a:t>ystem</a:t>
            </a:r>
            <a:r>
              <a:rPr dirty="0"/>
              <a:t>: Mud motor + MWD; NMDC required for magnetic isolation.</a:t>
            </a:r>
          </a:p>
          <a:p>
            <a:pPr>
              <a:lnSpc>
                <a:spcPct val="102000"/>
              </a:lnSpc>
              <a:defRPr sz="1100">
                <a:solidFill>
                  <a:srgbClr val="000000"/>
                </a:solidFill>
              </a:defRPr>
            </a:pPr>
            <a:r>
              <a:rPr b="1" dirty="0"/>
              <a:t>Max </a:t>
            </a:r>
            <a:r>
              <a:rPr lang="en-US" b="1" dirty="0"/>
              <a:t>T</a:t>
            </a:r>
            <a:r>
              <a:rPr b="1" dirty="0"/>
              <a:t>angent </a:t>
            </a:r>
            <a:r>
              <a:rPr lang="en-US" b="1" dirty="0"/>
              <a:t>C</a:t>
            </a:r>
            <a:r>
              <a:rPr b="1" dirty="0"/>
              <a:t>orrection</a:t>
            </a:r>
            <a:r>
              <a:rPr dirty="0"/>
              <a:t>: ~2° only when required.</a:t>
            </a:r>
          </a:p>
          <a:p>
            <a:pPr>
              <a:lnSpc>
                <a:spcPct val="102000"/>
              </a:lnSpc>
              <a:defRPr sz="1100">
                <a:solidFill>
                  <a:srgbClr val="000000"/>
                </a:solidFill>
              </a:defRPr>
            </a:pPr>
            <a:r>
              <a:rPr b="1" dirty="0"/>
              <a:t>Max </a:t>
            </a:r>
            <a:r>
              <a:rPr lang="en-US" b="1" dirty="0"/>
              <a:t>I</a:t>
            </a:r>
            <a:r>
              <a:rPr b="1" dirty="0"/>
              <a:t>ndividual </a:t>
            </a:r>
            <a:r>
              <a:rPr lang="en-US" b="1" dirty="0"/>
              <a:t>S</a:t>
            </a:r>
            <a:r>
              <a:rPr b="1" dirty="0"/>
              <a:t>lide per </a:t>
            </a:r>
            <a:r>
              <a:rPr lang="en-US" b="1" dirty="0"/>
              <a:t>C</a:t>
            </a:r>
            <a:r>
              <a:rPr b="1" dirty="0"/>
              <a:t>orrection</a:t>
            </a:r>
            <a:r>
              <a:rPr dirty="0"/>
              <a:t>: ~15 ft.</a:t>
            </a:r>
          </a:p>
          <a:p>
            <a:pPr>
              <a:lnSpc>
                <a:spcPct val="102000"/>
              </a:lnSpc>
              <a:defRPr sz="1100">
                <a:solidFill>
                  <a:srgbClr val="000000"/>
                </a:solidFill>
              </a:defRPr>
            </a:pPr>
            <a:r>
              <a:rPr dirty="0"/>
              <a:t>Acquire survey before planned connection; after connection rotate to break gel.</a:t>
            </a:r>
          </a:p>
        </p:txBody>
      </p:sp>
      <p:sp>
        <p:nvSpPr>
          <p:cNvPr id="43" name="Rounded Rectangle 26">
            <a:extLst>
              <a:ext uri="{FF2B5EF4-FFF2-40B4-BE49-F238E27FC236}">
                <a16:creationId xmlns:a16="http://schemas.microsoft.com/office/drawing/2014/main" id="{82D80D68-A358-6F08-253E-770761370228}"/>
              </a:ext>
            </a:extLst>
          </p:cNvPr>
          <p:cNvSpPr/>
          <p:nvPr/>
        </p:nvSpPr>
        <p:spPr>
          <a:xfrm>
            <a:off x="5492342" y="4834072"/>
            <a:ext cx="630936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22E8C4C4-D0D7-B7BE-BCC4-2316BB1E0FD0}"/>
              </a:ext>
            </a:extLst>
          </p:cNvPr>
          <p:cNvSpPr/>
          <p:nvPr/>
        </p:nvSpPr>
        <p:spPr>
          <a:xfrm>
            <a:off x="5492342" y="4834072"/>
            <a:ext cx="6309360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32E4D"/>
                </a:solidFill>
              </a:defRPr>
            </a:pPr>
            <a:r>
              <a:rPr dirty="0"/>
              <a:t>Torque &amp; Drag / Running Envelope</a:t>
            </a:r>
          </a:p>
        </p:txBody>
      </p:sp>
      <p:sp>
        <p:nvSpPr>
          <p:cNvPr id="47" name="Rounded Rectangle 28">
            <a:extLst>
              <a:ext uri="{FF2B5EF4-FFF2-40B4-BE49-F238E27FC236}">
                <a16:creationId xmlns:a16="http://schemas.microsoft.com/office/drawing/2014/main" id="{851CCB57-84F1-DAA8-F655-231DBE1D719E}"/>
              </a:ext>
            </a:extLst>
          </p:cNvPr>
          <p:cNvSpPr/>
          <p:nvPr/>
        </p:nvSpPr>
        <p:spPr>
          <a:xfrm>
            <a:off x="5647790" y="5195093"/>
            <a:ext cx="1847088" cy="512064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rPr dirty="0"/>
              <a:t>12-1/4" Hole</a:t>
            </a:r>
          </a:p>
          <a:p>
            <a:pPr algn="ctr">
              <a:defRPr sz="1150" b="1">
                <a:solidFill>
                  <a:srgbClr val="ED7D31"/>
                </a:solidFill>
              </a:defRPr>
            </a:pPr>
            <a:r>
              <a:rPr dirty="0"/>
              <a:t>Max P/U </a:t>
            </a:r>
            <a:r>
              <a:rPr lang="en-US" dirty="0" err="1"/>
              <a:t>H</a:t>
            </a:r>
            <a:r>
              <a:rPr dirty="0" err="1"/>
              <a:t>ookload</a:t>
            </a:r>
            <a:br>
              <a:rPr dirty="0"/>
            </a:br>
            <a:r>
              <a:rPr dirty="0"/>
              <a:t>101.6 kip</a:t>
            </a:r>
          </a:p>
        </p:txBody>
      </p:sp>
      <p:sp>
        <p:nvSpPr>
          <p:cNvPr id="49" name="Rounded Rectangle 29">
            <a:extLst>
              <a:ext uri="{FF2B5EF4-FFF2-40B4-BE49-F238E27FC236}">
                <a16:creationId xmlns:a16="http://schemas.microsoft.com/office/drawing/2014/main" id="{01890988-C70A-0E26-8864-3A7C08DB2C2D}"/>
              </a:ext>
            </a:extLst>
          </p:cNvPr>
          <p:cNvSpPr/>
          <p:nvPr/>
        </p:nvSpPr>
        <p:spPr>
          <a:xfrm>
            <a:off x="7696046" y="5195093"/>
            <a:ext cx="1847088" cy="512064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t>12-1/4" Hole</a:t>
            </a:r>
          </a:p>
          <a:p>
            <a:pPr algn="ctr">
              <a:defRPr sz="1150" b="1">
                <a:solidFill>
                  <a:srgbClr val="ED7D31"/>
                </a:solidFill>
              </a:defRPr>
            </a:pPr>
            <a:r>
              <a:t>Max surface torque</a:t>
            </a:r>
            <a:br/>
            <a:r>
              <a:t>7,228.7 ft·lbf</a:t>
            </a:r>
          </a:p>
        </p:txBody>
      </p:sp>
      <p:sp>
        <p:nvSpPr>
          <p:cNvPr id="51" name="Rounded Rectangle 30">
            <a:extLst>
              <a:ext uri="{FF2B5EF4-FFF2-40B4-BE49-F238E27FC236}">
                <a16:creationId xmlns:a16="http://schemas.microsoft.com/office/drawing/2014/main" id="{77B45FED-DDAB-5AE1-BD7C-28F606BCE0E6}"/>
              </a:ext>
            </a:extLst>
          </p:cNvPr>
          <p:cNvSpPr/>
          <p:nvPr/>
        </p:nvSpPr>
        <p:spPr>
          <a:xfrm>
            <a:off x="9744302" y="5195093"/>
            <a:ext cx="1847088" cy="512064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rPr lang="en-ID" dirty="0"/>
              <a:t>9-5/8" Casing Run</a:t>
            </a:r>
          </a:p>
          <a:p>
            <a:pPr algn="ctr">
              <a:defRPr sz="1150" b="1">
                <a:solidFill>
                  <a:srgbClr val="ED7D31"/>
                </a:solidFill>
              </a:defRPr>
            </a:pPr>
            <a:r>
              <a:rPr lang="en-ID" dirty="0"/>
              <a:t>Max P/U </a:t>
            </a:r>
            <a:r>
              <a:rPr lang="en-ID" dirty="0" err="1"/>
              <a:t>Hookload</a:t>
            </a:r>
            <a:br>
              <a:rPr dirty="0"/>
            </a:b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6.</a:t>
            </a:r>
            <a:r>
              <a:rPr lang="en-US" dirty="0"/>
              <a:t>3</a:t>
            </a:r>
            <a:r>
              <a:rPr dirty="0"/>
              <a:t> kip</a:t>
            </a:r>
          </a:p>
        </p:txBody>
      </p:sp>
      <p:sp>
        <p:nvSpPr>
          <p:cNvPr id="53" name="Rounded Rectangle 31">
            <a:extLst>
              <a:ext uri="{FF2B5EF4-FFF2-40B4-BE49-F238E27FC236}">
                <a16:creationId xmlns:a16="http://schemas.microsoft.com/office/drawing/2014/main" id="{1ADD47FB-16A4-2309-9658-B0F775B106D4}"/>
              </a:ext>
            </a:extLst>
          </p:cNvPr>
          <p:cNvSpPr/>
          <p:nvPr/>
        </p:nvSpPr>
        <p:spPr>
          <a:xfrm>
            <a:off x="5647790" y="5816885"/>
            <a:ext cx="1847088" cy="512064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rPr dirty="0"/>
              <a:t>8-1/2" Hole</a:t>
            </a:r>
          </a:p>
          <a:p>
            <a:pPr algn="ctr">
              <a:defRPr sz="1150" b="1">
                <a:solidFill>
                  <a:srgbClr val="ED7D31"/>
                </a:solidFill>
              </a:defRPr>
            </a:pPr>
            <a:r>
              <a:rPr lang="nl-NL" dirty="0"/>
              <a:t>Max P/U hookload</a:t>
            </a:r>
            <a:br>
              <a:rPr lang="nl-NL" dirty="0"/>
            </a:br>
            <a:r>
              <a:rPr lang="nl-NL" dirty="0"/>
              <a:t>162.8 kip</a:t>
            </a:r>
          </a:p>
        </p:txBody>
      </p:sp>
      <p:sp>
        <p:nvSpPr>
          <p:cNvPr id="55" name="Rounded Rectangle 32">
            <a:extLst>
              <a:ext uri="{FF2B5EF4-FFF2-40B4-BE49-F238E27FC236}">
                <a16:creationId xmlns:a16="http://schemas.microsoft.com/office/drawing/2014/main" id="{86BBEE7A-5391-BF23-A8A8-53069293A44E}"/>
              </a:ext>
            </a:extLst>
          </p:cNvPr>
          <p:cNvSpPr/>
          <p:nvPr/>
        </p:nvSpPr>
        <p:spPr>
          <a:xfrm>
            <a:off x="7696046" y="5816885"/>
            <a:ext cx="1847088" cy="512064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rPr lang="en-ID" dirty="0"/>
              <a:t>8-1/2" Hole</a:t>
            </a:r>
          </a:p>
          <a:p>
            <a:pPr algn="ctr">
              <a:defRPr sz="1150" b="1">
                <a:solidFill>
                  <a:srgbClr val="ED7D31"/>
                </a:solidFill>
              </a:defRPr>
            </a:pPr>
            <a:r>
              <a:rPr lang="fr-FR" dirty="0"/>
              <a:t>Max surface torque</a:t>
            </a:r>
            <a:br>
              <a:rPr lang="fr-FR" dirty="0"/>
            </a:br>
            <a:r>
              <a:rPr lang="fr-FR" dirty="0"/>
              <a:t>10,515.2 </a:t>
            </a:r>
            <a:r>
              <a:rPr lang="fr-FR" dirty="0" err="1"/>
              <a:t>ft·lbf</a:t>
            </a:r>
            <a:endParaRPr lang="fr-FR" dirty="0"/>
          </a:p>
        </p:txBody>
      </p:sp>
      <p:sp>
        <p:nvSpPr>
          <p:cNvPr id="57" name="Rounded Rectangle 33">
            <a:extLst>
              <a:ext uri="{FF2B5EF4-FFF2-40B4-BE49-F238E27FC236}">
                <a16:creationId xmlns:a16="http://schemas.microsoft.com/office/drawing/2014/main" id="{7B69AE5F-D01C-29F4-D97C-0FD90893D5E4}"/>
              </a:ext>
            </a:extLst>
          </p:cNvPr>
          <p:cNvSpPr/>
          <p:nvPr/>
        </p:nvSpPr>
        <p:spPr>
          <a:xfrm>
            <a:off x="9744302" y="5816885"/>
            <a:ext cx="1847088" cy="512064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rPr dirty="0"/>
              <a:t>7" Casing Run</a:t>
            </a:r>
          </a:p>
          <a:p>
            <a:pPr algn="ctr">
              <a:defRPr sz="1150" b="1">
                <a:solidFill>
                  <a:srgbClr val="ED7D31"/>
                </a:solidFill>
              </a:defRPr>
            </a:pPr>
            <a:r>
              <a:rPr lang="en-ID" dirty="0"/>
              <a:t>Max P/U </a:t>
            </a:r>
            <a:r>
              <a:rPr lang="en-ID" dirty="0" err="1"/>
              <a:t>Hookload</a:t>
            </a:r>
            <a:br>
              <a:rPr dirty="0"/>
            </a:br>
            <a:r>
              <a:rPr dirty="0"/>
              <a:t>178.8 kip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B5C46-37CD-2EEC-ACAA-5B0D20210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" y="1427301"/>
            <a:ext cx="4568644" cy="40703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A3994-29A7-F97D-B73E-44C3B7BD13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4D935A10-BD77-1D0C-7F72-226CE859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B26C30B4-8CCA-32EC-1CD3-28A89196A25F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BHA CONFIGURATION, BIT SELECTION &amp; MWD PLAN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CFFC86E9-110C-46A2-C874-C7783F2CD1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73DA11A2-D33B-F36F-63FF-E33F1EE2936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5BBEA11C-3F15-0E92-9B11-A63AFD015B89}"/>
              </a:ext>
            </a:extLst>
          </p:cNvPr>
          <p:cNvSpPr/>
          <p:nvPr/>
        </p:nvSpPr>
        <p:spPr>
          <a:xfrm>
            <a:off x="320040" y="1132840"/>
            <a:ext cx="3749039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D7A13A53-573A-77F7-0BEF-E63BC527E4FB}"/>
              </a:ext>
            </a:extLst>
          </p:cNvPr>
          <p:cNvSpPr/>
          <p:nvPr/>
        </p:nvSpPr>
        <p:spPr>
          <a:xfrm>
            <a:off x="320040" y="1132840"/>
            <a:ext cx="3749039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32E4D"/>
                </a:solidFill>
              </a:defRPr>
            </a:pPr>
            <a:r>
              <a:rPr dirty="0"/>
              <a:t>12-1/4</a:t>
            </a:r>
            <a:r>
              <a:rPr lang="en-US" dirty="0"/>
              <a:t>"</a:t>
            </a:r>
            <a:r>
              <a:rPr dirty="0"/>
              <a:t> Surface Hole – Build + Establish Tangent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3622DEE5-4B3E-11D5-37CF-BEB14B55485B}"/>
              </a:ext>
            </a:extLst>
          </p:cNvPr>
          <p:cNvSpPr/>
          <p:nvPr/>
        </p:nvSpPr>
        <p:spPr>
          <a:xfrm>
            <a:off x="502920" y="1515872"/>
            <a:ext cx="1508760" cy="3017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BHA Stack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0CCA3E29-DBFF-EE03-8C4B-71472E23C229}"/>
              </a:ext>
            </a:extLst>
          </p:cNvPr>
          <p:cNvSpPr/>
          <p:nvPr/>
        </p:nvSpPr>
        <p:spPr>
          <a:xfrm>
            <a:off x="566928" y="1872488"/>
            <a:ext cx="1380744" cy="301752"/>
          </a:xfrm>
          <a:prstGeom prst="roundRect">
            <a:avLst/>
          </a:prstGeom>
          <a:solidFill>
            <a:srgbClr val="FFF2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1">
                <a:solidFill>
                  <a:srgbClr val="132E4D"/>
                </a:solidFill>
              </a:defRPr>
            </a:pPr>
            <a:r>
              <a:rPr dirty="0"/>
              <a:t>12-1/4</a:t>
            </a:r>
            <a:r>
              <a:rPr lang="en-US" dirty="0"/>
              <a:t>"</a:t>
            </a:r>
            <a:r>
              <a:rPr dirty="0"/>
              <a:t> PDC Bit | IADC 519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2E059C-8858-88B9-1CE9-4C47E1AE4016}"/>
              </a:ext>
            </a:extLst>
          </p:cNvPr>
          <p:cNvSpPr/>
          <p:nvPr/>
        </p:nvSpPr>
        <p:spPr>
          <a:xfrm>
            <a:off x="566928" y="2201672"/>
            <a:ext cx="1380744" cy="301752"/>
          </a:xfrm>
          <a:prstGeom prst="roundRect">
            <a:avLst/>
          </a:prstGeom>
          <a:solidFill>
            <a:srgbClr val="E2EF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8</a:t>
            </a:r>
            <a:r>
              <a:rPr lang="en-US" dirty="0"/>
              <a:t>"</a:t>
            </a:r>
            <a:r>
              <a:rPr dirty="0"/>
              <a:t> Mud Motor | 1.5° bend</a:t>
            </a: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528EF8AF-E705-853B-4474-1188863C9573}"/>
              </a:ext>
            </a:extLst>
          </p:cNvPr>
          <p:cNvSpPr/>
          <p:nvPr/>
        </p:nvSpPr>
        <p:spPr>
          <a:xfrm>
            <a:off x="566928" y="2530856"/>
            <a:ext cx="1380744" cy="301752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8</a:t>
            </a:r>
            <a:r>
              <a:rPr lang="en-US" dirty="0"/>
              <a:t>"</a:t>
            </a:r>
            <a:r>
              <a:rPr dirty="0"/>
              <a:t> Float Sub c/w Float</a:t>
            </a:r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60ECF7BF-CDE4-1525-5193-2163F8AF478D}"/>
              </a:ext>
            </a:extLst>
          </p:cNvPr>
          <p:cNvSpPr/>
          <p:nvPr/>
        </p:nvSpPr>
        <p:spPr>
          <a:xfrm>
            <a:off x="566928" y="2860040"/>
            <a:ext cx="1380744" cy="301752"/>
          </a:xfrm>
          <a:prstGeom prst="roundRect">
            <a:avLst/>
          </a:prstGeom>
          <a:solidFill>
            <a:srgbClr val="F4B0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11</a:t>
            </a:r>
            <a:r>
              <a:rPr lang="en-US" dirty="0"/>
              <a:t>"</a:t>
            </a:r>
            <a:r>
              <a:rPr dirty="0"/>
              <a:t> Integral Blade Stabilizer</a:t>
            </a:r>
          </a:p>
        </p:txBody>
      </p: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0747AAA6-A629-FF15-0F9B-5DF2F2A137FA}"/>
              </a:ext>
            </a:extLst>
          </p:cNvPr>
          <p:cNvSpPr/>
          <p:nvPr/>
        </p:nvSpPr>
        <p:spPr>
          <a:xfrm>
            <a:off x="566928" y="3189224"/>
            <a:ext cx="1380744" cy="301752"/>
          </a:xfrm>
          <a:prstGeom prst="roundRect">
            <a:avLst/>
          </a:prstGeom>
          <a:solidFill>
            <a:srgbClr val="D9D2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8</a:t>
            </a:r>
            <a:r>
              <a:rPr lang="en-US" dirty="0"/>
              <a:t>"</a:t>
            </a:r>
            <a:r>
              <a:rPr dirty="0"/>
              <a:t> NMDC</a:t>
            </a: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F2EECF3D-835C-100F-89F6-866A79F8501F}"/>
              </a:ext>
            </a:extLst>
          </p:cNvPr>
          <p:cNvSpPr/>
          <p:nvPr/>
        </p:nvSpPr>
        <p:spPr>
          <a:xfrm>
            <a:off x="566928" y="3518408"/>
            <a:ext cx="1380744" cy="301752"/>
          </a:xfrm>
          <a:prstGeom prst="roundRect">
            <a:avLst/>
          </a:prstGeom>
          <a:solidFill>
            <a:srgbClr val="FFF2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8</a:t>
            </a:r>
            <a:r>
              <a:rPr lang="en-US" dirty="0"/>
              <a:t>"</a:t>
            </a:r>
            <a:r>
              <a:rPr dirty="0"/>
              <a:t> MWD</a:t>
            </a:r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B5EF214C-0CF4-D233-2C96-CD8C8325009E}"/>
              </a:ext>
            </a:extLst>
          </p:cNvPr>
          <p:cNvSpPr/>
          <p:nvPr/>
        </p:nvSpPr>
        <p:spPr>
          <a:xfrm>
            <a:off x="566928" y="3847592"/>
            <a:ext cx="1380744" cy="301752"/>
          </a:xfrm>
          <a:prstGeom prst="roundRect">
            <a:avLst/>
          </a:prstGeom>
          <a:solidFill>
            <a:srgbClr val="E2EF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8</a:t>
            </a:r>
            <a:r>
              <a:rPr lang="en-US" dirty="0"/>
              <a:t>"</a:t>
            </a:r>
            <a:r>
              <a:rPr dirty="0"/>
              <a:t> Pony NMDC + X/O Sub</a:t>
            </a:r>
          </a:p>
        </p:txBody>
      </p:sp>
      <p:sp>
        <p:nvSpPr>
          <p:cNvPr id="23" name="Rounded Rectangle 16">
            <a:extLst>
              <a:ext uri="{FF2B5EF4-FFF2-40B4-BE49-F238E27FC236}">
                <a16:creationId xmlns:a16="http://schemas.microsoft.com/office/drawing/2014/main" id="{941FAF66-8B09-424A-AAE5-65986D7F4559}"/>
              </a:ext>
            </a:extLst>
          </p:cNvPr>
          <p:cNvSpPr/>
          <p:nvPr/>
        </p:nvSpPr>
        <p:spPr>
          <a:xfrm>
            <a:off x="566928" y="4176776"/>
            <a:ext cx="1380744" cy="301752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8×5</a:t>
            </a:r>
            <a:r>
              <a:rPr lang="en-US" dirty="0"/>
              <a:t>"</a:t>
            </a:r>
            <a:r>
              <a:rPr dirty="0"/>
              <a:t> HWDP</a:t>
            </a:r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8542A95A-9857-8CCC-491C-0E91AC2B3833}"/>
              </a:ext>
            </a:extLst>
          </p:cNvPr>
          <p:cNvSpPr/>
          <p:nvPr/>
        </p:nvSpPr>
        <p:spPr>
          <a:xfrm>
            <a:off x="566928" y="4505960"/>
            <a:ext cx="1380744" cy="301752"/>
          </a:xfrm>
          <a:prstGeom prst="roundRect">
            <a:avLst/>
          </a:prstGeom>
          <a:solidFill>
            <a:srgbClr val="F4B0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6-1/2</a:t>
            </a:r>
            <a:r>
              <a:rPr lang="en-US" dirty="0"/>
              <a:t>"</a:t>
            </a:r>
            <a:r>
              <a:rPr dirty="0"/>
              <a:t> Drilling Hydraulic Jar</a:t>
            </a:r>
          </a:p>
        </p:txBody>
      </p:sp>
      <p:sp>
        <p:nvSpPr>
          <p:cNvPr id="27" name="Rounded Rectangle 18">
            <a:extLst>
              <a:ext uri="{FF2B5EF4-FFF2-40B4-BE49-F238E27FC236}">
                <a16:creationId xmlns:a16="http://schemas.microsoft.com/office/drawing/2014/main" id="{4D02BFC1-52BB-B882-15FF-5BB8A52E8949}"/>
              </a:ext>
            </a:extLst>
          </p:cNvPr>
          <p:cNvSpPr/>
          <p:nvPr/>
        </p:nvSpPr>
        <p:spPr>
          <a:xfrm>
            <a:off x="566928" y="4835144"/>
            <a:ext cx="1380744" cy="301752"/>
          </a:xfrm>
          <a:prstGeom prst="roundRect">
            <a:avLst/>
          </a:prstGeom>
          <a:solidFill>
            <a:srgbClr val="D9D2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10×5</a:t>
            </a:r>
            <a:r>
              <a:rPr lang="en-US" dirty="0"/>
              <a:t>"</a:t>
            </a:r>
            <a:r>
              <a:rPr dirty="0"/>
              <a:t> HWDP</a:t>
            </a:r>
          </a:p>
        </p:txBody>
      </p:sp>
      <p:sp>
        <p:nvSpPr>
          <p:cNvPr id="29" name="Rounded Rectangle 19">
            <a:extLst>
              <a:ext uri="{FF2B5EF4-FFF2-40B4-BE49-F238E27FC236}">
                <a16:creationId xmlns:a16="http://schemas.microsoft.com/office/drawing/2014/main" id="{D1954C90-23CF-E64E-BD5D-F0F106C65C67}"/>
              </a:ext>
            </a:extLst>
          </p:cNvPr>
          <p:cNvSpPr/>
          <p:nvPr/>
        </p:nvSpPr>
        <p:spPr>
          <a:xfrm>
            <a:off x="566928" y="5164328"/>
            <a:ext cx="1380744" cy="301752"/>
          </a:xfrm>
          <a:prstGeom prst="roundRect">
            <a:avLst/>
          </a:prstGeom>
          <a:solidFill>
            <a:srgbClr val="FFF2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5</a:t>
            </a:r>
            <a:r>
              <a:rPr lang="en-US" dirty="0"/>
              <a:t>"</a:t>
            </a:r>
            <a:r>
              <a:rPr dirty="0"/>
              <a:t> Drill Pipe</a:t>
            </a:r>
          </a:p>
        </p:txBody>
      </p:sp>
      <p:sp>
        <p:nvSpPr>
          <p:cNvPr id="31" name="Rounded Rectangle 20">
            <a:extLst>
              <a:ext uri="{FF2B5EF4-FFF2-40B4-BE49-F238E27FC236}">
                <a16:creationId xmlns:a16="http://schemas.microsoft.com/office/drawing/2014/main" id="{2EB985C4-C3AE-1AFB-5D49-53652DEF98C8}"/>
              </a:ext>
            </a:extLst>
          </p:cNvPr>
          <p:cNvSpPr/>
          <p:nvPr/>
        </p:nvSpPr>
        <p:spPr>
          <a:xfrm>
            <a:off x="2148840" y="1515872"/>
            <a:ext cx="1627632" cy="301752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Design Intent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5BC422-31E4-E14F-4B30-A5EC1B78CAE8}"/>
              </a:ext>
            </a:extLst>
          </p:cNvPr>
          <p:cNvSpPr txBox="1"/>
          <p:nvPr/>
        </p:nvSpPr>
        <p:spPr>
          <a:xfrm>
            <a:off x="2143911" y="1882648"/>
            <a:ext cx="1691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defRPr sz="950">
                <a:solidFill>
                  <a:srgbClr val="000000"/>
                </a:solidFill>
              </a:defRPr>
            </a:pPr>
            <a:r>
              <a:rPr dirty="0"/>
              <a:t>Directional BHA for build section from KOP (~200 ft MD) to 9-5/8 in. casing point (~1,821 ft MD).</a:t>
            </a:r>
          </a:p>
          <a:p>
            <a:pPr>
              <a:lnSpc>
                <a:spcPct val="102000"/>
              </a:lnSpc>
              <a:defRPr sz="950">
                <a:solidFill>
                  <a:srgbClr val="000000"/>
                </a:solidFill>
              </a:defRPr>
            </a:pPr>
            <a:r>
              <a:rPr dirty="0"/>
              <a:t>1.5° bend selected to deliver higher directional response and controlled build rate.</a:t>
            </a:r>
          </a:p>
          <a:p>
            <a:pPr>
              <a:lnSpc>
                <a:spcPct val="102000"/>
              </a:lnSpc>
              <a:defRPr sz="950">
                <a:solidFill>
                  <a:srgbClr val="000000"/>
                </a:solidFill>
              </a:defRPr>
            </a:pPr>
            <a:r>
              <a:rPr dirty="0"/>
              <a:t>MWD + NMDC ensure survey accuracy; jar included as sticking contingency.</a:t>
            </a:r>
          </a:p>
          <a:p>
            <a:pPr>
              <a:lnSpc>
                <a:spcPct val="102000"/>
              </a:lnSpc>
              <a:defRPr sz="950">
                <a:solidFill>
                  <a:srgbClr val="000000"/>
                </a:solidFill>
              </a:defRPr>
            </a:pPr>
            <a:r>
              <a:rPr dirty="0"/>
              <a:t>Key objective: reach ~30.41° inclination and 135° azimuth, then enter smooth tangent.</a:t>
            </a:r>
          </a:p>
        </p:txBody>
      </p:sp>
      <p:sp>
        <p:nvSpPr>
          <p:cNvPr id="35" name="Rounded Rectangle 22">
            <a:extLst>
              <a:ext uri="{FF2B5EF4-FFF2-40B4-BE49-F238E27FC236}">
                <a16:creationId xmlns:a16="http://schemas.microsoft.com/office/drawing/2014/main" id="{7AB5AE75-B76E-61C8-0AED-C1FD741DACE4}"/>
              </a:ext>
            </a:extLst>
          </p:cNvPr>
          <p:cNvSpPr/>
          <p:nvPr/>
        </p:nvSpPr>
        <p:spPr>
          <a:xfrm>
            <a:off x="2148840" y="4315968"/>
            <a:ext cx="1627632" cy="45720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t>Bit Type</a:t>
            </a:r>
          </a:p>
          <a:p>
            <a:pPr algn="ctr">
              <a:defRPr sz="1050" b="1">
                <a:solidFill>
                  <a:srgbClr val="ED7D31"/>
                </a:solidFill>
              </a:defRPr>
            </a:pPr>
            <a:r>
              <a:t>PDC 519</a:t>
            </a:r>
          </a:p>
        </p:txBody>
      </p:sp>
      <p:sp>
        <p:nvSpPr>
          <p:cNvPr id="37" name="Rounded Rectangle 23">
            <a:extLst>
              <a:ext uri="{FF2B5EF4-FFF2-40B4-BE49-F238E27FC236}">
                <a16:creationId xmlns:a16="http://schemas.microsoft.com/office/drawing/2014/main" id="{1B28D4FC-D03F-1C5A-AC43-7C10B391B300}"/>
              </a:ext>
            </a:extLst>
          </p:cNvPr>
          <p:cNvSpPr/>
          <p:nvPr/>
        </p:nvSpPr>
        <p:spPr>
          <a:xfrm>
            <a:off x="2148840" y="4846319"/>
            <a:ext cx="1627632" cy="45720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rPr dirty="0"/>
              <a:t>Motor</a:t>
            </a:r>
          </a:p>
          <a:p>
            <a:pPr algn="ctr">
              <a:defRPr sz="1050" b="1">
                <a:solidFill>
                  <a:srgbClr val="ED7D31"/>
                </a:solidFill>
              </a:defRPr>
            </a:pPr>
            <a:r>
              <a:rPr dirty="0"/>
              <a:t>8</a:t>
            </a:r>
            <a:r>
              <a:rPr lang="en-US" dirty="0"/>
              <a:t>"</a:t>
            </a:r>
            <a:r>
              <a:rPr dirty="0"/>
              <a:t> | 1.50°</a:t>
            </a:r>
          </a:p>
        </p:txBody>
      </p:sp>
      <p:sp>
        <p:nvSpPr>
          <p:cNvPr id="39" name="Rounded Rectangle 24">
            <a:extLst>
              <a:ext uri="{FF2B5EF4-FFF2-40B4-BE49-F238E27FC236}">
                <a16:creationId xmlns:a16="http://schemas.microsoft.com/office/drawing/2014/main" id="{8C38DFD5-016E-B77E-B600-11D00AC676A1}"/>
              </a:ext>
            </a:extLst>
          </p:cNvPr>
          <p:cNvSpPr/>
          <p:nvPr/>
        </p:nvSpPr>
        <p:spPr>
          <a:xfrm>
            <a:off x="2148840" y="5376672"/>
            <a:ext cx="1627632" cy="45720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t>Survey</a:t>
            </a:r>
          </a:p>
          <a:p>
            <a:pPr algn="ctr">
              <a:defRPr sz="1050" b="1">
                <a:solidFill>
                  <a:srgbClr val="ED7D31"/>
                </a:solidFill>
              </a:defRPr>
            </a:pPr>
            <a:r>
              <a:t>1/stand (build)</a:t>
            </a:r>
          </a:p>
        </p:txBody>
      </p:sp>
      <p:sp>
        <p:nvSpPr>
          <p:cNvPr id="41" name="Rounded Rectangle 25">
            <a:extLst>
              <a:ext uri="{FF2B5EF4-FFF2-40B4-BE49-F238E27FC236}">
                <a16:creationId xmlns:a16="http://schemas.microsoft.com/office/drawing/2014/main" id="{30B3C170-9D7B-717A-AEB9-C65127CD4A57}"/>
              </a:ext>
            </a:extLst>
          </p:cNvPr>
          <p:cNvSpPr/>
          <p:nvPr/>
        </p:nvSpPr>
        <p:spPr>
          <a:xfrm>
            <a:off x="2148840" y="5907024"/>
            <a:ext cx="1627632" cy="45720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rPr dirty="0"/>
              <a:t>Primary Objective</a:t>
            </a:r>
          </a:p>
          <a:p>
            <a:pPr algn="ctr">
              <a:defRPr sz="1050" b="1">
                <a:solidFill>
                  <a:srgbClr val="ED7D31"/>
                </a:solidFill>
              </a:defRPr>
            </a:pPr>
            <a:r>
              <a:rPr dirty="0"/>
              <a:t>Steerability</a:t>
            </a:r>
            <a:br>
              <a:rPr dirty="0"/>
            </a:br>
            <a:r>
              <a:rPr dirty="0"/>
              <a:t>+ ROP</a:t>
            </a:r>
          </a:p>
        </p:txBody>
      </p:sp>
      <p:sp>
        <p:nvSpPr>
          <p:cNvPr id="43" name="Rounded Rectangle 26">
            <a:extLst>
              <a:ext uri="{FF2B5EF4-FFF2-40B4-BE49-F238E27FC236}">
                <a16:creationId xmlns:a16="http://schemas.microsoft.com/office/drawing/2014/main" id="{B4C248A1-4E77-0012-DBE8-C92755F94442}"/>
              </a:ext>
            </a:extLst>
          </p:cNvPr>
          <p:cNvSpPr/>
          <p:nvPr/>
        </p:nvSpPr>
        <p:spPr>
          <a:xfrm>
            <a:off x="4224528" y="1132840"/>
            <a:ext cx="3749039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272AEFB5-6557-C5E8-2728-8897E4FAE7EB}"/>
              </a:ext>
            </a:extLst>
          </p:cNvPr>
          <p:cNvSpPr/>
          <p:nvPr/>
        </p:nvSpPr>
        <p:spPr>
          <a:xfrm>
            <a:off x="4224528" y="1132840"/>
            <a:ext cx="3749039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32E4D"/>
                </a:solidFill>
              </a:defRPr>
            </a:pPr>
            <a:r>
              <a:rPr dirty="0"/>
              <a:t>8-1/2</a:t>
            </a:r>
            <a:r>
              <a:rPr lang="en-US" dirty="0"/>
              <a:t>"</a:t>
            </a:r>
            <a:r>
              <a:rPr dirty="0"/>
              <a:t> Production Hole Tangent / Minor Correction</a:t>
            </a:r>
          </a:p>
        </p:txBody>
      </p:sp>
      <p:sp>
        <p:nvSpPr>
          <p:cNvPr id="47" name="Rounded Rectangle 28">
            <a:extLst>
              <a:ext uri="{FF2B5EF4-FFF2-40B4-BE49-F238E27FC236}">
                <a16:creationId xmlns:a16="http://schemas.microsoft.com/office/drawing/2014/main" id="{FA75C23F-1391-FAC7-3B95-084E225153EE}"/>
              </a:ext>
            </a:extLst>
          </p:cNvPr>
          <p:cNvSpPr/>
          <p:nvPr/>
        </p:nvSpPr>
        <p:spPr>
          <a:xfrm>
            <a:off x="4407407" y="1515872"/>
            <a:ext cx="1508760" cy="3017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BHA Stack</a:t>
            </a:r>
          </a:p>
        </p:txBody>
      </p:sp>
      <p:sp>
        <p:nvSpPr>
          <p:cNvPr id="49" name="Rounded Rectangle 29">
            <a:extLst>
              <a:ext uri="{FF2B5EF4-FFF2-40B4-BE49-F238E27FC236}">
                <a16:creationId xmlns:a16="http://schemas.microsoft.com/office/drawing/2014/main" id="{A61F539A-F199-9176-017F-8F66597B0022}"/>
              </a:ext>
            </a:extLst>
          </p:cNvPr>
          <p:cNvSpPr/>
          <p:nvPr/>
        </p:nvSpPr>
        <p:spPr>
          <a:xfrm>
            <a:off x="4471415" y="1872488"/>
            <a:ext cx="1380744" cy="301752"/>
          </a:xfrm>
          <a:prstGeom prst="roundRect">
            <a:avLst/>
          </a:prstGeom>
          <a:solidFill>
            <a:srgbClr val="FFF2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1">
                <a:solidFill>
                  <a:srgbClr val="132E4D"/>
                </a:solidFill>
              </a:defRPr>
            </a:pPr>
            <a:r>
              <a:rPr dirty="0"/>
              <a:t>8-1/2</a:t>
            </a:r>
            <a:r>
              <a:rPr lang="en-US" dirty="0"/>
              <a:t>"</a:t>
            </a:r>
            <a:r>
              <a:rPr dirty="0"/>
              <a:t> PDC Bit | IADC 519</a:t>
            </a:r>
          </a:p>
        </p:txBody>
      </p:sp>
      <p:sp>
        <p:nvSpPr>
          <p:cNvPr id="51" name="Rounded Rectangle 30">
            <a:extLst>
              <a:ext uri="{FF2B5EF4-FFF2-40B4-BE49-F238E27FC236}">
                <a16:creationId xmlns:a16="http://schemas.microsoft.com/office/drawing/2014/main" id="{CD56968A-8504-AA03-0755-EA7ED7A41A8C}"/>
              </a:ext>
            </a:extLst>
          </p:cNvPr>
          <p:cNvSpPr/>
          <p:nvPr/>
        </p:nvSpPr>
        <p:spPr>
          <a:xfrm>
            <a:off x="4471415" y="2201672"/>
            <a:ext cx="1380744" cy="301752"/>
          </a:xfrm>
          <a:prstGeom prst="roundRect">
            <a:avLst/>
          </a:prstGeom>
          <a:solidFill>
            <a:srgbClr val="E2EF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6-3/4</a:t>
            </a:r>
            <a:r>
              <a:rPr lang="en-US" dirty="0"/>
              <a:t>"</a:t>
            </a:r>
            <a:r>
              <a:rPr dirty="0"/>
              <a:t> Mud Motor | 1.15° bend</a:t>
            </a:r>
          </a:p>
        </p:txBody>
      </p:sp>
      <p:sp>
        <p:nvSpPr>
          <p:cNvPr id="53" name="Rounded Rectangle 31">
            <a:extLst>
              <a:ext uri="{FF2B5EF4-FFF2-40B4-BE49-F238E27FC236}">
                <a16:creationId xmlns:a16="http://schemas.microsoft.com/office/drawing/2014/main" id="{08BA1BEA-F212-ECBD-DCD1-08AC623CD4B6}"/>
              </a:ext>
            </a:extLst>
          </p:cNvPr>
          <p:cNvSpPr/>
          <p:nvPr/>
        </p:nvSpPr>
        <p:spPr>
          <a:xfrm>
            <a:off x="4471415" y="2530856"/>
            <a:ext cx="1380744" cy="301752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6-3/4</a:t>
            </a:r>
            <a:r>
              <a:rPr lang="en-US" dirty="0"/>
              <a:t>"</a:t>
            </a:r>
            <a:r>
              <a:rPr dirty="0"/>
              <a:t> Float Sub c/w Float</a:t>
            </a:r>
          </a:p>
        </p:txBody>
      </p:sp>
      <p:sp>
        <p:nvSpPr>
          <p:cNvPr id="55" name="Rounded Rectangle 32">
            <a:extLst>
              <a:ext uri="{FF2B5EF4-FFF2-40B4-BE49-F238E27FC236}">
                <a16:creationId xmlns:a16="http://schemas.microsoft.com/office/drawing/2014/main" id="{0BBF4B3A-3978-F315-BABE-7776C5464F2C}"/>
              </a:ext>
            </a:extLst>
          </p:cNvPr>
          <p:cNvSpPr/>
          <p:nvPr/>
        </p:nvSpPr>
        <p:spPr>
          <a:xfrm>
            <a:off x="4471415" y="2860040"/>
            <a:ext cx="1380744" cy="301752"/>
          </a:xfrm>
          <a:prstGeom prst="roundRect">
            <a:avLst/>
          </a:prstGeom>
          <a:solidFill>
            <a:srgbClr val="F4B0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7-7/8</a:t>
            </a:r>
            <a:r>
              <a:rPr lang="en-US" dirty="0"/>
              <a:t>"</a:t>
            </a:r>
            <a:r>
              <a:rPr dirty="0"/>
              <a:t> Integral Blade Stabilizer</a:t>
            </a:r>
          </a:p>
        </p:txBody>
      </p:sp>
      <p:sp>
        <p:nvSpPr>
          <p:cNvPr id="57" name="Rounded Rectangle 33">
            <a:extLst>
              <a:ext uri="{FF2B5EF4-FFF2-40B4-BE49-F238E27FC236}">
                <a16:creationId xmlns:a16="http://schemas.microsoft.com/office/drawing/2014/main" id="{E492558A-C3B7-BFEF-C7CA-6917B9327F0A}"/>
              </a:ext>
            </a:extLst>
          </p:cNvPr>
          <p:cNvSpPr/>
          <p:nvPr/>
        </p:nvSpPr>
        <p:spPr>
          <a:xfrm>
            <a:off x="4471415" y="3189224"/>
            <a:ext cx="1380744" cy="301752"/>
          </a:xfrm>
          <a:prstGeom prst="roundRect">
            <a:avLst/>
          </a:prstGeom>
          <a:solidFill>
            <a:srgbClr val="D9D2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6-3/4</a:t>
            </a:r>
            <a:r>
              <a:rPr lang="en-US" dirty="0"/>
              <a:t>"</a:t>
            </a:r>
            <a:r>
              <a:rPr dirty="0"/>
              <a:t> NMDC</a:t>
            </a:r>
          </a:p>
        </p:txBody>
      </p:sp>
      <p:sp>
        <p:nvSpPr>
          <p:cNvPr id="59" name="Rounded Rectangle 34">
            <a:extLst>
              <a:ext uri="{FF2B5EF4-FFF2-40B4-BE49-F238E27FC236}">
                <a16:creationId xmlns:a16="http://schemas.microsoft.com/office/drawing/2014/main" id="{BA83C34D-84F0-CFC1-D418-2BD104C0B296}"/>
              </a:ext>
            </a:extLst>
          </p:cNvPr>
          <p:cNvSpPr/>
          <p:nvPr/>
        </p:nvSpPr>
        <p:spPr>
          <a:xfrm>
            <a:off x="4471415" y="3518408"/>
            <a:ext cx="1380744" cy="301752"/>
          </a:xfrm>
          <a:prstGeom prst="roundRect">
            <a:avLst/>
          </a:prstGeom>
          <a:solidFill>
            <a:srgbClr val="FFF2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6-3/4</a:t>
            </a:r>
            <a:r>
              <a:rPr lang="en-US" dirty="0"/>
              <a:t>"</a:t>
            </a:r>
            <a:r>
              <a:rPr dirty="0"/>
              <a:t> MWD</a:t>
            </a:r>
          </a:p>
        </p:txBody>
      </p:sp>
      <p:sp>
        <p:nvSpPr>
          <p:cNvPr id="61" name="Rounded Rectangle 35">
            <a:extLst>
              <a:ext uri="{FF2B5EF4-FFF2-40B4-BE49-F238E27FC236}">
                <a16:creationId xmlns:a16="http://schemas.microsoft.com/office/drawing/2014/main" id="{20BA5C87-5D71-7CEB-5109-E28F35EA1D55}"/>
              </a:ext>
            </a:extLst>
          </p:cNvPr>
          <p:cNvSpPr/>
          <p:nvPr/>
        </p:nvSpPr>
        <p:spPr>
          <a:xfrm>
            <a:off x="4471415" y="3847592"/>
            <a:ext cx="1380744" cy="301752"/>
          </a:xfrm>
          <a:prstGeom prst="roundRect">
            <a:avLst/>
          </a:prstGeom>
          <a:solidFill>
            <a:srgbClr val="E2EF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6-3/4</a:t>
            </a:r>
            <a:r>
              <a:rPr lang="en-US" dirty="0"/>
              <a:t>"</a:t>
            </a:r>
            <a:r>
              <a:rPr dirty="0"/>
              <a:t> Pony NMDC</a:t>
            </a:r>
          </a:p>
        </p:txBody>
      </p:sp>
      <p:sp>
        <p:nvSpPr>
          <p:cNvPr id="63" name="Rounded Rectangle 36">
            <a:extLst>
              <a:ext uri="{FF2B5EF4-FFF2-40B4-BE49-F238E27FC236}">
                <a16:creationId xmlns:a16="http://schemas.microsoft.com/office/drawing/2014/main" id="{87C27A4B-E716-1635-6C32-534FFC02D402}"/>
              </a:ext>
            </a:extLst>
          </p:cNvPr>
          <p:cNvSpPr/>
          <p:nvPr/>
        </p:nvSpPr>
        <p:spPr>
          <a:xfrm>
            <a:off x="4471415" y="4176776"/>
            <a:ext cx="1380744" cy="301752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10×5</a:t>
            </a:r>
            <a:r>
              <a:rPr lang="en-US" dirty="0"/>
              <a:t>"</a:t>
            </a:r>
            <a:r>
              <a:rPr dirty="0"/>
              <a:t> HWDP</a:t>
            </a:r>
          </a:p>
        </p:txBody>
      </p:sp>
      <p:sp>
        <p:nvSpPr>
          <p:cNvPr id="257" name="Rounded Rectangle 37">
            <a:extLst>
              <a:ext uri="{FF2B5EF4-FFF2-40B4-BE49-F238E27FC236}">
                <a16:creationId xmlns:a16="http://schemas.microsoft.com/office/drawing/2014/main" id="{8CE96549-89C7-842D-18DB-E81252D50374}"/>
              </a:ext>
            </a:extLst>
          </p:cNvPr>
          <p:cNvSpPr/>
          <p:nvPr/>
        </p:nvSpPr>
        <p:spPr>
          <a:xfrm>
            <a:off x="4471415" y="4505960"/>
            <a:ext cx="1380744" cy="301752"/>
          </a:xfrm>
          <a:prstGeom prst="roundRect">
            <a:avLst/>
          </a:prstGeom>
          <a:solidFill>
            <a:srgbClr val="F4B0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6-1/2</a:t>
            </a:r>
            <a:r>
              <a:rPr lang="en-US" dirty="0"/>
              <a:t>"</a:t>
            </a:r>
            <a:r>
              <a:rPr dirty="0"/>
              <a:t> Drilling Hydraulic Jar</a:t>
            </a:r>
          </a:p>
        </p:txBody>
      </p:sp>
      <p:sp>
        <p:nvSpPr>
          <p:cNvPr id="259" name="Rounded Rectangle 38">
            <a:extLst>
              <a:ext uri="{FF2B5EF4-FFF2-40B4-BE49-F238E27FC236}">
                <a16:creationId xmlns:a16="http://schemas.microsoft.com/office/drawing/2014/main" id="{79713B5C-43B0-A3FF-4CA9-2A456C59DBA4}"/>
              </a:ext>
            </a:extLst>
          </p:cNvPr>
          <p:cNvSpPr/>
          <p:nvPr/>
        </p:nvSpPr>
        <p:spPr>
          <a:xfrm>
            <a:off x="4471415" y="4835144"/>
            <a:ext cx="1380744" cy="301752"/>
          </a:xfrm>
          <a:prstGeom prst="roundRect">
            <a:avLst/>
          </a:prstGeom>
          <a:solidFill>
            <a:srgbClr val="D9D2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~33×5</a:t>
            </a:r>
            <a:r>
              <a:rPr lang="en-US" dirty="0"/>
              <a:t>"</a:t>
            </a:r>
            <a:r>
              <a:rPr dirty="0"/>
              <a:t> HWDP</a:t>
            </a:r>
          </a:p>
        </p:txBody>
      </p:sp>
      <p:sp>
        <p:nvSpPr>
          <p:cNvPr id="261" name="Rounded Rectangle 39">
            <a:extLst>
              <a:ext uri="{FF2B5EF4-FFF2-40B4-BE49-F238E27FC236}">
                <a16:creationId xmlns:a16="http://schemas.microsoft.com/office/drawing/2014/main" id="{8CE1FA0E-A516-0016-9024-48F395C6F9F5}"/>
              </a:ext>
            </a:extLst>
          </p:cNvPr>
          <p:cNvSpPr/>
          <p:nvPr/>
        </p:nvSpPr>
        <p:spPr>
          <a:xfrm>
            <a:off x="4471415" y="5164328"/>
            <a:ext cx="1380744" cy="301752"/>
          </a:xfrm>
          <a:prstGeom prst="roundRect">
            <a:avLst/>
          </a:prstGeom>
          <a:solidFill>
            <a:srgbClr val="FFF2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69" b="0">
                <a:solidFill>
                  <a:srgbClr val="132E4D"/>
                </a:solidFill>
              </a:defRPr>
            </a:pPr>
            <a:r>
              <a:rPr dirty="0"/>
              <a:t>5</a:t>
            </a:r>
            <a:r>
              <a:rPr lang="en-US" dirty="0"/>
              <a:t>"</a:t>
            </a:r>
            <a:r>
              <a:rPr dirty="0"/>
              <a:t> Drill Pipe</a:t>
            </a:r>
          </a:p>
        </p:txBody>
      </p:sp>
      <p:sp>
        <p:nvSpPr>
          <p:cNvPr id="263" name="Rounded Rectangle 40">
            <a:extLst>
              <a:ext uri="{FF2B5EF4-FFF2-40B4-BE49-F238E27FC236}">
                <a16:creationId xmlns:a16="http://schemas.microsoft.com/office/drawing/2014/main" id="{A1D82840-1910-5597-EE39-8FFF3636D4BB}"/>
              </a:ext>
            </a:extLst>
          </p:cNvPr>
          <p:cNvSpPr/>
          <p:nvPr/>
        </p:nvSpPr>
        <p:spPr>
          <a:xfrm>
            <a:off x="6053327" y="1515872"/>
            <a:ext cx="1719072" cy="301752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Design Intent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E166FE0F-6E7D-F439-0EBD-FA3D521C1651}"/>
              </a:ext>
            </a:extLst>
          </p:cNvPr>
          <p:cNvSpPr txBox="1"/>
          <p:nvPr/>
        </p:nvSpPr>
        <p:spPr>
          <a:xfrm>
            <a:off x="6053327" y="1881632"/>
            <a:ext cx="1783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defRPr sz="950">
                <a:solidFill>
                  <a:srgbClr val="000000"/>
                </a:solidFill>
              </a:defRPr>
            </a:pPr>
            <a:r>
              <a:rPr dirty="0"/>
              <a:t>Directional BHA for production section to TD (~5,312 ft MD) with focus on smooth tangent maintenance.</a:t>
            </a:r>
          </a:p>
          <a:p>
            <a:pPr>
              <a:lnSpc>
                <a:spcPct val="102000"/>
              </a:lnSpc>
              <a:defRPr sz="950">
                <a:solidFill>
                  <a:srgbClr val="000000"/>
                </a:solidFill>
              </a:defRPr>
            </a:pPr>
            <a:r>
              <a:rPr dirty="0"/>
              <a:t>1.15° bend gives enough steering for minor corrections while reducing DLS/tortuosity.</a:t>
            </a:r>
          </a:p>
          <a:p>
            <a:pPr>
              <a:lnSpc>
                <a:spcPct val="102000"/>
              </a:lnSpc>
              <a:defRPr sz="950">
                <a:solidFill>
                  <a:srgbClr val="000000"/>
                </a:solidFill>
              </a:defRPr>
            </a:pPr>
            <a:r>
              <a:rPr dirty="0"/>
              <a:t>Configuration supports lower torque &amp; drag and easier logging and 7 in. casing running.</a:t>
            </a:r>
          </a:p>
          <a:p>
            <a:pPr>
              <a:lnSpc>
                <a:spcPct val="102000"/>
              </a:lnSpc>
              <a:defRPr sz="950">
                <a:solidFill>
                  <a:srgbClr val="000000"/>
                </a:solidFill>
              </a:defRPr>
            </a:pPr>
            <a:r>
              <a:rPr dirty="0"/>
              <a:t>Jar remains part of the BHA as precaution against downhole sticking.</a:t>
            </a:r>
          </a:p>
        </p:txBody>
      </p:sp>
      <p:sp>
        <p:nvSpPr>
          <p:cNvPr id="267" name="Rounded Rectangle 42">
            <a:extLst>
              <a:ext uri="{FF2B5EF4-FFF2-40B4-BE49-F238E27FC236}">
                <a16:creationId xmlns:a16="http://schemas.microsoft.com/office/drawing/2014/main" id="{ACD29C2B-CC3A-2C9E-389A-662961F44F5F}"/>
              </a:ext>
            </a:extLst>
          </p:cNvPr>
          <p:cNvSpPr/>
          <p:nvPr/>
        </p:nvSpPr>
        <p:spPr>
          <a:xfrm>
            <a:off x="6053327" y="4315968"/>
            <a:ext cx="1719072" cy="45720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t>Bit Type</a:t>
            </a:r>
          </a:p>
          <a:p>
            <a:pPr algn="ctr">
              <a:defRPr sz="1050" b="1">
                <a:solidFill>
                  <a:srgbClr val="ED7D31"/>
                </a:solidFill>
              </a:defRPr>
            </a:pPr>
            <a:r>
              <a:t>PDC 519</a:t>
            </a:r>
          </a:p>
        </p:txBody>
      </p:sp>
      <p:sp>
        <p:nvSpPr>
          <p:cNvPr id="269" name="Rounded Rectangle 43">
            <a:extLst>
              <a:ext uri="{FF2B5EF4-FFF2-40B4-BE49-F238E27FC236}">
                <a16:creationId xmlns:a16="http://schemas.microsoft.com/office/drawing/2014/main" id="{3A8C21F6-A16D-2DCD-851D-3D2B8C7D97A4}"/>
              </a:ext>
            </a:extLst>
          </p:cNvPr>
          <p:cNvSpPr/>
          <p:nvPr/>
        </p:nvSpPr>
        <p:spPr>
          <a:xfrm>
            <a:off x="6053327" y="4846319"/>
            <a:ext cx="1719072" cy="45720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rPr dirty="0"/>
              <a:t>Motor</a:t>
            </a:r>
          </a:p>
          <a:p>
            <a:pPr algn="ctr">
              <a:defRPr sz="1050" b="1">
                <a:solidFill>
                  <a:srgbClr val="ED7D31"/>
                </a:solidFill>
              </a:defRPr>
            </a:pPr>
            <a:r>
              <a:rPr dirty="0"/>
              <a:t>6-3/4</a:t>
            </a:r>
            <a:r>
              <a:rPr lang="en-US" dirty="0"/>
              <a:t>"</a:t>
            </a:r>
            <a:r>
              <a:rPr dirty="0"/>
              <a:t> | 1.15°</a:t>
            </a:r>
          </a:p>
        </p:txBody>
      </p:sp>
      <p:sp>
        <p:nvSpPr>
          <p:cNvPr id="271" name="Rounded Rectangle 44">
            <a:extLst>
              <a:ext uri="{FF2B5EF4-FFF2-40B4-BE49-F238E27FC236}">
                <a16:creationId xmlns:a16="http://schemas.microsoft.com/office/drawing/2014/main" id="{03EC7A84-2C04-EEB7-C554-708479E79784}"/>
              </a:ext>
            </a:extLst>
          </p:cNvPr>
          <p:cNvSpPr/>
          <p:nvPr/>
        </p:nvSpPr>
        <p:spPr>
          <a:xfrm>
            <a:off x="6053327" y="5376672"/>
            <a:ext cx="1719072" cy="45720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t>Survey</a:t>
            </a:r>
          </a:p>
          <a:p>
            <a:pPr algn="ctr">
              <a:defRPr sz="1050" b="1">
                <a:solidFill>
                  <a:srgbClr val="ED7D31"/>
                </a:solidFill>
              </a:defRPr>
            </a:pPr>
            <a:r>
              <a:t>~300 ft / 5 stands</a:t>
            </a:r>
          </a:p>
        </p:txBody>
      </p:sp>
      <p:sp>
        <p:nvSpPr>
          <p:cNvPr id="273" name="Rounded Rectangle 45">
            <a:extLst>
              <a:ext uri="{FF2B5EF4-FFF2-40B4-BE49-F238E27FC236}">
                <a16:creationId xmlns:a16="http://schemas.microsoft.com/office/drawing/2014/main" id="{8E2E8852-B199-1AEA-BBA6-6A72ED779F79}"/>
              </a:ext>
            </a:extLst>
          </p:cNvPr>
          <p:cNvSpPr/>
          <p:nvPr/>
        </p:nvSpPr>
        <p:spPr>
          <a:xfrm>
            <a:off x="6053327" y="5907024"/>
            <a:ext cx="1719072" cy="457200"/>
          </a:xfrm>
          <a:prstGeom prst="roundRect">
            <a:avLst/>
          </a:prstGeom>
          <a:solidFill>
            <a:srgbClr val="F8F9FB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32E4D"/>
                </a:solidFill>
              </a:defRPr>
            </a:pPr>
            <a:r>
              <a:rPr dirty="0"/>
              <a:t>Primary Objective</a:t>
            </a:r>
          </a:p>
          <a:p>
            <a:pPr algn="ctr">
              <a:defRPr sz="1050" b="1">
                <a:solidFill>
                  <a:srgbClr val="ED7D31"/>
                </a:solidFill>
              </a:defRPr>
            </a:pPr>
            <a:r>
              <a:rPr dirty="0"/>
              <a:t>Durability</a:t>
            </a:r>
            <a:br>
              <a:rPr dirty="0"/>
            </a:br>
            <a:r>
              <a:rPr dirty="0"/>
              <a:t>+</a:t>
            </a:r>
            <a:r>
              <a:rPr lang="en-US" dirty="0"/>
              <a:t> ROP +</a:t>
            </a:r>
            <a:r>
              <a:rPr dirty="0"/>
              <a:t> hole quality</a:t>
            </a:r>
          </a:p>
        </p:txBody>
      </p:sp>
      <p:sp>
        <p:nvSpPr>
          <p:cNvPr id="275" name="Rounded Rectangle 46">
            <a:extLst>
              <a:ext uri="{FF2B5EF4-FFF2-40B4-BE49-F238E27FC236}">
                <a16:creationId xmlns:a16="http://schemas.microsoft.com/office/drawing/2014/main" id="{87B878BA-AF38-0402-11FD-8D04BE838283}"/>
              </a:ext>
            </a:extLst>
          </p:cNvPr>
          <p:cNvSpPr/>
          <p:nvPr/>
        </p:nvSpPr>
        <p:spPr>
          <a:xfrm>
            <a:off x="8138160" y="1132840"/>
            <a:ext cx="3916188" cy="2527137"/>
          </a:xfrm>
          <a:prstGeom prst="roundRect">
            <a:avLst>
              <a:gd name="adj" fmla="val 10053"/>
            </a:avLst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ounded Rectangle 47">
            <a:extLst>
              <a:ext uri="{FF2B5EF4-FFF2-40B4-BE49-F238E27FC236}">
                <a16:creationId xmlns:a16="http://schemas.microsoft.com/office/drawing/2014/main" id="{502851B0-B6D8-CEEE-AA53-FFFE226C6324}"/>
              </a:ext>
            </a:extLst>
          </p:cNvPr>
          <p:cNvSpPr/>
          <p:nvPr/>
        </p:nvSpPr>
        <p:spPr>
          <a:xfrm>
            <a:off x="8138160" y="1132840"/>
            <a:ext cx="3916188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32E4D"/>
                </a:solidFill>
              </a:defRPr>
            </a:pPr>
            <a:r>
              <a:rPr dirty="0"/>
              <a:t>Bit Selection Criteria</a:t>
            </a:r>
          </a:p>
        </p:txBody>
      </p:sp>
      <p:sp>
        <p:nvSpPr>
          <p:cNvPr id="281" name="Rounded Rectangle 49">
            <a:extLst>
              <a:ext uri="{FF2B5EF4-FFF2-40B4-BE49-F238E27FC236}">
                <a16:creationId xmlns:a16="http://schemas.microsoft.com/office/drawing/2014/main" id="{FBC8C96A-4308-D6BE-B311-F3B946B99268}"/>
              </a:ext>
            </a:extLst>
          </p:cNvPr>
          <p:cNvSpPr/>
          <p:nvPr/>
        </p:nvSpPr>
        <p:spPr>
          <a:xfrm>
            <a:off x="8138391" y="3787139"/>
            <a:ext cx="3916188" cy="2629061"/>
          </a:xfrm>
          <a:prstGeom prst="roundRect">
            <a:avLst>
              <a:gd name="adj" fmla="val 9561"/>
            </a:avLst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ounded Rectangle 50">
            <a:extLst>
              <a:ext uri="{FF2B5EF4-FFF2-40B4-BE49-F238E27FC236}">
                <a16:creationId xmlns:a16="http://schemas.microsoft.com/office/drawing/2014/main" id="{DDFDD756-4AF3-DA7E-FCB0-9DD5A926C08D}"/>
              </a:ext>
            </a:extLst>
          </p:cNvPr>
          <p:cNvSpPr/>
          <p:nvPr/>
        </p:nvSpPr>
        <p:spPr>
          <a:xfrm>
            <a:off x="8138391" y="3787140"/>
            <a:ext cx="3916188" cy="292608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32E4D"/>
                </a:solidFill>
              </a:defRPr>
            </a:pPr>
            <a:r>
              <a:rPr dirty="0"/>
              <a:t>Directional Drilling / MWD / LWD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9067D4-AF59-6E55-A33B-FAE391B66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673" y="1473909"/>
            <a:ext cx="3749039" cy="20444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2E1D82-F5AD-B6C1-2E29-543805F7A9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5368" y="4128796"/>
            <a:ext cx="3774343" cy="215964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27022-043F-80BD-30B4-577C7B505E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27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75" y="287290"/>
            <a:ext cx="11716269" cy="630408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/>
          <p:cNvSpPr/>
          <p:nvPr/>
        </p:nvSpPr>
        <p:spPr>
          <a:xfrm>
            <a:off x="259075" y="2007908"/>
            <a:ext cx="11716269" cy="2780907"/>
          </a:xfrm>
          <a:prstGeom prst="rect">
            <a:avLst/>
          </a:prstGeom>
          <a:solidFill>
            <a:srgbClr val="365DA8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15"/>
          <p:cNvSpPr txBox="1">
            <a:spLocks noGrp="1"/>
          </p:cNvSpPr>
          <p:nvPr>
            <p:ph type="ctrTitle"/>
          </p:nvPr>
        </p:nvSpPr>
        <p:spPr>
          <a:xfrm>
            <a:off x="494907" y="2459920"/>
            <a:ext cx="11202186" cy="195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CASING, TUBING &amp; CEMENTING DESIGN</a:t>
            </a:r>
            <a:endParaRPr lang="en-US" dirty="0"/>
          </a:p>
        </p:txBody>
      </p:sp>
      <p:pic>
        <p:nvPicPr>
          <p:cNvPr id="344" name="Google Shape;344;p15" descr="Blue text and blue letter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075" y="287290"/>
            <a:ext cx="140017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F8870900-C62B-822A-F49F-4941CA09C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2C9F3794-F1AA-670C-DD9B-5A0AB3B81384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CASING SEAT SELECTION &amp; KICK TOLERANCE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3C8CA057-A473-68D5-BDF8-DA8FD975C9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611F0361-15FB-D424-6331-A2D408A447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Shape 3">
            <a:extLst>
              <a:ext uri="{FF2B5EF4-FFF2-40B4-BE49-F238E27FC236}">
                <a16:creationId xmlns:a16="http://schemas.microsoft.com/office/drawing/2014/main" id="{C698A7B2-5065-C141-D1D0-0A3FE21AC5DC}"/>
              </a:ext>
            </a:extLst>
          </p:cNvPr>
          <p:cNvSpPr/>
          <p:nvPr/>
        </p:nvSpPr>
        <p:spPr>
          <a:xfrm>
            <a:off x="283464" y="1088136"/>
            <a:ext cx="5806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7" name="Shape 4">
            <a:extLst>
              <a:ext uri="{FF2B5EF4-FFF2-40B4-BE49-F238E27FC236}">
                <a16:creationId xmlns:a16="http://schemas.microsoft.com/office/drawing/2014/main" id="{C6497EC5-1921-A62B-3B0C-569F2FB74386}"/>
              </a:ext>
            </a:extLst>
          </p:cNvPr>
          <p:cNvSpPr/>
          <p:nvPr/>
        </p:nvSpPr>
        <p:spPr>
          <a:xfrm>
            <a:off x="283464" y="1088136"/>
            <a:ext cx="5806440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9" name="Text 5">
            <a:extLst>
              <a:ext uri="{FF2B5EF4-FFF2-40B4-BE49-F238E27FC236}">
                <a16:creationId xmlns:a16="http://schemas.microsoft.com/office/drawing/2014/main" id="{BAD361F0-BEF8-7268-735D-19AF4D56C01F}"/>
              </a:ext>
            </a:extLst>
          </p:cNvPr>
          <p:cNvSpPr/>
          <p:nvPr/>
        </p:nvSpPr>
        <p:spPr>
          <a:xfrm>
            <a:off x="338328" y="1088136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Casing Seat Selection Basis </a:t>
            </a:r>
            <a:endParaRPr lang="en-US" sz="1150" dirty="0"/>
          </a:p>
        </p:txBody>
      </p:sp>
      <p:sp>
        <p:nvSpPr>
          <p:cNvPr id="271" name="Shape 6">
            <a:extLst>
              <a:ext uri="{FF2B5EF4-FFF2-40B4-BE49-F238E27FC236}">
                <a16:creationId xmlns:a16="http://schemas.microsoft.com/office/drawing/2014/main" id="{5F78B905-11B5-9C3B-4232-4A00F6665A07}"/>
              </a:ext>
            </a:extLst>
          </p:cNvPr>
          <p:cNvSpPr/>
          <p:nvPr/>
        </p:nvSpPr>
        <p:spPr>
          <a:xfrm>
            <a:off x="411480" y="1444752"/>
            <a:ext cx="1353312" cy="566928"/>
          </a:xfrm>
          <a:prstGeom prst="roundRect">
            <a:avLst>
              <a:gd name="adj" fmla="val 16129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3" name="Text 7">
            <a:extLst>
              <a:ext uri="{FF2B5EF4-FFF2-40B4-BE49-F238E27FC236}">
                <a16:creationId xmlns:a16="http://schemas.microsoft.com/office/drawing/2014/main" id="{A63BB989-2F33-9D92-FAB6-BBF41AA33395}"/>
              </a:ext>
            </a:extLst>
          </p:cNvPr>
          <p:cNvSpPr/>
          <p:nvPr/>
        </p:nvSpPr>
        <p:spPr>
          <a:xfrm>
            <a:off x="448056" y="14447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Csg Hole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12-1/4 in.</a:t>
            </a:r>
            <a:endParaRPr lang="en-US" sz="900" dirty="0"/>
          </a:p>
        </p:txBody>
      </p:sp>
      <p:sp>
        <p:nvSpPr>
          <p:cNvPr id="275" name="Shape 8">
            <a:extLst>
              <a:ext uri="{FF2B5EF4-FFF2-40B4-BE49-F238E27FC236}">
                <a16:creationId xmlns:a16="http://schemas.microsoft.com/office/drawing/2014/main" id="{3509DF66-4FE2-542D-03A7-B4C34DDA292E}"/>
              </a:ext>
            </a:extLst>
          </p:cNvPr>
          <p:cNvSpPr/>
          <p:nvPr/>
        </p:nvSpPr>
        <p:spPr>
          <a:xfrm>
            <a:off x="1847088" y="1444752"/>
            <a:ext cx="1353312" cy="566928"/>
          </a:xfrm>
          <a:prstGeom prst="roundRect">
            <a:avLst>
              <a:gd name="adj" fmla="val 16129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7" name="Text 9">
            <a:extLst>
              <a:ext uri="{FF2B5EF4-FFF2-40B4-BE49-F238E27FC236}">
                <a16:creationId xmlns:a16="http://schemas.microsoft.com/office/drawing/2014/main" id="{2A633349-DB3A-0DDD-4FB1-181843DBBE9B}"/>
              </a:ext>
            </a:extLst>
          </p:cNvPr>
          <p:cNvSpPr/>
          <p:nvPr/>
        </p:nvSpPr>
        <p:spPr>
          <a:xfrm>
            <a:off x="1883664" y="14447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Depth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1,821 ftMD</a:t>
            </a:r>
            <a:endParaRPr lang="en-US" sz="900" dirty="0"/>
          </a:p>
        </p:txBody>
      </p:sp>
      <p:sp>
        <p:nvSpPr>
          <p:cNvPr id="279" name="Shape 10">
            <a:extLst>
              <a:ext uri="{FF2B5EF4-FFF2-40B4-BE49-F238E27FC236}">
                <a16:creationId xmlns:a16="http://schemas.microsoft.com/office/drawing/2014/main" id="{83C3ECA2-27E2-AFB8-CF02-F810FC00BF30}"/>
              </a:ext>
            </a:extLst>
          </p:cNvPr>
          <p:cNvSpPr/>
          <p:nvPr/>
        </p:nvSpPr>
        <p:spPr>
          <a:xfrm>
            <a:off x="3282696" y="1444752"/>
            <a:ext cx="1353312" cy="566928"/>
          </a:xfrm>
          <a:prstGeom prst="roundRect">
            <a:avLst>
              <a:gd name="adj" fmla="val 16129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1" name="Text 11">
            <a:extLst>
              <a:ext uri="{FF2B5EF4-FFF2-40B4-BE49-F238E27FC236}">
                <a16:creationId xmlns:a16="http://schemas.microsoft.com/office/drawing/2014/main" id="{F2B4894B-9288-8553-1A64-3CB5570B404A}"/>
              </a:ext>
            </a:extLst>
          </p:cNvPr>
          <p:cNvSpPr/>
          <p:nvPr/>
        </p:nvSpPr>
        <p:spPr>
          <a:xfrm>
            <a:off x="3319272" y="14447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Csg Hole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8-1/2 in.</a:t>
            </a:r>
            <a:endParaRPr lang="en-US" sz="900" dirty="0"/>
          </a:p>
        </p:txBody>
      </p:sp>
      <p:sp>
        <p:nvSpPr>
          <p:cNvPr id="283" name="Shape 12">
            <a:extLst>
              <a:ext uri="{FF2B5EF4-FFF2-40B4-BE49-F238E27FC236}">
                <a16:creationId xmlns:a16="http://schemas.microsoft.com/office/drawing/2014/main" id="{E69EF88D-C1C8-FB2D-918F-4A613ACFD249}"/>
              </a:ext>
            </a:extLst>
          </p:cNvPr>
          <p:cNvSpPr/>
          <p:nvPr/>
        </p:nvSpPr>
        <p:spPr>
          <a:xfrm>
            <a:off x="4718304" y="1444752"/>
            <a:ext cx="1353312" cy="566928"/>
          </a:xfrm>
          <a:prstGeom prst="roundRect">
            <a:avLst>
              <a:gd name="adj" fmla="val 16129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5" name="Text 13">
            <a:extLst>
              <a:ext uri="{FF2B5EF4-FFF2-40B4-BE49-F238E27FC236}">
                <a16:creationId xmlns:a16="http://schemas.microsoft.com/office/drawing/2014/main" id="{A9E67904-095B-DD2B-5D29-4C2AED97E627}"/>
              </a:ext>
            </a:extLst>
          </p:cNvPr>
          <p:cNvSpPr/>
          <p:nvPr/>
        </p:nvSpPr>
        <p:spPr>
          <a:xfrm>
            <a:off x="4754880" y="14447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Depth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5,312 ftMD</a:t>
            </a:r>
            <a:endParaRPr lang="en-US" sz="900" dirty="0"/>
          </a:p>
        </p:txBody>
      </p:sp>
      <p:sp>
        <p:nvSpPr>
          <p:cNvPr id="287" name="Text 14">
            <a:extLst>
              <a:ext uri="{FF2B5EF4-FFF2-40B4-BE49-F238E27FC236}">
                <a16:creationId xmlns:a16="http://schemas.microsoft.com/office/drawing/2014/main" id="{CEC93E2D-4336-B610-694B-2A7CC94256FC}"/>
              </a:ext>
            </a:extLst>
          </p:cNvPr>
          <p:cNvSpPr/>
          <p:nvPr/>
        </p:nvSpPr>
        <p:spPr>
          <a:xfrm>
            <a:off x="411480" y="2103120"/>
            <a:ext cx="55504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6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Casing Seat: </a:t>
            </a:r>
            <a:r>
              <a:rPr lang="en-US" sz="9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landed inside competent shale, preferred geological window ≈1,550–1,650 ftTVDSS, to give a reliable shoe and adequate formation integrity for drilling the 8-1/2 in. section.</a:t>
            </a:r>
            <a:endParaRPr lang="en-US" sz="96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6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Casing Seat: </a:t>
            </a:r>
            <a:r>
              <a:rPr lang="en-US" sz="9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at 5,312 ftMD / 4,664 </a:t>
            </a:r>
            <a:r>
              <a:rPr lang="en-US" sz="96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ftTVD</a:t>
            </a:r>
            <a:r>
              <a:rPr lang="en-US" sz="9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full coverage of Bara, Bama, Raja &amp; Prima plus sufficient rat hole below the deepest objective.</a:t>
            </a:r>
            <a:endParaRPr lang="en-US" sz="96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6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 Window: </a:t>
            </a:r>
            <a:r>
              <a:rPr lang="en-US" sz="9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8.7–9.0 ppg (surface) and 9.0–9.8 ppg (production), verified against PP, SFG and the minimum FG in open hole.</a:t>
            </a:r>
            <a:endParaRPr lang="en-US" sz="960" dirty="0"/>
          </a:p>
        </p:txBody>
      </p:sp>
      <p:sp>
        <p:nvSpPr>
          <p:cNvPr id="289" name="Shape 15">
            <a:extLst>
              <a:ext uri="{FF2B5EF4-FFF2-40B4-BE49-F238E27FC236}">
                <a16:creationId xmlns:a16="http://schemas.microsoft.com/office/drawing/2014/main" id="{36EBCD14-4B32-87E7-5DC8-D37E71849499}"/>
              </a:ext>
            </a:extLst>
          </p:cNvPr>
          <p:cNvSpPr/>
          <p:nvPr/>
        </p:nvSpPr>
        <p:spPr>
          <a:xfrm>
            <a:off x="6217920" y="1088136"/>
            <a:ext cx="56875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91" name="Shape 16">
            <a:extLst>
              <a:ext uri="{FF2B5EF4-FFF2-40B4-BE49-F238E27FC236}">
                <a16:creationId xmlns:a16="http://schemas.microsoft.com/office/drawing/2014/main" id="{441A530D-F055-C14B-379E-A917F41909BD}"/>
              </a:ext>
            </a:extLst>
          </p:cNvPr>
          <p:cNvSpPr/>
          <p:nvPr/>
        </p:nvSpPr>
        <p:spPr>
          <a:xfrm>
            <a:off x="6217920" y="1088136"/>
            <a:ext cx="5687568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3" name="Text 17">
            <a:extLst>
              <a:ext uri="{FF2B5EF4-FFF2-40B4-BE49-F238E27FC236}">
                <a16:creationId xmlns:a16="http://schemas.microsoft.com/office/drawing/2014/main" id="{E8FA8D50-B78A-3AB4-5AFF-BEF14E494CDB}"/>
              </a:ext>
            </a:extLst>
          </p:cNvPr>
          <p:cNvSpPr/>
          <p:nvPr/>
        </p:nvSpPr>
        <p:spPr>
          <a:xfrm>
            <a:off x="6272784" y="108813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 Tolerance Verification </a:t>
            </a:r>
            <a:endParaRPr lang="en-US" sz="1150" dirty="0"/>
          </a:p>
        </p:txBody>
      </p:sp>
      <p:sp>
        <p:nvSpPr>
          <p:cNvPr id="295" name="Shape 18">
            <a:extLst>
              <a:ext uri="{FF2B5EF4-FFF2-40B4-BE49-F238E27FC236}">
                <a16:creationId xmlns:a16="http://schemas.microsoft.com/office/drawing/2014/main" id="{9E237477-31B2-DAEE-28C6-C3A3F3FFA806}"/>
              </a:ext>
            </a:extLst>
          </p:cNvPr>
          <p:cNvSpPr/>
          <p:nvPr/>
        </p:nvSpPr>
        <p:spPr>
          <a:xfrm>
            <a:off x="6345936" y="1444752"/>
            <a:ext cx="1298448" cy="566928"/>
          </a:xfrm>
          <a:prstGeom prst="roundRect">
            <a:avLst>
              <a:gd name="adj" fmla="val 16129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02" name="Text 19">
            <a:extLst>
              <a:ext uri="{FF2B5EF4-FFF2-40B4-BE49-F238E27FC236}">
                <a16:creationId xmlns:a16="http://schemas.microsoft.com/office/drawing/2014/main" id="{2319D49E-0EE3-28B7-AA3F-4AC09B605766}"/>
              </a:ext>
            </a:extLst>
          </p:cNvPr>
          <p:cNvSpPr/>
          <p:nvPr/>
        </p:nvSpPr>
        <p:spPr>
          <a:xfrm>
            <a:off x="6382512" y="144475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Shoe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9-5/8 in.</a:t>
            </a:r>
            <a:endParaRPr lang="en-US" sz="900" dirty="0"/>
          </a:p>
        </p:txBody>
      </p:sp>
      <p:sp>
        <p:nvSpPr>
          <p:cNvPr id="304" name="Shape 20">
            <a:extLst>
              <a:ext uri="{FF2B5EF4-FFF2-40B4-BE49-F238E27FC236}">
                <a16:creationId xmlns:a16="http://schemas.microsoft.com/office/drawing/2014/main" id="{ABB95C56-D08F-B487-5C7B-66AB7BECE25B}"/>
              </a:ext>
            </a:extLst>
          </p:cNvPr>
          <p:cNvSpPr/>
          <p:nvPr/>
        </p:nvSpPr>
        <p:spPr>
          <a:xfrm>
            <a:off x="7726680" y="1444752"/>
            <a:ext cx="1298448" cy="566928"/>
          </a:xfrm>
          <a:prstGeom prst="roundRect">
            <a:avLst>
              <a:gd name="adj" fmla="val 16129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06" name="Text 21">
            <a:extLst>
              <a:ext uri="{FF2B5EF4-FFF2-40B4-BE49-F238E27FC236}">
                <a16:creationId xmlns:a16="http://schemas.microsoft.com/office/drawing/2014/main" id="{8BEA7D55-523A-D5D2-3D9A-F507E14B9F33}"/>
              </a:ext>
            </a:extLst>
          </p:cNvPr>
          <p:cNvSpPr/>
          <p:nvPr/>
        </p:nvSpPr>
        <p:spPr>
          <a:xfrm>
            <a:off x="7763256" y="144475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MW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 ppg</a:t>
            </a:r>
            <a:endParaRPr lang="en-US" sz="900" dirty="0"/>
          </a:p>
        </p:txBody>
      </p:sp>
      <p:sp>
        <p:nvSpPr>
          <p:cNvPr id="308" name="Shape 22">
            <a:extLst>
              <a:ext uri="{FF2B5EF4-FFF2-40B4-BE49-F238E27FC236}">
                <a16:creationId xmlns:a16="http://schemas.microsoft.com/office/drawing/2014/main" id="{331E58D8-EF14-E1D7-531F-E56B4950F987}"/>
              </a:ext>
            </a:extLst>
          </p:cNvPr>
          <p:cNvSpPr/>
          <p:nvPr/>
        </p:nvSpPr>
        <p:spPr>
          <a:xfrm>
            <a:off x="9107424" y="1444752"/>
            <a:ext cx="1298448" cy="566928"/>
          </a:xfrm>
          <a:prstGeom prst="roundRect">
            <a:avLst>
              <a:gd name="adj" fmla="val 16129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0" name="Text 23">
            <a:extLst>
              <a:ext uri="{FF2B5EF4-FFF2-40B4-BE49-F238E27FC236}">
                <a16:creationId xmlns:a16="http://schemas.microsoft.com/office/drawing/2014/main" id="{563BA981-EA77-D159-E666-81650459F6C8}"/>
              </a:ext>
            </a:extLst>
          </p:cNvPr>
          <p:cNvSpPr/>
          <p:nvPr/>
        </p:nvSpPr>
        <p:spPr>
          <a:xfrm>
            <a:off x="9144000" y="144475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/ FIT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 ppg</a:t>
            </a:r>
            <a:endParaRPr lang="en-US" sz="900" dirty="0"/>
          </a:p>
        </p:txBody>
      </p:sp>
      <p:sp>
        <p:nvSpPr>
          <p:cNvPr id="312" name="Shape 24">
            <a:extLst>
              <a:ext uri="{FF2B5EF4-FFF2-40B4-BE49-F238E27FC236}">
                <a16:creationId xmlns:a16="http://schemas.microsoft.com/office/drawing/2014/main" id="{DBCC3D97-F78D-31EC-4994-4C83717844F8}"/>
              </a:ext>
            </a:extLst>
          </p:cNvPr>
          <p:cNvSpPr/>
          <p:nvPr/>
        </p:nvSpPr>
        <p:spPr>
          <a:xfrm>
            <a:off x="10488168" y="1444752"/>
            <a:ext cx="1298448" cy="566928"/>
          </a:xfrm>
          <a:prstGeom prst="roundRect">
            <a:avLst>
              <a:gd name="adj" fmla="val 16129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4" name="Text 25">
            <a:extLst>
              <a:ext uri="{FF2B5EF4-FFF2-40B4-BE49-F238E27FC236}">
                <a16:creationId xmlns:a16="http://schemas.microsoft.com/office/drawing/2014/main" id="{3BFC61A7-1D6A-6AC1-C727-EB8A4345AFED}"/>
              </a:ext>
            </a:extLst>
          </p:cNvPr>
          <p:cNvSpPr/>
          <p:nvPr/>
        </p:nvSpPr>
        <p:spPr>
          <a:xfrm>
            <a:off x="10524744" y="1444752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KT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33.8 bbl</a:t>
            </a:r>
            <a:endParaRPr lang="en-US" sz="900" dirty="0"/>
          </a:p>
        </p:txBody>
      </p:sp>
      <p:sp>
        <p:nvSpPr>
          <p:cNvPr id="316" name="Text 26">
            <a:extLst>
              <a:ext uri="{FF2B5EF4-FFF2-40B4-BE49-F238E27FC236}">
                <a16:creationId xmlns:a16="http://schemas.microsoft.com/office/drawing/2014/main" id="{5D83D90E-B45D-1E89-E19B-97FDEE39F06D}"/>
              </a:ext>
            </a:extLst>
          </p:cNvPr>
          <p:cNvSpPr/>
          <p:nvPr/>
        </p:nvSpPr>
        <p:spPr>
          <a:xfrm>
            <a:off x="6345936" y="2103120"/>
            <a:ext cx="543153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6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9-5/8 in. shoe? </a:t>
            </a:r>
            <a:r>
              <a:rPr lang="en-US" sz="9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pressure-containment limit while drilling the subsequent 8-1/2 in. hole, so kick tolerance is assessed there.</a:t>
            </a:r>
            <a:endParaRPr lang="en-US" sz="96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6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Requirement: </a:t>
            </a:r>
            <a:r>
              <a:rPr lang="en-US" sz="9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10 bbl (≈1.5 m³) across a kick-intensity design range of 0–0.5 ppg.</a:t>
            </a:r>
            <a:endParaRPr lang="en-US" sz="96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6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r>
              <a:rPr lang="en-US" sz="9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33.8 bbl at 0 ppg KI  allowable kick volume stays above the 10-bbl minimum over the whole 0–0.5 ppg range, so the planned surface casing depth is adequate.</a:t>
            </a:r>
            <a:endParaRPr lang="en-US" sz="960" dirty="0"/>
          </a:p>
        </p:txBody>
      </p:sp>
      <p:sp>
        <p:nvSpPr>
          <p:cNvPr id="318" name="Shape 27">
            <a:extLst>
              <a:ext uri="{FF2B5EF4-FFF2-40B4-BE49-F238E27FC236}">
                <a16:creationId xmlns:a16="http://schemas.microsoft.com/office/drawing/2014/main" id="{98E3E0BA-2EA2-A15A-E49C-BD2528964F37}"/>
              </a:ext>
            </a:extLst>
          </p:cNvPr>
          <p:cNvSpPr/>
          <p:nvPr/>
        </p:nvSpPr>
        <p:spPr>
          <a:xfrm>
            <a:off x="283464" y="3456432"/>
            <a:ext cx="5806440" cy="307238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20" name="Shape 28">
            <a:extLst>
              <a:ext uri="{FF2B5EF4-FFF2-40B4-BE49-F238E27FC236}">
                <a16:creationId xmlns:a16="http://schemas.microsoft.com/office/drawing/2014/main" id="{367F456D-3ECE-4F5A-39AB-F5568935A158}"/>
              </a:ext>
            </a:extLst>
          </p:cNvPr>
          <p:cNvSpPr/>
          <p:nvPr/>
        </p:nvSpPr>
        <p:spPr>
          <a:xfrm>
            <a:off x="283464" y="3456432"/>
            <a:ext cx="5806440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2" name="Text 29">
            <a:extLst>
              <a:ext uri="{FF2B5EF4-FFF2-40B4-BE49-F238E27FC236}">
                <a16:creationId xmlns:a16="http://schemas.microsoft.com/office/drawing/2014/main" id="{84165805-EE0E-8718-0ED3-813F524B1DA1}"/>
              </a:ext>
            </a:extLst>
          </p:cNvPr>
          <p:cNvSpPr/>
          <p:nvPr/>
        </p:nvSpPr>
        <p:spPr>
          <a:xfrm>
            <a:off x="338328" y="3456432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Load Case Design </a:t>
            </a:r>
            <a:endParaRPr lang="en-US" sz="1150" dirty="0"/>
          </a:p>
        </p:txBody>
      </p:sp>
      <p:graphicFrame>
        <p:nvGraphicFramePr>
          <p:cNvPr id="324" name="Table 0">
            <a:extLst>
              <a:ext uri="{FF2B5EF4-FFF2-40B4-BE49-F238E27FC236}">
                <a16:creationId xmlns:a16="http://schemas.microsoft.com/office/drawing/2014/main" id="{7C594645-708C-26FC-7AF2-65779FC30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251668"/>
              </p:ext>
            </p:extLst>
          </p:nvPr>
        </p:nvGraphicFramePr>
        <p:xfrm>
          <a:off x="411480" y="3840480"/>
          <a:ext cx="5550408" cy="86563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Mode</a:t>
                      </a:r>
                      <a:endParaRPr lang="en-US" sz="9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Min. DF</a:t>
                      </a:r>
                      <a:endParaRPr lang="en-US" sz="9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Governing Load Cases</a:t>
                      </a:r>
                      <a:endParaRPr lang="en-US" sz="9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Burst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 kick profile, pressure test, tubing leak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Collapse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Cementing, partial evacuation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Axial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 in hole, self-weight, margin overpull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Triaxial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 pressure + axial loading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6" name="Table 1">
            <a:extLst>
              <a:ext uri="{FF2B5EF4-FFF2-40B4-BE49-F238E27FC236}">
                <a16:creationId xmlns:a16="http://schemas.microsoft.com/office/drawing/2014/main" id="{4129D902-88FD-B69A-3178-89A40A46E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319220"/>
              </p:ext>
            </p:extLst>
          </p:nvPr>
        </p:nvGraphicFramePr>
        <p:xfrm>
          <a:off x="411480" y="4864608"/>
          <a:ext cx="5550408" cy="521208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Casing</a:t>
                      </a:r>
                      <a:endParaRPr lang="en-US" sz="9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Burst</a:t>
                      </a:r>
                      <a:endParaRPr lang="en-US" sz="9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Collapse</a:t>
                      </a:r>
                      <a:endParaRPr lang="en-US" sz="9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Axial</a:t>
                      </a:r>
                      <a:endParaRPr lang="en-US" sz="9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Triaxial</a:t>
                      </a:r>
                      <a:endParaRPr lang="en-US" sz="9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9-5/8 in., 36 ppf, K55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3.52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2.88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in., 23 ppf, K55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2.18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8" name="Text 30">
            <a:extLst>
              <a:ext uri="{FF2B5EF4-FFF2-40B4-BE49-F238E27FC236}">
                <a16:creationId xmlns:a16="http://schemas.microsoft.com/office/drawing/2014/main" id="{413347EB-D90C-DE9E-DF4B-B20409B3021D}"/>
              </a:ext>
            </a:extLst>
          </p:cNvPr>
          <p:cNvSpPr/>
          <p:nvPr/>
        </p:nvSpPr>
        <p:spPr>
          <a:xfrm>
            <a:off x="411480" y="5760720"/>
            <a:ext cx="5550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60" i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calculated SFs exceed the minimum design factors — preliminary K55 selection is supported, to be revalidated with final trajectory, PPFG and completion load cases.</a:t>
            </a:r>
            <a:endParaRPr lang="en-US" sz="860" dirty="0"/>
          </a:p>
        </p:txBody>
      </p:sp>
      <p:sp>
        <p:nvSpPr>
          <p:cNvPr id="330" name="Shape 31">
            <a:extLst>
              <a:ext uri="{FF2B5EF4-FFF2-40B4-BE49-F238E27FC236}">
                <a16:creationId xmlns:a16="http://schemas.microsoft.com/office/drawing/2014/main" id="{ECFE93FF-8803-3022-1255-C039DBE61A8B}"/>
              </a:ext>
            </a:extLst>
          </p:cNvPr>
          <p:cNvSpPr/>
          <p:nvPr/>
        </p:nvSpPr>
        <p:spPr>
          <a:xfrm>
            <a:off x="6217920" y="3456432"/>
            <a:ext cx="5687568" cy="274934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32" name="Shape 32">
            <a:extLst>
              <a:ext uri="{FF2B5EF4-FFF2-40B4-BE49-F238E27FC236}">
                <a16:creationId xmlns:a16="http://schemas.microsoft.com/office/drawing/2014/main" id="{994D47C1-B8B3-402A-E21D-0DBBDC6186F4}"/>
              </a:ext>
            </a:extLst>
          </p:cNvPr>
          <p:cNvSpPr/>
          <p:nvPr/>
        </p:nvSpPr>
        <p:spPr>
          <a:xfrm>
            <a:off x="6217920" y="3456432"/>
            <a:ext cx="5687568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4" name="Text 33">
            <a:extLst>
              <a:ext uri="{FF2B5EF4-FFF2-40B4-BE49-F238E27FC236}">
                <a16:creationId xmlns:a16="http://schemas.microsoft.com/office/drawing/2014/main" id="{EBB95BB5-169A-DC9F-D51F-08BB861A8C52}"/>
              </a:ext>
            </a:extLst>
          </p:cNvPr>
          <p:cNvSpPr/>
          <p:nvPr/>
        </p:nvSpPr>
        <p:spPr>
          <a:xfrm>
            <a:off x="6272784" y="345643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Material &amp; Connection Specification</a:t>
            </a:r>
            <a:endParaRPr lang="en-US" sz="1150" dirty="0"/>
          </a:p>
        </p:txBody>
      </p:sp>
      <p:graphicFrame>
        <p:nvGraphicFramePr>
          <p:cNvPr id="336" name="Table 2">
            <a:extLst>
              <a:ext uri="{FF2B5EF4-FFF2-40B4-BE49-F238E27FC236}">
                <a16:creationId xmlns:a16="http://schemas.microsoft.com/office/drawing/2014/main" id="{EF6223CA-40B6-E826-DDED-403906100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887437"/>
              </p:ext>
            </p:extLst>
          </p:nvPr>
        </p:nvGraphicFramePr>
        <p:xfrm>
          <a:off x="6345936" y="3840480"/>
          <a:ext cx="5431536" cy="675132"/>
        </p:xfrm>
        <a:graphic>
          <a:graphicData uri="http://schemas.openxmlformats.org/drawingml/2006/table">
            <a:tbl>
              <a:tblPr/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Tubular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 / Weight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Selection Basis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 Casing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9-5/8 in. / 36 ppf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K55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Axial capacity for running + drilling loads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Casing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in. / 23 ppf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K55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Burst, collapse, axial &amp; triaxial capacity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Tubing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3-1/2 in. / 9.3 ppf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J55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 string, tensile &amp; make-up reliability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8" name="Text 34">
            <a:extLst>
              <a:ext uri="{FF2B5EF4-FFF2-40B4-BE49-F238E27FC236}">
                <a16:creationId xmlns:a16="http://schemas.microsoft.com/office/drawing/2014/main" id="{30C8F2B1-0F2E-4A9C-F0C3-8AF384726FA3}"/>
              </a:ext>
            </a:extLst>
          </p:cNvPr>
          <p:cNvSpPr/>
          <p:nvPr/>
        </p:nvSpPr>
        <p:spPr>
          <a:xfrm>
            <a:off x="6345936" y="4937760"/>
            <a:ext cx="5431536" cy="1225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8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BTC? </a:t>
            </a: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Buttress thread gives higher axial capacity than round thread; the moderate 30.41° J-type inclination does not require a premium gas-tight connection under the current basis.</a:t>
            </a:r>
            <a:endParaRPr lang="en-US" sz="88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8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 special metallurgy? </a:t>
            </a: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H₂S/CO₂ expected and no historical corrosion in offset wells — API grades are retained.</a:t>
            </a:r>
            <a:endParaRPr lang="en-US" sz="88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E4B839-280D-3A99-8D7C-B250EA67D6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83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70C53D59-FA83-0B4F-EBA1-CBDCACA1F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BD2B4786-5BF8-5495-FF7E-939C2A6B9A90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CEMENTING OBJECTIVES, SLURRY &amp; ZONAL ISOLATION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472E104F-E45B-58D9-2879-E1E024A780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792B21FE-D151-FBBC-DEFE-A71FEAA796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9211E1AC-54D3-E9C3-1E24-F74679A319AC}"/>
              </a:ext>
            </a:extLst>
          </p:cNvPr>
          <p:cNvSpPr/>
          <p:nvPr/>
        </p:nvSpPr>
        <p:spPr>
          <a:xfrm>
            <a:off x="283464" y="1088136"/>
            <a:ext cx="1162202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25A26E3-DB94-1A4F-CBC2-8DD3EAC6F350}"/>
              </a:ext>
            </a:extLst>
          </p:cNvPr>
          <p:cNvSpPr/>
          <p:nvPr/>
        </p:nvSpPr>
        <p:spPr>
          <a:xfrm>
            <a:off x="283464" y="1088136"/>
            <a:ext cx="11622024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4FD5DB-6F81-E858-6A8B-1136E030F8DD}"/>
              </a:ext>
            </a:extLst>
          </p:cNvPr>
          <p:cNvSpPr/>
          <p:nvPr/>
        </p:nvSpPr>
        <p:spPr>
          <a:xfrm>
            <a:off x="338328" y="1088136"/>
            <a:ext cx="11512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Cementing Objectives &amp; Zonal Isolation Requirement (Table 8.1)</a:t>
            </a:r>
            <a:endParaRPr lang="en-US" sz="11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2FD807A-5EFE-2A33-D09C-CE0452ACC9A0}"/>
              </a:ext>
            </a:extLst>
          </p:cNvPr>
          <p:cNvSpPr/>
          <p:nvPr/>
        </p:nvSpPr>
        <p:spPr>
          <a:xfrm>
            <a:off x="411480" y="1444752"/>
            <a:ext cx="2761488" cy="566928"/>
          </a:xfrm>
          <a:prstGeom prst="roundRect">
            <a:avLst>
              <a:gd name="adj" fmla="val 16129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EB7FC21-ADB3-B1A9-A759-CE754D8CBE12}"/>
              </a:ext>
            </a:extLst>
          </p:cNvPr>
          <p:cNvSpPr/>
          <p:nvPr/>
        </p:nvSpPr>
        <p:spPr>
          <a:xfrm>
            <a:off x="448056" y="144475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System – Both Strings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G, Dual Slurry</a:t>
            </a:r>
            <a:endParaRPr lang="en-US" sz="9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8B782352-A19E-4171-4D7A-0D05DB713058}"/>
              </a:ext>
            </a:extLst>
          </p:cNvPr>
          <p:cNvSpPr/>
          <p:nvPr/>
        </p:nvSpPr>
        <p:spPr>
          <a:xfrm>
            <a:off x="3273552" y="1444752"/>
            <a:ext cx="2761488" cy="566928"/>
          </a:xfrm>
          <a:prstGeom prst="roundRect">
            <a:avLst>
              <a:gd name="adj" fmla="val 16129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00BFA9C5-2D61-6253-DD7B-11C3CC26B448}"/>
              </a:ext>
            </a:extLst>
          </p:cNvPr>
          <p:cNvSpPr/>
          <p:nvPr/>
        </p:nvSpPr>
        <p:spPr>
          <a:xfrm>
            <a:off x="3310128" y="144475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/ Tail Density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 / 15.8 ppg</a:t>
            </a:r>
            <a:endParaRPr lang="en-US" sz="95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4FCB179F-2F2A-D0AD-2467-01094E9A595E}"/>
              </a:ext>
            </a:extLst>
          </p:cNvPr>
          <p:cNvSpPr/>
          <p:nvPr/>
        </p:nvSpPr>
        <p:spPr>
          <a:xfrm>
            <a:off x="6135624" y="1444752"/>
            <a:ext cx="2761488" cy="566928"/>
          </a:xfrm>
          <a:prstGeom prst="roundRect">
            <a:avLst>
              <a:gd name="adj" fmla="val 16129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A85548B-1B97-98C4-DCA4-3FD7B715D896}"/>
              </a:ext>
            </a:extLst>
          </p:cNvPr>
          <p:cNvSpPr/>
          <p:nvPr/>
        </p:nvSpPr>
        <p:spPr>
          <a:xfrm>
            <a:off x="6172200" y="144475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 – 9-5/8 in. Surface Casing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≥200 ft above shoe</a:t>
            </a:r>
            <a:endParaRPr lang="en-US" sz="95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94FB9D1B-49DB-83B1-BB2D-0BDE9F62F4A3}"/>
              </a:ext>
            </a:extLst>
          </p:cNvPr>
          <p:cNvSpPr/>
          <p:nvPr/>
        </p:nvSpPr>
        <p:spPr>
          <a:xfrm>
            <a:off x="8997696" y="1444752"/>
            <a:ext cx="2761488" cy="566928"/>
          </a:xfrm>
          <a:prstGeom prst="roundRect">
            <a:avLst>
              <a:gd name="adj" fmla="val 16129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5E55AC64-6CCB-2860-6554-6F6775C6A216}"/>
              </a:ext>
            </a:extLst>
          </p:cNvPr>
          <p:cNvSpPr/>
          <p:nvPr/>
        </p:nvSpPr>
        <p:spPr>
          <a:xfrm>
            <a:off x="9034272" y="144475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 – 7 in. Production Casing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≥500 ft above Bara sand</a:t>
            </a:r>
            <a:endParaRPr lang="en-US" sz="95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C074260B-1109-9A2A-A3A0-F0640E0B6592}"/>
              </a:ext>
            </a:extLst>
          </p:cNvPr>
          <p:cNvSpPr/>
          <p:nvPr/>
        </p:nvSpPr>
        <p:spPr>
          <a:xfrm>
            <a:off x="411480" y="2121408"/>
            <a:ext cx="5623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4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Casing Objective: </a:t>
            </a:r>
            <a:r>
              <a:rPr lang="en-US" sz="9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shallow formations, protect groundwater zones, support the wellhead and establish a competent shoe for drilling the production section.</a:t>
            </a:r>
            <a:endParaRPr lang="en-US" sz="94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4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Casing Objective: </a:t>
            </a:r>
            <a:r>
              <a:rPr lang="en-US" sz="9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isolation across Bara Prima, prevent gas migration, and provide a competent sheath for selective perforation and the ESP completion.</a:t>
            </a:r>
            <a:endParaRPr lang="en-US" sz="94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1E10E5E2-6FD0-7228-0EB9-A0CD1F607298}"/>
              </a:ext>
            </a:extLst>
          </p:cNvPr>
          <p:cNvSpPr/>
          <p:nvPr/>
        </p:nvSpPr>
        <p:spPr>
          <a:xfrm>
            <a:off x="6263640" y="2121408"/>
            <a:ext cx="5623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4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 – Offset Experience: </a:t>
            </a:r>
            <a:r>
              <a:rPr lang="en-US" sz="9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Alpha Field wells recorded incomplete or absent cement return; others needed large excess volumes to reach surface.</a:t>
            </a:r>
            <a:endParaRPr lang="en-US" sz="94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4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Response: </a:t>
            </a:r>
            <a:r>
              <a:rPr lang="en-US" sz="9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is secured through excess-volume design, hole-volume verification and displacement </a:t>
            </a:r>
            <a:r>
              <a:rPr lang="en-US" sz="94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</a:t>
            </a:r>
            <a:r>
              <a:rPr lang="en-US" sz="94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9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theoretical gauge-hole volume alone.</a:t>
            </a:r>
            <a:endParaRPr lang="en-US" sz="94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FFEF4420-D336-2EC1-3977-2C6270FB3FB9}"/>
              </a:ext>
            </a:extLst>
          </p:cNvPr>
          <p:cNvSpPr/>
          <p:nvPr/>
        </p:nvSpPr>
        <p:spPr>
          <a:xfrm>
            <a:off x="283464" y="3154680"/>
            <a:ext cx="5806440" cy="3374136"/>
          </a:xfrm>
          <a:prstGeom prst="roundRect">
            <a:avLst>
              <a:gd name="adj" fmla="val 2168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1CB7EAFC-B299-38E7-F3B7-8F3A4EB18BE1}"/>
              </a:ext>
            </a:extLst>
          </p:cNvPr>
          <p:cNvSpPr/>
          <p:nvPr/>
        </p:nvSpPr>
        <p:spPr>
          <a:xfrm>
            <a:off x="283464" y="3154680"/>
            <a:ext cx="5806440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B4648A5B-FD03-8687-8056-14484DB46FE1}"/>
              </a:ext>
            </a:extLst>
          </p:cNvPr>
          <p:cNvSpPr/>
          <p:nvPr/>
        </p:nvSpPr>
        <p:spPr>
          <a:xfrm>
            <a:off x="338328" y="3154680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Slurry Property Limits (Table 8.2)</a:t>
            </a:r>
            <a:endParaRPr lang="en-US" sz="1150" dirty="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BE604EA9-F75F-F8FA-EB16-CEB2192B0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222099"/>
              </p:ext>
            </p:extLst>
          </p:nvPr>
        </p:nvGraphicFramePr>
        <p:xfrm>
          <a:off x="411480" y="3538728"/>
          <a:ext cx="5550408" cy="1321308"/>
        </p:xfrm>
        <a:graphic>
          <a:graphicData uri="http://schemas.openxmlformats.org/drawingml/2006/table">
            <a:tbl>
              <a:tblPr/>
              <a:tblGrid>
                <a:gridCol w="134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12-1/4" Lead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12-1/4" Tail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8-1/2" Lead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8-1/2" Tail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Density, ppg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≥12.5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15.8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≥12.5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15.8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Excess over theo.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150%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150%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200%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Thick. Time (70BC)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 hrs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 hrs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&lt;6 hrs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 hrs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Comp. Strength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psi ≤17h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 psi ≤7h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psi ≤20h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 psi ≤8h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24-hr Crush, psi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≥600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≥1,750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≥600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≥2,000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Fluid Loss, cc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&lt;300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&lt;100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&lt;150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&lt;100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BHCT / BHST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 °F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 °F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 °F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 °F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7" name="Text 19">
            <a:extLst>
              <a:ext uri="{FF2B5EF4-FFF2-40B4-BE49-F238E27FC236}">
                <a16:creationId xmlns:a16="http://schemas.microsoft.com/office/drawing/2014/main" id="{32472004-4A4A-F398-ADE2-F0B7BF82D432}"/>
              </a:ext>
            </a:extLst>
          </p:cNvPr>
          <p:cNvSpPr/>
          <p:nvPr/>
        </p:nvSpPr>
        <p:spPr>
          <a:xfrm>
            <a:off x="411480" y="5074920"/>
            <a:ext cx="5550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60" i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water target 0% and mud–spacer–cement compatibility required for all slurries. Values are reference laboratory design criteria — final blend confirmed by job-specific testing at actual BHCT/BHST.</a:t>
            </a:r>
            <a:endParaRPr lang="en-US" sz="86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A520D3C8-60AC-165E-4F99-346CE3F141E3}"/>
              </a:ext>
            </a:extLst>
          </p:cNvPr>
          <p:cNvSpPr/>
          <p:nvPr/>
        </p:nvSpPr>
        <p:spPr>
          <a:xfrm>
            <a:off x="6217920" y="3154680"/>
            <a:ext cx="5687568" cy="3065143"/>
          </a:xfrm>
          <a:prstGeom prst="roundRect">
            <a:avLst>
              <a:gd name="adj" fmla="val 2168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DFEC3B50-E69A-4520-E0A6-C6A94921F9E9}"/>
              </a:ext>
            </a:extLst>
          </p:cNvPr>
          <p:cNvSpPr/>
          <p:nvPr/>
        </p:nvSpPr>
        <p:spPr>
          <a:xfrm>
            <a:off x="6217920" y="3154680"/>
            <a:ext cx="5687568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81A49EE8-5A8E-EEBA-8F50-C220A20D0A1C}"/>
              </a:ext>
            </a:extLst>
          </p:cNvPr>
          <p:cNvSpPr/>
          <p:nvPr/>
        </p:nvSpPr>
        <p:spPr>
          <a:xfrm>
            <a:off x="6272784" y="31546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Strategy &amp; Displacement Efficiency</a:t>
            </a:r>
            <a:endParaRPr lang="en-US" sz="1150" dirty="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056C1086-804F-649F-1FB4-77FEAD1C2F0B}"/>
              </a:ext>
            </a:extLst>
          </p:cNvPr>
          <p:cNvSpPr/>
          <p:nvPr/>
        </p:nvSpPr>
        <p:spPr>
          <a:xfrm>
            <a:off x="6345936" y="3538728"/>
            <a:ext cx="1298448" cy="548640"/>
          </a:xfrm>
          <a:prstGeom prst="roundRect">
            <a:avLst>
              <a:gd name="adj" fmla="val 16667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BAC20745-E2EB-8598-970A-CF67E9468037}"/>
              </a:ext>
            </a:extLst>
          </p:cNvPr>
          <p:cNvSpPr/>
          <p:nvPr/>
        </p:nvSpPr>
        <p:spPr>
          <a:xfrm>
            <a:off x="6382512" y="3538728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Hole Conditioning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 Hole Vol.</a:t>
            </a:r>
            <a:endParaRPr lang="en-US" sz="900" dirty="0"/>
          </a:p>
        </p:txBody>
      </p:sp>
      <p:sp>
        <p:nvSpPr>
          <p:cNvPr id="49" name="Shape 25">
            <a:extLst>
              <a:ext uri="{FF2B5EF4-FFF2-40B4-BE49-F238E27FC236}">
                <a16:creationId xmlns:a16="http://schemas.microsoft.com/office/drawing/2014/main" id="{01A9122C-6455-A226-9B18-D050AD5C9E7D}"/>
              </a:ext>
            </a:extLst>
          </p:cNvPr>
          <p:cNvSpPr/>
          <p:nvPr/>
        </p:nvSpPr>
        <p:spPr>
          <a:xfrm>
            <a:off x="7726680" y="3538728"/>
            <a:ext cx="1298448" cy="548640"/>
          </a:xfrm>
          <a:prstGeom prst="roundRect">
            <a:avLst>
              <a:gd name="adj" fmla="val 16667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D109EC59-7990-045E-058B-51C950CFD189}"/>
              </a:ext>
            </a:extLst>
          </p:cNvPr>
          <p:cNvSpPr/>
          <p:nvPr/>
        </p:nvSpPr>
        <p:spPr>
          <a:xfrm>
            <a:off x="7763256" y="3538728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Spacer / Scavenger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 ppg</a:t>
            </a:r>
            <a:endParaRPr lang="en-US" sz="900" dirty="0"/>
          </a:p>
        </p:txBody>
      </p:sp>
      <p:sp>
        <p:nvSpPr>
          <p:cNvPr id="53" name="Shape 27">
            <a:extLst>
              <a:ext uri="{FF2B5EF4-FFF2-40B4-BE49-F238E27FC236}">
                <a16:creationId xmlns:a16="http://schemas.microsoft.com/office/drawing/2014/main" id="{C0842791-68E2-28FF-E71A-AABA67DA0EAF}"/>
              </a:ext>
            </a:extLst>
          </p:cNvPr>
          <p:cNvSpPr/>
          <p:nvPr/>
        </p:nvSpPr>
        <p:spPr>
          <a:xfrm>
            <a:off x="9107424" y="3538728"/>
            <a:ext cx="1298448" cy="548640"/>
          </a:xfrm>
          <a:prstGeom prst="roundRect">
            <a:avLst>
              <a:gd name="adj" fmla="val 16667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5" name="Text 28">
            <a:extLst>
              <a:ext uri="{FF2B5EF4-FFF2-40B4-BE49-F238E27FC236}">
                <a16:creationId xmlns:a16="http://schemas.microsoft.com/office/drawing/2014/main" id="{F82691F8-545A-AC10-F295-8E20CFA249D3}"/>
              </a:ext>
            </a:extLst>
          </p:cNvPr>
          <p:cNvSpPr/>
          <p:nvPr/>
        </p:nvSpPr>
        <p:spPr>
          <a:xfrm>
            <a:off x="9144000" y="3538728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Standoff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900" dirty="0"/>
          </a:p>
        </p:txBody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FB1E1FC7-8EA4-B8A2-8875-6A43434F0E65}"/>
              </a:ext>
            </a:extLst>
          </p:cNvPr>
          <p:cNvSpPr/>
          <p:nvPr/>
        </p:nvSpPr>
        <p:spPr>
          <a:xfrm>
            <a:off x="10488168" y="3538728"/>
            <a:ext cx="1298448" cy="548640"/>
          </a:xfrm>
          <a:prstGeom prst="roundRect">
            <a:avLst>
              <a:gd name="adj" fmla="val 16667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D18F859D-5447-8E2E-1168-827BBE36EEAC}"/>
              </a:ext>
            </a:extLst>
          </p:cNvPr>
          <p:cNvSpPr/>
          <p:nvPr/>
        </p:nvSpPr>
        <p:spPr>
          <a:xfrm>
            <a:off x="10524744" y="3538728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Bump Plug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+500 psi</a:t>
            </a:r>
            <a:endParaRPr lang="en-US" sz="900" dirty="0"/>
          </a:p>
        </p:txBody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716A0DDF-1CCD-0635-34C0-4DF98C66B7C3}"/>
              </a:ext>
            </a:extLst>
          </p:cNvPr>
          <p:cNvSpPr/>
          <p:nvPr/>
        </p:nvSpPr>
        <p:spPr>
          <a:xfrm>
            <a:off x="6345936" y="4206240"/>
            <a:ext cx="543153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 Removal: 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circulate ≈2 hole volumes after casing reaches setting depth; pump ≈40 bbl of 11.0 ppg scavenger at 4 bpm (≈10 min contact) ahead of cement.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Casing Movement: 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reciprocate ≈1–2 ft from conditioning through tail-slurry placement, where hole condition and equipment permit, to break preferential channels.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Centralisation: 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centraliser per 5 joints inside casing and 1 per 3 joints in open hole; minimum ≈67% standoff across critical isolation intervals.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Displacement: 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 ppg brine for the 7 in. job, with rate reduced near the end for controlled plug landing; shoe track ≈1.5% of displacement volume.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 Control &amp; Contingency: 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hydraulics must keep placement ECD below the limiting FG; lightweight cement + fiber retained as the loss-circulation contingency.</a:t>
            </a:r>
            <a:endParaRPr lang="en-US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891D2-DD32-F4F7-86B7-C24BC6E9CE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dirty="0"/>
              <a:t>| </a:t>
            </a:r>
            <a:fld id="{00000000-1234-1234-1234-12341234123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5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9EDD4F13-1C90-3F0C-8FDE-336B3E36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9284CD49-2853-E48C-4783-6E2DA005B9E5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SUMMARY &amp; VERIFICATION STATUS</a:t>
            </a:r>
            <a:endParaRPr lang="en-US" sz="3200" dirty="0"/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61434115-FC35-20EF-B283-1DDE94CB75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DC893EED-0F56-4120-EC5A-FBFE05590D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7B6960C3-4700-D363-9046-0C9C006AB2B7}"/>
              </a:ext>
            </a:extLst>
          </p:cNvPr>
          <p:cNvSpPr/>
          <p:nvPr/>
        </p:nvSpPr>
        <p:spPr>
          <a:xfrm>
            <a:off x="283464" y="1088136"/>
            <a:ext cx="1162202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26FD368E-2FF5-9968-53F1-738CC6A88DA3}"/>
              </a:ext>
            </a:extLst>
          </p:cNvPr>
          <p:cNvSpPr/>
          <p:nvPr/>
        </p:nvSpPr>
        <p:spPr>
          <a:xfrm>
            <a:off x="283464" y="1088136"/>
            <a:ext cx="11622024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D3AE48-EF57-264F-A3A4-DABE48CA5CE9}"/>
              </a:ext>
            </a:extLst>
          </p:cNvPr>
          <p:cNvSpPr/>
          <p:nvPr/>
        </p:nvSpPr>
        <p:spPr>
          <a:xfrm>
            <a:off x="338328" y="1088136"/>
            <a:ext cx="11512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Alpha-07 Casing, Tubing &amp; Cementing — Key Design Outcomes</a:t>
            </a:r>
            <a:endParaRPr lang="en-US" sz="11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9AAC76B-A4B7-CFE4-C7EC-42958941BAF7}"/>
              </a:ext>
            </a:extLst>
          </p:cNvPr>
          <p:cNvSpPr/>
          <p:nvPr/>
        </p:nvSpPr>
        <p:spPr>
          <a:xfrm>
            <a:off x="411480" y="1463040"/>
            <a:ext cx="2212848" cy="786384"/>
          </a:xfrm>
          <a:prstGeom prst="roundRect">
            <a:avLst>
              <a:gd name="adj" fmla="val 11628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586E74E-13F7-D91B-B542-4A076AEEDE36}"/>
              </a:ext>
            </a:extLst>
          </p:cNvPr>
          <p:cNvSpPr/>
          <p:nvPr/>
        </p:nvSpPr>
        <p:spPr>
          <a:xfrm>
            <a:off x="448056" y="1463040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Casing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9-5/8" K55 BTC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1,821 ftMD</a:t>
            </a:r>
            <a:endParaRPr lang="en-US" sz="9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FCA77907-64FD-2332-9C78-FF2393CA8FD4}"/>
              </a:ext>
            </a:extLst>
          </p:cNvPr>
          <p:cNvSpPr/>
          <p:nvPr/>
        </p:nvSpPr>
        <p:spPr>
          <a:xfrm>
            <a:off x="2743200" y="1463040"/>
            <a:ext cx="2212848" cy="786384"/>
          </a:xfrm>
          <a:prstGeom prst="roundRect">
            <a:avLst>
              <a:gd name="adj" fmla="val 11628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A6D9F09-8976-D378-9218-5412CD42ACCE}"/>
              </a:ext>
            </a:extLst>
          </p:cNvPr>
          <p:cNvSpPr/>
          <p:nvPr/>
        </p:nvSpPr>
        <p:spPr>
          <a:xfrm>
            <a:off x="2779776" y="1463040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Casing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7" K55 BTC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5,312 ftMD</a:t>
            </a:r>
            <a:endParaRPr lang="en-US" sz="95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E985FC0F-625B-88CC-4B9E-B342A81E3CE7}"/>
              </a:ext>
            </a:extLst>
          </p:cNvPr>
          <p:cNvSpPr/>
          <p:nvPr/>
        </p:nvSpPr>
        <p:spPr>
          <a:xfrm>
            <a:off x="5074920" y="1463040"/>
            <a:ext cx="2212848" cy="786384"/>
          </a:xfrm>
          <a:prstGeom prst="roundRect">
            <a:avLst>
              <a:gd name="adj" fmla="val 11628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78A2073C-DF8E-953E-7742-060AFBDFD089}"/>
              </a:ext>
            </a:extLst>
          </p:cNvPr>
          <p:cNvSpPr/>
          <p:nvPr/>
        </p:nvSpPr>
        <p:spPr>
          <a:xfrm>
            <a:off x="5111496" y="1463040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Tubing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3-1/2" J55 EUE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 Completion</a:t>
            </a:r>
            <a:endParaRPr lang="en-US" sz="95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78958BD6-B615-CF41-200D-ABA56B9E3373}"/>
              </a:ext>
            </a:extLst>
          </p:cNvPr>
          <p:cNvSpPr/>
          <p:nvPr/>
        </p:nvSpPr>
        <p:spPr>
          <a:xfrm>
            <a:off x="7406640" y="1463040"/>
            <a:ext cx="2212848" cy="786384"/>
          </a:xfrm>
          <a:prstGeom prst="roundRect">
            <a:avLst>
              <a:gd name="adj" fmla="val 11628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1CD0D568-3691-6B86-F4D0-233E2FA456E7}"/>
              </a:ext>
            </a:extLst>
          </p:cNvPr>
          <p:cNvSpPr/>
          <p:nvPr/>
        </p:nvSpPr>
        <p:spPr>
          <a:xfrm>
            <a:off x="7443216" y="1463040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 Tolerance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33.8 bbl vs 10 bbl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REQUIREMENT</a:t>
            </a:r>
            <a:endParaRPr lang="en-US" sz="950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06936C0C-4230-1B45-DEA3-FC1B917429E6}"/>
              </a:ext>
            </a:extLst>
          </p:cNvPr>
          <p:cNvSpPr/>
          <p:nvPr/>
        </p:nvSpPr>
        <p:spPr>
          <a:xfrm>
            <a:off x="9738360" y="1463040"/>
            <a:ext cx="2212848" cy="786384"/>
          </a:xfrm>
          <a:prstGeom prst="roundRect">
            <a:avLst>
              <a:gd name="adj" fmla="val 11628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862D2157-2FA4-91D6-9847-0F7BF081A17D}"/>
              </a:ext>
            </a:extLst>
          </p:cNvPr>
          <p:cNvSpPr/>
          <p:nvPr/>
        </p:nvSpPr>
        <p:spPr>
          <a:xfrm>
            <a:off x="9774936" y="1463040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Triaxial SF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1.90 / 1.41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1.25 required</a:t>
            </a:r>
            <a:endParaRPr lang="en-US" sz="95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E3060A46-AE1C-6D84-2EAA-B1978D2B7F48}"/>
              </a:ext>
            </a:extLst>
          </p:cNvPr>
          <p:cNvSpPr/>
          <p:nvPr/>
        </p:nvSpPr>
        <p:spPr>
          <a:xfrm>
            <a:off x="283464" y="2496312"/>
            <a:ext cx="580644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A0DC1115-B235-44DD-7150-42A9E6A4E90B}"/>
              </a:ext>
            </a:extLst>
          </p:cNvPr>
          <p:cNvSpPr/>
          <p:nvPr/>
        </p:nvSpPr>
        <p:spPr>
          <a:xfrm>
            <a:off x="283464" y="2496312"/>
            <a:ext cx="5806440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21274406-D02F-E1A0-84CE-852A35248DE2}"/>
              </a:ext>
            </a:extLst>
          </p:cNvPr>
          <p:cNvSpPr/>
          <p:nvPr/>
        </p:nvSpPr>
        <p:spPr>
          <a:xfrm>
            <a:off x="338328" y="2496312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Casing &amp; Tubing Design: Verification Status</a:t>
            </a:r>
            <a:endParaRPr lang="en-US" sz="1150" dirty="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3FD82C17-D7DB-EA79-C07A-AC55C9063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21010"/>
              </p:ext>
            </p:extLst>
          </p:nvPr>
        </p:nvGraphicFramePr>
        <p:xfrm>
          <a:off x="411480" y="2880360"/>
          <a:ext cx="5550408" cy="1178052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Criterion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 / Requirement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Casing Seat – Surface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Competent shale 1,550–1,650 ftTVDSS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Casing Seat –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deepest target + rat hole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Kick Tolerance @ Shoe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 bbl over 0–0.5 ppg KI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33.8 bbl – 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Burst / Collapse SF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≥1.10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both strings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Axial / Triaxial SF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≥1.25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both strings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BTC (csg) / EUE (tbg)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premium req.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" name="Shape 19">
            <a:extLst>
              <a:ext uri="{FF2B5EF4-FFF2-40B4-BE49-F238E27FC236}">
                <a16:creationId xmlns:a16="http://schemas.microsoft.com/office/drawing/2014/main" id="{235192A6-D5B6-00AE-2631-6165B5D838AF}"/>
              </a:ext>
            </a:extLst>
          </p:cNvPr>
          <p:cNvSpPr/>
          <p:nvPr/>
        </p:nvSpPr>
        <p:spPr>
          <a:xfrm>
            <a:off x="6217920" y="2496312"/>
            <a:ext cx="568756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D2936A89-D38B-9F26-DF40-0AE0810499BD}"/>
              </a:ext>
            </a:extLst>
          </p:cNvPr>
          <p:cNvSpPr/>
          <p:nvPr/>
        </p:nvSpPr>
        <p:spPr>
          <a:xfrm>
            <a:off x="6217920" y="2496312"/>
            <a:ext cx="5687568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5F5BB7AA-CF8C-CC36-35F0-439D63B71BBF}"/>
              </a:ext>
            </a:extLst>
          </p:cNvPr>
          <p:cNvSpPr/>
          <p:nvPr/>
        </p:nvSpPr>
        <p:spPr>
          <a:xfrm>
            <a:off x="6272784" y="24963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Cementing &amp; Zonal Isolation: Verification Status</a:t>
            </a:r>
            <a:endParaRPr lang="en-US" sz="1150" dirty="0"/>
          </a:p>
        </p:txBody>
      </p:sp>
      <p:graphicFrame>
        <p:nvGraphicFramePr>
          <p:cNvPr id="43" name="Table 1">
            <a:extLst>
              <a:ext uri="{FF2B5EF4-FFF2-40B4-BE49-F238E27FC236}">
                <a16:creationId xmlns:a16="http://schemas.microsoft.com/office/drawing/2014/main" id="{3BB8DD58-1977-71DC-66DF-0FBC4833B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066922"/>
              </p:ext>
            </p:extLst>
          </p:nvPr>
        </p:nvGraphicFramePr>
        <p:xfrm>
          <a:off x="6345936" y="2880360"/>
          <a:ext cx="5431536" cy="1178052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5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Criterion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 / Requirement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Cement System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G dual slurry, both strings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Slurry Density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≥12.5 ppg / Tail 15.8 ppg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TOC – Surface String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≥200 ft above casing shoe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TOC – Production String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≥500 ft above C sand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Displacement Efficiency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≥67% standoff, spacer + reciprocation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Contingency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LW cement + fiber, top-job available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5" name="Shape 22">
            <a:extLst>
              <a:ext uri="{FF2B5EF4-FFF2-40B4-BE49-F238E27FC236}">
                <a16:creationId xmlns:a16="http://schemas.microsoft.com/office/drawing/2014/main" id="{3BD178A7-40FE-FF02-419E-47C575B456BF}"/>
              </a:ext>
            </a:extLst>
          </p:cNvPr>
          <p:cNvSpPr/>
          <p:nvPr/>
        </p:nvSpPr>
        <p:spPr>
          <a:xfrm>
            <a:off x="283464" y="4480560"/>
            <a:ext cx="11622024" cy="1692269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6EDF90EC-EF9A-B308-7110-84AD45AE0029}"/>
              </a:ext>
            </a:extLst>
          </p:cNvPr>
          <p:cNvSpPr/>
          <p:nvPr/>
        </p:nvSpPr>
        <p:spPr>
          <a:xfrm>
            <a:off x="283464" y="4480560"/>
            <a:ext cx="11622024" cy="292608"/>
          </a:xfrm>
          <a:prstGeom prst="roundRect">
            <a:avLst>
              <a:gd name="adj" fmla="val 25000"/>
            </a:avLst>
          </a:prstGeom>
          <a:solidFill>
            <a:srgbClr val="DEEB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108C67C3-C7E8-FE0B-0144-E84DBD878960}"/>
              </a:ext>
            </a:extLst>
          </p:cNvPr>
          <p:cNvSpPr/>
          <p:nvPr/>
        </p:nvSpPr>
        <p:spPr>
          <a:xfrm>
            <a:off x="338328" y="4480560"/>
            <a:ext cx="11512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Maturity &amp; Next Steps</a:t>
            </a:r>
            <a:endParaRPr lang="en-US" sz="1150" dirty="0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18A8C97B-6640-2998-CF42-CB9750403559}"/>
              </a:ext>
            </a:extLst>
          </p:cNvPr>
          <p:cNvSpPr/>
          <p:nvPr/>
        </p:nvSpPr>
        <p:spPr>
          <a:xfrm>
            <a:off x="411480" y="4864608"/>
            <a:ext cx="56235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Status: </a:t>
            </a:r>
            <a:r>
              <a:rPr lang="en-US" sz="9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casing, tubing and cementing parameters presented here satisfy the minimum design criteria defined in the Alpha-07 Basis of Design.</a:t>
            </a:r>
            <a:endParaRPr lang="en-US" sz="9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Interfaces: </a:t>
            </a:r>
            <a:r>
              <a:rPr lang="en-US" sz="9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casing seat and kick tolerance are governed by the PPFG model (Section 3) and geomechanics (Section 6); cementing ECD is bounded by the hydraulics envelope (Section 7).</a:t>
            </a:r>
            <a:endParaRPr lang="en-US" sz="92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72888CDC-2DC1-7D86-0C84-4D81A4CA2049}"/>
              </a:ext>
            </a:extLst>
          </p:cNvPr>
          <p:cNvSpPr/>
          <p:nvPr/>
        </p:nvSpPr>
        <p:spPr>
          <a:xfrm>
            <a:off x="6263640" y="4864608"/>
            <a:ext cx="56235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Finalised in Detailed Engineering: </a:t>
            </a:r>
            <a:r>
              <a:rPr lang="en-US" sz="9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casing load-case run with the as-planned trajectory and PPFG; centraliser standoff simulation; job-specific cement laboratory testing at actual BHCT/BHST; and full cement placement hydraulics.</a:t>
            </a:r>
            <a:endParaRPr lang="en-US" sz="9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Acceptance: </a:t>
            </a:r>
            <a:r>
              <a:rPr lang="en-US" sz="9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calculated safety factors must remain above the specified minimum design factors.</a:t>
            </a:r>
            <a:endParaRPr lang="en-US" sz="9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E3EC9-DED0-B48C-09BC-EABF4177F8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55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06247AD-5E7C-B584-2134-0036401ED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5">
            <a:extLst>
              <a:ext uri="{FF2B5EF4-FFF2-40B4-BE49-F238E27FC236}">
                <a16:creationId xmlns:a16="http://schemas.microsoft.com/office/drawing/2014/main" id="{F7F5FA31-A697-9ADC-9A13-89FAC3EA2E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75" y="287290"/>
            <a:ext cx="11716269" cy="630408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>
            <a:extLst>
              <a:ext uri="{FF2B5EF4-FFF2-40B4-BE49-F238E27FC236}">
                <a16:creationId xmlns:a16="http://schemas.microsoft.com/office/drawing/2014/main" id="{273A3E78-2F15-109B-98DD-E383FF380AB1}"/>
              </a:ext>
            </a:extLst>
          </p:cNvPr>
          <p:cNvSpPr/>
          <p:nvPr/>
        </p:nvSpPr>
        <p:spPr>
          <a:xfrm>
            <a:off x="259075" y="2007908"/>
            <a:ext cx="11716269" cy="2780907"/>
          </a:xfrm>
          <a:prstGeom prst="rect">
            <a:avLst/>
          </a:prstGeom>
          <a:solidFill>
            <a:srgbClr val="365DA8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15">
            <a:extLst>
              <a:ext uri="{FF2B5EF4-FFF2-40B4-BE49-F238E27FC236}">
                <a16:creationId xmlns:a16="http://schemas.microsoft.com/office/drawing/2014/main" id="{8DA3C0EF-F4DF-CA7E-7C85-9751F73BB75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94907" y="2459920"/>
            <a:ext cx="11202186" cy="195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DRILLING FLUIDS &amp; HYDRAULICS</a:t>
            </a:r>
            <a:endParaRPr lang="en-US" dirty="0"/>
          </a:p>
        </p:txBody>
      </p:sp>
      <p:pic>
        <p:nvPicPr>
          <p:cNvPr id="344" name="Google Shape;344;p15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0EC25DA9-7B5E-E23D-761E-8573E12B795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5">
            <a:extLst>
              <a:ext uri="{FF2B5EF4-FFF2-40B4-BE49-F238E27FC236}">
                <a16:creationId xmlns:a16="http://schemas.microsoft.com/office/drawing/2014/main" id="{618054C6-A0B5-A2BD-89D9-77296267984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075" y="287290"/>
            <a:ext cx="1400175" cy="140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264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CB012D91-7938-8080-AD7C-7C09CA1ED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0DB5ADB4-FB93-9A85-7A24-995A38A77E02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MUD SYSTEM SELECTION &amp; MINIMUM RHEOLOGICAL PROPERTY REQUIREMENTS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EDE29371-4D67-081B-0045-C7D8B22A0B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0446A670-E6B6-72EE-3E9F-5AE8F64DBC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Google Shape;1775;g3faeadfb066_1_33">
            <a:extLst>
              <a:ext uri="{FF2B5EF4-FFF2-40B4-BE49-F238E27FC236}">
                <a16:creationId xmlns:a16="http://schemas.microsoft.com/office/drawing/2014/main" id="{8C032115-F891-22A0-4057-39C9DC0009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6413413"/>
              </p:ext>
            </p:extLst>
          </p:nvPr>
        </p:nvGraphicFramePr>
        <p:xfrm>
          <a:off x="516811" y="1124098"/>
          <a:ext cx="4334250" cy="28428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5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12-¼ in. hole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8-½ in. production hole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Mud System</a:t>
                      </a:r>
                      <a:endParaRPr sz="700"/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KCl-Polymer WBM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KCl-Polymer WBM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Planned MW</a:t>
                      </a:r>
                      <a:endParaRPr sz="700"/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8.7–9.0 ppg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9.0–9.8 ppg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Main Formation Behavior</a:t>
                      </a:r>
                      <a:endParaRPr sz="700"/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Upper shallow formation and shale interval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Shale and deeper reservoir sandstone intervals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Main Mud Function</a:t>
                      </a:r>
                      <a:endParaRPr sz="700"/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Shale inhibition, wellbore stability, and hole cleaning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Wellbore stability, pressure control, hole cleaning, and reservoir-section drilling</a:t>
                      </a:r>
                      <a:endParaRPr sz="700" dirty="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Main Drilling Risks</a:t>
                      </a:r>
                      <a:endParaRPr sz="700"/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Reactive clay, gumbo and surface leaking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Reactive clay, Sloughing, loss circulation during drilling and/or cementing, stuck pipe, differential sticking, logging stop, and casing stop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MW Selection Basis</a:t>
                      </a:r>
                      <a:endParaRPr sz="700"/>
                    </a:p>
                  </a:txBody>
                  <a:tcPr marL="68575" marR="6857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PP, wellbore stability, and applicable FG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PP, SFG, minimum applicable FG, and actual hole response</a:t>
                      </a:r>
                      <a:endParaRPr sz="700" dirty="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Google Shape;1776;g3faeadfb066_1_33">
            <a:extLst>
              <a:ext uri="{FF2B5EF4-FFF2-40B4-BE49-F238E27FC236}">
                <a16:creationId xmlns:a16="http://schemas.microsoft.com/office/drawing/2014/main" id="{BDECBE03-374E-BDD5-4DC6-09DD40F183C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811" y="4145436"/>
            <a:ext cx="4412077" cy="271256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81;g3faeadfb066_1_33">
            <a:extLst>
              <a:ext uri="{FF2B5EF4-FFF2-40B4-BE49-F238E27FC236}">
                <a16:creationId xmlns:a16="http://schemas.microsoft.com/office/drawing/2014/main" id="{747C9EE6-E7DF-9B76-EAC7-F1A90C86E00D}"/>
              </a:ext>
            </a:extLst>
          </p:cNvPr>
          <p:cNvSpPr/>
          <p:nvPr/>
        </p:nvSpPr>
        <p:spPr>
          <a:xfrm>
            <a:off x="5179289" y="4302992"/>
            <a:ext cx="6694800" cy="21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r>
              <a:rPr lang="en-US" sz="18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  <a:t>KCL-Polymer Water Based Mud (WBM) for both 12-¼ and 8 ½ section.</a:t>
            </a:r>
            <a:br>
              <a:rPr lang="en-US" sz="18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</a:br>
            <a:br>
              <a:rPr lang="en-US" sz="18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</a:br>
            <a:r>
              <a:rPr lang="en-US" sz="18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  <a:t>Maintained PV As Low As Practicable (ALAP),  Yield Point of that increasing effectively to lowest section, and KCL concentration at a minimum of 5%.</a:t>
            </a: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778;g3faeadfb066_1_33">
            <a:extLst>
              <a:ext uri="{FF2B5EF4-FFF2-40B4-BE49-F238E27FC236}">
                <a16:creationId xmlns:a16="http://schemas.microsoft.com/office/drawing/2014/main" id="{6F6BCD4C-D801-E7AF-9759-79D68319C7EF}"/>
              </a:ext>
            </a:extLst>
          </p:cNvPr>
          <p:cNvSpPr/>
          <p:nvPr/>
        </p:nvSpPr>
        <p:spPr>
          <a:xfrm>
            <a:off x="516811" y="899461"/>
            <a:ext cx="4337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endParaRPr sz="1000" i="1" dirty="0">
              <a:solidFill>
                <a:srgbClr val="6B7280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rgbClr val="6B7280"/>
                </a:solidFill>
              </a:rPr>
              <a:t>Table 7.1 Alpha-07 Drilling Fluid Design Criteria</a:t>
            </a:r>
            <a:endParaRPr sz="1000" i="1" dirty="0">
              <a:solidFill>
                <a:srgbClr val="6B7280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endParaRPr sz="1000" i="1" dirty="0">
              <a:solidFill>
                <a:srgbClr val="6B7280"/>
              </a:solidFill>
            </a:endParaRPr>
          </a:p>
        </p:txBody>
      </p:sp>
      <p:sp>
        <p:nvSpPr>
          <p:cNvPr id="13" name="Google Shape;1780;g3faeadfb066_1_33">
            <a:extLst>
              <a:ext uri="{FF2B5EF4-FFF2-40B4-BE49-F238E27FC236}">
                <a16:creationId xmlns:a16="http://schemas.microsoft.com/office/drawing/2014/main" id="{3AB5C7EE-FB01-346E-59CC-E75603372B4C}"/>
              </a:ext>
            </a:extLst>
          </p:cNvPr>
          <p:cNvSpPr/>
          <p:nvPr/>
        </p:nvSpPr>
        <p:spPr>
          <a:xfrm>
            <a:off x="6357989" y="912715"/>
            <a:ext cx="4337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endParaRPr sz="1000" i="1" dirty="0">
              <a:solidFill>
                <a:srgbClr val="6B7280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rgbClr val="6B7280"/>
                </a:solidFill>
              </a:rPr>
              <a:t>Table 7.2 Alpha-07 </a:t>
            </a:r>
            <a:r>
              <a:rPr lang="en-US" sz="1100" i="1" dirty="0">
                <a:solidFill>
                  <a:srgbClr val="6B7280"/>
                </a:solidFill>
              </a:rPr>
              <a:t>Minimum Rheological Property Requirements </a:t>
            </a:r>
            <a:endParaRPr sz="1000" i="1" dirty="0">
              <a:solidFill>
                <a:srgbClr val="6B7280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endParaRPr sz="1000" i="1" dirty="0">
              <a:solidFill>
                <a:srgbClr val="6B7280"/>
              </a:solidFill>
            </a:endParaRPr>
          </a:p>
        </p:txBody>
      </p:sp>
      <p:sp>
        <p:nvSpPr>
          <p:cNvPr id="15" name="Google Shape;1777;g3faeadfb066_1_33">
            <a:extLst>
              <a:ext uri="{FF2B5EF4-FFF2-40B4-BE49-F238E27FC236}">
                <a16:creationId xmlns:a16="http://schemas.microsoft.com/office/drawing/2014/main" id="{AC4A9A50-066E-108E-51F7-E0863802D6FE}"/>
              </a:ext>
            </a:extLst>
          </p:cNvPr>
          <p:cNvSpPr/>
          <p:nvPr/>
        </p:nvSpPr>
        <p:spPr>
          <a:xfrm>
            <a:off x="513661" y="3966950"/>
            <a:ext cx="43344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i="1" dirty="0">
              <a:solidFill>
                <a:srgbClr val="6B7280"/>
              </a:solidFill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i="1" dirty="0">
                <a:solidFill>
                  <a:srgbClr val="6B7280"/>
                </a:solidFill>
              </a:rPr>
              <a:t>Figure 7.1 Alpha-07 Drilling Fluid and Mud Weight Program</a:t>
            </a:r>
            <a:endParaRPr sz="1000" i="1" dirty="0">
              <a:solidFill>
                <a:srgbClr val="6B728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endParaRPr sz="1000" i="1" dirty="0">
              <a:solidFill>
                <a:srgbClr val="6B728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C8362-0AD0-C159-B519-3E6491A0CE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14" name="Google Shape;1779;g3faeadfb066_1_33">
            <a:extLst>
              <a:ext uri="{FF2B5EF4-FFF2-40B4-BE49-F238E27FC236}">
                <a16:creationId xmlns:a16="http://schemas.microsoft.com/office/drawing/2014/main" id="{51B6BCFD-436E-4253-828B-0A476642D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6208652"/>
              </p:ext>
            </p:extLst>
          </p:nvPr>
        </p:nvGraphicFramePr>
        <p:xfrm>
          <a:off x="5735214" y="1207824"/>
          <a:ext cx="5939975" cy="26943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4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sz="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</a:rPr>
                        <a:t>12-¼ in. hole</a:t>
                      </a:r>
                      <a:endParaRPr sz="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</a:rPr>
                        <a:t>8-½ in. production hole</a:t>
                      </a:r>
                      <a:endParaRPr sz="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/>
                        <a:t>Mud System</a:t>
                      </a:r>
                      <a:endParaRPr sz="600" dirty="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KCl-Polymer WBM</a:t>
                      </a:r>
                      <a:endParaRPr lang="en-ID" sz="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KCl-Polymer WBM</a:t>
                      </a:r>
                      <a:endParaRPr lang="en-ID" sz="6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/>
                        <a:t>MW Range</a:t>
                      </a:r>
                      <a:endParaRPr sz="6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8.7–9.0 ppg</a:t>
                      </a:r>
                      <a:endParaRPr lang="en-ID" sz="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9.0–9.8 ppg</a:t>
                      </a:r>
                      <a:endParaRPr lang="en-ID" sz="6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/>
                        <a:t>PV</a:t>
                      </a:r>
                      <a:endParaRPr sz="6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ALAP</a:t>
                      </a:r>
                      <a:endParaRPr lang="en-ID" sz="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ALAP</a:t>
                      </a:r>
                      <a:endParaRPr lang="en-ID" sz="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/>
                        <a:t>YP</a:t>
                      </a:r>
                      <a:endParaRPr sz="6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16–22 lb/100 ft²</a:t>
                      </a:r>
                      <a:endParaRPr lang="en-ID" sz="6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26–30 </a:t>
                      </a:r>
                      <a:r>
                        <a:rPr lang="en-US" sz="600" kern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lb</a:t>
                      </a:r>
                      <a:r>
                        <a:rPr lang="en-US" sz="6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/100 ft²</a:t>
                      </a:r>
                      <a:endParaRPr lang="en-ID" sz="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73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/>
                        <a:t>KCl Concentration</a:t>
                      </a:r>
                      <a:endParaRPr sz="6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5%</a:t>
                      </a:r>
                      <a:endParaRPr lang="en-ID" sz="6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5%</a:t>
                      </a:r>
                      <a:endParaRPr lang="en-ID" sz="6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/>
                        <a:t>LSRYP</a:t>
                      </a:r>
                      <a:endParaRPr sz="6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Not Specified</a:t>
                      </a:r>
                      <a:endParaRPr lang="en-ID" sz="6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 – 10</a:t>
                      </a:r>
                      <a:endParaRPr lang="en-ID" sz="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/>
                        <a:t>Max API Filtrate</a:t>
                      </a:r>
                      <a:endParaRPr sz="6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ID" sz="6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ID" sz="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/>
                        <a:t>Max MBT</a:t>
                      </a:r>
                      <a:endParaRPr sz="6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12.5</a:t>
                      </a:r>
                      <a:endParaRPr lang="en-ID" sz="6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12.5</a:t>
                      </a:r>
                      <a:endParaRPr lang="en-ID" sz="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/>
                        <a:t>Shaker Screen</a:t>
                      </a:r>
                      <a:endParaRPr sz="6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80–140 </a:t>
                      </a:r>
                      <a:endParaRPr lang="en-ID" sz="6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140–200</a:t>
                      </a:r>
                      <a:endParaRPr lang="en-ID" sz="6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38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5BB5CE6D-87B3-88E9-156E-D4C86BD1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AE085729-6CAE-09E1-D1FD-8B7D6A18A179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EQUIVALENT CIRCULATING DENSITY (ECD) LIMITS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CA4AC0CD-C92C-3254-A992-8667B035A4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28F25A4C-5BA9-17FB-5A4C-313798BF8B4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793;g3f40c88c046_0_0">
            <a:extLst>
              <a:ext uri="{FF2B5EF4-FFF2-40B4-BE49-F238E27FC236}">
                <a16:creationId xmlns:a16="http://schemas.microsoft.com/office/drawing/2014/main" id="{25A7A99D-7DE8-EDD8-9DD2-984066C61D6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94" y="1046375"/>
            <a:ext cx="3269593" cy="256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797;g3f40c88c046_0_0">
            <a:extLst>
              <a:ext uri="{FF2B5EF4-FFF2-40B4-BE49-F238E27FC236}">
                <a16:creationId xmlns:a16="http://schemas.microsoft.com/office/drawing/2014/main" id="{1B486BDD-98A2-E4C6-0B56-162E06D3E8B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94" y="3944119"/>
            <a:ext cx="3269600" cy="25712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94;g3f40c88c046_0_0">
            <a:extLst>
              <a:ext uri="{FF2B5EF4-FFF2-40B4-BE49-F238E27FC236}">
                <a16:creationId xmlns:a16="http://schemas.microsoft.com/office/drawing/2014/main" id="{E3112BAD-0303-136E-000C-200A7C66A9E3}"/>
              </a:ext>
            </a:extLst>
          </p:cNvPr>
          <p:cNvSpPr/>
          <p:nvPr/>
        </p:nvSpPr>
        <p:spPr>
          <a:xfrm>
            <a:off x="781037" y="3606800"/>
            <a:ext cx="18255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  <a:latin typeface="+mj-lt"/>
              </a:rPr>
              <a:t>ECD versus Flow Rate 12-1/4” Hole</a:t>
            </a:r>
            <a:endParaRPr sz="600" b="1" i="1" dirty="0">
              <a:solidFill>
                <a:srgbClr val="6B7280"/>
              </a:solidFill>
              <a:latin typeface="+mj-l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  <a:latin typeface="+mj-lt"/>
              </a:rPr>
              <a:t>Max ECD is 9.29 ppg with Flow Rate 900 </a:t>
            </a:r>
            <a:r>
              <a:rPr lang="en-US" sz="600" b="1" i="1" dirty="0" err="1">
                <a:solidFill>
                  <a:srgbClr val="6B7280"/>
                </a:solidFill>
                <a:latin typeface="+mj-lt"/>
              </a:rPr>
              <a:t>gpm</a:t>
            </a:r>
            <a:endParaRPr sz="600" b="1" i="1" dirty="0">
              <a:solidFill>
                <a:srgbClr val="6B7280"/>
              </a:solidFill>
              <a:latin typeface="+mj-lt"/>
            </a:endParaRPr>
          </a:p>
        </p:txBody>
      </p:sp>
      <p:sp>
        <p:nvSpPr>
          <p:cNvPr id="8" name="Google Shape;1798;g3f40c88c046_0_0">
            <a:extLst>
              <a:ext uri="{FF2B5EF4-FFF2-40B4-BE49-F238E27FC236}">
                <a16:creationId xmlns:a16="http://schemas.microsoft.com/office/drawing/2014/main" id="{6C479FA8-A6DF-1BC5-AFED-CE3A35E58C8A}"/>
              </a:ext>
            </a:extLst>
          </p:cNvPr>
          <p:cNvSpPr/>
          <p:nvPr/>
        </p:nvSpPr>
        <p:spPr>
          <a:xfrm>
            <a:off x="781037" y="6515414"/>
            <a:ext cx="1825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  <a:latin typeface="+mj-l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  <a:latin typeface="+mj-lt"/>
              </a:rPr>
              <a:t>SPP versus Flow Rate 12-1/4” Hole</a:t>
            </a:r>
            <a:endParaRPr sz="600" b="1" i="1" dirty="0">
              <a:solidFill>
                <a:srgbClr val="6B7280"/>
              </a:solidFill>
              <a:latin typeface="+mj-l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  <a:latin typeface="+mj-lt"/>
              </a:rPr>
              <a:t>Max SPP is 2254.89 psi with Flow Rate 900 </a:t>
            </a:r>
            <a:r>
              <a:rPr lang="en-US" sz="600" b="1" i="1" dirty="0" err="1">
                <a:solidFill>
                  <a:srgbClr val="6B7280"/>
                </a:solidFill>
                <a:latin typeface="+mj-lt"/>
              </a:rPr>
              <a:t>gpm</a:t>
            </a:r>
            <a:r>
              <a:rPr lang="en-US" sz="600" b="1" i="1" dirty="0">
                <a:solidFill>
                  <a:srgbClr val="6B7280"/>
                </a:solidFill>
                <a:latin typeface="+mj-lt"/>
              </a:rPr>
              <a:t> (Still below with Max PRV 6” Liner at 2900 psi)</a:t>
            </a:r>
            <a:endParaRPr sz="600" b="1" i="1" dirty="0">
              <a:solidFill>
                <a:srgbClr val="6B7280"/>
              </a:solidFill>
              <a:latin typeface="+mj-l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  <a:latin typeface="+mj-lt"/>
            </a:endParaRPr>
          </a:p>
        </p:txBody>
      </p:sp>
      <p:pic>
        <p:nvPicPr>
          <p:cNvPr id="10" name="Google Shape;1796;g3f40c88c046_0_0">
            <a:extLst>
              <a:ext uri="{FF2B5EF4-FFF2-40B4-BE49-F238E27FC236}">
                <a16:creationId xmlns:a16="http://schemas.microsoft.com/office/drawing/2014/main" id="{D8DD1E57-6DCC-62BA-6FB3-B3C49632CC66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73789" y="1046375"/>
            <a:ext cx="3398251" cy="25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795;g3f40c88c046_0_0">
            <a:extLst>
              <a:ext uri="{FF2B5EF4-FFF2-40B4-BE49-F238E27FC236}">
                <a16:creationId xmlns:a16="http://schemas.microsoft.com/office/drawing/2014/main" id="{67FDB9E4-9E3E-0011-4061-EED6C5CB107A}"/>
              </a:ext>
            </a:extLst>
          </p:cNvPr>
          <p:cNvSpPr/>
          <p:nvPr/>
        </p:nvSpPr>
        <p:spPr>
          <a:xfrm>
            <a:off x="4260164" y="3606800"/>
            <a:ext cx="18255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  <a:latin typeface="+mj-l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  <a:latin typeface="+mj-lt"/>
              </a:rPr>
              <a:t>ECD versus Flow Rate 8-1/2” Hole</a:t>
            </a:r>
            <a:endParaRPr sz="600" b="1" i="1" dirty="0">
              <a:solidFill>
                <a:srgbClr val="6B7280"/>
              </a:solidFill>
              <a:latin typeface="+mj-l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  <a:latin typeface="+mj-lt"/>
              </a:rPr>
              <a:t>Max ECD is 10.64 ppg with Flow Rate 600 </a:t>
            </a:r>
            <a:r>
              <a:rPr lang="en-US" sz="600" b="1" i="1" dirty="0" err="1">
                <a:solidFill>
                  <a:srgbClr val="6B7280"/>
                </a:solidFill>
                <a:latin typeface="+mj-lt"/>
              </a:rPr>
              <a:t>gpm</a:t>
            </a:r>
            <a:endParaRPr sz="600" b="1" i="1" dirty="0">
              <a:solidFill>
                <a:srgbClr val="6B7280"/>
              </a:solidFill>
              <a:latin typeface="+mj-l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  <a:latin typeface="+mj-lt"/>
            </a:endParaRPr>
          </a:p>
        </p:txBody>
      </p:sp>
      <p:pic>
        <p:nvPicPr>
          <p:cNvPr id="18" name="Google Shape;1799;g3f40c88c046_0_0">
            <a:extLst>
              <a:ext uri="{FF2B5EF4-FFF2-40B4-BE49-F238E27FC236}">
                <a16:creationId xmlns:a16="http://schemas.microsoft.com/office/drawing/2014/main" id="{9F402DB6-4879-EE92-82A4-93EF1ED6B202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73789" y="3944119"/>
            <a:ext cx="3398250" cy="258337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800;g3f40c88c046_0_0">
            <a:extLst>
              <a:ext uri="{FF2B5EF4-FFF2-40B4-BE49-F238E27FC236}">
                <a16:creationId xmlns:a16="http://schemas.microsoft.com/office/drawing/2014/main" id="{4E30A117-B9E1-B79E-139F-79E6EE098541}"/>
              </a:ext>
            </a:extLst>
          </p:cNvPr>
          <p:cNvSpPr/>
          <p:nvPr/>
        </p:nvSpPr>
        <p:spPr>
          <a:xfrm>
            <a:off x="4260164" y="6515414"/>
            <a:ext cx="1825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  <a:latin typeface="+mj-l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  <a:latin typeface="+mj-lt"/>
              </a:rPr>
              <a:t>SPP  versus Flow Rate 8-1/2” Hole</a:t>
            </a:r>
            <a:endParaRPr sz="600" b="1" i="1" dirty="0">
              <a:solidFill>
                <a:srgbClr val="6B7280"/>
              </a:solidFill>
              <a:latin typeface="+mj-l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  <a:latin typeface="+mj-lt"/>
              </a:rPr>
              <a:t>Max SPP is 2052.43 psi with Flow Rate 600 </a:t>
            </a:r>
            <a:r>
              <a:rPr lang="en-US" sz="600" b="1" i="1" dirty="0" err="1">
                <a:solidFill>
                  <a:srgbClr val="6B7280"/>
                </a:solidFill>
                <a:latin typeface="+mj-lt"/>
              </a:rPr>
              <a:t>gpm</a:t>
            </a:r>
            <a:r>
              <a:rPr lang="en-US" sz="600" b="1" i="1" dirty="0">
                <a:solidFill>
                  <a:srgbClr val="6B7280"/>
                </a:solidFill>
                <a:latin typeface="+mj-lt"/>
              </a:rPr>
              <a:t> (Still below with Max PRV 6” Liner at 2900 psi)</a:t>
            </a:r>
            <a:endParaRPr sz="600" b="1" i="1" dirty="0">
              <a:solidFill>
                <a:srgbClr val="6B7280"/>
              </a:solidFill>
              <a:latin typeface="+mj-l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  <a:latin typeface="+mj-lt"/>
            </a:endParaRPr>
          </a:p>
        </p:txBody>
      </p:sp>
      <p:graphicFrame>
        <p:nvGraphicFramePr>
          <p:cNvPr id="22" name="Google Shape;1791;g3f40c88c046_0_0">
            <a:extLst>
              <a:ext uri="{FF2B5EF4-FFF2-40B4-BE49-F238E27FC236}">
                <a16:creationId xmlns:a16="http://schemas.microsoft.com/office/drawing/2014/main" id="{83856F21-D78D-5E88-A7FC-7BD995E836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7583547"/>
              </p:ext>
            </p:extLst>
          </p:nvPr>
        </p:nvGraphicFramePr>
        <p:xfrm>
          <a:off x="7529681" y="1466013"/>
          <a:ext cx="4084650" cy="27222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Design Criterion</a:t>
                      </a: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Static MW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Within approved Alpha-07 MW window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ECD at Bit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Below applicable FG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ECD at Shoe / Weak Interval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Below applicable formation integrity limit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SPP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Within allowable surface equipment and BHA pressure limits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Operating Flow Rate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Within both ECD and SPP operating envelope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Annular Pressure Loss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Considered in ECD calculation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System Pressure Loss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Considered in SPP calculation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Hydraulic Monitoring</a:t>
                      </a:r>
                      <a:endParaRPr sz="70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SPP, ECD, flow rate, MW and rheology</a:t>
                      </a:r>
                      <a:endParaRPr sz="700" dirty="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" name="Google Shape;1792;g3f40c88c046_0_0">
            <a:extLst>
              <a:ext uri="{FF2B5EF4-FFF2-40B4-BE49-F238E27FC236}">
                <a16:creationId xmlns:a16="http://schemas.microsoft.com/office/drawing/2014/main" id="{9CE213AD-F9EF-4EB1-C3CB-049DAAC42467}"/>
              </a:ext>
            </a:extLst>
          </p:cNvPr>
          <p:cNvSpPr/>
          <p:nvPr/>
        </p:nvSpPr>
        <p:spPr>
          <a:xfrm>
            <a:off x="7529681" y="1200685"/>
            <a:ext cx="4084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rgbClr val="6B7280"/>
                </a:solidFill>
                <a:latin typeface="+mj-lt"/>
              </a:rPr>
              <a:t>Table 7.3 Alpha-07 ECD Design Criteria</a:t>
            </a:r>
            <a:endParaRPr sz="1000" i="1" dirty="0">
              <a:solidFill>
                <a:srgbClr val="6B7280"/>
              </a:solidFill>
              <a:latin typeface="+mj-lt"/>
            </a:endParaRPr>
          </a:p>
        </p:txBody>
      </p:sp>
      <p:sp>
        <p:nvSpPr>
          <p:cNvPr id="26" name="Google Shape;1801;g3f40c88c046_0_0">
            <a:extLst>
              <a:ext uri="{FF2B5EF4-FFF2-40B4-BE49-F238E27FC236}">
                <a16:creationId xmlns:a16="http://schemas.microsoft.com/office/drawing/2014/main" id="{2280CB0B-1A6F-4A44-37E4-C6836AE5408E}"/>
              </a:ext>
            </a:extLst>
          </p:cNvPr>
          <p:cNvSpPr/>
          <p:nvPr/>
        </p:nvSpPr>
        <p:spPr>
          <a:xfrm>
            <a:off x="7529681" y="4492576"/>
            <a:ext cx="39039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r>
              <a:rPr lang="en-US" sz="11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  <a:t>Design Criteria : </a:t>
            </a:r>
            <a:endParaRPr sz="1100" b="1" dirty="0">
              <a:solidFill>
                <a:srgbClr val="12284B"/>
              </a:solidFill>
              <a:latin typeface="+mj-lt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r>
              <a:rPr lang="en-US" sz="11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  <a:t>ECD Operating &lt; FG Limiting</a:t>
            </a:r>
            <a:endParaRPr sz="1100" b="1" dirty="0">
              <a:solidFill>
                <a:srgbClr val="12284B"/>
              </a:solidFill>
              <a:latin typeface="+mj-lt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endParaRPr sz="1100" b="1" dirty="0">
              <a:solidFill>
                <a:srgbClr val="12284B"/>
              </a:solidFill>
              <a:latin typeface="+mj-lt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r>
              <a:rPr lang="en-US" sz="11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  <a:t>with adequate operations margin maintained for expected operation  variations</a:t>
            </a:r>
            <a:endParaRPr sz="1100" b="1" dirty="0">
              <a:solidFill>
                <a:srgbClr val="12284B"/>
              </a:solidFill>
              <a:latin typeface="+mj-lt"/>
              <a:ea typeface="Cambria"/>
              <a:cs typeface="Cambria"/>
              <a:sym typeface="Cambri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BB7F97-4B6F-5003-829D-6CF44CDEB9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" name="Google Shape;1793;g3f40c88c046_0_0">
            <a:extLst>
              <a:ext uri="{FF2B5EF4-FFF2-40B4-BE49-F238E27FC236}">
                <a16:creationId xmlns:a16="http://schemas.microsoft.com/office/drawing/2014/main" id="{2B122D78-C876-8DF6-0117-83C39A8D6E2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063594"/>
            <a:ext cx="3269593" cy="2560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616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685D49E5-9271-188E-D22B-1780AFC7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EEA5F682-0009-B896-07F1-84BEACDDE2C8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HOLE CLEANING REQUIREMENTS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B0C3A5CA-9C7F-0C88-F3CF-5AB3CA80CA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EFE289A8-13BE-DEA6-0603-3C720137985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817;g3f40c88c046_0_70">
            <a:extLst>
              <a:ext uri="{FF2B5EF4-FFF2-40B4-BE49-F238E27FC236}">
                <a16:creationId xmlns:a16="http://schemas.microsoft.com/office/drawing/2014/main" id="{87D77421-C311-CD7F-5073-3AC8A8DE996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93" y="1046375"/>
            <a:ext cx="3269601" cy="255717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11;g3f40c88c046_0_70">
            <a:extLst>
              <a:ext uri="{FF2B5EF4-FFF2-40B4-BE49-F238E27FC236}">
                <a16:creationId xmlns:a16="http://schemas.microsoft.com/office/drawing/2014/main" id="{D98CB92B-B0C8-6B8A-2AE4-EFC7576F1A61}"/>
              </a:ext>
            </a:extLst>
          </p:cNvPr>
          <p:cNvSpPr/>
          <p:nvPr/>
        </p:nvSpPr>
        <p:spPr>
          <a:xfrm>
            <a:off x="465082" y="3599845"/>
            <a:ext cx="2457419" cy="20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dirty="0">
              <a:solidFill>
                <a:srgbClr val="6B728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dirty="0">
              <a:solidFill>
                <a:srgbClr val="6B728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</a:rPr>
              <a:t>Minimum Flow Rate versus Depth 12-1/4 in. Hole</a:t>
            </a:r>
            <a:endParaRPr sz="600" b="1" i="1" dirty="0">
              <a:solidFill>
                <a:srgbClr val="6B728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</a:rPr>
              <a:t>Minimum flow rate to clean out around 520.7 </a:t>
            </a:r>
            <a:r>
              <a:rPr lang="en-US" sz="600" b="1" i="1" dirty="0" err="1">
                <a:solidFill>
                  <a:srgbClr val="6B7280"/>
                </a:solidFill>
              </a:rPr>
              <a:t>gpm</a:t>
            </a:r>
            <a:r>
              <a:rPr lang="en-US" sz="600" b="1" i="1" dirty="0">
                <a:solidFill>
                  <a:srgbClr val="6B7280"/>
                </a:solidFill>
              </a:rPr>
              <a:t> with MW 9.0 ppg</a:t>
            </a:r>
            <a:endParaRPr sz="600" b="1" i="1" dirty="0">
              <a:solidFill>
                <a:srgbClr val="6B728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</a:endParaRPr>
          </a:p>
        </p:txBody>
      </p:sp>
      <p:pic>
        <p:nvPicPr>
          <p:cNvPr id="9" name="Google Shape;1819;g3f40c88c046_0_70">
            <a:extLst>
              <a:ext uri="{FF2B5EF4-FFF2-40B4-BE49-F238E27FC236}">
                <a16:creationId xmlns:a16="http://schemas.microsoft.com/office/drawing/2014/main" id="{6CE11F64-D7AB-44E3-B996-E94C3E8D52D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63" y="3982525"/>
            <a:ext cx="3340255" cy="25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813;g3f40c88c046_0_70">
            <a:extLst>
              <a:ext uri="{FF2B5EF4-FFF2-40B4-BE49-F238E27FC236}">
                <a16:creationId xmlns:a16="http://schemas.microsoft.com/office/drawing/2014/main" id="{61011C41-6201-096A-FA8A-FEFD774D9944}"/>
              </a:ext>
            </a:extLst>
          </p:cNvPr>
          <p:cNvSpPr/>
          <p:nvPr/>
        </p:nvSpPr>
        <p:spPr>
          <a:xfrm>
            <a:off x="445608" y="6446141"/>
            <a:ext cx="2496364" cy="24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</a:rPr>
              <a:t>Minimum Flow Rate versus Depth 8-1/2 in. Hole</a:t>
            </a:r>
            <a:br>
              <a:rPr lang="en-US" sz="600" b="1" i="1" dirty="0">
                <a:solidFill>
                  <a:srgbClr val="6B7280"/>
                </a:solidFill>
              </a:rPr>
            </a:br>
            <a:r>
              <a:rPr lang="en-US" sz="600" b="1" i="1" dirty="0">
                <a:solidFill>
                  <a:srgbClr val="6B7280"/>
                </a:solidFill>
              </a:rPr>
              <a:t>Minimum flow rate to clean out around 267.9 </a:t>
            </a:r>
            <a:r>
              <a:rPr lang="en-US" sz="600" b="1" i="1" dirty="0" err="1">
                <a:solidFill>
                  <a:srgbClr val="6B7280"/>
                </a:solidFill>
              </a:rPr>
              <a:t>gpm</a:t>
            </a:r>
            <a:r>
              <a:rPr lang="en-US" sz="600" b="1" i="1" dirty="0">
                <a:solidFill>
                  <a:srgbClr val="6B7280"/>
                </a:solidFill>
              </a:rPr>
              <a:t> with MW 9.8 ppg </a:t>
            </a:r>
            <a:endParaRPr sz="600" b="1" i="1" dirty="0">
              <a:solidFill>
                <a:srgbClr val="6B7280"/>
              </a:solidFill>
            </a:endParaRPr>
          </a:p>
        </p:txBody>
      </p:sp>
      <p:pic>
        <p:nvPicPr>
          <p:cNvPr id="15" name="Google Shape;1818;g3f40c88c046_0_70">
            <a:extLst>
              <a:ext uri="{FF2B5EF4-FFF2-40B4-BE49-F238E27FC236}">
                <a16:creationId xmlns:a16="http://schemas.microsoft.com/office/drawing/2014/main" id="{0FA44721-F0EA-048C-D40F-93FA766DDAA2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02650" y="1074418"/>
            <a:ext cx="3166925" cy="2501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812;g3f40c88c046_0_70">
            <a:extLst>
              <a:ext uri="{FF2B5EF4-FFF2-40B4-BE49-F238E27FC236}">
                <a16:creationId xmlns:a16="http://schemas.microsoft.com/office/drawing/2014/main" id="{3FC71C44-2689-82E2-476C-D4804F2BB69F}"/>
              </a:ext>
            </a:extLst>
          </p:cNvPr>
          <p:cNvSpPr/>
          <p:nvPr/>
        </p:nvSpPr>
        <p:spPr>
          <a:xfrm>
            <a:off x="4059419" y="3618857"/>
            <a:ext cx="2453385" cy="189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</a:rPr>
              <a:t>Minimum Flow Rate versus ROP 12-1/4 in. Hole</a:t>
            </a:r>
            <a:br>
              <a:rPr lang="en-US" sz="600" b="1" i="1" dirty="0">
                <a:solidFill>
                  <a:srgbClr val="6B7280"/>
                </a:solidFill>
              </a:rPr>
            </a:br>
            <a:r>
              <a:rPr lang="en-US" sz="600" b="1" i="1" dirty="0">
                <a:solidFill>
                  <a:srgbClr val="6B7280"/>
                </a:solidFill>
              </a:rPr>
              <a:t>Minimum flow rate to clean out around 520.7 </a:t>
            </a:r>
            <a:r>
              <a:rPr lang="en-US" sz="600" b="1" i="1" dirty="0" err="1">
                <a:solidFill>
                  <a:srgbClr val="6B7280"/>
                </a:solidFill>
              </a:rPr>
              <a:t>gpm</a:t>
            </a:r>
            <a:r>
              <a:rPr lang="en-US" sz="600" b="1" i="1" dirty="0">
                <a:solidFill>
                  <a:srgbClr val="6B7280"/>
                </a:solidFill>
              </a:rPr>
              <a:t> with ROP 100 </a:t>
            </a:r>
            <a:r>
              <a:rPr lang="en-US" sz="600" b="1" i="1" dirty="0" err="1">
                <a:solidFill>
                  <a:srgbClr val="6B7280"/>
                </a:solidFill>
              </a:rPr>
              <a:t>fph</a:t>
            </a:r>
            <a:r>
              <a:rPr lang="en-US" sz="600" b="1" i="1" dirty="0">
                <a:solidFill>
                  <a:srgbClr val="6B7280"/>
                </a:solidFill>
              </a:rPr>
              <a:t> </a:t>
            </a:r>
            <a:endParaRPr sz="600" b="1" i="1" dirty="0">
              <a:solidFill>
                <a:srgbClr val="6B7280"/>
              </a:solidFill>
            </a:endParaRPr>
          </a:p>
        </p:txBody>
      </p:sp>
      <p:sp>
        <p:nvSpPr>
          <p:cNvPr id="19" name="Google Shape;1814;g3f40c88c046_0_70">
            <a:extLst>
              <a:ext uri="{FF2B5EF4-FFF2-40B4-BE49-F238E27FC236}">
                <a16:creationId xmlns:a16="http://schemas.microsoft.com/office/drawing/2014/main" id="{3FDE1FF5-08AA-F389-6E24-D2FC7A22FE56}"/>
              </a:ext>
            </a:extLst>
          </p:cNvPr>
          <p:cNvSpPr/>
          <p:nvPr/>
        </p:nvSpPr>
        <p:spPr>
          <a:xfrm>
            <a:off x="3999190" y="6437220"/>
            <a:ext cx="2573837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</a:rPr>
              <a:t>Minimum Flow Rate versus ROP 8-1/2 in. Hole</a:t>
            </a:r>
            <a:endParaRPr sz="600" b="1" i="1" dirty="0">
              <a:solidFill>
                <a:srgbClr val="6B728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" b="1" i="1" dirty="0">
                <a:solidFill>
                  <a:srgbClr val="6B7280"/>
                </a:solidFill>
              </a:rPr>
              <a:t>Minimum flow rate to clean out around 267.9 </a:t>
            </a:r>
            <a:r>
              <a:rPr lang="en-US" sz="600" b="1" i="1" dirty="0" err="1">
                <a:solidFill>
                  <a:srgbClr val="6B7280"/>
                </a:solidFill>
              </a:rPr>
              <a:t>gpm</a:t>
            </a:r>
            <a:r>
              <a:rPr lang="en-US" sz="600" b="1" i="1" dirty="0">
                <a:solidFill>
                  <a:srgbClr val="6B7280"/>
                </a:solidFill>
              </a:rPr>
              <a:t> with ROP 100 </a:t>
            </a:r>
            <a:r>
              <a:rPr lang="en-US" sz="600" b="1" i="1" dirty="0" err="1">
                <a:solidFill>
                  <a:srgbClr val="6B7280"/>
                </a:solidFill>
              </a:rPr>
              <a:t>fph</a:t>
            </a:r>
            <a:endParaRPr sz="600" b="1" i="1" dirty="0">
              <a:solidFill>
                <a:srgbClr val="6B728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 i="1" dirty="0">
              <a:solidFill>
                <a:srgbClr val="6B7280"/>
              </a:solidFill>
            </a:endParaRPr>
          </a:p>
        </p:txBody>
      </p:sp>
      <p:pic>
        <p:nvPicPr>
          <p:cNvPr id="21" name="Google Shape;1820;g3f40c88c046_0_70">
            <a:extLst>
              <a:ext uri="{FF2B5EF4-FFF2-40B4-BE49-F238E27FC236}">
                <a16:creationId xmlns:a16="http://schemas.microsoft.com/office/drawing/2014/main" id="{71DD4495-79F6-B328-5504-FCC6106C44C6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02647" y="3982525"/>
            <a:ext cx="3166925" cy="2501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" name="Google Shape;1821;g3f40c88c046_0_70">
            <a:extLst>
              <a:ext uri="{FF2B5EF4-FFF2-40B4-BE49-F238E27FC236}">
                <a16:creationId xmlns:a16="http://schemas.microsoft.com/office/drawing/2014/main" id="{DF841CAC-0A87-ED2E-F749-BBE481399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8410642"/>
              </p:ext>
            </p:extLst>
          </p:nvPr>
        </p:nvGraphicFramePr>
        <p:xfrm>
          <a:off x="7496331" y="1220393"/>
          <a:ext cx="4151350" cy="34596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0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12-¼ in. hole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8-½ in. production hole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Hole Size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/>
                        <a:t>12-1/4 in.</a:t>
                      </a:r>
                      <a:endParaRPr sz="700" b="1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/>
                        <a:t>8-1/2 in.</a:t>
                      </a:r>
                      <a:endParaRPr sz="700" b="1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Trajectory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Build + Tangent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Tangent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Maximum Inclination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/>
                        <a:t>~30.41°</a:t>
                      </a:r>
                      <a:endParaRPr sz="700" b="1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/>
                        <a:t>~30.41°</a:t>
                      </a:r>
                      <a:endParaRPr sz="700" b="1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MW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/>
                        <a:t>8.7–9.0 ppg</a:t>
                      </a:r>
                      <a:endParaRPr sz="700" b="1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/>
                        <a:t>9.0–9.8 ppg</a:t>
                      </a:r>
                      <a:endParaRPr sz="700" b="1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Cutting’s diameter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0.190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0.250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Cutting’s density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1.9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2.2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Design ROP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100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100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RPM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40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90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Minimum Flow Rate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 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464. 3 gpm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Operating Flow Rate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&gt; Minimum FR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&gt; Minimum FR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Maximum Flow Rate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Limited by ECD / SPP / BHA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Limited by ECD / SPP / BHA</a:t>
                      </a:r>
                      <a:endParaRPr sz="700" dirty="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Google Shape;1810;g3f40c88c046_0_70">
            <a:extLst>
              <a:ext uri="{FF2B5EF4-FFF2-40B4-BE49-F238E27FC236}">
                <a16:creationId xmlns:a16="http://schemas.microsoft.com/office/drawing/2014/main" id="{E8BF54C8-F588-3425-DBA5-096D9B9AE65E}"/>
              </a:ext>
            </a:extLst>
          </p:cNvPr>
          <p:cNvSpPr/>
          <p:nvPr/>
        </p:nvSpPr>
        <p:spPr>
          <a:xfrm>
            <a:off x="7529756" y="973921"/>
            <a:ext cx="4084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rgbClr val="6B7280"/>
                </a:solidFill>
              </a:rPr>
              <a:t>Table 7.4 Alpha-07 Hole Cleaning Design Criteria</a:t>
            </a:r>
            <a:endParaRPr sz="1000" i="1" dirty="0">
              <a:solidFill>
                <a:srgbClr val="6B7280"/>
              </a:solidFill>
            </a:endParaRPr>
          </a:p>
        </p:txBody>
      </p:sp>
      <p:sp>
        <p:nvSpPr>
          <p:cNvPr id="27" name="Google Shape;1815;g3f40c88c046_0_70">
            <a:extLst>
              <a:ext uri="{FF2B5EF4-FFF2-40B4-BE49-F238E27FC236}">
                <a16:creationId xmlns:a16="http://schemas.microsoft.com/office/drawing/2014/main" id="{E15BD806-D635-F13A-EF7B-C40296094110}"/>
              </a:ext>
            </a:extLst>
          </p:cNvPr>
          <p:cNvSpPr/>
          <p:nvPr/>
        </p:nvSpPr>
        <p:spPr>
          <a:xfrm>
            <a:off x="7501290" y="4773585"/>
            <a:ext cx="39039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r>
              <a:rPr lang="en-US" sz="9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  <a:t>Design Criteria (hydraulic operating philosophy) :</a:t>
            </a:r>
            <a:br>
              <a:rPr lang="en-US" sz="9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</a:br>
            <a:r>
              <a:rPr lang="en-US" sz="9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  <a:t>FR  Operating &lt; FG Minimum Hole Cleaning</a:t>
            </a:r>
            <a:endParaRPr sz="900" b="1" dirty="0">
              <a:solidFill>
                <a:srgbClr val="12284B"/>
              </a:solidFill>
              <a:latin typeface="+mj-lt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endParaRPr sz="900" b="1" dirty="0">
              <a:solidFill>
                <a:srgbClr val="12284B"/>
              </a:solidFill>
              <a:latin typeface="+mj-lt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r>
              <a:rPr lang="en-US" sz="9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  <a:t>subject to :</a:t>
            </a:r>
            <a:br>
              <a:rPr lang="en-US" sz="9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</a:br>
            <a:r>
              <a:rPr lang="en-US" sz="900" b="1" dirty="0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  <a:t>ECD &lt; FG Limiting</a:t>
            </a:r>
            <a:endParaRPr sz="900" b="1" dirty="0">
              <a:solidFill>
                <a:srgbClr val="12284B"/>
              </a:solidFill>
              <a:latin typeface="+mj-lt"/>
              <a:ea typeface="Cambria"/>
              <a:cs typeface="Cambria"/>
              <a:sym typeface="Cambria"/>
            </a:endParaRPr>
          </a:p>
        </p:txBody>
      </p:sp>
      <p:sp>
        <p:nvSpPr>
          <p:cNvPr id="29" name="Google Shape;1822;g3f40c88c046_0_70">
            <a:extLst>
              <a:ext uri="{FF2B5EF4-FFF2-40B4-BE49-F238E27FC236}">
                <a16:creationId xmlns:a16="http://schemas.microsoft.com/office/drawing/2014/main" id="{890D4EE9-8144-4406-44AC-A4342CF9A3F1}"/>
              </a:ext>
            </a:extLst>
          </p:cNvPr>
          <p:cNvSpPr/>
          <p:nvPr/>
        </p:nvSpPr>
        <p:spPr>
          <a:xfrm>
            <a:off x="7496281" y="5862655"/>
            <a:ext cx="41514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r>
              <a:rPr lang="en-US" sz="900" b="1" dirty="0">
                <a:solidFill>
                  <a:srgbClr val="12284B"/>
                </a:solidFill>
                <a:latin typeface="Cambria"/>
                <a:ea typeface="Cambria"/>
                <a:cs typeface="Cambria"/>
                <a:sym typeface="Cambria"/>
              </a:rPr>
              <a:t>In case needs to increase ROP that causes exceeding flow rate, preferable to control </a:t>
            </a:r>
            <a:r>
              <a:rPr lang="en-US" sz="900" b="1" dirty="0" err="1">
                <a:solidFill>
                  <a:srgbClr val="12284B"/>
                </a:solidFill>
                <a:latin typeface="Cambria"/>
                <a:ea typeface="Cambria"/>
                <a:cs typeface="Cambria"/>
                <a:sym typeface="Cambria"/>
              </a:rPr>
              <a:t>rilling</a:t>
            </a:r>
            <a:r>
              <a:rPr lang="en-US" sz="900" b="1" dirty="0">
                <a:solidFill>
                  <a:srgbClr val="12284B"/>
                </a:solidFill>
                <a:latin typeface="Cambria"/>
                <a:ea typeface="Cambria"/>
                <a:cs typeface="Cambria"/>
                <a:sym typeface="Cambria"/>
              </a:rPr>
              <a:t> rate rather than increasing flow rate beyond ECD or SPP limit</a:t>
            </a:r>
            <a:endParaRPr sz="900" b="1" dirty="0">
              <a:solidFill>
                <a:srgbClr val="12284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7810-449E-0A63-169D-DBE5111BA4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800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DFC9E538-8760-6AC8-ABD3-C849D8845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0537B3C0-CC87-B000-7CBC-CBFC228723CD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 HYDRAULICS OPTIMIZATION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4F8CDC23-3DC8-9C94-E0D0-9ADBBC2A7C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77FE57D4-4C95-9C85-3210-51D23D99A6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Google Shape;1833;g3f40c88c046_0_19">
            <a:extLst>
              <a:ext uri="{FF2B5EF4-FFF2-40B4-BE49-F238E27FC236}">
                <a16:creationId xmlns:a16="http://schemas.microsoft.com/office/drawing/2014/main" id="{79994033-1EE0-F23C-35D6-704DB8DD4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6133181"/>
              </p:ext>
            </p:extLst>
          </p:nvPr>
        </p:nvGraphicFramePr>
        <p:xfrm>
          <a:off x="566932" y="1577742"/>
          <a:ext cx="6605225" cy="37666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8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2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12-¼ in. hole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8-½ in. production hole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Design Check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Operational Flow Rate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900 gpm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600 gpm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Above minimum hole-cleaning requirement</a:t>
                      </a:r>
                      <a:endParaRPr sz="700" b="1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Bit TFA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0.77 in2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0.77 in2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Per selected bit/nozzle design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HSI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5 hp/in2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3.4 hp/in2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Adequate bit cleaning</a:t>
                      </a:r>
                      <a:endParaRPr sz="700" b="1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Bit Nozzle Velocity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374 ft/s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250 ft/s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Adequate jet velocity</a:t>
                      </a:r>
                      <a:endParaRPr sz="700" b="1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Bit Pressure Loss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1123.35 psi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547.89 psi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Within hydraulic allocation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SPP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2254.89 psi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2052.43 psi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Below system pressure limit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Pump Power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1183.82 hp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718.35 hp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Within pump capability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Bit Hydraulic Power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589.76 hp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191.76 hp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Adequate hydraulic energy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Power at Bit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49.82%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26.69%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Within optimized hydraulic distribution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Annular Pressure Loss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18.14 psi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185.29 psi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ECD impact acceptable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ECD at Shoe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9.11 ppg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10.45 ppg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Below applicable FG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ECD at Bit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9.29 ppg</a:t>
                      </a:r>
                      <a:endParaRPr sz="700" dirty="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10.64 ppg</a:t>
                      </a:r>
                      <a:endParaRPr sz="70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dirty="0"/>
                        <a:t>Below applicable FG</a:t>
                      </a:r>
                      <a:endParaRPr sz="700" dirty="0"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Google Shape;1834;g3f40c88c046_0_19">
            <a:extLst>
              <a:ext uri="{FF2B5EF4-FFF2-40B4-BE49-F238E27FC236}">
                <a16:creationId xmlns:a16="http://schemas.microsoft.com/office/drawing/2014/main" id="{05351BD4-AB6C-8798-F9D5-8144B5BEAD29}"/>
              </a:ext>
            </a:extLst>
          </p:cNvPr>
          <p:cNvSpPr/>
          <p:nvPr/>
        </p:nvSpPr>
        <p:spPr>
          <a:xfrm>
            <a:off x="7721168" y="2429507"/>
            <a:ext cx="3903900" cy="17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r>
              <a:rPr lang="en-US" sz="900" b="1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  <a:t>Hydraulic simulation conducted using selected BHA, bit nozzle configuration, mud properties, and operating flow rate that optimize design while maintaining SPP and ECD within allowable operating envelope.</a:t>
            </a:r>
            <a:endParaRPr sz="900" b="1">
              <a:solidFill>
                <a:srgbClr val="12284B"/>
              </a:solidFill>
              <a:latin typeface="+mj-lt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endParaRPr sz="900" b="1">
              <a:solidFill>
                <a:srgbClr val="12284B"/>
              </a:solidFill>
              <a:latin typeface="+mj-lt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endParaRPr sz="900" b="1">
              <a:solidFill>
                <a:srgbClr val="12284B"/>
              </a:solidFill>
              <a:latin typeface="+mj-lt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2284B"/>
              </a:buClr>
              <a:buSzPts val="2100"/>
              <a:buFont typeface="Cambria"/>
              <a:buNone/>
            </a:pPr>
            <a:br>
              <a:rPr lang="en-US" sz="900" b="1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</a:br>
            <a:r>
              <a:rPr lang="en-US" sz="900" b="1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  <a:t>The results will provide sufficient jet energy to clean the bit face and remove cutting without release excessive pressure losses on the circulating system</a:t>
            </a:r>
            <a:br>
              <a:rPr lang="en-US" sz="900" b="1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</a:br>
            <a:br>
              <a:rPr lang="en-US" sz="900" b="1">
                <a:solidFill>
                  <a:srgbClr val="12284B"/>
                </a:solidFill>
                <a:latin typeface="+mj-lt"/>
                <a:ea typeface="Cambria"/>
                <a:cs typeface="Cambria"/>
                <a:sym typeface="Cambria"/>
              </a:rPr>
            </a:br>
            <a:endParaRPr sz="900" b="1">
              <a:solidFill>
                <a:srgbClr val="12284B"/>
              </a:solidFill>
              <a:latin typeface="+mj-lt"/>
              <a:ea typeface="Cambria"/>
              <a:cs typeface="Cambria"/>
              <a:sym typeface="Cambria"/>
            </a:endParaRPr>
          </a:p>
        </p:txBody>
      </p:sp>
      <p:sp>
        <p:nvSpPr>
          <p:cNvPr id="7" name="Google Shape;1832;g3f40c88c046_0_19">
            <a:extLst>
              <a:ext uri="{FF2B5EF4-FFF2-40B4-BE49-F238E27FC236}">
                <a16:creationId xmlns:a16="http://schemas.microsoft.com/office/drawing/2014/main" id="{EE130246-137D-33F4-13AA-172E09F7E7D2}"/>
              </a:ext>
            </a:extLst>
          </p:cNvPr>
          <p:cNvSpPr/>
          <p:nvPr/>
        </p:nvSpPr>
        <p:spPr>
          <a:xfrm>
            <a:off x="1700844" y="1303709"/>
            <a:ext cx="4337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rgbClr val="6B7280"/>
                </a:solidFill>
              </a:rPr>
              <a:t>Table 7.5 Alpha-07 Bit Hydraulics Design Criteria</a:t>
            </a:r>
            <a:endParaRPr sz="1000" i="1" dirty="0">
              <a:solidFill>
                <a:srgbClr val="6B728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C420B-B53E-23C0-B0E8-A1E5A483B4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1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EA96823C-9D7D-463F-B557-80737745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5">
            <a:extLst>
              <a:ext uri="{FF2B5EF4-FFF2-40B4-BE49-F238E27FC236}">
                <a16:creationId xmlns:a16="http://schemas.microsoft.com/office/drawing/2014/main" id="{3BC2603A-CE66-2CFC-8A38-11CBFE6BC4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75" y="287290"/>
            <a:ext cx="11716269" cy="630408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>
            <a:extLst>
              <a:ext uri="{FF2B5EF4-FFF2-40B4-BE49-F238E27FC236}">
                <a16:creationId xmlns:a16="http://schemas.microsoft.com/office/drawing/2014/main" id="{4A5FD74C-C25B-DDFB-177C-FE2EB35AC2AF}"/>
              </a:ext>
            </a:extLst>
          </p:cNvPr>
          <p:cNvSpPr/>
          <p:nvPr/>
        </p:nvSpPr>
        <p:spPr>
          <a:xfrm>
            <a:off x="259075" y="2007908"/>
            <a:ext cx="11716269" cy="2780907"/>
          </a:xfrm>
          <a:prstGeom prst="rect">
            <a:avLst/>
          </a:prstGeom>
          <a:solidFill>
            <a:srgbClr val="365DA8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15">
            <a:extLst>
              <a:ext uri="{FF2B5EF4-FFF2-40B4-BE49-F238E27FC236}">
                <a16:creationId xmlns:a16="http://schemas.microsoft.com/office/drawing/2014/main" id="{9FEE7155-9130-B979-613C-F6B0056FDB8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94907" y="2459920"/>
            <a:ext cx="11202186" cy="195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WELL CONTROL, PRESSURE CONTROL &amp; RIG CAPABILITY</a:t>
            </a:r>
            <a:endParaRPr lang="en-US" dirty="0"/>
          </a:p>
        </p:txBody>
      </p:sp>
      <p:pic>
        <p:nvPicPr>
          <p:cNvPr id="344" name="Google Shape;344;p15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FBF9A7D8-4319-01DD-CA92-94F21FB37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5">
            <a:extLst>
              <a:ext uri="{FF2B5EF4-FFF2-40B4-BE49-F238E27FC236}">
                <a16:creationId xmlns:a16="http://schemas.microsoft.com/office/drawing/2014/main" id="{8D077EAC-6D63-2476-C733-2B6E2E9145A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075" y="287290"/>
            <a:ext cx="1400175" cy="140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490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89529532-F2DA-6E68-D7B9-D2548FBB1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0E3BB1B9-D5A3-F2F5-8293-72990A071633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dirty="0">
                <a:solidFill>
                  <a:schemeClr val="lt1"/>
                </a:solidFill>
              </a:rPr>
              <a:t>WELL CONTROL, PRESSURE CONTROL</a:t>
            </a:r>
            <a:endParaRPr lang="en-US" sz="3600" dirty="0"/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60CD397D-C85C-ABCB-541B-1145C5454A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B7558F34-8CA6-55D5-057D-4CCC4CCA5C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E7D2D6C6-CF73-FB8F-F613-32EA9F24F010}"/>
              </a:ext>
            </a:extLst>
          </p:cNvPr>
          <p:cNvSpPr/>
          <p:nvPr/>
        </p:nvSpPr>
        <p:spPr>
          <a:xfrm>
            <a:off x="347472" y="1197864"/>
            <a:ext cx="10908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+mj-lt"/>
                <a:ea typeface="Aptos" pitchFamily="34" charset="-122"/>
                <a:cs typeface="Aptos" pitchFamily="34" charset="-120"/>
              </a:rPr>
              <a:t>The design basis is to keep two verified independent well-barrier envelopes whenever a potential flow path from formation to surface exists.</a:t>
            </a:r>
            <a:endParaRPr lang="en-US" sz="1900" dirty="0">
              <a:latin typeface="+mj-lt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FE235BF-3DE8-954D-8A10-C3A386582ADB}"/>
              </a:ext>
            </a:extLst>
          </p:cNvPr>
          <p:cNvSpPr/>
          <p:nvPr/>
        </p:nvSpPr>
        <p:spPr>
          <a:xfrm>
            <a:off x="347472" y="20619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2A44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Barrier philosophy</a:t>
            </a:r>
            <a:endParaRPr lang="en-US" sz="2100" dirty="0">
              <a:latin typeface="+mj-lt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19DC6C-75B8-1F46-80DC-BF070537CCC1}"/>
              </a:ext>
            </a:extLst>
          </p:cNvPr>
          <p:cNvSpPr/>
          <p:nvPr/>
        </p:nvSpPr>
        <p:spPr>
          <a:xfrm>
            <a:off x="347472" y="2418588"/>
            <a:ext cx="834847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F2937"/>
                </a:solidFill>
                <a:latin typeface="+mj-lt"/>
                <a:ea typeface="Aptos" pitchFamily="34" charset="-122"/>
                <a:cs typeface="Aptos" pitchFamily="34" charset="-120"/>
              </a:rPr>
              <a:t>Primary: overbalanced mud column.</a:t>
            </a:r>
            <a:endParaRPr lang="en-US" sz="1720" dirty="0">
              <a:latin typeface="+mj-lt"/>
            </a:endParaRPr>
          </a:p>
          <a:p>
            <a:pPr marL="0" indent="0">
              <a:buNone/>
            </a:pPr>
            <a:r>
              <a:rPr lang="en-US" sz="1720" dirty="0">
                <a:solidFill>
                  <a:srgbClr val="1F2937"/>
                </a:solidFill>
                <a:latin typeface="+mj-lt"/>
                <a:ea typeface="Aptos" pitchFamily="34" charset="-122"/>
                <a:cs typeface="Aptos" pitchFamily="34" charset="-120"/>
              </a:rPr>
              <a:t>Secondary: casing + cement + wellhead + BOP + choke/kill system.</a:t>
            </a:r>
            <a:endParaRPr lang="en-US" sz="1720" dirty="0">
              <a:latin typeface="+mj-lt"/>
            </a:endParaRPr>
          </a:p>
          <a:p>
            <a:pPr marL="0" indent="0">
              <a:buNone/>
            </a:pPr>
            <a:r>
              <a:rPr lang="en-US" sz="1720" dirty="0">
                <a:solidFill>
                  <a:srgbClr val="1F2937"/>
                </a:solidFill>
                <a:latin typeface="+mj-lt"/>
                <a:ea typeface="Aptos" pitchFamily="34" charset="-122"/>
                <a:cs typeface="Aptos" pitchFamily="34" charset="-120"/>
              </a:rPr>
              <a:t>Monitoring: pit volume, flow rate/out, trip volume, gas indication and drilling parameters.</a:t>
            </a:r>
            <a:endParaRPr lang="en-US" sz="1720" dirty="0">
              <a:latin typeface="+mj-lt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8177EB6-9009-019F-D7F4-262AC606184C}"/>
              </a:ext>
            </a:extLst>
          </p:cNvPr>
          <p:cNvSpPr/>
          <p:nvPr/>
        </p:nvSpPr>
        <p:spPr>
          <a:xfrm>
            <a:off x="347472" y="3552445"/>
            <a:ext cx="1572768" cy="1046986"/>
          </a:xfrm>
          <a:prstGeom prst="rect">
            <a:avLst/>
          </a:prstGeom>
          <a:solidFill>
            <a:srgbClr val="EAF3FF"/>
          </a:solidFill>
          <a:ln>
            <a:solidFill>
              <a:srgbClr val="FFFFFF">
                <a:alpha val="0"/>
              </a:srgbClr>
            </a:solidFill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5M</a:t>
            </a:r>
            <a:endParaRPr lang="en-US" sz="1700" dirty="0">
              <a:latin typeface="+mj-lt"/>
            </a:endParaRPr>
          </a:p>
          <a:p>
            <a:pPr marL="0" indent="0" algn="ctr">
              <a:buNone/>
            </a:pPr>
            <a:r>
              <a:rPr lang="en-US" sz="1700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well-control class</a:t>
            </a:r>
            <a:endParaRPr lang="en-US" sz="1700" dirty="0">
              <a:latin typeface="+mj-lt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7837B74-90EA-46EC-8125-27FFFA3ED544}"/>
              </a:ext>
            </a:extLst>
          </p:cNvPr>
          <p:cNvSpPr/>
          <p:nvPr/>
        </p:nvSpPr>
        <p:spPr>
          <a:xfrm>
            <a:off x="2203704" y="3570733"/>
            <a:ext cx="1572768" cy="1028698"/>
          </a:xfrm>
          <a:prstGeom prst="rect">
            <a:avLst/>
          </a:prstGeom>
          <a:solidFill>
            <a:srgbClr val="EAF3FF"/>
          </a:solidFill>
          <a:ln>
            <a:solidFill>
              <a:srgbClr val="FFFFFF">
                <a:alpha val="0"/>
              </a:srgbClr>
            </a:solidFill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5,000 psi</a:t>
            </a:r>
            <a:endParaRPr lang="en-US" sz="1700" dirty="0">
              <a:latin typeface="+mj-lt"/>
            </a:endParaRPr>
          </a:p>
          <a:p>
            <a:pPr marL="0" indent="0" algn="ctr">
              <a:buNone/>
            </a:pPr>
            <a:r>
              <a:rPr lang="en-US" sz="1700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minimum WP</a:t>
            </a:r>
            <a:endParaRPr lang="en-US" sz="1700" dirty="0">
              <a:latin typeface="+mj-lt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E7B4B28-62E5-5A5A-A82E-35CF30293BEC}"/>
              </a:ext>
            </a:extLst>
          </p:cNvPr>
          <p:cNvSpPr/>
          <p:nvPr/>
        </p:nvSpPr>
        <p:spPr>
          <a:xfrm>
            <a:off x="4037076" y="3570732"/>
            <a:ext cx="1572768" cy="1028699"/>
          </a:xfrm>
          <a:prstGeom prst="rect">
            <a:avLst/>
          </a:prstGeom>
          <a:solidFill>
            <a:srgbClr val="FFF7E6"/>
          </a:solidFill>
          <a:ln>
            <a:solidFill>
              <a:srgbClr val="FFFFFF">
                <a:alpha val="0"/>
              </a:srgbClr>
            </a:solidFill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+mj-lt"/>
                <a:ea typeface="Aptos" pitchFamily="34" charset="-122"/>
                <a:cs typeface="Aptos" pitchFamily="34" charset="-120"/>
              </a:rPr>
              <a:t>10M</a:t>
            </a:r>
            <a:endParaRPr lang="en-US" sz="1700" dirty="0">
              <a:latin typeface="+mj-lt"/>
            </a:endParaRPr>
          </a:p>
          <a:p>
            <a:pPr marL="0" indent="0" algn="ctr">
              <a:buNone/>
            </a:pPr>
            <a:r>
              <a:rPr lang="en-US" sz="1700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upgrade trigger if SIWHP &gt; 5,000 psi</a:t>
            </a:r>
            <a:endParaRPr lang="en-US" sz="1700" dirty="0">
              <a:latin typeface="+mj-lt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4617F993-97B5-85AE-8E72-C29BDACD2EB4}"/>
              </a:ext>
            </a:extLst>
          </p:cNvPr>
          <p:cNvSpPr/>
          <p:nvPr/>
        </p:nvSpPr>
        <p:spPr>
          <a:xfrm>
            <a:off x="1371600" y="5221224"/>
            <a:ext cx="437458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3261BDE0-D889-172A-046B-C80B98A11B3F}"/>
              </a:ext>
            </a:extLst>
          </p:cNvPr>
          <p:cNvSpPr/>
          <p:nvPr/>
        </p:nvSpPr>
        <p:spPr>
          <a:xfrm>
            <a:off x="2788920" y="5221224"/>
            <a:ext cx="437458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7218A4C1-F4D0-C4B5-CB64-623B6A78D6C5}"/>
              </a:ext>
            </a:extLst>
          </p:cNvPr>
          <p:cNvSpPr/>
          <p:nvPr/>
        </p:nvSpPr>
        <p:spPr>
          <a:xfrm>
            <a:off x="4206240" y="5221224"/>
            <a:ext cx="437458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610A0CA3-64FA-FD7C-AC08-6950239F94B7}"/>
              </a:ext>
            </a:extLst>
          </p:cNvPr>
          <p:cNvSpPr/>
          <p:nvPr/>
        </p:nvSpPr>
        <p:spPr>
          <a:xfrm>
            <a:off x="347472" y="5120640"/>
            <a:ext cx="1496568" cy="868680"/>
          </a:xfrm>
          <a:prstGeom prst="rect">
            <a:avLst/>
          </a:prstGeom>
          <a:solidFill>
            <a:srgbClr val="EAF8F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6A34A"/>
                </a:solidFill>
                <a:latin typeface="+mj-lt"/>
                <a:ea typeface="Aptos" pitchFamily="34" charset="-122"/>
                <a:cs typeface="Aptos" pitchFamily="34" charset="-120"/>
              </a:rPr>
              <a:t>Fluid</a:t>
            </a:r>
          </a:p>
          <a:p>
            <a:pPr marL="0" indent="0" algn="ctr">
              <a:buNone/>
            </a:pP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r>
              <a:rPr lang="en-US" sz="1520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primary barrier</a:t>
            </a:r>
            <a:endParaRPr lang="en-US" sz="1520" dirty="0">
              <a:latin typeface="+mj-lt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B428F91A-7EA2-D970-43CE-DF799C92D7CB}"/>
              </a:ext>
            </a:extLst>
          </p:cNvPr>
          <p:cNvSpPr/>
          <p:nvPr/>
        </p:nvSpPr>
        <p:spPr>
          <a:xfrm>
            <a:off x="2221992" y="5120640"/>
            <a:ext cx="1496568" cy="868680"/>
          </a:xfrm>
          <a:prstGeom prst="rect">
            <a:avLst/>
          </a:prstGeom>
          <a:solidFill>
            <a:srgbClr val="EA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Casing +</a:t>
            </a: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r>
              <a:rPr lang="en-US" sz="1520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Cement</a:t>
            </a: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r>
              <a:rPr lang="en-US" sz="1520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secondary</a:t>
            </a:r>
            <a:endParaRPr lang="en-US" sz="1520" dirty="0">
              <a:latin typeface="+mj-lt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EA51533F-FEF3-414B-906D-DE082D8BCA79}"/>
              </a:ext>
            </a:extLst>
          </p:cNvPr>
          <p:cNvSpPr/>
          <p:nvPr/>
        </p:nvSpPr>
        <p:spPr>
          <a:xfrm>
            <a:off x="4087368" y="5129784"/>
            <a:ext cx="1496568" cy="868680"/>
          </a:xfrm>
          <a:prstGeom prst="rect">
            <a:avLst/>
          </a:prstGeom>
          <a:solidFill>
            <a:srgbClr val="EA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Wellhead</a:t>
            </a: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r>
              <a:rPr lang="en-US" sz="1520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+ BOP</a:t>
            </a: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r>
              <a:rPr lang="en-US" sz="1520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13-5/8 in. 5M</a:t>
            </a:r>
            <a:endParaRPr lang="en-US" sz="1520" dirty="0">
              <a:latin typeface="+mj-lt"/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CA4711DD-3849-850F-AD63-D162C7A829CD}"/>
              </a:ext>
            </a:extLst>
          </p:cNvPr>
          <p:cNvSpPr/>
          <p:nvPr/>
        </p:nvSpPr>
        <p:spPr>
          <a:xfrm>
            <a:off x="5961888" y="5120640"/>
            <a:ext cx="1496568" cy="868680"/>
          </a:xfrm>
          <a:prstGeom prst="rect">
            <a:avLst/>
          </a:prstGeom>
          <a:solidFill>
            <a:srgbClr val="EA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Choke /</a:t>
            </a: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r>
              <a:rPr lang="en-US" sz="1520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Kill</a:t>
            </a: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r>
              <a:rPr lang="en-US" sz="1520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5M lines</a:t>
            </a:r>
            <a:endParaRPr lang="en-US" sz="1520" dirty="0">
              <a:latin typeface="+mj-lt"/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4937EF24-6A00-5016-AF56-082C55F1D1AF}"/>
              </a:ext>
            </a:extLst>
          </p:cNvPr>
          <p:cNvSpPr/>
          <p:nvPr/>
        </p:nvSpPr>
        <p:spPr>
          <a:xfrm>
            <a:off x="1844040" y="5559552"/>
            <a:ext cx="34747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391E9A59-DC26-00B3-55E8-EF97A07C0680}"/>
              </a:ext>
            </a:extLst>
          </p:cNvPr>
          <p:cNvSpPr/>
          <p:nvPr/>
        </p:nvSpPr>
        <p:spPr>
          <a:xfrm>
            <a:off x="3724656" y="5559552"/>
            <a:ext cx="34747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4E86ABA2-3FB4-EBB0-460B-153F1F1819BC}"/>
              </a:ext>
            </a:extLst>
          </p:cNvPr>
          <p:cNvSpPr/>
          <p:nvPr/>
        </p:nvSpPr>
        <p:spPr>
          <a:xfrm>
            <a:off x="5583936" y="5556504"/>
            <a:ext cx="34747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B0D76-A07D-AD0E-7689-3B7413F404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49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D21837F6-1BD0-D69F-99E6-DDA166873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0821007A-04FC-A83D-DCDC-64711FAD96E6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RIG SELECTION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80143211-CA8D-D595-DE31-D36C036B9E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A065E330-3F27-2D7F-645D-2C2BA8EFBE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12">
            <a:extLst>
              <a:ext uri="{FF2B5EF4-FFF2-40B4-BE49-F238E27FC236}">
                <a16:creationId xmlns:a16="http://schemas.microsoft.com/office/drawing/2014/main" id="{C69F9D0D-1E88-0380-99AE-271FB737750B}"/>
              </a:ext>
            </a:extLst>
          </p:cNvPr>
          <p:cNvSpPr/>
          <p:nvPr/>
        </p:nvSpPr>
        <p:spPr>
          <a:xfrm>
            <a:off x="9584436" y="3820668"/>
            <a:ext cx="0" cy="42672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5" name="Shape 23">
            <a:extLst>
              <a:ext uri="{FF2B5EF4-FFF2-40B4-BE49-F238E27FC236}">
                <a16:creationId xmlns:a16="http://schemas.microsoft.com/office/drawing/2014/main" id="{62E82560-48FA-A1AB-18FA-0EB2D8FB762F}"/>
              </a:ext>
            </a:extLst>
          </p:cNvPr>
          <p:cNvSpPr/>
          <p:nvPr/>
        </p:nvSpPr>
        <p:spPr>
          <a:xfrm>
            <a:off x="411480" y="2473452"/>
            <a:ext cx="2048256" cy="1065276"/>
          </a:xfrm>
          <a:prstGeom prst="roundRect">
            <a:avLst>
              <a:gd name="adj" fmla="val 16667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pPr algn="ctr"/>
            <a:endParaRPr lang="en-US" b="1" dirty="0">
              <a:solidFill>
                <a:srgbClr val="F59E0B"/>
              </a:solidFill>
              <a:latin typeface="+mj-lt"/>
              <a:ea typeface="Aptos" pitchFamily="34" charset="-122"/>
              <a:cs typeface="Aptos" pitchFamily="34" charset="-120"/>
            </a:endParaRPr>
          </a:p>
          <a:p>
            <a:pPr algn="ctr"/>
            <a:r>
              <a:rPr lang="en-US" b="1" dirty="0">
                <a:solidFill>
                  <a:srgbClr val="F59E0B"/>
                </a:solidFill>
                <a:latin typeface="+mj-lt"/>
                <a:ea typeface="Aptos" pitchFamily="34" charset="-122"/>
                <a:cs typeface="Aptos" pitchFamily="34" charset="-120"/>
              </a:rPr>
              <a:t>570 HP</a:t>
            </a:r>
            <a:endParaRPr lang="en-US" dirty="0">
              <a:latin typeface="+mj-lt"/>
            </a:endParaRPr>
          </a:p>
          <a:p>
            <a:pPr algn="ctr"/>
            <a:r>
              <a:rPr lang="en-US" dirty="0" err="1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drawworks</a:t>
            </a:r>
            <a:r>
              <a:rPr lang="en-US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 required</a:t>
            </a:r>
            <a:endParaRPr lang="en-US" dirty="0">
              <a:latin typeface="+mj-lt"/>
            </a:endParaRPr>
          </a:p>
        </p:txBody>
      </p:sp>
      <p:sp>
        <p:nvSpPr>
          <p:cNvPr id="7" name="Shape 25">
            <a:extLst>
              <a:ext uri="{FF2B5EF4-FFF2-40B4-BE49-F238E27FC236}">
                <a16:creationId xmlns:a16="http://schemas.microsoft.com/office/drawing/2014/main" id="{41FAEE99-62C7-079F-6FD5-D96B123CC828}"/>
              </a:ext>
            </a:extLst>
          </p:cNvPr>
          <p:cNvSpPr/>
          <p:nvPr/>
        </p:nvSpPr>
        <p:spPr>
          <a:xfrm>
            <a:off x="2633472" y="2473452"/>
            <a:ext cx="2048256" cy="1065276"/>
          </a:xfrm>
          <a:prstGeom prst="roundRect">
            <a:avLst>
              <a:gd name="adj" fmla="val 16667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b="1" dirty="0">
                <a:solidFill>
                  <a:srgbClr val="16A34A"/>
                </a:solidFill>
                <a:latin typeface="+mj-lt"/>
                <a:ea typeface="Aptos" pitchFamily="34" charset="-122"/>
                <a:cs typeface="Aptos" pitchFamily="34" charset="-120"/>
              </a:rPr>
              <a:t>750 HP</a:t>
            </a:r>
            <a:endParaRPr lang="en-US" dirty="0">
              <a:latin typeface="+mj-lt"/>
            </a:endParaRPr>
          </a:p>
          <a:p>
            <a:pPr algn="ctr"/>
            <a:r>
              <a:rPr lang="en-US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selected rig</a:t>
            </a:r>
            <a:endParaRPr lang="en-ID" dirty="0">
              <a:latin typeface="+mj-lt"/>
            </a:endParaRPr>
          </a:p>
        </p:txBody>
      </p:sp>
      <p:sp>
        <p:nvSpPr>
          <p:cNvPr id="9" name="Shape 27">
            <a:extLst>
              <a:ext uri="{FF2B5EF4-FFF2-40B4-BE49-F238E27FC236}">
                <a16:creationId xmlns:a16="http://schemas.microsoft.com/office/drawing/2014/main" id="{DAEE7D66-2B8C-AB80-485C-1C99CD02B7B1}"/>
              </a:ext>
            </a:extLst>
          </p:cNvPr>
          <p:cNvSpPr/>
          <p:nvPr/>
        </p:nvSpPr>
        <p:spPr>
          <a:xfrm>
            <a:off x="4873752" y="2473452"/>
            <a:ext cx="2048256" cy="1065276"/>
          </a:xfrm>
          <a:prstGeom prst="roundRect">
            <a:avLst>
              <a:gd name="adj" fmla="val 16667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282k </a:t>
            </a:r>
            <a:r>
              <a:rPr lang="en-US" b="1" dirty="0" err="1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lbs</a:t>
            </a:r>
            <a:endParaRPr lang="en-US" dirty="0">
              <a:latin typeface="+mj-lt"/>
            </a:endParaRPr>
          </a:p>
          <a:p>
            <a:pPr algn="ctr"/>
            <a:r>
              <a:rPr lang="en-US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max derrick load</a:t>
            </a:r>
            <a:endParaRPr lang="en-US" dirty="0">
              <a:latin typeface="+mj-lt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559A03BB-C159-33C5-A099-ADB576E36F69}"/>
              </a:ext>
            </a:extLst>
          </p:cNvPr>
          <p:cNvSpPr/>
          <p:nvPr/>
        </p:nvSpPr>
        <p:spPr>
          <a:xfrm>
            <a:off x="411480" y="1115568"/>
            <a:ext cx="9482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+mj-lt"/>
                <a:ea typeface="Aptos" pitchFamily="34" charset="-122"/>
                <a:cs typeface="Aptos" pitchFamily="34" charset="-120"/>
              </a:rPr>
              <a:t>The selected 750 HP land rig has sufficient hoisting, pumping and power capacity for the Alpha-07 drilling program.</a:t>
            </a:r>
            <a:endParaRPr lang="en-US" sz="2000" dirty="0">
              <a:latin typeface="+mj-lt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286A3DEF-8655-6387-2CF9-7BEAE40D70F8}"/>
              </a:ext>
            </a:extLst>
          </p:cNvPr>
          <p:cNvSpPr/>
          <p:nvPr/>
        </p:nvSpPr>
        <p:spPr>
          <a:xfrm>
            <a:off x="411480" y="19522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F2A44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Capacity confirmation</a:t>
            </a:r>
            <a:endParaRPr lang="en-US" sz="2200" dirty="0">
              <a:latin typeface="+mj-lt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2592DADE-DFEB-4457-6930-69F4692FD8E0}"/>
              </a:ext>
            </a:extLst>
          </p:cNvPr>
          <p:cNvSpPr/>
          <p:nvPr/>
        </p:nvSpPr>
        <p:spPr>
          <a:xfrm>
            <a:off x="414528" y="38633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Basis includes TD 5,312 ft MD, max overpull 100,000 lbs, block + TDS 30,000 lbs and 90% hoisting efficiency.</a:t>
            </a:r>
            <a:endParaRPr lang="en-US" sz="1650" dirty="0">
              <a:latin typeface="+mj-lt"/>
            </a:endParaRPr>
          </a:p>
        </p:txBody>
      </p:sp>
      <p:sp>
        <p:nvSpPr>
          <p:cNvPr id="17" name="Shape 23">
            <a:extLst>
              <a:ext uri="{FF2B5EF4-FFF2-40B4-BE49-F238E27FC236}">
                <a16:creationId xmlns:a16="http://schemas.microsoft.com/office/drawing/2014/main" id="{86A11FDA-07EE-5C5F-28FA-7F1F5AAAD28B}"/>
              </a:ext>
            </a:extLst>
          </p:cNvPr>
          <p:cNvSpPr/>
          <p:nvPr/>
        </p:nvSpPr>
        <p:spPr>
          <a:xfrm>
            <a:off x="411480" y="4728972"/>
            <a:ext cx="2048256" cy="1065276"/>
          </a:xfrm>
          <a:prstGeom prst="roundRect">
            <a:avLst>
              <a:gd name="adj" fmla="val 16667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3 × F-1000</a:t>
            </a:r>
            <a:endParaRPr lang="en-US" dirty="0">
              <a:latin typeface="+mj-lt"/>
            </a:endParaRPr>
          </a:p>
          <a:p>
            <a:pPr algn="ctr"/>
            <a:r>
              <a:rPr lang="en-US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mud pumps</a:t>
            </a:r>
            <a:endParaRPr lang="en-US" dirty="0">
              <a:latin typeface="+mj-lt"/>
            </a:endParaRPr>
          </a:p>
        </p:txBody>
      </p:sp>
      <p:sp>
        <p:nvSpPr>
          <p:cNvPr id="19" name="Shape 25">
            <a:extLst>
              <a:ext uri="{FF2B5EF4-FFF2-40B4-BE49-F238E27FC236}">
                <a16:creationId xmlns:a16="http://schemas.microsoft.com/office/drawing/2014/main" id="{EB496A16-DB38-852B-1B44-3E2B239364F3}"/>
              </a:ext>
            </a:extLst>
          </p:cNvPr>
          <p:cNvSpPr/>
          <p:nvPr/>
        </p:nvSpPr>
        <p:spPr>
          <a:xfrm>
            <a:off x="2633472" y="4728972"/>
            <a:ext cx="2048256" cy="1065276"/>
          </a:xfrm>
          <a:prstGeom prst="roundRect">
            <a:avLst>
              <a:gd name="adj" fmla="val 16667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5,000 psi</a:t>
            </a:r>
            <a:endParaRPr lang="en-US" dirty="0">
              <a:latin typeface="+mj-lt"/>
            </a:endParaRPr>
          </a:p>
          <a:p>
            <a:pPr algn="ctr"/>
            <a:r>
              <a:rPr lang="en-US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pump discharge</a:t>
            </a:r>
            <a:endParaRPr lang="en-US" dirty="0">
              <a:latin typeface="+mj-lt"/>
            </a:endParaRPr>
          </a:p>
        </p:txBody>
      </p:sp>
      <p:sp>
        <p:nvSpPr>
          <p:cNvPr id="21" name="Shape 27">
            <a:extLst>
              <a:ext uri="{FF2B5EF4-FFF2-40B4-BE49-F238E27FC236}">
                <a16:creationId xmlns:a16="http://schemas.microsoft.com/office/drawing/2014/main" id="{061646C7-A6DD-918F-98DF-CD4B1B457D7C}"/>
              </a:ext>
            </a:extLst>
          </p:cNvPr>
          <p:cNvSpPr/>
          <p:nvPr/>
        </p:nvSpPr>
        <p:spPr>
          <a:xfrm>
            <a:off x="4873752" y="4728972"/>
            <a:ext cx="2048256" cy="1065276"/>
          </a:xfrm>
          <a:prstGeom prst="roundRect">
            <a:avLst>
              <a:gd name="adj" fmla="val 16667"/>
            </a:avLst>
          </a:prstGeom>
          <a:solidFill>
            <a:srgbClr val="F8F9FB"/>
          </a:solidFill>
          <a:ln w="9525">
            <a:solidFill>
              <a:srgbClr val="D9D9D9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b="1" dirty="0">
                <a:solidFill>
                  <a:srgbClr val="16A34A"/>
                </a:solidFill>
                <a:latin typeface="+mj-lt"/>
                <a:ea typeface="Aptos" pitchFamily="34" charset="-122"/>
                <a:cs typeface="Aptos" pitchFamily="34" charset="-120"/>
              </a:rPr>
              <a:t>950 GPM</a:t>
            </a:r>
            <a:endParaRPr lang="en-US" dirty="0">
              <a:latin typeface="+mj-lt"/>
            </a:endParaRPr>
          </a:p>
          <a:p>
            <a:pPr algn="ctr"/>
            <a:r>
              <a:rPr lang="en-US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vacuum degasser</a:t>
            </a:r>
            <a:endParaRPr lang="en-US" dirty="0">
              <a:latin typeface="+mj-lt"/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24306852-E27B-16C3-52FE-B4D766DB7C7F}"/>
              </a:ext>
            </a:extLst>
          </p:cNvPr>
          <p:cNvSpPr/>
          <p:nvPr/>
        </p:nvSpPr>
        <p:spPr>
          <a:xfrm>
            <a:off x="9584436" y="2545080"/>
            <a:ext cx="0" cy="42672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78798849-FB5D-4856-F516-B74E6428069B}"/>
              </a:ext>
            </a:extLst>
          </p:cNvPr>
          <p:cNvSpPr/>
          <p:nvPr/>
        </p:nvSpPr>
        <p:spPr>
          <a:xfrm>
            <a:off x="9584436" y="5102352"/>
            <a:ext cx="0" cy="42672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C565D6E0-0C66-E038-991A-861CD6F2E815}"/>
              </a:ext>
            </a:extLst>
          </p:cNvPr>
          <p:cNvSpPr/>
          <p:nvPr/>
        </p:nvSpPr>
        <p:spPr>
          <a:xfrm>
            <a:off x="9291828" y="4767072"/>
            <a:ext cx="0" cy="42672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EE369B44-2B35-C481-ACB0-945F07E8A10E}"/>
              </a:ext>
            </a:extLst>
          </p:cNvPr>
          <p:cNvSpPr/>
          <p:nvPr/>
        </p:nvSpPr>
        <p:spPr>
          <a:xfrm>
            <a:off x="8267700" y="1700784"/>
            <a:ext cx="2659380" cy="960120"/>
          </a:xfrm>
          <a:prstGeom prst="rect">
            <a:avLst/>
          </a:prstGeom>
          <a:solidFill>
            <a:srgbClr val="EA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20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Power</a:t>
            </a: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r>
              <a:rPr lang="en-US" sz="1520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3 × 1,200 kW gensets</a:t>
            </a:r>
            <a:endParaRPr lang="en-US" sz="1520" dirty="0">
              <a:latin typeface="+mj-lt"/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9F7ABFD2-8720-6A08-839E-6839EA873829}"/>
              </a:ext>
            </a:extLst>
          </p:cNvPr>
          <p:cNvSpPr/>
          <p:nvPr/>
        </p:nvSpPr>
        <p:spPr>
          <a:xfrm>
            <a:off x="8267700" y="2971800"/>
            <a:ext cx="2659380" cy="960120"/>
          </a:xfrm>
          <a:prstGeom prst="rect">
            <a:avLst/>
          </a:prstGeom>
          <a:solidFill>
            <a:srgbClr val="EAF8F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20" b="1" dirty="0">
                <a:solidFill>
                  <a:srgbClr val="16A34A"/>
                </a:solidFill>
                <a:latin typeface="+mj-lt"/>
                <a:ea typeface="Aptos" pitchFamily="34" charset="-122"/>
                <a:cs typeface="Aptos" pitchFamily="34" charset="-120"/>
              </a:rPr>
              <a:t>Top Drive</a:t>
            </a: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r>
              <a:rPr lang="en-US" sz="1520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DQ40 | 250 ton | 0–180 rpm</a:t>
            </a:r>
            <a:endParaRPr lang="en-US" sz="1520" dirty="0">
              <a:latin typeface="+mj-lt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C631AAE7-CAB5-1914-2AED-75E493CAF06B}"/>
              </a:ext>
            </a:extLst>
          </p:cNvPr>
          <p:cNvSpPr/>
          <p:nvPr/>
        </p:nvSpPr>
        <p:spPr>
          <a:xfrm>
            <a:off x="8304276" y="4224528"/>
            <a:ext cx="2659380" cy="960120"/>
          </a:xfrm>
          <a:prstGeom prst="rect">
            <a:avLst/>
          </a:prstGeom>
          <a:solidFill>
            <a:srgbClr val="EA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20" b="1" dirty="0">
                <a:solidFill>
                  <a:srgbClr val="2563EB"/>
                </a:solidFill>
                <a:latin typeface="+mj-lt"/>
                <a:ea typeface="Aptos" pitchFamily="34" charset="-122"/>
                <a:cs typeface="Aptos" pitchFamily="34" charset="-120"/>
              </a:rPr>
              <a:t>Circulation</a:t>
            </a: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r>
              <a:rPr lang="en-US" sz="1520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3 in. mud path | 5,000 psi</a:t>
            </a:r>
            <a:endParaRPr lang="en-US" sz="1520" dirty="0">
              <a:latin typeface="+mj-lt"/>
            </a:endParaRPr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F30A929A-F68D-4437-070F-AF7875F1D7D0}"/>
              </a:ext>
            </a:extLst>
          </p:cNvPr>
          <p:cNvSpPr/>
          <p:nvPr/>
        </p:nvSpPr>
        <p:spPr>
          <a:xfrm>
            <a:off x="8304276" y="5547360"/>
            <a:ext cx="2659380" cy="960120"/>
          </a:xfrm>
          <a:prstGeom prst="rect">
            <a:avLst/>
          </a:prstGeom>
          <a:solidFill>
            <a:srgbClr val="FFF7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20" b="1" dirty="0">
                <a:solidFill>
                  <a:srgbClr val="F59E0B"/>
                </a:solidFill>
                <a:latin typeface="+mj-lt"/>
                <a:ea typeface="Aptos" pitchFamily="34" charset="-122"/>
                <a:cs typeface="Aptos" pitchFamily="34" charset="-120"/>
              </a:rPr>
              <a:t>Operation</a:t>
            </a:r>
            <a:endParaRPr lang="en-US" sz="1520" dirty="0">
              <a:latin typeface="+mj-lt"/>
            </a:endParaRPr>
          </a:p>
          <a:p>
            <a:pPr marL="0" indent="0" algn="ctr">
              <a:buNone/>
            </a:pPr>
            <a:r>
              <a:rPr lang="en-US" sz="1520" dirty="0">
                <a:solidFill>
                  <a:srgbClr val="64748B"/>
                </a:solidFill>
                <a:latin typeface="+mj-lt"/>
                <a:ea typeface="Aptos" pitchFamily="34" charset="-122"/>
                <a:cs typeface="Aptos" pitchFamily="34" charset="-120"/>
              </a:rPr>
              <a:t>drill / ream / backream</a:t>
            </a:r>
            <a:endParaRPr lang="en-US" sz="152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FDBFA-96BC-FFC2-53D7-2BC0D51BEB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66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F296845B-EE5B-5B6C-8E81-4BDEA82A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5">
            <a:extLst>
              <a:ext uri="{FF2B5EF4-FFF2-40B4-BE49-F238E27FC236}">
                <a16:creationId xmlns:a16="http://schemas.microsoft.com/office/drawing/2014/main" id="{5EE311D7-4CAA-B737-0E7F-3D9D7CE3E7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75" y="287290"/>
            <a:ext cx="11716269" cy="630408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>
            <a:extLst>
              <a:ext uri="{FF2B5EF4-FFF2-40B4-BE49-F238E27FC236}">
                <a16:creationId xmlns:a16="http://schemas.microsoft.com/office/drawing/2014/main" id="{CD615800-C602-0FC8-CF3C-1A435942B179}"/>
              </a:ext>
            </a:extLst>
          </p:cNvPr>
          <p:cNvSpPr/>
          <p:nvPr/>
        </p:nvSpPr>
        <p:spPr>
          <a:xfrm>
            <a:off x="259075" y="2007908"/>
            <a:ext cx="11716269" cy="2780907"/>
          </a:xfrm>
          <a:prstGeom prst="rect">
            <a:avLst/>
          </a:prstGeom>
          <a:solidFill>
            <a:srgbClr val="365DA8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15">
            <a:extLst>
              <a:ext uri="{FF2B5EF4-FFF2-40B4-BE49-F238E27FC236}">
                <a16:creationId xmlns:a16="http://schemas.microsoft.com/office/drawing/2014/main" id="{424A5CD5-08AD-80F6-8418-6C218C6100D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94907" y="2459920"/>
            <a:ext cx="11202186" cy="195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COMPLETION, PRODUCTION &amp; WELL ABANDONMENT</a:t>
            </a:r>
            <a:endParaRPr lang="en-US" dirty="0"/>
          </a:p>
        </p:txBody>
      </p:sp>
      <p:pic>
        <p:nvPicPr>
          <p:cNvPr id="344" name="Google Shape;344;p15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2E5419D4-D258-34A6-796F-BF3A3315F9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5">
            <a:extLst>
              <a:ext uri="{FF2B5EF4-FFF2-40B4-BE49-F238E27FC236}">
                <a16:creationId xmlns:a16="http://schemas.microsoft.com/office/drawing/2014/main" id="{2E34E0B0-23A8-0A99-BFEA-F5291DFB1F5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075" y="287290"/>
            <a:ext cx="1400175" cy="140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70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0FE694E7-84CF-FB47-0E20-4F37153C2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6982C455-D568-E803-9557-4E096CA2EBAC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WELL COMPLETION &amp; TESTING CRITERIA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BB515C34-437A-791F-5763-2332EDDF82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509FB254-BAED-241F-CBAB-8D398AAF06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2051A31E-429D-0FBE-496F-7B6EE0E5CAD7}"/>
              </a:ext>
            </a:extLst>
          </p:cNvPr>
          <p:cNvSpPr/>
          <p:nvPr/>
        </p:nvSpPr>
        <p:spPr>
          <a:xfrm>
            <a:off x="365760" y="1444752"/>
            <a:ext cx="6537960" cy="1572768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DA3AF">
                <a:alpha val="25000"/>
              </a:srgbClr>
            </a:outerShdw>
          </a:effectLst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6AE9007-076F-9902-A050-E22AB22361E7}"/>
              </a:ext>
            </a:extLst>
          </p:cNvPr>
          <p:cNvSpPr/>
          <p:nvPr/>
        </p:nvSpPr>
        <p:spPr>
          <a:xfrm>
            <a:off x="594360" y="166420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D">
              <a:latin typeface="+mj-lt"/>
            </a:endParaRPr>
          </a:p>
        </p:txBody>
      </p:sp>
      <p:pic>
        <p:nvPicPr>
          <p:cNvPr id="7" name="Image 0" descr="/home/claude/icon_completion.png">
            <a:extLst>
              <a:ext uri="{FF2B5EF4-FFF2-40B4-BE49-F238E27FC236}">
                <a16:creationId xmlns:a16="http://schemas.microsoft.com/office/drawing/2014/main" id="{0588C831-B598-2B84-4C7C-BC79C266C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1796796"/>
            <a:ext cx="393192" cy="393192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87BB50A7-D24D-9386-52B7-1DB65AC746F9}"/>
              </a:ext>
            </a:extLst>
          </p:cNvPr>
          <p:cNvSpPr txBox="1"/>
          <p:nvPr/>
        </p:nvSpPr>
        <p:spPr>
          <a:xfrm>
            <a:off x="1417320" y="15910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+mj-lt"/>
                <a:ea typeface="Cambria" pitchFamily="34" charset="-122"/>
                <a:cs typeface="Cambria" pitchFamily="34" charset="-120"/>
              </a:rPr>
              <a:t>Completion Design Requirements</a:t>
            </a:r>
            <a:endParaRPr lang="en-US" sz="1450" dirty="0">
              <a:latin typeface="+mj-lt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CEA6D01-C13B-4785-792D-4952A1B29D8E}"/>
              </a:ext>
            </a:extLst>
          </p:cNvPr>
          <p:cNvSpPr txBox="1"/>
          <p:nvPr/>
        </p:nvSpPr>
        <p:spPr>
          <a:xfrm>
            <a:off x="1417320" y="1956816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Cased-hole ESP completion; 7 in. production casing cemented across reservoir for zonal isolation</a:t>
            </a:r>
            <a:endParaRPr lang="en-US" sz="1050" dirty="0">
              <a:latin typeface="+mj-lt"/>
            </a:endParaRP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Selective perforation of approved intervals within ∼4,000–4,500 ft TVDSS preliminary window</a:t>
            </a:r>
            <a:endParaRPr lang="en-US" sz="1050" dirty="0">
              <a:latin typeface="+mj-lt"/>
            </a:endParaRP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Final gun size, shot density, phasing &amp; firing sequence set after formation evaluation</a:t>
            </a:r>
            <a:endParaRPr lang="en-US" sz="1050" dirty="0">
              <a:latin typeface="+mj-lt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F2022AAC-13A3-2EA6-25D9-4C8D76D2AFBD}"/>
              </a:ext>
            </a:extLst>
          </p:cNvPr>
          <p:cNvSpPr/>
          <p:nvPr/>
        </p:nvSpPr>
        <p:spPr>
          <a:xfrm>
            <a:off x="365760" y="3136392"/>
            <a:ext cx="6537960" cy="1572768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DA3AF">
                <a:alpha val="25000"/>
              </a:srgbClr>
            </a:outerShdw>
          </a:effectLst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C696C2D9-D125-7F1F-1319-D56EA130577A}"/>
              </a:ext>
            </a:extLst>
          </p:cNvPr>
          <p:cNvSpPr/>
          <p:nvPr/>
        </p:nvSpPr>
        <p:spPr>
          <a:xfrm>
            <a:off x="594360" y="335584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D">
              <a:latin typeface="+mj-lt"/>
            </a:endParaRPr>
          </a:p>
        </p:txBody>
      </p:sp>
      <p:pic>
        <p:nvPicPr>
          <p:cNvPr id="17" name="Image 1" descr="/home/claude/icon_tubing.png">
            <a:extLst>
              <a:ext uri="{FF2B5EF4-FFF2-40B4-BE49-F238E27FC236}">
                <a16:creationId xmlns:a16="http://schemas.microsoft.com/office/drawing/2014/main" id="{068E7495-1E3A-D1CD-DE7F-A4C072E4C1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" y="3488436"/>
            <a:ext cx="393192" cy="393192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63BE4B30-0EA0-97EB-2B50-6AF0A4A889F5}"/>
              </a:ext>
            </a:extLst>
          </p:cNvPr>
          <p:cNvSpPr txBox="1"/>
          <p:nvPr/>
        </p:nvSpPr>
        <p:spPr>
          <a:xfrm>
            <a:off x="1417320" y="328269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+mj-lt"/>
                <a:ea typeface="Cambria" pitchFamily="34" charset="-122"/>
                <a:cs typeface="Cambria" pitchFamily="34" charset="-120"/>
              </a:rPr>
              <a:t>Production Tubing &amp; Accessories (Packer, SSSV)</a:t>
            </a:r>
            <a:endParaRPr lang="en-US" sz="1450" dirty="0">
              <a:latin typeface="+mj-lt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065ED43F-1214-A21D-ED63-B461F9B0F83C}"/>
              </a:ext>
            </a:extLst>
          </p:cNvPr>
          <p:cNvSpPr txBox="1"/>
          <p:nvPr/>
        </p:nvSpPr>
        <p:spPr>
          <a:xfrm>
            <a:off x="1417320" y="3648456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3-1/2 in., 9.3 ppf, J-55 EUE tubing — 2.992 in. ID / 2.867 in. drift; packerless ESP base case</a:t>
            </a:r>
            <a:endParaRPr lang="en-US" sz="1050" dirty="0">
              <a:latin typeface="+mj-lt"/>
            </a:endParaRP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Cable protector per joint; bands &amp; check/bleeder valve above ESP; KCl fill-up every 10 joints RIH</a:t>
            </a:r>
            <a:endParaRPr lang="en-US" sz="1050" dirty="0">
              <a:latin typeface="+mj-lt"/>
            </a:endParaRP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ESP cable megger/integrity check every 20 tubing joints during RIH</a:t>
            </a:r>
            <a:endParaRPr lang="en-US" sz="1050" dirty="0">
              <a:latin typeface="+mj-lt"/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F15B5839-7E7A-B76D-D6DD-9A882BD1CA5C}"/>
              </a:ext>
            </a:extLst>
          </p:cNvPr>
          <p:cNvSpPr/>
          <p:nvPr/>
        </p:nvSpPr>
        <p:spPr>
          <a:xfrm>
            <a:off x="365760" y="4828032"/>
            <a:ext cx="6537960" cy="1572768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DA3AF">
                <a:alpha val="25000"/>
              </a:srgbClr>
            </a:outerShdw>
          </a:effectLst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3B71BE56-9559-228E-6127-8971FF19897C}"/>
              </a:ext>
            </a:extLst>
          </p:cNvPr>
          <p:cNvSpPr/>
          <p:nvPr/>
        </p:nvSpPr>
        <p:spPr>
          <a:xfrm>
            <a:off x="594360" y="504748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D">
              <a:latin typeface="+mj-lt"/>
            </a:endParaRPr>
          </a:p>
        </p:txBody>
      </p:sp>
      <p:pic>
        <p:nvPicPr>
          <p:cNvPr id="27" name="Image 2" descr="/home/claude/icon_handover.png">
            <a:extLst>
              <a:ext uri="{FF2B5EF4-FFF2-40B4-BE49-F238E27FC236}">
                <a16:creationId xmlns:a16="http://schemas.microsoft.com/office/drawing/2014/main" id="{6191B922-93FE-41AB-EEE7-5D2F18299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" y="5180076"/>
            <a:ext cx="393192" cy="393192"/>
          </a:xfrm>
          <a:prstGeom prst="rect">
            <a:avLst/>
          </a:prstGeom>
        </p:spPr>
      </p:pic>
      <p:sp>
        <p:nvSpPr>
          <p:cNvPr id="29" name="Text 14">
            <a:extLst>
              <a:ext uri="{FF2B5EF4-FFF2-40B4-BE49-F238E27FC236}">
                <a16:creationId xmlns:a16="http://schemas.microsoft.com/office/drawing/2014/main" id="{46BD4D12-DE00-59B7-F748-CA3557CE1C4A}"/>
              </a:ext>
            </a:extLst>
          </p:cNvPr>
          <p:cNvSpPr txBox="1"/>
          <p:nvPr/>
        </p:nvSpPr>
        <p:spPr>
          <a:xfrm>
            <a:off x="1417320" y="49743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+mj-lt"/>
                <a:ea typeface="Cambria" pitchFamily="34" charset="-122"/>
                <a:cs typeface="Cambria" pitchFamily="34" charset="-120"/>
              </a:rPr>
              <a:t>Well Testing / Handover</a:t>
            </a:r>
            <a:endParaRPr lang="en-US" sz="1450" dirty="0">
              <a:latin typeface="+mj-lt"/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67458900-8EEE-4FD9-E1C6-EE4B96B6168D}"/>
              </a:ext>
            </a:extLst>
          </p:cNvPr>
          <p:cNvSpPr txBox="1"/>
          <p:nvPr/>
        </p:nvSpPr>
        <p:spPr>
          <a:xfrm>
            <a:off x="1417320" y="5340096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No swabbing or production well testing within Drilling &amp; Initial Completion (IC) scope</a:t>
            </a:r>
            <a:endParaRPr lang="en-US" sz="1050" dirty="0">
              <a:latin typeface="+mj-lt"/>
            </a:endParaRP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IC executed by drilling rig, including perforation and ESP string installation</a:t>
            </a:r>
            <a:endParaRPr lang="en-US" sz="1050" dirty="0">
              <a:latin typeface="+mj-lt"/>
            </a:endParaRP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Handover to Production/Operations after tubing hanger seal test (500 psi + MASP, 5 min)</a:t>
            </a:r>
            <a:endParaRPr lang="en-US" sz="1050" dirty="0">
              <a:latin typeface="+mj-lt"/>
            </a:endParaRPr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677CA298-8E2A-0DC8-38FA-18A84DD238D7}"/>
              </a:ext>
            </a:extLst>
          </p:cNvPr>
          <p:cNvSpPr txBox="1"/>
          <p:nvPr/>
        </p:nvSpPr>
        <p:spPr>
          <a:xfrm>
            <a:off x="7114032" y="14447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+mj-lt"/>
                <a:ea typeface="Cambria" pitchFamily="34" charset="-122"/>
                <a:cs typeface="Cambria" pitchFamily="34" charset="-120"/>
              </a:rPr>
              <a:t>KEY DESIGN PARAMETERS</a:t>
            </a:r>
            <a:endParaRPr lang="en-US" sz="1350" dirty="0">
              <a:latin typeface="+mj-lt"/>
            </a:endParaRPr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2395F300-C240-E587-9437-E010ECB60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569475"/>
              </p:ext>
            </p:extLst>
          </p:nvPr>
        </p:nvGraphicFramePr>
        <p:xfrm>
          <a:off x="7114032" y="1755648"/>
          <a:ext cx="4709160" cy="417423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Alpha-07 Design Basis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Completion Type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Cased-Hole ESP Completion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Production Casing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7 in.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Perforation Interval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∼4,000–4,500 ft TVDSS (preliminary)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Production Tubing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3-1/2 in., 9.3 ppf, J-55, EUE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Tubing ID / Drift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2.992 in. / 2.867 in.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Reference MUT (Min/Opt/Max)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1,710 / 2,280 / 2,850 ft-lbf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Packer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Not planned – packerless base case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Tubing Fill-Up (RIH)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KCl water every 10 joints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Cable Megger Check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Every 20 joints during RIH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Tubing Hanger Seal Test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500 psi + MASP, 5 min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02F36-7DE4-B853-9F64-9546BAC918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61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F931F17D-6EB8-CF58-E381-492F0B6A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1D0E5E21-7C57-065C-D098-C287CE393140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WELL SUSPENSION &amp; ABANDONMENT (P&amp;A) CRITERIA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716CF3DB-BFF8-78A8-E9FD-34D8704B66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A1A4A1F9-55FF-B009-4928-8C029CC171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72581422-56E9-EC73-6BE4-982554C6C692}"/>
              </a:ext>
            </a:extLst>
          </p:cNvPr>
          <p:cNvSpPr/>
          <p:nvPr/>
        </p:nvSpPr>
        <p:spPr>
          <a:xfrm>
            <a:off x="365760" y="1444752"/>
            <a:ext cx="6537960" cy="1572768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DA3AF">
                <a:alpha val="25000"/>
              </a:srgbClr>
            </a:outerShdw>
          </a:effectLst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BB9C30F-73AA-38E9-B864-A8FE476DA69D}"/>
              </a:ext>
            </a:extLst>
          </p:cNvPr>
          <p:cNvSpPr/>
          <p:nvPr/>
        </p:nvSpPr>
        <p:spPr>
          <a:xfrm>
            <a:off x="594360" y="166420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D">
              <a:latin typeface="+mj-lt"/>
            </a:endParaRPr>
          </a:p>
        </p:txBody>
      </p:sp>
      <p:pic>
        <p:nvPicPr>
          <p:cNvPr id="7" name="Image 0" descr="/home/claude/icon_isolation.png">
            <a:extLst>
              <a:ext uri="{FF2B5EF4-FFF2-40B4-BE49-F238E27FC236}">
                <a16:creationId xmlns:a16="http://schemas.microsoft.com/office/drawing/2014/main" id="{208BDE8B-7BC0-C2FD-69F6-B8529CF10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1796796"/>
            <a:ext cx="393192" cy="393192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26FD99B2-96B3-04AC-A436-1AD5660EDC33}"/>
              </a:ext>
            </a:extLst>
          </p:cNvPr>
          <p:cNvSpPr txBox="1"/>
          <p:nvPr/>
        </p:nvSpPr>
        <p:spPr>
          <a:xfrm>
            <a:off x="1417320" y="15910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+mj-lt"/>
                <a:ea typeface="Cambria" pitchFamily="34" charset="-122"/>
                <a:cs typeface="Cambria" pitchFamily="34" charset="-120"/>
              </a:rPr>
              <a:t>a. Final Zonal Isolation (Cement Plugs)</a:t>
            </a:r>
            <a:endParaRPr lang="en-US" sz="1450" dirty="0">
              <a:latin typeface="+mj-lt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CF37402-825F-758F-D5EF-E42B7C39042E}"/>
              </a:ext>
            </a:extLst>
          </p:cNvPr>
          <p:cNvSpPr txBox="1"/>
          <p:nvPr/>
        </p:nvSpPr>
        <p:spPr>
          <a:xfrm>
            <a:off x="1417320" y="1956816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Perforated interval: plug min. 100 ft above/below interval, or to nearest applicable plug</a:t>
            </a:r>
            <a:endParaRPr lang="en-US" sz="1050" dirty="0">
              <a:latin typeface="+mj-lt"/>
            </a:endParaRP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Open-hole &amp; casing-shoe zones: min. 100 ft below–above formation/shoe</a:t>
            </a:r>
            <a:endParaRPr lang="en-US" sz="1050" dirty="0">
              <a:latin typeface="+mj-lt"/>
            </a:endParaRP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Surface cement plug of min. 150 ft, top located ∼150 ft below surface/mud-line reference</a:t>
            </a:r>
            <a:endParaRPr lang="en-US" sz="1050" dirty="0">
              <a:latin typeface="+mj-lt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D3610AE1-269C-CF69-09C0-E25868C250CB}"/>
              </a:ext>
            </a:extLst>
          </p:cNvPr>
          <p:cNvSpPr/>
          <p:nvPr/>
        </p:nvSpPr>
        <p:spPr>
          <a:xfrm>
            <a:off x="365760" y="3136392"/>
            <a:ext cx="6537960" cy="1572768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DA3AF">
                <a:alpha val="25000"/>
              </a:srgbClr>
            </a:outerShdw>
          </a:effectLst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48790D46-A4E2-4864-E2EC-45C70069189D}"/>
              </a:ext>
            </a:extLst>
          </p:cNvPr>
          <p:cNvSpPr/>
          <p:nvPr/>
        </p:nvSpPr>
        <p:spPr>
          <a:xfrm>
            <a:off x="594360" y="335584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D">
              <a:latin typeface="+mj-lt"/>
            </a:endParaRPr>
          </a:p>
        </p:txBody>
      </p:sp>
      <p:pic>
        <p:nvPicPr>
          <p:cNvPr id="17" name="Image 1" descr="/home/claude/icon_verification.png">
            <a:extLst>
              <a:ext uri="{FF2B5EF4-FFF2-40B4-BE49-F238E27FC236}">
                <a16:creationId xmlns:a16="http://schemas.microsoft.com/office/drawing/2014/main" id="{9EBEC95B-BED5-0AF8-9949-10C5C654C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" y="3488436"/>
            <a:ext cx="393192" cy="393192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B4F0B062-8E61-CBE2-C267-ABF431117726}"/>
              </a:ext>
            </a:extLst>
          </p:cNvPr>
          <p:cNvSpPr txBox="1"/>
          <p:nvPr/>
        </p:nvSpPr>
        <p:spPr>
          <a:xfrm>
            <a:off x="1417320" y="328269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+mj-lt"/>
                <a:ea typeface="Cambria" pitchFamily="34" charset="-122"/>
                <a:cs typeface="Cambria" pitchFamily="34" charset="-120"/>
              </a:rPr>
              <a:t>b. Barrier Verification</a:t>
            </a:r>
            <a:endParaRPr lang="en-US" sz="1450" dirty="0">
              <a:latin typeface="+mj-lt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1D22A571-F3AF-9CDE-4094-D65F7BEF2773}"/>
              </a:ext>
            </a:extLst>
          </p:cNvPr>
          <p:cNvSpPr txBox="1"/>
          <p:nvPr/>
        </p:nvSpPr>
        <p:spPr>
          <a:xfrm>
            <a:off x="1417320" y="3648456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Verified by minimum 15,000-lbf load test on cement retainer/bridge plug, or</a:t>
            </a:r>
            <a:endParaRPr lang="en-US" sz="1050" dirty="0">
              <a:latin typeface="+mj-lt"/>
            </a:endParaRP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Minimum 1,000-psi pressure test for 15 minutes, per reference ASR requirement</a:t>
            </a:r>
            <a:endParaRPr lang="en-US" sz="1050" dirty="0">
              <a:latin typeface="+mj-lt"/>
            </a:endParaRP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Field reference basis: Plugs 1–3 verified by 15,000-lbf tag &amp; 1,000-psi test</a:t>
            </a:r>
            <a:endParaRPr lang="en-US" sz="1050" dirty="0">
              <a:latin typeface="+mj-lt"/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79142805-9AB7-CDD1-0AE2-6B5DAEB9F907}"/>
              </a:ext>
            </a:extLst>
          </p:cNvPr>
          <p:cNvSpPr/>
          <p:nvPr/>
        </p:nvSpPr>
        <p:spPr>
          <a:xfrm>
            <a:off x="365760" y="4828032"/>
            <a:ext cx="6537960" cy="1572768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  <a:effectLst>
            <a:outerShdw blurRad="76200" dist="25400" dir="5400000" algn="bl" rotWithShape="0">
              <a:srgbClr val="8DA3AF">
                <a:alpha val="25000"/>
              </a:srgbClr>
            </a:outerShdw>
          </a:effectLst>
        </p:spPr>
        <p:txBody>
          <a:bodyPr/>
          <a:lstStyle/>
          <a:p>
            <a:endParaRPr lang="en-ID">
              <a:latin typeface="+mj-lt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F864D492-43A4-0270-CFDE-86D6707961A3}"/>
              </a:ext>
            </a:extLst>
          </p:cNvPr>
          <p:cNvSpPr/>
          <p:nvPr/>
        </p:nvSpPr>
        <p:spPr>
          <a:xfrm>
            <a:off x="594360" y="504748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D">
              <a:latin typeface="+mj-lt"/>
            </a:endParaRPr>
          </a:p>
        </p:txBody>
      </p:sp>
      <p:pic>
        <p:nvPicPr>
          <p:cNvPr id="27" name="Image 2" descr="/home/claude/icon_restoration.png">
            <a:extLst>
              <a:ext uri="{FF2B5EF4-FFF2-40B4-BE49-F238E27FC236}">
                <a16:creationId xmlns:a16="http://schemas.microsoft.com/office/drawing/2014/main" id="{8765A531-99B2-3207-0939-A5B1EA4E39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" y="5180076"/>
            <a:ext cx="393192" cy="393192"/>
          </a:xfrm>
          <a:prstGeom prst="rect">
            <a:avLst/>
          </a:prstGeom>
        </p:spPr>
      </p:pic>
      <p:sp>
        <p:nvSpPr>
          <p:cNvPr id="29" name="Text 14">
            <a:extLst>
              <a:ext uri="{FF2B5EF4-FFF2-40B4-BE49-F238E27FC236}">
                <a16:creationId xmlns:a16="http://schemas.microsoft.com/office/drawing/2014/main" id="{73CD5AC4-E0CE-6A46-282F-19477FC2E1F9}"/>
              </a:ext>
            </a:extLst>
          </p:cNvPr>
          <p:cNvSpPr txBox="1"/>
          <p:nvPr/>
        </p:nvSpPr>
        <p:spPr>
          <a:xfrm>
            <a:off x="1417320" y="49743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+mj-lt"/>
                <a:ea typeface="Cambria" pitchFamily="34" charset="-122"/>
                <a:cs typeface="Cambria" pitchFamily="34" charset="-120"/>
              </a:rPr>
              <a:t>c. Surface Restoration Requirements</a:t>
            </a:r>
            <a:endParaRPr lang="en-US" sz="1450" dirty="0">
              <a:latin typeface="+mj-lt"/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D2307EB6-517E-30A5-0B1E-AEC2B6069077}"/>
              </a:ext>
            </a:extLst>
          </p:cNvPr>
          <p:cNvSpPr txBox="1"/>
          <p:nvPr/>
        </p:nvSpPr>
        <p:spPr>
          <a:xfrm>
            <a:off x="1417320" y="5340096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Wellhead, casing &amp; obstructions removed to min. 3 ft below ground level (onshore)</a:t>
            </a:r>
            <a:endParaRPr lang="en-US" sz="1050" dirty="0">
              <a:latin typeface="+mj-lt"/>
            </a:endParaRP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Above-ground facilities (fencing, piping, installations) removed per approved ASR plan</a:t>
            </a:r>
            <a:endParaRPr lang="en-US" sz="1050" dirty="0">
              <a:latin typeface="+mj-lt"/>
            </a:endParaRPr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733"/>
                </a:solidFill>
                <a:latin typeface="+mj-lt"/>
                <a:ea typeface="Calibri" pitchFamily="34" charset="-122"/>
                <a:cs typeface="Calibri" pitchFamily="34" charset="-120"/>
              </a:rPr>
              <a:t>Site re-grading and re-greening/revegetation as applicable</a:t>
            </a:r>
            <a:endParaRPr lang="en-US" sz="1050" dirty="0">
              <a:latin typeface="+mj-lt"/>
            </a:endParaRPr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D4F82F28-BD27-8213-B6B2-0D6A771DC8D6}"/>
              </a:ext>
            </a:extLst>
          </p:cNvPr>
          <p:cNvSpPr txBox="1"/>
          <p:nvPr/>
        </p:nvSpPr>
        <p:spPr>
          <a:xfrm>
            <a:off x="7114032" y="14447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+mj-lt"/>
                <a:ea typeface="Cambria" pitchFamily="34" charset="-122"/>
                <a:cs typeface="Cambria" pitchFamily="34" charset="-120"/>
              </a:rPr>
              <a:t>KEY ABANDONMENT PARAMETERS</a:t>
            </a:r>
            <a:endParaRPr lang="en-US" sz="1350" dirty="0">
              <a:latin typeface="+mj-lt"/>
            </a:endParaRPr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66452F68-8F76-001F-F847-5B504336E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087924"/>
              </p:ext>
            </p:extLst>
          </p:nvPr>
        </p:nvGraphicFramePr>
        <p:xfrm>
          <a:off x="7114032" y="1755648"/>
          <a:ext cx="4709160" cy="417423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Alpha-07 Design Basis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Reservoir / Perforation Isolation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Min. 100 ft above &amp; below perforated interval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Open-Hole Formation Isolation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Min. 100 ft below to 100 ft above formation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Open Hole Below Casing Shoe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Min. 100 ft below to 100 ft above shoe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Surface Cement Plug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Minimum 150 ft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Mechanical Plug Verification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Min. 15,000-lbf load test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Cement Plug Pressure Verification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Min. 1,000 psi for 15 min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Casing / Wellhead Cut-Off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Min. 3 ft below ground level (onshore)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Surface Equipment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Removed per approved ASR plan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Re-greening / Revegetation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Required as applicable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1295C"/>
                          </a:solidFill>
                        </a:rPr>
                        <a:t>Final Site Condition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733"/>
                          </a:solidFill>
                        </a:rPr>
                        <a:t>Subject to regulatory &amp; stakeholder acceptance</a:t>
                      </a:r>
                      <a:endParaRPr lang="en-US" sz="9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DC79B-BDA5-EF62-7B23-906CB0EFA3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88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9021EF5F-3594-74C8-0FC4-399EA5AC8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5">
            <a:extLst>
              <a:ext uri="{FF2B5EF4-FFF2-40B4-BE49-F238E27FC236}">
                <a16:creationId xmlns:a16="http://schemas.microsoft.com/office/drawing/2014/main" id="{AC7F7E42-FD51-CD20-782D-A3FCAC6F16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75" y="287290"/>
            <a:ext cx="11716269" cy="630408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>
            <a:extLst>
              <a:ext uri="{FF2B5EF4-FFF2-40B4-BE49-F238E27FC236}">
                <a16:creationId xmlns:a16="http://schemas.microsoft.com/office/drawing/2014/main" id="{3010C5AB-9E58-4B39-B4C6-FB1902747846}"/>
              </a:ext>
            </a:extLst>
          </p:cNvPr>
          <p:cNvSpPr/>
          <p:nvPr/>
        </p:nvSpPr>
        <p:spPr>
          <a:xfrm>
            <a:off x="259075" y="2007908"/>
            <a:ext cx="11716269" cy="2780907"/>
          </a:xfrm>
          <a:prstGeom prst="rect">
            <a:avLst/>
          </a:prstGeom>
          <a:solidFill>
            <a:srgbClr val="365DA8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15">
            <a:extLst>
              <a:ext uri="{FF2B5EF4-FFF2-40B4-BE49-F238E27FC236}">
                <a16:creationId xmlns:a16="http://schemas.microsoft.com/office/drawing/2014/main" id="{F72F6513-6831-B9A4-D353-DDA06A94EB0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94907" y="2459920"/>
            <a:ext cx="11202186" cy="195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WELLSITE &amp; EXECUTION STRATEGY</a:t>
            </a:r>
            <a:endParaRPr lang="en-US" dirty="0"/>
          </a:p>
        </p:txBody>
      </p:sp>
      <p:pic>
        <p:nvPicPr>
          <p:cNvPr id="344" name="Google Shape;344;p15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B24FB880-4DF7-AC49-761D-F43AA1E2FC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5">
            <a:extLst>
              <a:ext uri="{FF2B5EF4-FFF2-40B4-BE49-F238E27FC236}">
                <a16:creationId xmlns:a16="http://schemas.microsoft.com/office/drawing/2014/main" id="{151ACAF6-09B6-4021-9786-9026009403C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075" y="287290"/>
            <a:ext cx="1400175" cy="140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525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E845740B-3701-B978-8D49-31D49A317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4C27F36E-2AED-ABEF-1D9D-D4048964BC0D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WELL SITE PREPARATION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B51819F1-BAF7-6F16-973A-AB9B8E966D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AA52D5DC-7D13-98C5-23B3-956AD2B8C4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1">
            <a:extLst>
              <a:ext uri="{FF2B5EF4-FFF2-40B4-BE49-F238E27FC236}">
                <a16:creationId xmlns:a16="http://schemas.microsoft.com/office/drawing/2014/main" id="{EE2E65B7-FFDE-DA94-D7AA-206268B90954}"/>
              </a:ext>
            </a:extLst>
          </p:cNvPr>
          <p:cNvSpPr/>
          <p:nvPr/>
        </p:nvSpPr>
        <p:spPr>
          <a:xfrm flipH="1">
            <a:off x="9891379" y="5574840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 extrusionOk="0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7888ACD4-AA05-516D-2C12-D42B358B1113}"/>
              </a:ext>
            </a:extLst>
          </p:cNvPr>
          <p:cNvSpPr/>
          <p:nvPr/>
        </p:nvSpPr>
        <p:spPr>
          <a:xfrm>
            <a:off x="498510" y="1133655"/>
            <a:ext cx="2542032" cy="868680"/>
          </a:xfrm>
          <a:prstGeom prst="round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1161C-2B66-952C-38CC-017B5A4CBFFD}"/>
              </a:ext>
            </a:extLst>
          </p:cNvPr>
          <p:cNvSpPr txBox="1"/>
          <p:nvPr/>
        </p:nvSpPr>
        <p:spPr>
          <a:xfrm>
            <a:off x="984696" y="1252527"/>
            <a:ext cx="15696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+mj-lt"/>
              </a:rPr>
              <a:t>2</a:t>
            </a:r>
            <a:r>
              <a:rPr lang="en-US" sz="2400" b="1" dirty="0">
                <a:solidFill>
                  <a:srgbClr val="FFFFFF"/>
                </a:solidFill>
                <a:latin typeface="+mj-lt"/>
              </a:rPr>
              <a:t> </a:t>
            </a:r>
            <a:r>
              <a:rPr sz="2400" b="1" dirty="0">
                <a:solidFill>
                  <a:srgbClr val="FFFFFF"/>
                </a:solidFill>
                <a:latin typeface="+mj-lt"/>
              </a:rPr>
              <a:t>–</a:t>
            </a:r>
            <a:r>
              <a:rPr lang="en-US" sz="2400" b="1" dirty="0">
                <a:solidFill>
                  <a:srgbClr val="FFFFFF"/>
                </a:solidFill>
                <a:latin typeface="+mj-lt"/>
              </a:rPr>
              <a:t> </a:t>
            </a:r>
            <a:r>
              <a:rPr sz="2400" b="1" dirty="0">
                <a:solidFill>
                  <a:srgbClr val="FFFFFF"/>
                </a:solidFill>
                <a:latin typeface="+mj-lt"/>
              </a:rPr>
              <a:t>2.5 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4D7103-54D0-32FC-E9E3-535FBE29B95C}"/>
              </a:ext>
            </a:extLst>
          </p:cNvPr>
          <p:cNvSpPr txBox="1"/>
          <p:nvPr/>
        </p:nvSpPr>
        <p:spPr>
          <a:xfrm>
            <a:off x="660891" y="1599999"/>
            <a:ext cx="221727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 err="1">
                <a:solidFill>
                  <a:srgbClr val="FFFFFF"/>
                </a:solidFill>
                <a:latin typeface="+mj-lt"/>
              </a:rPr>
              <a:t>Wellpad</a:t>
            </a:r>
            <a:r>
              <a:rPr sz="1200" dirty="0">
                <a:solidFill>
                  <a:srgbClr val="FFFFFF"/>
                </a:solidFill>
                <a:latin typeface="+mj-lt"/>
              </a:rPr>
              <a:t> + supporting facilities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5ACCD874-D842-52A4-5DCA-7D6443C141A3}"/>
              </a:ext>
            </a:extLst>
          </p:cNvPr>
          <p:cNvSpPr/>
          <p:nvPr/>
        </p:nvSpPr>
        <p:spPr>
          <a:xfrm>
            <a:off x="3287430" y="1133655"/>
            <a:ext cx="2542032" cy="868680"/>
          </a:xfrm>
          <a:prstGeom prst="round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8B7BD3-ED26-ED1E-0ECD-D5C00ED5CFED}"/>
              </a:ext>
            </a:extLst>
          </p:cNvPr>
          <p:cNvSpPr txBox="1"/>
          <p:nvPr/>
        </p:nvSpPr>
        <p:spPr>
          <a:xfrm>
            <a:off x="3952351" y="1252527"/>
            <a:ext cx="121219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+mj-lt"/>
              </a:rPr>
              <a:t>750 HP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3AAC1C-8330-9278-2048-5013AEC0B5C7}"/>
              </a:ext>
            </a:extLst>
          </p:cNvPr>
          <p:cNvSpPr txBox="1"/>
          <p:nvPr/>
        </p:nvSpPr>
        <p:spPr>
          <a:xfrm>
            <a:off x="3742359" y="1599999"/>
            <a:ext cx="16321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+mj-lt"/>
              </a:rPr>
              <a:t>Land rig design basis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72CA3319-BD4D-AE36-FEA3-A066F64A46F4}"/>
              </a:ext>
            </a:extLst>
          </p:cNvPr>
          <p:cNvSpPr/>
          <p:nvPr/>
        </p:nvSpPr>
        <p:spPr>
          <a:xfrm>
            <a:off x="6076350" y="1133655"/>
            <a:ext cx="2542032" cy="868680"/>
          </a:xfrm>
          <a:prstGeom prst="round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386F49-CF7E-25F9-F11F-1A3A75B8CFD7}"/>
              </a:ext>
            </a:extLst>
          </p:cNvPr>
          <p:cNvSpPr txBox="1"/>
          <p:nvPr/>
        </p:nvSpPr>
        <p:spPr>
          <a:xfrm>
            <a:off x="6862296" y="1252527"/>
            <a:ext cx="97013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+mj-lt"/>
              </a:rPr>
              <a:t>24 in.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B206C9-6CEA-C4ED-73A5-0C479FBBD044}"/>
              </a:ext>
            </a:extLst>
          </p:cNvPr>
          <p:cNvSpPr txBox="1"/>
          <p:nvPr/>
        </p:nvSpPr>
        <p:spPr>
          <a:xfrm>
            <a:off x="6649100" y="1599999"/>
            <a:ext cx="139653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+mj-lt"/>
              </a:rPr>
              <a:t>Pre-set conductor</a:t>
            </a:r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8E7EC5DB-70E9-6C6C-9B6A-A6A67FB82328}"/>
              </a:ext>
            </a:extLst>
          </p:cNvPr>
          <p:cNvSpPr/>
          <p:nvPr/>
        </p:nvSpPr>
        <p:spPr>
          <a:xfrm>
            <a:off x="8865269" y="1133655"/>
            <a:ext cx="2542032" cy="868680"/>
          </a:xfrm>
          <a:prstGeom prst="round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0CA14C-9CE0-DC13-4F2E-97EFCDDBB227}"/>
              </a:ext>
            </a:extLst>
          </p:cNvPr>
          <p:cNvSpPr txBox="1"/>
          <p:nvPr/>
        </p:nvSpPr>
        <p:spPr>
          <a:xfrm>
            <a:off x="9564655" y="1252527"/>
            <a:ext cx="11432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+mj-lt"/>
              </a:rPr>
              <a:t>6 </a:t>
            </a:r>
            <a:r>
              <a:rPr lang="en-US" sz="2400" b="1" dirty="0">
                <a:solidFill>
                  <a:srgbClr val="FFFFFF"/>
                </a:solidFill>
                <a:latin typeface="+mj-lt"/>
              </a:rPr>
              <a:t>days</a:t>
            </a:r>
            <a:endParaRPr sz="2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571DEA-5AAE-F113-A296-9A649771326A}"/>
              </a:ext>
            </a:extLst>
          </p:cNvPr>
          <p:cNvSpPr txBox="1"/>
          <p:nvPr/>
        </p:nvSpPr>
        <p:spPr>
          <a:xfrm>
            <a:off x="8824869" y="1599999"/>
            <a:ext cx="26228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+mj-lt"/>
              </a:rPr>
              <a:t>Short-move rig mobilization &amp; rig-up</a:t>
            </a:r>
          </a:p>
        </p:txBody>
      </p:sp>
      <p:sp>
        <p:nvSpPr>
          <p:cNvPr id="27" name="Rounded Rectangle 15">
            <a:extLst>
              <a:ext uri="{FF2B5EF4-FFF2-40B4-BE49-F238E27FC236}">
                <a16:creationId xmlns:a16="http://schemas.microsoft.com/office/drawing/2014/main" id="{2E02FC2C-A3FC-1752-2FDF-210073BF1707}"/>
              </a:ext>
            </a:extLst>
          </p:cNvPr>
          <p:cNvSpPr/>
          <p:nvPr/>
        </p:nvSpPr>
        <p:spPr>
          <a:xfrm>
            <a:off x="416318" y="2289949"/>
            <a:ext cx="3670028" cy="2177777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D44B64-4EA7-B23F-1B69-DAD9FC96AF48}"/>
              </a:ext>
            </a:extLst>
          </p:cNvPr>
          <p:cNvSpPr/>
          <p:nvPr/>
        </p:nvSpPr>
        <p:spPr>
          <a:xfrm>
            <a:off x="416318" y="2289950"/>
            <a:ext cx="64008" cy="2153110"/>
          </a:xfrm>
          <a:prstGeom prst="rect">
            <a:avLst/>
          </a:prstGeom>
          <a:solidFill>
            <a:srgbClr val="277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480EC7-DE66-6D18-6D14-40B8A491E92F}"/>
              </a:ext>
            </a:extLst>
          </p:cNvPr>
          <p:cNvSpPr txBox="1"/>
          <p:nvPr/>
        </p:nvSpPr>
        <p:spPr>
          <a:xfrm>
            <a:off x="617485" y="2349629"/>
            <a:ext cx="197522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sng" dirty="0" err="1">
                <a:solidFill>
                  <a:srgbClr val="142A40"/>
                </a:solidFill>
                <a:latin typeface="+mj-lt"/>
              </a:rPr>
              <a:t>Wellpad</a:t>
            </a:r>
            <a:r>
              <a:rPr sz="1600" b="1" u="sng" dirty="0">
                <a:solidFill>
                  <a:srgbClr val="142A40"/>
                </a:solidFill>
                <a:latin typeface="+mj-lt"/>
              </a:rPr>
              <a:t> &amp; Ground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6B2C5A-7962-E5EC-F8C2-072D264E63F4}"/>
              </a:ext>
            </a:extLst>
          </p:cNvPr>
          <p:cNvSpPr txBox="1"/>
          <p:nvPr/>
        </p:nvSpPr>
        <p:spPr>
          <a:xfrm>
            <a:off x="617485" y="2706244"/>
            <a:ext cx="3456434" cy="13285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300" dirty="0">
                <a:latin typeface="+mj-lt"/>
              </a:rPr>
              <a:t>• New </a:t>
            </a:r>
            <a:r>
              <a:rPr sz="1300" dirty="0" err="1">
                <a:latin typeface="+mj-lt"/>
              </a:rPr>
              <a:t>wellpad</a:t>
            </a:r>
            <a:r>
              <a:rPr sz="1300" dirty="0">
                <a:latin typeface="+mj-lt"/>
              </a:rPr>
              <a:t> for rig, drilling equipment and heavy-equipment movement</a:t>
            </a:r>
          </a:p>
          <a:p>
            <a:pPr>
              <a:spcAft>
                <a:spcPts val="5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300" dirty="0">
                <a:latin typeface="+mj-lt"/>
              </a:rPr>
              <a:t>• Civil/geotechnical assessment → bearing capacity &amp; ground improvement</a:t>
            </a:r>
          </a:p>
          <a:p>
            <a:pPr>
              <a:spcAft>
                <a:spcPts val="5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300" dirty="0">
                <a:latin typeface="+mj-lt"/>
              </a:rPr>
              <a:t>• Soft ground / heavy rain: compaction, suitable fill or matting as required</a:t>
            </a:r>
          </a:p>
        </p:txBody>
      </p:sp>
      <p:sp>
        <p:nvSpPr>
          <p:cNvPr id="35" name="Rounded Rectangle 19">
            <a:extLst>
              <a:ext uri="{FF2B5EF4-FFF2-40B4-BE49-F238E27FC236}">
                <a16:creationId xmlns:a16="http://schemas.microsoft.com/office/drawing/2014/main" id="{C08F904E-06BD-4E8F-6579-71C35E646D50}"/>
              </a:ext>
            </a:extLst>
          </p:cNvPr>
          <p:cNvSpPr/>
          <p:nvPr/>
        </p:nvSpPr>
        <p:spPr>
          <a:xfrm>
            <a:off x="4254330" y="2289950"/>
            <a:ext cx="3520440" cy="2153110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AB1126A-4A2D-1293-6764-C621E1A4FFD0}"/>
              </a:ext>
            </a:extLst>
          </p:cNvPr>
          <p:cNvSpPr/>
          <p:nvPr/>
        </p:nvSpPr>
        <p:spPr>
          <a:xfrm>
            <a:off x="4254330" y="2310498"/>
            <a:ext cx="64008" cy="2138680"/>
          </a:xfrm>
          <a:prstGeom prst="rect">
            <a:avLst/>
          </a:prstGeom>
          <a:solidFill>
            <a:srgbClr val="2A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353EA6-7570-6960-B2D6-219F9E91A642}"/>
              </a:ext>
            </a:extLst>
          </p:cNvPr>
          <p:cNvSpPr txBox="1"/>
          <p:nvPr/>
        </p:nvSpPr>
        <p:spPr>
          <a:xfrm>
            <a:off x="4455498" y="2395158"/>
            <a:ext cx="20537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sng" dirty="0">
                <a:solidFill>
                  <a:srgbClr val="142A40"/>
                </a:solidFill>
                <a:latin typeface="+mj-lt"/>
              </a:rPr>
              <a:t>Cellar &amp; Conductor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BCE6C9-BA04-37A6-22EB-F65470406BEF}"/>
              </a:ext>
            </a:extLst>
          </p:cNvPr>
          <p:cNvSpPr txBox="1"/>
          <p:nvPr/>
        </p:nvSpPr>
        <p:spPr>
          <a:xfrm>
            <a:off x="4455497" y="2741499"/>
            <a:ext cx="3355847" cy="160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+mj-lt"/>
              </a:rPr>
              <a:t>• Cellar completed before rig mobilization; drainage required</a:t>
            </a:r>
          </a:p>
          <a:p>
            <a:pPr>
              <a:spcAft>
                <a:spcPts val="5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+mj-lt"/>
              </a:rPr>
              <a:t>• 24 in. × 1-joint pre-set conductor</a:t>
            </a:r>
          </a:p>
          <a:p>
            <a:pPr>
              <a:spcAft>
                <a:spcPts val="5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+mj-lt"/>
              </a:rPr>
              <a:t>• Driven with 2-ton drop hammer; acceptance based on approved BPF criterion</a:t>
            </a:r>
          </a:p>
        </p:txBody>
      </p:sp>
      <p:sp>
        <p:nvSpPr>
          <p:cNvPr id="43" name="Rounded Rectangle 23">
            <a:extLst>
              <a:ext uri="{FF2B5EF4-FFF2-40B4-BE49-F238E27FC236}">
                <a16:creationId xmlns:a16="http://schemas.microsoft.com/office/drawing/2014/main" id="{8ACEBA7C-1666-2BF4-4BF8-8144ED918EDF}"/>
              </a:ext>
            </a:extLst>
          </p:cNvPr>
          <p:cNvSpPr/>
          <p:nvPr/>
        </p:nvSpPr>
        <p:spPr>
          <a:xfrm>
            <a:off x="7948506" y="2327536"/>
            <a:ext cx="3730752" cy="1984276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48590DB-76E8-C8BC-BA49-60B99372387C}"/>
              </a:ext>
            </a:extLst>
          </p:cNvPr>
          <p:cNvSpPr/>
          <p:nvPr/>
        </p:nvSpPr>
        <p:spPr>
          <a:xfrm>
            <a:off x="7948506" y="2349629"/>
            <a:ext cx="64008" cy="1962183"/>
          </a:xfrm>
          <a:prstGeom prst="rect">
            <a:avLst/>
          </a:prstGeom>
          <a:solidFill>
            <a:srgbClr val="E0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C09CD9-3ABC-79FE-ACB1-043FA26B5AA0}"/>
              </a:ext>
            </a:extLst>
          </p:cNvPr>
          <p:cNvSpPr txBox="1"/>
          <p:nvPr/>
        </p:nvSpPr>
        <p:spPr>
          <a:xfrm>
            <a:off x="8149674" y="2395158"/>
            <a:ext cx="23823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sng" dirty="0">
                <a:solidFill>
                  <a:srgbClr val="142A40"/>
                </a:solidFill>
                <a:latin typeface="+mj-lt"/>
              </a:rPr>
              <a:t>Access Road &amp; Bridge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896BC9-4AB8-B681-962E-B9B83B62FCDD}"/>
              </a:ext>
            </a:extLst>
          </p:cNvPr>
          <p:cNvSpPr txBox="1"/>
          <p:nvPr/>
        </p:nvSpPr>
        <p:spPr>
          <a:xfrm>
            <a:off x="8149674" y="2792869"/>
            <a:ext cx="3383280" cy="13593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+mj-lt"/>
              </a:rPr>
              <a:t>• Route survey before rig move</a:t>
            </a:r>
          </a:p>
          <a:p>
            <a:pPr>
              <a:spcAft>
                <a:spcPts val="5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+mj-lt"/>
              </a:rPr>
              <a:t>• Verify road/bridge load capacity &amp; clearance for 750 HP rig</a:t>
            </a:r>
          </a:p>
          <a:p>
            <a:pPr>
              <a:spcAft>
                <a:spcPts val="5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+mj-lt"/>
              </a:rPr>
              <a:t>• Strengthening/matting, permits and traffic control where required</a:t>
            </a:r>
          </a:p>
        </p:txBody>
      </p:sp>
      <p:sp>
        <p:nvSpPr>
          <p:cNvPr id="51" name="Rounded Rectangle 27">
            <a:extLst>
              <a:ext uri="{FF2B5EF4-FFF2-40B4-BE49-F238E27FC236}">
                <a16:creationId xmlns:a16="http://schemas.microsoft.com/office/drawing/2014/main" id="{35C3FC03-6B53-7C70-0E34-D314FA5EC2E9}"/>
              </a:ext>
            </a:extLst>
          </p:cNvPr>
          <p:cNvSpPr/>
          <p:nvPr/>
        </p:nvSpPr>
        <p:spPr>
          <a:xfrm>
            <a:off x="395770" y="4712022"/>
            <a:ext cx="5532120" cy="1865903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3A4FBF8-3C09-D002-C2F2-17A988C20F03}"/>
              </a:ext>
            </a:extLst>
          </p:cNvPr>
          <p:cNvSpPr/>
          <p:nvPr/>
        </p:nvSpPr>
        <p:spPr>
          <a:xfrm>
            <a:off x="395770" y="4699321"/>
            <a:ext cx="64008" cy="1865903"/>
          </a:xfrm>
          <a:prstGeom prst="rect">
            <a:avLst/>
          </a:prstGeom>
          <a:solidFill>
            <a:srgbClr val="2A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58E5E8-A476-6683-6E08-2B26BEDA4021}"/>
              </a:ext>
            </a:extLst>
          </p:cNvPr>
          <p:cNvSpPr txBox="1"/>
          <p:nvPr/>
        </p:nvSpPr>
        <p:spPr>
          <a:xfrm>
            <a:off x="560393" y="4741967"/>
            <a:ext cx="25218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sng" dirty="0">
                <a:solidFill>
                  <a:srgbClr val="142A40"/>
                </a:solidFill>
                <a:latin typeface="+mj-lt"/>
              </a:rPr>
              <a:t>Water Supply &amp; Storage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D36805-535D-AF83-1B20-36E85861E945}"/>
              </a:ext>
            </a:extLst>
          </p:cNvPr>
          <p:cNvSpPr txBox="1"/>
          <p:nvPr/>
        </p:nvSpPr>
        <p:spPr>
          <a:xfrm>
            <a:off x="592366" y="5078307"/>
            <a:ext cx="5184648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050">
                <a:solidFill>
                  <a:srgbClr val="2D3741"/>
                </a:solidFill>
                <a:latin typeface="Aptos"/>
              </a:defRPr>
            </a:pPr>
            <a:r>
              <a:rPr sz="1500" dirty="0">
                <a:latin typeface="+mj-lt"/>
              </a:rPr>
              <a:t>Sources: GS standpipe / CMTF / available field canal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050">
                <a:solidFill>
                  <a:srgbClr val="2D3741"/>
                </a:solidFill>
                <a:latin typeface="Aptos"/>
              </a:defRPr>
            </a:pPr>
            <a:r>
              <a:rPr sz="1500" dirty="0">
                <a:latin typeface="+mj-lt"/>
              </a:rPr>
              <a:t>Water quality check is required before mud preparation and must be compatible with KC</a:t>
            </a:r>
            <a:r>
              <a:rPr lang="en-US" sz="1500" dirty="0">
                <a:latin typeface="+mj-lt"/>
              </a:rPr>
              <a:t>I</a:t>
            </a:r>
            <a:r>
              <a:rPr sz="1500" dirty="0">
                <a:latin typeface="+mj-lt"/>
              </a:rPr>
              <a:t>-Polymer WBM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050">
                <a:solidFill>
                  <a:srgbClr val="2D3741"/>
                </a:solidFill>
                <a:latin typeface="Aptos"/>
              </a:defRPr>
            </a:pPr>
            <a:r>
              <a:rPr sz="1500" dirty="0">
                <a:latin typeface="+mj-lt"/>
              </a:rPr>
              <a:t>Maintain adequate storage buffer; approved alternative source may be used as contingency</a:t>
            </a:r>
          </a:p>
        </p:txBody>
      </p:sp>
      <p:sp>
        <p:nvSpPr>
          <p:cNvPr id="59" name="Rounded Rectangle 31">
            <a:extLst>
              <a:ext uri="{FF2B5EF4-FFF2-40B4-BE49-F238E27FC236}">
                <a16:creationId xmlns:a16="http://schemas.microsoft.com/office/drawing/2014/main" id="{671A2497-D92B-6E12-0374-B1CEB962618C}"/>
              </a:ext>
            </a:extLst>
          </p:cNvPr>
          <p:cNvSpPr/>
          <p:nvPr/>
        </p:nvSpPr>
        <p:spPr>
          <a:xfrm>
            <a:off x="6096000" y="4700871"/>
            <a:ext cx="5722036" cy="1633122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AFC3555-0784-B83A-F202-E5B7B65792B3}"/>
              </a:ext>
            </a:extLst>
          </p:cNvPr>
          <p:cNvSpPr/>
          <p:nvPr/>
        </p:nvSpPr>
        <p:spPr>
          <a:xfrm>
            <a:off x="6100015" y="4725493"/>
            <a:ext cx="57809" cy="1608500"/>
          </a:xfrm>
          <a:prstGeom prst="rect">
            <a:avLst/>
          </a:prstGeom>
          <a:solidFill>
            <a:srgbClr val="4B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EB6E99-C6A8-88F3-0D9A-D5CD6590D9D5}"/>
              </a:ext>
            </a:extLst>
          </p:cNvPr>
          <p:cNvSpPr txBox="1"/>
          <p:nvPr/>
        </p:nvSpPr>
        <p:spPr>
          <a:xfrm>
            <a:off x="6310808" y="4766878"/>
            <a:ext cx="32640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sng" dirty="0">
                <a:solidFill>
                  <a:srgbClr val="142A40"/>
                </a:solidFill>
                <a:latin typeface="+mj-lt"/>
              </a:rPr>
              <a:t>Waste &amp; Environmental Control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85E58B6E-7EB2-9BBA-F440-1D9AFC201A03}"/>
              </a:ext>
            </a:extLst>
          </p:cNvPr>
          <p:cNvSpPr txBox="1"/>
          <p:nvPr/>
        </p:nvSpPr>
        <p:spPr>
          <a:xfrm>
            <a:off x="6379388" y="5093321"/>
            <a:ext cx="5438648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500" dirty="0">
                <a:latin typeface="+mj-lt"/>
              </a:rPr>
              <a:t>• Dedicated disposal pit with geomembrane + containment berm</a:t>
            </a:r>
          </a:p>
          <a:p>
            <a:pPr>
              <a:spcAft>
                <a:spcPts val="5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500" dirty="0">
                <a:latin typeface="+mj-lt"/>
              </a:rPr>
              <a:t>• Liquid drilling waste → temporary pit → vacuum truck → CMTF</a:t>
            </a:r>
          </a:p>
          <a:p>
            <a:pPr>
              <a:spcAft>
                <a:spcPts val="5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500" dirty="0">
                <a:latin typeface="+mj-lt"/>
              </a:rPr>
              <a:t>• Chemical &amp; domestic waste segregated at source; prevent soil/water contamination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004F6-6F3A-8A87-ED10-FF4C201732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1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E17EE35F-A9DA-F0FF-E57C-6DB428E7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6102A72E-8050-540D-DE58-0E60E6BD6002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WELL SITE PREPARATION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E5C63F6C-4F01-82B1-CD49-5A7E0E547A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ED46F97E-5153-AFBD-8805-7D188B4128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D85369-D094-0D19-938D-A77CF8CCF01B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4" y="1046375"/>
            <a:ext cx="5220545" cy="4923424"/>
          </a:xfrm>
          <a:prstGeom prst="rect">
            <a:avLst/>
          </a:prstGeom>
          <a:noFill/>
        </p:spPr>
      </p:pic>
      <p:pic>
        <p:nvPicPr>
          <p:cNvPr id="8" name="Picture 7" descr="Timeline&#10;&#10;Description automatically generated">
            <a:extLst>
              <a:ext uri="{FF2B5EF4-FFF2-40B4-BE49-F238E27FC236}">
                <a16:creationId xmlns:a16="http://schemas.microsoft.com/office/drawing/2014/main" id="{5C17A1C4-A0B8-DAA5-1CB3-EA0EA00B926D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5816598" y="1356100"/>
            <a:ext cx="6282268" cy="379323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BC1915-213C-30BD-56B3-A4CAADD65510}"/>
              </a:ext>
            </a:extLst>
          </p:cNvPr>
          <p:cNvSpPr txBox="1"/>
          <p:nvPr/>
        </p:nvSpPr>
        <p:spPr>
          <a:xfrm>
            <a:off x="5909732" y="5344882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13.2 Alpha-07 Drilling Waste Handling &amp; Disposal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3D6B2C-DAAA-9CC2-FC60-0C7787B45E45}"/>
              </a:ext>
            </a:extLst>
          </p:cNvPr>
          <p:cNvSpPr txBox="1"/>
          <p:nvPr/>
        </p:nvSpPr>
        <p:spPr>
          <a:xfrm>
            <a:off x="381001" y="6054326"/>
            <a:ext cx="39539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13.1 Typical 750 HP Rig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Wellpad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Layout for Alpha-07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6EB900-4D50-6AFF-A953-1BAF6D4C00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02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80AFA3F2-F2DE-0414-9021-927F28752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4D4757FE-C436-D3E9-55ED-0D36B5065AF8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EXECUTION STRATEGY / GENERAL OPERATIONAL SEQUENCE 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BF5FB35F-1A6C-20F3-71A4-7E3D4B73B9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7ABDA9D9-052C-C7F5-4EBD-CB94576AB0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FABD8E-F0CA-9BFC-0B90-3AFBFD69AF3E}"/>
              </a:ext>
            </a:extLst>
          </p:cNvPr>
          <p:cNvSpPr txBox="1"/>
          <p:nvPr/>
        </p:nvSpPr>
        <p:spPr>
          <a:xfrm>
            <a:off x="518159" y="1022782"/>
            <a:ext cx="117423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2D3741"/>
                </a:solidFill>
                <a:latin typeface="+mj-lt"/>
              </a:rPr>
              <a:t>Short moving (Intra Field) </a:t>
            </a:r>
            <a:r>
              <a:rPr lang="en-US" sz="1600" dirty="0">
                <a:solidFill>
                  <a:srgbClr val="2D3741"/>
                </a:solidFill>
                <a:latin typeface="+mj-lt"/>
                <a:sym typeface="Wingdings" panose="05000000000000000000" pitchFamily="2" charset="2"/>
              </a:rPr>
              <a:t> Total Well Cycle Including Moving (Moving + drilling + initial completion)  </a:t>
            </a:r>
            <a:r>
              <a:rPr lang="en-US" sz="2800" b="1" dirty="0">
                <a:solidFill>
                  <a:srgbClr val="2D3741"/>
                </a:solidFill>
                <a:highlight>
                  <a:srgbClr val="FFFF00"/>
                </a:highlight>
                <a:latin typeface="+mj-lt"/>
                <a:sym typeface="Wingdings" panose="05000000000000000000" pitchFamily="2" charset="2"/>
              </a:rPr>
              <a:t>21.30 days </a:t>
            </a:r>
            <a:endParaRPr lang="en-US" sz="1050" b="1" dirty="0">
              <a:solidFill>
                <a:srgbClr val="2D3741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F4BB05AE-D8EF-283D-B231-329926D1CEC4}"/>
              </a:ext>
            </a:extLst>
          </p:cNvPr>
          <p:cNvSpPr/>
          <p:nvPr/>
        </p:nvSpPr>
        <p:spPr>
          <a:xfrm>
            <a:off x="426719" y="1579551"/>
            <a:ext cx="1490472" cy="2331719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CD2F47-62F9-1AF2-A454-CB6841DA20C0}"/>
              </a:ext>
            </a:extLst>
          </p:cNvPr>
          <p:cNvSpPr/>
          <p:nvPr/>
        </p:nvSpPr>
        <p:spPr>
          <a:xfrm>
            <a:off x="902207" y="1689280"/>
            <a:ext cx="530352" cy="530352"/>
          </a:xfrm>
          <a:prstGeom prst="ellipse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443CE-8F3A-7585-C68B-01248FE42332}"/>
              </a:ext>
            </a:extLst>
          </p:cNvPr>
          <p:cNvSpPr txBox="1"/>
          <p:nvPr/>
        </p:nvSpPr>
        <p:spPr>
          <a:xfrm>
            <a:off x="1003716" y="1753288"/>
            <a:ext cx="3273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+mj-lt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36E621-387B-4A36-4B39-0025C28C89D9}"/>
              </a:ext>
            </a:extLst>
          </p:cNvPr>
          <p:cNvSpPr txBox="1"/>
          <p:nvPr/>
        </p:nvSpPr>
        <p:spPr>
          <a:xfrm>
            <a:off x="525334" y="2242536"/>
            <a:ext cx="124896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142A40"/>
                </a:solidFill>
                <a:latin typeface="+mj-lt"/>
              </a:rPr>
              <a:t>Move-in &amp;</a:t>
            </a:r>
            <a:r>
              <a:rPr lang="en-US" sz="1050" b="1" dirty="0">
                <a:solidFill>
                  <a:srgbClr val="142A40"/>
                </a:solidFill>
                <a:latin typeface="+mj-lt"/>
              </a:rPr>
              <a:t> </a:t>
            </a:r>
            <a:r>
              <a:rPr sz="1050" b="1" dirty="0">
                <a:solidFill>
                  <a:srgbClr val="142A40"/>
                </a:solidFill>
                <a:latin typeface="+mj-lt"/>
              </a:rPr>
              <a:t>Rig-up</a:t>
            </a:r>
            <a:endParaRPr lang="en-US" sz="1050" b="1" dirty="0">
              <a:solidFill>
                <a:srgbClr val="142A40"/>
              </a:solidFill>
              <a:latin typeface="+mj-lt"/>
            </a:endParaRPr>
          </a:p>
          <a:p>
            <a:pPr algn="ctr"/>
            <a:endParaRPr lang="en-US" sz="1050" dirty="0">
              <a:solidFill>
                <a:srgbClr val="142A40"/>
              </a:solidFill>
              <a:latin typeface="+mj-lt"/>
            </a:endParaRPr>
          </a:p>
          <a:p>
            <a:pPr algn="ctr"/>
            <a:r>
              <a:rPr lang="en-US" sz="1050" dirty="0">
                <a:solidFill>
                  <a:srgbClr val="142A40"/>
                </a:solidFill>
                <a:latin typeface="+mj-lt"/>
              </a:rPr>
              <a:t>Rig mobilization, positioning, rig-up and preparation of drilling equipment</a:t>
            </a:r>
            <a:endParaRPr sz="1050" dirty="0">
              <a:solidFill>
                <a:srgbClr val="142A4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0125C-5D50-19CE-CC12-CC0297E21E86}"/>
              </a:ext>
            </a:extLst>
          </p:cNvPr>
          <p:cNvSpPr txBox="1"/>
          <p:nvPr/>
        </p:nvSpPr>
        <p:spPr>
          <a:xfrm>
            <a:off x="787670" y="3622517"/>
            <a:ext cx="81945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6.00 d</a:t>
            </a:r>
            <a:r>
              <a:rPr lang="en-US"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ays</a:t>
            </a:r>
            <a:endParaRPr sz="1100" b="1" dirty="0">
              <a:solidFill>
                <a:srgbClr val="2A5B84"/>
              </a:solidFill>
              <a:highlight>
                <a:srgbClr val="FFFF00"/>
              </a:highlight>
              <a:latin typeface="+mj-lt"/>
            </a:endParaRPr>
          </a:p>
        </p:txBody>
      </p:sp>
      <p:cxnSp>
        <p:nvCxnSpPr>
          <p:cNvPr id="8" name="Connector 8">
            <a:extLst>
              <a:ext uri="{FF2B5EF4-FFF2-40B4-BE49-F238E27FC236}">
                <a16:creationId xmlns:a16="http://schemas.microsoft.com/office/drawing/2014/main" id="{8B2DC9BC-1751-EA39-A2AC-FEB62FBB1A3F}"/>
              </a:ext>
            </a:extLst>
          </p:cNvPr>
          <p:cNvCxnSpPr/>
          <p:nvPr/>
        </p:nvCxnSpPr>
        <p:spPr>
          <a:xfrm>
            <a:off x="1917191" y="2779792"/>
            <a:ext cx="109728" cy="0"/>
          </a:xfrm>
          <a:prstGeom prst="line">
            <a:avLst/>
          </a:prstGeom>
          <a:ln w="1905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BD8EB829-691E-E13E-422F-6674C95F40BE}"/>
              </a:ext>
            </a:extLst>
          </p:cNvPr>
          <p:cNvSpPr/>
          <p:nvPr/>
        </p:nvSpPr>
        <p:spPr>
          <a:xfrm>
            <a:off x="2026919" y="1579552"/>
            <a:ext cx="1490472" cy="2331718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20EE6C-B8E7-B602-1737-6E24FB335CB5}"/>
              </a:ext>
            </a:extLst>
          </p:cNvPr>
          <p:cNvSpPr/>
          <p:nvPr/>
        </p:nvSpPr>
        <p:spPr>
          <a:xfrm>
            <a:off x="2502407" y="1689280"/>
            <a:ext cx="530352" cy="530352"/>
          </a:xfrm>
          <a:prstGeom prst="ellipse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1C7187-FA39-C73F-A86D-56E5FAA1871D}"/>
              </a:ext>
            </a:extLst>
          </p:cNvPr>
          <p:cNvSpPr txBox="1"/>
          <p:nvPr/>
        </p:nvSpPr>
        <p:spPr>
          <a:xfrm>
            <a:off x="2603916" y="1753288"/>
            <a:ext cx="3273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rgbClr val="FFFFFF"/>
                </a:solidFill>
              </a:defRPr>
            </a:lvl1pPr>
          </a:lstStyle>
          <a:p>
            <a:r>
              <a:rPr>
                <a:latin typeface="+mj-lt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A3E5B8-7776-35B6-F358-5459ACB86B4B}"/>
              </a:ext>
            </a:extLst>
          </p:cNvPr>
          <p:cNvSpPr txBox="1"/>
          <p:nvPr/>
        </p:nvSpPr>
        <p:spPr>
          <a:xfrm>
            <a:off x="2026919" y="2237920"/>
            <a:ext cx="1490472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142A40"/>
                </a:solidFill>
                <a:latin typeface="+mj-lt"/>
              </a:rPr>
              <a:t>Preparation</a:t>
            </a:r>
            <a:endParaRPr lang="en-US" sz="1050" b="1" dirty="0">
              <a:solidFill>
                <a:srgbClr val="142A40"/>
              </a:solidFill>
              <a:latin typeface="+mj-lt"/>
            </a:endParaRPr>
          </a:p>
          <a:p>
            <a:pPr algn="ctr"/>
            <a:endParaRPr lang="en-US" sz="1050" dirty="0">
              <a:solidFill>
                <a:srgbClr val="142A40"/>
              </a:solidFill>
              <a:latin typeface="+mj-lt"/>
            </a:endParaRPr>
          </a:p>
          <a:p>
            <a:pPr algn="ctr"/>
            <a:r>
              <a:rPr lang="en-US" sz="1050" dirty="0">
                <a:solidFill>
                  <a:srgbClr val="142A40"/>
                </a:solidFill>
                <a:latin typeface="+mj-lt"/>
              </a:rPr>
              <a:t>Final wellsite/rig readiness, pre-spud preparation, conductor and drilling preparation activities</a:t>
            </a:r>
            <a:endParaRPr sz="1050" dirty="0">
              <a:solidFill>
                <a:srgbClr val="142A40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2E8298-B3DB-8AF8-B73D-3A4890116F80}"/>
              </a:ext>
            </a:extLst>
          </p:cNvPr>
          <p:cNvSpPr txBox="1"/>
          <p:nvPr/>
        </p:nvSpPr>
        <p:spPr>
          <a:xfrm>
            <a:off x="2362427" y="3622517"/>
            <a:ext cx="81945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0.43 d</a:t>
            </a:r>
            <a:r>
              <a:rPr lang="en-US"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ays</a:t>
            </a:r>
            <a:endParaRPr sz="1100" b="1" dirty="0">
              <a:solidFill>
                <a:srgbClr val="2A5B84"/>
              </a:solidFill>
              <a:highlight>
                <a:srgbClr val="FFFF00"/>
              </a:highlight>
              <a:latin typeface="+mj-lt"/>
            </a:endParaRPr>
          </a:p>
        </p:txBody>
      </p:sp>
      <p:cxnSp>
        <p:nvCxnSpPr>
          <p:cNvPr id="14" name="Connector 14">
            <a:extLst>
              <a:ext uri="{FF2B5EF4-FFF2-40B4-BE49-F238E27FC236}">
                <a16:creationId xmlns:a16="http://schemas.microsoft.com/office/drawing/2014/main" id="{230C046C-B974-DF25-A727-9B9BD7615383}"/>
              </a:ext>
            </a:extLst>
          </p:cNvPr>
          <p:cNvCxnSpPr/>
          <p:nvPr/>
        </p:nvCxnSpPr>
        <p:spPr>
          <a:xfrm>
            <a:off x="3517391" y="2779792"/>
            <a:ext cx="109728" cy="0"/>
          </a:xfrm>
          <a:prstGeom prst="line">
            <a:avLst/>
          </a:prstGeom>
          <a:ln w="1905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5EE942E6-F871-1203-53BF-9C6F88921CDB}"/>
              </a:ext>
            </a:extLst>
          </p:cNvPr>
          <p:cNvSpPr/>
          <p:nvPr/>
        </p:nvSpPr>
        <p:spPr>
          <a:xfrm>
            <a:off x="3627119" y="1579552"/>
            <a:ext cx="1490472" cy="2331718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27BFD8-BE31-CCA8-F82A-7FF3AABE86AA}"/>
              </a:ext>
            </a:extLst>
          </p:cNvPr>
          <p:cNvSpPr/>
          <p:nvPr/>
        </p:nvSpPr>
        <p:spPr>
          <a:xfrm>
            <a:off x="4102607" y="1689280"/>
            <a:ext cx="530352" cy="530352"/>
          </a:xfrm>
          <a:prstGeom prst="ellipse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772DDB-25A0-ED39-1A01-1A96BF8A8A99}"/>
              </a:ext>
            </a:extLst>
          </p:cNvPr>
          <p:cNvSpPr txBox="1"/>
          <p:nvPr/>
        </p:nvSpPr>
        <p:spPr>
          <a:xfrm>
            <a:off x="4204116" y="1753288"/>
            <a:ext cx="3273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+mj-lt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A34CEA-EBB4-A3C9-14AA-D95C0F9BE106}"/>
              </a:ext>
            </a:extLst>
          </p:cNvPr>
          <p:cNvSpPr txBox="1"/>
          <p:nvPr/>
        </p:nvSpPr>
        <p:spPr>
          <a:xfrm>
            <a:off x="3627119" y="2274496"/>
            <a:ext cx="149047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142A40"/>
                </a:solidFill>
                <a:latin typeface="+mj-lt"/>
              </a:rPr>
              <a:t>Drill Surface</a:t>
            </a:r>
            <a:r>
              <a:rPr lang="en-US" sz="1050" b="1" dirty="0">
                <a:solidFill>
                  <a:srgbClr val="142A40"/>
                </a:solidFill>
                <a:latin typeface="+mj-lt"/>
              </a:rPr>
              <a:t>: </a:t>
            </a:r>
            <a:r>
              <a:rPr sz="1050" b="1" dirty="0">
                <a:solidFill>
                  <a:srgbClr val="142A40"/>
                </a:solidFill>
                <a:latin typeface="+mj-lt"/>
              </a:rPr>
              <a:t>12-1/4 in.</a:t>
            </a:r>
            <a:endParaRPr lang="en-US" sz="1050" b="1" dirty="0">
              <a:solidFill>
                <a:srgbClr val="142A40"/>
              </a:solidFill>
              <a:latin typeface="+mj-lt"/>
            </a:endParaRPr>
          </a:p>
          <a:p>
            <a:pPr algn="ctr"/>
            <a:endParaRPr lang="en-US" sz="1050" b="1" dirty="0">
              <a:solidFill>
                <a:srgbClr val="142A40"/>
              </a:solidFill>
              <a:latin typeface="+mj-lt"/>
            </a:endParaRPr>
          </a:p>
          <a:p>
            <a:pPr algn="ctr"/>
            <a:r>
              <a:rPr lang="en-US" sz="1050" dirty="0">
                <a:solidFill>
                  <a:srgbClr val="142A40"/>
                </a:solidFill>
                <a:latin typeface="+mj-lt"/>
              </a:rPr>
              <a:t>Drill 12-1/4 in. hole to planned surface casing depth</a:t>
            </a:r>
            <a:endParaRPr sz="1050" dirty="0">
              <a:solidFill>
                <a:srgbClr val="142A40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2FD1EF-2747-A8FB-A635-B41EC2789366}"/>
              </a:ext>
            </a:extLst>
          </p:cNvPr>
          <p:cNvSpPr txBox="1"/>
          <p:nvPr/>
        </p:nvSpPr>
        <p:spPr>
          <a:xfrm>
            <a:off x="3958055" y="3622517"/>
            <a:ext cx="81945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1.30 d</a:t>
            </a:r>
            <a:r>
              <a:rPr lang="en-US"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ays</a:t>
            </a:r>
            <a:endParaRPr sz="1100" b="1" dirty="0">
              <a:solidFill>
                <a:srgbClr val="2A5B84"/>
              </a:solidFill>
              <a:highlight>
                <a:srgbClr val="FFFF00"/>
              </a:highlight>
              <a:latin typeface="+mj-lt"/>
            </a:endParaRPr>
          </a:p>
        </p:txBody>
      </p:sp>
      <p:cxnSp>
        <p:nvCxnSpPr>
          <p:cNvPr id="20" name="Connector 20">
            <a:extLst>
              <a:ext uri="{FF2B5EF4-FFF2-40B4-BE49-F238E27FC236}">
                <a16:creationId xmlns:a16="http://schemas.microsoft.com/office/drawing/2014/main" id="{943305F1-1FC8-3506-BED5-79D1246D443B}"/>
              </a:ext>
            </a:extLst>
          </p:cNvPr>
          <p:cNvCxnSpPr/>
          <p:nvPr/>
        </p:nvCxnSpPr>
        <p:spPr>
          <a:xfrm>
            <a:off x="5117590" y="2779792"/>
            <a:ext cx="109729" cy="0"/>
          </a:xfrm>
          <a:prstGeom prst="line">
            <a:avLst/>
          </a:prstGeom>
          <a:ln w="1905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1">
            <a:extLst>
              <a:ext uri="{FF2B5EF4-FFF2-40B4-BE49-F238E27FC236}">
                <a16:creationId xmlns:a16="http://schemas.microsoft.com/office/drawing/2014/main" id="{596D9727-D29E-FAC1-D58F-C6E80D136D7A}"/>
              </a:ext>
            </a:extLst>
          </p:cNvPr>
          <p:cNvSpPr/>
          <p:nvPr/>
        </p:nvSpPr>
        <p:spPr>
          <a:xfrm>
            <a:off x="5227319" y="1579551"/>
            <a:ext cx="1490472" cy="2331719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4A6599B-2A17-CE33-BFD4-E54541AC7B43}"/>
              </a:ext>
            </a:extLst>
          </p:cNvPr>
          <p:cNvSpPr/>
          <p:nvPr/>
        </p:nvSpPr>
        <p:spPr>
          <a:xfrm>
            <a:off x="5702807" y="1689280"/>
            <a:ext cx="530352" cy="530352"/>
          </a:xfrm>
          <a:prstGeom prst="ellipse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6DDCAF-69DF-F657-2412-20764034ECE6}"/>
              </a:ext>
            </a:extLst>
          </p:cNvPr>
          <p:cNvSpPr txBox="1"/>
          <p:nvPr/>
        </p:nvSpPr>
        <p:spPr>
          <a:xfrm>
            <a:off x="5804316" y="1753288"/>
            <a:ext cx="3273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+mj-lt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99CAED-43F1-1BCE-BF3F-C40EDE4E27C2}"/>
              </a:ext>
            </a:extLst>
          </p:cNvPr>
          <p:cNvSpPr txBox="1"/>
          <p:nvPr/>
        </p:nvSpPr>
        <p:spPr>
          <a:xfrm>
            <a:off x="5227319" y="2274496"/>
            <a:ext cx="1527048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142A40"/>
                </a:solidFill>
                <a:latin typeface="+mj-lt"/>
              </a:rPr>
              <a:t>Flat Time:</a:t>
            </a:r>
            <a:r>
              <a:rPr lang="en-US" sz="1050" b="1" dirty="0">
                <a:solidFill>
                  <a:srgbClr val="142A40"/>
                </a:solidFill>
                <a:latin typeface="+mj-lt"/>
              </a:rPr>
              <a:t> </a:t>
            </a:r>
            <a:r>
              <a:rPr sz="1050" b="1" dirty="0">
                <a:solidFill>
                  <a:srgbClr val="142A40"/>
                </a:solidFill>
                <a:latin typeface="+mj-lt"/>
              </a:rPr>
              <a:t>9-5/8 in. casing</a:t>
            </a:r>
            <a:endParaRPr lang="en-US" sz="1050" b="1" dirty="0">
              <a:solidFill>
                <a:srgbClr val="142A40"/>
              </a:solidFill>
              <a:latin typeface="+mj-lt"/>
            </a:endParaRPr>
          </a:p>
          <a:p>
            <a:pPr algn="ctr"/>
            <a:r>
              <a:rPr lang="en-US" sz="1050" dirty="0">
                <a:solidFill>
                  <a:srgbClr val="142A40"/>
                </a:solidFill>
                <a:latin typeface="+mj-lt"/>
              </a:rPr>
              <a:t>CHC, POOH/L/D BHA, RIH 9-5/8 in. casing, cementing, wellhead installation, N/U BOP, S/U string and drill-out preparation</a:t>
            </a:r>
            <a:endParaRPr sz="1050" dirty="0">
              <a:solidFill>
                <a:srgbClr val="142A40"/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4C3280-E726-DDB5-30E1-F0010FF9968F}"/>
              </a:ext>
            </a:extLst>
          </p:cNvPr>
          <p:cNvSpPr txBox="1"/>
          <p:nvPr/>
        </p:nvSpPr>
        <p:spPr>
          <a:xfrm>
            <a:off x="5562827" y="3633569"/>
            <a:ext cx="81945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2.94 d</a:t>
            </a:r>
            <a:r>
              <a:rPr lang="en-US"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ays</a:t>
            </a:r>
            <a:endParaRPr sz="1100" b="1" dirty="0">
              <a:solidFill>
                <a:srgbClr val="2A5B84"/>
              </a:solidFill>
              <a:highlight>
                <a:srgbClr val="FFFF00"/>
              </a:highlight>
              <a:latin typeface="+mj-lt"/>
            </a:endParaRPr>
          </a:p>
        </p:txBody>
      </p:sp>
      <p:cxnSp>
        <p:nvCxnSpPr>
          <p:cNvPr id="26" name="Connector 26">
            <a:extLst>
              <a:ext uri="{FF2B5EF4-FFF2-40B4-BE49-F238E27FC236}">
                <a16:creationId xmlns:a16="http://schemas.microsoft.com/office/drawing/2014/main" id="{4562AA9E-28CF-F69D-77AA-6EA9F907DAD3}"/>
              </a:ext>
            </a:extLst>
          </p:cNvPr>
          <p:cNvCxnSpPr/>
          <p:nvPr/>
        </p:nvCxnSpPr>
        <p:spPr>
          <a:xfrm>
            <a:off x="6717791" y="2779792"/>
            <a:ext cx="109728" cy="0"/>
          </a:xfrm>
          <a:prstGeom prst="line">
            <a:avLst/>
          </a:prstGeom>
          <a:ln w="1905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7">
            <a:extLst>
              <a:ext uri="{FF2B5EF4-FFF2-40B4-BE49-F238E27FC236}">
                <a16:creationId xmlns:a16="http://schemas.microsoft.com/office/drawing/2014/main" id="{EA1565E0-6E56-0000-10D3-8511D281F13F}"/>
              </a:ext>
            </a:extLst>
          </p:cNvPr>
          <p:cNvSpPr/>
          <p:nvPr/>
        </p:nvSpPr>
        <p:spPr>
          <a:xfrm>
            <a:off x="6827519" y="1579551"/>
            <a:ext cx="1490472" cy="2331717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3ED3A45-405A-6A81-3FFD-AA0E84EED41C}"/>
              </a:ext>
            </a:extLst>
          </p:cNvPr>
          <p:cNvSpPr/>
          <p:nvPr/>
        </p:nvSpPr>
        <p:spPr>
          <a:xfrm>
            <a:off x="7303007" y="1689280"/>
            <a:ext cx="530352" cy="530352"/>
          </a:xfrm>
          <a:prstGeom prst="ellipse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484120-5EB1-2B00-946D-EEB3ADD43B75}"/>
              </a:ext>
            </a:extLst>
          </p:cNvPr>
          <p:cNvSpPr txBox="1"/>
          <p:nvPr/>
        </p:nvSpPr>
        <p:spPr>
          <a:xfrm>
            <a:off x="7404516" y="1753288"/>
            <a:ext cx="3273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+mj-lt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C23B66-D9F7-3BA5-59FF-548AE9464DB1}"/>
              </a:ext>
            </a:extLst>
          </p:cNvPr>
          <p:cNvSpPr txBox="1"/>
          <p:nvPr/>
        </p:nvSpPr>
        <p:spPr>
          <a:xfrm>
            <a:off x="6827519" y="2274496"/>
            <a:ext cx="1490472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142A40"/>
                </a:solidFill>
                <a:latin typeface="+mj-lt"/>
              </a:rPr>
              <a:t>Drill Production
8-1/2 in.</a:t>
            </a:r>
            <a:endParaRPr lang="en-US" sz="1050" b="1" dirty="0">
              <a:solidFill>
                <a:srgbClr val="142A40"/>
              </a:solidFill>
              <a:latin typeface="+mj-lt"/>
            </a:endParaRPr>
          </a:p>
          <a:p>
            <a:pPr algn="ctr"/>
            <a:endParaRPr lang="en-US" sz="1050" b="1" dirty="0">
              <a:solidFill>
                <a:srgbClr val="142A40"/>
              </a:solidFill>
              <a:latin typeface="+mj-lt"/>
            </a:endParaRPr>
          </a:p>
          <a:p>
            <a:pPr algn="ctr"/>
            <a:r>
              <a:rPr lang="en-US" sz="1050" dirty="0">
                <a:solidFill>
                  <a:srgbClr val="142A40"/>
                </a:solidFill>
                <a:latin typeface="+mj-lt"/>
              </a:rPr>
              <a:t>Drill 8-1/2 in. directional hole to planned production TD</a:t>
            </a:r>
            <a:endParaRPr sz="1050" dirty="0">
              <a:solidFill>
                <a:srgbClr val="142A40"/>
              </a:solidFill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C1BD80-0D99-3EDC-0490-5981560F35E9}"/>
              </a:ext>
            </a:extLst>
          </p:cNvPr>
          <p:cNvSpPr txBox="1"/>
          <p:nvPr/>
        </p:nvSpPr>
        <p:spPr>
          <a:xfrm>
            <a:off x="7163028" y="3629733"/>
            <a:ext cx="81945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2.95 d</a:t>
            </a:r>
            <a:r>
              <a:rPr lang="en-US"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ays</a:t>
            </a:r>
            <a:endParaRPr sz="1100" b="1" dirty="0">
              <a:solidFill>
                <a:srgbClr val="2A5B84"/>
              </a:solidFill>
              <a:highlight>
                <a:srgbClr val="FFFF00"/>
              </a:highlight>
              <a:latin typeface="+mj-lt"/>
            </a:endParaRPr>
          </a:p>
        </p:txBody>
      </p:sp>
      <p:cxnSp>
        <p:nvCxnSpPr>
          <p:cNvPr id="32" name="Connector 32">
            <a:extLst>
              <a:ext uri="{FF2B5EF4-FFF2-40B4-BE49-F238E27FC236}">
                <a16:creationId xmlns:a16="http://schemas.microsoft.com/office/drawing/2014/main" id="{7C6233F4-021F-1798-DA4D-9956132F1AAE}"/>
              </a:ext>
            </a:extLst>
          </p:cNvPr>
          <p:cNvCxnSpPr/>
          <p:nvPr/>
        </p:nvCxnSpPr>
        <p:spPr>
          <a:xfrm>
            <a:off x="8317990" y="2779792"/>
            <a:ext cx="109728" cy="0"/>
          </a:xfrm>
          <a:prstGeom prst="line">
            <a:avLst/>
          </a:prstGeom>
          <a:ln w="1905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3">
            <a:extLst>
              <a:ext uri="{FF2B5EF4-FFF2-40B4-BE49-F238E27FC236}">
                <a16:creationId xmlns:a16="http://schemas.microsoft.com/office/drawing/2014/main" id="{D60DECB4-B956-2427-6C04-D042FD129194}"/>
              </a:ext>
            </a:extLst>
          </p:cNvPr>
          <p:cNvSpPr/>
          <p:nvPr/>
        </p:nvSpPr>
        <p:spPr>
          <a:xfrm>
            <a:off x="8427719" y="1579552"/>
            <a:ext cx="1490472" cy="2331718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32038C4-A5EE-0141-36AC-37177B1A86B0}"/>
              </a:ext>
            </a:extLst>
          </p:cNvPr>
          <p:cNvSpPr/>
          <p:nvPr/>
        </p:nvSpPr>
        <p:spPr>
          <a:xfrm>
            <a:off x="8903207" y="1689280"/>
            <a:ext cx="530352" cy="530352"/>
          </a:xfrm>
          <a:prstGeom prst="ellipse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4B17D0-22E6-E3A2-C7CE-02FDF8B2BBD7}"/>
              </a:ext>
            </a:extLst>
          </p:cNvPr>
          <p:cNvSpPr txBox="1"/>
          <p:nvPr/>
        </p:nvSpPr>
        <p:spPr>
          <a:xfrm>
            <a:off x="9004716" y="1753288"/>
            <a:ext cx="3273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+mj-lt"/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648E44-F135-56DA-AB01-1095A096057F}"/>
              </a:ext>
            </a:extLst>
          </p:cNvPr>
          <p:cNvSpPr txBox="1"/>
          <p:nvPr/>
        </p:nvSpPr>
        <p:spPr>
          <a:xfrm>
            <a:off x="8427717" y="2233856"/>
            <a:ext cx="1490473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142A40"/>
                </a:solidFill>
                <a:latin typeface="+mj-lt"/>
              </a:rPr>
              <a:t>Flat Time:</a:t>
            </a:r>
            <a:r>
              <a:rPr lang="en-US" sz="1050" b="1" dirty="0">
                <a:solidFill>
                  <a:srgbClr val="142A40"/>
                </a:solidFill>
                <a:latin typeface="+mj-lt"/>
              </a:rPr>
              <a:t>
</a:t>
            </a:r>
            <a:r>
              <a:rPr sz="1050" b="1" dirty="0">
                <a:solidFill>
                  <a:srgbClr val="142A40"/>
                </a:solidFill>
                <a:latin typeface="+mj-lt"/>
              </a:rPr>
              <a:t>Logging + 7 in.</a:t>
            </a:r>
            <a:endParaRPr lang="en-US" sz="1050" b="1" dirty="0">
              <a:solidFill>
                <a:srgbClr val="142A40"/>
              </a:solidFill>
              <a:latin typeface="+mj-lt"/>
            </a:endParaRPr>
          </a:p>
          <a:p>
            <a:pPr algn="ctr"/>
            <a:r>
              <a:rPr lang="en-US" sz="1050" dirty="0">
                <a:solidFill>
                  <a:srgbClr val="142A40"/>
                </a:solidFill>
                <a:latin typeface="+mj-lt"/>
              </a:rPr>
              <a:t>Final CHC, POOH/L/D BHA, OH logging, RIH 7 in. casing, cementing, WOC, N/D BOP and final wellhead installation</a:t>
            </a:r>
            <a:endParaRPr sz="1050" dirty="0">
              <a:solidFill>
                <a:srgbClr val="142A40"/>
              </a:solidFill>
              <a:latin typeface="+mj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CA9DBF-DD77-8866-9E22-3428909F1E33}"/>
              </a:ext>
            </a:extLst>
          </p:cNvPr>
          <p:cNvSpPr txBox="1"/>
          <p:nvPr/>
        </p:nvSpPr>
        <p:spPr>
          <a:xfrm>
            <a:off x="8763227" y="3633561"/>
            <a:ext cx="81945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5.76 d</a:t>
            </a:r>
            <a:r>
              <a:rPr lang="en-US"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ays</a:t>
            </a:r>
            <a:endParaRPr sz="1100" b="1" dirty="0">
              <a:solidFill>
                <a:srgbClr val="2A5B84"/>
              </a:solidFill>
              <a:highlight>
                <a:srgbClr val="FFFF00"/>
              </a:highlight>
              <a:latin typeface="+mj-lt"/>
            </a:endParaRPr>
          </a:p>
        </p:txBody>
      </p:sp>
      <p:cxnSp>
        <p:nvCxnSpPr>
          <p:cNvPr id="38" name="Connector 38">
            <a:extLst>
              <a:ext uri="{FF2B5EF4-FFF2-40B4-BE49-F238E27FC236}">
                <a16:creationId xmlns:a16="http://schemas.microsoft.com/office/drawing/2014/main" id="{85E8819E-92BB-6358-8B05-1579DA74D83A}"/>
              </a:ext>
            </a:extLst>
          </p:cNvPr>
          <p:cNvCxnSpPr/>
          <p:nvPr/>
        </p:nvCxnSpPr>
        <p:spPr>
          <a:xfrm>
            <a:off x="9918191" y="2779792"/>
            <a:ext cx="109727" cy="0"/>
          </a:xfrm>
          <a:prstGeom prst="line">
            <a:avLst/>
          </a:prstGeom>
          <a:ln w="1905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9">
            <a:extLst>
              <a:ext uri="{FF2B5EF4-FFF2-40B4-BE49-F238E27FC236}">
                <a16:creationId xmlns:a16="http://schemas.microsoft.com/office/drawing/2014/main" id="{B27BB637-A431-8C86-6C44-B0D27967F6F4}"/>
              </a:ext>
            </a:extLst>
          </p:cNvPr>
          <p:cNvSpPr/>
          <p:nvPr/>
        </p:nvSpPr>
        <p:spPr>
          <a:xfrm>
            <a:off x="10027919" y="1579552"/>
            <a:ext cx="1490472" cy="2331718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06C2EC7-2B45-A409-8BB8-4D130C9DB55E}"/>
              </a:ext>
            </a:extLst>
          </p:cNvPr>
          <p:cNvSpPr/>
          <p:nvPr/>
        </p:nvSpPr>
        <p:spPr>
          <a:xfrm>
            <a:off x="10503407" y="1689280"/>
            <a:ext cx="530352" cy="530352"/>
          </a:xfrm>
          <a:prstGeom prst="ellipse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0CC976-3343-2261-D8E6-D39760BCE978}"/>
              </a:ext>
            </a:extLst>
          </p:cNvPr>
          <p:cNvSpPr txBox="1"/>
          <p:nvPr/>
        </p:nvSpPr>
        <p:spPr>
          <a:xfrm>
            <a:off x="10604916" y="1753288"/>
            <a:ext cx="3273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+mj-lt"/>
              </a:rPr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863DAB-2196-8E7C-3999-E417DDA1A592}"/>
              </a:ext>
            </a:extLst>
          </p:cNvPr>
          <p:cNvSpPr txBox="1"/>
          <p:nvPr/>
        </p:nvSpPr>
        <p:spPr>
          <a:xfrm>
            <a:off x="10027916" y="2274496"/>
            <a:ext cx="149047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142A40"/>
                </a:solidFill>
                <a:latin typeface="+mj-lt"/>
              </a:rPr>
              <a:t>Initial
Completion</a:t>
            </a:r>
            <a:endParaRPr lang="en-US" sz="1050" b="1" dirty="0">
              <a:solidFill>
                <a:srgbClr val="142A40"/>
              </a:solidFill>
              <a:latin typeface="+mj-lt"/>
            </a:endParaRPr>
          </a:p>
          <a:p>
            <a:pPr algn="ctr"/>
            <a:endParaRPr lang="en-US" sz="1050" dirty="0">
              <a:solidFill>
                <a:srgbClr val="142A40"/>
              </a:solidFill>
              <a:latin typeface="+mj-lt"/>
            </a:endParaRPr>
          </a:p>
          <a:p>
            <a:pPr algn="ctr"/>
            <a:r>
              <a:rPr lang="en-US" sz="1050" dirty="0">
                <a:solidFill>
                  <a:srgbClr val="142A40"/>
                </a:solidFill>
                <a:latin typeface="+mj-lt"/>
              </a:rPr>
              <a:t>CBL, perforation, RIH production tubing and ESP completion</a:t>
            </a:r>
            <a:endParaRPr sz="1050" dirty="0">
              <a:solidFill>
                <a:srgbClr val="142A40"/>
              </a:solidFill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502D6B-22B4-7F8C-6949-84994001A0D8}"/>
              </a:ext>
            </a:extLst>
          </p:cNvPr>
          <p:cNvSpPr txBox="1"/>
          <p:nvPr/>
        </p:nvSpPr>
        <p:spPr>
          <a:xfrm>
            <a:off x="10363427" y="3633561"/>
            <a:ext cx="81945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1.92 d</a:t>
            </a:r>
            <a:r>
              <a:rPr lang="en-US" sz="1100" b="1" dirty="0">
                <a:solidFill>
                  <a:srgbClr val="2A5B84"/>
                </a:solidFill>
                <a:highlight>
                  <a:srgbClr val="FFFF00"/>
                </a:highlight>
                <a:latin typeface="+mj-lt"/>
              </a:rPr>
              <a:t>ays</a:t>
            </a:r>
            <a:endParaRPr sz="1100" b="1" dirty="0">
              <a:solidFill>
                <a:srgbClr val="2A5B84"/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44" name="Rounded Rectangle 44">
            <a:extLst>
              <a:ext uri="{FF2B5EF4-FFF2-40B4-BE49-F238E27FC236}">
                <a16:creationId xmlns:a16="http://schemas.microsoft.com/office/drawing/2014/main" id="{CFBFCDE8-1BD6-C537-1B45-5B60D2A0711F}"/>
              </a:ext>
            </a:extLst>
          </p:cNvPr>
          <p:cNvSpPr/>
          <p:nvPr/>
        </p:nvSpPr>
        <p:spPr>
          <a:xfrm>
            <a:off x="391158" y="4054866"/>
            <a:ext cx="5440680" cy="1987987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8C7EF0-C9DD-ECC8-6389-050217261FAA}"/>
              </a:ext>
            </a:extLst>
          </p:cNvPr>
          <p:cNvSpPr/>
          <p:nvPr/>
        </p:nvSpPr>
        <p:spPr>
          <a:xfrm>
            <a:off x="397508" y="4051793"/>
            <a:ext cx="64008" cy="1987987"/>
          </a:xfrm>
          <a:prstGeom prst="rect">
            <a:avLst/>
          </a:prstGeom>
          <a:solidFill>
            <a:srgbClr val="2A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544D97-B0EE-8692-77E7-9173A3BBA056}"/>
              </a:ext>
            </a:extLst>
          </p:cNvPr>
          <p:cNvSpPr txBox="1"/>
          <p:nvPr/>
        </p:nvSpPr>
        <p:spPr>
          <a:xfrm>
            <a:off x="636601" y="4210314"/>
            <a:ext cx="40174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sng" dirty="0">
                <a:solidFill>
                  <a:srgbClr val="142A40"/>
                </a:solidFill>
                <a:latin typeface="+mj-lt"/>
              </a:rPr>
              <a:t>Operational Sequence — Key Activities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5106A9-673D-5EC3-A422-71F51852A4D0}"/>
              </a:ext>
            </a:extLst>
          </p:cNvPr>
          <p:cNvSpPr txBox="1"/>
          <p:nvPr/>
        </p:nvSpPr>
        <p:spPr>
          <a:xfrm>
            <a:off x="699232" y="4512127"/>
            <a:ext cx="5093208" cy="1528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050">
                <a:solidFill>
                  <a:srgbClr val="2D3741"/>
                </a:solidFill>
                <a:latin typeface="Aptos"/>
              </a:defRPr>
            </a:pPr>
            <a:r>
              <a:rPr sz="1300" b="1" dirty="0">
                <a:latin typeface="+mj-lt"/>
              </a:rPr>
              <a:t>Surface section </a:t>
            </a:r>
            <a:r>
              <a:rPr sz="1300" dirty="0">
                <a:latin typeface="+mj-lt"/>
              </a:rPr>
              <a:t>(~1,800 ft MD): drill 12-1/4 in. hole </a:t>
            </a:r>
            <a:r>
              <a:rPr sz="1300" b="1" dirty="0">
                <a:latin typeface="+mj-lt"/>
              </a:rPr>
              <a:t>→</a:t>
            </a:r>
            <a:r>
              <a:rPr sz="1300" dirty="0">
                <a:latin typeface="+mj-lt"/>
              </a:rPr>
              <a:t> 9-5/8 in. casing </a:t>
            </a:r>
            <a:r>
              <a:rPr sz="1300" b="1" dirty="0">
                <a:latin typeface="+mj-lt"/>
              </a:rPr>
              <a:t>→</a:t>
            </a:r>
            <a:r>
              <a:rPr sz="1300" dirty="0">
                <a:latin typeface="+mj-lt"/>
              </a:rPr>
              <a:t> cement </a:t>
            </a:r>
            <a:r>
              <a:rPr sz="1300" b="1" dirty="0">
                <a:latin typeface="+mj-lt"/>
              </a:rPr>
              <a:t>→ </a:t>
            </a:r>
            <a:r>
              <a:rPr sz="1300" dirty="0">
                <a:latin typeface="+mj-lt"/>
              </a:rPr>
              <a:t>wellhead/BOP preparation</a:t>
            </a:r>
            <a:r>
              <a:rPr lang="en-US" sz="1300" dirty="0">
                <a:latin typeface="+mj-lt"/>
              </a:rPr>
              <a:t>.</a:t>
            </a:r>
            <a:endParaRPr sz="1300" dirty="0">
              <a:latin typeface="+mj-lt"/>
            </a:endParaRP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050">
                <a:solidFill>
                  <a:srgbClr val="2D3741"/>
                </a:solidFill>
                <a:latin typeface="Aptos"/>
              </a:defRPr>
            </a:pPr>
            <a:r>
              <a:rPr sz="1300" b="1" dirty="0">
                <a:latin typeface="+mj-lt"/>
              </a:rPr>
              <a:t>Production section </a:t>
            </a:r>
            <a:r>
              <a:rPr sz="1300" dirty="0">
                <a:latin typeface="+mj-lt"/>
              </a:rPr>
              <a:t>(~5,000 ft MD): directional drilling 8-1/2 in. hole </a:t>
            </a:r>
            <a:r>
              <a:rPr sz="1300" b="1" dirty="0">
                <a:latin typeface="+mj-lt"/>
              </a:rPr>
              <a:t>→</a:t>
            </a:r>
            <a:r>
              <a:rPr sz="1300" dirty="0">
                <a:latin typeface="+mj-lt"/>
              </a:rPr>
              <a:t> OH logging </a:t>
            </a:r>
            <a:r>
              <a:rPr sz="1300" b="1" dirty="0">
                <a:latin typeface="+mj-lt"/>
              </a:rPr>
              <a:t>→</a:t>
            </a:r>
            <a:r>
              <a:rPr sz="1300" dirty="0">
                <a:latin typeface="+mj-lt"/>
              </a:rPr>
              <a:t> 7 in. casing </a:t>
            </a:r>
            <a:r>
              <a:rPr sz="1300" b="1" dirty="0">
                <a:latin typeface="+mj-lt"/>
              </a:rPr>
              <a:t>→</a:t>
            </a:r>
            <a:r>
              <a:rPr sz="1300" dirty="0">
                <a:latin typeface="+mj-lt"/>
              </a:rPr>
              <a:t> cement/WOC </a:t>
            </a:r>
            <a:r>
              <a:rPr sz="1300" b="1" dirty="0">
                <a:latin typeface="+mj-lt"/>
              </a:rPr>
              <a:t>→</a:t>
            </a:r>
            <a:r>
              <a:rPr sz="1300" dirty="0">
                <a:latin typeface="+mj-lt"/>
              </a:rPr>
              <a:t> final wellhead</a:t>
            </a:r>
            <a:r>
              <a:rPr lang="en-US" sz="1300" dirty="0">
                <a:latin typeface="+mj-lt"/>
              </a:rPr>
              <a:t> installation.</a:t>
            </a:r>
            <a:endParaRPr sz="1300" dirty="0">
              <a:latin typeface="+mj-lt"/>
            </a:endParaRP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050">
                <a:solidFill>
                  <a:srgbClr val="2D3741"/>
                </a:solidFill>
                <a:latin typeface="Aptos"/>
              </a:defRPr>
            </a:pPr>
            <a:r>
              <a:rPr sz="1300" b="1" dirty="0">
                <a:latin typeface="+mj-lt"/>
              </a:rPr>
              <a:t>Initial completion</a:t>
            </a:r>
            <a:r>
              <a:rPr sz="1300" dirty="0">
                <a:latin typeface="+mj-lt"/>
              </a:rPr>
              <a:t>: CBL </a:t>
            </a:r>
            <a:r>
              <a:rPr sz="1300" b="1" dirty="0">
                <a:latin typeface="+mj-lt"/>
              </a:rPr>
              <a:t>→</a:t>
            </a:r>
            <a:r>
              <a:rPr sz="1300" dirty="0">
                <a:latin typeface="+mj-lt"/>
              </a:rPr>
              <a:t> perforation </a:t>
            </a:r>
            <a:r>
              <a:rPr sz="1300" b="1" dirty="0">
                <a:latin typeface="+mj-lt"/>
              </a:rPr>
              <a:t>→</a:t>
            </a:r>
            <a:r>
              <a:rPr sz="1300" dirty="0">
                <a:latin typeface="+mj-lt"/>
              </a:rPr>
              <a:t> 3-1/2 in. production tubing + ESP</a:t>
            </a:r>
          </a:p>
        </p:txBody>
      </p:sp>
      <p:sp>
        <p:nvSpPr>
          <p:cNvPr id="48" name="Rounded Rectangle 48">
            <a:extLst>
              <a:ext uri="{FF2B5EF4-FFF2-40B4-BE49-F238E27FC236}">
                <a16:creationId xmlns:a16="http://schemas.microsoft.com/office/drawing/2014/main" id="{AA05001D-E20A-609E-6015-7E66F671FBEC}"/>
              </a:ext>
            </a:extLst>
          </p:cNvPr>
          <p:cNvSpPr/>
          <p:nvPr/>
        </p:nvSpPr>
        <p:spPr>
          <a:xfrm>
            <a:off x="6056708" y="4082297"/>
            <a:ext cx="5474305" cy="1946655"/>
          </a:xfrm>
          <a:prstGeom prst="roundRect">
            <a:avLst/>
          </a:prstGeom>
          <a:solidFill>
            <a:srgbClr val="F4F7F9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940620-002E-3238-73F6-823010914106}"/>
              </a:ext>
            </a:extLst>
          </p:cNvPr>
          <p:cNvSpPr txBox="1"/>
          <p:nvPr/>
        </p:nvSpPr>
        <p:spPr>
          <a:xfrm>
            <a:off x="6352031" y="4141491"/>
            <a:ext cx="29546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u="sng" dirty="0">
                <a:solidFill>
                  <a:srgbClr val="142A40"/>
                </a:solidFill>
                <a:latin typeface="+mj-lt"/>
              </a:rPr>
              <a:t>Execution Targets &amp; Control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3633D2-D2C7-05B7-C273-D8886BF677A6}"/>
              </a:ext>
            </a:extLst>
          </p:cNvPr>
          <p:cNvSpPr txBox="1"/>
          <p:nvPr/>
        </p:nvSpPr>
        <p:spPr>
          <a:xfrm>
            <a:off x="6217570" y="4455919"/>
            <a:ext cx="5440680" cy="15773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050" b="1">
                <a:solidFill>
                  <a:srgbClr val="E08B3D"/>
                </a:solidFill>
                <a:latin typeface="Aptos"/>
              </a:defRPr>
            </a:pPr>
            <a:r>
              <a:rPr sz="1200" dirty="0">
                <a:latin typeface="+mj-lt"/>
              </a:rPr>
              <a:t>Drilling</a:t>
            </a:r>
            <a:r>
              <a:rPr lang="en-US" sz="1200" dirty="0">
                <a:latin typeface="+mj-lt"/>
              </a:rPr>
              <a:t>, casing, logging </a:t>
            </a:r>
            <a:r>
              <a:rPr sz="1200" dirty="0">
                <a:latin typeface="+mj-lt"/>
              </a:rPr>
              <a:t>+ Initial Completion: </a:t>
            </a:r>
            <a:r>
              <a:rPr sz="14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15.30</a:t>
            </a:r>
            <a:r>
              <a:rPr sz="1200" dirty="0">
                <a:latin typeface="+mj-lt"/>
              </a:rPr>
              <a:t> </a:t>
            </a:r>
            <a:r>
              <a:rPr sz="12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days</a:t>
            </a:r>
            <a:r>
              <a:rPr sz="1200" dirty="0">
                <a:latin typeface="+mj-lt"/>
              </a:rPr>
              <a:t> (excluding moving</a:t>
            </a:r>
            <a:r>
              <a:rPr lang="en-US" sz="1200" dirty="0">
                <a:latin typeface="+mj-lt"/>
              </a:rPr>
              <a:t> rig</a:t>
            </a:r>
            <a:r>
              <a:rPr sz="1200" dirty="0">
                <a:latin typeface="+mj-lt"/>
              </a:rPr>
              <a:t>)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050" b="1">
                <a:solidFill>
                  <a:srgbClr val="E08B3D"/>
                </a:solidFill>
                <a:latin typeface="Aptos"/>
              </a:defRPr>
            </a:pPr>
            <a:r>
              <a:rPr sz="1200" dirty="0">
                <a:latin typeface="+mj-lt"/>
              </a:rPr>
              <a:t>Total well cycle, Short Move: </a:t>
            </a:r>
            <a:r>
              <a:rPr sz="14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21.30</a:t>
            </a:r>
            <a:r>
              <a:rPr sz="12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 days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200" dirty="0">
                <a:latin typeface="+mj-lt"/>
              </a:rPr>
              <a:t>(6 days for rig moving + rig-up)</a:t>
            </a:r>
            <a:endParaRPr sz="1200" dirty="0">
              <a:latin typeface="+mj-lt"/>
            </a:endParaRP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050" b="1">
                <a:solidFill>
                  <a:srgbClr val="E08B3D"/>
                </a:solidFill>
                <a:latin typeface="Aptos"/>
              </a:defRPr>
            </a:pPr>
            <a:r>
              <a:rPr sz="1200" dirty="0">
                <a:latin typeface="+mj-lt"/>
              </a:rPr>
              <a:t>Long Move / Inter-field: </a:t>
            </a:r>
            <a:r>
              <a:rPr sz="14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29.30</a:t>
            </a:r>
            <a:r>
              <a:rPr sz="12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 days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200" dirty="0">
                <a:latin typeface="+mj-lt"/>
              </a:rPr>
              <a:t>(14 days long moving &amp; rig-up + 15.30 days drilling &amp; completion)</a:t>
            </a:r>
            <a:endParaRPr sz="12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050">
                <a:solidFill>
                  <a:srgbClr val="2D3741"/>
                </a:solidFill>
                <a:latin typeface="Aptos"/>
              </a:defRPr>
            </a:pPr>
            <a:r>
              <a:rPr sz="1200" dirty="0">
                <a:latin typeface="+mj-lt"/>
              </a:rPr>
              <a:t>Actual Days vs Depth (DVD) is tracked against the planned benchmark to identify deviation and enable timely improvement</a:t>
            </a:r>
          </a:p>
        </p:txBody>
      </p:sp>
      <p:sp>
        <p:nvSpPr>
          <p:cNvPr id="51" name="Rounded Rectangle 52">
            <a:extLst>
              <a:ext uri="{FF2B5EF4-FFF2-40B4-BE49-F238E27FC236}">
                <a16:creationId xmlns:a16="http://schemas.microsoft.com/office/drawing/2014/main" id="{C2F5F7D1-160B-49BD-6849-A82B8CDEA1D9}"/>
              </a:ext>
            </a:extLst>
          </p:cNvPr>
          <p:cNvSpPr/>
          <p:nvPr/>
        </p:nvSpPr>
        <p:spPr>
          <a:xfrm>
            <a:off x="518159" y="6191012"/>
            <a:ext cx="11000232" cy="512064"/>
          </a:xfrm>
          <a:prstGeom prst="round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3E7D87-7110-A564-FD1C-46E693A1FF94}"/>
              </a:ext>
            </a:extLst>
          </p:cNvPr>
          <p:cNvSpPr txBox="1"/>
          <p:nvPr/>
        </p:nvSpPr>
        <p:spPr>
          <a:xfrm>
            <a:off x="1134545" y="6291596"/>
            <a:ext cx="99229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+mj-lt"/>
              </a:rPr>
              <a:t>Strategi </a:t>
            </a:r>
            <a:r>
              <a:rPr lang="en-US" sz="1400" b="1" dirty="0">
                <a:solidFill>
                  <a:srgbClr val="FFFFFF"/>
                </a:solidFill>
                <a:latin typeface="+mj-lt"/>
              </a:rPr>
              <a:t>U</a:t>
            </a:r>
            <a:r>
              <a:rPr sz="1400" b="1" dirty="0">
                <a:solidFill>
                  <a:srgbClr val="FFFFFF"/>
                </a:solidFill>
                <a:latin typeface="+mj-lt"/>
              </a:rPr>
              <a:t>tama: </a:t>
            </a:r>
            <a:r>
              <a:rPr lang="en-US" sz="1400" b="1" dirty="0">
                <a:solidFill>
                  <a:srgbClr val="FFFFFF"/>
                </a:solidFill>
                <a:latin typeface="+mj-lt"/>
              </a:rPr>
              <a:t>S</a:t>
            </a:r>
            <a:r>
              <a:rPr sz="1400" b="1" dirty="0">
                <a:solidFill>
                  <a:srgbClr val="FFFFFF"/>
                </a:solidFill>
                <a:latin typeface="+mj-lt"/>
              </a:rPr>
              <a:t>ite readiness → </a:t>
            </a:r>
            <a:r>
              <a:rPr lang="en-US" sz="1400" b="1" dirty="0">
                <a:solidFill>
                  <a:srgbClr val="FFFFFF"/>
                </a:solidFill>
                <a:latin typeface="+mj-lt"/>
              </a:rPr>
              <a:t>S</a:t>
            </a:r>
            <a:r>
              <a:rPr sz="1400" b="1" dirty="0">
                <a:solidFill>
                  <a:srgbClr val="FFFFFF"/>
                </a:solidFill>
                <a:latin typeface="+mj-lt"/>
              </a:rPr>
              <a:t>afe rig mobilization → </a:t>
            </a:r>
            <a:r>
              <a:rPr lang="en-US" sz="1400" b="1" dirty="0">
                <a:solidFill>
                  <a:srgbClr val="FFFFFF"/>
                </a:solidFill>
                <a:latin typeface="+mj-lt"/>
              </a:rPr>
              <a:t>C</a:t>
            </a:r>
            <a:r>
              <a:rPr sz="1400" b="1" dirty="0">
                <a:solidFill>
                  <a:srgbClr val="FFFFFF"/>
                </a:solidFill>
                <a:latin typeface="+mj-lt"/>
              </a:rPr>
              <a:t>ontrolled drilling → </a:t>
            </a:r>
            <a:r>
              <a:rPr lang="en-US" sz="1400" b="1" dirty="0">
                <a:solidFill>
                  <a:srgbClr val="FFFFFF"/>
                </a:solidFill>
                <a:latin typeface="+mj-lt"/>
              </a:rPr>
              <a:t>L</a:t>
            </a:r>
            <a:r>
              <a:rPr sz="1400" b="1" dirty="0">
                <a:solidFill>
                  <a:srgbClr val="FFFFFF"/>
                </a:solidFill>
                <a:latin typeface="+mj-lt"/>
              </a:rPr>
              <a:t>ogging/</a:t>
            </a:r>
            <a:r>
              <a:rPr lang="en-US" sz="1400" b="1" dirty="0">
                <a:solidFill>
                  <a:srgbClr val="FFFFFF"/>
                </a:solidFill>
                <a:latin typeface="+mj-lt"/>
              </a:rPr>
              <a:t>C</a:t>
            </a:r>
            <a:r>
              <a:rPr sz="1400" b="1" dirty="0">
                <a:solidFill>
                  <a:srgbClr val="FFFFFF"/>
                </a:solidFill>
                <a:latin typeface="+mj-lt"/>
              </a:rPr>
              <a:t>asing → ESP </a:t>
            </a:r>
            <a:r>
              <a:rPr lang="en-US" sz="1400" b="1" dirty="0">
                <a:solidFill>
                  <a:srgbClr val="FFFFFF"/>
                </a:solidFill>
                <a:latin typeface="+mj-lt"/>
              </a:rPr>
              <a:t>C</a:t>
            </a:r>
            <a:r>
              <a:rPr sz="1400" b="1" dirty="0">
                <a:solidFill>
                  <a:srgbClr val="FFFFFF"/>
                </a:solidFill>
                <a:latin typeface="+mj-lt"/>
              </a:rPr>
              <a:t>ompletion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2C1E25A-71F4-A721-7197-2F438149C188}"/>
              </a:ext>
            </a:extLst>
          </p:cNvPr>
          <p:cNvSpPr/>
          <p:nvPr/>
        </p:nvSpPr>
        <p:spPr>
          <a:xfrm>
            <a:off x="6074204" y="4082296"/>
            <a:ext cx="64008" cy="1946655"/>
          </a:xfrm>
          <a:prstGeom prst="rect">
            <a:avLst/>
          </a:prstGeom>
          <a:solidFill>
            <a:srgbClr val="E0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DB1B558D-0A07-DE21-1C95-C1B23B6949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532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A1BDFF4-0647-FA00-63CC-6D91480B0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5">
            <a:extLst>
              <a:ext uri="{FF2B5EF4-FFF2-40B4-BE49-F238E27FC236}">
                <a16:creationId xmlns:a16="http://schemas.microsoft.com/office/drawing/2014/main" id="{796502D8-A856-2354-FF75-37A3040E28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75" y="287290"/>
            <a:ext cx="11716269" cy="630408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>
            <a:extLst>
              <a:ext uri="{FF2B5EF4-FFF2-40B4-BE49-F238E27FC236}">
                <a16:creationId xmlns:a16="http://schemas.microsoft.com/office/drawing/2014/main" id="{61E62590-3CA4-9340-DBE1-9F1D6380DCE9}"/>
              </a:ext>
            </a:extLst>
          </p:cNvPr>
          <p:cNvSpPr/>
          <p:nvPr/>
        </p:nvSpPr>
        <p:spPr>
          <a:xfrm>
            <a:off x="259075" y="2007908"/>
            <a:ext cx="11716269" cy="2780907"/>
          </a:xfrm>
          <a:prstGeom prst="rect">
            <a:avLst/>
          </a:prstGeom>
          <a:solidFill>
            <a:srgbClr val="365DA8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15">
            <a:extLst>
              <a:ext uri="{FF2B5EF4-FFF2-40B4-BE49-F238E27FC236}">
                <a16:creationId xmlns:a16="http://schemas.microsoft.com/office/drawing/2014/main" id="{4A98EBF5-2BAD-3083-4964-8E656FC1606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94907" y="2459920"/>
            <a:ext cx="11202186" cy="195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RISK, SCHEDULE, COST &amp; PROJECT ASSURANCE</a:t>
            </a:r>
            <a:endParaRPr lang="en-US" dirty="0"/>
          </a:p>
        </p:txBody>
      </p:sp>
      <p:pic>
        <p:nvPicPr>
          <p:cNvPr id="344" name="Google Shape;344;p15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E21B759B-9677-80A0-1DD0-7E2070D2AC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5">
            <a:extLst>
              <a:ext uri="{FF2B5EF4-FFF2-40B4-BE49-F238E27FC236}">
                <a16:creationId xmlns:a16="http://schemas.microsoft.com/office/drawing/2014/main" id="{7D239249-03A6-3C6D-D4CF-01D6B7089AC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075" y="287290"/>
            <a:ext cx="1400175" cy="140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39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F4C3DB94-43FA-3FFA-D0F2-BD3D8781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0D1FC57E-F44F-8D6F-AD49-C50837E28951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TECHNICAL RISK MANAGEMENT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475EBF1F-9D48-0DB7-66A9-4D5F0F5628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347B471A-DB95-0E21-388D-1564AF6B729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Text 1">
            <a:extLst>
              <a:ext uri="{FF2B5EF4-FFF2-40B4-BE49-F238E27FC236}">
                <a16:creationId xmlns:a16="http://schemas.microsoft.com/office/drawing/2014/main" id="{46E32276-D4C9-1F8B-15B4-D32BCF810BAF}"/>
              </a:ext>
            </a:extLst>
          </p:cNvPr>
          <p:cNvSpPr/>
          <p:nvPr/>
        </p:nvSpPr>
        <p:spPr>
          <a:xfrm>
            <a:off x="430784" y="12313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385"/>
                </a:solidFill>
              </a:rPr>
              <a:t>Risk register → preventive design → real-time surveillance → contingency response</a:t>
            </a:r>
            <a:endParaRPr lang="en-US" sz="1050" dirty="0"/>
          </a:p>
        </p:txBody>
      </p:sp>
      <p:sp>
        <p:nvSpPr>
          <p:cNvPr id="454" name="Text 2">
            <a:extLst>
              <a:ext uri="{FF2B5EF4-FFF2-40B4-BE49-F238E27FC236}">
                <a16:creationId xmlns:a16="http://schemas.microsoft.com/office/drawing/2014/main" id="{4930E3CF-0502-C5F9-41F6-BB1317AAA17C}"/>
              </a:ext>
            </a:extLst>
          </p:cNvPr>
          <p:cNvSpPr/>
          <p:nvPr/>
        </p:nvSpPr>
        <p:spPr>
          <a:xfrm>
            <a:off x="421640" y="1633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</a:rPr>
              <a:t>Priority Technical Risk Register</a:t>
            </a:r>
            <a:endParaRPr lang="en-US" sz="1400" dirty="0"/>
          </a:p>
        </p:txBody>
      </p:sp>
      <p:sp>
        <p:nvSpPr>
          <p:cNvPr id="456" name="Shape 3">
            <a:extLst>
              <a:ext uri="{FF2B5EF4-FFF2-40B4-BE49-F238E27FC236}">
                <a16:creationId xmlns:a16="http://schemas.microsoft.com/office/drawing/2014/main" id="{9D5F0B51-F98A-1F5E-355A-46CC07DEF729}"/>
              </a:ext>
            </a:extLst>
          </p:cNvPr>
          <p:cNvSpPr/>
          <p:nvPr/>
        </p:nvSpPr>
        <p:spPr>
          <a:xfrm>
            <a:off x="421640" y="2008576"/>
            <a:ext cx="1280160" cy="329184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Text 4">
            <a:extLst>
              <a:ext uri="{FF2B5EF4-FFF2-40B4-BE49-F238E27FC236}">
                <a16:creationId xmlns:a16="http://schemas.microsoft.com/office/drawing/2014/main" id="{15192602-E117-94E5-5AD7-B758B9FAA8DE}"/>
              </a:ext>
            </a:extLst>
          </p:cNvPr>
          <p:cNvSpPr/>
          <p:nvPr/>
        </p:nvSpPr>
        <p:spPr>
          <a:xfrm>
            <a:off x="467360" y="209087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Risk</a:t>
            </a:r>
            <a:endParaRPr lang="en-US" sz="850" dirty="0"/>
          </a:p>
        </p:txBody>
      </p:sp>
      <p:sp>
        <p:nvSpPr>
          <p:cNvPr id="460" name="Shape 5">
            <a:extLst>
              <a:ext uri="{FF2B5EF4-FFF2-40B4-BE49-F238E27FC236}">
                <a16:creationId xmlns:a16="http://schemas.microsoft.com/office/drawing/2014/main" id="{DABB6BBD-5144-38B0-906A-CEECD052CF00}"/>
              </a:ext>
            </a:extLst>
          </p:cNvPr>
          <p:cNvSpPr/>
          <p:nvPr/>
        </p:nvSpPr>
        <p:spPr>
          <a:xfrm>
            <a:off x="1701800" y="2008576"/>
            <a:ext cx="1014984" cy="329184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Text 6">
            <a:extLst>
              <a:ext uri="{FF2B5EF4-FFF2-40B4-BE49-F238E27FC236}">
                <a16:creationId xmlns:a16="http://schemas.microsoft.com/office/drawing/2014/main" id="{179F64D4-F331-3F26-9F59-467EFC7165C1}"/>
              </a:ext>
            </a:extLst>
          </p:cNvPr>
          <p:cNvSpPr/>
          <p:nvPr/>
        </p:nvSpPr>
        <p:spPr>
          <a:xfrm>
            <a:off x="1747520" y="2090872"/>
            <a:ext cx="923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Exposure / Impact</a:t>
            </a:r>
            <a:endParaRPr lang="en-US" sz="850" dirty="0"/>
          </a:p>
        </p:txBody>
      </p:sp>
      <p:sp>
        <p:nvSpPr>
          <p:cNvPr id="464" name="Shape 7">
            <a:extLst>
              <a:ext uri="{FF2B5EF4-FFF2-40B4-BE49-F238E27FC236}">
                <a16:creationId xmlns:a16="http://schemas.microsoft.com/office/drawing/2014/main" id="{637B84B8-CA31-CE3B-49D5-DE55C66FFF38}"/>
              </a:ext>
            </a:extLst>
          </p:cNvPr>
          <p:cNvSpPr/>
          <p:nvPr/>
        </p:nvSpPr>
        <p:spPr>
          <a:xfrm>
            <a:off x="2716784" y="2008576"/>
            <a:ext cx="1014984" cy="329184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6" name="Text 8">
            <a:extLst>
              <a:ext uri="{FF2B5EF4-FFF2-40B4-BE49-F238E27FC236}">
                <a16:creationId xmlns:a16="http://schemas.microsoft.com/office/drawing/2014/main" id="{42DD2E41-1BB7-F8CF-B8DD-CFA59A249C6B}"/>
              </a:ext>
            </a:extLst>
          </p:cNvPr>
          <p:cNvSpPr/>
          <p:nvPr/>
        </p:nvSpPr>
        <p:spPr>
          <a:xfrm>
            <a:off x="2762504" y="2090872"/>
            <a:ext cx="923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Level</a:t>
            </a:r>
            <a:endParaRPr lang="en-US" sz="850" dirty="0"/>
          </a:p>
        </p:txBody>
      </p:sp>
      <p:sp>
        <p:nvSpPr>
          <p:cNvPr id="468" name="Shape 9">
            <a:extLst>
              <a:ext uri="{FF2B5EF4-FFF2-40B4-BE49-F238E27FC236}">
                <a16:creationId xmlns:a16="http://schemas.microsoft.com/office/drawing/2014/main" id="{DFADB0EA-112D-5AA5-27D6-C9A943DAAF15}"/>
              </a:ext>
            </a:extLst>
          </p:cNvPr>
          <p:cNvSpPr/>
          <p:nvPr/>
        </p:nvSpPr>
        <p:spPr>
          <a:xfrm>
            <a:off x="3731768" y="2008576"/>
            <a:ext cx="2468880" cy="329184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0" name="Text 10">
            <a:extLst>
              <a:ext uri="{FF2B5EF4-FFF2-40B4-BE49-F238E27FC236}">
                <a16:creationId xmlns:a16="http://schemas.microsoft.com/office/drawing/2014/main" id="{E50B63A7-58E8-2706-2885-787F50964F74}"/>
              </a:ext>
            </a:extLst>
          </p:cNvPr>
          <p:cNvSpPr/>
          <p:nvPr/>
        </p:nvSpPr>
        <p:spPr>
          <a:xfrm>
            <a:off x="3777488" y="209087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Primary mitigation</a:t>
            </a:r>
            <a:endParaRPr lang="en-US" sz="850" dirty="0"/>
          </a:p>
        </p:txBody>
      </p:sp>
      <p:sp>
        <p:nvSpPr>
          <p:cNvPr id="472" name="Shape 11">
            <a:extLst>
              <a:ext uri="{FF2B5EF4-FFF2-40B4-BE49-F238E27FC236}">
                <a16:creationId xmlns:a16="http://schemas.microsoft.com/office/drawing/2014/main" id="{06A5B2AF-9982-BCA0-195D-40D9AD3D01C3}"/>
              </a:ext>
            </a:extLst>
          </p:cNvPr>
          <p:cNvSpPr/>
          <p:nvPr/>
        </p:nvSpPr>
        <p:spPr>
          <a:xfrm>
            <a:off x="421640" y="2337760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Shape 12">
            <a:extLst>
              <a:ext uri="{FF2B5EF4-FFF2-40B4-BE49-F238E27FC236}">
                <a16:creationId xmlns:a16="http://schemas.microsoft.com/office/drawing/2014/main" id="{FB481A0C-1E0C-B873-CB76-8675485AD735}"/>
              </a:ext>
            </a:extLst>
          </p:cNvPr>
          <p:cNvSpPr/>
          <p:nvPr/>
        </p:nvSpPr>
        <p:spPr>
          <a:xfrm>
            <a:off x="1701800" y="2337760"/>
            <a:ext cx="10149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6" name="Shape 13">
            <a:extLst>
              <a:ext uri="{FF2B5EF4-FFF2-40B4-BE49-F238E27FC236}">
                <a16:creationId xmlns:a16="http://schemas.microsoft.com/office/drawing/2014/main" id="{9397CFB1-E080-2C03-2235-C8B19AC2F464}"/>
              </a:ext>
            </a:extLst>
          </p:cNvPr>
          <p:cNvSpPr/>
          <p:nvPr/>
        </p:nvSpPr>
        <p:spPr>
          <a:xfrm>
            <a:off x="2716784" y="2337760"/>
            <a:ext cx="10149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8" name="Shape 14">
            <a:extLst>
              <a:ext uri="{FF2B5EF4-FFF2-40B4-BE49-F238E27FC236}">
                <a16:creationId xmlns:a16="http://schemas.microsoft.com/office/drawing/2014/main" id="{E750CAB3-D886-D5A1-F2B1-8CD88CBB1841}"/>
              </a:ext>
            </a:extLst>
          </p:cNvPr>
          <p:cNvSpPr/>
          <p:nvPr/>
        </p:nvSpPr>
        <p:spPr>
          <a:xfrm>
            <a:off x="3731768" y="233776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Text 15">
            <a:extLst>
              <a:ext uri="{FF2B5EF4-FFF2-40B4-BE49-F238E27FC236}">
                <a16:creationId xmlns:a16="http://schemas.microsoft.com/office/drawing/2014/main" id="{F954515D-65DC-139B-AEC1-BD916DB19F2A}"/>
              </a:ext>
            </a:extLst>
          </p:cNvPr>
          <p:cNvSpPr/>
          <p:nvPr/>
        </p:nvSpPr>
        <p:spPr>
          <a:xfrm>
            <a:off x="476504" y="2401768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17212B"/>
                </a:solidFill>
              </a:rPr>
              <a:t>Reactive clay / gumbo</a:t>
            </a:r>
            <a:endParaRPr lang="en-US" sz="840" dirty="0"/>
          </a:p>
        </p:txBody>
      </p:sp>
      <p:sp>
        <p:nvSpPr>
          <p:cNvPr id="482" name="Text 16">
            <a:extLst>
              <a:ext uri="{FF2B5EF4-FFF2-40B4-BE49-F238E27FC236}">
                <a16:creationId xmlns:a16="http://schemas.microsoft.com/office/drawing/2014/main" id="{BBFB144D-BA64-36A8-FA45-8A95D44619D5}"/>
              </a:ext>
            </a:extLst>
          </p:cNvPr>
          <p:cNvSpPr/>
          <p:nvPr/>
        </p:nvSpPr>
        <p:spPr>
          <a:xfrm>
            <a:off x="1747520" y="2392624"/>
            <a:ext cx="923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7212B"/>
                </a:solidFill>
              </a:rPr>
              <a:t>Balling, low ROP, poor hole cleaning</a:t>
            </a:r>
            <a:endParaRPr lang="en-US" sz="780" dirty="0"/>
          </a:p>
        </p:txBody>
      </p:sp>
      <p:sp>
        <p:nvSpPr>
          <p:cNvPr id="484" name="Shape 17">
            <a:extLst>
              <a:ext uri="{FF2B5EF4-FFF2-40B4-BE49-F238E27FC236}">
                <a16:creationId xmlns:a16="http://schemas.microsoft.com/office/drawing/2014/main" id="{D10EEDFD-3CA1-822C-372D-BAD265B73754}"/>
              </a:ext>
            </a:extLst>
          </p:cNvPr>
          <p:cNvSpPr/>
          <p:nvPr/>
        </p:nvSpPr>
        <p:spPr>
          <a:xfrm>
            <a:off x="2945384" y="2447488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6" name="Text 18">
            <a:extLst>
              <a:ext uri="{FF2B5EF4-FFF2-40B4-BE49-F238E27FC236}">
                <a16:creationId xmlns:a16="http://schemas.microsoft.com/office/drawing/2014/main" id="{D40B65A0-4321-39EB-B27A-59C4419A162A}"/>
              </a:ext>
            </a:extLst>
          </p:cNvPr>
          <p:cNvSpPr/>
          <p:nvPr/>
        </p:nvSpPr>
        <p:spPr>
          <a:xfrm>
            <a:off x="3018536" y="250692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</a:t>
            </a:r>
            <a:endParaRPr lang="en-US" sz="850" dirty="0"/>
          </a:p>
        </p:txBody>
      </p:sp>
      <p:sp>
        <p:nvSpPr>
          <p:cNvPr id="488" name="Text 19">
            <a:extLst>
              <a:ext uri="{FF2B5EF4-FFF2-40B4-BE49-F238E27FC236}">
                <a16:creationId xmlns:a16="http://schemas.microsoft.com/office/drawing/2014/main" id="{E5A2BD72-27F1-47D3-6711-494544517D26}"/>
              </a:ext>
            </a:extLst>
          </p:cNvPr>
          <p:cNvSpPr/>
          <p:nvPr/>
        </p:nvSpPr>
        <p:spPr>
          <a:xfrm>
            <a:off x="3786632" y="239262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7212B"/>
                </a:solidFill>
              </a:rPr>
              <a:t>KCl-polymer inhibition; maintain mud properties; monitor cuttings</a:t>
            </a:r>
            <a:endParaRPr lang="en-US" sz="770" dirty="0"/>
          </a:p>
        </p:txBody>
      </p:sp>
      <p:sp>
        <p:nvSpPr>
          <p:cNvPr id="490" name="Shape 20">
            <a:extLst>
              <a:ext uri="{FF2B5EF4-FFF2-40B4-BE49-F238E27FC236}">
                <a16:creationId xmlns:a16="http://schemas.microsoft.com/office/drawing/2014/main" id="{A4697700-FDB8-9A23-8CA0-71E0B84A974A}"/>
              </a:ext>
            </a:extLst>
          </p:cNvPr>
          <p:cNvSpPr/>
          <p:nvPr/>
        </p:nvSpPr>
        <p:spPr>
          <a:xfrm>
            <a:off x="421640" y="2813248"/>
            <a:ext cx="128016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2" name="Shape 21">
            <a:extLst>
              <a:ext uri="{FF2B5EF4-FFF2-40B4-BE49-F238E27FC236}">
                <a16:creationId xmlns:a16="http://schemas.microsoft.com/office/drawing/2014/main" id="{A7DA0A06-19E5-A07D-FDC7-CF8B3798CCA1}"/>
              </a:ext>
            </a:extLst>
          </p:cNvPr>
          <p:cNvSpPr/>
          <p:nvPr/>
        </p:nvSpPr>
        <p:spPr>
          <a:xfrm>
            <a:off x="1701800" y="2813248"/>
            <a:ext cx="1014984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4" name="Shape 22">
            <a:extLst>
              <a:ext uri="{FF2B5EF4-FFF2-40B4-BE49-F238E27FC236}">
                <a16:creationId xmlns:a16="http://schemas.microsoft.com/office/drawing/2014/main" id="{1B6D8C80-9578-AF3F-84B9-37EF4FAD5414}"/>
              </a:ext>
            </a:extLst>
          </p:cNvPr>
          <p:cNvSpPr/>
          <p:nvPr/>
        </p:nvSpPr>
        <p:spPr>
          <a:xfrm>
            <a:off x="2716784" y="2813248"/>
            <a:ext cx="1014984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6" name="Shape 23">
            <a:extLst>
              <a:ext uri="{FF2B5EF4-FFF2-40B4-BE49-F238E27FC236}">
                <a16:creationId xmlns:a16="http://schemas.microsoft.com/office/drawing/2014/main" id="{3C11993B-2296-5C69-C8DF-1A6FAB3D56F9}"/>
              </a:ext>
            </a:extLst>
          </p:cNvPr>
          <p:cNvSpPr/>
          <p:nvPr/>
        </p:nvSpPr>
        <p:spPr>
          <a:xfrm>
            <a:off x="3731768" y="2813248"/>
            <a:ext cx="246888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8" name="Text 24">
            <a:extLst>
              <a:ext uri="{FF2B5EF4-FFF2-40B4-BE49-F238E27FC236}">
                <a16:creationId xmlns:a16="http://schemas.microsoft.com/office/drawing/2014/main" id="{101E86A9-5473-0623-9B49-B7730B250C3F}"/>
              </a:ext>
            </a:extLst>
          </p:cNvPr>
          <p:cNvSpPr/>
          <p:nvPr/>
        </p:nvSpPr>
        <p:spPr>
          <a:xfrm>
            <a:off x="476504" y="2877256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17212B"/>
                </a:solidFill>
              </a:rPr>
              <a:t>Sloughing / instability</a:t>
            </a:r>
            <a:endParaRPr lang="en-US" sz="840" dirty="0"/>
          </a:p>
        </p:txBody>
      </p:sp>
      <p:sp>
        <p:nvSpPr>
          <p:cNvPr id="500" name="Text 25">
            <a:extLst>
              <a:ext uri="{FF2B5EF4-FFF2-40B4-BE49-F238E27FC236}">
                <a16:creationId xmlns:a16="http://schemas.microsoft.com/office/drawing/2014/main" id="{9BB8105B-275F-4D67-5753-6D00483F448E}"/>
              </a:ext>
            </a:extLst>
          </p:cNvPr>
          <p:cNvSpPr/>
          <p:nvPr/>
        </p:nvSpPr>
        <p:spPr>
          <a:xfrm>
            <a:off x="1747520" y="2868112"/>
            <a:ext cx="923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7212B"/>
                </a:solidFill>
              </a:rPr>
              <a:t>Cavings, pack-off, drag / overpull</a:t>
            </a:r>
            <a:endParaRPr lang="en-US" sz="780" dirty="0"/>
          </a:p>
        </p:txBody>
      </p:sp>
      <p:sp>
        <p:nvSpPr>
          <p:cNvPr id="502" name="Shape 26">
            <a:extLst>
              <a:ext uri="{FF2B5EF4-FFF2-40B4-BE49-F238E27FC236}">
                <a16:creationId xmlns:a16="http://schemas.microsoft.com/office/drawing/2014/main" id="{328B1B5A-CBFE-60AA-75ED-0C0D48780E20}"/>
              </a:ext>
            </a:extLst>
          </p:cNvPr>
          <p:cNvSpPr/>
          <p:nvPr/>
        </p:nvSpPr>
        <p:spPr>
          <a:xfrm>
            <a:off x="2945384" y="2922976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4" name="Text 27">
            <a:extLst>
              <a:ext uri="{FF2B5EF4-FFF2-40B4-BE49-F238E27FC236}">
                <a16:creationId xmlns:a16="http://schemas.microsoft.com/office/drawing/2014/main" id="{51C6A816-53DC-1FE6-50D9-915F1DF28CBA}"/>
              </a:ext>
            </a:extLst>
          </p:cNvPr>
          <p:cNvSpPr/>
          <p:nvPr/>
        </p:nvSpPr>
        <p:spPr>
          <a:xfrm>
            <a:off x="3018536" y="2982412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</a:t>
            </a:r>
            <a:endParaRPr lang="en-US" sz="850" dirty="0"/>
          </a:p>
        </p:txBody>
      </p:sp>
      <p:sp>
        <p:nvSpPr>
          <p:cNvPr id="506" name="Text 28">
            <a:extLst>
              <a:ext uri="{FF2B5EF4-FFF2-40B4-BE49-F238E27FC236}">
                <a16:creationId xmlns:a16="http://schemas.microsoft.com/office/drawing/2014/main" id="{29A52B8D-5766-CD17-35D0-D48919D4D141}"/>
              </a:ext>
            </a:extLst>
          </p:cNvPr>
          <p:cNvSpPr/>
          <p:nvPr/>
        </p:nvSpPr>
        <p:spPr>
          <a:xfrm>
            <a:off x="3786632" y="286811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7212B"/>
                </a:solidFill>
              </a:rPr>
              <a:t>MW vs. depth basis; cavings monitoring; inhibition + hole cleaning</a:t>
            </a:r>
            <a:endParaRPr lang="en-US" sz="770" dirty="0"/>
          </a:p>
        </p:txBody>
      </p:sp>
      <p:sp>
        <p:nvSpPr>
          <p:cNvPr id="508" name="Shape 29">
            <a:extLst>
              <a:ext uri="{FF2B5EF4-FFF2-40B4-BE49-F238E27FC236}">
                <a16:creationId xmlns:a16="http://schemas.microsoft.com/office/drawing/2014/main" id="{739A336E-27C8-8A5D-CF4B-4DD00FD0D136}"/>
              </a:ext>
            </a:extLst>
          </p:cNvPr>
          <p:cNvSpPr/>
          <p:nvPr/>
        </p:nvSpPr>
        <p:spPr>
          <a:xfrm>
            <a:off x="421640" y="3288736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0" name="Shape 30">
            <a:extLst>
              <a:ext uri="{FF2B5EF4-FFF2-40B4-BE49-F238E27FC236}">
                <a16:creationId xmlns:a16="http://schemas.microsoft.com/office/drawing/2014/main" id="{E3260395-24B8-BE66-16F5-B71A9EFF49E8}"/>
              </a:ext>
            </a:extLst>
          </p:cNvPr>
          <p:cNvSpPr/>
          <p:nvPr/>
        </p:nvSpPr>
        <p:spPr>
          <a:xfrm>
            <a:off x="1701800" y="3288736"/>
            <a:ext cx="10149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2" name="Shape 31">
            <a:extLst>
              <a:ext uri="{FF2B5EF4-FFF2-40B4-BE49-F238E27FC236}">
                <a16:creationId xmlns:a16="http://schemas.microsoft.com/office/drawing/2014/main" id="{8E3446E4-33F8-D8C8-C365-28E27CEC03A8}"/>
              </a:ext>
            </a:extLst>
          </p:cNvPr>
          <p:cNvSpPr/>
          <p:nvPr/>
        </p:nvSpPr>
        <p:spPr>
          <a:xfrm>
            <a:off x="2716784" y="3288736"/>
            <a:ext cx="10149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4" name="Shape 32">
            <a:extLst>
              <a:ext uri="{FF2B5EF4-FFF2-40B4-BE49-F238E27FC236}">
                <a16:creationId xmlns:a16="http://schemas.microsoft.com/office/drawing/2014/main" id="{BA090E32-A58F-6D3B-A944-6CFF6C60CE4A}"/>
              </a:ext>
            </a:extLst>
          </p:cNvPr>
          <p:cNvSpPr/>
          <p:nvPr/>
        </p:nvSpPr>
        <p:spPr>
          <a:xfrm>
            <a:off x="3731768" y="328873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6" name="Text 33">
            <a:extLst>
              <a:ext uri="{FF2B5EF4-FFF2-40B4-BE49-F238E27FC236}">
                <a16:creationId xmlns:a16="http://schemas.microsoft.com/office/drawing/2014/main" id="{5D2DB50A-B824-6474-F05A-0B199EC686F6}"/>
              </a:ext>
            </a:extLst>
          </p:cNvPr>
          <p:cNvSpPr/>
          <p:nvPr/>
        </p:nvSpPr>
        <p:spPr>
          <a:xfrm>
            <a:off x="476504" y="3352744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17212B"/>
                </a:solidFill>
              </a:rPr>
              <a:t>Tight hole / drag</a:t>
            </a:r>
            <a:endParaRPr lang="en-US" sz="840" dirty="0"/>
          </a:p>
        </p:txBody>
      </p:sp>
      <p:sp>
        <p:nvSpPr>
          <p:cNvPr id="518" name="Text 34">
            <a:extLst>
              <a:ext uri="{FF2B5EF4-FFF2-40B4-BE49-F238E27FC236}">
                <a16:creationId xmlns:a16="http://schemas.microsoft.com/office/drawing/2014/main" id="{20C210D2-4C16-D824-0674-11976A23F9F3}"/>
              </a:ext>
            </a:extLst>
          </p:cNvPr>
          <p:cNvSpPr/>
          <p:nvPr/>
        </p:nvSpPr>
        <p:spPr>
          <a:xfrm>
            <a:off x="1747520" y="3343600"/>
            <a:ext cx="923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7212B"/>
                </a:solidFill>
              </a:rPr>
              <a:t>Difficult trips; casing / logging restriction</a:t>
            </a:r>
            <a:endParaRPr lang="en-US" sz="780" dirty="0"/>
          </a:p>
        </p:txBody>
      </p:sp>
      <p:sp>
        <p:nvSpPr>
          <p:cNvPr id="520" name="Shape 35">
            <a:extLst>
              <a:ext uri="{FF2B5EF4-FFF2-40B4-BE49-F238E27FC236}">
                <a16:creationId xmlns:a16="http://schemas.microsoft.com/office/drawing/2014/main" id="{496239B9-54EB-36B9-72C0-2E357BB5E5A3}"/>
              </a:ext>
            </a:extLst>
          </p:cNvPr>
          <p:cNvSpPr/>
          <p:nvPr/>
        </p:nvSpPr>
        <p:spPr>
          <a:xfrm>
            <a:off x="2945384" y="3398464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2" name="Text 36">
            <a:extLst>
              <a:ext uri="{FF2B5EF4-FFF2-40B4-BE49-F238E27FC236}">
                <a16:creationId xmlns:a16="http://schemas.microsoft.com/office/drawing/2014/main" id="{CFE7705F-994D-CD87-6CC5-D8C2F7591D5C}"/>
              </a:ext>
            </a:extLst>
          </p:cNvPr>
          <p:cNvSpPr/>
          <p:nvPr/>
        </p:nvSpPr>
        <p:spPr>
          <a:xfrm>
            <a:off x="3018536" y="345790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</a:t>
            </a:r>
            <a:endParaRPr lang="en-US" sz="850" dirty="0"/>
          </a:p>
        </p:txBody>
      </p:sp>
      <p:sp>
        <p:nvSpPr>
          <p:cNvPr id="524" name="Text 37">
            <a:extLst>
              <a:ext uri="{FF2B5EF4-FFF2-40B4-BE49-F238E27FC236}">
                <a16:creationId xmlns:a16="http://schemas.microsoft.com/office/drawing/2014/main" id="{328EE0CC-B474-973A-D5FB-8FA1034D3ED4}"/>
              </a:ext>
            </a:extLst>
          </p:cNvPr>
          <p:cNvSpPr/>
          <p:nvPr/>
        </p:nvSpPr>
        <p:spPr>
          <a:xfrm>
            <a:off x="3786632" y="33436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7212B"/>
                </a:solidFill>
              </a:rPr>
              <a:t>Track P/U, S/O &amp; rotating weight vs. T&amp;D baseline; condition hole</a:t>
            </a:r>
            <a:endParaRPr lang="en-US" sz="770" dirty="0"/>
          </a:p>
        </p:txBody>
      </p:sp>
      <p:sp>
        <p:nvSpPr>
          <p:cNvPr id="526" name="Shape 38">
            <a:extLst>
              <a:ext uri="{FF2B5EF4-FFF2-40B4-BE49-F238E27FC236}">
                <a16:creationId xmlns:a16="http://schemas.microsoft.com/office/drawing/2014/main" id="{EEC17378-D48B-E181-0448-1A61FBCAE19F}"/>
              </a:ext>
            </a:extLst>
          </p:cNvPr>
          <p:cNvSpPr/>
          <p:nvPr/>
        </p:nvSpPr>
        <p:spPr>
          <a:xfrm>
            <a:off x="421640" y="3764224"/>
            <a:ext cx="128016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8" name="Shape 39">
            <a:extLst>
              <a:ext uri="{FF2B5EF4-FFF2-40B4-BE49-F238E27FC236}">
                <a16:creationId xmlns:a16="http://schemas.microsoft.com/office/drawing/2014/main" id="{75C89B80-25AF-967A-0187-461F7DDE00C9}"/>
              </a:ext>
            </a:extLst>
          </p:cNvPr>
          <p:cNvSpPr/>
          <p:nvPr/>
        </p:nvSpPr>
        <p:spPr>
          <a:xfrm>
            <a:off x="1701800" y="3764224"/>
            <a:ext cx="1014984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0" name="Shape 40">
            <a:extLst>
              <a:ext uri="{FF2B5EF4-FFF2-40B4-BE49-F238E27FC236}">
                <a16:creationId xmlns:a16="http://schemas.microsoft.com/office/drawing/2014/main" id="{A6B56B4E-AB79-AA97-CA48-CA6C0E17BBF3}"/>
              </a:ext>
            </a:extLst>
          </p:cNvPr>
          <p:cNvSpPr/>
          <p:nvPr/>
        </p:nvSpPr>
        <p:spPr>
          <a:xfrm>
            <a:off x="2716784" y="3764224"/>
            <a:ext cx="1014984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2" name="Shape 41">
            <a:extLst>
              <a:ext uri="{FF2B5EF4-FFF2-40B4-BE49-F238E27FC236}">
                <a16:creationId xmlns:a16="http://schemas.microsoft.com/office/drawing/2014/main" id="{A8B04510-8A8F-7AD2-5E1A-B477710EFA95}"/>
              </a:ext>
            </a:extLst>
          </p:cNvPr>
          <p:cNvSpPr/>
          <p:nvPr/>
        </p:nvSpPr>
        <p:spPr>
          <a:xfrm>
            <a:off x="3731768" y="3764224"/>
            <a:ext cx="246888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4" name="Text 42">
            <a:extLst>
              <a:ext uri="{FF2B5EF4-FFF2-40B4-BE49-F238E27FC236}">
                <a16:creationId xmlns:a16="http://schemas.microsoft.com/office/drawing/2014/main" id="{E8BABB1A-A1F8-55EF-F5AA-232E16C563D6}"/>
              </a:ext>
            </a:extLst>
          </p:cNvPr>
          <p:cNvSpPr/>
          <p:nvPr/>
        </p:nvSpPr>
        <p:spPr>
          <a:xfrm>
            <a:off x="476504" y="3828232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17212B"/>
                </a:solidFill>
              </a:rPr>
              <a:t>Loss circulation – drilling</a:t>
            </a:r>
            <a:endParaRPr lang="en-US" sz="840" dirty="0"/>
          </a:p>
        </p:txBody>
      </p:sp>
      <p:sp>
        <p:nvSpPr>
          <p:cNvPr id="536" name="Text 43">
            <a:extLst>
              <a:ext uri="{FF2B5EF4-FFF2-40B4-BE49-F238E27FC236}">
                <a16:creationId xmlns:a16="http://schemas.microsoft.com/office/drawing/2014/main" id="{915E67D2-B148-294D-49F0-EFF281AD734C}"/>
              </a:ext>
            </a:extLst>
          </p:cNvPr>
          <p:cNvSpPr/>
          <p:nvPr/>
        </p:nvSpPr>
        <p:spPr>
          <a:xfrm>
            <a:off x="1747520" y="3819088"/>
            <a:ext cx="923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7212B"/>
                </a:solidFill>
              </a:rPr>
              <a:t>Partial/total losses; reduced hydrostatic</a:t>
            </a:r>
            <a:endParaRPr lang="en-US" sz="780" dirty="0"/>
          </a:p>
        </p:txBody>
      </p:sp>
      <p:sp>
        <p:nvSpPr>
          <p:cNvPr id="538" name="Shape 44">
            <a:extLst>
              <a:ext uri="{FF2B5EF4-FFF2-40B4-BE49-F238E27FC236}">
                <a16:creationId xmlns:a16="http://schemas.microsoft.com/office/drawing/2014/main" id="{35B468C7-4E52-622F-E369-37AB17B75A98}"/>
              </a:ext>
            </a:extLst>
          </p:cNvPr>
          <p:cNvSpPr/>
          <p:nvPr/>
        </p:nvSpPr>
        <p:spPr>
          <a:xfrm>
            <a:off x="2945384" y="3873952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0" name="Text 45">
            <a:extLst>
              <a:ext uri="{FF2B5EF4-FFF2-40B4-BE49-F238E27FC236}">
                <a16:creationId xmlns:a16="http://schemas.microsoft.com/office/drawing/2014/main" id="{A2B21534-B799-CE73-4450-D5826C958FB4}"/>
              </a:ext>
            </a:extLst>
          </p:cNvPr>
          <p:cNvSpPr/>
          <p:nvPr/>
        </p:nvSpPr>
        <p:spPr>
          <a:xfrm>
            <a:off x="3018536" y="393338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</a:t>
            </a:r>
            <a:endParaRPr lang="en-US" sz="850" dirty="0"/>
          </a:p>
        </p:txBody>
      </p:sp>
      <p:sp>
        <p:nvSpPr>
          <p:cNvPr id="542" name="Text 46">
            <a:extLst>
              <a:ext uri="{FF2B5EF4-FFF2-40B4-BE49-F238E27FC236}">
                <a16:creationId xmlns:a16="http://schemas.microsoft.com/office/drawing/2014/main" id="{D0402269-1DB9-1610-024E-60480253C6EA}"/>
              </a:ext>
            </a:extLst>
          </p:cNvPr>
          <p:cNvSpPr/>
          <p:nvPr/>
        </p:nvSpPr>
        <p:spPr>
          <a:xfrm>
            <a:off x="3786632" y="381908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7212B"/>
                </a:solidFill>
              </a:rPr>
              <a:t>Control ECD; HiVis sweeps; preventive LCM/fiber; loss contingency</a:t>
            </a:r>
            <a:endParaRPr lang="en-US" sz="770" dirty="0"/>
          </a:p>
        </p:txBody>
      </p:sp>
      <p:sp>
        <p:nvSpPr>
          <p:cNvPr id="544" name="Shape 47">
            <a:extLst>
              <a:ext uri="{FF2B5EF4-FFF2-40B4-BE49-F238E27FC236}">
                <a16:creationId xmlns:a16="http://schemas.microsoft.com/office/drawing/2014/main" id="{C924EE47-9E51-46CD-FB4F-8A560982013B}"/>
              </a:ext>
            </a:extLst>
          </p:cNvPr>
          <p:cNvSpPr/>
          <p:nvPr/>
        </p:nvSpPr>
        <p:spPr>
          <a:xfrm>
            <a:off x="421640" y="4239712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6" name="Shape 48">
            <a:extLst>
              <a:ext uri="{FF2B5EF4-FFF2-40B4-BE49-F238E27FC236}">
                <a16:creationId xmlns:a16="http://schemas.microsoft.com/office/drawing/2014/main" id="{39956613-DB3F-BAEE-651D-707655CA0ECF}"/>
              </a:ext>
            </a:extLst>
          </p:cNvPr>
          <p:cNvSpPr/>
          <p:nvPr/>
        </p:nvSpPr>
        <p:spPr>
          <a:xfrm>
            <a:off x="1701800" y="4239712"/>
            <a:ext cx="10149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8" name="Shape 49">
            <a:extLst>
              <a:ext uri="{FF2B5EF4-FFF2-40B4-BE49-F238E27FC236}">
                <a16:creationId xmlns:a16="http://schemas.microsoft.com/office/drawing/2014/main" id="{4AC8D3C8-F705-EAAD-5157-9923240876A4}"/>
              </a:ext>
            </a:extLst>
          </p:cNvPr>
          <p:cNvSpPr/>
          <p:nvPr/>
        </p:nvSpPr>
        <p:spPr>
          <a:xfrm>
            <a:off x="2716784" y="4239712"/>
            <a:ext cx="10149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0" name="Shape 50">
            <a:extLst>
              <a:ext uri="{FF2B5EF4-FFF2-40B4-BE49-F238E27FC236}">
                <a16:creationId xmlns:a16="http://schemas.microsoft.com/office/drawing/2014/main" id="{FD7E1683-BA96-1212-22BE-2B25E8039DBE}"/>
              </a:ext>
            </a:extLst>
          </p:cNvPr>
          <p:cNvSpPr/>
          <p:nvPr/>
        </p:nvSpPr>
        <p:spPr>
          <a:xfrm>
            <a:off x="3731768" y="423971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2" name="Text 51">
            <a:extLst>
              <a:ext uri="{FF2B5EF4-FFF2-40B4-BE49-F238E27FC236}">
                <a16:creationId xmlns:a16="http://schemas.microsoft.com/office/drawing/2014/main" id="{83AB4D9D-7A29-5389-3345-9E1CFDFBAA16}"/>
              </a:ext>
            </a:extLst>
          </p:cNvPr>
          <p:cNvSpPr/>
          <p:nvPr/>
        </p:nvSpPr>
        <p:spPr>
          <a:xfrm>
            <a:off x="476504" y="4303720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17212B"/>
                </a:solidFill>
              </a:rPr>
              <a:t>Loss circulation – cementing</a:t>
            </a:r>
            <a:endParaRPr lang="en-US" sz="840" dirty="0"/>
          </a:p>
        </p:txBody>
      </p:sp>
      <p:sp>
        <p:nvSpPr>
          <p:cNvPr id="554" name="Text 52">
            <a:extLst>
              <a:ext uri="{FF2B5EF4-FFF2-40B4-BE49-F238E27FC236}">
                <a16:creationId xmlns:a16="http://schemas.microsoft.com/office/drawing/2014/main" id="{89179A72-2A4B-6A50-74AE-7C4A64213E0D}"/>
              </a:ext>
            </a:extLst>
          </p:cNvPr>
          <p:cNvSpPr/>
          <p:nvPr/>
        </p:nvSpPr>
        <p:spPr>
          <a:xfrm>
            <a:off x="1747520" y="4294576"/>
            <a:ext cx="923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7212B"/>
                </a:solidFill>
              </a:rPr>
              <a:t>Poor placement / zonal isolation</a:t>
            </a:r>
            <a:endParaRPr lang="en-US" sz="780" dirty="0"/>
          </a:p>
        </p:txBody>
      </p:sp>
      <p:sp>
        <p:nvSpPr>
          <p:cNvPr id="556" name="Shape 53">
            <a:extLst>
              <a:ext uri="{FF2B5EF4-FFF2-40B4-BE49-F238E27FC236}">
                <a16:creationId xmlns:a16="http://schemas.microsoft.com/office/drawing/2014/main" id="{92B86184-79AA-490E-9999-DE2F19E27BF5}"/>
              </a:ext>
            </a:extLst>
          </p:cNvPr>
          <p:cNvSpPr/>
          <p:nvPr/>
        </p:nvSpPr>
        <p:spPr>
          <a:xfrm>
            <a:off x="2945384" y="4349440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8" name="Text 54">
            <a:extLst>
              <a:ext uri="{FF2B5EF4-FFF2-40B4-BE49-F238E27FC236}">
                <a16:creationId xmlns:a16="http://schemas.microsoft.com/office/drawing/2014/main" id="{E42D18F4-56BD-0AEA-0016-8E2AF13E1B0E}"/>
              </a:ext>
            </a:extLst>
          </p:cNvPr>
          <p:cNvSpPr/>
          <p:nvPr/>
        </p:nvSpPr>
        <p:spPr>
          <a:xfrm>
            <a:off x="3018536" y="4408876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</a:t>
            </a:r>
            <a:endParaRPr lang="en-US" sz="850" dirty="0"/>
          </a:p>
        </p:txBody>
      </p:sp>
      <p:sp>
        <p:nvSpPr>
          <p:cNvPr id="560" name="Text 55">
            <a:extLst>
              <a:ext uri="{FF2B5EF4-FFF2-40B4-BE49-F238E27FC236}">
                <a16:creationId xmlns:a16="http://schemas.microsoft.com/office/drawing/2014/main" id="{00638557-1A32-D704-10E8-82613E9934CF}"/>
              </a:ext>
            </a:extLst>
          </p:cNvPr>
          <p:cNvSpPr/>
          <p:nvPr/>
        </p:nvSpPr>
        <p:spPr>
          <a:xfrm>
            <a:off x="3786632" y="429457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7212B"/>
                </a:solidFill>
              </a:rPr>
              <a:t>Manage placement ECD; LCM/fiber; lightweight cement; top-job contingency</a:t>
            </a:r>
            <a:endParaRPr lang="en-US" sz="770" dirty="0"/>
          </a:p>
        </p:txBody>
      </p:sp>
      <p:sp>
        <p:nvSpPr>
          <p:cNvPr id="562" name="Shape 56">
            <a:extLst>
              <a:ext uri="{FF2B5EF4-FFF2-40B4-BE49-F238E27FC236}">
                <a16:creationId xmlns:a16="http://schemas.microsoft.com/office/drawing/2014/main" id="{EF030491-BCBF-0358-3324-C37CCFED9701}"/>
              </a:ext>
            </a:extLst>
          </p:cNvPr>
          <p:cNvSpPr/>
          <p:nvPr/>
        </p:nvSpPr>
        <p:spPr>
          <a:xfrm>
            <a:off x="421640" y="4715200"/>
            <a:ext cx="128016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4" name="Shape 57">
            <a:extLst>
              <a:ext uri="{FF2B5EF4-FFF2-40B4-BE49-F238E27FC236}">
                <a16:creationId xmlns:a16="http://schemas.microsoft.com/office/drawing/2014/main" id="{B6945101-6237-F337-6027-E9E564070FEE}"/>
              </a:ext>
            </a:extLst>
          </p:cNvPr>
          <p:cNvSpPr/>
          <p:nvPr/>
        </p:nvSpPr>
        <p:spPr>
          <a:xfrm>
            <a:off x="1701800" y="4715200"/>
            <a:ext cx="1014984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6" name="Shape 58">
            <a:extLst>
              <a:ext uri="{FF2B5EF4-FFF2-40B4-BE49-F238E27FC236}">
                <a16:creationId xmlns:a16="http://schemas.microsoft.com/office/drawing/2014/main" id="{54B63224-9FF1-0BA6-BCC6-BA59FB80A252}"/>
              </a:ext>
            </a:extLst>
          </p:cNvPr>
          <p:cNvSpPr/>
          <p:nvPr/>
        </p:nvSpPr>
        <p:spPr>
          <a:xfrm>
            <a:off x="2716784" y="4715200"/>
            <a:ext cx="1014984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8" name="Shape 59">
            <a:extLst>
              <a:ext uri="{FF2B5EF4-FFF2-40B4-BE49-F238E27FC236}">
                <a16:creationId xmlns:a16="http://schemas.microsoft.com/office/drawing/2014/main" id="{01EBD22A-DF3E-8A18-354A-1B685888721B}"/>
              </a:ext>
            </a:extLst>
          </p:cNvPr>
          <p:cNvSpPr/>
          <p:nvPr/>
        </p:nvSpPr>
        <p:spPr>
          <a:xfrm>
            <a:off x="3731768" y="4715200"/>
            <a:ext cx="246888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0" name="Text 60">
            <a:extLst>
              <a:ext uri="{FF2B5EF4-FFF2-40B4-BE49-F238E27FC236}">
                <a16:creationId xmlns:a16="http://schemas.microsoft.com/office/drawing/2014/main" id="{02BCFFD0-E302-00BC-2087-3BFFD920AF10}"/>
              </a:ext>
            </a:extLst>
          </p:cNvPr>
          <p:cNvSpPr/>
          <p:nvPr/>
        </p:nvSpPr>
        <p:spPr>
          <a:xfrm>
            <a:off x="476504" y="4779208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17212B"/>
                </a:solidFill>
              </a:rPr>
              <a:t>Differential sticking</a:t>
            </a:r>
            <a:endParaRPr lang="en-US" sz="840" dirty="0"/>
          </a:p>
        </p:txBody>
      </p:sp>
      <p:sp>
        <p:nvSpPr>
          <p:cNvPr id="572" name="Text 61">
            <a:extLst>
              <a:ext uri="{FF2B5EF4-FFF2-40B4-BE49-F238E27FC236}">
                <a16:creationId xmlns:a16="http://schemas.microsoft.com/office/drawing/2014/main" id="{887D1455-2C9A-53FA-FB49-04B4874047D2}"/>
              </a:ext>
            </a:extLst>
          </p:cNvPr>
          <p:cNvSpPr/>
          <p:nvPr/>
        </p:nvSpPr>
        <p:spPr>
          <a:xfrm>
            <a:off x="1747520" y="4770064"/>
            <a:ext cx="923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7212B"/>
                </a:solidFill>
              </a:rPr>
              <a:t>Stuck pipe, fishing, NPT</a:t>
            </a:r>
            <a:endParaRPr lang="en-US" sz="780" dirty="0"/>
          </a:p>
        </p:txBody>
      </p:sp>
      <p:sp>
        <p:nvSpPr>
          <p:cNvPr id="574" name="Shape 62">
            <a:extLst>
              <a:ext uri="{FF2B5EF4-FFF2-40B4-BE49-F238E27FC236}">
                <a16:creationId xmlns:a16="http://schemas.microsoft.com/office/drawing/2014/main" id="{E62DCE82-8DAE-6A1A-2CCB-0E11A0BAC88A}"/>
              </a:ext>
            </a:extLst>
          </p:cNvPr>
          <p:cNvSpPr/>
          <p:nvPr/>
        </p:nvSpPr>
        <p:spPr>
          <a:xfrm>
            <a:off x="2945384" y="4824928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6" name="Text 63">
            <a:extLst>
              <a:ext uri="{FF2B5EF4-FFF2-40B4-BE49-F238E27FC236}">
                <a16:creationId xmlns:a16="http://schemas.microsoft.com/office/drawing/2014/main" id="{793205AD-51E6-B91C-8BF3-9128B3AB34D3}"/>
              </a:ext>
            </a:extLst>
          </p:cNvPr>
          <p:cNvSpPr/>
          <p:nvPr/>
        </p:nvSpPr>
        <p:spPr>
          <a:xfrm>
            <a:off x="3018536" y="488436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</a:t>
            </a:r>
            <a:endParaRPr lang="en-US" sz="850" dirty="0"/>
          </a:p>
        </p:txBody>
      </p:sp>
      <p:sp>
        <p:nvSpPr>
          <p:cNvPr id="578" name="Text 64">
            <a:extLst>
              <a:ext uri="{FF2B5EF4-FFF2-40B4-BE49-F238E27FC236}">
                <a16:creationId xmlns:a16="http://schemas.microsoft.com/office/drawing/2014/main" id="{AA292A6A-D26C-A887-8142-FF7398D2284D}"/>
              </a:ext>
            </a:extLst>
          </p:cNvPr>
          <p:cNvSpPr/>
          <p:nvPr/>
        </p:nvSpPr>
        <p:spPr>
          <a:xfrm>
            <a:off x="3786632" y="477006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7212B"/>
                </a:solidFill>
              </a:rPr>
              <a:t>Fluid-loss control; bridging material; minimize static exposure; monitor ECD/T&amp;D</a:t>
            </a:r>
            <a:endParaRPr lang="en-US" sz="770" dirty="0"/>
          </a:p>
        </p:txBody>
      </p:sp>
      <p:sp>
        <p:nvSpPr>
          <p:cNvPr id="580" name="Shape 65">
            <a:extLst>
              <a:ext uri="{FF2B5EF4-FFF2-40B4-BE49-F238E27FC236}">
                <a16:creationId xmlns:a16="http://schemas.microsoft.com/office/drawing/2014/main" id="{E4130AB2-00F0-1D58-F4E1-8FFE3DB35C0E}"/>
              </a:ext>
            </a:extLst>
          </p:cNvPr>
          <p:cNvSpPr/>
          <p:nvPr/>
        </p:nvSpPr>
        <p:spPr>
          <a:xfrm>
            <a:off x="421640" y="5190688"/>
            <a:ext cx="1280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2" name="Shape 66">
            <a:extLst>
              <a:ext uri="{FF2B5EF4-FFF2-40B4-BE49-F238E27FC236}">
                <a16:creationId xmlns:a16="http://schemas.microsoft.com/office/drawing/2014/main" id="{6F0A9F3F-7709-873C-BDE9-677C26FF50F5}"/>
              </a:ext>
            </a:extLst>
          </p:cNvPr>
          <p:cNvSpPr/>
          <p:nvPr/>
        </p:nvSpPr>
        <p:spPr>
          <a:xfrm>
            <a:off x="1701800" y="5190688"/>
            <a:ext cx="10149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4" name="Shape 67">
            <a:extLst>
              <a:ext uri="{FF2B5EF4-FFF2-40B4-BE49-F238E27FC236}">
                <a16:creationId xmlns:a16="http://schemas.microsoft.com/office/drawing/2014/main" id="{85C625FE-BAA0-B614-E2FC-5903AE03D4B2}"/>
              </a:ext>
            </a:extLst>
          </p:cNvPr>
          <p:cNvSpPr/>
          <p:nvPr/>
        </p:nvSpPr>
        <p:spPr>
          <a:xfrm>
            <a:off x="2716784" y="5190688"/>
            <a:ext cx="10149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6" name="Shape 68">
            <a:extLst>
              <a:ext uri="{FF2B5EF4-FFF2-40B4-BE49-F238E27FC236}">
                <a16:creationId xmlns:a16="http://schemas.microsoft.com/office/drawing/2014/main" id="{6EE09D77-0BD6-F846-0773-EC278D59FC77}"/>
              </a:ext>
            </a:extLst>
          </p:cNvPr>
          <p:cNvSpPr/>
          <p:nvPr/>
        </p:nvSpPr>
        <p:spPr>
          <a:xfrm>
            <a:off x="3731768" y="5190688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8" name="Text 69">
            <a:extLst>
              <a:ext uri="{FF2B5EF4-FFF2-40B4-BE49-F238E27FC236}">
                <a16:creationId xmlns:a16="http://schemas.microsoft.com/office/drawing/2014/main" id="{452BE68B-F0C6-8091-558D-3482C290F4E1}"/>
              </a:ext>
            </a:extLst>
          </p:cNvPr>
          <p:cNvSpPr/>
          <p:nvPr/>
        </p:nvSpPr>
        <p:spPr>
          <a:xfrm>
            <a:off x="476504" y="5254696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17212B"/>
                </a:solidFill>
              </a:rPr>
              <a:t>Logging stop / stuck tool</a:t>
            </a:r>
            <a:endParaRPr lang="en-US" sz="840" dirty="0"/>
          </a:p>
        </p:txBody>
      </p:sp>
      <p:sp>
        <p:nvSpPr>
          <p:cNvPr id="590" name="Text 70">
            <a:extLst>
              <a:ext uri="{FF2B5EF4-FFF2-40B4-BE49-F238E27FC236}">
                <a16:creationId xmlns:a16="http://schemas.microsoft.com/office/drawing/2014/main" id="{41425A20-C4D1-F12E-E8AE-1A82FA83FB4E}"/>
              </a:ext>
            </a:extLst>
          </p:cNvPr>
          <p:cNvSpPr/>
          <p:nvPr/>
        </p:nvSpPr>
        <p:spPr>
          <a:xfrm>
            <a:off x="1747520" y="5245552"/>
            <a:ext cx="923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7212B"/>
                </a:solidFill>
              </a:rPr>
              <a:t>Incomplete evaluation; extra trip / NPT</a:t>
            </a:r>
            <a:endParaRPr lang="en-US" sz="780" dirty="0"/>
          </a:p>
        </p:txBody>
      </p:sp>
      <p:sp>
        <p:nvSpPr>
          <p:cNvPr id="592" name="Shape 71">
            <a:extLst>
              <a:ext uri="{FF2B5EF4-FFF2-40B4-BE49-F238E27FC236}">
                <a16:creationId xmlns:a16="http://schemas.microsoft.com/office/drawing/2014/main" id="{C42F0D53-6684-E376-2BB3-4C6984098FAC}"/>
              </a:ext>
            </a:extLst>
          </p:cNvPr>
          <p:cNvSpPr/>
          <p:nvPr/>
        </p:nvSpPr>
        <p:spPr>
          <a:xfrm>
            <a:off x="2945384" y="5300416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4" name="Text 72">
            <a:extLst>
              <a:ext uri="{FF2B5EF4-FFF2-40B4-BE49-F238E27FC236}">
                <a16:creationId xmlns:a16="http://schemas.microsoft.com/office/drawing/2014/main" id="{E6990F51-2E9B-2E05-16C2-220FCA623B1E}"/>
              </a:ext>
            </a:extLst>
          </p:cNvPr>
          <p:cNvSpPr/>
          <p:nvPr/>
        </p:nvSpPr>
        <p:spPr>
          <a:xfrm>
            <a:off x="3018536" y="5359852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</a:t>
            </a:r>
            <a:endParaRPr lang="en-US" sz="850" dirty="0"/>
          </a:p>
        </p:txBody>
      </p:sp>
      <p:sp>
        <p:nvSpPr>
          <p:cNvPr id="596" name="Text 73">
            <a:extLst>
              <a:ext uri="{FF2B5EF4-FFF2-40B4-BE49-F238E27FC236}">
                <a16:creationId xmlns:a16="http://schemas.microsoft.com/office/drawing/2014/main" id="{09729EF3-85DF-2ABC-2C25-4C781C8DF51F}"/>
              </a:ext>
            </a:extLst>
          </p:cNvPr>
          <p:cNvSpPr/>
          <p:nvPr/>
        </p:nvSpPr>
        <p:spPr>
          <a:xfrm>
            <a:off x="3786632" y="524555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7212B"/>
                </a:solidFill>
              </a:rPr>
              <a:t>Final hole conditioning; conditioning trip; alternative conveyance ready</a:t>
            </a:r>
            <a:endParaRPr lang="en-US" sz="770" dirty="0"/>
          </a:p>
        </p:txBody>
      </p:sp>
      <p:sp>
        <p:nvSpPr>
          <p:cNvPr id="598" name="Shape 74">
            <a:extLst>
              <a:ext uri="{FF2B5EF4-FFF2-40B4-BE49-F238E27FC236}">
                <a16:creationId xmlns:a16="http://schemas.microsoft.com/office/drawing/2014/main" id="{E5B3BBC0-3ED8-A771-8862-881015069769}"/>
              </a:ext>
            </a:extLst>
          </p:cNvPr>
          <p:cNvSpPr/>
          <p:nvPr/>
        </p:nvSpPr>
        <p:spPr>
          <a:xfrm>
            <a:off x="421640" y="5666176"/>
            <a:ext cx="128016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0" name="Shape 75">
            <a:extLst>
              <a:ext uri="{FF2B5EF4-FFF2-40B4-BE49-F238E27FC236}">
                <a16:creationId xmlns:a16="http://schemas.microsoft.com/office/drawing/2014/main" id="{F0DD3020-A41A-59A1-27DC-5193981CC8E5}"/>
              </a:ext>
            </a:extLst>
          </p:cNvPr>
          <p:cNvSpPr/>
          <p:nvPr/>
        </p:nvSpPr>
        <p:spPr>
          <a:xfrm>
            <a:off x="1701800" y="5666176"/>
            <a:ext cx="1014984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2" name="Shape 76">
            <a:extLst>
              <a:ext uri="{FF2B5EF4-FFF2-40B4-BE49-F238E27FC236}">
                <a16:creationId xmlns:a16="http://schemas.microsoft.com/office/drawing/2014/main" id="{88BDD323-46EF-E0F8-D782-6BA082AED9DC}"/>
              </a:ext>
            </a:extLst>
          </p:cNvPr>
          <p:cNvSpPr/>
          <p:nvPr/>
        </p:nvSpPr>
        <p:spPr>
          <a:xfrm>
            <a:off x="2716784" y="5666176"/>
            <a:ext cx="1014984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4" name="Shape 77">
            <a:extLst>
              <a:ext uri="{FF2B5EF4-FFF2-40B4-BE49-F238E27FC236}">
                <a16:creationId xmlns:a16="http://schemas.microsoft.com/office/drawing/2014/main" id="{F1383223-2494-99B0-C602-9BBD187B8904}"/>
              </a:ext>
            </a:extLst>
          </p:cNvPr>
          <p:cNvSpPr/>
          <p:nvPr/>
        </p:nvSpPr>
        <p:spPr>
          <a:xfrm>
            <a:off x="3731768" y="5666176"/>
            <a:ext cx="246888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6" name="Text 78">
            <a:extLst>
              <a:ext uri="{FF2B5EF4-FFF2-40B4-BE49-F238E27FC236}">
                <a16:creationId xmlns:a16="http://schemas.microsoft.com/office/drawing/2014/main" id="{9BFB9B58-5D33-2374-BB9C-74ABC71B0CC5}"/>
              </a:ext>
            </a:extLst>
          </p:cNvPr>
          <p:cNvSpPr/>
          <p:nvPr/>
        </p:nvSpPr>
        <p:spPr>
          <a:xfrm>
            <a:off x="476504" y="5730184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17212B"/>
                </a:solidFill>
              </a:rPr>
              <a:t>Casing stop</a:t>
            </a:r>
            <a:endParaRPr lang="en-US" sz="840" dirty="0"/>
          </a:p>
        </p:txBody>
      </p:sp>
      <p:sp>
        <p:nvSpPr>
          <p:cNvPr id="608" name="Text 79">
            <a:extLst>
              <a:ext uri="{FF2B5EF4-FFF2-40B4-BE49-F238E27FC236}">
                <a16:creationId xmlns:a16="http://schemas.microsoft.com/office/drawing/2014/main" id="{0585A833-ABB8-0E0E-E90E-8A69B2555196}"/>
              </a:ext>
            </a:extLst>
          </p:cNvPr>
          <p:cNvSpPr/>
          <p:nvPr/>
        </p:nvSpPr>
        <p:spPr>
          <a:xfrm>
            <a:off x="1747520" y="5721040"/>
            <a:ext cx="923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7212B"/>
                </a:solidFill>
              </a:rPr>
              <a:t>Cannot reach planned casing depth</a:t>
            </a:r>
            <a:endParaRPr lang="en-US" sz="780" dirty="0"/>
          </a:p>
        </p:txBody>
      </p:sp>
      <p:sp>
        <p:nvSpPr>
          <p:cNvPr id="610" name="Shape 80">
            <a:extLst>
              <a:ext uri="{FF2B5EF4-FFF2-40B4-BE49-F238E27FC236}">
                <a16:creationId xmlns:a16="http://schemas.microsoft.com/office/drawing/2014/main" id="{5F74CDF0-0D4B-394C-00B0-1F2D64C89518}"/>
              </a:ext>
            </a:extLst>
          </p:cNvPr>
          <p:cNvSpPr/>
          <p:nvPr/>
        </p:nvSpPr>
        <p:spPr>
          <a:xfrm>
            <a:off x="2945384" y="5775904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2" name="Text 81">
            <a:extLst>
              <a:ext uri="{FF2B5EF4-FFF2-40B4-BE49-F238E27FC236}">
                <a16:creationId xmlns:a16="http://schemas.microsoft.com/office/drawing/2014/main" id="{701938F0-2CA6-5F1A-A7C4-8D70C44C4A89}"/>
              </a:ext>
            </a:extLst>
          </p:cNvPr>
          <p:cNvSpPr/>
          <p:nvPr/>
        </p:nvSpPr>
        <p:spPr>
          <a:xfrm>
            <a:off x="3018536" y="583534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</a:t>
            </a:r>
            <a:endParaRPr lang="en-US" sz="850" dirty="0"/>
          </a:p>
        </p:txBody>
      </p:sp>
      <p:sp>
        <p:nvSpPr>
          <p:cNvPr id="614" name="Text 82">
            <a:extLst>
              <a:ext uri="{FF2B5EF4-FFF2-40B4-BE49-F238E27FC236}">
                <a16:creationId xmlns:a16="http://schemas.microsoft.com/office/drawing/2014/main" id="{1BEA1C1D-66C5-503E-B870-6C40D45AEA04}"/>
              </a:ext>
            </a:extLst>
          </p:cNvPr>
          <p:cNvSpPr/>
          <p:nvPr/>
        </p:nvSpPr>
        <p:spPr>
          <a:xfrm>
            <a:off x="3786632" y="57210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7212B"/>
                </a:solidFill>
              </a:rPr>
              <a:t>Condition hole; verify hole condition; casing-running contingency</a:t>
            </a:r>
            <a:endParaRPr lang="en-US" sz="770" dirty="0"/>
          </a:p>
        </p:txBody>
      </p:sp>
      <p:sp>
        <p:nvSpPr>
          <p:cNvPr id="616" name="Text 83">
            <a:extLst>
              <a:ext uri="{FF2B5EF4-FFF2-40B4-BE49-F238E27FC236}">
                <a16:creationId xmlns:a16="http://schemas.microsoft.com/office/drawing/2014/main" id="{C47DB65D-CB39-C431-5B23-89C913C0DE9E}"/>
              </a:ext>
            </a:extLst>
          </p:cNvPr>
          <p:cNvSpPr/>
          <p:nvPr/>
        </p:nvSpPr>
        <p:spPr>
          <a:xfrm>
            <a:off x="6365240" y="1633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</a:rPr>
              <a:t>Risk Management Logic</a:t>
            </a:r>
            <a:endParaRPr lang="en-US" sz="1400" dirty="0"/>
          </a:p>
        </p:txBody>
      </p:sp>
      <p:sp>
        <p:nvSpPr>
          <p:cNvPr id="618" name="Shape 84">
            <a:extLst>
              <a:ext uri="{FF2B5EF4-FFF2-40B4-BE49-F238E27FC236}">
                <a16:creationId xmlns:a16="http://schemas.microsoft.com/office/drawing/2014/main" id="{AED1FDD5-A091-4EF8-0E4C-8D914950E271}"/>
              </a:ext>
            </a:extLst>
          </p:cNvPr>
          <p:cNvSpPr/>
          <p:nvPr/>
        </p:nvSpPr>
        <p:spPr>
          <a:xfrm>
            <a:off x="6392672" y="206344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0" name="Text 85">
            <a:extLst>
              <a:ext uri="{FF2B5EF4-FFF2-40B4-BE49-F238E27FC236}">
                <a16:creationId xmlns:a16="http://schemas.microsoft.com/office/drawing/2014/main" id="{C8D855B2-2F14-4D6D-F24D-A1632BE61BE0}"/>
              </a:ext>
            </a:extLst>
          </p:cNvPr>
          <p:cNvSpPr/>
          <p:nvPr/>
        </p:nvSpPr>
        <p:spPr>
          <a:xfrm>
            <a:off x="6484112" y="21914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5A88"/>
                </a:solidFill>
              </a:rPr>
              <a:t>1</a:t>
            </a:r>
            <a:endParaRPr lang="en-US" sz="1500" dirty="0"/>
          </a:p>
        </p:txBody>
      </p:sp>
      <p:sp>
        <p:nvSpPr>
          <p:cNvPr id="622" name="Text 86">
            <a:extLst>
              <a:ext uri="{FF2B5EF4-FFF2-40B4-BE49-F238E27FC236}">
                <a16:creationId xmlns:a16="http://schemas.microsoft.com/office/drawing/2014/main" id="{3FBD4947-F046-5F62-F147-8FEFCB5FC1E8}"/>
              </a:ext>
            </a:extLst>
          </p:cNvPr>
          <p:cNvSpPr/>
          <p:nvPr/>
        </p:nvSpPr>
        <p:spPr>
          <a:xfrm>
            <a:off x="6776720" y="220060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E4F"/>
                </a:solidFill>
              </a:rPr>
              <a:t>Prevent</a:t>
            </a:r>
            <a:endParaRPr lang="en-US" sz="1000" dirty="0"/>
          </a:p>
        </p:txBody>
      </p:sp>
      <p:sp>
        <p:nvSpPr>
          <p:cNvPr id="624" name="Text 87">
            <a:extLst>
              <a:ext uri="{FF2B5EF4-FFF2-40B4-BE49-F238E27FC236}">
                <a16:creationId xmlns:a16="http://schemas.microsoft.com/office/drawing/2014/main" id="{CB16DDF1-9536-6927-1111-F161EAAD9716}"/>
              </a:ext>
            </a:extLst>
          </p:cNvPr>
          <p:cNvSpPr/>
          <p:nvPr/>
        </p:nvSpPr>
        <p:spPr>
          <a:xfrm>
            <a:off x="6484112" y="2529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27385"/>
                </a:solidFill>
              </a:rPr>
              <a:t>Design + modeling</a:t>
            </a:r>
            <a:endParaRPr lang="en-US" sz="780" dirty="0"/>
          </a:p>
        </p:txBody>
      </p:sp>
      <p:sp>
        <p:nvSpPr>
          <p:cNvPr id="626" name="Text 88">
            <a:extLst>
              <a:ext uri="{FF2B5EF4-FFF2-40B4-BE49-F238E27FC236}">
                <a16:creationId xmlns:a16="http://schemas.microsoft.com/office/drawing/2014/main" id="{8EE53E54-6154-74D4-68F0-A402DB21A1F7}"/>
              </a:ext>
            </a:extLst>
          </p:cNvPr>
          <p:cNvSpPr/>
          <p:nvPr/>
        </p:nvSpPr>
        <p:spPr>
          <a:xfrm>
            <a:off x="7645400" y="24200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27385"/>
                </a:solidFill>
              </a:rPr>
              <a:t>→</a:t>
            </a:r>
            <a:endParaRPr lang="en-US" sz="1600" dirty="0"/>
          </a:p>
        </p:txBody>
      </p:sp>
      <p:sp>
        <p:nvSpPr>
          <p:cNvPr id="628" name="Shape 89">
            <a:extLst>
              <a:ext uri="{FF2B5EF4-FFF2-40B4-BE49-F238E27FC236}">
                <a16:creationId xmlns:a16="http://schemas.microsoft.com/office/drawing/2014/main" id="{FD8869CB-6DA3-6F5A-33E6-7825D46C0B65}"/>
              </a:ext>
            </a:extLst>
          </p:cNvPr>
          <p:cNvSpPr/>
          <p:nvPr/>
        </p:nvSpPr>
        <p:spPr>
          <a:xfrm>
            <a:off x="7691120" y="206344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0" name="Text 90">
            <a:extLst>
              <a:ext uri="{FF2B5EF4-FFF2-40B4-BE49-F238E27FC236}">
                <a16:creationId xmlns:a16="http://schemas.microsoft.com/office/drawing/2014/main" id="{DF3E0455-97CB-0071-F21B-544173C1A9C9}"/>
              </a:ext>
            </a:extLst>
          </p:cNvPr>
          <p:cNvSpPr/>
          <p:nvPr/>
        </p:nvSpPr>
        <p:spPr>
          <a:xfrm>
            <a:off x="7782560" y="21914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5A88"/>
                </a:solidFill>
              </a:rPr>
              <a:t>2</a:t>
            </a:r>
            <a:endParaRPr lang="en-US" sz="1500" dirty="0"/>
          </a:p>
        </p:txBody>
      </p:sp>
      <p:sp>
        <p:nvSpPr>
          <p:cNvPr id="632" name="Text 91">
            <a:extLst>
              <a:ext uri="{FF2B5EF4-FFF2-40B4-BE49-F238E27FC236}">
                <a16:creationId xmlns:a16="http://schemas.microsoft.com/office/drawing/2014/main" id="{1BAB0554-A5CA-3C37-40D2-1A35465215BA}"/>
              </a:ext>
            </a:extLst>
          </p:cNvPr>
          <p:cNvSpPr/>
          <p:nvPr/>
        </p:nvSpPr>
        <p:spPr>
          <a:xfrm>
            <a:off x="8075168" y="220060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E4F"/>
                </a:solidFill>
              </a:rPr>
              <a:t>Monitor</a:t>
            </a:r>
            <a:endParaRPr lang="en-US" sz="1000" dirty="0"/>
          </a:p>
        </p:txBody>
      </p:sp>
      <p:sp>
        <p:nvSpPr>
          <p:cNvPr id="634" name="Text 92">
            <a:extLst>
              <a:ext uri="{FF2B5EF4-FFF2-40B4-BE49-F238E27FC236}">
                <a16:creationId xmlns:a16="http://schemas.microsoft.com/office/drawing/2014/main" id="{7212DCC2-2DF5-832D-7676-A43207F74A87}"/>
              </a:ext>
            </a:extLst>
          </p:cNvPr>
          <p:cNvSpPr/>
          <p:nvPr/>
        </p:nvSpPr>
        <p:spPr>
          <a:xfrm>
            <a:off x="7782560" y="2529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27385"/>
                </a:solidFill>
              </a:rPr>
              <a:t>RT drilling surveillance</a:t>
            </a:r>
            <a:endParaRPr lang="en-US" sz="780" dirty="0"/>
          </a:p>
        </p:txBody>
      </p:sp>
      <p:sp>
        <p:nvSpPr>
          <p:cNvPr id="636" name="Text 93">
            <a:extLst>
              <a:ext uri="{FF2B5EF4-FFF2-40B4-BE49-F238E27FC236}">
                <a16:creationId xmlns:a16="http://schemas.microsoft.com/office/drawing/2014/main" id="{7033A6A6-E79C-2504-5D51-A1DDB89160AA}"/>
              </a:ext>
            </a:extLst>
          </p:cNvPr>
          <p:cNvSpPr/>
          <p:nvPr/>
        </p:nvSpPr>
        <p:spPr>
          <a:xfrm>
            <a:off x="8943848" y="24200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27385"/>
                </a:solidFill>
              </a:rPr>
              <a:t>→</a:t>
            </a:r>
            <a:endParaRPr lang="en-US" sz="1600" dirty="0"/>
          </a:p>
        </p:txBody>
      </p:sp>
      <p:sp>
        <p:nvSpPr>
          <p:cNvPr id="638" name="Shape 94">
            <a:extLst>
              <a:ext uri="{FF2B5EF4-FFF2-40B4-BE49-F238E27FC236}">
                <a16:creationId xmlns:a16="http://schemas.microsoft.com/office/drawing/2014/main" id="{F3E2116B-BF87-8FF0-C3DF-CC700B1B7209}"/>
              </a:ext>
            </a:extLst>
          </p:cNvPr>
          <p:cNvSpPr/>
          <p:nvPr/>
        </p:nvSpPr>
        <p:spPr>
          <a:xfrm>
            <a:off x="8989568" y="206344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0" name="Text 95">
            <a:extLst>
              <a:ext uri="{FF2B5EF4-FFF2-40B4-BE49-F238E27FC236}">
                <a16:creationId xmlns:a16="http://schemas.microsoft.com/office/drawing/2014/main" id="{29BE1473-CE55-076E-B9B4-31AECAA88F0B}"/>
              </a:ext>
            </a:extLst>
          </p:cNvPr>
          <p:cNvSpPr/>
          <p:nvPr/>
        </p:nvSpPr>
        <p:spPr>
          <a:xfrm>
            <a:off x="9081008" y="21914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7E22"/>
                </a:solidFill>
              </a:rPr>
              <a:t>3</a:t>
            </a:r>
            <a:endParaRPr lang="en-US" sz="1500" dirty="0"/>
          </a:p>
        </p:txBody>
      </p:sp>
      <p:sp>
        <p:nvSpPr>
          <p:cNvPr id="642" name="Text 96">
            <a:extLst>
              <a:ext uri="{FF2B5EF4-FFF2-40B4-BE49-F238E27FC236}">
                <a16:creationId xmlns:a16="http://schemas.microsoft.com/office/drawing/2014/main" id="{33339099-CC9D-A413-D8E4-AEC8E69A726C}"/>
              </a:ext>
            </a:extLst>
          </p:cNvPr>
          <p:cNvSpPr/>
          <p:nvPr/>
        </p:nvSpPr>
        <p:spPr>
          <a:xfrm>
            <a:off x="9373616" y="220060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E4F"/>
                </a:solidFill>
              </a:rPr>
              <a:t>Trigger</a:t>
            </a:r>
            <a:endParaRPr lang="en-US" sz="1000" dirty="0"/>
          </a:p>
        </p:txBody>
      </p:sp>
      <p:sp>
        <p:nvSpPr>
          <p:cNvPr id="644" name="Text 97">
            <a:extLst>
              <a:ext uri="{FF2B5EF4-FFF2-40B4-BE49-F238E27FC236}">
                <a16:creationId xmlns:a16="http://schemas.microsoft.com/office/drawing/2014/main" id="{5E397192-ED4A-D6F8-0465-241F96751FD7}"/>
              </a:ext>
            </a:extLst>
          </p:cNvPr>
          <p:cNvSpPr/>
          <p:nvPr/>
        </p:nvSpPr>
        <p:spPr>
          <a:xfrm>
            <a:off x="9081008" y="2529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27385"/>
                </a:solidFill>
              </a:rPr>
              <a:t>Deviation / early warning</a:t>
            </a:r>
            <a:endParaRPr lang="en-US" sz="780" dirty="0"/>
          </a:p>
        </p:txBody>
      </p:sp>
      <p:sp>
        <p:nvSpPr>
          <p:cNvPr id="646" name="Text 98">
            <a:extLst>
              <a:ext uri="{FF2B5EF4-FFF2-40B4-BE49-F238E27FC236}">
                <a16:creationId xmlns:a16="http://schemas.microsoft.com/office/drawing/2014/main" id="{1B801BAA-692C-3620-9B06-5C06FA2AA115}"/>
              </a:ext>
            </a:extLst>
          </p:cNvPr>
          <p:cNvSpPr/>
          <p:nvPr/>
        </p:nvSpPr>
        <p:spPr>
          <a:xfrm>
            <a:off x="10242296" y="242005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27385"/>
                </a:solidFill>
              </a:rPr>
              <a:t>→</a:t>
            </a:r>
            <a:endParaRPr lang="en-US" sz="1600" dirty="0"/>
          </a:p>
        </p:txBody>
      </p:sp>
      <p:sp>
        <p:nvSpPr>
          <p:cNvPr id="648" name="Shape 99">
            <a:extLst>
              <a:ext uri="{FF2B5EF4-FFF2-40B4-BE49-F238E27FC236}">
                <a16:creationId xmlns:a16="http://schemas.microsoft.com/office/drawing/2014/main" id="{88340C63-D741-7B66-4F5F-D24856C054B2}"/>
              </a:ext>
            </a:extLst>
          </p:cNvPr>
          <p:cNvSpPr/>
          <p:nvPr/>
        </p:nvSpPr>
        <p:spPr>
          <a:xfrm>
            <a:off x="10288016" y="206344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0" name="Text 100">
            <a:extLst>
              <a:ext uri="{FF2B5EF4-FFF2-40B4-BE49-F238E27FC236}">
                <a16:creationId xmlns:a16="http://schemas.microsoft.com/office/drawing/2014/main" id="{FBB733DC-8C67-EB46-D6C7-A27F7510E24C}"/>
              </a:ext>
            </a:extLst>
          </p:cNvPr>
          <p:cNvSpPr/>
          <p:nvPr/>
        </p:nvSpPr>
        <p:spPr>
          <a:xfrm>
            <a:off x="10379456" y="21914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5A88"/>
                </a:solidFill>
              </a:rPr>
              <a:t>4</a:t>
            </a:r>
            <a:endParaRPr lang="en-US" sz="1500" dirty="0"/>
          </a:p>
        </p:txBody>
      </p:sp>
      <p:sp>
        <p:nvSpPr>
          <p:cNvPr id="652" name="Text 101">
            <a:extLst>
              <a:ext uri="{FF2B5EF4-FFF2-40B4-BE49-F238E27FC236}">
                <a16:creationId xmlns:a16="http://schemas.microsoft.com/office/drawing/2014/main" id="{6583E67C-7290-3252-2B0A-6178114A079B}"/>
              </a:ext>
            </a:extLst>
          </p:cNvPr>
          <p:cNvSpPr/>
          <p:nvPr/>
        </p:nvSpPr>
        <p:spPr>
          <a:xfrm>
            <a:off x="10672064" y="220060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E4F"/>
                </a:solidFill>
              </a:rPr>
              <a:t>Respond</a:t>
            </a:r>
            <a:endParaRPr lang="en-US" sz="1000" dirty="0"/>
          </a:p>
        </p:txBody>
      </p:sp>
      <p:sp>
        <p:nvSpPr>
          <p:cNvPr id="654" name="Text 102">
            <a:extLst>
              <a:ext uri="{FF2B5EF4-FFF2-40B4-BE49-F238E27FC236}">
                <a16:creationId xmlns:a16="http://schemas.microsoft.com/office/drawing/2014/main" id="{6A90447B-0022-9704-D535-64D69616F82B}"/>
              </a:ext>
            </a:extLst>
          </p:cNvPr>
          <p:cNvSpPr/>
          <p:nvPr/>
        </p:nvSpPr>
        <p:spPr>
          <a:xfrm>
            <a:off x="10379456" y="2529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27385"/>
                </a:solidFill>
              </a:rPr>
              <a:t>Contingency action</a:t>
            </a:r>
            <a:endParaRPr lang="en-US" sz="780" dirty="0"/>
          </a:p>
        </p:txBody>
      </p:sp>
      <p:sp>
        <p:nvSpPr>
          <p:cNvPr id="656" name="Text 103">
            <a:extLst>
              <a:ext uri="{FF2B5EF4-FFF2-40B4-BE49-F238E27FC236}">
                <a16:creationId xmlns:a16="http://schemas.microsoft.com/office/drawing/2014/main" id="{28A24DA2-E6E2-36BC-9C07-149FD8E12C5C}"/>
              </a:ext>
            </a:extLst>
          </p:cNvPr>
          <p:cNvSpPr/>
          <p:nvPr/>
        </p:nvSpPr>
        <p:spPr>
          <a:xfrm>
            <a:off x="6365240" y="3279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</a:rPr>
              <a:t>Key Control Envelope</a:t>
            </a:r>
            <a:endParaRPr lang="en-US" sz="1400" dirty="0"/>
          </a:p>
        </p:txBody>
      </p:sp>
      <p:sp>
        <p:nvSpPr>
          <p:cNvPr id="658" name="Shape 104">
            <a:extLst>
              <a:ext uri="{FF2B5EF4-FFF2-40B4-BE49-F238E27FC236}">
                <a16:creationId xmlns:a16="http://schemas.microsoft.com/office/drawing/2014/main" id="{30E9D196-E742-2CE2-DC4C-31A5E6C6B729}"/>
              </a:ext>
            </a:extLst>
          </p:cNvPr>
          <p:cNvSpPr/>
          <p:nvPr/>
        </p:nvSpPr>
        <p:spPr>
          <a:xfrm>
            <a:off x="6392672" y="366364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0" name="Shape 105">
            <a:extLst>
              <a:ext uri="{FF2B5EF4-FFF2-40B4-BE49-F238E27FC236}">
                <a16:creationId xmlns:a16="http://schemas.microsoft.com/office/drawing/2014/main" id="{F80EC973-F618-7864-0C87-8CD876AA491E}"/>
              </a:ext>
            </a:extLst>
          </p:cNvPr>
          <p:cNvSpPr/>
          <p:nvPr/>
        </p:nvSpPr>
        <p:spPr>
          <a:xfrm>
            <a:off x="6392672" y="3663640"/>
            <a:ext cx="73152" cy="960120"/>
          </a:xfrm>
          <a:prstGeom prst="rect">
            <a:avLst/>
          </a:prstGeom>
          <a:solidFill>
            <a:srgbClr val="1E5A88"/>
          </a:solidFill>
          <a:ln w="12700">
            <a:solidFill>
              <a:srgbClr val="1E5A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2" name="Text 106">
            <a:extLst>
              <a:ext uri="{FF2B5EF4-FFF2-40B4-BE49-F238E27FC236}">
                <a16:creationId xmlns:a16="http://schemas.microsoft.com/office/drawing/2014/main" id="{9972C61D-4B0B-68DD-6217-1EBED539E579}"/>
              </a:ext>
            </a:extLst>
          </p:cNvPr>
          <p:cNvSpPr/>
          <p:nvPr/>
        </p:nvSpPr>
        <p:spPr>
          <a:xfrm>
            <a:off x="6557264" y="380994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4F"/>
                </a:solidFill>
              </a:rPr>
              <a:t>8.7–9.0</a:t>
            </a:r>
            <a:endParaRPr lang="en-US" sz="2100" dirty="0"/>
          </a:p>
        </p:txBody>
      </p:sp>
      <p:sp>
        <p:nvSpPr>
          <p:cNvPr id="664" name="Text 107">
            <a:extLst>
              <a:ext uri="{FF2B5EF4-FFF2-40B4-BE49-F238E27FC236}">
                <a16:creationId xmlns:a16="http://schemas.microsoft.com/office/drawing/2014/main" id="{FBFC5777-02B9-B9E7-C7CB-76776F220357}"/>
              </a:ext>
            </a:extLst>
          </p:cNvPr>
          <p:cNvSpPr/>
          <p:nvPr/>
        </p:nvSpPr>
        <p:spPr>
          <a:xfrm>
            <a:off x="6557264" y="4230568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385"/>
                </a:solidFill>
              </a:rPr>
              <a:t>Surface MW (ppg)</a:t>
            </a:r>
            <a:endParaRPr lang="en-US" sz="950" dirty="0"/>
          </a:p>
        </p:txBody>
      </p:sp>
      <p:sp>
        <p:nvSpPr>
          <p:cNvPr id="666" name="Shape 108">
            <a:extLst>
              <a:ext uri="{FF2B5EF4-FFF2-40B4-BE49-F238E27FC236}">
                <a16:creationId xmlns:a16="http://schemas.microsoft.com/office/drawing/2014/main" id="{97CC838A-2E8B-E2FF-9EE7-41DBF68ECFC3}"/>
              </a:ext>
            </a:extLst>
          </p:cNvPr>
          <p:cNvSpPr/>
          <p:nvPr/>
        </p:nvSpPr>
        <p:spPr>
          <a:xfrm>
            <a:off x="8130032" y="366364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8" name="Shape 109">
            <a:extLst>
              <a:ext uri="{FF2B5EF4-FFF2-40B4-BE49-F238E27FC236}">
                <a16:creationId xmlns:a16="http://schemas.microsoft.com/office/drawing/2014/main" id="{AB36E394-31BE-F022-57CF-644B4356A22F}"/>
              </a:ext>
            </a:extLst>
          </p:cNvPr>
          <p:cNvSpPr/>
          <p:nvPr/>
        </p:nvSpPr>
        <p:spPr>
          <a:xfrm>
            <a:off x="8130032" y="3663640"/>
            <a:ext cx="73152" cy="960120"/>
          </a:xfrm>
          <a:prstGeom prst="rect">
            <a:avLst/>
          </a:prstGeom>
          <a:solidFill>
            <a:srgbClr val="1E7A8A"/>
          </a:solidFill>
          <a:ln w="12700">
            <a:solidFill>
              <a:srgbClr val="1E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0" name="Text 110">
            <a:extLst>
              <a:ext uri="{FF2B5EF4-FFF2-40B4-BE49-F238E27FC236}">
                <a16:creationId xmlns:a16="http://schemas.microsoft.com/office/drawing/2014/main" id="{C87AB562-73BF-B6F6-B383-285F3CC9D398}"/>
              </a:ext>
            </a:extLst>
          </p:cNvPr>
          <p:cNvSpPr/>
          <p:nvPr/>
        </p:nvSpPr>
        <p:spPr>
          <a:xfrm>
            <a:off x="8294624" y="380994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4F"/>
                </a:solidFill>
              </a:rPr>
              <a:t>9.0–9.8</a:t>
            </a:r>
            <a:endParaRPr lang="en-US" sz="2100" dirty="0"/>
          </a:p>
        </p:txBody>
      </p:sp>
      <p:sp>
        <p:nvSpPr>
          <p:cNvPr id="672" name="Text 111">
            <a:extLst>
              <a:ext uri="{FF2B5EF4-FFF2-40B4-BE49-F238E27FC236}">
                <a16:creationId xmlns:a16="http://schemas.microsoft.com/office/drawing/2014/main" id="{3FA19C43-9DAD-39D1-3A22-0CC4E974D770}"/>
              </a:ext>
            </a:extLst>
          </p:cNvPr>
          <p:cNvSpPr/>
          <p:nvPr/>
        </p:nvSpPr>
        <p:spPr>
          <a:xfrm>
            <a:off x="8294624" y="4230568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385"/>
                </a:solidFill>
              </a:rPr>
              <a:t>Production MW (ppg)</a:t>
            </a:r>
            <a:endParaRPr lang="en-US" sz="950" dirty="0"/>
          </a:p>
        </p:txBody>
      </p:sp>
      <p:sp>
        <p:nvSpPr>
          <p:cNvPr id="674" name="Shape 112">
            <a:extLst>
              <a:ext uri="{FF2B5EF4-FFF2-40B4-BE49-F238E27FC236}">
                <a16:creationId xmlns:a16="http://schemas.microsoft.com/office/drawing/2014/main" id="{7F8186CF-8F0F-3707-AA12-06FE1AE7B7E5}"/>
              </a:ext>
            </a:extLst>
          </p:cNvPr>
          <p:cNvSpPr/>
          <p:nvPr/>
        </p:nvSpPr>
        <p:spPr>
          <a:xfrm>
            <a:off x="9867392" y="3663640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6" name="Shape 113">
            <a:extLst>
              <a:ext uri="{FF2B5EF4-FFF2-40B4-BE49-F238E27FC236}">
                <a16:creationId xmlns:a16="http://schemas.microsoft.com/office/drawing/2014/main" id="{9EABA07D-9CEA-CF96-4600-AB7F87325DE6}"/>
              </a:ext>
            </a:extLst>
          </p:cNvPr>
          <p:cNvSpPr/>
          <p:nvPr/>
        </p:nvSpPr>
        <p:spPr>
          <a:xfrm>
            <a:off x="9867392" y="3663640"/>
            <a:ext cx="73152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8" name="Text 114">
            <a:extLst>
              <a:ext uri="{FF2B5EF4-FFF2-40B4-BE49-F238E27FC236}">
                <a16:creationId xmlns:a16="http://schemas.microsoft.com/office/drawing/2014/main" id="{5653E145-167B-168D-FC02-06D76889B3CB}"/>
              </a:ext>
            </a:extLst>
          </p:cNvPr>
          <p:cNvSpPr/>
          <p:nvPr/>
        </p:nvSpPr>
        <p:spPr>
          <a:xfrm>
            <a:off x="10031984" y="380994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4F"/>
                </a:solidFill>
              </a:rPr>
              <a:t>10.75</a:t>
            </a:r>
            <a:endParaRPr lang="en-US" sz="2100" dirty="0"/>
          </a:p>
        </p:txBody>
      </p:sp>
      <p:sp>
        <p:nvSpPr>
          <p:cNvPr id="680" name="Text 115">
            <a:extLst>
              <a:ext uri="{FF2B5EF4-FFF2-40B4-BE49-F238E27FC236}">
                <a16:creationId xmlns:a16="http://schemas.microsoft.com/office/drawing/2014/main" id="{27F0E449-0264-5990-5D78-963408BCD9EE}"/>
              </a:ext>
            </a:extLst>
          </p:cNvPr>
          <p:cNvSpPr/>
          <p:nvPr/>
        </p:nvSpPr>
        <p:spPr>
          <a:xfrm>
            <a:off x="10031984" y="4230568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385"/>
                </a:solidFill>
              </a:rPr>
              <a:t>Lowest SFG / FG basis (ppg)</a:t>
            </a:r>
            <a:endParaRPr lang="en-US" sz="950" dirty="0"/>
          </a:p>
        </p:txBody>
      </p:sp>
      <p:sp>
        <p:nvSpPr>
          <p:cNvPr id="682" name="Shape 116">
            <a:extLst>
              <a:ext uri="{FF2B5EF4-FFF2-40B4-BE49-F238E27FC236}">
                <a16:creationId xmlns:a16="http://schemas.microsoft.com/office/drawing/2014/main" id="{1BA72336-5651-7863-910C-63E54C2F74F8}"/>
              </a:ext>
            </a:extLst>
          </p:cNvPr>
          <p:cNvSpPr/>
          <p:nvPr/>
        </p:nvSpPr>
        <p:spPr>
          <a:xfrm>
            <a:off x="6392672" y="4797496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4" name="Shape 117">
            <a:extLst>
              <a:ext uri="{FF2B5EF4-FFF2-40B4-BE49-F238E27FC236}">
                <a16:creationId xmlns:a16="http://schemas.microsoft.com/office/drawing/2014/main" id="{5674EDBA-226F-2944-652E-D9A8CAA34678}"/>
              </a:ext>
            </a:extLst>
          </p:cNvPr>
          <p:cNvSpPr/>
          <p:nvPr/>
        </p:nvSpPr>
        <p:spPr>
          <a:xfrm>
            <a:off x="6392672" y="4797496"/>
            <a:ext cx="73152" cy="9601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6" name="Text 118">
            <a:extLst>
              <a:ext uri="{FF2B5EF4-FFF2-40B4-BE49-F238E27FC236}">
                <a16:creationId xmlns:a16="http://schemas.microsoft.com/office/drawing/2014/main" id="{7048F812-CF1E-DDAD-5F71-8DB6E1EECD89}"/>
              </a:ext>
            </a:extLst>
          </p:cNvPr>
          <p:cNvSpPr/>
          <p:nvPr/>
        </p:nvSpPr>
        <p:spPr>
          <a:xfrm>
            <a:off x="6557264" y="494380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4F"/>
                </a:solidFill>
              </a:rPr>
              <a:t>33.8</a:t>
            </a:r>
            <a:endParaRPr lang="en-US" sz="2100" dirty="0"/>
          </a:p>
        </p:txBody>
      </p:sp>
      <p:sp>
        <p:nvSpPr>
          <p:cNvPr id="688" name="Text 119">
            <a:extLst>
              <a:ext uri="{FF2B5EF4-FFF2-40B4-BE49-F238E27FC236}">
                <a16:creationId xmlns:a16="http://schemas.microsoft.com/office/drawing/2014/main" id="{A7AC6BCA-98D5-CD9E-736A-9B6BF89545ED}"/>
              </a:ext>
            </a:extLst>
          </p:cNvPr>
          <p:cNvSpPr/>
          <p:nvPr/>
        </p:nvSpPr>
        <p:spPr>
          <a:xfrm>
            <a:off x="6557264" y="5364424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385"/>
                </a:solidFill>
              </a:rPr>
              <a:t>Kick tolerance @ 0 KI (bbl)</a:t>
            </a:r>
            <a:endParaRPr lang="en-US" sz="950" dirty="0"/>
          </a:p>
        </p:txBody>
      </p:sp>
      <p:sp>
        <p:nvSpPr>
          <p:cNvPr id="690" name="Shape 120">
            <a:extLst>
              <a:ext uri="{FF2B5EF4-FFF2-40B4-BE49-F238E27FC236}">
                <a16:creationId xmlns:a16="http://schemas.microsoft.com/office/drawing/2014/main" id="{1E38C157-FBE6-4CE1-1C64-8DDE237FB91A}"/>
              </a:ext>
            </a:extLst>
          </p:cNvPr>
          <p:cNvSpPr/>
          <p:nvPr/>
        </p:nvSpPr>
        <p:spPr>
          <a:xfrm>
            <a:off x="8130032" y="4797496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2" name="Shape 121">
            <a:extLst>
              <a:ext uri="{FF2B5EF4-FFF2-40B4-BE49-F238E27FC236}">
                <a16:creationId xmlns:a16="http://schemas.microsoft.com/office/drawing/2014/main" id="{73D0E0FA-FABC-FD61-3025-6420B0F18DE6}"/>
              </a:ext>
            </a:extLst>
          </p:cNvPr>
          <p:cNvSpPr/>
          <p:nvPr/>
        </p:nvSpPr>
        <p:spPr>
          <a:xfrm>
            <a:off x="8130032" y="4797496"/>
            <a:ext cx="73152" cy="960120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4" name="Text 122">
            <a:extLst>
              <a:ext uri="{FF2B5EF4-FFF2-40B4-BE49-F238E27FC236}">
                <a16:creationId xmlns:a16="http://schemas.microsoft.com/office/drawing/2014/main" id="{1A2768B2-14AD-CF42-EFE3-38A009A9FEC6}"/>
              </a:ext>
            </a:extLst>
          </p:cNvPr>
          <p:cNvSpPr/>
          <p:nvPr/>
        </p:nvSpPr>
        <p:spPr>
          <a:xfrm>
            <a:off x="8294624" y="494380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4F"/>
                </a:solidFill>
              </a:rPr>
              <a:t>10</a:t>
            </a:r>
            <a:endParaRPr lang="en-US" sz="2100" dirty="0"/>
          </a:p>
        </p:txBody>
      </p:sp>
      <p:sp>
        <p:nvSpPr>
          <p:cNvPr id="696" name="Text 123">
            <a:extLst>
              <a:ext uri="{FF2B5EF4-FFF2-40B4-BE49-F238E27FC236}">
                <a16:creationId xmlns:a16="http://schemas.microsoft.com/office/drawing/2014/main" id="{7B2556B9-5B7E-49DC-5150-89FD4810BEBD}"/>
              </a:ext>
            </a:extLst>
          </p:cNvPr>
          <p:cNvSpPr/>
          <p:nvPr/>
        </p:nvSpPr>
        <p:spPr>
          <a:xfrm>
            <a:off x="8294624" y="5364424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385"/>
                </a:solidFill>
              </a:rPr>
              <a:t>Minimum KT requirement (bbl)</a:t>
            </a:r>
            <a:endParaRPr lang="en-US" sz="950" dirty="0"/>
          </a:p>
        </p:txBody>
      </p:sp>
      <p:sp>
        <p:nvSpPr>
          <p:cNvPr id="698" name="Shape 124">
            <a:extLst>
              <a:ext uri="{FF2B5EF4-FFF2-40B4-BE49-F238E27FC236}">
                <a16:creationId xmlns:a16="http://schemas.microsoft.com/office/drawing/2014/main" id="{5D8DE1B2-0FAB-091A-A999-435AC9779C7F}"/>
              </a:ext>
            </a:extLst>
          </p:cNvPr>
          <p:cNvSpPr/>
          <p:nvPr/>
        </p:nvSpPr>
        <p:spPr>
          <a:xfrm>
            <a:off x="9867392" y="4797496"/>
            <a:ext cx="162763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0" name="Shape 125">
            <a:extLst>
              <a:ext uri="{FF2B5EF4-FFF2-40B4-BE49-F238E27FC236}">
                <a16:creationId xmlns:a16="http://schemas.microsoft.com/office/drawing/2014/main" id="{2C651A0F-F719-362D-616D-79689D5060BE}"/>
              </a:ext>
            </a:extLst>
          </p:cNvPr>
          <p:cNvSpPr/>
          <p:nvPr/>
        </p:nvSpPr>
        <p:spPr>
          <a:xfrm>
            <a:off x="9867392" y="4797496"/>
            <a:ext cx="7315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2" name="Text 126">
            <a:extLst>
              <a:ext uri="{FF2B5EF4-FFF2-40B4-BE49-F238E27FC236}">
                <a16:creationId xmlns:a16="http://schemas.microsoft.com/office/drawing/2014/main" id="{4F074C65-8DAC-596A-FA6C-C13D6D7F8A43}"/>
              </a:ext>
            </a:extLst>
          </p:cNvPr>
          <p:cNvSpPr/>
          <p:nvPr/>
        </p:nvSpPr>
        <p:spPr>
          <a:xfrm>
            <a:off x="10031984" y="494380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4F"/>
                </a:solidFill>
              </a:rPr>
              <a:t>5M</a:t>
            </a:r>
            <a:endParaRPr lang="en-US" sz="2100" dirty="0"/>
          </a:p>
        </p:txBody>
      </p:sp>
      <p:sp>
        <p:nvSpPr>
          <p:cNvPr id="704" name="Text 127">
            <a:extLst>
              <a:ext uri="{FF2B5EF4-FFF2-40B4-BE49-F238E27FC236}">
                <a16:creationId xmlns:a16="http://schemas.microsoft.com/office/drawing/2014/main" id="{53102045-9523-50C5-CB85-D7D128DA6F88}"/>
              </a:ext>
            </a:extLst>
          </p:cNvPr>
          <p:cNvSpPr/>
          <p:nvPr/>
        </p:nvSpPr>
        <p:spPr>
          <a:xfrm>
            <a:off x="10031984" y="5364424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385"/>
                </a:solidFill>
              </a:rPr>
              <a:t>BOP pressure class</a:t>
            </a:r>
            <a:endParaRPr lang="en-US" sz="9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693BD8-339F-353B-5B36-86692A296F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57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2BF58610-B644-19A0-5770-0C151362E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875309C4-E54D-F9C1-838C-64C1F3B4071E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FFFFF"/>
                </a:solidFill>
              </a:rPr>
              <a:t>SCHEDULE, COST &amp; PROJECT ASSURANCE</a:t>
            </a: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BF43E5BF-A484-C561-2346-A9C5E36CDF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5C3C6912-5C8A-41A6-4964-D1CA4136A6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356D7E3-C302-67B5-ADF4-32C521E56A84}"/>
              </a:ext>
            </a:extLst>
          </p:cNvPr>
          <p:cNvSpPr/>
          <p:nvPr/>
        </p:nvSpPr>
        <p:spPr>
          <a:xfrm>
            <a:off x="279400" y="1042191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E4F"/>
                </a:solidFill>
              </a:rPr>
              <a:t>Schedule, Cost &amp; Project Assurance</a:t>
            </a:r>
            <a:endParaRPr lang="en-US" sz="25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E202B6B-A9DD-E8B7-6E65-4D64C1979FA8}"/>
              </a:ext>
            </a:extLst>
          </p:cNvPr>
          <p:cNvSpPr/>
          <p:nvPr/>
        </p:nvSpPr>
        <p:spPr>
          <a:xfrm>
            <a:off x="233321" y="945611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2179FD1-78F9-35F9-88E0-D6D560D8E056}"/>
              </a:ext>
            </a:extLst>
          </p:cNvPr>
          <p:cNvGrpSpPr/>
          <p:nvPr/>
        </p:nvGrpSpPr>
        <p:grpSpPr>
          <a:xfrm>
            <a:off x="6303814" y="1116682"/>
            <a:ext cx="1883259" cy="590011"/>
            <a:chOff x="502919" y="1234440"/>
            <a:chExt cx="1883259" cy="590011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D93EEBF4-8E36-3805-1120-DE122A9A6BB4}"/>
                </a:ext>
              </a:extLst>
            </p:cNvPr>
            <p:cNvSpPr/>
            <p:nvPr/>
          </p:nvSpPr>
          <p:spPr>
            <a:xfrm>
              <a:off x="502919" y="1234440"/>
              <a:ext cx="1883259" cy="402688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5F6A688C-6A3C-4670-4731-AE3278A45828}"/>
                </a:ext>
              </a:extLst>
            </p:cNvPr>
            <p:cNvSpPr/>
            <p:nvPr/>
          </p:nvSpPr>
          <p:spPr>
            <a:xfrm>
              <a:off x="502920" y="1234440"/>
              <a:ext cx="73152" cy="402688"/>
            </a:xfrm>
            <a:prstGeom prst="rect">
              <a:avLst/>
            </a:prstGeom>
            <a:solidFill>
              <a:srgbClr val="1E5A88"/>
            </a:solidFill>
            <a:ln w="12700">
              <a:solidFill>
                <a:srgbClr val="1E5A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31435475-1BE1-3127-267F-14982641A88C}"/>
                </a:ext>
              </a:extLst>
            </p:cNvPr>
            <p:cNvSpPr/>
            <p:nvPr/>
          </p:nvSpPr>
          <p:spPr>
            <a:xfrm>
              <a:off x="667512" y="1380744"/>
              <a:ext cx="1600200" cy="1561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0B2E4F"/>
                  </a:solidFill>
                </a:rPr>
                <a:t>15.30 d</a:t>
              </a:r>
              <a:endParaRPr lang="en-US" sz="2100" dirty="0"/>
            </a:p>
          </p:txBody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278948BC-7D95-AAD4-AA52-F3E5DC1A027C}"/>
                </a:ext>
              </a:extLst>
            </p:cNvPr>
            <p:cNvSpPr/>
            <p:nvPr/>
          </p:nvSpPr>
          <p:spPr>
            <a:xfrm>
              <a:off x="502920" y="1721724"/>
              <a:ext cx="1645920" cy="1027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27385"/>
                  </a:solidFill>
                </a:rPr>
                <a:t>Drilling + Initial Completion</a:t>
              </a:r>
              <a:endParaRPr lang="en-US" sz="95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C17C81-69BA-351E-B4C8-F0217B22C665}"/>
              </a:ext>
            </a:extLst>
          </p:cNvPr>
          <p:cNvGrpSpPr/>
          <p:nvPr/>
        </p:nvGrpSpPr>
        <p:grpSpPr>
          <a:xfrm>
            <a:off x="8289138" y="1126871"/>
            <a:ext cx="1764792" cy="579822"/>
            <a:chOff x="2514600" y="1234440"/>
            <a:chExt cx="1764792" cy="579822"/>
          </a:xfrm>
        </p:grpSpPr>
        <p:sp>
          <p:nvSpPr>
            <p:cNvPr id="14" name="Shape 6">
              <a:extLst>
                <a:ext uri="{FF2B5EF4-FFF2-40B4-BE49-F238E27FC236}">
                  <a16:creationId xmlns:a16="http://schemas.microsoft.com/office/drawing/2014/main" id="{B3E0BE1C-01C3-145E-00C1-65ABCA7B4AB7}"/>
                </a:ext>
              </a:extLst>
            </p:cNvPr>
            <p:cNvSpPr/>
            <p:nvPr/>
          </p:nvSpPr>
          <p:spPr>
            <a:xfrm>
              <a:off x="2514600" y="1234440"/>
              <a:ext cx="1554480" cy="402688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E712FC5D-F5DF-50F0-FC7A-143B178E2C0F}"/>
                </a:ext>
              </a:extLst>
            </p:cNvPr>
            <p:cNvSpPr/>
            <p:nvPr/>
          </p:nvSpPr>
          <p:spPr>
            <a:xfrm>
              <a:off x="2514600" y="1234440"/>
              <a:ext cx="73152" cy="402688"/>
            </a:xfrm>
            <a:prstGeom prst="rect">
              <a:avLst/>
            </a:prstGeom>
            <a:solidFill>
              <a:srgbClr val="2E7D5B"/>
            </a:solidFill>
            <a:ln w="12700">
              <a:solidFill>
                <a:srgbClr val="2E7D5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E29397FF-D494-3011-4596-92ED486C2B62}"/>
                </a:ext>
              </a:extLst>
            </p:cNvPr>
            <p:cNvSpPr/>
            <p:nvPr/>
          </p:nvSpPr>
          <p:spPr>
            <a:xfrm>
              <a:off x="2679192" y="1380744"/>
              <a:ext cx="1600200" cy="1561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0B2E4F"/>
                  </a:solidFill>
                </a:rPr>
                <a:t>21.30 d</a:t>
              </a:r>
              <a:endParaRPr lang="en-US" sz="2100" dirty="0"/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AE6E9BBE-9DEB-AC1C-E11D-A8F523164242}"/>
                </a:ext>
              </a:extLst>
            </p:cNvPr>
            <p:cNvSpPr/>
            <p:nvPr/>
          </p:nvSpPr>
          <p:spPr>
            <a:xfrm>
              <a:off x="2514600" y="1711535"/>
              <a:ext cx="1645920" cy="1027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27385"/>
                  </a:solidFill>
                </a:rPr>
                <a:t>Total cycle — Short Move</a:t>
              </a:r>
              <a:endParaRPr lang="en-US" sz="95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1E84B69-20F1-3AC7-94EA-AF50F8B48AEA}"/>
              </a:ext>
            </a:extLst>
          </p:cNvPr>
          <p:cNvGrpSpPr/>
          <p:nvPr/>
        </p:nvGrpSpPr>
        <p:grpSpPr>
          <a:xfrm>
            <a:off x="9935058" y="1132669"/>
            <a:ext cx="1775417" cy="579822"/>
            <a:chOff x="4515655" y="1234440"/>
            <a:chExt cx="1775417" cy="579822"/>
          </a:xfrm>
        </p:grpSpPr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379408AE-0F2C-3D93-2777-FE1DA84BFEE8}"/>
                </a:ext>
              </a:extLst>
            </p:cNvPr>
            <p:cNvSpPr/>
            <p:nvPr/>
          </p:nvSpPr>
          <p:spPr>
            <a:xfrm>
              <a:off x="4526280" y="1234440"/>
              <a:ext cx="1438656" cy="402688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FE07025B-4063-215A-4E57-DC98A2EB50B4}"/>
                </a:ext>
              </a:extLst>
            </p:cNvPr>
            <p:cNvSpPr/>
            <p:nvPr/>
          </p:nvSpPr>
          <p:spPr>
            <a:xfrm>
              <a:off x="4526280" y="1234440"/>
              <a:ext cx="73152" cy="402688"/>
            </a:xfrm>
            <a:prstGeom prst="rect">
              <a:avLst/>
            </a:prstGeom>
            <a:solidFill>
              <a:srgbClr val="E67E22"/>
            </a:solidFill>
            <a:ln w="12700">
              <a:solidFill>
                <a:srgbClr val="E67E2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2DAB47FD-132C-F497-B368-C3F80E58B859}"/>
                </a:ext>
              </a:extLst>
            </p:cNvPr>
            <p:cNvSpPr/>
            <p:nvPr/>
          </p:nvSpPr>
          <p:spPr>
            <a:xfrm>
              <a:off x="4690872" y="1380744"/>
              <a:ext cx="1600200" cy="1561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0B2E4F"/>
                  </a:solidFill>
                </a:rPr>
                <a:t>29.30 d</a:t>
              </a:r>
              <a:endParaRPr lang="en-US" sz="2100" dirty="0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650DF336-C1DF-7244-C4A6-41BF8501FE63}"/>
                </a:ext>
              </a:extLst>
            </p:cNvPr>
            <p:cNvSpPr/>
            <p:nvPr/>
          </p:nvSpPr>
          <p:spPr>
            <a:xfrm>
              <a:off x="4515655" y="1711535"/>
              <a:ext cx="1645920" cy="1027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27385"/>
                  </a:solidFill>
                </a:rPr>
                <a:t>Total cycle — Long Move</a:t>
              </a:r>
              <a:endParaRPr lang="en-US" sz="95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62AB403-9969-D232-B18B-3DD38738D335}"/>
              </a:ext>
            </a:extLst>
          </p:cNvPr>
          <p:cNvGrpSpPr/>
          <p:nvPr/>
        </p:nvGrpSpPr>
        <p:grpSpPr>
          <a:xfrm>
            <a:off x="6303815" y="1798716"/>
            <a:ext cx="1920240" cy="630936"/>
            <a:chOff x="6529221" y="1234440"/>
            <a:chExt cx="1920240" cy="630936"/>
          </a:xfrm>
        </p:grpSpPr>
        <p:sp>
          <p:nvSpPr>
            <p:cNvPr id="24" name="Shape 14">
              <a:extLst>
                <a:ext uri="{FF2B5EF4-FFF2-40B4-BE49-F238E27FC236}">
                  <a16:creationId xmlns:a16="http://schemas.microsoft.com/office/drawing/2014/main" id="{4239DD6D-6CB3-F0FB-82C7-DF006E581F86}"/>
                </a:ext>
              </a:extLst>
            </p:cNvPr>
            <p:cNvSpPr/>
            <p:nvPr/>
          </p:nvSpPr>
          <p:spPr>
            <a:xfrm>
              <a:off x="6537960" y="1234440"/>
              <a:ext cx="1874520" cy="402688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15">
              <a:extLst>
                <a:ext uri="{FF2B5EF4-FFF2-40B4-BE49-F238E27FC236}">
                  <a16:creationId xmlns:a16="http://schemas.microsoft.com/office/drawing/2014/main" id="{7CBCC6A6-5434-9141-5678-5053BD07FE4A}"/>
                </a:ext>
              </a:extLst>
            </p:cNvPr>
            <p:cNvSpPr/>
            <p:nvPr/>
          </p:nvSpPr>
          <p:spPr>
            <a:xfrm>
              <a:off x="6537960" y="1234440"/>
              <a:ext cx="73152" cy="402688"/>
            </a:xfrm>
            <a:prstGeom prst="rect">
              <a:avLst/>
            </a:prstGeom>
            <a:solidFill>
              <a:srgbClr val="0B2E4F"/>
            </a:solidFill>
            <a:ln w="12700">
              <a:solidFill>
                <a:srgbClr val="0B2E4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16">
              <a:extLst>
                <a:ext uri="{FF2B5EF4-FFF2-40B4-BE49-F238E27FC236}">
                  <a16:creationId xmlns:a16="http://schemas.microsoft.com/office/drawing/2014/main" id="{627F0D62-478A-426F-CCFD-3085E5337538}"/>
                </a:ext>
              </a:extLst>
            </p:cNvPr>
            <p:cNvSpPr/>
            <p:nvPr/>
          </p:nvSpPr>
          <p:spPr>
            <a:xfrm>
              <a:off x="6702552" y="1380744"/>
              <a:ext cx="1600200" cy="1561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0B2E4F"/>
                  </a:solidFill>
                </a:rPr>
                <a:t>USD 1.78M</a:t>
              </a:r>
              <a:endParaRPr lang="en-US" sz="2100" dirty="0"/>
            </a:p>
          </p:txBody>
        </p:sp>
        <p:sp>
          <p:nvSpPr>
            <p:cNvPr id="27" name="Text 17">
              <a:extLst>
                <a:ext uri="{FF2B5EF4-FFF2-40B4-BE49-F238E27FC236}">
                  <a16:creationId xmlns:a16="http://schemas.microsoft.com/office/drawing/2014/main" id="{A5E47768-14A4-83AD-8AB8-C74F79102802}"/>
                </a:ext>
              </a:extLst>
            </p:cNvPr>
            <p:cNvSpPr/>
            <p:nvPr/>
          </p:nvSpPr>
          <p:spPr>
            <a:xfrm>
              <a:off x="6529221" y="1711535"/>
              <a:ext cx="1920240" cy="1538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27385"/>
                  </a:solidFill>
                </a:rPr>
                <a:t>Short Move Case</a:t>
              </a:r>
              <a:endParaRPr lang="en-US" sz="95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E11DA7-0079-B761-97B5-058DC4A2FA13}"/>
              </a:ext>
            </a:extLst>
          </p:cNvPr>
          <p:cNvGrpSpPr/>
          <p:nvPr/>
        </p:nvGrpSpPr>
        <p:grpSpPr>
          <a:xfrm>
            <a:off x="8284173" y="1805868"/>
            <a:ext cx="1554480" cy="575075"/>
            <a:chOff x="8549640" y="1234440"/>
            <a:chExt cx="1554480" cy="575075"/>
          </a:xfrm>
        </p:grpSpPr>
        <p:sp>
          <p:nvSpPr>
            <p:cNvPr id="29" name="Shape 18">
              <a:extLst>
                <a:ext uri="{FF2B5EF4-FFF2-40B4-BE49-F238E27FC236}">
                  <a16:creationId xmlns:a16="http://schemas.microsoft.com/office/drawing/2014/main" id="{BF263B89-4A9A-42A7-A8AC-67B366170E73}"/>
                </a:ext>
              </a:extLst>
            </p:cNvPr>
            <p:cNvSpPr/>
            <p:nvPr/>
          </p:nvSpPr>
          <p:spPr>
            <a:xfrm>
              <a:off x="8549640" y="1234440"/>
              <a:ext cx="1554480" cy="402688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AE9F15A-22EC-1694-BD39-196E938E42FB}"/>
                </a:ext>
              </a:extLst>
            </p:cNvPr>
            <p:cNvGrpSpPr/>
            <p:nvPr/>
          </p:nvGrpSpPr>
          <p:grpSpPr>
            <a:xfrm>
              <a:off x="8549640" y="1234440"/>
              <a:ext cx="1543322" cy="575075"/>
              <a:chOff x="8549640" y="1234440"/>
              <a:chExt cx="1543322" cy="575075"/>
            </a:xfrm>
          </p:grpSpPr>
          <p:sp>
            <p:nvSpPr>
              <p:cNvPr id="31" name="Shape 19">
                <a:extLst>
                  <a:ext uri="{FF2B5EF4-FFF2-40B4-BE49-F238E27FC236}">
                    <a16:creationId xmlns:a16="http://schemas.microsoft.com/office/drawing/2014/main" id="{DA49A511-C001-AEB6-725A-C3D81F0B8C6B}"/>
                  </a:ext>
                </a:extLst>
              </p:cNvPr>
              <p:cNvSpPr/>
              <p:nvPr/>
            </p:nvSpPr>
            <p:spPr>
              <a:xfrm>
                <a:off x="8549640" y="1234440"/>
                <a:ext cx="73152" cy="402688"/>
              </a:xfrm>
              <a:prstGeom prst="rect">
                <a:avLst/>
              </a:prstGeom>
              <a:solidFill>
                <a:srgbClr val="C0392B"/>
              </a:solidFill>
              <a:ln w="12700">
                <a:solidFill>
                  <a:srgbClr val="C0392B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 20">
                <a:extLst>
                  <a:ext uri="{FF2B5EF4-FFF2-40B4-BE49-F238E27FC236}">
                    <a16:creationId xmlns:a16="http://schemas.microsoft.com/office/drawing/2014/main" id="{D74FFD33-BC65-1ACA-B312-C917BE0086A9}"/>
                  </a:ext>
                </a:extLst>
              </p:cNvPr>
              <p:cNvSpPr/>
              <p:nvPr/>
            </p:nvSpPr>
            <p:spPr>
              <a:xfrm>
                <a:off x="8704071" y="1309623"/>
                <a:ext cx="1388891" cy="2491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100" b="1" dirty="0">
                    <a:solidFill>
                      <a:srgbClr val="0B2E4F"/>
                    </a:solidFill>
                  </a:rPr>
                  <a:t>USD 1.97M</a:t>
                </a:r>
                <a:endParaRPr lang="en-US" sz="2100" dirty="0"/>
              </a:p>
            </p:txBody>
          </p:sp>
          <p:sp>
            <p:nvSpPr>
              <p:cNvPr id="33" name="Text 21">
                <a:extLst>
                  <a:ext uri="{FF2B5EF4-FFF2-40B4-BE49-F238E27FC236}">
                    <a16:creationId xmlns:a16="http://schemas.microsoft.com/office/drawing/2014/main" id="{572640D8-6700-56FB-D22C-FCAAC4DF544F}"/>
                  </a:ext>
                </a:extLst>
              </p:cNvPr>
              <p:cNvSpPr/>
              <p:nvPr/>
            </p:nvSpPr>
            <p:spPr>
              <a:xfrm>
                <a:off x="8566016" y="1706788"/>
                <a:ext cx="1325880" cy="10272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50" dirty="0">
                    <a:solidFill>
                      <a:srgbClr val="627385"/>
                    </a:solidFill>
                  </a:rPr>
                  <a:t>Long Move case</a:t>
                </a:r>
                <a:endParaRPr lang="en-US" sz="950" dirty="0"/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B7FC491-ED33-B5C5-CCBD-A35F6E73C7D3}"/>
              </a:ext>
            </a:extLst>
          </p:cNvPr>
          <p:cNvGrpSpPr/>
          <p:nvPr/>
        </p:nvGrpSpPr>
        <p:grpSpPr>
          <a:xfrm>
            <a:off x="9947384" y="1805865"/>
            <a:ext cx="1444752" cy="588684"/>
            <a:chOff x="10241280" y="1234440"/>
            <a:chExt cx="1444752" cy="588684"/>
          </a:xfrm>
        </p:grpSpPr>
        <p:sp>
          <p:nvSpPr>
            <p:cNvPr id="35" name="Shape 22">
              <a:extLst>
                <a:ext uri="{FF2B5EF4-FFF2-40B4-BE49-F238E27FC236}">
                  <a16:creationId xmlns:a16="http://schemas.microsoft.com/office/drawing/2014/main" id="{04BEC43E-4140-20F5-F7FA-38CD83F0BD84}"/>
                </a:ext>
              </a:extLst>
            </p:cNvPr>
            <p:cNvSpPr/>
            <p:nvPr/>
          </p:nvSpPr>
          <p:spPr>
            <a:xfrm>
              <a:off x="10241280" y="1234440"/>
              <a:ext cx="1444752" cy="402688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23">
              <a:extLst>
                <a:ext uri="{FF2B5EF4-FFF2-40B4-BE49-F238E27FC236}">
                  <a16:creationId xmlns:a16="http://schemas.microsoft.com/office/drawing/2014/main" id="{5E66481F-CB62-CABC-2BE3-624227D75FC4}"/>
                </a:ext>
              </a:extLst>
            </p:cNvPr>
            <p:cNvSpPr/>
            <p:nvPr/>
          </p:nvSpPr>
          <p:spPr>
            <a:xfrm>
              <a:off x="10241280" y="1234440"/>
              <a:ext cx="73152" cy="402688"/>
            </a:xfrm>
            <a:prstGeom prst="rect">
              <a:avLst/>
            </a:prstGeom>
            <a:solidFill>
              <a:srgbClr val="1E7A8A"/>
            </a:solidFill>
            <a:ln w="12700">
              <a:solidFill>
                <a:srgbClr val="1E7A8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24">
              <a:extLst>
                <a:ext uri="{FF2B5EF4-FFF2-40B4-BE49-F238E27FC236}">
                  <a16:creationId xmlns:a16="http://schemas.microsoft.com/office/drawing/2014/main" id="{452670D9-651C-C635-A758-232E793822E1}"/>
                </a:ext>
              </a:extLst>
            </p:cNvPr>
            <p:cNvSpPr/>
            <p:nvPr/>
          </p:nvSpPr>
          <p:spPr>
            <a:xfrm>
              <a:off x="10405872" y="1380744"/>
              <a:ext cx="1170432" cy="1561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0B2E4F"/>
                  </a:solidFill>
                </a:rPr>
                <a:t>Q4 2026</a:t>
              </a:r>
              <a:endParaRPr lang="en-US" sz="2100" dirty="0"/>
            </a:p>
          </p:txBody>
        </p:sp>
        <p:sp>
          <p:nvSpPr>
            <p:cNvPr id="38" name="Text 25">
              <a:extLst>
                <a:ext uri="{FF2B5EF4-FFF2-40B4-BE49-F238E27FC236}">
                  <a16:creationId xmlns:a16="http://schemas.microsoft.com/office/drawing/2014/main" id="{AC119D14-4F50-50E3-FE2D-E7D08C343DFA}"/>
                </a:ext>
              </a:extLst>
            </p:cNvPr>
            <p:cNvSpPr/>
            <p:nvPr/>
          </p:nvSpPr>
          <p:spPr>
            <a:xfrm>
              <a:off x="10241280" y="1720397"/>
              <a:ext cx="1216152" cy="1027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27385"/>
                  </a:solidFill>
                </a:rPr>
                <a:t>Target spud</a:t>
              </a:r>
              <a:endParaRPr lang="en-US" sz="950" dirty="0"/>
            </a:p>
          </p:txBody>
        </p:sp>
      </p:grpSp>
      <p:sp>
        <p:nvSpPr>
          <p:cNvPr id="39" name="Text 26">
            <a:extLst>
              <a:ext uri="{FF2B5EF4-FFF2-40B4-BE49-F238E27FC236}">
                <a16:creationId xmlns:a16="http://schemas.microsoft.com/office/drawing/2014/main" id="{BF0C1113-9991-78E6-5FC3-6E3C2B23EC2F}"/>
              </a:ext>
            </a:extLst>
          </p:cNvPr>
          <p:cNvSpPr/>
          <p:nvPr/>
        </p:nvSpPr>
        <p:spPr>
          <a:xfrm>
            <a:off x="279400" y="1874931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</a:rPr>
              <a:t>Days vs Depth — Alpha-07 benchmarked to Alpha-01…06</a:t>
            </a:r>
            <a:endParaRPr lang="en-US" sz="14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97EDE2C-EAA6-4FE6-8D7A-3CF5F4010707}"/>
              </a:ext>
            </a:extLst>
          </p:cNvPr>
          <p:cNvGrpSpPr/>
          <p:nvPr/>
        </p:nvGrpSpPr>
        <p:grpSpPr>
          <a:xfrm>
            <a:off x="6315089" y="2512235"/>
            <a:ext cx="5105804" cy="3067252"/>
            <a:chOff x="6537960" y="1865376"/>
            <a:chExt cx="4846320" cy="2828335"/>
          </a:xfrm>
        </p:grpSpPr>
        <p:sp>
          <p:nvSpPr>
            <p:cNvPr id="41" name="Text 73">
              <a:extLst>
                <a:ext uri="{FF2B5EF4-FFF2-40B4-BE49-F238E27FC236}">
                  <a16:creationId xmlns:a16="http://schemas.microsoft.com/office/drawing/2014/main" id="{910B0457-16DB-618D-9CAC-46385529FA5A}"/>
                </a:ext>
              </a:extLst>
            </p:cNvPr>
            <p:cNvSpPr/>
            <p:nvPr/>
          </p:nvSpPr>
          <p:spPr>
            <a:xfrm>
              <a:off x="6537960" y="1865376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B2E4F"/>
                  </a:solidFill>
                </a:rPr>
                <a:t>Conceptual Cost Split</a:t>
              </a:r>
              <a:endParaRPr lang="en-US" sz="1400" dirty="0"/>
            </a:p>
          </p:txBody>
        </p:sp>
        <p:sp>
          <p:nvSpPr>
            <p:cNvPr id="42" name="Shape 74">
              <a:extLst>
                <a:ext uri="{FF2B5EF4-FFF2-40B4-BE49-F238E27FC236}">
                  <a16:creationId xmlns:a16="http://schemas.microsoft.com/office/drawing/2014/main" id="{6E34DDF4-BB08-757A-C2AA-3D57EB590E59}"/>
                </a:ext>
              </a:extLst>
            </p:cNvPr>
            <p:cNvSpPr/>
            <p:nvPr/>
          </p:nvSpPr>
          <p:spPr>
            <a:xfrm>
              <a:off x="6556248" y="2152396"/>
              <a:ext cx="4800600" cy="384048"/>
            </a:xfrm>
            <a:prstGeom prst="roundRect">
              <a:avLst>
                <a:gd name="adj" fmla="val 14286"/>
              </a:avLst>
            </a:prstGeom>
            <a:solidFill>
              <a:srgbClr val="F2F5F8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75">
              <a:extLst>
                <a:ext uri="{FF2B5EF4-FFF2-40B4-BE49-F238E27FC236}">
                  <a16:creationId xmlns:a16="http://schemas.microsoft.com/office/drawing/2014/main" id="{8E9E2BCC-426D-F61B-31F6-7EC230037938}"/>
                </a:ext>
              </a:extLst>
            </p:cNvPr>
            <p:cNvSpPr/>
            <p:nvPr/>
          </p:nvSpPr>
          <p:spPr>
            <a:xfrm>
              <a:off x="6556248" y="2152396"/>
              <a:ext cx="1138612" cy="384048"/>
            </a:xfrm>
            <a:prstGeom prst="rect">
              <a:avLst/>
            </a:prstGeom>
            <a:solidFill>
              <a:srgbClr val="1E5A88"/>
            </a:solidFill>
            <a:ln w="12700">
              <a:solidFill>
                <a:srgbClr val="1E5A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6">
              <a:extLst>
                <a:ext uri="{FF2B5EF4-FFF2-40B4-BE49-F238E27FC236}">
                  <a16:creationId xmlns:a16="http://schemas.microsoft.com/office/drawing/2014/main" id="{1644AC97-1917-93EA-ECFA-BBE576E786B6}"/>
                </a:ext>
              </a:extLst>
            </p:cNvPr>
            <p:cNvSpPr/>
            <p:nvPr/>
          </p:nvSpPr>
          <p:spPr>
            <a:xfrm>
              <a:off x="7694860" y="2152396"/>
              <a:ext cx="3661988" cy="384048"/>
            </a:xfrm>
            <a:prstGeom prst="rect">
              <a:avLst/>
            </a:prstGeom>
            <a:solidFill>
              <a:srgbClr val="E67E22"/>
            </a:solidFill>
            <a:ln w="12700">
              <a:solidFill>
                <a:srgbClr val="E67E2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77">
              <a:extLst>
                <a:ext uri="{FF2B5EF4-FFF2-40B4-BE49-F238E27FC236}">
                  <a16:creationId xmlns:a16="http://schemas.microsoft.com/office/drawing/2014/main" id="{C6DD6D33-8655-CB98-2529-14548706A43B}"/>
                </a:ext>
              </a:extLst>
            </p:cNvPr>
            <p:cNvSpPr/>
            <p:nvPr/>
          </p:nvSpPr>
          <p:spPr>
            <a:xfrm>
              <a:off x="6611112" y="2262124"/>
              <a:ext cx="91440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Tangible 23.7%</a:t>
              </a:r>
              <a:endParaRPr lang="en-US" sz="800" dirty="0"/>
            </a:p>
          </p:txBody>
        </p:sp>
        <p:sp>
          <p:nvSpPr>
            <p:cNvPr id="46" name="Text 78">
              <a:extLst>
                <a:ext uri="{FF2B5EF4-FFF2-40B4-BE49-F238E27FC236}">
                  <a16:creationId xmlns:a16="http://schemas.microsoft.com/office/drawing/2014/main" id="{019ECA27-92FB-E637-45D7-35F1AEC5B833}"/>
                </a:ext>
              </a:extLst>
            </p:cNvPr>
            <p:cNvSpPr/>
            <p:nvPr/>
          </p:nvSpPr>
          <p:spPr>
            <a:xfrm>
              <a:off x="7832020" y="2262124"/>
              <a:ext cx="128016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FFFFFF"/>
                  </a:solidFill>
                </a:rPr>
                <a:t>Intangible 76.3%</a:t>
              </a:r>
              <a:endParaRPr lang="en-US" sz="800" dirty="0"/>
            </a:p>
          </p:txBody>
        </p:sp>
        <p:sp>
          <p:nvSpPr>
            <p:cNvPr id="47" name="Shape 79">
              <a:extLst>
                <a:ext uri="{FF2B5EF4-FFF2-40B4-BE49-F238E27FC236}">
                  <a16:creationId xmlns:a16="http://schemas.microsoft.com/office/drawing/2014/main" id="{FB65F5EF-86DB-4CE2-D86F-50969FE3A9FF}"/>
                </a:ext>
              </a:extLst>
            </p:cNvPr>
            <p:cNvSpPr/>
            <p:nvPr/>
          </p:nvSpPr>
          <p:spPr>
            <a:xfrm>
              <a:off x="6565392" y="2663743"/>
              <a:ext cx="2267712" cy="932688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80">
              <a:extLst>
                <a:ext uri="{FF2B5EF4-FFF2-40B4-BE49-F238E27FC236}">
                  <a16:creationId xmlns:a16="http://schemas.microsoft.com/office/drawing/2014/main" id="{A4958A90-913F-148C-4281-AC3E542647DC}"/>
                </a:ext>
              </a:extLst>
            </p:cNvPr>
            <p:cNvSpPr/>
            <p:nvPr/>
          </p:nvSpPr>
          <p:spPr>
            <a:xfrm>
              <a:off x="6565392" y="2663743"/>
              <a:ext cx="73152" cy="932688"/>
            </a:xfrm>
            <a:prstGeom prst="rect">
              <a:avLst/>
            </a:prstGeom>
            <a:solidFill>
              <a:srgbClr val="1E5A88"/>
            </a:solidFill>
            <a:ln w="12700">
              <a:solidFill>
                <a:srgbClr val="1E5A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81">
              <a:extLst>
                <a:ext uri="{FF2B5EF4-FFF2-40B4-BE49-F238E27FC236}">
                  <a16:creationId xmlns:a16="http://schemas.microsoft.com/office/drawing/2014/main" id="{698BA05C-990B-31DF-93E5-57B9733351B5}"/>
                </a:ext>
              </a:extLst>
            </p:cNvPr>
            <p:cNvSpPr/>
            <p:nvPr/>
          </p:nvSpPr>
          <p:spPr>
            <a:xfrm>
              <a:off x="6729984" y="2810047"/>
              <a:ext cx="199339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0B2E4F"/>
                  </a:solidFill>
                </a:rPr>
                <a:t>USD 422k</a:t>
              </a:r>
              <a:endParaRPr lang="en-US" sz="2100" dirty="0"/>
            </a:p>
          </p:txBody>
        </p:sp>
        <p:sp>
          <p:nvSpPr>
            <p:cNvPr id="50" name="Text 82">
              <a:extLst>
                <a:ext uri="{FF2B5EF4-FFF2-40B4-BE49-F238E27FC236}">
                  <a16:creationId xmlns:a16="http://schemas.microsoft.com/office/drawing/2014/main" id="{5AD41ED9-A287-4060-5680-3B9850FE89D4}"/>
                </a:ext>
              </a:extLst>
            </p:cNvPr>
            <p:cNvSpPr/>
            <p:nvPr/>
          </p:nvSpPr>
          <p:spPr>
            <a:xfrm>
              <a:off x="6729984" y="3230671"/>
              <a:ext cx="20391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27385"/>
                  </a:solidFill>
                </a:rPr>
                <a:t>Tangible</a:t>
              </a:r>
              <a:endParaRPr lang="en-US" sz="950" dirty="0"/>
            </a:p>
          </p:txBody>
        </p:sp>
        <p:sp>
          <p:nvSpPr>
            <p:cNvPr id="51" name="Shape 83">
              <a:extLst>
                <a:ext uri="{FF2B5EF4-FFF2-40B4-BE49-F238E27FC236}">
                  <a16:creationId xmlns:a16="http://schemas.microsoft.com/office/drawing/2014/main" id="{39EEBF65-7A15-6A3D-EB4B-CC744A22EEE2}"/>
                </a:ext>
              </a:extLst>
            </p:cNvPr>
            <p:cNvSpPr/>
            <p:nvPr/>
          </p:nvSpPr>
          <p:spPr>
            <a:xfrm>
              <a:off x="8988552" y="2663743"/>
              <a:ext cx="2395728" cy="932688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84">
              <a:extLst>
                <a:ext uri="{FF2B5EF4-FFF2-40B4-BE49-F238E27FC236}">
                  <a16:creationId xmlns:a16="http://schemas.microsoft.com/office/drawing/2014/main" id="{0F5CD311-9078-B5BD-D21E-3D760EB643EB}"/>
                </a:ext>
              </a:extLst>
            </p:cNvPr>
            <p:cNvSpPr/>
            <p:nvPr/>
          </p:nvSpPr>
          <p:spPr>
            <a:xfrm>
              <a:off x="8988552" y="2663743"/>
              <a:ext cx="73152" cy="932688"/>
            </a:xfrm>
            <a:prstGeom prst="rect">
              <a:avLst/>
            </a:prstGeom>
            <a:solidFill>
              <a:srgbClr val="E67E22"/>
            </a:solidFill>
            <a:ln w="12700">
              <a:solidFill>
                <a:srgbClr val="E67E2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85">
              <a:extLst>
                <a:ext uri="{FF2B5EF4-FFF2-40B4-BE49-F238E27FC236}">
                  <a16:creationId xmlns:a16="http://schemas.microsoft.com/office/drawing/2014/main" id="{E457D5C2-10FC-3A4B-D10B-879C2B713992}"/>
                </a:ext>
              </a:extLst>
            </p:cNvPr>
            <p:cNvSpPr/>
            <p:nvPr/>
          </p:nvSpPr>
          <p:spPr>
            <a:xfrm>
              <a:off x="9153144" y="2810047"/>
              <a:ext cx="212140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0B2E4F"/>
                  </a:solidFill>
                </a:rPr>
                <a:t>USD 1.358M</a:t>
              </a:r>
              <a:endParaRPr lang="en-US" sz="2100" dirty="0"/>
            </a:p>
          </p:txBody>
        </p:sp>
        <p:sp>
          <p:nvSpPr>
            <p:cNvPr id="54" name="Text 86">
              <a:extLst>
                <a:ext uri="{FF2B5EF4-FFF2-40B4-BE49-F238E27FC236}">
                  <a16:creationId xmlns:a16="http://schemas.microsoft.com/office/drawing/2014/main" id="{72F24A34-64D3-622E-37A0-0D80267F61C9}"/>
                </a:ext>
              </a:extLst>
            </p:cNvPr>
            <p:cNvSpPr/>
            <p:nvPr/>
          </p:nvSpPr>
          <p:spPr>
            <a:xfrm>
              <a:off x="9153144" y="3230671"/>
              <a:ext cx="216712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27385"/>
                  </a:solidFill>
                </a:rPr>
                <a:t>Intangible</a:t>
              </a:r>
              <a:endParaRPr lang="en-US" sz="950" dirty="0"/>
            </a:p>
          </p:txBody>
        </p:sp>
        <p:sp>
          <p:nvSpPr>
            <p:cNvPr id="55" name="Shape 87">
              <a:extLst>
                <a:ext uri="{FF2B5EF4-FFF2-40B4-BE49-F238E27FC236}">
                  <a16:creationId xmlns:a16="http://schemas.microsoft.com/office/drawing/2014/main" id="{431A05DC-ECE4-29DF-A806-90F123EB8885}"/>
                </a:ext>
              </a:extLst>
            </p:cNvPr>
            <p:cNvSpPr/>
            <p:nvPr/>
          </p:nvSpPr>
          <p:spPr>
            <a:xfrm>
              <a:off x="6565392" y="3761023"/>
              <a:ext cx="4818888" cy="932688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88">
              <a:extLst>
                <a:ext uri="{FF2B5EF4-FFF2-40B4-BE49-F238E27FC236}">
                  <a16:creationId xmlns:a16="http://schemas.microsoft.com/office/drawing/2014/main" id="{F4BA851F-F57C-5610-0000-49D1449C5692}"/>
                </a:ext>
              </a:extLst>
            </p:cNvPr>
            <p:cNvSpPr/>
            <p:nvPr/>
          </p:nvSpPr>
          <p:spPr>
            <a:xfrm>
              <a:off x="6565392" y="3761023"/>
              <a:ext cx="73152" cy="932688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89">
              <a:extLst>
                <a:ext uri="{FF2B5EF4-FFF2-40B4-BE49-F238E27FC236}">
                  <a16:creationId xmlns:a16="http://schemas.microsoft.com/office/drawing/2014/main" id="{403B8F6C-FF2A-5816-463C-69A5C10E39D0}"/>
                </a:ext>
              </a:extLst>
            </p:cNvPr>
            <p:cNvSpPr/>
            <p:nvPr/>
          </p:nvSpPr>
          <p:spPr>
            <a:xfrm>
              <a:off x="6729984" y="3907327"/>
              <a:ext cx="454456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0B2E4F"/>
                  </a:solidFill>
                </a:rPr>
                <a:t>10%</a:t>
              </a:r>
              <a:endParaRPr lang="en-US" sz="2100" dirty="0"/>
            </a:p>
          </p:txBody>
        </p:sp>
        <p:sp>
          <p:nvSpPr>
            <p:cNvPr id="58" name="Text 90">
              <a:extLst>
                <a:ext uri="{FF2B5EF4-FFF2-40B4-BE49-F238E27FC236}">
                  <a16:creationId xmlns:a16="http://schemas.microsoft.com/office/drawing/2014/main" id="{139B3A0A-62DF-611B-F424-33911DDE6E3C}"/>
                </a:ext>
              </a:extLst>
            </p:cNvPr>
            <p:cNvSpPr/>
            <p:nvPr/>
          </p:nvSpPr>
          <p:spPr>
            <a:xfrm>
              <a:off x="6729984" y="4327951"/>
              <a:ext cx="459028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627385"/>
                  </a:solidFill>
                </a:rPr>
                <a:t>Maximum cost overrun in success criteria</a:t>
              </a:r>
              <a:endParaRPr lang="en-US" sz="950" dirty="0"/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B12DACBC-16C0-F10B-EB5F-E5D60CEE0C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2222341"/>
            <a:ext cx="5873760" cy="3335604"/>
          </a:xfrm>
          <a:prstGeom prst="rect">
            <a:avLst/>
          </a:prstGeom>
          <a:noFill/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869E7396-12C4-F7F9-AE47-7A6BDCE28BD6}"/>
              </a:ext>
            </a:extLst>
          </p:cNvPr>
          <p:cNvGrpSpPr/>
          <p:nvPr/>
        </p:nvGrpSpPr>
        <p:grpSpPr>
          <a:xfrm>
            <a:off x="279400" y="5834538"/>
            <a:ext cx="11166796" cy="803839"/>
            <a:chOff x="6537960" y="5669280"/>
            <a:chExt cx="5614416" cy="576072"/>
          </a:xfrm>
        </p:grpSpPr>
        <p:sp>
          <p:nvSpPr>
            <p:cNvPr id="62" name="Text 91">
              <a:extLst>
                <a:ext uri="{FF2B5EF4-FFF2-40B4-BE49-F238E27FC236}">
                  <a16:creationId xmlns:a16="http://schemas.microsoft.com/office/drawing/2014/main" id="{86C99A9F-61DD-A559-B090-5D992F5F9CCB}"/>
                </a:ext>
              </a:extLst>
            </p:cNvPr>
            <p:cNvSpPr/>
            <p:nvPr/>
          </p:nvSpPr>
          <p:spPr>
            <a:xfrm>
              <a:off x="6537960" y="5669280"/>
              <a:ext cx="38404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B2E4F"/>
                  </a:solidFill>
                </a:rPr>
                <a:t>BOD Approval &amp; Assurance Workflow</a:t>
              </a:r>
              <a:endParaRPr lang="en-US" sz="1200" dirty="0"/>
            </a:p>
          </p:txBody>
        </p:sp>
        <p:sp>
          <p:nvSpPr>
            <p:cNvPr id="63" name="Shape 92">
              <a:extLst>
                <a:ext uri="{FF2B5EF4-FFF2-40B4-BE49-F238E27FC236}">
                  <a16:creationId xmlns:a16="http://schemas.microsoft.com/office/drawing/2014/main" id="{8F3E5999-8E51-75A5-473A-F18E2A810671}"/>
                </a:ext>
              </a:extLst>
            </p:cNvPr>
            <p:cNvSpPr/>
            <p:nvPr/>
          </p:nvSpPr>
          <p:spPr>
            <a:xfrm>
              <a:off x="6537960" y="5971032"/>
              <a:ext cx="786384" cy="274320"/>
            </a:xfrm>
            <a:prstGeom prst="roundRect">
              <a:avLst>
                <a:gd name="adj" fmla="val 20000"/>
              </a:avLst>
            </a:prstGeom>
            <a:solidFill>
              <a:srgbClr val="0B2E4F"/>
            </a:solidFill>
            <a:ln w="12700">
              <a:solidFill>
                <a:srgbClr val="0B2E4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Text 93">
              <a:extLst>
                <a:ext uri="{FF2B5EF4-FFF2-40B4-BE49-F238E27FC236}">
                  <a16:creationId xmlns:a16="http://schemas.microsoft.com/office/drawing/2014/main" id="{94A0E707-1A51-08CF-116B-EC4B870B44AA}"/>
                </a:ext>
              </a:extLst>
            </p:cNvPr>
            <p:cNvSpPr/>
            <p:nvPr/>
          </p:nvSpPr>
          <p:spPr>
            <a:xfrm>
              <a:off x="6565392" y="6049072"/>
              <a:ext cx="73152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Drilling</a:t>
              </a:r>
              <a:endParaRPr lang="en-US" sz="1400" dirty="0"/>
            </a:p>
          </p:txBody>
        </p:sp>
        <p:sp>
          <p:nvSpPr>
            <p:cNvPr id="257" name="Text 94">
              <a:extLst>
                <a:ext uri="{FF2B5EF4-FFF2-40B4-BE49-F238E27FC236}">
                  <a16:creationId xmlns:a16="http://schemas.microsoft.com/office/drawing/2014/main" id="{B21A1CDC-AD5D-CEB0-E919-DBB7E51A5240}"/>
                </a:ext>
              </a:extLst>
            </p:cNvPr>
            <p:cNvSpPr/>
            <p:nvPr/>
          </p:nvSpPr>
          <p:spPr>
            <a:xfrm>
              <a:off x="7351776" y="6016752"/>
              <a:ext cx="13716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627385"/>
                  </a:solidFill>
                </a:rPr>
                <a:t>›</a:t>
              </a:r>
              <a:endParaRPr lang="en-US" sz="2800" dirty="0"/>
            </a:p>
          </p:txBody>
        </p:sp>
        <p:sp>
          <p:nvSpPr>
            <p:cNvPr id="258" name="Shape 95">
              <a:extLst>
                <a:ext uri="{FF2B5EF4-FFF2-40B4-BE49-F238E27FC236}">
                  <a16:creationId xmlns:a16="http://schemas.microsoft.com/office/drawing/2014/main" id="{AC0EB136-1E39-AF76-7373-8D45515A9AF3}"/>
                </a:ext>
              </a:extLst>
            </p:cNvPr>
            <p:cNvSpPr/>
            <p:nvPr/>
          </p:nvSpPr>
          <p:spPr>
            <a:xfrm>
              <a:off x="7543800" y="5971032"/>
              <a:ext cx="914400" cy="274320"/>
            </a:xfrm>
            <a:prstGeom prst="roundRect">
              <a:avLst>
                <a:gd name="adj" fmla="val 20000"/>
              </a:avLst>
            </a:prstGeom>
            <a:solidFill>
              <a:srgbClr val="1E5A88"/>
            </a:solidFill>
            <a:ln w="12700">
              <a:solidFill>
                <a:srgbClr val="1E5A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Text 96">
              <a:extLst>
                <a:ext uri="{FF2B5EF4-FFF2-40B4-BE49-F238E27FC236}">
                  <a16:creationId xmlns:a16="http://schemas.microsoft.com/office/drawing/2014/main" id="{902FD0A3-594A-FA64-8646-E000FBC45C8E}"/>
                </a:ext>
              </a:extLst>
            </p:cNvPr>
            <p:cNvSpPr/>
            <p:nvPr/>
          </p:nvSpPr>
          <p:spPr>
            <a:xfrm>
              <a:off x="7571232" y="6056088"/>
              <a:ext cx="859536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Subsurface</a:t>
              </a:r>
              <a:endParaRPr lang="en-US" sz="1400" dirty="0"/>
            </a:p>
          </p:txBody>
        </p:sp>
        <p:sp>
          <p:nvSpPr>
            <p:cNvPr id="260" name="Text 97">
              <a:extLst>
                <a:ext uri="{FF2B5EF4-FFF2-40B4-BE49-F238E27FC236}">
                  <a16:creationId xmlns:a16="http://schemas.microsoft.com/office/drawing/2014/main" id="{B09B0039-9BE6-CC3A-B644-3CB250B8FF2F}"/>
                </a:ext>
              </a:extLst>
            </p:cNvPr>
            <p:cNvSpPr/>
            <p:nvPr/>
          </p:nvSpPr>
          <p:spPr>
            <a:xfrm>
              <a:off x="8485632" y="6016752"/>
              <a:ext cx="13716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627385"/>
                  </a:solidFill>
                </a:rPr>
                <a:t>›</a:t>
              </a:r>
              <a:endParaRPr lang="en-US" sz="2800" dirty="0"/>
            </a:p>
          </p:txBody>
        </p:sp>
        <p:sp>
          <p:nvSpPr>
            <p:cNvPr id="261" name="Shape 98">
              <a:extLst>
                <a:ext uri="{FF2B5EF4-FFF2-40B4-BE49-F238E27FC236}">
                  <a16:creationId xmlns:a16="http://schemas.microsoft.com/office/drawing/2014/main" id="{7873760F-AA83-4052-A468-653395908FDA}"/>
                </a:ext>
              </a:extLst>
            </p:cNvPr>
            <p:cNvSpPr/>
            <p:nvPr/>
          </p:nvSpPr>
          <p:spPr>
            <a:xfrm>
              <a:off x="8677656" y="5971032"/>
              <a:ext cx="1078992" cy="274320"/>
            </a:xfrm>
            <a:prstGeom prst="roundRect">
              <a:avLst>
                <a:gd name="adj" fmla="val 20000"/>
              </a:avLst>
            </a:prstGeom>
            <a:solidFill>
              <a:srgbClr val="2E7D5B"/>
            </a:solidFill>
            <a:ln w="12700">
              <a:solidFill>
                <a:srgbClr val="2E7D5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Text 99">
              <a:extLst>
                <a:ext uri="{FF2B5EF4-FFF2-40B4-BE49-F238E27FC236}">
                  <a16:creationId xmlns:a16="http://schemas.microsoft.com/office/drawing/2014/main" id="{66C6C0C5-DA25-B530-1440-3ED67859229B}"/>
                </a:ext>
              </a:extLst>
            </p:cNvPr>
            <p:cNvSpPr/>
            <p:nvPr/>
          </p:nvSpPr>
          <p:spPr>
            <a:xfrm>
              <a:off x="8705088" y="6049072"/>
              <a:ext cx="102412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Facilities / HSE</a:t>
              </a:r>
              <a:endParaRPr lang="en-US" sz="1400" dirty="0"/>
            </a:p>
          </p:txBody>
        </p:sp>
        <p:sp>
          <p:nvSpPr>
            <p:cNvPr id="263" name="Text 100">
              <a:extLst>
                <a:ext uri="{FF2B5EF4-FFF2-40B4-BE49-F238E27FC236}">
                  <a16:creationId xmlns:a16="http://schemas.microsoft.com/office/drawing/2014/main" id="{890C7A7A-AEEF-7A8B-D2BC-FC3C5AF8596F}"/>
                </a:ext>
              </a:extLst>
            </p:cNvPr>
            <p:cNvSpPr/>
            <p:nvPr/>
          </p:nvSpPr>
          <p:spPr>
            <a:xfrm>
              <a:off x="9784080" y="6016752"/>
              <a:ext cx="13716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627385"/>
                  </a:solidFill>
                </a:rPr>
                <a:t>›</a:t>
              </a:r>
              <a:endParaRPr lang="en-US" sz="2800" dirty="0"/>
            </a:p>
          </p:txBody>
        </p:sp>
        <p:sp>
          <p:nvSpPr>
            <p:cNvPr id="264" name="Shape 101">
              <a:extLst>
                <a:ext uri="{FF2B5EF4-FFF2-40B4-BE49-F238E27FC236}">
                  <a16:creationId xmlns:a16="http://schemas.microsoft.com/office/drawing/2014/main" id="{AA67C3AE-6688-B8C1-8A2B-AF9FFD7BB63D}"/>
                </a:ext>
              </a:extLst>
            </p:cNvPr>
            <p:cNvSpPr/>
            <p:nvPr/>
          </p:nvSpPr>
          <p:spPr>
            <a:xfrm>
              <a:off x="9976104" y="5971032"/>
              <a:ext cx="1060704" cy="274320"/>
            </a:xfrm>
            <a:prstGeom prst="roundRect">
              <a:avLst>
                <a:gd name="adj" fmla="val 20000"/>
              </a:avLst>
            </a:prstGeom>
            <a:solidFill>
              <a:srgbClr val="E67E22"/>
            </a:solidFill>
            <a:ln w="12700">
              <a:solidFill>
                <a:srgbClr val="E67E2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Text 102">
              <a:extLst>
                <a:ext uri="{FF2B5EF4-FFF2-40B4-BE49-F238E27FC236}">
                  <a16:creationId xmlns:a16="http://schemas.microsoft.com/office/drawing/2014/main" id="{63A7488E-37FA-79BC-7E7E-E686BE69A771}"/>
                </a:ext>
              </a:extLst>
            </p:cNvPr>
            <p:cNvSpPr/>
            <p:nvPr/>
          </p:nvSpPr>
          <p:spPr>
            <a:xfrm>
              <a:off x="10003536" y="6049072"/>
              <a:ext cx="100584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Project Integration</a:t>
              </a:r>
              <a:endParaRPr lang="en-US" sz="1400" dirty="0"/>
            </a:p>
          </p:txBody>
        </p:sp>
        <p:sp>
          <p:nvSpPr>
            <p:cNvPr id="266" name="Text 103">
              <a:extLst>
                <a:ext uri="{FF2B5EF4-FFF2-40B4-BE49-F238E27FC236}">
                  <a16:creationId xmlns:a16="http://schemas.microsoft.com/office/drawing/2014/main" id="{9FBD76DE-963F-40BC-573B-94775034B9DD}"/>
                </a:ext>
              </a:extLst>
            </p:cNvPr>
            <p:cNvSpPr/>
            <p:nvPr/>
          </p:nvSpPr>
          <p:spPr>
            <a:xfrm>
              <a:off x="11064240" y="6016752"/>
              <a:ext cx="13716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627385"/>
                  </a:solidFill>
                </a:rPr>
                <a:t>›</a:t>
              </a:r>
              <a:endParaRPr lang="en-US" sz="2800" dirty="0"/>
            </a:p>
          </p:txBody>
        </p:sp>
        <p:sp>
          <p:nvSpPr>
            <p:cNvPr id="267" name="Shape 104">
              <a:extLst>
                <a:ext uri="{FF2B5EF4-FFF2-40B4-BE49-F238E27FC236}">
                  <a16:creationId xmlns:a16="http://schemas.microsoft.com/office/drawing/2014/main" id="{CF44377B-75C4-5CC5-919E-F9644962AADB}"/>
                </a:ext>
              </a:extLst>
            </p:cNvPr>
            <p:cNvSpPr/>
            <p:nvPr/>
          </p:nvSpPr>
          <p:spPr>
            <a:xfrm>
              <a:off x="11256264" y="5971032"/>
              <a:ext cx="896112" cy="274320"/>
            </a:xfrm>
            <a:prstGeom prst="roundRect">
              <a:avLst>
                <a:gd name="adj" fmla="val 20000"/>
              </a:avLst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" name="Text 105">
              <a:extLst>
                <a:ext uri="{FF2B5EF4-FFF2-40B4-BE49-F238E27FC236}">
                  <a16:creationId xmlns:a16="http://schemas.microsoft.com/office/drawing/2014/main" id="{87D0F148-7C03-8AD3-479D-F36A742885E1}"/>
                </a:ext>
              </a:extLst>
            </p:cNvPr>
            <p:cNvSpPr/>
            <p:nvPr/>
          </p:nvSpPr>
          <p:spPr>
            <a:xfrm>
              <a:off x="11283696" y="6049072"/>
              <a:ext cx="84124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Asset approval</a:t>
              </a:r>
              <a:endParaRPr lang="en-US" sz="1400" dirty="0"/>
            </a:p>
          </p:txBody>
        </p:sp>
      </p:grpSp>
      <p:sp>
        <p:nvSpPr>
          <p:cNvPr id="269" name="Text 1">
            <a:extLst>
              <a:ext uri="{FF2B5EF4-FFF2-40B4-BE49-F238E27FC236}">
                <a16:creationId xmlns:a16="http://schemas.microsoft.com/office/drawing/2014/main" id="{D94DA092-B2E3-15A3-92AB-78C0F665F435}"/>
              </a:ext>
            </a:extLst>
          </p:cNvPr>
          <p:cNvSpPr/>
          <p:nvPr/>
        </p:nvSpPr>
        <p:spPr>
          <a:xfrm>
            <a:off x="288544" y="1490247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27385"/>
                </a:solidFill>
              </a:rPr>
              <a:t>Integrated view of well delivery time, depth benchmark, cost exposure and approval gates</a:t>
            </a:r>
            <a:endParaRPr lang="en-US" sz="105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AFD90-B5C4-0DFD-D6F6-6034215F3D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773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364B054-7C89-4AF2-867C-1A620D467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>
            <a:extLst>
              <a:ext uri="{FF2B5EF4-FFF2-40B4-BE49-F238E27FC236}">
                <a16:creationId xmlns:a16="http://schemas.microsoft.com/office/drawing/2014/main" id="{F70EE519-6303-23F5-57B4-22F7D11866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75" y="287290"/>
            <a:ext cx="11716269" cy="630408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8CFFF68E-D80A-0D22-98F5-08534B37A91F}"/>
              </a:ext>
            </a:extLst>
          </p:cNvPr>
          <p:cNvSpPr/>
          <p:nvPr/>
        </p:nvSpPr>
        <p:spPr>
          <a:xfrm>
            <a:off x="259075" y="1840243"/>
            <a:ext cx="11716269" cy="4381447"/>
          </a:xfrm>
          <a:prstGeom prst="rect">
            <a:avLst/>
          </a:prstGeom>
          <a:solidFill>
            <a:srgbClr val="365DA8">
              <a:alpha val="7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B3D5F143-EEAA-314A-8034-D94AC9AE0D4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53039" y="2585930"/>
            <a:ext cx="1120218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JDS 2026 DRILLING CAMPAIGN</a:t>
            </a:r>
            <a:b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SW (Single Well) DPM (Drilling Project Management) BOD: ALPHA-07</a:t>
            </a: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>
            <a:extLst>
              <a:ext uri="{FF2B5EF4-FFF2-40B4-BE49-F238E27FC236}">
                <a16:creationId xmlns:a16="http://schemas.microsoft.com/office/drawing/2014/main" id="{50ED3B2D-6F1A-F6B8-8F28-7A94A3ABF5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3039" y="5092537"/>
            <a:ext cx="9144000" cy="140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 ENERGY SOLUTION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6 ONLINE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61FB7DC7-23D5-925E-A4A1-65C8D1AB30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9306" y="266625"/>
            <a:ext cx="1573619" cy="15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>
            <a:extLst>
              <a:ext uri="{FF2B5EF4-FFF2-40B4-BE49-F238E27FC236}">
                <a16:creationId xmlns:a16="http://schemas.microsoft.com/office/drawing/2014/main" id="{6770975F-35D7-E8D0-4E96-765C1304AEC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075" y="287290"/>
            <a:ext cx="1400175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7A5B2D-EB9E-4234-D00B-EC7A975A2E0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5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87A76C-D543-D907-9470-2D3A1FCB1E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CA398-25A7-1D1C-3CC3-22FDA4F7DAB9}"/>
              </a:ext>
            </a:extLst>
          </p:cNvPr>
          <p:cNvSpPr txBox="1"/>
          <p:nvPr/>
        </p:nvSpPr>
        <p:spPr>
          <a:xfrm>
            <a:off x="1566154" y="1041644"/>
            <a:ext cx="830742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215" marR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rial"/>
                <a:ea typeface="Calibri" panose="020F0502020204030204" pitchFamily="34" charset="0"/>
                <a:cs typeface="Times New Roman" panose="02020603050405020304" pitchFamily="18" charset="0"/>
              </a:rPr>
              <a:t>Table 3.3 Alpha-07 Offset Well Subsurface Design Basis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82A5822-6CF8-7E1D-306D-C00648EAD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720508"/>
              </p:ext>
            </p:extLst>
          </p:nvPr>
        </p:nvGraphicFramePr>
        <p:xfrm>
          <a:off x="0" y="1465017"/>
          <a:ext cx="12192000" cy="4545177"/>
        </p:xfrm>
        <a:graphic>
          <a:graphicData uri="http://schemas.openxmlformats.org/drawingml/2006/table">
            <a:tbl>
              <a:tblPr firstRow="1" firstCol="1" bandRow="1"/>
              <a:tblGrid>
                <a:gridCol w="1848255">
                  <a:extLst>
                    <a:ext uri="{9D8B030D-6E8A-4147-A177-3AD203B41FA5}">
                      <a16:colId xmlns:a16="http://schemas.microsoft.com/office/drawing/2014/main" val="3918024288"/>
                    </a:ext>
                  </a:extLst>
                </a:gridCol>
                <a:gridCol w="4338536">
                  <a:extLst>
                    <a:ext uri="{9D8B030D-6E8A-4147-A177-3AD203B41FA5}">
                      <a16:colId xmlns:a16="http://schemas.microsoft.com/office/drawing/2014/main" val="1173535109"/>
                    </a:ext>
                  </a:extLst>
                </a:gridCol>
                <a:gridCol w="6005209">
                  <a:extLst>
                    <a:ext uri="{9D8B030D-6E8A-4147-A177-3AD203B41FA5}">
                      <a16:colId xmlns:a16="http://schemas.microsoft.com/office/drawing/2014/main" val="3026154850"/>
                    </a:ext>
                  </a:extLst>
                </a:gridCol>
              </a:tblGrid>
              <a:tr h="2354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Design Aspect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Offset Well Observation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Application to Alpha-07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88079"/>
                  </a:ext>
                </a:extLst>
              </a:tr>
              <a:tr h="2829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Stratigraphy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Equivalent upper shale and deeper sandstone sequences penetrated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Used for geological prognosis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138168"/>
                  </a:ext>
                </a:extLst>
              </a:tr>
              <a:tr h="9004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Wellbore Stability / SFG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Historical shale instability, sloughing, and wellbore condition from offset wells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Used to support Shear Failure Gradient assessment and minimum mud weight design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708071"/>
                  </a:ext>
                </a:extLst>
              </a:tr>
              <a:tr h="3779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Loss Circulation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Potential losses within deeper sandstone intervals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LCM and loss contingency required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251274"/>
                  </a:ext>
                </a:extLst>
              </a:tr>
              <a:tr h="4729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Shallow Gas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Low TG and no significant historical gas indication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Supports current well construction concept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2539"/>
                  </a:ext>
                </a:extLst>
              </a:tr>
              <a:tr h="187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Reservoir Pressure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Offset pressure information available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Used for PP prediction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524823"/>
                  </a:ext>
                </a:extLst>
              </a:tr>
              <a:tr h="9479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Formation Integrity / FG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Historical formation integrity and loss-circulation behavior from offset wells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Used to support Fracture Gradient assessment and maximum allowable ECD / pressure design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631906"/>
                  </a:ext>
                </a:extLst>
              </a:tr>
              <a:tr h="3779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Logging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Triple Combo, RFT and SWC established as evaluation basis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Applied to Alpha-07 formation evaluation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96026"/>
                  </a:ext>
                </a:extLst>
              </a:tr>
              <a:tr h="5679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Reservoir Fluids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Predominantly oil with localized gas indication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Incorporated into well control and completion design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9978" marR="199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177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55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03613F0C-8C71-AD0C-4448-0379FF8E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0BDE54CD-44B6-05F5-69C8-958654C75FD4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FFFFF"/>
                </a:solidFill>
              </a:rPr>
              <a:t>SUPPORTING SLIDES</a:t>
            </a:r>
            <a:endParaRPr lang="en-US" sz="3600" dirty="0">
              <a:solidFill>
                <a:prstClr val="black"/>
              </a:solidFill>
            </a:endParaRP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C7BA2D3A-21DB-E65B-D0ED-C5F288F928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C84CAD22-505E-9B0B-A8B6-F0969DA6E4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800ED6-B15B-471F-9F2B-A6D91034FA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" b="563"/>
          <a:stretch>
            <a:fillRect/>
          </a:stretch>
        </p:blipFill>
        <p:spPr bwMode="auto">
          <a:xfrm>
            <a:off x="3955438" y="1042416"/>
            <a:ext cx="7908611" cy="495396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757AF0-0F45-F01D-517B-362B54C036C7}"/>
              </a:ext>
            </a:extLst>
          </p:cNvPr>
          <p:cNvSpPr txBox="1"/>
          <p:nvPr/>
        </p:nvSpPr>
        <p:spPr>
          <a:xfrm>
            <a:off x="3928979" y="6167926"/>
            <a:ext cx="8105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Alpha-07 Predicted Pore Pressure and Fracture Gradient Profile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9C2CB2-6A5D-96B0-E78F-9D6DD1BA5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262038"/>
              </p:ext>
            </p:extLst>
          </p:nvPr>
        </p:nvGraphicFramePr>
        <p:xfrm>
          <a:off x="270076" y="1114703"/>
          <a:ext cx="3480120" cy="4809391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433804">
                  <a:extLst>
                    <a:ext uri="{9D8B030D-6E8A-4147-A177-3AD203B41FA5}">
                      <a16:colId xmlns:a16="http://schemas.microsoft.com/office/drawing/2014/main" val="354075305"/>
                    </a:ext>
                  </a:extLst>
                </a:gridCol>
                <a:gridCol w="2046316">
                  <a:extLst>
                    <a:ext uri="{9D8B030D-6E8A-4147-A177-3AD203B41FA5}">
                      <a16:colId xmlns:a16="http://schemas.microsoft.com/office/drawing/2014/main" val="218051790"/>
                    </a:ext>
                  </a:extLst>
                </a:gridCol>
              </a:tblGrid>
              <a:tr h="4696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Preliminary Design Basis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28683220"/>
                  </a:ext>
                </a:extLst>
              </a:tr>
              <a:tr h="6870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Maximum Estimated Pore Pressure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8.66 ppg EMW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5916338"/>
                  </a:ext>
                </a:extLst>
              </a:tr>
              <a:tr h="6870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Lowest Estimated Sand Fracture Gradient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~10.75 ppg EMW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5365563"/>
                  </a:ext>
                </a:extLst>
              </a:tr>
              <a:tr h="4523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Surface Section Mud Weight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8.7–9.0 ppg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0401922"/>
                  </a:ext>
                </a:extLst>
              </a:tr>
              <a:tr h="6870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 Section Mud Weight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9.0–9.8 ppg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4845950"/>
                  </a:ext>
                </a:extLst>
              </a:tr>
              <a:tr h="4523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Pressure Prediction Basis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Formation pressure data + Eaton model</a:t>
                      </a:r>
                      <a:endParaRPr lang="en-US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8285174"/>
                  </a:ext>
                </a:extLst>
              </a:tr>
              <a:tr h="4523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FG/SFG Calibration Basis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Historical drilling data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6757345"/>
                  </a:ext>
                </a:extLst>
              </a:tr>
              <a:tr h="9216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Design Requirement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Maintain adequate overbalance while remaining below formation integrity limit</a:t>
                      </a:r>
                      <a:endParaRPr lang="en-US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46468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91AB55F-A244-15C1-C534-24905B3AB254}"/>
              </a:ext>
            </a:extLst>
          </p:cNvPr>
          <p:cNvSpPr txBox="1"/>
          <p:nvPr/>
        </p:nvSpPr>
        <p:spPr>
          <a:xfrm>
            <a:off x="508548" y="6106933"/>
            <a:ext cx="2865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Preliminary Alpha-07 PPFG Design Basis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8CE53-9F10-30AA-DF71-7F9519C098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6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A648CA4D-46C4-ADA8-9778-82742707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8B9DC17D-83DF-4F24-B737-49BE8B88C8F0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FFFFF"/>
                </a:solidFill>
              </a:rPr>
              <a:t>SUPPORTING SLIDES</a:t>
            </a:r>
            <a:endParaRPr lang="en-US" sz="3600" dirty="0">
              <a:solidFill>
                <a:prstClr val="black"/>
              </a:solidFill>
            </a:endParaRP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0331779D-9AE9-5841-E82E-31842C09E3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889D6639-2595-4A1A-D80A-19B7CE5281E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3B5FFBF8-1E49-EEEC-FF2E-472F9FF5AE5C}"/>
              </a:ext>
            </a:extLst>
          </p:cNvPr>
          <p:cNvSpPr/>
          <p:nvPr/>
        </p:nvSpPr>
        <p:spPr>
          <a:xfrm>
            <a:off x="283464" y="1088136"/>
            <a:ext cx="5806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053907E-C808-0721-350A-7BA16032DA6B}"/>
              </a:ext>
            </a:extLst>
          </p:cNvPr>
          <p:cNvSpPr/>
          <p:nvPr/>
        </p:nvSpPr>
        <p:spPr>
          <a:xfrm>
            <a:off x="283464" y="1088136"/>
            <a:ext cx="5806440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86FAFF-A5C0-BC30-57FA-5525364FF65D}"/>
              </a:ext>
            </a:extLst>
          </p:cNvPr>
          <p:cNvSpPr/>
          <p:nvPr/>
        </p:nvSpPr>
        <p:spPr>
          <a:xfrm>
            <a:off x="338328" y="1088136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Casing Seat &amp; PPFG Design Basis</a:t>
            </a:r>
            <a:endParaRPr lang="en-US" sz="115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C997D177-E5F7-5068-6CCB-6412879FF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950783"/>
              </p:ext>
            </p:extLst>
          </p:nvPr>
        </p:nvGraphicFramePr>
        <p:xfrm>
          <a:off x="411480" y="1472184"/>
          <a:ext cx="5550408" cy="117805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9-5/8 in. Surface Casing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in. Production Casing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Hole Size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12-1/4 in.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8-1/2 in.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 Depth, 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1,821 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5,312 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 Depth, TVD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1,654 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4,664 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 Mud Weight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8.7–9.0 ppg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9.0–9.8 ppg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 Criterion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Competent shale 1,550–1,650 ftTVDSS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deepest target + rat hole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Kick Tolerance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 bbl for 8-1/2 in. hole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 – final string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6">
            <a:extLst>
              <a:ext uri="{FF2B5EF4-FFF2-40B4-BE49-F238E27FC236}">
                <a16:creationId xmlns:a16="http://schemas.microsoft.com/office/drawing/2014/main" id="{99940B2F-0745-3F96-4B59-F75A79C34D5B}"/>
              </a:ext>
            </a:extLst>
          </p:cNvPr>
          <p:cNvSpPr/>
          <p:nvPr/>
        </p:nvSpPr>
        <p:spPr>
          <a:xfrm>
            <a:off x="411480" y="2715238"/>
            <a:ext cx="5550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8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PPFG Envelope: </a:t>
            </a: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estimated pore pressure 8.66 ppg EMW; lowest sand fracture gradient ≈10.75 ppg EMW — this bounds the mud weight and ECD design window.</a:t>
            </a:r>
            <a:endParaRPr lang="en-US" sz="88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D911C834-B6E4-1760-6375-AF6A6DE8C2F9}"/>
              </a:ext>
            </a:extLst>
          </p:cNvPr>
          <p:cNvSpPr/>
          <p:nvPr/>
        </p:nvSpPr>
        <p:spPr>
          <a:xfrm>
            <a:off x="6217920" y="1088136"/>
            <a:ext cx="56875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C5C5CC9E-76A6-C7E7-E7ED-003471D788C1}"/>
              </a:ext>
            </a:extLst>
          </p:cNvPr>
          <p:cNvSpPr/>
          <p:nvPr/>
        </p:nvSpPr>
        <p:spPr>
          <a:xfrm>
            <a:off x="6217920" y="1088136"/>
            <a:ext cx="5687568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59701847-CA0F-09AF-B3AA-785BE4BE5D20}"/>
              </a:ext>
            </a:extLst>
          </p:cNvPr>
          <p:cNvSpPr/>
          <p:nvPr/>
        </p:nvSpPr>
        <p:spPr>
          <a:xfrm>
            <a:off x="6272784" y="108813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 Tolerance Calculation Basis</a:t>
            </a:r>
            <a:endParaRPr lang="en-US" sz="1150" dirty="0"/>
          </a:p>
        </p:txBody>
      </p:sp>
      <p:graphicFrame>
        <p:nvGraphicFramePr>
          <p:cNvPr id="19" name="Table 1">
            <a:extLst>
              <a:ext uri="{FF2B5EF4-FFF2-40B4-BE49-F238E27FC236}">
                <a16:creationId xmlns:a16="http://schemas.microsoft.com/office/drawing/2014/main" id="{13252512-F5CA-1188-6C0C-3F7E95718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572687"/>
              </p:ext>
            </p:extLst>
          </p:nvPr>
        </p:nvGraphicFramePr>
        <p:xfrm>
          <a:off x="6345936" y="1472184"/>
          <a:ext cx="5431536" cy="1680972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Basis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Casing Shoe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9-5/8 in. Surface Casing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Shoe Depth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1,821 ftMD / 1,654 ftTVD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Subsequent Hole Size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8-1/2 in.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Section TD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5,312 ftMD / 4,664 ftTVD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Maximum Planned MW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 ppg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LOT / Formation Integrity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 ppg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KT Requirement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bbl / 1.5 m³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Kick Intensity Design Range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0–0.5 ppg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Calculated KT @ 0 ppg KI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33.8 bbl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" name="Shape 10">
            <a:extLst>
              <a:ext uri="{FF2B5EF4-FFF2-40B4-BE49-F238E27FC236}">
                <a16:creationId xmlns:a16="http://schemas.microsoft.com/office/drawing/2014/main" id="{B5C9DEEC-62A3-1F96-02B0-7844564BB80A}"/>
              </a:ext>
            </a:extLst>
          </p:cNvPr>
          <p:cNvSpPr/>
          <p:nvPr/>
        </p:nvSpPr>
        <p:spPr>
          <a:xfrm>
            <a:off x="283464" y="3337560"/>
            <a:ext cx="11622024" cy="2684420"/>
          </a:xfrm>
          <a:prstGeom prst="roundRect">
            <a:avLst>
              <a:gd name="adj" fmla="val 2292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FB3F8E63-185A-FF0A-5F0C-F8F3B9CDEB80}"/>
              </a:ext>
            </a:extLst>
          </p:cNvPr>
          <p:cNvSpPr/>
          <p:nvPr/>
        </p:nvSpPr>
        <p:spPr>
          <a:xfrm>
            <a:off x="283464" y="3337560"/>
            <a:ext cx="11622024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C70049F1-87D8-C053-CB88-0C3425AE1FEE}"/>
              </a:ext>
            </a:extLst>
          </p:cNvPr>
          <p:cNvSpPr/>
          <p:nvPr/>
        </p:nvSpPr>
        <p:spPr>
          <a:xfrm>
            <a:off x="338328" y="3337560"/>
            <a:ext cx="11512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Casing Structural Load Cases &amp; Preliminary Design Summary</a:t>
            </a:r>
            <a:endParaRPr lang="en-US" sz="1150" dirty="0"/>
          </a:p>
        </p:txBody>
      </p:sp>
      <p:graphicFrame>
        <p:nvGraphicFramePr>
          <p:cNvPr id="27" name="Table 2">
            <a:extLst>
              <a:ext uri="{FF2B5EF4-FFF2-40B4-BE49-F238E27FC236}">
                <a16:creationId xmlns:a16="http://schemas.microsoft.com/office/drawing/2014/main" id="{859919DD-24EC-DFDE-95A6-4546A8023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749842"/>
              </p:ext>
            </p:extLst>
          </p:nvPr>
        </p:nvGraphicFramePr>
        <p:xfrm>
          <a:off x="411480" y="3721608"/>
          <a:ext cx="5550408" cy="819912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Mode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Min. DF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Applicable Load Cases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Consideration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Burst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 kick, pressure test, tubing leak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pressure &lt; burst resistance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Collapse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Cementing, partial evacuation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ΔP &lt; collapse resistance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Axial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RIH, self-weight, margin overpull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body &amp; connection capacity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Triaxial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 pressure + axial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casing strength envelope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Table 3">
            <a:extLst>
              <a:ext uri="{FF2B5EF4-FFF2-40B4-BE49-F238E27FC236}">
                <a16:creationId xmlns:a16="http://schemas.microsoft.com/office/drawing/2014/main" id="{628F7E19-F3C2-4150-514E-1C60CD005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391946"/>
              </p:ext>
            </p:extLst>
          </p:nvPr>
        </p:nvGraphicFramePr>
        <p:xfrm>
          <a:off x="6345936" y="3721608"/>
          <a:ext cx="5431536" cy="656844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Burst SF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Collapse SF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Axial SF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Triaxial SF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9-5/8 in., 36 ppf, K55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3.52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2.88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Meets criteria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in., 23 ppf, K55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2.18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Meets criteria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Required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Text 13">
            <a:extLst>
              <a:ext uri="{FF2B5EF4-FFF2-40B4-BE49-F238E27FC236}">
                <a16:creationId xmlns:a16="http://schemas.microsoft.com/office/drawing/2014/main" id="{3A8984FE-55B5-0F66-0E61-8DFB20186477}"/>
              </a:ext>
            </a:extLst>
          </p:cNvPr>
          <p:cNvSpPr/>
          <p:nvPr/>
        </p:nvSpPr>
        <p:spPr>
          <a:xfrm>
            <a:off x="411480" y="4892040"/>
            <a:ext cx="11365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8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Governing Case: </a:t>
            </a: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 in. production casing collapse SF (1.47) and triaxial SF (1.41) are the lowest margins in the design; both remain above the required 1.10 and 1.25 respectively. Production casing load cases additionally include the completed-well tubing-leak scenario, which the surface casing does not carry.</a:t>
            </a:r>
            <a:endParaRPr lang="en-US" sz="88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73D5B-2F13-672F-DE56-BAEAE72D24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25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2466A73D-1F16-B9CE-B2FA-E7CF7A1CA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>
            <a:extLst>
              <a:ext uri="{FF2B5EF4-FFF2-40B4-BE49-F238E27FC236}">
                <a16:creationId xmlns:a16="http://schemas.microsoft.com/office/drawing/2014/main" id="{08710869-D6B2-6430-7377-9E9EE59D47AC}"/>
              </a:ext>
            </a:extLst>
          </p:cNvPr>
          <p:cNvSpPr/>
          <p:nvPr/>
        </p:nvSpPr>
        <p:spPr>
          <a:xfrm>
            <a:off x="-9427" y="-9428"/>
            <a:ext cx="9436231" cy="955039"/>
          </a:xfrm>
          <a:prstGeom prst="homePlate">
            <a:avLst>
              <a:gd name="adj" fmla="val 22181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FFFFFF"/>
                </a:solidFill>
              </a:rPr>
              <a:t>SUPPORTING SLIDES</a:t>
            </a:r>
            <a:endParaRPr lang="en-US" sz="3600" dirty="0">
              <a:solidFill>
                <a:prstClr val="black"/>
              </a:solidFill>
            </a:endParaRPr>
          </a:p>
        </p:txBody>
      </p:sp>
      <p:pic>
        <p:nvPicPr>
          <p:cNvPr id="298" name="Google Shape;298;p11">
            <a:extLst>
              <a:ext uri="{FF2B5EF4-FFF2-40B4-BE49-F238E27FC236}">
                <a16:creationId xmlns:a16="http://schemas.microsoft.com/office/drawing/2014/main" id="{886639BB-B448-F79C-5D09-849EDE5FD8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2006" y="0"/>
            <a:ext cx="1046375" cy="104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Blue text and blue letters on a black background&#10;&#10;Description automatically generated">
            <a:extLst>
              <a:ext uri="{FF2B5EF4-FFF2-40B4-BE49-F238E27FC236}">
                <a16:creationId xmlns:a16="http://schemas.microsoft.com/office/drawing/2014/main" id="{95EF9041-7BD7-54ED-B34B-664360F369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354" b="20955"/>
          <a:stretch/>
        </p:blipFill>
        <p:spPr>
          <a:xfrm>
            <a:off x="10618381" y="0"/>
            <a:ext cx="157361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5CD5FBFD-B592-F4AE-70EA-727D78C86930}"/>
              </a:ext>
            </a:extLst>
          </p:cNvPr>
          <p:cNvSpPr/>
          <p:nvPr/>
        </p:nvSpPr>
        <p:spPr>
          <a:xfrm>
            <a:off x="283464" y="1088136"/>
            <a:ext cx="5806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570A75E9-EB60-70A4-2740-F4A3A0B412F1}"/>
              </a:ext>
            </a:extLst>
          </p:cNvPr>
          <p:cNvSpPr/>
          <p:nvPr/>
        </p:nvSpPr>
        <p:spPr>
          <a:xfrm>
            <a:off x="283464" y="1088136"/>
            <a:ext cx="5806440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7C4890D-43E1-C172-B4AB-9C67CF0A301F}"/>
              </a:ext>
            </a:extLst>
          </p:cNvPr>
          <p:cNvSpPr/>
          <p:nvPr/>
        </p:nvSpPr>
        <p:spPr>
          <a:xfrm>
            <a:off x="338328" y="1088136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Cement Slurry Property Limits</a:t>
            </a:r>
            <a:endParaRPr lang="en-US" sz="115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6F7B9332-76D6-D297-168A-163480F9D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243340"/>
              </p:ext>
            </p:extLst>
          </p:nvPr>
        </p:nvGraphicFramePr>
        <p:xfrm>
          <a:off x="411480" y="1472184"/>
          <a:ext cx="5550408" cy="1604772"/>
        </p:xfrm>
        <a:graphic>
          <a:graphicData uri="http://schemas.openxmlformats.org/drawingml/2006/table">
            <a:tbl>
              <a:tblPr/>
              <a:tblGrid>
                <a:gridCol w="134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12-1/4" Lead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12-1/4" Tail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8-1/2" Lead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132E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8-1/2" Tail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C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Cement Type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≥12.5 ppg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15.8 ppg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≥12.5 ppg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15.8 ppg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Excess over theo.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Water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Thick. Time (70BC)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 hrs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 hrs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&lt;6 hrs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 hrs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Comp. Strength (UCA)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psi ≤17h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 psi ≤7h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psi ≤20h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 psi ≤8h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24-hr Crush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≥600 psi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≥1,750 psi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≥600 psi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≥2,000 psi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Fluid Loss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&lt;300 cc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&lt;100 cc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&lt;150 cc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&lt;100 cc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BHCT / BHST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 °F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 °F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 °F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 °F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9050" marB="1905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Shape 6">
            <a:extLst>
              <a:ext uri="{FF2B5EF4-FFF2-40B4-BE49-F238E27FC236}">
                <a16:creationId xmlns:a16="http://schemas.microsoft.com/office/drawing/2014/main" id="{26C1FA2B-B78C-1205-0117-765FAF1B4B95}"/>
              </a:ext>
            </a:extLst>
          </p:cNvPr>
          <p:cNvSpPr/>
          <p:nvPr/>
        </p:nvSpPr>
        <p:spPr>
          <a:xfrm>
            <a:off x="6217920" y="1088136"/>
            <a:ext cx="56875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A3C90AE9-ADD1-17B6-C482-437F12F96E95}"/>
              </a:ext>
            </a:extLst>
          </p:cNvPr>
          <p:cNvSpPr/>
          <p:nvPr/>
        </p:nvSpPr>
        <p:spPr>
          <a:xfrm>
            <a:off x="6217920" y="1088136"/>
            <a:ext cx="5687568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25669FA6-D838-16C9-31D2-5B3747302F33}"/>
              </a:ext>
            </a:extLst>
          </p:cNvPr>
          <p:cNvSpPr/>
          <p:nvPr/>
        </p:nvSpPr>
        <p:spPr>
          <a:xfrm>
            <a:off x="6272784" y="108813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Laboratory Performance &amp; Placement Parameters</a:t>
            </a:r>
            <a:endParaRPr lang="en-US" sz="115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24D51AAE-0269-AF40-B3AE-86A8BADD8C31}"/>
              </a:ext>
            </a:extLst>
          </p:cNvPr>
          <p:cNvSpPr/>
          <p:nvPr/>
        </p:nvSpPr>
        <p:spPr>
          <a:xfrm>
            <a:off x="6345936" y="1472184"/>
            <a:ext cx="543153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9-5/8 in. Application (12.5 ppg lead): 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free water; 70-BC thickening time ≈3 hr 34 min; ≈500 psi compressive strength reached at ≈16 hr 18 min under the applicable laboratory conditions.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in. Application: 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 ppg lead achieved ≈4 hr 25 min thickening time and the 15.8 ppg tail ≈4 hr 30 min, both with zero free water.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of these values: 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performance only — not final Alpha-07 acceptance values. Final slurry must be laboratory tested with Alpha-07 BHCT/BHST, actual mix water and expected job duration.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Sequence: 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hole ≥2 hole volumes → 40 bbl 11.0 ppg scavenger @ 4 bpm → 12.5 ppg lead → 15.8 ppg tail → release top plug → displace with 8.4 ppg brine, reducing rate at the end → bump plug at ≈500 psi above final circulating pressure.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 Track: </a:t>
            </a: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≈1.5% of total displacement volume retained to limit cement contamination below the float collar.</a:t>
            </a:r>
            <a:endParaRPr lang="en-US" sz="90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1213A2E3-F0B1-9BCD-9F4F-333E442ABC24}"/>
              </a:ext>
            </a:extLst>
          </p:cNvPr>
          <p:cNvSpPr/>
          <p:nvPr/>
        </p:nvSpPr>
        <p:spPr>
          <a:xfrm>
            <a:off x="283464" y="3566160"/>
            <a:ext cx="5806440" cy="2962656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3D3E8FAB-540F-EFA6-4726-6B3FA2B10531}"/>
              </a:ext>
            </a:extLst>
          </p:cNvPr>
          <p:cNvSpPr/>
          <p:nvPr/>
        </p:nvSpPr>
        <p:spPr>
          <a:xfrm>
            <a:off x="283464" y="3566160"/>
            <a:ext cx="5806440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D42A76D3-8428-9D00-B972-8C5C7250C315}"/>
              </a:ext>
            </a:extLst>
          </p:cNvPr>
          <p:cNvSpPr/>
          <p:nvPr/>
        </p:nvSpPr>
        <p:spPr>
          <a:xfrm>
            <a:off x="338328" y="3566160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Selection Rationale </a:t>
            </a:r>
            <a:endParaRPr lang="en-US" sz="115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28E99B8D-555E-A876-8DCB-C37798EE84F8}"/>
              </a:ext>
            </a:extLst>
          </p:cNvPr>
          <p:cNvSpPr/>
          <p:nvPr/>
        </p:nvSpPr>
        <p:spPr>
          <a:xfrm>
            <a:off x="411480" y="3950208"/>
            <a:ext cx="55504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9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– both casing strings: </a:t>
            </a: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buttress thread profile provides improved axial-load capacity compared with conventional round-thread connections, suiting casing running and subsequent drilling loads.</a:t>
            </a:r>
            <a:endParaRPr lang="en-US" sz="89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9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 – 3-1/2 in. production tubing: </a:t>
            </a: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external upset gives a larger connection cross-section than the tubing body, providing tensile capacity and reliable make-up for the ESP string, tubing hanger, check valve and bleeder valve.</a:t>
            </a:r>
            <a:endParaRPr lang="en-US" sz="89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9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premium connection required: </a:t>
            </a: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maximum inclination (≈30.41°, J-type) and the absence of significant gas exposure do not trigger a gas-tight premium requirement under the current design basis.</a:t>
            </a:r>
            <a:endParaRPr lang="en-US" sz="890" dirty="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B003CDEF-4ED2-931D-C759-7259DC9CEB42}"/>
              </a:ext>
            </a:extLst>
          </p:cNvPr>
          <p:cNvSpPr/>
          <p:nvPr/>
        </p:nvSpPr>
        <p:spPr>
          <a:xfrm>
            <a:off x="6217920" y="3566160"/>
            <a:ext cx="5687568" cy="2726181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6F4813D1-7AA5-ACA7-E2AE-964F4244B132}"/>
              </a:ext>
            </a:extLst>
          </p:cNvPr>
          <p:cNvSpPr/>
          <p:nvPr/>
        </p:nvSpPr>
        <p:spPr>
          <a:xfrm>
            <a:off x="6217920" y="3566160"/>
            <a:ext cx="5687568" cy="292608"/>
          </a:xfrm>
          <a:prstGeom prst="roundRect">
            <a:avLst>
              <a:gd name="adj" fmla="val 25000"/>
            </a:avLst>
          </a:prstGeom>
          <a:solidFill>
            <a:srgbClr val="A3C5E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FB107AAD-8528-91D6-6168-B108C1093858}"/>
              </a:ext>
            </a:extLst>
          </p:cNvPr>
          <p:cNvSpPr/>
          <p:nvPr/>
        </p:nvSpPr>
        <p:spPr>
          <a:xfrm>
            <a:off x="6272784" y="35661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Reassessment Triggers &amp; Abandonment Interface</a:t>
            </a:r>
            <a:endParaRPr lang="en-US" sz="115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0373339C-C48C-E37B-9487-458D8531FE30}"/>
              </a:ext>
            </a:extLst>
          </p:cNvPr>
          <p:cNvSpPr/>
          <p:nvPr/>
        </p:nvSpPr>
        <p:spPr>
          <a:xfrm>
            <a:off x="6345936" y="3950208"/>
            <a:ext cx="5431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9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connection selection if: </a:t>
            </a: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pressure/temperature conditions arise; significant gas exposure requires enhanced gas-tight sealing; severe combined axial and pressure loading develops; or trajectory severity / wellbore tortuosity increases.</a:t>
            </a:r>
            <a:endParaRPr lang="en-US" sz="89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9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change from BTC or EUE </a:t>
            </a: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supported by mechanical load verification and compatibility assessment with the associated casing, tubing, wellhead and completion equipment.</a:t>
            </a:r>
            <a:endParaRPr lang="en-US" sz="89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90" b="1" dirty="0">
                <a:solidFill>
                  <a:srgbClr val="132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 Interface: </a:t>
            </a: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cement sheath forms part of the future well barrier system; permanent abandonment requires ≥100 ft of cement above and below the perforated interval, verified by 15,000-lbf tag or 1,000-psi test for 15 minutes.</a:t>
            </a:r>
            <a:endParaRPr lang="en-US" sz="89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5A394-F45C-1C66-010A-53A690C7E5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</a:t>
            </a:r>
            <a:fld id="{00000000-1234-1234-1234-123412341234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01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7525</Words>
  <Application>Microsoft Office PowerPoint</Application>
  <PresentationFormat>Widescreen</PresentationFormat>
  <Paragraphs>1287</Paragraphs>
  <Slides>38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Cambria</vt:lpstr>
      <vt:lpstr>Quattrocento Sans</vt:lpstr>
      <vt:lpstr>Play</vt:lpstr>
      <vt:lpstr>Arial</vt:lpstr>
      <vt:lpstr>Calibri</vt:lpstr>
      <vt:lpstr>Office Theme</vt:lpstr>
      <vt:lpstr>JDS 2026 DRILLING CAMPAIGN SW (Single Well) DPM (Drilling Project Management) BOD: ALPHA-07</vt:lpstr>
      <vt:lpstr>PowerPoint Presentation</vt:lpstr>
      <vt:lpstr>PowerPoint Presentation</vt:lpstr>
      <vt:lpstr>WELL OVERVIEW &amp; PROJECT BASIS</vt:lpstr>
      <vt:lpstr>PowerPoint Presentation</vt:lpstr>
      <vt:lpstr>PowerPoint Presentation</vt:lpstr>
      <vt:lpstr>SUBSURFACE &amp; GEOMECHANICS BASIS</vt:lpstr>
      <vt:lpstr>PowerPoint Presentation</vt:lpstr>
      <vt:lpstr>WELL TRAJECTORY, DIRECTIONAL DRILLING &amp; BHA</vt:lpstr>
      <vt:lpstr>PowerPoint Presentation</vt:lpstr>
      <vt:lpstr>PowerPoint Presentation</vt:lpstr>
      <vt:lpstr>CASING, TUBING &amp; CEMENTING DESIGN</vt:lpstr>
      <vt:lpstr>PowerPoint Presentation</vt:lpstr>
      <vt:lpstr>PowerPoint Presentation</vt:lpstr>
      <vt:lpstr>PowerPoint Presentation</vt:lpstr>
      <vt:lpstr>DRILLING FLUIDS &amp; HYDRAULICS</vt:lpstr>
      <vt:lpstr>PowerPoint Presentation</vt:lpstr>
      <vt:lpstr>PowerPoint Presentation</vt:lpstr>
      <vt:lpstr>PowerPoint Presentation</vt:lpstr>
      <vt:lpstr>PowerPoint Presentation</vt:lpstr>
      <vt:lpstr>WELL CONTROL, PRESSURE CONTROL &amp; RIG CAPABILITY</vt:lpstr>
      <vt:lpstr>PowerPoint Presentation</vt:lpstr>
      <vt:lpstr>PowerPoint Presentation</vt:lpstr>
      <vt:lpstr>COMPLETION, PRODUCTION &amp; WELL ABANDONMENT</vt:lpstr>
      <vt:lpstr>PowerPoint Presentation</vt:lpstr>
      <vt:lpstr>PowerPoint Presentation</vt:lpstr>
      <vt:lpstr>WELLSITE &amp; EXECUTION STRATEGY</vt:lpstr>
      <vt:lpstr>PowerPoint Presentation</vt:lpstr>
      <vt:lpstr>PowerPoint Presentation</vt:lpstr>
      <vt:lpstr>PowerPoint Presentation</vt:lpstr>
      <vt:lpstr>RISK, SCHEDULE, COST &amp; PROJECT ASSURANCE</vt:lpstr>
      <vt:lpstr>PowerPoint Presentation</vt:lpstr>
      <vt:lpstr>PowerPoint Presentation</vt:lpstr>
      <vt:lpstr>JDS 2026 DRILLING CAMPAIGN SW (Single Well) DPM (Drilling Project Management) BOD: ALPHA-07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JDS 2026 DRILLING CAMPAIGN SW (Single Well) DPM (Drilling Project Management) BOD: ALPHA-07</dc:title>
  <dc:creator>Asri Permatasari Sirait</dc:creator>
  <cp:lastModifiedBy>MUHAMMAD HAMMAM REZA</cp:lastModifiedBy>
  <cp:revision>19</cp:revision>
  <dcterms:created xsi:type="dcterms:W3CDTF">2026-06-20T15:29:26Z</dcterms:created>
  <dcterms:modified xsi:type="dcterms:W3CDTF">2026-08-29T03:34:26Z</dcterms:modified>
</cp:coreProperties>
</file>