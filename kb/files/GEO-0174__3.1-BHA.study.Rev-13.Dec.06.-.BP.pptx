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28" r:id="rId2"/>
    <p:sldId id="340" r:id="rId3"/>
    <p:sldId id="341" r:id="rId4"/>
    <p:sldId id="385" r:id="rId5"/>
    <p:sldId id="342" r:id="rId6"/>
    <p:sldId id="377" r:id="rId7"/>
    <p:sldId id="346" r:id="rId8"/>
    <p:sldId id="352" r:id="rId9"/>
    <p:sldId id="337" r:id="rId10"/>
    <p:sldId id="355" r:id="rId11"/>
    <p:sldId id="350" r:id="rId12"/>
    <p:sldId id="284" r:id="rId13"/>
    <p:sldId id="285" r:id="rId14"/>
    <p:sldId id="300" r:id="rId15"/>
    <p:sldId id="356" r:id="rId16"/>
    <p:sldId id="376" r:id="rId17"/>
    <p:sldId id="380" r:id="rId18"/>
    <p:sldId id="303" r:id="rId19"/>
    <p:sldId id="374" r:id="rId20"/>
    <p:sldId id="347" r:id="rId21"/>
    <p:sldId id="359" r:id="rId22"/>
    <p:sldId id="306" r:id="rId23"/>
    <p:sldId id="305" r:id="rId24"/>
    <p:sldId id="304" r:id="rId25"/>
    <p:sldId id="313" r:id="rId26"/>
    <p:sldId id="373" r:id="rId27"/>
    <p:sldId id="307" r:id="rId28"/>
    <p:sldId id="308" r:id="rId29"/>
    <p:sldId id="287" r:id="rId30"/>
    <p:sldId id="338" r:id="rId31"/>
    <p:sldId id="310" r:id="rId32"/>
    <p:sldId id="387" r:id="rId33"/>
    <p:sldId id="318" r:id="rId34"/>
    <p:sldId id="348" r:id="rId35"/>
    <p:sldId id="290" r:id="rId36"/>
    <p:sldId id="372" r:id="rId37"/>
    <p:sldId id="329" r:id="rId38"/>
    <p:sldId id="330" r:id="rId39"/>
    <p:sldId id="332" r:id="rId40"/>
    <p:sldId id="333" r:id="rId41"/>
    <p:sldId id="334" r:id="rId42"/>
    <p:sldId id="349" r:id="rId43"/>
    <p:sldId id="375" r:id="rId44"/>
    <p:sldId id="386" r:id="rId45"/>
    <p:sldId id="381" r:id="rId46"/>
    <p:sldId id="382" r:id="rId47"/>
    <p:sldId id="383" r:id="rId48"/>
    <p:sldId id="384" r:id="rId49"/>
    <p:sldId id="298" r:id="rId50"/>
    <p:sldId id="378" r:id="rId51"/>
    <p:sldId id="379" r:id="rId52"/>
  </p:sldIdLst>
  <p:sldSz cx="9144000" cy="6858000" type="screen4x3"/>
  <p:notesSz cx="6797675" cy="98742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99FF99"/>
    <a:srgbClr val="993300"/>
    <a:srgbClr val="FFFF99"/>
    <a:srgbClr val="92E294"/>
    <a:srgbClr val="FF0000"/>
    <a:srgbClr val="33CC3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99" autoAdjust="0"/>
    <p:restoredTop sz="90391" autoAdjust="0"/>
  </p:normalViewPr>
  <p:slideViewPr>
    <p:cSldViewPr snapToGrid="0">
      <p:cViewPr varScale="1">
        <p:scale>
          <a:sx n="63" d="100"/>
          <a:sy n="63" d="100"/>
        </p:scale>
        <p:origin x="147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0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0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9A05AC5-0AB6-44E0-B57A-FFB6720629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931863" y="741363"/>
            <a:ext cx="4933950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2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92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2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EBA68BA-8DE8-4E77-A6C4-1269F1FF8A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B2CA144-83F5-434F-8F47-9770BC1A356D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194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g-RMS:</a:t>
            </a:r>
          </a:p>
          <a:p>
            <a:pPr eaLnBrk="1" hangingPunct="1">
              <a:buFontTx/>
              <a:buChar char="•"/>
            </a:pP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g is the natural Earth Gravity Acceleration (=9.91 m/s2 or 32.17 ft/s2). VSS and CoPilot tool express the acceleration level in g-RMS. The RMS value gives an indication of both the mean and dsipersion of a sample of values and is a much more indicative way of classifying the amount of detrimental energy occurring during a certain period of vibration.</a:t>
            </a:r>
          </a:p>
          <a:p>
            <a:pPr eaLnBrk="1" hangingPunct="1">
              <a:buFontTx/>
              <a:buChar char="•"/>
            </a:pP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s1 = (max_RPM – min_RPM) / (2 x Avg_RPM) , over a 7.5 sec time interval</a:t>
            </a:r>
          </a:p>
          <a:p>
            <a:pPr eaLnBrk="1" hangingPunct="1">
              <a:buFontTx/>
              <a:buChar char="•"/>
            </a:pP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s2 is the percentage of time in which the downhole tool rotates backward as a result of the stick-slip movement of the string.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70802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70441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1830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03098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88146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1822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0950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2324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d-ID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465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32785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40676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id-ID" noProof="0" smtClean="0"/>
          </a:p>
        </p:txBody>
      </p:sp>
    </p:spTree>
    <p:extLst>
      <p:ext uri="{BB962C8B-B14F-4D97-AF65-F5344CB8AC3E}">
        <p14:creationId xmlns:p14="http://schemas.microsoft.com/office/powerpoint/2010/main" val="2059124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851036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id-ID" noProof="0" smtClean="0"/>
          </a:p>
        </p:txBody>
      </p:sp>
    </p:spTree>
    <p:extLst>
      <p:ext uri="{BB962C8B-B14F-4D97-AF65-F5344CB8AC3E}">
        <p14:creationId xmlns:p14="http://schemas.microsoft.com/office/powerpoint/2010/main" val="635778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19"/>
          <p:cNvSpPr txBox="1">
            <a:spLocks noChangeArrowheads="1"/>
          </p:cNvSpPr>
          <p:nvPr userDrawn="1"/>
        </p:nvSpPr>
        <p:spPr bwMode="auto">
          <a:xfrm>
            <a:off x="2416175" y="254000"/>
            <a:ext cx="445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sz="2400" b="1" smtClean="0"/>
              <a:t>Bottom Hole Assembly Study</a:t>
            </a:r>
          </a:p>
        </p:txBody>
      </p:sp>
      <p:sp>
        <p:nvSpPr>
          <p:cNvPr id="1027" name="Line 28"/>
          <p:cNvSpPr>
            <a:spLocks noChangeShapeType="1"/>
          </p:cNvSpPr>
          <p:nvPr userDrawn="1"/>
        </p:nvSpPr>
        <p:spPr bwMode="auto">
          <a:xfrm>
            <a:off x="393700" y="755650"/>
            <a:ext cx="8458200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BHI.wmv" TargetMode="External"/><Relationship Id="rId2" Type="http://schemas.openxmlformats.org/officeDocument/2006/relationships/hyperlink" Target="Basic%20DS%20Vibration-1.pp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SLB.wmv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8.wmf"/><Relationship Id="rId5" Type="http://schemas.openxmlformats.org/officeDocument/2006/relationships/image" Target="../media/image27.png"/><Relationship Id="rId4" Type="http://schemas.openxmlformats.org/officeDocument/2006/relationships/image" Target="../media/image26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7" Type="http://schemas.openxmlformats.org/officeDocument/2006/relationships/image" Target="../media/image41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0.emf"/><Relationship Id="rId4" Type="http://schemas.openxmlformats.org/officeDocument/2006/relationships/oleObject" Target="../embeddings/oleObject2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2.emf"/><Relationship Id="rId4" Type="http://schemas.openxmlformats.org/officeDocument/2006/relationships/oleObject" Target="../embeddings/oleObject4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iDrill.wmv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4"/>
          <p:cNvGrpSpPr>
            <a:grpSpLocks/>
          </p:cNvGrpSpPr>
          <p:nvPr/>
        </p:nvGrpSpPr>
        <p:grpSpPr bwMode="auto">
          <a:xfrm>
            <a:off x="727075" y="4106863"/>
            <a:ext cx="7543800" cy="2035175"/>
            <a:chOff x="458" y="2428"/>
            <a:chExt cx="4752" cy="1282"/>
          </a:xfrm>
        </p:grpSpPr>
        <p:pic>
          <p:nvPicPr>
            <p:cNvPr id="4102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413" y="913"/>
              <a:ext cx="842" cy="47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103" name="Line 6"/>
            <p:cNvSpPr>
              <a:spLocks noChangeShapeType="1"/>
            </p:cNvSpPr>
            <p:nvPr/>
          </p:nvSpPr>
          <p:spPr bwMode="auto">
            <a:xfrm flipV="1">
              <a:off x="549" y="2595"/>
              <a:ext cx="0" cy="3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" name="Line 7"/>
            <p:cNvSpPr>
              <a:spLocks noChangeShapeType="1"/>
            </p:cNvSpPr>
            <p:nvPr/>
          </p:nvSpPr>
          <p:spPr bwMode="auto">
            <a:xfrm flipV="1">
              <a:off x="934" y="2677"/>
              <a:ext cx="0" cy="2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5" name="Line 8"/>
            <p:cNvSpPr>
              <a:spLocks noChangeShapeType="1"/>
            </p:cNvSpPr>
            <p:nvPr/>
          </p:nvSpPr>
          <p:spPr bwMode="auto">
            <a:xfrm flipV="1">
              <a:off x="1340" y="2674"/>
              <a:ext cx="0" cy="2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" name="Line 9"/>
            <p:cNvSpPr>
              <a:spLocks noChangeShapeType="1"/>
            </p:cNvSpPr>
            <p:nvPr/>
          </p:nvSpPr>
          <p:spPr bwMode="auto">
            <a:xfrm flipV="1">
              <a:off x="2086" y="2675"/>
              <a:ext cx="0" cy="2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" name="Line 10"/>
            <p:cNvSpPr>
              <a:spLocks noChangeShapeType="1"/>
            </p:cNvSpPr>
            <p:nvPr/>
          </p:nvSpPr>
          <p:spPr bwMode="auto">
            <a:xfrm flipV="1">
              <a:off x="3409" y="2683"/>
              <a:ext cx="0" cy="2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" name="Line 11"/>
            <p:cNvSpPr>
              <a:spLocks noChangeShapeType="1"/>
            </p:cNvSpPr>
            <p:nvPr/>
          </p:nvSpPr>
          <p:spPr bwMode="auto">
            <a:xfrm flipV="1">
              <a:off x="3900" y="2600"/>
              <a:ext cx="0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" name="Line 12"/>
            <p:cNvSpPr>
              <a:spLocks noChangeShapeType="1"/>
            </p:cNvSpPr>
            <p:nvPr/>
          </p:nvSpPr>
          <p:spPr bwMode="auto">
            <a:xfrm>
              <a:off x="546" y="2649"/>
              <a:ext cx="33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" name="Line 13"/>
            <p:cNvSpPr>
              <a:spLocks noChangeShapeType="1"/>
            </p:cNvSpPr>
            <p:nvPr/>
          </p:nvSpPr>
          <p:spPr bwMode="auto">
            <a:xfrm>
              <a:off x="549" y="2730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1" name="Line 14"/>
            <p:cNvSpPr>
              <a:spLocks noChangeShapeType="1"/>
            </p:cNvSpPr>
            <p:nvPr/>
          </p:nvSpPr>
          <p:spPr bwMode="auto">
            <a:xfrm>
              <a:off x="936" y="2730"/>
              <a:ext cx="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2" name="Line 15"/>
            <p:cNvSpPr>
              <a:spLocks noChangeShapeType="1"/>
            </p:cNvSpPr>
            <p:nvPr/>
          </p:nvSpPr>
          <p:spPr bwMode="auto">
            <a:xfrm>
              <a:off x="1344" y="2730"/>
              <a:ext cx="7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3" name="Line 16"/>
            <p:cNvSpPr>
              <a:spLocks noChangeShapeType="1"/>
            </p:cNvSpPr>
            <p:nvPr/>
          </p:nvSpPr>
          <p:spPr bwMode="auto">
            <a:xfrm>
              <a:off x="2088" y="2730"/>
              <a:ext cx="13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4" name="Line 17"/>
            <p:cNvSpPr>
              <a:spLocks noChangeShapeType="1"/>
            </p:cNvSpPr>
            <p:nvPr/>
          </p:nvSpPr>
          <p:spPr bwMode="auto">
            <a:xfrm flipV="1">
              <a:off x="3411" y="2730"/>
              <a:ext cx="4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5" name="AutoShape 18"/>
            <p:cNvSpPr>
              <a:spLocks noChangeArrowheads="1"/>
            </p:cNvSpPr>
            <p:nvPr/>
          </p:nvSpPr>
          <p:spPr bwMode="auto">
            <a:xfrm>
              <a:off x="649" y="2753"/>
              <a:ext cx="190" cy="190"/>
            </a:xfrm>
            <a:prstGeom prst="octagon">
              <a:avLst>
                <a:gd name="adj" fmla="val 29287"/>
              </a:avLst>
            </a:pr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800" b="1">
                  <a:solidFill>
                    <a:srgbClr val="FFFF00"/>
                  </a:solidFill>
                </a:rPr>
                <a:t>A</a:t>
              </a:r>
            </a:p>
          </p:txBody>
        </p:sp>
        <p:sp>
          <p:nvSpPr>
            <p:cNvPr id="4116" name="AutoShape 19"/>
            <p:cNvSpPr>
              <a:spLocks noChangeArrowheads="1"/>
            </p:cNvSpPr>
            <p:nvPr/>
          </p:nvSpPr>
          <p:spPr bwMode="auto">
            <a:xfrm>
              <a:off x="1028" y="2757"/>
              <a:ext cx="190" cy="190"/>
            </a:xfrm>
            <a:prstGeom prst="octagon">
              <a:avLst>
                <a:gd name="adj" fmla="val 29287"/>
              </a:avLst>
            </a:pr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800" b="1">
                  <a:solidFill>
                    <a:srgbClr val="FFFF00"/>
                  </a:solidFill>
                </a:rPr>
                <a:t>B</a:t>
              </a:r>
            </a:p>
          </p:txBody>
        </p:sp>
        <p:sp>
          <p:nvSpPr>
            <p:cNvPr id="4117" name="AutoShape 20"/>
            <p:cNvSpPr>
              <a:spLocks noChangeArrowheads="1"/>
            </p:cNvSpPr>
            <p:nvPr/>
          </p:nvSpPr>
          <p:spPr bwMode="auto">
            <a:xfrm>
              <a:off x="1632" y="2748"/>
              <a:ext cx="190" cy="190"/>
            </a:xfrm>
            <a:prstGeom prst="octagon">
              <a:avLst>
                <a:gd name="adj" fmla="val 29287"/>
              </a:avLst>
            </a:pr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800" b="1">
                  <a:solidFill>
                    <a:srgbClr val="FFFF00"/>
                  </a:solidFill>
                </a:rPr>
                <a:t>C</a:t>
              </a:r>
            </a:p>
          </p:txBody>
        </p:sp>
        <p:sp>
          <p:nvSpPr>
            <p:cNvPr id="4118" name="AutoShape 21"/>
            <p:cNvSpPr>
              <a:spLocks noChangeArrowheads="1"/>
            </p:cNvSpPr>
            <p:nvPr/>
          </p:nvSpPr>
          <p:spPr bwMode="auto">
            <a:xfrm>
              <a:off x="1989" y="2428"/>
              <a:ext cx="190" cy="190"/>
            </a:xfrm>
            <a:prstGeom prst="octagon">
              <a:avLst>
                <a:gd name="adj" fmla="val 29287"/>
              </a:avLst>
            </a:pr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800" b="1">
                  <a:solidFill>
                    <a:srgbClr val="FFFF00"/>
                  </a:solidFill>
                </a:rPr>
                <a:t>D</a:t>
              </a:r>
            </a:p>
          </p:txBody>
        </p:sp>
      </p:grpSp>
      <p:sp>
        <p:nvSpPr>
          <p:cNvPr id="4099" name="Rectangle 22"/>
          <p:cNvSpPr>
            <a:spLocks noChangeArrowheads="1"/>
          </p:cNvSpPr>
          <p:nvPr/>
        </p:nvSpPr>
        <p:spPr bwMode="auto">
          <a:xfrm>
            <a:off x="0" y="3730625"/>
            <a:ext cx="9144000" cy="3127375"/>
          </a:xfrm>
          <a:prstGeom prst="rect">
            <a:avLst/>
          </a:prstGeom>
          <a:solidFill>
            <a:srgbClr val="CCFFCC">
              <a:alpha val="76862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4100" name="Text Box 23"/>
          <p:cNvSpPr txBox="1">
            <a:spLocks noChangeArrowheads="1"/>
          </p:cNvSpPr>
          <p:nvPr/>
        </p:nvSpPr>
        <p:spPr bwMode="auto">
          <a:xfrm>
            <a:off x="1400175" y="1406525"/>
            <a:ext cx="6429375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600" b="1">
                <a:solidFill>
                  <a:srgbClr val="990000"/>
                </a:solidFill>
                <a:latin typeface="Comic Sans MS" panose="030F0702030302020204" pitchFamily="66" charset="0"/>
              </a:rPr>
              <a:t>12-1/4” AND 8-1/2” BHA </a:t>
            </a:r>
            <a:endParaRPr lang="id-ID" altLang="en-US" sz="3600" b="1">
              <a:solidFill>
                <a:srgbClr val="990000"/>
              </a:solidFill>
              <a:latin typeface="Comic Sans MS" panose="030F0702030302020204" pitchFamily="66" charset="0"/>
            </a:endParaRPr>
          </a:p>
          <a:p>
            <a:pPr algn="ctr" eaLnBrk="1" hangingPunct="1"/>
            <a:r>
              <a:rPr lang="id-ID" altLang="en-US" sz="3600" b="1">
                <a:solidFill>
                  <a:srgbClr val="990000"/>
                </a:solidFill>
                <a:latin typeface="Comic Sans MS" panose="030F0702030302020204" pitchFamily="66" charset="0"/>
              </a:rPr>
              <a:t>CASE STUDY</a:t>
            </a:r>
            <a:endParaRPr lang="en-US" altLang="en-US" sz="3600" b="1">
              <a:solidFill>
                <a:srgbClr val="990000"/>
              </a:solidFill>
              <a:latin typeface="Comic Sans MS" panose="030F0702030302020204" pitchFamily="66" charset="0"/>
            </a:endParaRPr>
          </a:p>
          <a:p>
            <a:pPr algn="ctr" eaLnBrk="1" hangingPunct="1"/>
            <a:endParaRPr lang="en-US" altLang="en-US" sz="2400">
              <a:solidFill>
                <a:srgbClr val="990000"/>
              </a:solidFill>
              <a:latin typeface="Comic Sans MS" panose="030F0702030302020204" pitchFamily="66" charset="0"/>
            </a:endParaRPr>
          </a:p>
          <a:p>
            <a:pPr algn="ctr" eaLnBrk="1" hangingPunct="1"/>
            <a:endParaRPr lang="en-US" altLang="en-US" sz="3200">
              <a:solidFill>
                <a:srgbClr val="990000"/>
              </a:solidFill>
              <a:latin typeface="Comic Sans MS" panose="030F0702030302020204" pitchFamily="66" charset="0"/>
            </a:endParaRPr>
          </a:p>
          <a:p>
            <a:pPr algn="ctr" eaLnBrk="1" hangingPunct="1"/>
            <a:r>
              <a:rPr lang="en-US" altLang="en-US" sz="1600" b="1">
                <a:solidFill>
                  <a:srgbClr val="008000"/>
                </a:solidFill>
                <a:latin typeface="Comic Sans MS" panose="030F0702030302020204" pitchFamily="66" charset="0"/>
              </a:rPr>
              <a:t>Y</a:t>
            </a:r>
            <a:r>
              <a:rPr lang="id-ID" altLang="en-US" sz="1600" b="1">
                <a:solidFill>
                  <a:srgbClr val="008000"/>
                </a:solidFill>
                <a:latin typeface="Comic Sans MS" panose="030F0702030302020204" pitchFamily="66" charset="0"/>
              </a:rPr>
              <a:t>udi Hartono</a:t>
            </a:r>
            <a:r>
              <a:rPr lang="en-US" altLang="en-US" sz="1600" b="1">
                <a:solidFill>
                  <a:srgbClr val="008000"/>
                </a:solidFill>
                <a:latin typeface="Comic Sans MS" panose="030F0702030302020204" pitchFamily="66" charset="0"/>
              </a:rPr>
              <a:t> 14 December 2006</a:t>
            </a:r>
          </a:p>
        </p:txBody>
      </p:sp>
      <p:sp>
        <p:nvSpPr>
          <p:cNvPr id="4101" name="Oval 61"/>
          <p:cNvSpPr>
            <a:spLocks noChangeArrowheads="1"/>
          </p:cNvSpPr>
          <p:nvPr/>
        </p:nvSpPr>
        <p:spPr bwMode="auto">
          <a:xfrm>
            <a:off x="2644775" y="3443288"/>
            <a:ext cx="247650" cy="246062"/>
          </a:xfrm>
          <a:prstGeom prst="ellipse">
            <a:avLst/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solidFill>
                  <a:srgbClr val="FFFF00"/>
                </a:solidFill>
              </a:rPr>
              <a:t>@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1063" y="1225550"/>
            <a:ext cx="6980237" cy="4918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en-US" sz="2400" b="1" smtClean="0">
                <a:solidFill>
                  <a:srgbClr val="008000"/>
                </a:solidFill>
              </a:rPr>
              <a:t>Study Objectives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endParaRPr lang="en-US" altLang="en-US" sz="500" b="1" smtClean="0">
              <a:solidFill>
                <a:srgbClr val="008000"/>
              </a:solidFill>
            </a:endParaRPr>
          </a:p>
          <a:p>
            <a:pPr marL="566738" lvl="1" indent="-350838" eaLnBrk="1" hangingPunct="1">
              <a:lnSpc>
                <a:spcPct val="80000"/>
              </a:lnSpc>
              <a:buFont typeface="Wingdings 2" panose="05020102010507070707" pitchFamily="18" charset="2"/>
              <a:buChar char="u"/>
            </a:pPr>
            <a:r>
              <a:rPr lang="en-US" altLang="en-US" sz="2000" smtClean="0">
                <a:solidFill>
                  <a:srgbClr val="008000"/>
                </a:solidFill>
              </a:rPr>
              <a:t>Identify the factors that cause BHA failures in the past and how they interact with drill string vibration. </a:t>
            </a:r>
          </a:p>
          <a:p>
            <a:pPr marL="566738" lvl="1" indent="-350838" eaLnBrk="1" hangingPunct="1">
              <a:lnSpc>
                <a:spcPct val="80000"/>
              </a:lnSpc>
              <a:buFont typeface="Wingdings 2" panose="05020102010507070707" pitchFamily="18" charset="2"/>
              <a:buChar char="v"/>
            </a:pPr>
            <a:r>
              <a:rPr lang="en-US" altLang="en-US" sz="2000" smtClean="0">
                <a:solidFill>
                  <a:srgbClr val="008000"/>
                </a:solidFill>
              </a:rPr>
              <a:t>Understanding how the BHA’s components influence the magnitude of drill string vibration and the relationship between BHA failure and bit penetration rate. </a:t>
            </a:r>
          </a:p>
          <a:p>
            <a:pPr marL="566738" lvl="1" indent="-350838" eaLnBrk="1" hangingPunct="1">
              <a:lnSpc>
                <a:spcPct val="80000"/>
              </a:lnSpc>
              <a:buFont typeface="Wingdings 2" panose="05020102010507070707" pitchFamily="18" charset="2"/>
              <a:buChar char="w"/>
            </a:pPr>
            <a:r>
              <a:rPr lang="en-US" altLang="en-US" sz="2000" smtClean="0">
                <a:solidFill>
                  <a:srgbClr val="008000"/>
                </a:solidFill>
              </a:rPr>
              <a:t>Present con</a:t>
            </a:r>
            <a:r>
              <a:rPr lang="id-ID" altLang="en-US" sz="2000" smtClean="0">
                <a:solidFill>
                  <a:srgbClr val="008000"/>
                </a:solidFill>
              </a:rPr>
              <a:t>s</a:t>
            </a:r>
            <a:r>
              <a:rPr lang="en-US" altLang="en-US" sz="2000" smtClean="0">
                <a:solidFill>
                  <a:srgbClr val="008000"/>
                </a:solidFill>
              </a:rPr>
              <a:t>eptional design for optimized BHA during execution stage. </a:t>
            </a:r>
          </a:p>
          <a:p>
            <a:pPr marL="566738" lvl="1" indent="-350838" eaLnBrk="1" hangingPunct="1">
              <a:lnSpc>
                <a:spcPct val="80000"/>
              </a:lnSpc>
              <a:buFont typeface="Wingdings 2" panose="05020102010507070707" pitchFamily="18" charset="2"/>
              <a:buChar char="x"/>
            </a:pPr>
            <a:r>
              <a:rPr lang="en-US" altLang="en-US" sz="2000" smtClean="0">
                <a:solidFill>
                  <a:srgbClr val="008000"/>
                </a:solidFill>
              </a:rPr>
              <a:t>Discuss the application of downhole vibration tools and services in the management of drill string vibration.</a:t>
            </a:r>
          </a:p>
        </p:txBody>
      </p:sp>
      <p:pic>
        <p:nvPicPr>
          <p:cNvPr id="5123" name="Picture 3" descr="j029384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6688" y="0"/>
            <a:ext cx="1357312" cy="14351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20875" y="1211263"/>
            <a:ext cx="6126163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b="1" smtClean="0">
                <a:solidFill>
                  <a:srgbClr val="008000"/>
                </a:solidFill>
              </a:rPr>
              <a:t>Agenda</a:t>
            </a:r>
          </a:p>
          <a:p>
            <a:pPr lvl="1" eaLnBrk="1" hangingPunct="1"/>
            <a:r>
              <a:rPr lang="en-US" altLang="en-US" smtClean="0"/>
              <a:t>Introduction of Vibration</a:t>
            </a:r>
          </a:p>
          <a:p>
            <a:pPr lvl="1" eaLnBrk="1" hangingPunct="1"/>
            <a:r>
              <a:rPr lang="en-US" altLang="en-US" smtClean="0"/>
              <a:t>History of BHA failure study</a:t>
            </a:r>
          </a:p>
          <a:p>
            <a:pPr lvl="1" eaLnBrk="1" hangingPunct="1"/>
            <a:r>
              <a:rPr lang="en-US" altLang="en-US" smtClean="0"/>
              <a:t>Drilling Problems overview</a:t>
            </a:r>
          </a:p>
          <a:p>
            <a:pPr lvl="1" eaLnBrk="1" hangingPunct="1"/>
            <a:r>
              <a:rPr lang="en-US" altLang="en-US" smtClean="0"/>
              <a:t>Offset wells overview</a:t>
            </a:r>
          </a:p>
          <a:p>
            <a:pPr lvl="1" eaLnBrk="1" hangingPunct="1"/>
            <a:r>
              <a:rPr lang="en-US" altLang="en-US" smtClean="0"/>
              <a:t>Conclusion &amp; Recommendation</a:t>
            </a:r>
          </a:p>
          <a:p>
            <a:pPr lvl="1" eaLnBrk="1" hangingPunct="1"/>
            <a:r>
              <a:rPr lang="en-US" altLang="en-US" smtClean="0"/>
              <a:t>BHA Design Review</a:t>
            </a:r>
          </a:p>
        </p:txBody>
      </p:sp>
      <p:pic>
        <p:nvPicPr>
          <p:cNvPr id="6147" name="Picture 6" descr="j023413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538" y="4208463"/>
            <a:ext cx="195262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>
            <p:ph type="title"/>
          </p:nvPr>
        </p:nvSpPr>
        <p:spPr bwMode="auto">
          <a:xfrm>
            <a:off x="441325" y="2852738"/>
            <a:ext cx="8229600" cy="777875"/>
          </a:xfrm>
          <a:solidFill>
            <a:srgbClr val="00800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altLang="en-US" sz="4000" b="1" smtClean="0">
                <a:solidFill>
                  <a:srgbClr val="FFFF00"/>
                </a:solidFill>
              </a:rPr>
              <a:t>Introduction to Vibration</a:t>
            </a:r>
            <a:endParaRPr lang="en-US" altLang="en-US" sz="4000" b="1" smtClean="0">
              <a:solidFill>
                <a:srgbClr val="FFFF00"/>
              </a:solidFill>
            </a:endParaRPr>
          </a:p>
        </p:txBody>
      </p:sp>
      <p:sp>
        <p:nvSpPr>
          <p:cNvPr id="7171" name="AutoShape 4"/>
          <p:cNvSpPr>
            <a:spLocks noChangeArrowheads="1"/>
          </p:cNvSpPr>
          <p:nvPr/>
        </p:nvSpPr>
        <p:spPr bwMode="auto">
          <a:xfrm>
            <a:off x="6334125" y="5927725"/>
            <a:ext cx="2809875" cy="930275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393 h 21600"/>
              <a:gd name="T14" fmla="*/ 19583 w 21600"/>
              <a:gd name="T15" fmla="*/ 1620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7572" y="0"/>
                </a:moveTo>
                <a:lnTo>
                  <a:pt x="17572" y="5393"/>
                </a:lnTo>
                <a:lnTo>
                  <a:pt x="3375" y="5393"/>
                </a:lnTo>
                <a:lnTo>
                  <a:pt x="3375" y="16207"/>
                </a:lnTo>
                <a:lnTo>
                  <a:pt x="17572" y="16207"/>
                </a:lnTo>
                <a:lnTo>
                  <a:pt x="17572" y="21600"/>
                </a:lnTo>
                <a:lnTo>
                  <a:pt x="21600" y="10800"/>
                </a:lnTo>
                <a:lnTo>
                  <a:pt x="17572" y="0"/>
                </a:lnTo>
                <a:close/>
              </a:path>
              <a:path w="21600" h="21600">
                <a:moveTo>
                  <a:pt x="1350" y="5393"/>
                </a:moveTo>
                <a:lnTo>
                  <a:pt x="1350" y="16207"/>
                </a:lnTo>
                <a:lnTo>
                  <a:pt x="2700" y="16207"/>
                </a:lnTo>
                <a:lnTo>
                  <a:pt x="2700" y="5393"/>
                </a:lnTo>
                <a:lnTo>
                  <a:pt x="1350" y="5393"/>
                </a:lnTo>
                <a:close/>
              </a:path>
              <a:path w="21600" h="21600">
                <a:moveTo>
                  <a:pt x="0" y="5393"/>
                </a:moveTo>
                <a:lnTo>
                  <a:pt x="0" y="16207"/>
                </a:lnTo>
                <a:lnTo>
                  <a:pt x="675" y="16207"/>
                </a:lnTo>
                <a:lnTo>
                  <a:pt x="675" y="5393"/>
                </a:lnTo>
                <a:lnTo>
                  <a:pt x="0" y="5393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2" name="Text Box 3">
            <a:hlinkClick r:id="rId2" action="ppaction://hlinkpres?slideindex=1&amp;slidetitle="/>
          </p:cNvPr>
          <p:cNvSpPr txBox="1">
            <a:spLocks noChangeArrowheads="1"/>
          </p:cNvSpPr>
          <p:nvPr/>
        </p:nvSpPr>
        <p:spPr bwMode="auto">
          <a:xfrm>
            <a:off x="6683375" y="6259513"/>
            <a:ext cx="2308225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300" b="1">
                <a:solidFill>
                  <a:srgbClr val="FFFF00"/>
                </a:solidFill>
              </a:rPr>
              <a:t>See Basic DS Vibration.ppt</a:t>
            </a:r>
          </a:p>
        </p:txBody>
      </p:sp>
      <p:sp>
        <p:nvSpPr>
          <p:cNvPr id="7173" name="AutoShape 5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266700" y="5927725"/>
            <a:ext cx="2809875" cy="930275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393 h 21600"/>
              <a:gd name="T14" fmla="*/ 19583 w 21600"/>
              <a:gd name="T15" fmla="*/ 1620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7572" y="0"/>
                </a:moveTo>
                <a:lnTo>
                  <a:pt x="17572" y="5393"/>
                </a:lnTo>
                <a:lnTo>
                  <a:pt x="3375" y="5393"/>
                </a:lnTo>
                <a:lnTo>
                  <a:pt x="3375" y="16207"/>
                </a:lnTo>
                <a:lnTo>
                  <a:pt x="17572" y="16207"/>
                </a:lnTo>
                <a:lnTo>
                  <a:pt x="17572" y="21600"/>
                </a:lnTo>
                <a:lnTo>
                  <a:pt x="21600" y="10800"/>
                </a:lnTo>
                <a:lnTo>
                  <a:pt x="17572" y="0"/>
                </a:lnTo>
                <a:close/>
              </a:path>
              <a:path w="21600" h="21600">
                <a:moveTo>
                  <a:pt x="1350" y="5393"/>
                </a:moveTo>
                <a:lnTo>
                  <a:pt x="1350" y="16207"/>
                </a:lnTo>
                <a:lnTo>
                  <a:pt x="2700" y="16207"/>
                </a:lnTo>
                <a:lnTo>
                  <a:pt x="2700" y="5393"/>
                </a:lnTo>
                <a:lnTo>
                  <a:pt x="1350" y="5393"/>
                </a:lnTo>
                <a:close/>
              </a:path>
              <a:path w="21600" h="21600">
                <a:moveTo>
                  <a:pt x="0" y="5393"/>
                </a:moveTo>
                <a:lnTo>
                  <a:pt x="0" y="16207"/>
                </a:lnTo>
                <a:lnTo>
                  <a:pt x="675" y="16207"/>
                </a:lnTo>
                <a:lnTo>
                  <a:pt x="675" y="5393"/>
                </a:lnTo>
                <a:lnTo>
                  <a:pt x="0" y="5393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4" name="AutoShape 6">
            <a:hlinkClick r:id="rId4" action="ppaction://hlinkfile"/>
          </p:cNvPr>
          <p:cNvSpPr>
            <a:spLocks noChangeArrowheads="1"/>
          </p:cNvSpPr>
          <p:nvPr/>
        </p:nvSpPr>
        <p:spPr bwMode="auto">
          <a:xfrm>
            <a:off x="3286125" y="5927725"/>
            <a:ext cx="2809875" cy="930275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393 h 21600"/>
              <a:gd name="T14" fmla="*/ 19583 w 21600"/>
              <a:gd name="T15" fmla="*/ 1620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7572" y="0"/>
                </a:moveTo>
                <a:lnTo>
                  <a:pt x="17572" y="5393"/>
                </a:lnTo>
                <a:lnTo>
                  <a:pt x="3375" y="5393"/>
                </a:lnTo>
                <a:lnTo>
                  <a:pt x="3375" y="16207"/>
                </a:lnTo>
                <a:lnTo>
                  <a:pt x="17572" y="16207"/>
                </a:lnTo>
                <a:lnTo>
                  <a:pt x="17572" y="21600"/>
                </a:lnTo>
                <a:lnTo>
                  <a:pt x="21600" y="10800"/>
                </a:lnTo>
                <a:lnTo>
                  <a:pt x="17572" y="0"/>
                </a:lnTo>
                <a:close/>
              </a:path>
              <a:path w="21600" h="21600">
                <a:moveTo>
                  <a:pt x="1350" y="5393"/>
                </a:moveTo>
                <a:lnTo>
                  <a:pt x="1350" y="16207"/>
                </a:lnTo>
                <a:lnTo>
                  <a:pt x="2700" y="16207"/>
                </a:lnTo>
                <a:lnTo>
                  <a:pt x="2700" y="5393"/>
                </a:lnTo>
                <a:lnTo>
                  <a:pt x="1350" y="5393"/>
                </a:lnTo>
                <a:close/>
              </a:path>
              <a:path w="21600" h="21600">
                <a:moveTo>
                  <a:pt x="0" y="5393"/>
                </a:moveTo>
                <a:lnTo>
                  <a:pt x="0" y="16207"/>
                </a:lnTo>
                <a:lnTo>
                  <a:pt x="675" y="16207"/>
                </a:lnTo>
                <a:lnTo>
                  <a:pt x="675" y="5393"/>
                </a:lnTo>
                <a:lnTo>
                  <a:pt x="0" y="5393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5" name="Text Box 7">
            <a:hlinkClick r:id="rId2"/>
          </p:cNvPr>
          <p:cNvSpPr txBox="1">
            <a:spLocks noChangeArrowheads="1"/>
          </p:cNvSpPr>
          <p:nvPr/>
        </p:nvSpPr>
        <p:spPr bwMode="auto">
          <a:xfrm>
            <a:off x="3654425" y="6240463"/>
            <a:ext cx="1811338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300" b="1">
                <a:solidFill>
                  <a:srgbClr val="FFFF00"/>
                </a:solidFill>
              </a:rPr>
              <a:t>Schlumberger Movie</a:t>
            </a:r>
          </a:p>
        </p:txBody>
      </p:sp>
      <p:sp>
        <p:nvSpPr>
          <p:cNvPr id="7176" name="Text Box 8">
            <a:hlinkClick r:id="rId2"/>
          </p:cNvPr>
          <p:cNvSpPr txBox="1">
            <a:spLocks noChangeArrowheads="1"/>
          </p:cNvSpPr>
          <p:nvPr/>
        </p:nvSpPr>
        <p:spPr bwMode="auto">
          <a:xfrm>
            <a:off x="854075" y="6259513"/>
            <a:ext cx="1323975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300" b="1">
                <a:solidFill>
                  <a:srgbClr val="FFFF00"/>
                </a:solidFill>
              </a:rPr>
              <a:t>BHI Animation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4"/>
          <p:cNvSpPr txBox="1">
            <a:spLocks noChangeArrowheads="1"/>
          </p:cNvSpPr>
          <p:nvPr/>
        </p:nvSpPr>
        <p:spPr bwMode="auto">
          <a:xfrm>
            <a:off x="342900" y="733425"/>
            <a:ext cx="4365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008000"/>
                </a:solidFill>
              </a:rPr>
              <a:t>History of BHA Failure Study</a:t>
            </a:r>
          </a:p>
        </p:txBody>
      </p:sp>
      <p:sp>
        <p:nvSpPr>
          <p:cNvPr id="8195" name="Text Box 28" descr="Water droplets"/>
          <p:cNvSpPr txBox="1">
            <a:spLocks noChangeArrowheads="1"/>
          </p:cNvSpPr>
          <p:nvPr/>
        </p:nvSpPr>
        <p:spPr bwMode="auto">
          <a:xfrm>
            <a:off x="225425" y="1484313"/>
            <a:ext cx="3511550" cy="33655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Drilling Dynamic Study</a:t>
            </a:r>
          </a:p>
        </p:txBody>
      </p:sp>
      <p:sp>
        <p:nvSpPr>
          <p:cNvPr id="8196" name="Text Box 29" descr="Water droplets"/>
          <p:cNvSpPr txBox="1">
            <a:spLocks noChangeArrowheads="1"/>
          </p:cNvSpPr>
          <p:nvPr/>
        </p:nvSpPr>
        <p:spPr bwMode="auto">
          <a:xfrm>
            <a:off x="227013" y="1858963"/>
            <a:ext cx="3535362" cy="413385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15888" indent="-115888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3812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sz="1400" b="1">
                <a:solidFill>
                  <a:schemeClr val="accent2"/>
                </a:solidFill>
              </a:rPr>
              <a:t>Review Downhole Detected Vibration</a:t>
            </a:r>
          </a:p>
          <a:p>
            <a:pPr eaLnBrk="1" hangingPunct="1">
              <a:buFontTx/>
              <a:buChar char="•"/>
            </a:pPr>
            <a:r>
              <a:rPr lang="en-US" altLang="en-US" sz="1400" b="1">
                <a:solidFill>
                  <a:schemeClr val="accent2"/>
                </a:solidFill>
              </a:rPr>
              <a:t>Review Surface Detected Vibration</a:t>
            </a:r>
          </a:p>
          <a:p>
            <a:pPr eaLnBrk="1" hangingPunct="1"/>
            <a:endParaRPr lang="en-US" altLang="en-US" sz="1400" b="1">
              <a:solidFill>
                <a:schemeClr val="accent2"/>
              </a:solidFill>
            </a:endParaRPr>
          </a:p>
          <a:p>
            <a:pPr eaLnBrk="1" hangingPunct="1">
              <a:buFontTx/>
              <a:buChar char="•"/>
            </a:pPr>
            <a:r>
              <a:rPr lang="en-US" altLang="en-US" sz="1400" b="1">
                <a:solidFill>
                  <a:schemeClr val="accent2"/>
                </a:solidFill>
              </a:rPr>
              <a:t>Drilling Dynamic Monitoring</a:t>
            </a:r>
          </a:p>
          <a:p>
            <a:pPr eaLnBrk="1" hangingPunct="1">
              <a:buFontTx/>
              <a:buChar char="•"/>
            </a:pPr>
            <a:r>
              <a:rPr lang="en-US" altLang="en-US" sz="1400" b="1">
                <a:solidFill>
                  <a:schemeClr val="accent2"/>
                </a:solidFill>
              </a:rPr>
              <a:t>Drilling Dynamic Rig Crew Training</a:t>
            </a:r>
          </a:p>
          <a:p>
            <a:pPr eaLnBrk="1" hangingPunct="1">
              <a:buFontTx/>
              <a:buChar char="•"/>
            </a:pPr>
            <a:r>
              <a:rPr lang="en-US" altLang="en-US" sz="1400" b="1">
                <a:solidFill>
                  <a:schemeClr val="accent2"/>
                </a:solidFill>
              </a:rPr>
              <a:t>Drillstring Integrity</a:t>
            </a:r>
          </a:p>
          <a:p>
            <a:pPr lvl="1" eaLnBrk="1" hangingPunct="1">
              <a:buFontTx/>
              <a:buChar char="•"/>
            </a:pPr>
            <a:r>
              <a:rPr lang="en-US" altLang="en-US" sz="1400" b="1">
                <a:solidFill>
                  <a:schemeClr val="accent2"/>
                </a:solidFill>
              </a:rPr>
              <a:t>Fatigue Discussion</a:t>
            </a:r>
          </a:p>
          <a:p>
            <a:pPr lvl="1" eaLnBrk="1" hangingPunct="1">
              <a:buFontTx/>
              <a:buChar char="•"/>
            </a:pPr>
            <a:r>
              <a:rPr lang="en-US" altLang="en-US" sz="1400" b="1">
                <a:solidFill>
                  <a:schemeClr val="accent2"/>
                </a:solidFill>
              </a:rPr>
              <a:t>Connection Selection</a:t>
            </a:r>
          </a:p>
          <a:p>
            <a:pPr lvl="1" eaLnBrk="1" hangingPunct="1">
              <a:buFontTx/>
              <a:buChar char="•"/>
            </a:pPr>
            <a:r>
              <a:rPr lang="en-US" altLang="en-US" sz="1400" b="1">
                <a:solidFill>
                  <a:schemeClr val="accent2"/>
                </a:solidFill>
              </a:rPr>
              <a:t>Identify weak BHA component</a:t>
            </a:r>
          </a:p>
          <a:p>
            <a:pPr lvl="1" eaLnBrk="1" hangingPunct="1">
              <a:buFontTx/>
              <a:buChar char="•"/>
            </a:pPr>
            <a:r>
              <a:rPr lang="en-US" altLang="en-US" sz="1400" b="1">
                <a:solidFill>
                  <a:schemeClr val="accent2"/>
                </a:solidFill>
              </a:rPr>
              <a:t>Traceability</a:t>
            </a:r>
          </a:p>
          <a:p>
            <a:pPr lvl="1" eaLnBrk="1" hangingPunct="1">
              <a:buFontTx/>
              <a:buChar char="•"/>
            </a:pPr>
            <a:r>
              <a:rPr lang="en-US" altLang="en-US" sz="1400" b="1">
                <a:solidFill>
                  <a:schemeClr val="accent2"/>
                </a:solidFill>
              </a:rPr>
              <a:t>HWDP utilization other than DC</a:t>
            </a:r>
          </a:p>
          <a:p>
            <a:pPr lvl="1" eaLnBrk="1" hangingPunct="1">
              <a:buFontTx/>
              <a:buChar char="•"/>
            </a:pPr>
            <a:r>
              <a:rPr lang="en-US" altLang="en-US" sz="1400" b="1">
                <a:solidFill>
                  <a:schemeClr val="accent2"/>
                </a:solidFill>
              </a:rPr>
              <a:t>Proper X/O</a:t>
            </a:r>
          </a:p>
          <a:p>
            <a:pPr lvl="1" eaLnBrk="1" hangingPunct="1">
              <a:buFontTx/>
              <a:buChar char="•"/>
            </a:pPr>
            <a:r>
              <a:rPr lang="en-US" altLang="en-US" sz="1400" b="1">
                <a:solidFill>
                  <a:schemeClr val="accent2"/>
                </a:solidFill>
              </a:rPr>
              <a:t>QA/QC</a:t>
            </a:r>
          </a:p>
          <a:p>
            <a:pPr lvl="1" eaLnBrk="1" hangingPunct="1">
              <a:buFontTx/>
              <a:buChar char="•"/>
            </a:pPr>
            <a:r>
              <a:rPr lang="en-US" altLang="en-US" sz="1400" b="1">
                <a:solidFill>
                  <a:schemeClr val="accent2"/>
                </a:solidFill>
              </a:rPr>
              <a:t>Proper MUT</a:t>
            </a:r>
          </a:p>
          <a:p>
            <a:pPr lvl="1" eaLnBrk="1" hangingPunct="1">
              <a:buFontTx/>
              <a:buChar char="•"/>
            </a:pPr>
            <a:r>
              <a:rPr lang="en-US" altLang="en-US" sz="1400" b="1">
                <a:solidFill>
                  <a:schemeClr val="accent2"/>
                </a:solidFill>
              </a:rPr>
              <a:t>Backreaming Consideration</a:t>
            </a:r>
          </a:p>
          <a:p>
            <a:pPr eaLnBrk="1" hangingPunct="1">
              <a:buFontTx/>
              <a:buChar char="•"/>
            </a:pPr>
            <a:r>
              <a:rPr lang="en-US" altLang="en-US" sz="1400" b="1">
                <a:solidFill>
                  <a:schemeClr val="accent2"/>
                </a:solidFill>
              </a:rPr>
              <a:t>Other Recommendation</a:t>
            </a:r>
          </a:p>
          <a:p>
            <a:pPr lvl="1" eaLnBrk="1" hangingPunct="1">
              <a:buFontTx/>
              <a:buChar char="•"/>
            </a:pPr>
            <a:r>
              <a:rPr lang="en-US" altLang="en-US" sz="1400" b="1">
                <a:solidFill>
                  <a:schemeClr val="accent2"/>
                </a:solidFill>
              </a:rPr>
              <a:t>Advance Washout Detection System</a:t>
            </a:r>
          </a:p>
          <a:p>
            <a:pPr lvl="1" eaLnBrk="1" hangingPunct="1">
              <a:buFontTx/>
              <a:buChar char="•"/>
            </a:pPr>
            <a:r>
              <a:rPr lang="en-US" altLang="en-US" sz="1400" b="1">
                <a:solidFill>
                  <a:schemeClr val="accent2"/>
                </a:solidFill>
              </a:rPr>
              <a:t>Advance Rig Equipment</a:t>
            </a:r>
          </a:p>
        </p:txBody>
      </p:sp>
      <p:sp>
        <p:nvSpPr>
          <p:cNvPr id="8197" name="Text Box 34" descr="Medium wood"/>
          <p:cNvSpPr txBox="1">
            <a:spLocks noChangeArrowheads="1"/>
          </p:cNvSpPr>
          <p:nvPr/>
        </p:nvSpPr>
        <p:spPr bwMode="auto">
          <a:xfrm>
            <a:off x="3802063" y="2478088"/>
            <a:ext cx="2641600" cy="33655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FFFF00"/>
                </a:solidFill>
              </a:rPr>
              <a:t>BHA Failure Study</a:t>
            </a:r>
          </a:p>
        </p:txBody>
      </p:sp>
      <p:sp>
        <p:nvSpPr>
          <p:cNvPr id="8198" name="Text Box 35" descr="Medium wood"/>
          <p:cNvSpPr txBox="1">
            <a:spLocks noChangeArrowheads="1"/>
          </p:cNvSpPr>
          <p:nvPr/>
        </p:nvSpPr>
        <p:spPr bwMode="auto">
          <a:xfrm>
            <a:off x="3803650" y="2882900"/>
            <a:ext cx="2622550" cy="28575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15888" indent="-115888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sz="1400" b="1">
                <a:solidFill>
                  <a:srgbClr val="FFFF00"/>
                </a:solidFill>
              </a:rPr>
              <a:t>Review BHA Type</a:t>
            </a:r>
          </a:p>
          <a:p>
            <a:pPr eaLnBrk="1" hangingPunct="1">
              <a:buFontTx/>
              <a:buChar char="•"/>
            </a:pPr>
            <a:r>
              <a:rPr lang="en-US" altLang="en-US" sz="1400" b="1">
                <a:solidFill>
                  <a:srgbClr val="FFFF00"/>
                </a:solidFill>
              </a:rPr>
              <a:t>Review Bit Performance</a:t>
            </a:r>
          </a:p>
          <a:p>
            <a:pPr eaLnBrk="1" hangingPunct="1">
              <a:buFontTx/>
              <a:buChar char="•"/>
            </a:pPr>
            <a:r>
              <a:rPr lang="en-US" altLang="en-US" sz="1400" b="1">
                <a:solidFill>
                  <a:srgbClr val="FFFF00"/>
                </a:solidFill>
              </a:rPr>
              <a:t>Review Downhole Detected Vibration</a:t>
            </a:r>
          </a:p>
          <a:p>
            <a:pPr eaLnBrk="1" hangingPunct="1">
              <a:buFontTx/>
              <a:buChar char="•"/>
            </a:pPr>
            <a:r>
              <a:rPr lang="en-US" altLang="en-US" sz="1400" b="1">
                <a:solidFill>
                  <a:srgbClr val="FFFF00"/>
                </a:solidFill>
              </a:rPr>
              <a:t>DS Vibration Simulation</a:t>
            </a:r>
          </a:p>
          <a:p>
            <a:pPr eaLnBrk="1" hangingPunct="1"/>
            <a:endParaRPr lang="en-US" altLang="en-US" sz="1400" b="1">
              <a:solidFill>
                <a:srgbClr val="FFFF00"/>
              </a:solidFill>
            </a:endParaRPr>
          </a:p>
          <a:p>
            <a:pPr eaLnBrk="1" hangingPunct="1">
              <a:buFontTx/>
              <a:buChar char="•"/>
            </a:pPr>
            <a:r>
              <a:rPr lang="en-US" altLang="en-US" sz="1400" b="1">
                <a:solidFill>
                  <a:srgbClr val="FFFF00"/>
                </a:solidFill>
              </a:rPr>
              <a:t>Proper BHA Type</a:t>
            </a:r>
          </a:p>
          <a:p>
            <a:pPr eaLnBrk="1" hangingPunct="1">
              <a:buFontTx/>
              <a:buChar char="•"/>
            </a:pPr>
            <a:r>
              <a:rPr lang="en-US" altLang="en-US" sz="1400" b="1">
                <a:solidFill>
                  <a:srgbClr val="FFFF00"/>
                </a:solidFill>
              </a:rPr>
              <a:t>BHA Stabilization Model</a:t>
            </a:r>
          </a:p>
          <a:p>
            <a:pPr eaLnBrk="1" hangingPunct="1">
              <a:buFontTx/>
              <a:buChar char="•"/>
            </a:pPr>
            <a:r>
              <a:rPr lang="en-US" altLang="en-US" sz="1400" b="1">
                <a:solidFill>
                  <a:srgbClr val="FFFF00"/>
                </a:solidFill>
              </a:rPr>
              <a:t>Proper Sizes of DC</a:t>
            </a:r>
          </a:p>
          <a:p>
            <a:pPr eaLnBrk="1" hangingPunct="1">
              <a:buFontTx/>
              <a:buChar char="•"/>
            </a:pPr>
            <a:r>
              <a:rPr lang="en-US" altLang="en-US" sz="1400" b="1">
                <a:solidFill>
                  <a:srgbClr val="FFFF00"/>
                </a:solidFill>
              </a:rPr>
              <a:t>Drilling Jars</a:t>
            </a:r>
          </a:p>
          <a:p>
            <a:pPr eaLnBrk="1" hangingPunct="1">
              <a:buFontTx/>
              <a:buChar char="•"/>
            </a:pPr>
            <a:r>
              <a:rPr lang="en-US" altLang="en-US" sz="1400" b="1">
                <a:solidFill>
                  <a:srgbClr val="FFFF00"/>
                </a:solidFill>
              </a:rPr>
              <a:t>HWDP Utilization</a:t>
            </a:r>
          </a:p>
          <a:p>
            <a:pPr eaLnBrk="1" hangingPunct="1">
              <a:buFontTx/>
              <a:buChar char="•"/>
            </a:pPr>
            <a:r>
              <a:rPr lang="en-US" altLang="en-US" sz="1400" b="1">
                <a:solidFill>
                  <a:srgbClr val="FFFF00"/>
                </a:solidFill>
              </a:rPr>
              <a:t>Shock Tool Utilization</a:t>
            </a:r>
          </a:p>
          <a:p>
            <a:pPr eaLnBrk="1" hangingPunct="1">
              <a:buFontTx/>
              <a:buChar char="•"/>
            </a:pPr>
            <a:r>
              <a:rPr lang="en-US" altLang="en-US" sz="1400" b="1">
                <a:solidFill>
                  <a:srgbClr val="FFFF00"/>
                </a:solidFill>
              </a:rPr>
              <a:t>BHA Configuration</a:t>
            </a:r>
          </a:p>
        </p:txBody>
      </p:sp>
      <p:sp>
        <p:nvSpPr>
          <p:cNvPr id="8199" name="Text Box 37" descr="Medium wood"/>
          <p:cNvSpPr txBox="1">
            <a:spLocks noChangeArrowheads="1"/>
          </p:cNvSpPr>
          <p:nvPr/>
        </p:nvSpPr>
        <p:spPr bwMode="auto">
          <a:xfrm>
            <a:off x="3808413" y="1497013"/>
            <a:ext cx="2624137" cy="33655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FFFF00"/>
                </a:solidFill>
              </a:rPr>
              <a:t>BHI Drilling Optimization</a:t>
            </a:r>
          </a:p>
        </p:txBody>
      </p:sp>
      <p:sp>
        <p:nvSpPr>
          <p:cNvPr id="8200" name="AutoShape 38" descr="Walnut"/>
          <p:cNvSpPr>
            <a:spLocks noChangeArrowheads="1"/>
          </p:cNvSpPr>
          <p:nvPr/>
        </p:nvSpPr>
        <p:spPr bwMode="auto">
          <a:xfrm>
            <a:off x="6486525" y="1144588"/>
            <a:ext cx="2205038" cy="4935537"/>
          </a:xfrm>
          <a:prstGeom prst="rightArrow">
            <a:avLst>
              <a:gd name="adj1" fmla="val 85694"/>
              <a:gd name="adj2" fmla="val 30509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115888" indent="-115888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sz="1400" b="1">
                <a:solidFill>
                  <a:srgbClr val="FFFF00"/>
                </a:solidFill>
              </a:rPr>
              <a:t>Detail BHA Design</a:t>
            </a:r>
          </a:p>
          <a:p>
            <a:pPr eaLnBrk="1" hangingPunct="1">
              <a:buFontTx/>
              <a:buChar char="•"/>
            </a:pPr>
            <a:r>
              <a:rPr lang="en-US" altLang="en-US" sz="1400" b="1">
                <a:solidFill>
                  <a:srgbClr val="FFFF00"/>
                </a:solidFill>
              </a:rPr>
              <a:t>Drilling Dynamics </a:t>
            </a:r>
          </a:p>
          <a:p>
            <a:pPr eaLnBrk="1" hangingPunct="1"/>
            <a:r>
              <a:rPr lang="en-US" altLang="en-US" sz="1400" b="1">
                <a:solidFill>
                  <a:srgbClr val="FFFF00"/>
                </a:solidFill>
              </a:rPr>
              <a:t>	Analysis</a:t>
            </a:r>
          </a:p>
          <a:p>
            <a:pPr eaLnBrk="1" hangingPunct="1">
              <a:buFontTx/>
              <a:buChar char="•"/>
            </a:pPr>
            <a:r>
              <a:rPr lang="en-US" altLang="en-US" sz="1400" b="1">
                <a:solidFill>
                  <a:srgbClr val="FFFF00"/>
                </a:solidFill>
              </a:rPr>
              <a:t>Drill String Vibration </a:t>
            </a:r>
          </a:p>
          <a:p>
            <a:pPr eaLnBrk="1" hangingPunct="1"/>
            <a:r>
              <a:rPr lang="en-US" altLang="en-US" sz="1400" b="1">
                <a:solidFill>
                  <a:srgbClr val="FFFF00"/>
                </a:solidFill>
              </a:rPr>
              <a:t>	Guidelines</a:t>
            </a:r>
          </a:p>
          <a:p>
            <a:pPr eaLnBrk="1" hangingPunct="1">
              <a:buFontTx/>
              <a:buChar char="•"/>
            </a:pPr>
            <a:r>
              <a:rPr lang="en-US" altLang="en-US" sz="1400" b="1">
                <a:solidFill>
                  <a:srgbClr val="FFFF00"/>
                </a:solidFill>
              </a:rPr>
              <a:t>Downhole Vibration </a:t>
            </a:r>
          </a:p>
          <a:p>
            <a:pPr eaLnBrk="1" hangingPunct="1"/>
            <a:r>
              <a:rPr lang="en-US" altLang="en-US" sz="1400" b="1">
                <a:solidFill>
                  <a:srgbClr val="FFFF00"/>
                </a:solidFill>
              </a:rPr>
              <a:t>	Tools</a:t>
            </a:r>
          </a:p>
          <a:p>
            <a:pPr eaLnBrk="1" hangingPunct="1">
              <a:buFontTx/>
              <a:buChar char="•"/>
            </a:pPr>
            <a:r>
              <a:rPr lang="en-US" altLang="en-US" sz="1400" b="1">
                <a:solidFill>
                  <a:srgbClr val="FFFF00"/>
                </a:solidFill>
              </a:rPr>
              <a:t>Confirm Contractor</a:t>
            </a:r>
          </a:p>
          <a:p>
            <a:pPr eaLnBrk="1" hangingPunct="1"/>
            <a:r>
              <a:rPr lang="en-US" altLang="en-US" sz="1400" b="1">
                <a:solidFill>
                  <a:srgbClr val="FFFF00"/>
                </a:solidFill>
              </a:rPr>
              <a:t>	Acceptance</a:t>
            </a:r>
          </a:p>
          <a:p>
            <a:pPr eaLnBrk="1" hangingPunct="1">
              <a:buFontTx/>
              <a:buChar char="•"/>
            </a:pPr>
            <a:r>
              <a:rPr lang="en-US" altLang="en-US" sz="1400" b="1">
                <a:solidFill>
                  <a:srgbClr val="FFFF00"/>
                </a:solidFill>
              </a:rPr>
              <a:t>Etc…</a:t>
            </a:r>
          </a:p>
          <a:p>
            <a:pPr eaLnBrk="1" hangingPunct="1">
              <a:buFontTx/>
              <a:buChar char="•"/>
            </a:pPr>
            <a:endParaRPr lang="en-US" altLang="en-US" sz="1400" b="1">
              <a:solidFill>
                <a:srgbClr val="FFFF00"/>
              </a:solidFill>
            </a:endParaRPr>
          </a:p>
          <a:p>
            <a:pPr eaLnBrk="1" hangingPunct="1">
              <a:buFontTx/>
              <a:buChar char="•"/>
            </a:pPr>
            <a:endParaRPr lang="en-US" altLang="en-US" sz="1400" b="1">
              <a:solidFill>
                <a:srgbClr val="FFFF00"/>
              </a:solidFill>
            </a:endParaRPr>
          </a:p>
        </p:txBody>
      </p:sp>
      <p:sp>
        <p:nvSpPr>
          <p:cNvPr id="8201" name="WordArt 39" descr="Sand"/>
          <p:cNvSpPr>
            <a:spLocks noChangeArrowheads="1" noChangeShapeType="1" noTextEdit="1"/>
          </p:cNvSpPr>
          <p:nvPr/>
        </p:nvSpPr>
        <p:spPr bwMode="auto">
          <a:xfrm rot="5400000">
            <a:off x="7209631" y="3147219"/>
            <a:ext cx="3338513" cy="352425"/>
          </a:xfrm>
          <a:prstGeom prst="rect">
            <a:avLst/>
          </a:prstGeom>
        </p:spPr>
        <p:txBody>
          <a:bodyPr vert="wordArtVert"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auto"/>
            <a:r>
              <a:rPr lang="en-US" sz="2000" b="1" kern="10">
                <a:ln w="12700">
                  <a:solidFill>
                    <a:srgbClr val="C4B596"/>
                  </a:solidFill>
                  <a:round/>
                  <a:headEnd/>
                  <a:tailEnd/>
                </a:ln>
                <a:blipFill dpi="0" rotWithShape="0">
                  <a:blip r:embed="rId5"/>
                  <a:srcRect/>
                  <a:tile tx="0" ty="0" sx="100000" sy="100000" flip="none" algn="tl"/>
                </a:blipFill>
                <a:effectLst>
                  <a:outerShdw dist="53882" dir="2700000" algn="ctr" rotWithShape="0">
                    <a:srgbClr val="CBCBCB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</a:p>
        </p:txBody>
      </p:sp>
      <p:sp>
        <p:nvSpPr>
          <p:cNvPr id="8202" name="AutoShape 40" descr="Water droplets"/>
          <p:cNvSpPr>
            <a:spLocks noChangeArrowheads="1"/>
          </p:cNvSpPr>
          <p:nvPr/>
        </p:nvSpPr>
        <p:spPr bwMode="auto">
          <a:xfrm>
            <a:off x="231775" y="6010275"/>
            <a:ext cx="3919538" cy="376238"/>
          </a:xfrm>
          <a:prstGeom prst="homePlate">
            <a:avLst>
              <a:gd name="adj" fmla="val 10297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>
                <a:solidFill>
                  <a:schemeClr val="accent2"/>
                </a:solidFill>
              </a:rPr>
              <a:t>1999</a:t>
            </a:r>
          </a:p>
        </p:txBody>
      </p:sp>
      <p:sp>
        <p:nvSpPr>
          <p:cNvPr id="8203" name="AutoShape 44" descr="Medium wood"/>
          <p:cNvSpPr>
            <a:spLocks noChangeArrowheads="1"/>
          </p:cNvSpPr>
          <p:nvPr/>
        </p:nvSpPr>
        <p:spPr bwMode="auto">
          <a:xfrm>
            <a:off x="3700463" y="6022975"/>
            <a:ext cx="3121025" cy="361950"/>
          </a:xfrm>
          <a:prstGeom prst="chevron">
            <a:avLst>
              <a:gd name="adj" fmla="val 122795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>
                <a:solidFill>
                  <a:srgbClr val="FFFF00"/>
                </a:solidFill>
              </a:rPr>
              <a:t>2005 - 2006</a:t>
            </a:r>
          </a:p>
        </p:txBody>
      </p:sp>
      <p:sp>
        <p:nvSpPr>
          <p:cNvPr id="8204" name="AutoShape 45" descr="Walnut"/>
          <p:cNvSpPr>
            <a:spLocks noChangeArrowheads="1"/>
          </p:cNvSpPr>
          <p:nvPr/>
        </p:nvSpPr>
        <p:spPr bwMode="auto">
          <a:xfrm>
            <a:off x="6378575" y="6029325"/>
            <a:ext cx="2525713" cy="347663"/>
          </a:xfrm>
          <a:prstGeom prst="chevron">
            <a:avLst>
              <a:gd name="adj" fmla="val 120105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>
                <a:solidFill>
                  <a:srgbClr val="FFFF00"/>
                </a:solidFill>
              </a:rPr>
              <a:t>2007</a:t>
            </a:r>
          </a:p>
        </p:txBody>
      </p:sp>
      <p:sp>
        <p:nvSpPr>
          <p:cNvPr id="8205" name="Text Box 46"/>
          <p:cNvSpPr txBox="1">
            <a:spLocks noChangeArrowheads="1"/>
          </p:cNvSpPr>
          <p:nvPr/>
        </p:nvSpPr>
        <p:spPr bwMode="auto">
          <a:xfrm>
            <a:off x="6481763" y="1477963"/>
            <a:ext cx="9445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FFFF00"/>
                </a:solidFill>
              </a:rPr>
              <a:t>Next...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42900" y="733425"/>
            <a:ext cx="3975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008000"/>
                </a:solidFill>
              </a:rPr>
              <a:t>Drilling Problem Overview</a:t>
            </a:r>
          </a:p>
        </p:txBody>
      </p:sp>
      <p:sp>
        <p:nvSpPr>
          <p:cNvPr id="9219" name="AutoShape 3"/>
          <p:cNvSpPr>
            <a:spLocks noChangeArrowheads="1"/>
          </p:cNvSpPr>
          <p:nvPr/>
        </p:nvSpPr>
        <p:spPr bwMode="auto">
          <a:xfrm>
            <a:off x="8218488" y="2743200"/>
            <a:ext cx="363537" cy="508000"/>
          </a:xfrm>
          <a:prstGeom prst="left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7499350" y="5727700"/>
            <a:ext cx="1350963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600">
                <a:solidFill>
                  <a:srgbClr val="FF0000"/>
                </a:solidFill>
              </a:rPr>
              <a:t>$...</a:t>
            </a:r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313" y="1433513"/>
            <a:ext cx="7191375" cy="4325937"/>
          </a:xfrm>
          <a:prstGeom prst="rect">
            <a:avLst/>
          </a:prstGeom>
          <a:noFill/>
          <a:ln w="1587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222" name="TextBox 1"/>
          <p:cNvSpPr txBox="1">
            <a:spLocks noChangeArrowheads="1"/>
          </p:cNvSpPr>
          <p:nvPr/>
        </p:nvSpPr>
        <p:spPr bwMode="auto">
          <a:xfrm>
            <a:off x="2671763" y="1457325"/>
            <a:ext cx="2422525" cy="708025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id-ID" altLang="en-US" sz="2000"/>
              <a:t>Well </a:t>
            </a:r>
          </a:p>
          <a:p>
            <a:pPr algn="ctr" eaLnBrk="1" hangingPunct="1"/>
            <a:r>
              <a:rPr lang="id-ID" altLang="en-US" sz="2000"/>
              <a:t>V1 – V11</a:t>
            </a:r>
          </a:p>
        </p:txBody>
      </p:sp>
      <p:sp>
        <p:nvSpPr>
          <p:cNvPr id="9223" name="TextBox 7"/>
          <p:cNvSpPr txBox="1">
            <a:spLocks noChangeArrowheads="1"/>
          </p:cNvSpPr>
          <p:nvPr/>
        </p:nvSpPr>
        <p:spPr bwMode="auto">
          <a:xfrm>
            <a:off x="5094288" y="1457325"/>
            <a:ext cx="1751012" cy="708025"/>
          </a:xfrm>
          <a:prstGeom prst="rect">
            <a:avLst/>
          </a:prstGeom>
          <a:solidFill>
            <a:srgbClr val="99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id-ID" altLang="en-US" sz="2000"/>
              <a:t>Well </a:t>
            </a:r>
          </a:p>
          <a:p>
            <a:pPr algn="ctr" eaLnBrk="1" hangingPunct="1"/>
            <a:r>
              <a:rPr lang="id-ID" altLang="en-US" sz="2000"/>
              <a:t>W1 – W8</a:t>
            </a:r>
          </a:p>
        </p:txBody>
      </p:sp>
      <p:sp>
        <p:nvSpPr>
          <p:cNvPr id="9224" name="TextBox 8"/>
          <p:cNvSpPr txBox="1">
            <a:spLocks noChangeArrowheads="1"/>
          </p:cNvSpPr>
          <p:nvPr/>
        </p:nvSpPr>
        <p:spPr bwMode="auto">
          <a:xfrm>
            <a:off x="6831013" y="1447800"/>
            <a:ext cx="1336675" cy="708025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id-ID" altLang="en-US" sz="2000"/>
              <a:t>Other</a:t>
            </a:r>
          </a:p>
          <a:p>
            <a:pPr algn="ctr" eaLnBrk="1" hangingPunct="1"/>
            <a:r>
              <a:rPr lang="id-ID" altLang="en-US" sz="2000"/>
              <a:t>Wells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reeform 2"/>
          <p:cNvSpPr>
            <a:spLocks/>
          </p:cNvSpPr>
          <p:nvPr/>
        </p:nvSpPr>
        <p:spPr bwMode="auto">
          <a:xfrm rot="1042386">
            <a:off x="1685925" y="1985963"/>
            <a:ext cx="1389063" cy="804862"/>
          </a:xfrm>
          <a:custGeom>
            <a:avLst/>
            <a:gdLst>
              <a:gd name="T0" fmla="*/ 2147483646 w 1164"/>
              <a:gd name="T1" fmla="*/ 2147483646 h 755"/>
              <a:gd name="T2" fmla="*/ 2147483646 w 1164"/>
              <a:gd name="T3" fmla="*/ 2147483646 h 755"/>
              <a:gd name="T4" fmla="*/ 2147483646 w 1164"/>
              <a:gd name="T5" fmla="*/ 2147483646 h 755"/>
              <a:gd name="T6" fmla="*/ 2147483646 w 1164"/>
              <a:gd name="T7" fmla="*/ 2147483646 h 755"/>
              <a:gd name="T8" fmla="*/ 2147483646 w 1164"/>
              <a:gd name="T9" fmla="*/ 2147483646 h 755"/>
              <a:gd name="T10" fmla="*/ 2147483646 w 1164"/>
              <a:gd name="T11" fmla="*/ 2147483646 h 755"/>
              <a:gd name="T12" fmla="*/ 2147483646 w 1164"/>
              <a:gd name="T13" fmla="*/ 2147483646 h 755"/>
              <a:gd name="T14" fmla="*/ 2147483646 w 1164"/>
              <a:gd name="T15" fmla="*/ 2147483646 h 755"/>
              <a:gd name="T16" fmla="*/ 2147483646 w 1164"/>
              <a:gd name="T17" fmla="*/ 2147483646 h 755"/>
              <a:gd name="T18" fmla="*/ 2147483646 w 1164"/>
              <a:gd name="T19" fmla="*/ 2147483646 h 755"/>
              <a:gd name="T20" fmla="*/ 2147483646 w 1164"/>
              <a:gd name="T21" fmla="*/ 2147483646 h 755"/>
              <a:gd name="T22" fmla="*/ 2147483646 w 1164"/>
              <a:gd name="T23" fmla="*/ 2147483646 h 755"/>
              <a:gd name="T24" fmla="*/ 2147483646 w 1164"/>
              <a:gd name="T25" fmla="*/ 2147483646 h 755"/>
              <a:gd name="T26" fmla="*/ 2147483646 w 1164"/>
              <a:gd name="T27" fmla="*/ 2147483646 h 755"/>
              <a:gd name="T28" fmla="*/ 2147483646 w 1164"/>
              <a:gd name="T29" fmla="*/ 2147483646 h 755"/>
              <a:gd name="T30" fmla="*/ 2147483646 w 1164"/>
              <a:gd name="T31" fmla="*/ 2147483646 h 755"/>
              <a:gd name="T32" fmla="*/ 2147483646 w 1164"/>
              <a:gd name="T33" fmla="*/ 2147483646 h 755"/>
              <a:gd name="T34" fmla="*/ 2147483646 w 1164"/>
              <a:gd name="T35" fmla="*/ 2147483646 h 755"/>
              <a:gd name="T36" fmla="*/ 2147483646 w 1164"/>
              <a:gd name="T37" fmla="*/ 2147483646 h 755"/>
              <a:gd name="T38" fmla="*/ 2147483646 w 1164"/>
              <a:gd name="T39" fmla="*/ 2147483646 h 755"/>
              <a:gd name="T40" fmla="*/ 2147483646 w 1164"/>
              <a:gd name="T41" fmla="*/ 2147483646 h 755"/>
              <a:gd name="T42" fmla="*/ 2147483646 w 1164"/>
              <a:gd name="T43" fmla="*/ 2147483646 h 755"/>
              <a:gd name="T44" fmla="*/ 2147483646 w 1164"/>
              <a:gd name="T45" fmla="*/ 2147483646 h 755"/>
              <a:gd name="T46" fmla="*/ 2147483646 w 1164"/>
              <a:gd name="T47" fmla="*/ 2147483646 h 755"/>
              <a:gd name="T48" fmla="*/ 2147483646 w 1164"/>
              <a:gd name="T49" fmla="*/ 2147483646 h 755"/>
              <a:gd name="T50" fmla="*/ 2147483646 w 1164"/>
              <a:gd name="T51" fmla="*/ 2147483646 h 755"/>
              <a:gd name="T52" fmla="*/ 2147483646 w 1164"/>
              <a:gd name="T53" fmla="*/ 2147483646 h 755"/>
              <a:gd name="T54" fmla="*/ 2147483646 w 1164"/>
              <a:gd name="T55" fmla="*/ 2147483646 h 755"/>
              <a:gd name="T56" fmla="*/ 2147483646 w 1164"/>
              <a:gd name="T57" fmla="*/ 2147483646 h 755"/>
              <a:gd name="T58" fmla="*/ 2147483646 w 1164"/>
              <a:gd name="T59" fmla="*/ 2147483646 h 755"/>
              <a:gd name="T60" fmla="*/ 2147483646 w 1164"/>
              <a:gd name="T61" fmla="*/ 2147483646 h 755"/>
              <a:gd name="T62" fmla="*/ 2147483646 w 1164"/>
              <a:gd name="T63" fmla="*/ 2147483646 h 755"/>
              <a:gd name="T64" fmla="*/ 2147483646 w 1164"/>
              <a:gd name="T65" fmla="*/ 2147483646 h 755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164" h="755">
                <a:moveTo>
                  <a:pt x="484" y="91"/>
                </a:moveTo>
                <a:cubicBezTo>
                  <a:pt x="426" y="110"/>
                  <a:pt x="452" y="103"/>
                  <a:pt x="404" y="115"/>
                </a:cubicBezTo>
                <a:cubicBezTo>
                  <a:pt x="376" y="143"/>
                  <a:pt x="355" y="153"/>
                  <a:pt x="316" y="163"/>
                </a:cubicBezTo>
                <a:cubicBezTo>
                  <a:pt x="260" y="200"/>
                  <a:pt x="186" y="249"/>
                  <a:pt x="164" y="315"/>
                </a:cubicBezTo>
                <a:cubicBezTo>
                  <a:pt x="142" y="381"/>
                  <a:pt x="148" y="409"/>
                  <a:pt x="76" y="427"/>
                </a:cubicBezTo>
                <a:cubicBezTo>
                  <a:pt x="58" y="439"/>
                  <a:pt x="0" y="466"/>
                  <a:pt x="44" y="491"/>
                </a:cubicBezTo>
                <a:cubicBezTo>
                  <a:pt x="56" y="498"/>
                  <a:pt x="71" y="496"/>
                  <a:pt x="84" y="499"/>
                </a:cubicBezTo>
                <a:cubicBezTo>
                  <a:pt x="43" y="526"/>
                  <a:pt x="52" y="548"/>
                  <a:pt x="92" y="571"/>
                </a:cubicBezTo>
                <a:cubicBezTo>
                  <a:pt x="131" y="593"/>
                  <a:pt x="175" y="602"/>
                  <a:pt x="212" y="627"/>
                </a:cubicBezTo>
                <a:cubicBezTo>
                  <a:pt x="217" y="643"/>
                  <a:pt x="214" y="666"/>
                  <a:pt x="228" y="675"/>
                </a:cubicBezTo>
                <a:cubicBezTo>
                  <a:pt x="249" y="688"/>
                  <a:pt x="268" y="707"/>
                  <a:pt x="292" y="715"/>
                </a:cubicBezTo>
                <a:cubicBezTo>
                  <a:pt x="300" y="718"/>
                  <a:pt x="309" y="719"/>
                  <a:pt x="316" y="723"/>
                </a:cubicBezTo>
                <a:cubicBezTo>
                  <a:pt x="333" y="732"/>
                  <a:pt x="364" y="755"/>
                  <a:pt x="364" y="755"/>
                </a:cubicBezTo>
                <a:cubicBezTo>
                  <a:pt x="399" y="752"/>
                  <a:pt x="434" y="754"/>
                  <a:pt x="468" y="747"/>
                </a:cubicBezTo>
                <a:cubicBezTo>
                  <a:pt x="501" y="740"/>
                  <a:pt x="531" y="720"/>
                  <a:pt x="564" y="715"/>
                </a:cubicBezTo>
                <a:cubicBezTo>
                  <a:pt x="583" y="712"/>
                  <a:pt x="601" y="710"/>
                  <a:pt x="620" y="707"/>
                </a:cubicBezTo>
                <a:cubicBezTo>
                  <a:pt x="711" y="677"/>
                  <a:pt x="822" y="669"/>
                  <a:pt x="900" y="611"/>
                </a:cubicBezTo>
                <a:cubicBezTo>
                  <a:pt x="922" y="523"/>
                  <a:pt x="996" y="587"/>
                  <a:pt x="1068" y="563"/>
                </a:cubicBezTo>
                <a:cubicBezTo>
                  <a:pt x="1073" y="547"/>
                  <a:pt x="1079" y="531"/>
                  <a:pt x="1084" y="515"/>
                </a:cubicBezTo>
                <a:cubicBezTo>
                  <a:pt x="1090" y="497"/>
                  <a:pt x="1082" y="475"/>
                  <a:pt x="1092" y="459"/>
                </a:cubicBezTo>
                <a:cubicBezTo>
                  <a:pt x="1102" y="443"/>
                  <a:pt x="1140" y="427"/>
                  <a:pt x="1140" y="427"/>
                </a:cubicBezTo>
                <a:cubicBezTo>
                  <a:pt x="1135" y="317"/>
                  <a:pt x="1157" y="269"/>
                  <a:pt x="1108" y="195"/>
                </a:cubicBezTo>
                <a:cubicBezTo>
                  <a:pt x="1119" y="139"/>
                  <a:pt x="1147" y="125"/>
                  <a:pt x="1164" y="75"/>
                </a:cubicBezTo>
                <a:cubicBezTo>
                  <a:pt x="1152" y="15"/>
                  <a:pt x="1154" y="41"/>
                  <a:pt x="1108" y="11"/>
                </a:cubicBezTo>
                <a:cubicBezTo>
                  <a:pt x="1060" y="14"/>
                  <a:pt x="1012" y="19"/>
                  <a:pt x="964" y="19"/>
                </a:cubicBezTo>
                <a:cubicBezTo>
                  <a:pt x="884" y="19"/>
                  <a:pt x="815" y="0"/>
                  <a:pt x="892" y="19"/>
                </a:cubicBezTo>
                <a:cubicBezTo>
                  <a:pt x="897" y="30"/>
                  <a:pt x="912" y="40"/>
                  <a:pt x="908" y="51"/>
                </a:cubicBezTo>
                <a:cubicBezTo>
                  <a:pt x="904" y="61"/>
                  <a:pt x="887" y="59"/>
                  <a:pt x="876" y="59"/>
                </a:cubicBezTo>
                <a:cubicBezTo>
                  <a:pt x="849" y="59"/>
                  <a:pt x="823" y="54"/>
                  <a:pt x="796" y="51"/>
                </a:cubicBezTo>
                <a:cubicBezTo>
                  <a:pt x="764" y="43"/>
                  <a:pt x="732" y="35"/>
                  <a:pt x="700" y="27"/>
                </a:cubicBezTo>
                <a:cubicBezTo>
                  <a:pt x="689" y="24"/>
                  <a:pt x="668" y="19"/>
                  <a:pt x="668" y="19"/>
                </a:cubicBezTo>
                <a:cubicBezTo>
                  <a:pt x="623" y="22"/>
                  <a:pt x="577" y="20"/>
                  <a:pt x="532" y="27"/>
                </a:cubicBezTo>
                <a:cubicBezTo>
                  <a:pt x="491" y="33"/>
                  <a:pt x="506" y="113"/>
                  <a:pt x="484" y="91"/>
                </a:cubicBezTo>
                <a:close/>
              </a:path>
            </a:pathLst>
          </a:custGeom>
          <a:solidFill>
            <a:srgbClr val="808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3" name="Line 3"/>
          <p:cNvSpPr>
            <a:spLocks noChangeShapeType="1"/>
          </p:cNvSpPr>
          <p:nvPr/>
        </p:nvSpPr>
        <p:spPr bwMode="auto">
          <a:xfrm>
            <a:off x="1349375" y="1800225"/>
            <a:ext cx="0" cy="13350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4" name="AutoShape 4"/>
          <p:cNvSpPr>
            <a:spLocks noChangeArrowheads="1"/>
          </p:cNvSpPr>
          <p:nvPr/>
        </p:nvSpPr>
        <p:spPr bwMode="auto">
          <a:xfrm>
            <a:off x="1349375" y="2990850"/>
            <a:ext cx="115888" cy="130175"/>
          </a:xfrm>
          <a:prstGeom prst="rtTriangl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 flipH="1">
            <a:off x="704850" y="1820863"/>
            <a:ext cx="0" cy="13493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6" name="AutoShape 6"/>
          <p:cNvSpPr>
            <a:spLocks noChangeArrowheads="1"/>
          </p:cNvSpPr>
          <p:nvPr/>
        </p:nvSpPr>
        <p:spPr bwMode="auto">
          <a:xfrm flipH="1">
            <a:off x="588963" y="3040063"/>
            <a:ext cx="115887" cy="130175"/>
          </a:xfrm>
          <a:prstGeom prst="rtTriangl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4318">
            <a:off x="758825" y="2786063"/>
            <a:ext cx="428625" cy="310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3184525" y="1185863"/>
            <a:ext cx="5584825" cy="496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90513" indent="-290513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sz="2400">
                <a:solidFill>
                  <a:schemeClr val="accent2"/>
                </a:solidFill>
              </a:rPr>
              <a:t>13 of 25 offset wells faced BHA failure, equivalent NPT = </a:t>
            </a:r>
            <a:r>
              <a:rPr lang="en-US" altLang="en-US" sz="3200" b="1">
                <a:solidFill>
                  <a:srgbClr val="FF0000"/>
                </a:solidFill>
              </a:rPr>
              <a:t>122 hrs / well. </a:t>
            </a:r>
          </a:p>
          <a:p>
            <a:pPr eaLnBrk="1" hangingPunct="1">
              <a:buFontTx/>
              <a:buChar char="•"/>
            </a:pPr>
            <a:r>
              <a:rPr lang="en-US" altLang="en-US" sz="2400">
                <a:solidFill>
                  <a:schemeClr val="accent2"/>
                </a:solidFill>
              </a:rPr>
              <a:t>Total loss rig time</a:t>
            </a:r>
          </a:p>
          <a:p>
            <a:pPr eaLnBrk="1" hangingPunct="1"/>
            <a:r>
              <a:rPr lang="en-US" altLang="en-US" sz="3600">
                <a:solidFill>
                  <a:srgbClr val="FF0000"/>
                </a:solidFill>
              </a:rPr>
              <a:t>  </a:t>
            </a:r>
            <a:r>
              <a:rPr lang="en-US" altLang="en-US" sz="3600" b="1">
                <a:solidFill>
                  <a:srgbClr val="FF0000"/>
                </a:solidFill>
              </a:rPr>
              <a:t>1,587 hrs (66 days)</a:t>
            </a:r>
          </a:p>
          <a:p>
            <a:pPr eaLnBrk="1" hangingPunct="1">
              <a:buFontTx/>
              <a:buChar char="•"/>
            </a:pPr>
            <a:r>
              <a:rPr lang="en-US" altLang="en-US" sz="2400">
                <a:solidFill>
                  <a:schemeClr val="accent2"/>
                </a:solidFill>
              </a:rPr>
              <a:t>Equivalent with </a:t>
            </a:r>
            <a:r>
              <a:rPr lang="en-US" altLang="en-US" sz="3600" b="1">
                <a:solidFill>
                  <a:srgbClr val="FF0000"/>
                </a:solidFill>
              </a:rPr>
              <a:t>$ 6.6 Million</a:t>
            </a:r>
            <a:r>
              <a:rPr lang="en-US" altLang="en-US" sz="3600">
                <a:solidFill>
                  <a:srgbClr val="FF0000"/>
                </a:solidFill>
              </a:rPr>
              <a:t> </a:t>
            </a:r>
            <a:r>
              <a:rPr lang="en-US" altLang="en-US" sz="2400">
                <a:solidFill>
                  <a:schemeClr val="accent2"/>
                </a:solidFill>
              </a:rPr>
              <a:t>if Spread rig cost $100 K/day</a:t>
            </a:r>
          </a:p>
          <a:p>
            <a:pPr eaLnBrk="1" hangingPunct="1">
              <a:buFontTx/>
              <a:buChar char="•"/>
            </a:pPr>
            <a:r>
              <a:rPr lang="en-US" altLang="en-US" sz="2400">
                <a:solidFill>
                  <a:schemeClr val="accent2"/>
                </a:solidFill>
              </a:rPr>
              <a:t>Normalized into current spread rig cost of $284 K/day, equivalent with </a:t>
            </a:r>
          </a:p>
          <a:p>
            <a:pPr eaLnBrk="1" hangingPunct="1"/>
            <a:r>
              <a:rPr lang="en-US" altLang="en-US" sz="3200" b="1">
                <a:solidFill>
                  <a:srgbClr val="FF0000"/>
                </a:solidFill>
              </a:rPr>
              <a:t>  $ 18.7 Million.</a:t>
            </a:r>
            <a:r>
              <a:rPr lang="en-US" altLang="en-US" sz="3200" b="1"/>
              <a:t> </a:t>
            </a:r>
            <a:endParaRPr lang="en-US" altLang="en-US" sz="3200" b="1">
              <a:solidFill>
                <a:schemeClr val="accent2"/>
              </a:solidFill>
            </a:endParaRPr>
          </a:p>
          <a:p>
            <a:pPr eaLnBrk="1" hangingPunct="1">
              <a:buFontTx/>
              <a:buChar char="•"/>
            </a:pPr>
            <a:r>
              <a:rPr lang="en-US" altLang="en-US" sz="2400">
                <a:solidFill>
                  <a:schemeClr val="accent2"/>
                </a:solidFill>
              </a:rPr>
              <a:t>Hidden cost </a:t>
            </a:r>
            <a:r>
              <a:rPr lang="en-US" altLang="en-US" sz="3200" b="1">
                <a:solidFill>
                  <a:srgbClr val="FF0000"/>
                </a:solidFill>
              </a:rPr>
              <a:t>$?? Million</a:t>
            </a:r>
          </a:p>
        </p:txBody>
      </p:sp>
      <p:pic>
        <p:nvPicPr>
          <p:cNvPr id="10249" name="Picture 9" descr="j033847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77925" y="1009650"/>
            <a:ext cx="182880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50" name="Line 10"/>
          <p:cNvSpPr>
            <a:spLocks noChangeShapeType="1"/>
          </p:cNvSpPr>
          <p:nvPr/>
        </p:nvSpPr>
        <p:spPr bwMode="auto">
          <a:xfrm flipV="1">
            <a:off x="1062038" y="1012825"/>
            <a:ext cx="107950" cy="1614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251" name="Group 11"/>
          <p:cNvGrpSpPr>
            <a:grpSpLocks/>
          </p:cNvGrpSpPr>
          <p:nvPr/>
        </p:nvGrpSpPr>
        <p:grpSpPr bwMode="auto">
          <a:xfrm>
            <a:off x="974725" y="2587625"/>
            <a:ext cx="188913" cy="357188"/>
            <a:chOff x="1191" y="2255"/>
            <a:chExt cx="119" cy="225"/>
          </a:xfrm>
        </p:grpSpPr>
        <p:sp>
          <p:nvSpPr>
            <p:cNvPr id="10253" name="AutoShape 12"/>
            <p:cNvSpPr>
              <a:spLocks noChangeArrowheads="1"/>
            </p:cNvSpPr>
            <p:nvPr/>
          </p:nvSpPr>
          <p:spPr bwMode="auto">
            <a:xfrm rot="-2116114">
              <a:off x="1191" y="2350"/>
              <a:ext cx="119" cy="130"/>
            </a:xfrm>
            <a:prstGeom prst="moon">
              <a:avLst>
                <a:gd name="adj" fmla="val 28963"/>
              </a:avLst>
            </a:prstGeom>
            <a:solidFill>
              <a:srgbClr val="0033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id-ID" altLang="en-US"/>
            </a:p>
          </p:txBody>
        </p:sp>
        <p:sp>
          <p:nvSpPr>
            <p:cNvPr id="10254" name="AutoShape 13"/>
            <p:cNvSpPr>
              <a:spLocks noChangeArrowheads="1"/>
            </p:cNvSpPr>
            <p:nvPr/>
          </p:nvSpPr>
          <p:spPr bwMode="auto">
            <a:xfrm>
              <a:off x="1197" y="2255"/>
              <a:ext cx="104" cy="10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15 w 21600"/>
                <a:gd name="T25" fmla="*/ 3115 h 21600"/>
                <a:gd name="T26" fmla="*/ 18485 w 21600"/>
                <a:gd name="T27" fmla="*/ 1848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52" name="Freeform 14" descr="Horizontal brick"/>
          <p:cNvSpPr>
            <a:spLocks/>
          </p:cNvSpPr>
          <p:nvPr/>
        </p:nvSpPr>
        <p:spPr bwMode="auto">
          <a:xfrm>
            <a:off x="246063" y="3057525"/>
            <a:ext cx="1455737" cy="3184525"/>
          </a:xfrm>
          <a:custGeom>
            <a:avLst/>
            <a:gdLst>
              <a:gd name="T0" fmla="*/ 2147483646 w 949"/>
              <a:gd name="T1" fmla="*/ 2147483646 h 2070"/>
              <a:gd name="T2" fmla="*/ 2147483646 w 949"/>
              <a:gd name="T3" fmla="*/ 2147483646 h 2070"/>
              <a:gd name="T4" fmla="*/ 2147483646 w 949"/>
              <a:gd name="T5" fmla="*/ 2147483646 h 2070"/>
              <a:gd name="T6" fmla="*/ 2147483646 w 949"/>
              <a:gd name="T7" fmla="*/ 2147483646 h 2070"/>
              <a:gd name="T8" fmla="*/ 2147483646 w 949"/>
              <a:gd name="T9" fmla="*/ 2147483646 h 2070"/>
              <a:gd name="T10" fmla="*/ 2147483646 w 949"/>
              <a:gd name="T11" fmla="*/ 2147483646 h 2070"/>
              <a:gd name="T12" fmla="*/ 2147483646 w 949"/>
              <a:gd name="T13" fmla="*/ 2147483646 h 2070"/>
              <a:gd name="T14" fmla="*/ 2147483646 w 949"/>
              <a:gd name="T15" fmla="*/ 2147483646 h 2070"/>
              <a:gd name="T16" fmla="*/ 2147483646 w 949"/>
              <a:gd name="T17" fmla="*/ 2147483646 h 2070"/>
              <a:gd name="T18" fmla="*/ 2147483646 w 949"/>
              <a:gd name="T19" fmla="*/ 2147483646 h 2070"/>
              <a:gd name="T20" fmla="*/ 2147483646 w 949"/>
              <a:gd name="T21" fmla="*/ 2147483646 h 2070"/>
              <a:gd name="T22" fmla="*/ 2147483646 w 949"/>
              <a:gd name="T23" fmla="*/ 2147483646 h 2070"/>
              <a:gd name="T24" fmla="*/ 2147483646 w 949"/>
              <a:gd name="T25" fmla="*/ 2147483646 h 2070"/>
              <a:gd name="T26" fmla="*/ 2147483646 w 949"/>
              <a:gd name="T27" fmla="*/ 2147483646 h 2070"/>
              <a:gd name="T28" fmla="*/ 2147483646 w 949"/>
              <a:gd name="T29" fmla="*/ 2147483646 h 2070"/>
              <a:gd name="T30" fmla="*/ 2147483646 w 949"/>
              <a:gd name="T31" fmla="*/ 2147483646 h 2070"/>
              <a:gd name="T32" fmla="*/ 2147483646 w 949"/>
              <a:gd name="T33" fmla="*/ 2147483646 h 2070"/>
              <a:gd name="T34" fmla="*/ 2147483646 w 949"/>
              <a:gd name="T35" fmla="*/ 2147483646 h 2070"/>
              <a:gd name="T36" fmla="*/ 2147483646 w 949"/>
              <a:gd name="T37" fmla="*/ 2147483646 h 2070"/>
              <a:gd name="T38" fmla="*/ 2147483646 w 949"/>
              <a:gd name="T39" fmla="*/ 2147483646 h 2070"/>
              <a:gd name="T40" fmla="*/ 2147483646 w 949"/>
              <a:gd name="T41" fmla="*/ 2147483646 h 2070"/>
              <a:gd name="T42" fmla="*/ 2147483646 w 949"/>
              <a:gd name="T43" fmla="*/ 2147483646 h 2070"/>
              <a:gd name="T44" fmla="*/ 2147483646 w 949"/>
              <a:gd name="T45" fmla="*/ 2147483646 h 2070"/>
              <a:gd name="T46" fmla="*/ 2147483646 w 949"/>
              <a:gd name="T47" fmla="*/ 2147483646 h 2070"/>
              <a:gd name="T48" fmla="*/ 2147483646 w 949"/>
              <a:gd name="T49" fmla="*/ 2147483646 h 2070"/>
              <a:gd name="T50" fmla="*/ 2147483646 w 949"/>
              <a:gd name="T51" fmla="*/ 2147483646 h 2070"/>
              <a:gd name="T52" fmla="*/ 2147483646 w 949"/>
              <a:gd name="T53" fmla="*/ 2147483646 h 2070"/>
              <a:gd name="T54" fmla="*/ 2147483646 w 949"/>
              <a:gd name="T55" fmla="*/ 2147483646 h 2070"/>
              <a:gd name="T56" fmla="*/ 2147483646 w 949"/>
              <a:gd name="T57" fmla="*/ 2147483646 h 2070"/>
              <a:gd name="T58" fmla="*/ 2147483646 w 949"/>
              <a:gd name="T59" fmla="*/ 2147483646 h 2070"/>
              <a:gd name="T60" fmla="*/ 2147483646 w 949"/>
              <a:gd name="T61" fmla="*/ 2147483646 h 2070"/>
              <a:gd name="T62" fmla="*/ 2147483646 w 949"/>
              <a:gd name="T63" fmla="*/ 2147483646 h 2070"/>
              <a:gd name="T64" fmla="*/ 2147483646 w 949"/>
              <a:gd name="T65" fmla="*/ 2147483646 h 2070"/>
              <a:gd name="T66" fmla="*/ 2147483646 w 949"/>
              <a:gd name="T67" fmla="*/ 2147483646 h 2070"/>
              <a:gd name="T68" fmla="*/ 2147483646 w 949"/>
              <a:gd name="T69" fmla="*/ 2147483646 h 2070"/>
              <a:gd name="T70" fmla="*/ 2147483646 w 949"/>
              <a:gd name="T71" fmla="*/ 2147483646 h 2070"/>
              <a:gd name="T72" fmla="*/ 2147483646 w 949"/>
              <a:gd name="T73" fmla="*/ 2147483646 h 2070"/>
              <a:gd name="T74" fmla="*/ 2147483646 w 949"/>
              <a:gd name="T75" fmla="*/ 2147483646 h 2070"/>
              <a:gd name="T76" fmla="*/ 2147483646 w 949"/>
              <a:gd name="T77" fmla="*/ 2147483646 h 2070"/>
              <a:gd name="T78" fmla="*/ 2147483646 w 949"/>
              <a:gd name="T79" fmla="*/ 2147483646 h 2070"/>
              <a:gd name="T80" fmla="*/ 2147483646 w 949"/>
              <a:gd name="T81" fmla="*/ 2147483646 h 2070"/>
              <a:gd name="T82" fmla="*/ 2147483646 w 949"/>
              <a:gd name="T83" fmla="*/ 2147483646 h 2070"/>
              <a:gd name="T84" fmla="*/ 2147483646 w 949"/>
              <a:gd name="T85" fmla="*/ 2147483646 h 2070"/>
              <a:gd name="T86" fmla="*/ 2147483646 w 949"/>
              <a:gd name="T87" fmla="*/ 2147483646 h 2070"/>
              <a:gd name="T88" fmla="*/ 2147483646 w 949"/>
              <a:gd name="T89" fmla="*/ 2147483646 h 2070"/>
              <a:gd name="T90" fmla="*/ 2147483646 w 949"/>
              <a:gd name="T91" fmla="*/ 2147483646 h 2070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949" h="2070">
                <a:moveTo>
                  <a:pt x="725" y="18"/>
                </a:moveTo>
                <a:cubicBezTo>
                  <a:pt x="717" y="21"/>
                  <a:pt x="706" y="19"/>
                  <a:pt x="701" y="26"/>
                </a:cubicBezTo>
                <a:cubicBezTo>
                  <a:pt x="684" y="50"/>
                  <a:pt x="678" y="102"/>
                  <a:pt x="669" y="130"/>
                </a:cubicBezTo>
                <a:cubicBezTo>
                  <a:pt x="672" y="159"/>
                  <a:pt x="672" y="189"/>
                  <a:pt x="677" y="218"/>
                </a:cubicBezTo>
                <a:cubicBezTo>
                  <a:pt x="680" y="235"/>
                  <a:pt x="693" y="266"/>
                  <a:pt x="693" y="266"/>
                </a:cubicBezTo>
                <a:cubicBezTo>
                  <a:pt x="720" y="452"/>
                  <a:pt x="666" y="681"/>
                  <a:pt x="725" y="858"/>
                </a:cubicBezTo>
                <a:cubicBezTo>
                  <a:pt x="710" y="1141"/>
                  <a:pt x="709" y="1422"/>
                  <a:pt x="701" y="1706"/>
                </a:cubicBezTo>
                <a:cubicBezTo>
                  <a:pt x="700" y="1735"/>
                  <a:pt x="695" y="1765"/>
                  <a:pt x="693" y="1794"/>
                </a:cubicBezTo>
                <a:cubicBezTo>
                  <a:pt x="690" y="1829"/>
                  <a:pt x="716" y="1882"/>
                  <a:pt x="685" y="1898"/>
                </a:cubicBezTo>
                <a:cubicBezTo>
                  <a:pt x="626" y="1930"/>
                  <a:pt x="552" y="1903"/>
                  <a:pt x="485" y="1906"/>
                </a:cubicBezTo>
                <a:cubicBezTo>
                  <a:pt x="477" y="1911"/>
                  <a:pt x="471" y="1922"/>
                  <a:pt x="461" y="1922"/>
                </a:cubicBezTo>
                <a:cubicBezTo>
                  <a:pt x="444" y="1922"/>
                  <a:pt x="430" y="1909"/>
                  <a:pt x="413" y="1906"/>
                </a:cubicBezTo>
                <a:cubicBezTo>
                  <a:pt x="397" y="1903"/>
                  <a:pt x="381" y="1901"/>
                  <a:pt x="365" y="1898"/>
                </a:cubicBezTo>
                <a:cubicBezTo>
                  <a:pt x="220" y="1464"/>
                  <a:pt x="416" y="981"/>
                  <a:pt x="341" y="530"/>
                </a:cubicBezTo>
                <a:cubicBezTo>
                  <a:pt x="344" y="434"/>
                  <a:pt x="349" y="338"/>
                  <a:pt x="349" y="242"/>
                </a:cubicBezTo>
                <a:cubicBezTo>
                  <a:pt x="349" y="183"/>
                  <a:pt x="371" y="103"/>
                  <a:pt x="325" y="66"/>
                </a:cubicBezTo>
                <a:cubicBezTo>
                  <a:pt x="311" y="55"/>
                  <a:pt x="292" y="52"/>
                  <a:pt x="277" y="42"/>
                </a:cubicBezTo>
                <a:cubicBezTo>
                  <a:pt x="209" y="65"/>
                  <a:pt x="246" y="56"/>
                  <a:pt x="165" y="66"/>
                </a:cubicBezTo>
                <a:cubicBezTo>
                  <a:pt x="111" y="146"/>
                  <a:pt x="153" y="74"/>
                  <a:pt x="141" y="290"/>
                </a:cubicBezTo>
                <a:cubicBezTo>
                  <a:pt x="138" y="346"/>
                  <a:pt x="132" y="427"/>
                  <a:pt x="117" y="482"/>
                </a:cubicBezTo>
                <a:cubicBezTo>
                  <a:pt x="112" y="499"/>
                  <a:pt x="99" y="513"/>
                  <a:pt x="93" y="530"/>
                </a:cubicBezTo>
                <a:cubicBezTo>
                  <a:pt x="75" y="744"/>
                  <a:pt x="0" y="1035"/>
                  <a:pt x="117" y="1210"/>
                </a:cubicBezTo>
                <a:cubicBezTo>
                  <a:pt x="123" y="1328"/>
                  <a:pt x="107" y="1343"/>
                  <a:pt x="157" y="1418"/>
                </a:cubicBezTo>
                <a:cubicBezTo>
                  <a:pt x="170" y="1579"/>
                  <a:pt x="172" y="1735"/>
                  <a:pt x="157" y="1898"/>
                </a:cubicBezTo>
                <a:cubicBezTo>
                  <a:pt x="169" y="2070"/>
                  <a:pt x="162" y="2027"/>
                  <a:pt x="357" y="2018"/>
                </a:cubicBezTo>
                <a:cubicBezTo>
                  <a:pt x="417" y="1978"/>
                  <a:pt x="433" y="1996"/>
                  <a:pt x="525" y="2002"/>
                </a:cubicBezTo>
                <a:cubicBezTo>
                  <a:pt x="661" y="2036"/>
                  <a:pt x="803" y="2010"/>
                  <a:pt x="941" y="2002"/>
                </a:cubicBezTo>
                <a:cubicBezTo>
                  <a:pt x="922" y="1945"/>
                  <a:pt x="934" y="1968"/>
                  <a:pt x="909" y="1930"/>
                </a:cubicBezTo>
                <a:cubicBezTo>
                  <a:pt x="912" y="1893"/>
                  <a:pt x="908" y="1854"/>
                  <a:pt x="917" y="1818"/>
                </a:cubicBezTo>
                <a:cubicBezTo>
                  <a:pt x="922" y="1799"/>
                  <a:pt x="949" y="1770"/>
                  <a:pt x="949" y="1770"/>
                </a:cubicBezTo>
                <a:cubicBezTo>
                  <a:pt x="938" y="1606"/>
                  <a:pt x="947" y="1693"/>
                  <a:pt x="917" y="1602"/>
                </a:cubicBezTo>
                <a:cubicBezTo>
                  <a:pt x="914" y="1511"/>
                  <a:pt x="914" y="1421"/>
                  <a:pt x="909" y="1330"/>
                </a:cubicBezTo>
                <a:cubicBezTo>
                  <a:pt x="907" y="1300"/>
                  <a:pt x="878" y="1254"/>
                  <a:pt x="869" y="1226"/>
                </a:cubicBezTo>
                <a:cubicBezTo>
                  <a:pt x="866" y="1218"/>
                  <a:pt x="861" y="1202"/>
                  <a:pt x="861" y="1202"/>
                </a:cubicBezTo>
                <a:cubicBezTo>
                  <a:pt x="868" y="1158"/>
                  <a:pt x="877" y="1134"/>
                  <a:pt x="901" y="1098"/>
                </a:cubicBezTo>
                <a:cubicBezTo>
                  <a:pt x="918" y="963"/>
                  <a:pt x="909" y="835"/>
                  <a:pt x="901" y="698"/>
                </a:cubicBezTo>
                <a:cubicBezTo>
                  <a:pt x="895" y="594"/>
                  <a:pt x="919" y="619"/>
                  <a:pt x="869" y="586"/>
                </a:cubicBezTo>
                <a:cubicBezTo>
                  <a:pt x="851" y="532"/>
                  <a:pt x="869" y="598"/>
                  <a:pt x="869" y="506"/>
                </a:cubicBezTo>
                <a:cubicBezTo>
                  <a:pt x="869" y="469"/>
                  <a:pt x="863" y="456"/>
                  <a:pt x="853" y="426"/>
                </a:cubicBezTo>
                <a:cubicBezTo>
                  <a:pt x="866" y="387"/>
                  <a:pt x="896" y="361"/>
                  <a:pt x="909" y="322"/>
                </a:cubicBezTo>
                <a:cubicBezTo>
                  <a:pt x="906" y="284"/>
                  <a:pt x="904" y="187"/>
                  <a:pt x="877" y="146"/>
                </a:cubicBezTo>
                <a:cubicBezTo>
                  <a:pt x="858" y="118"/>
                  <a:pt x="840" y="108"/>
                  <a:pt x="829" y="74"/>
                </a:cubicBezTo>
                <a:cubicBezTo>
                  <a:pt x="832" y="66"/>
                  <a:pt x="830" y="55"/>
                  <a:pt x="837" y="50"/>
                </a:cubicBezTo>
                <a:cubicBezTo>
                  <a:pt x="848" y="42"/>
                  <a:pt x="869" y="53"/>
                  <a:pt x="877" y="42"/>
                </a:cubicBezTo>
                <a:cubicBezTo>
                  <a:pt x="900" y="13"/>
                  <a:pt x="854" y="5"/>
                  <a:pt x="845" y="2"/>
                </a:cubicBezTo>
                <a:cubicBezTo>
                  <a:pt x="801" y="11"/>
                  <a:pt x="795" y="0"/>
                  <a:pt x="813" y="18"/>
                </a:cubicBezTo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849313" y="169545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 sz="180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14338" y="838200"/>
            <a:ext cx="7146925" cy="468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800" b="1" smtClean="0">
                <a:solidFill>
                  <a:srgbClr val="008000"/>
                </a:solidFill>
              </a:rPr>
              <a:t>12-1/4” Hole – Offset Wells Summary</a:t>
            </a:r>
            <a:br>
              <a:rPr lang="en-US" altLang="en-US" sz="2800" b="1" smtClean="0">
                <a:solidFill>
                  <a:srgbClr val="008000"/>
                </a:solidFill>
              </a:rPr>
            </a:br>
            <a:endParaRPr lang="en-US" altLang="en-US" sz="2800" b="1" smtClean="0">
              <a:solidFill>
                <a:srgbClr val="008000"/>
              </a:solidFill>
            </a:endParaRP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1733550" y="1470025"/>
            <a:ext cx="7037388" cy="374332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25425" indent="-22542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sz="2400" b="1"/>
              <a:t>Kais and Fumai Limestone</a:t>
            </a:r>
          </a:p>
          <a:p>
            <a:pPr eaLnBrk="1" hangingPunct="1">
              <a:buFontTx/>
              <a:buChar char="•"/>
            </a:pPr>
            <a:r>
              <a:rPr lang="en-US" altLang="en-US" sz="2400" b="1"/>
              <a:t>Insert bits: 4XX and 5XX IADC. </a:t>
            </a:r>
          </a:p>
          <a:p>
            <a:pPr eaLnBrk="1" hangingPunct="1">
              <a:buFontTx/>
              <a:buChar char="•"/>
            </a:pPr>
            <a:r>
              <a:rPr lang="en-US" altLang="en-US" sz="2400" b="1"/>
              <a:t>High level of BHA vibration</a:t>
            </a:r>
          </a:p>
          <a:p>
            <a:pPr eaLnBrk="1" hangingPunct="1">
              <a:buFontTx/>
              <a:buChar char="•"/>
            </a:pPr>
            <a:r>
              <a:rPr lang="en-US" altLang="en-US" sz="2400" b="1"/>
              <a:t>Major NPT: BHA failure</a:t>
            </a:r>
          </a:p>
          <a:p>
            <a:pPr eaLnBrk="1" hangingPunct="1">
              <a:buFontTx/>
              <a:buChar char="•"/>
            </a:pPr>
            <a:r>
              <a:rPr lang="en-US" altLang="en-US" sz="2400" b="1"/>
              <a:t>BHA type: Slick, Packed, Pendulum, Motor BHA</a:t>
            </a:r>
          </a:p>
          <a:p>
            <a:pPr eaLnBrk="1" hangingPunct="1">
              <a:buFontTx/>
              <a:buChar char="•"/>
            </a:pPr>
            <a:r>
              <a:rPr lang="en-US" altLang="en-US" sz="2400" b="1"/>
              <a:t>DC size series: 9-1/2”, 8-1/2” and 6-1/2”</a:t>
            </a:r>
          </a:p>
          <a:p>
            <a:pPr eaLnBrk="1" hangingPunct="1">
              <a:buFontTx/>
              <a:buChar char="•"/>
            </a:pPr>
            <a:r>
              <a:rPr lang="en-US" altLang="en-US" sz="2400" b="1"/>
              <a:t>Vertical wells</a:t>
            </a:r>
          </a:p>
          <a:p>
            <a:pPr eaLnBrk="1" hangingPunct="1">
              <a:buFontTx/>
              <a:buChar char="•"/>
            </a:pPr>
            <a:r>
              <a:rPr lang="en-US" altLang="en-US" sz="2400" b="1"/>
              <a:t>Total mud losses, drilled blind and fill annulus with sea water</a:t>
            </a:r>
          </a:p>
        </p:txBody>
      </p:sp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" y="1277938"/>
            <a:ext cx="1012825" cy="4706937"/>
          </a:xfrm>
          <a:prstGeom prst="rect">
            <a:avLst/>
          </a:prstGeom>
          <a:noFill/>
          <a:ln w="15875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270" name="AutoShape 6"/>
          <p:cNvSpPr>
            <a:spLocks noChangeArrowheads="1"/>
          </p:cNvSpPr>
          <p:nvPr/>
        </p:nvSpPr>
        <p:spPr bwMode="auto">
          <a:xfrm rot="5400000">
            <a:off x="-364331" y="3075781"/>
            <a:ext cx="3754438" cy="498475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5552 w 21600"/>
              <a:gd name="T13" fmla="*/ 5552 h 21600"/>
              <a:gd name="T14" fmla="*/ 16048 w 21600"/>
              <a:gd name="T15" fmla="*/ 1604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7504" y="21600"/>
                </a:lnTo>
                <a:lnTo>
                  <a:pt x="14096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849313" y="169545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 sz="180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14338" y="750888"/>
            <a:ext cx="8004175" cy="468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3200" b="1" smtClean="0">
                <a:solidFill>
                  <a:srgbClr val="008000"/>
                </a:solidFill>
              </a:rPr>
              <a:t>12-1/4” Hole – BHA study conclusion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358775" y="1252538"/>
            <a:ext cx="8391525" cy="521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25425" indent="-22542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8000"/>
                </a:solidFill>
              </a:rPr>
              <a:t>DO:</a:t>
            </a:r>
          </a:p>
          <a:p>
            <a:pPr eaLnBrk="1" hangingPunct="1">
              <a:buFontTx/>
              <a:buChar char="•"/>
            </a:pPr>
            <a:r>
              <a:rPr lang="en-US" altLang="en-US" sz="2000"/>
              <a:t>Use packed BHA type with 3 stabilizers as basis of BHA model</a:t>
            </a:r>
          </a:p>
          <a:p>
            <a:pPr eaLnBrk="1" hangingPunct="1">
              <a:buFontTx/>
              <a:buChar char="•"/>
            </a:pPr>
            <a:r>
              <a:rPr lang="en-US" altLang="en-US" sz="2000"/>
              <a:t>Distance between stabilizers: 15/20/30 ft x 30 ft OR 30ft x 60 ft</a:t>
            </a:r>
          </a:p>
          <a:p>
            <a:pPr eaLnBrk="1" hangingPunct="1">
              <a:buFontTx/>
              <a:buChar char="•"/>
            </a:pPr>
            <a:r>
              <a:rPr lang="en-US" altLang="en-US" sz="2000"/>
              <a:t>Use 9-1/2” Mud Motor equipped with top stabilizer.</a:t>
            </a:r>
          </a:p>
          <a:p>
            <a:pPr eaLnBrk="1" hangingPunct="1">
              <a:buFontTx/>
              <a:buChar char="•"/>
            </a:pPr>
            <a:r>
              <a:rPr lang="en-US" altLang="en-US" sz="2000"/>
              <a:t>Use 8-1/2” DC series. </a:t>
            </a:r>
          </a:p>
          <a:p>
            <a:pPr eaLnBrk="1" hangingPunct="1">
              <a:buFontTx/>
              <a:buChar char="•"/>
            </a:pPr>
            <a:r>
              <a:rPr lang="en-US" altLang="en-US" sz="2000"/>
              <a:t>Use 8-1/2” drilling jars which preferable has the torsional yield not less than 100 ft-Klbs. </a:t>
            </a:r>
          </a:p>
          <a:p>
            <a:pPr eaLnBrk="1" hangingPunct="1">
              <a:buFontTx/>
              <a:buChar char="•"/>
            </a:pPr>
            <a:r>
              <a:rPr lang="en-US" altLang="en-US" sz="2000"/>
              <a:t>Use shock sub on packed BHA for ROP enhancement. </a:t>
            </a:r>
          </a:p>
          <a:p>
            <a:pPr eaLnBrk="1" hangingPunct="1">
              <a:buFontTx/>
              <a:buChar char="•"/>
            </a:pPr>
            <a:endParaRPr lang="en-US" altLang="en-US" sz="2000"/>
          </a:p>
          <a:p>
            <a:pPr eaLnBrk="1" hangingPunct="1"/>
            <a:r>
              <a:rPr lang="en-US" altLang="en-US" sz="2800" b="1">
                <a:solidFill>
                  <a:srgbClr val="FF0000"/>
                </a:solidFill>
              </a:rPr>
              <a:t>DON’T:</a:t>
            </a:r>
          </a:p>
          <a:p>
            <a:pPr eaLnBrk="1" hangingPunct="1">
              <a:buFontTx/>
              <a:buChar char="•"/>
            </a:pPr>
            <a:r>
              <a:rPr lang="en-US" altLang="en-US" sz="2000"/>
              <a:t>Do not use BHA stabilization of 15/20 ft x 60 ft</a:t>
            </a:r>
          </a:p>
          <a:p>
            <a:pPr eaLnBrk="1" hangingPunct="1">
              <a:buFontTx/>
              <a:buChar char="•"/>
            </a:pPr>
            <a:r>
              <a:rPr lang="en-US" altLang="en-US" sz="2000"/>
              <a:t>Do not use 9-1/2” DC series</a:t>
            </a:r>
          </a:p>
          <a:p>
            <a:pPr eaLnBrk="1" hangingPunct="1">
              <a:buFontTx/>
              <a:buChar char="•"/>
            </a:pPr>
            <a:r>
              <a:rPr lang="en-US" altLang="en-US" sz="2000"/>
              <a:t>Do not use 6-1/2” DC series and 6-1/2” drilling jars.</a:t>
            </a:r>
          </a:p>
          <a:p>
            <a:pPr eaLnBrk="1" hangingPunct="1">
              <a:buFontTx/>
              <a:buChar char="•"/>
            </a:pPr>
            <a:r>
              <a:rPr lang="en-US" altLang="en-US" sz="2000"/>
              <a:t>Do not placed any weaker BHA components (ie Jars, X/O etc) in where the torsional displacement is maximum.</a:t>
            </a:r>
          </a:p>
          <a:p>
            <a:pPr eaLnBrk="1" hangingPunct="1">
              <a:buFontTx/>
              <a:buChar char="•"/>
            </a:pPr>
            <a:r>
              <a:rPr lang="en-US" altLang="en-US" sz="2000"/>
              <a:t>Do not use shock tool on motor BHA.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849313" y="169545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 sz="180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879475" y="2898775"/>
            <a:ext cx="7146925" cy="6127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3200" b="1" smtClean="0">
                <a:solidFill>
                  <a:srgbClr val="008000"/>
                </a:solidFill>
              </a:rPr>
              <a:t>12-1/4” BHA TYPE</a:t>
            </a:r>
            <a:br>
              <a:rPr lang="en-US" altLang="en-US" sz="3200" b="1" smtClean="0">
                <a:solidFill>
                  <a:srgbClr val="008000"/>
                </a:solidFill>
              </a:rPr>
            </a:br>
            <a:endParaRPr lang="en-US" altLang="en-US" sz="3200" b="1" smtClean="0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854075"/>
            <a:ext cx="8229600" cy="563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800" b="1" smtClean="0">
                <a:solidFill>
                  <a:srgbClr val="008000"/>
                </a:solidFill>
              </a:rPr>
              <a:t>Conceptual 12-1/4” BHA Design</a:t>
            </a:r>
          </a:p>
        </p:txBody>
      </p:sp>
      <p:grpSp>
        <p:nvGrpSpPr>
          <p:cNvPr id="14339" name="Group 64"/>
          <p:cNvGrpSpPr>
            <a:grpSpLocks/>
          </p:cNvGrpSpPr>
          <p:nvPr/>
        </p:nvGrpSpPr>
        <p:grpSpPr bwMode="auto">
          <a:xfrm>
            <a:off x="146050" y="1544638"/>
            <a:ext cx="3381375" cy="4727575"/>
            <a:chOff x="92" y="973"/>
            <a:chExt cx="2130" cy="2978"/>
          </a:xfrm>
        </p:grpSpPr>
        <p:sp>
          <p:nvSpPr>
            <p:cNvPr id="14359" name="Oval 55"/>
            <p:cNvSpPr>
              <a:spLocks noChangeArrowheads="1"/>
            </p:cNvSpPr>
            <p:nvPr/>
          </p:nvSpPr>
          <p:spPr bwMode="auto">
            <a:xfrm>
              <a:off x="92" y="3501"/>
              <a:ext cx="2130" cy="366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id-ID" altLang="en-US"/>
            </a:p>
          </p:txBody>
        </p:sp>
        <p:grpSp>
          <p:nvGrpSpPr>
            <p:cNvPr id="14360" name="Group 27"/>
            <p:cNvGrpSpPr>
              <a:grpSpLocks/>
            </p:cNvGrpSpPr>
            <p:nvPr/>
          </p:nvGrpSpPr>
          <p:grpSpPr bwMode="auto">
            <a:xfrm>
              <a:off x="937" y="1106"/>
              <a:ext cx="446" cy="2616"/>
              <a:chOff x="425" y="1143"/>
              <a:chExt cx="446" cy="2616"/>
            </a:xfrm>
          </p:grpSpPr>
          <p:sp>
            <p:nvSpPr>
              <p:cNvPr id="14367" name="Line 6"/>
              <p:cNvSpPr>
                <a:spLocks noChangeShapeType="1"/>
              </p:cNvSpPr>
              <p:nvPr/>
            </p:nvSpPr>
            <p:spPr bwMode="auto">
              <a:xfrm flipV="1">
                <a:off x="649" y="1143"/>
                <a:ext cx="0" cy="231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4368" name="Picture 9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5" y="3362"/>
                <a:ext cx="446" cy="3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369" name="Oval 5"/>
              <p:cNvSpPr>
                <a:spLocks noChangeArrowheads="1"/>
              </p:cNvSpPr>
              <p:nvPr/>
            </p:nvSpPr>
            <p:spPr bwMode="auto">
              <a:xfrm>
                <a:off x="502" y="2907"/>
                <a:ext cx="288" cy="288"/>
              </a:xfrm>
              <a:prstGeom prst="ellipse">
                <a:avLst/>
              </a:prstGeom>
              <a:gradFill rotWithShape="1">
                <a:gsLst>
                  <a:gs pos="0">
                    <a:srgbClr val="FFFF99"/>
                  </a:gs>
                  <a:gs pos="100000">
                    <a:schemeClr val="accent2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id-ID" altLang="en-US"/>
              </a:p>
            </p:txBody>
          </p:sp>
        </p:grpSp>
        <p:grpSp>
          <p:nvGrpSpPr>
            <p:cNvPr id="14361" name="Group 57"/>
            <p:cNvGrpSpPr>
              <a:grpSpLocks/>
            </p:cNvGrpSpPr>
            <p:nvPr/>
          </p:nvGrpSpPr>
          <p:grpSpPr bwMode="auto">
            <a:xfrm rot="-1380043">
              <a:off x="1446" y="1019"/>
              <a:ext cx="446" cy="2616"/>
              <a:chOff x="425" y="1143"/>
              <a:chExt cx="446" cy="2616"/>
            </a:xfrm>
          </p:grpSpPr>
          <p:sp>
            <p:nvSpPr>
              <p:cNvPr id="14364" name="Line 58"/>
              <p:cNvSpPr>
                <a:spLocks noChangeShapeType="1"/>
              </p:cNvSpPr>
              <p:nvPr/>
            </p:nvSpPr>
            <p:spPr bwMode="auto">
              <a:xfrm flipV="1">
                <a:off x="649" y="1143"/>
                <a:ext cx="0" cy="231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4365" name="Picture 59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5" y="3362"/>
                <a:ext cx="446" cy="3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366" name="Oval 60"/>
              <p:cNvSpPr>
                <a:spLocks noChangeArrowheads="1"/>
              </p:cNvSpPr>
              <p:nvPr/>
            </p:nvSpPr>
            <p:spPr bwMode="auto">
              <a:xfrm>
                <a:off x="502" y="2907"/>
                <a:ext cx="288" cy="288"/>
              </a:xfrm>
              <a:prstGeom prst="ellipse">
                <a:avLst/>
              </a:prstGeom>
              <a:gradFill rotWithShape="1">
                <a:gsLst>
                  <a:gs pos="0">
                    <a:srgbClr val="FFFF99"/>
                  </a:gs>
                  <a:gs pos="100000">
                    <a:schemeClr val="accent2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id-ID" altLang="en-US"/>
              </a:p>
            </p:txBody>
          </p:sp>
        </p:grpSp>
        <p:sp>
          <p:nvSpPr>
            <p:cNvPr id="14362" name="AutoShape 17"/>
            <p:cNvSpPr>
              <a:spLocks noChangeArrowheads="1"/>
            </p:cNvSpPr>
            <p:nvPr/>
          </p:nvSpPr>
          <p:spPr bwMode="auto">
            <a:xfrm>
              <a:off x="1021" y="973"/>
              <a:ext cx="248" cy="311"/>
            </a:xfrm>
            <a:prstGeom prst="curvedLeftArrow">
              <a:avLst>
                <a:gd name="adj1" fmla="val 25081"/>
                <a:gd name="adj2" fmla="val 50161"/>
                <a:gd name="adj3" fmla="val 33333"/>
              </a:avLst>
            </a:prstGeom>
            <a:solidFill>
              <a:srgbClr val="8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id-ID" altLang="en-US"/>
            </a:p>
          </p:txBody>
        </p:sp>
        <p:sp>
          <p:nvSpPr>
            <p:cNvPr id="14363" name="AutoShape 63"/>
            <p:cNvSpPr>
              <a:spLocks noChangeArrowheads="1"/>
            </p:cNvSpPr>
            <p:nvPr/>
          </p:nvSpPr>
          <p:spPr bwMode="auto">
            <a:xfrm>
              <a:off x="1088" y="3795"/>
              <a:ext cx="147" cy="156"/>
            </a:xfrm>
            <a:prstGeom prst="leftArrow">
              <a:avLst>
                <a:gd name="adj1" fmla="val 50000"/>
                <a:gd name="adj2" fmla="val 25000"/>
              </a:avLst>
            </a:prstGeom>
            <a:solidFill>
              <a:srgbClr val="FF66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id-ID" altLang="en-US"/>
            </a:p>
          </p:txBody>
        </p:sp>
      </p:grpSp>
      <p:sp>
        <p:nvSpPr>
          <p:cNvPr id="14340" name="Oval 66"/>
          <p:cNvSpPr>
            <a:spLocks noChangeArrowheads="1"/>
          </p:cNvSpPr>
          <p:nvPr/>
        </p:nvSpPr>
        <p:spPr bwMode="auto">
          <a:xfrm>
            <a:off x="4494213" y="5610225"/>
            <a:ext cx="2276475" cy="581025"/>
          </a:xfrm>
          <a:prstGeom prst="ellipse">
            <a:avLst/>
          </a:prstGeom>
          <a:noFill/>
          <a:ln w="22225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14341" name="Line 68"/>
          <p:cNvSpPr>
            <a:spLocks noChangeShapeType="1"/>
          </p:cNvSpPr>
          <p:nvPr/>
        </p:nvSpPr>
        <p:spPr bwMode="auto">
          <a:xfrm flipV="1">
            <a:off x="5638800" y="1808163"/>
            <a:ext cx="0" cy="367030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4342" name="Picture 6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200" y="5330825"/>
            <a:ext cx="708025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3" name="Oval 70"/>
          <p:cNvSpPr>
            <a:spLocks noChangeArrowheads="1"/>
          </p:cNvSpPr>
          <p:nvPr/>
        </p:nvSpPr>
        <p:spPr bwMode="auto">
          <a:xfrm>
            <a:off x="5405438" y="3722688"/>
            <a:ext cx="457200" cy="457200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accent2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grpSp>
        <p:nvGrpSpPr>
          <p:cNvPr id="14344" name="Group 78"/>
          <p:cNvGrpSpPr>
            <a:grpSpLocks/>
          </p:cNvGrpSpPr>
          <p:nvPr/>
        </p:nvGrpSpPr>
        <p:grpSpPr bwMode="auto">
          <a:xfrm rot="518362">
            <a:off x="5946775" y="1803400"/>
            <a:ext cx="1249363" cy="3994150"/>
            <a:chOff x="3929" y="1063"/>
            <a:chExt cx="787" cy="2516"/>
          </a:xfrm>
        </p:grpSpPr>
        <p:sp>
          <p:nvSpPr>
            <p:cNvPr id="14356" name="Line 72"/>
            <p:cNvSpPr>
              <a:spLocks noChangeShapeType="1"/>
            </p:cNvSpPr>
            <p:nvPr/>
          </p:nvSpPr>
          <p:spPr bwMode="auto">
            <a:xfrm rot="20219957" flipV="1">
              <a:off x="4001" y="1063"/>
              <a:ext cx="0" cy="2312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4357" name="Picture 7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380043">
              <a:off x="4270" y="3182"/>
              <a:ext cx="446" cy="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58" name="Oval 74"/>
            <p:cNvSpPr>
              <a:spLocks noChangeArrowheads="1"/>
            </p:cNvSpPr>
            <p:nvPr/>
          </p:nvSpPr>
          <p:spPr bwMode="auto">
            <a:xfrm rot="-1380043">
              <a:off x="3929" y="2239"/>
              <a:ext cx="288" cy="288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accent2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id-ID" altLang="en-US"/>
            </a:p>
          </p:txBody>
        </p:sp>
      </p:grpSp>
      <p:sp>
        <p:nvSpPr>
          <p:cNvPr id="14345" name="AutoShape 75"/>
          <p:cNvSpPr>
            <a:spLocks noChangeArrowheads="1"/>
          </p:cNvSpPr>
          <p:nvPr/>
        </p:nvSpPr>
        <p:spPr bwMode="auto">
          <a:xfrm>
            <a:off x="5416550" y="1597025"/>
            <a:ext cx="393700" cy="493713"/>
          </a:xfrm>
          <a:prstGeom prst="curvedLeftArrow">
            <a:avLst>
              <a:gd name="adj1" fmla="val 25081"/>
              <a:gd name="adj2" fmla="val 50161"/>
              <a:gd name="adj3" fmla="val 33333"/>
            </a:avLst>
          </a:prstGeom>
          <a:solidFill>
            <a:srgbClr val="8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14346" name="AutoShape 76"/>
          <p:cNvSpPr>
            <a:spLocks noChangeArrowheads="1"/>
          </p:cNvSpPr>
          <p:nvPr/>
        </p:nvSpPr>
        <p:spPr bwMode="auto">
          <a:xfrm>
            <a:off x="5522913" y="6076950"/>
            <a:ext cx="233362" cy="247650"/>
          </a:xfrm>
          <a:prstGeom prst="left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pic>
        <p:nvPicPr>
          <p:cNvPr id="14347" name="Picture 8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363" y="3873500"/>
            <a:ext cx="1455737" cy="191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8" name="Picture 8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0" y="1608138"/>
            <a:ext cx="428625" cy="4398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9" name="Picture 8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138" y="1693863"/>
            <a:ext cx="619125" cy="4341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50" name="Text Box 86"/>
          <p:cNvSpPr txBox="1">
            <a:spLocks noChangeArrowheads="1"/>
          </p:cNvSpPr>
          <p:nvPr/>
        </p:nvSpPr>
        <p:spPr bwMode="auto">
          <a:xfrm>
            <a:off x="174625" y="5197475"/>
            <a:ext cx="9826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9-1/2” DC</a:t>
            </a:r>
          </a:p>
        </p:txBody>
      </p:sp>
      <p:sp>
        <p:nvSpPr>
          <p:cNvPr id="14351" name="Text Box 87"/>
          <p:cNvSpPr txBox="1">
            <a:spLocks noChangeArrowheads="1"/>
          </p:cNvSpPr>
          <p:nvPr/>
        </p:nvSpPr>
        <p:spPr bwMode="auto">
          <a:xfrm>
            <a:off x="180975" y="4014788"/>
            <a:ext cx="9826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8-1/2” DC</a:t>
            </a:r>
          </a:p>
        </p:txBody>
      </p:sp>
      <p:sp>
        <p:nvSpPr>
          <p:cNvPr id="14352" name="Text Box 88"/>
          <p:cNvSpPr txBox="1">
            <a:spLocks noChangeArrowheads="1"/>
          </p:cNvSpPr>
          <p:nvPr/>
        </p:nvSpPr>
        <p:spPr bwMode="auto">
          <a:xfrm>
            <a:off x="3903663" y="4325938"/>
            <a:ext cx="9826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8000"/>
                </a:solidFill>
              </a:rPr>
              <a:t>8-1/2” DC</a:t>
            </a:r>
          </a:p>
        </p:txBody>
      </p:sp>
      <p:sp>
        <p:nvSpPr>
          <p:cNvPr id="14353" name="Line 89"/>
          <p:cNvSpPr>
            <a:spLocks noChangeShapeType="1"/>
          </p:cNvSpPr>
          <p:nvPr/>
        </p:nvSpPr>
        <p:spPr bwMode="auto">
          <a:xfrm>
            <a:off x="2146300" y="1770063"/>
            <a:ext cx="0" cy="2990850"/>
          </a:xfrm>
          <a:prstGeom prst="line">
            <a:avLst/>
          </a:prstGeom>
          <a:noFill/>
          <a:ln w="15875">
            <a:solidFill>
              <a:srgbClr val="FF6600"/>
            </a:solidFill>
            <a:prstDash val="dashDot"/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4" name="Line 90"/>
          <p:cNvSpPr>
            <a:spLocks noChangeShapeType="1"/>
          </p:cNvSpPr>
          <p:nvPr/>
        </p:nvSpPr>
        <p:spPr bwMode="auto">
          <a:xfrm>
            <a:off x="5895975" y="1792288"/>
            <a:ext cx="0" cy="2149475"/>
          </a:xfrm>
          <a:prstGeom prst="line">
            <a:avLst/>
          </a:prstGeom>
          <a:noFill/>
          <a:ln w="15875">
            <a:solidFill>
              <a:srgbClr val="FF6600"/>
            </a:solidFill>
            <a:prstDash val="dashDot"/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5" name="Text Box 91"/>
          <p:cNvSpPr txBox="1">
            <a:spLocks noChangeArrowheads="1"/>
          </p:cNvSpPr>
          <p:nvPr/>
        </p:nvSpPr>
        <p:spPr bwMode="auto">
          <a:xfrm>
            <a:off x="5902325" y="2482850"/>
            <a:ext cx="21161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5050"/>
                </a:solidFill>
              </a:rPr>
              <a:t>Shorter center of mass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12738" y="854075"/>
            <a:ext cx="8605837" cy="563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400" b="1" smtClean="0">
                <a:solidFill>
                  <a:srgbClr val="008000"/>
                </a:solidFill>
              </a:rPr>
              <a:t>12-1/4” Offset BHA: The Fact ……..</a:t>
            </a:r>
          </a:p>
        </p:txBody>
      </p:sp>
      <p:sp>
        <p:nvSpPr>
          <p:cNvPr id="15363" name="AutoShape 8"/>
          <p:cNvSpPr>
            <a:spLocks noChangeArrowheads="1"/>
          </p:cNvSpPr>
          <p:nvPr/>
        </p:nvSpPr>
        <p:spPr bwMode="auto">
          <a:xfrm>
            <a:off x="5057775" y="5878513"/>
            <a:ext cx="307975" cy="252412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15364" name="AutoShape 9"/>
          <p:cNvSpPr>
            <a:spLocks noChangeArrowheads="1"/>
          </p:cNvSpPr>
          <p:nvPr/>
        </p:nvSpPr>
        <p:spPr bwMode="auto">
          <a:xfrm>
            <a:off x="5578475" y="5878513"/>
            <a:ext cx="307975" cy="252412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15365" name="AutoShape 10"/>
          <p:cNvSpPr>
            <a:spLocks noChangeArrowheads="1"/>
          </p:cNvSpPr>
          <p:nvPr/>
        </p:nvSpPr>
        <p:spPr bwMode="auto">
          <a:xfrm>
            <a:off x="6054725" y="5891213"/>
            <a:ext cx="307975" cy="252412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15366" name="AutoShape 11"/>
          <p:cNvSpPr>
            <a:spLocks noChangeArrowheads="1"/>
          </p:cNvSpPr>
          <p:nvPr/>
        </p:nvSpPr>
        <p:spPr bwMode="auto">
          <a:xfrm>
            <a:off x="6954838" y="5892800"/>
            <a:ext cx="307975" cy="252413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15367" name="AutoShape 12"/>
          <p:cNvSpPr>
            <a:spLocks noChangeArrowheads="1"/>
          </p:cNvSpPr>
          <p:nvPr/>
        </p:nvSpPr>
        <p:spPr bwMode="auto">
          <a:xfrm>
            <a:off x="4549775" y="5878513"/>
            <a:ext cx="307975" cy="252412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15368" name="AutoShape 13"/>
          <p:cNvSpPr>
            <a:spLocks noChangeArrowheads="1"/>
          </p:cNvSpPr>
          <p:nvPr/>
        </p:nvSpPr>
        <p:spPr bwMode="auto">
          <a:xfrm>
            <a:off x="1508125" y="5862638"/>
            <a:ext cx="307975" cy="252412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15369" name="AutoShape 16"/>
          <p:cNvSpPr>
            <a:spLocks noChangeArrowheads="1"/>
          </p:cNvSpPr>
          <p:nvPr/>
        </p:nvSpPr>
        <p:spPr bwMode="auto">
          <a:xfrm>
            <a:off x="4017963" y="5870575"/>
            <a:ext cx="307975" cy="252413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pic>
        <p:nvPicPr>
          <p:cNvPr id="15370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5881688"/>
            <a:ext cx="1149350" cy="862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71" name="Text Box 18"/>
          <p:cNvSpPr txBox="1">
            <a:spLocks noChangeArrowheads="1"/>
          </p:cNvSpPr>
          <p:nvPr/>
        </p:nvSpPr>
        <p:spPr bwMode="auto">
          <a:xfrm>
            <a:off x="-6350" y="5881688"/>
            <a:ext cx="5730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008000"/>
                </a:solidFill>
              </a:rPr>
              <a:t>Note:</a:t>
            </a:r>
          </a:p>
        </p:txBody>
      </p:sp>
      <p:sp>
        <p:nvSpPr>
          <p:cNvPr id="15372" name="AutoShape 19"/>
          <p:cNvSpPr>
            <a:spLocks noChangeArrowheads="1"/>
          </p:cNvSpPr>
          <p:nvPr/>
        </p:nvSpPr>
        <p:spPr bwMode="auto">
          <a:xfrm>
            <a:off x="8064500" y="5876925"/>
            <a:ext cx="307975" cy="252413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15373" name="AutoShape 20"/>
          <p:cNvSpPr>
            <a:spLocks noChangeArrowheads="1"/>
          </p:cNvSpPr>
          <p:nvPr/>
        </p:nvSpPr>
        <p:spPr bwMode="auto">
          <a:xfrm>
            <a:off x="8556625" y="5875338"/>
            <a:ext cx="307975" cy="252412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15374" name="AutoShape 21"/>
          <p:cNvSpPr>
            <a:spLocks noChangeArrowheads="1"/>
          </p:cNvSpPr>
          <p:nvPr/>
        </p:nvSpPr>
        <p:spPr bwMode="auto">
          <a:xfrm>
            <a:off x="3098800" y="5861050"/>
            <a:ext cx="307975" cy="252413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15375" name="AutoShape 22"/>
          <p:cNvSpPr>
            <a:spLocks noChangeArrowheads="1"/>
          </p:cNvSpPr>
          <p:nvPr/>
        </p:nvSpPr>
        <p:spPr bwMode="auto">
          <a:xfrm>
            <a:off x="2647950" y="5862638"/>
            <a:ext cx="307975" cy="252412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pic>
        <p:nvPicPr>
          <p:cNvPr id="15376" name="Picture 23" descr="j02920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863" y="466725"/>
            <a:ext cx="1082675" cy="102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7" name="Picture 2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55738"/>
            <a:ext cx="9144000" cy="436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78" name="AutoShape 25"/>
          <p:cNvSpPr>
            <a:spLocks noChangeArrowheads="1"/>
          </p:cNvSpPr>
          <p:nvPr/>
        </p:nvSpPr>
        <p:spPr bwMode="auto">
          <a:xfrm>
            <a:off x="3543300" y="5884863"/>
            <a:ext cx="307975" cy="252412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854075"/>
            <a:ext cx="8229600" cy="563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400" b="1" smtClean="0">
                <a:solidFill>
                  <a:srgbClr val="008000"/>
                </a:solidFill>
              </a:rPr>
              <a:t>12-1/4” Offset BHA – BHA Type vs. BHA Failure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2563" y="1397000"/>
            <a:ext cx="8766175" cy="31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r>
              <a:rPr lang="en-US" altLang="en-US" sz="2000" smtClean="0"/>
              <a:t>V wells                                                   W Deep Wells</a:t>
            </a:r>
          </a:p>
        </p:txBody>
      </p:sp>
      <p:sp>
        <p:nvSpPr>
          <p:cNvPr id="16388" name="Text Box 6"/>
          <p:cNvSpPr txBox="1">
            <a:spLocks noChangeArrowheads="1"/>
          </p:cNvSpPr>
          <p:nvPr/>
        </p:nvSpPr>
        <p:spPr bwMode="auto">
          <a:xfrm>
            <a:off x="198438" y="4808538"/>
            <a:ext cx="8621712" cy="146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1775" indent="-23177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sz="1800" b="1">
                <a:solidFill>
                  <a:srgbClr val="008000"/>
                </a:solidFill>
              </a:rPr>
              <a:t>Motor BHA is the smallest risk of BHA failure</a:t>
            </a:r>
          </a:p>
          <a:p>
            <a:pPr eaLnBrk="1" hangingPunct="1">
              <a:buFontTx/>
              <a:buChar char="•"/>
            </a:pPr>
            <a:r>
              <a:rPr lang="en-US" altLang="en-US" sz="1800" b="1">
                <a:solidFill>
                  <a:srgbClr val="008000"/>
                </a:solidFill>
              </a:rPr>
              <a:t>No NPT when BHA failure on Motor BHA (motor stab sleeve backed off, hung above bit, not caused fishing operation)</a:t>
            </a:r>
          </a:p>
          <a:p>
            <a:pPr eaLnBrk="1" hangingPunct="1">
              <a:buFontTx/>
              <a:buChar char="•"/>
            </a:pPr>
            <a:r>
              <a:rPr lang="en-US" altLang="en-US" sz="1800" b="1">
                <a:solidFill>
                  <a:srgbClr val="008000"/>
                </a:solidFill>
              </a:rPr>
              <a:t>No Packed BHA failure at Wiriagar Deep and less failure at Vorwata</a:t>
            </a:r>
          </a:p>
          <a:p>
            <a:pPr eaLnBrk="1" hangingPunct="1">
              <a:buFontTx/>
              <a:buChar char="•"/>
            </a:pPr>
            <a:r>
              <a:rPr lang="en-US" altLang="en-US" sz="1800" b="1">
                <a:solidFill>
                  <a:srgbClr val="008000"/>
                </a:solidFill>
              </a:rPr>
              <a:t>Pendulum BHA is the highest risk of BHA failure (40%-68%) </a:t>
            </a:r>
          </a:p>
        </p:txBody>
      </p:sp>
      <p:pic>
        <p:nvPicPr>
          <p:cNvPr id="16389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0425" y="1773238"/>
            <a:ext cx="4284663" cy="2908300"/>
          </a:xfrm>
          <a:prstGeom prst="rect">
            <a:avLst/>
          </a:prstGeom>
          <a:noFill/>
          <a:ln w="15875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0" name="Picture 9" descr="j02920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9413" y="5792788"/>
            <a:ext cx="1082675" cy="102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1760538"/>
            <a:ext cx="4525963" cy="2924175"/>
          </a:xfrm>
          <a:prstGeom prst="rect">
            <a:avLst/>
          </a:prstGeom>
          <a:noFill/>
          <a:ln w="19050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854075"/>
            <a:ext cx="8418513" cy="563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600" b="1" smtClean="0">
                <a:solidFill>
                  <a:srgbClr val="008000"/>
                </a:solidFill>
              </a:rPr>
              <a:t>12-1/4” BHA – Lateral Displacement and BHA type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z="2800" smtClean="0"/>
          </a:p>
          <a:p>
            <a:pPr eaLnBrk="1" hangingPunct="1">
              <a:buFontTx/>
              <a:buNone/>
            </a:pPr>
            <a:endParaRPr lang="en-US" altLang="en-US" sz="2800" smtClean="0"/>
          </a:p>
        </p:txBody>
      </p:sp>
      <p:pic>
        <p:nvPicPr>
          <p:cNvPr id="1741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0" y="1350963"/>
            <a:ext cx="7712075" cy="5005387"/>
          </a:xfrm>
          <a:prstGeom prst="rect">
            <a:avLst/>
          </a:prstGeom>
          <a:noFill/>
          <a:ln w="19050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413" name="Rectangle 6"/>
          <p:cNvSpPr>
            <a:spLocks noChangeArrowheads="1"/>
          </p:cNvSpPr>
          <p:nvPr/>
        </p:nvSpPr>
        <p:spPr bwMode="auto">
          <a:xfrm>
            <a:off x="690563" y="1462088"/>
            <a:ext cx="1322387" cy="146367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17414" name="Rectangle 7"/>
          <p:cNvSpPr>
            <a:spLocks noChangeArrowheads="1"/>
          </p:cNvSpPr>
          <p:nvPr/>
        </p:nvSpPr>
        <p:spPr bwMode="auto">
          <a:xfrm>
            <a:off x="644525" y="3119438"/>
            <a:ext cx="3559175" cy="3081337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pic>
        <p:nvPicPr>
          <p:cNvPr id="17415" name="Picture 8" descr="j02920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9413" y="5792788"/>
            <a:ext cx="1082675" cy="102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6" name="AutoShape 9"/>
          <p:cNvSpPr>
            <a:spLocks noChangeArrowheads="1"/>
          </p:cNvSpPr>
          <p:nvPr/>
        </p:nvSpPr>
        <p:spPr bwMode="auto">
          <a:xfrm rot="1886775">
            <a:off x="3773488" y="4848225"/>
            <a:ext cx="261937" cy="26035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17417" name="AutoShape 10"/>
          <p:cNvSpPr>
            <a:spLocks noChangeArrowheads="1"/>
          </p:cNvSpPr>
          <p:nvPr/>
        </p:nvSpPr>
        <p:spPr bwMode="auto">
          <a:xfrm rot="1886775">
            <a:off x="3751263" y="3098800"/>
            <a:ext cx="261937" cy="26035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17418" name="AutoShape 11"/>
          <p:cNvSpPr>
            <a:spLocks noChangeArrowheads="1"/>
          </p:cNvSpPr>
          <p:nvPr/>
        </p:nvSpPr>
        <p:spPr bwMode="auto">
          <a:xfrm rot="1886775">
            <a:off x="1820863" y="1560513"/>
            <a:ext cx="261937" cy="26035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17419" name="Text Box 12"/>
          <p:cNvSpPr txBox="1">
            <a:spLocks noChangeArrowheads="1"/>
          </p:cNvSpPr>
          <p:nvPr/>
        </p:nvSpPr>
        <p:spPr bwMode="auto">
          <a:xfrm>
            <a:off x="531813" y="6380163"/>
            <a:ext cx="287178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chemeClr val="accent2"/>
                </a:solidFill>
              </a:rPr>
              <a:t>Wellplan 2000, Critical Speed Module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849313" y="169545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 sz="180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41313" y="779463"/>
            <a:ext cx="7146925" cy="454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800" b="1" smtClean="0">
                <a:solidFill>
                  <a:srgbClr val="008000"/>
                </a:solidFill>
              </a:rPr>
              <a:t>Downhole Vibration Record - sample</a:t>
            </a:r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813" y="1317625"/>
            <a:ext cx="3709987" cy="5067300"/>
          </a:xfrm>
          <a:prstGeom prst="rect">
            <a:avLst/>
          </a:prstGeom>
          <a:noFill/>
          <a:ln w="22225">
            <a:solidFill>
              <a:srgbClr val="99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5581650" y="6003925"/>
            <a:ext cx="282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/>
              <a:t>V Well (7,600’ – 7,730’)</a:t>
            </a: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1766888" y="1423988"/>
            <a:ext cx="11890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GR &amp; ROP</a:t>
            </a:r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3833813" y="1984375"/>
            <a:ext cx="4318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S1</a:t>
            </a:r>
          </a:p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S2</a:t>
            </a:r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4291013" y="1292225"/>
            <a:ext cx="836612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chemeClr val="accent2"/>
                </a:solidFill>
              </a:rPr>
              <a:t>Min</a:t>
            </a:r>
          </a:p>
          <a:p>
            <a:pPr eaLnBrk="1" hangingPunct="1"/>
            <a:r>
              <a:rPr lang="en-US" altLang="en-US" sz="1400" b="1">
                <a:solidFill>
                  <a:schemeClr val="accent2"/>
                </a:solidFill>
              </a:rPr>
              <a:t>Max</a:t>
            </a:r>
          </a:p>
          <a:p>
            <a:pPr eaLnBrk="1" hangingPunct="1"/>
            <a:r>
              <a:rPr lang="en-US" altLang="en-US" sz="1400" b="1">
                <a:solidFill>
                  <a:schemeClr val="accent2"/>
                </a:solidFill>
              </a:rPr>
              <a:t>DHRPM</a:t>
            </a:r>
          </a:p>
        </p:txBody>
      </p:sp>
      <p:sp>
        <p:nvSpPr>
          <p:cNvPr id="18441" name="Text Box 9"/>
          <p:cNvSpPr txBox="1">
            <a:spLocks noChangeArrowheads="1"/>
          </p:cNvSpPr>
          <p:nvPr/>
        </p:nvSpPr>
        <p:spPr bwMode="auto">
          <a:xfrm>
            <a:off x="3094038" y="1298575"/>
            <a:ext cx="95250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chemeClr val="accent2"/>
                </a:solidFill>
              </a:rPr>
              <a:t>Lateral</a:t>
            </a:r>
          </a:p>
          <a:p>
            <a:pPr eaLnBrk="1" hangingPunct="1"/>
            <a:r>
              <a:rPr lang="en-US" altLang="en-US" sz="1400" b="1">
                <a:solidFill>
                  <a:schemeClr val="accent2"/>
                </a:solidFill>
              </a:rPr>
              <a:t>Axial</a:t>
            </a:r>
          </a:p>
          <a:p>
            <a:pPr eaLnBrk="1" hangingPunct="1"/>
            <a:r>
              <a:rPr lang="en-US" altLang="en-US" sz="1400" b="1">
                <a:solidFill>
                  <a:schemeClr val="accent2"/>
                </a:solidFill>
              </a:rPr>
              <a:t>Vibration</a:t>
            </a:r>
          </a:p>
        </p:txBody>
      </p:sp>
      <p:sp>
        <p:nvSpPr>
          <p:cNvPr id="18442" name="AutoShape 10"/>
          <p:cNvSpPr>
            <a:spLocks noChangeArrowheads="1"/>
          </p:cNvSpPr>
          <p:nvPr/>
        </p:nvSpPr>
        <p:spPr bwMode="auto">
          <a:xfrm>
            <a:off x="2133600" y="1727200"/>
            <a:ext cx="393700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18443" name="AutoShape 11"/>
          <p:cNvSpPr>
            <a:spLocks noChangeArrowheads="1"/>
          </p:cNvSpPr>
          <p:nvPr/>
        </p:nvSpPr>
        <p:spPr bwMode="auto">
          <a:xfrm>
            <a:off x="3302000" y="2009775"/>
            <a:ext cx="393700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18444" name="AutoShape 12"/>
          <p:cNvSpPr>
            <a:spLocks noChangeArrowheads="1"/>
          </p:cNvSpPr>
          <p:nvPr/>
        </p:nvSpPr>
        <p:spPr bwMode="auto">
          <a:xfrm>
            <a:off x="3852863" y="2517775"/>
            <a:ext cx="393700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18445" name="AutoShape 13"/>
          <p:cNvSpPr>
            <a:spLocks noChangeArrowheads="1"/>
          </p:cNvSpPr>
          <p:nvPr/>
        </p:nvSpPr>
        <p:spPr bwMode="auto">
          <a:xfrm>
            <a:off x="4376738" y="1966913"/>
            <a:ext cx="393700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18446" name="Text Box 14"/>
          <p:cNvSpPr txBox="1">
            <a:spLocks noChangeArrowheads="1"/>
          </p:cNvSpPr>
          <p:nvPr/>
        </p:nvSpPr>
        <p:spPr bwMode="auto">
          <a:xfrm>
            <a:off x="5583238" y="1511300"/>
            <a:ext cx="3371850" cy="302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1775" indent="-23177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sz="1600" b="1">
                <a:solidFill>
                  <a:srgbClr val="008000"/>
                </a:solidFill>
              </a:rPr>
              <a:t>Realize that in stick-slip event, the downhole BHA component always face critical speed rotation although we maintain surface rotation in safest RPM range.</a:t>
            </a:r>
          </a:p>
          <a:p>
            <a:pPr eaLnBrk="1" hangingPunct="1"/>
            <a:endParaRPr lang="en-US" altLang="en-US" sz="1600" b="1">
              <a:solidFill>
                <a:srgbClr val="008000"/>
              </a:solidFill>
            </a:endParaRPr>
          </a:p>
          <a:p>
            <a:pPr eaLnBrk="1" hangingPunct="1">
              <a:buFontTx/>
              <a:buChar char="•"/>
            </a:pPr>
            <a:r>
              <a:rPr lang="en-US" altLang="en-US" sz="1600" b="1">
                <a:solidFill>
                  <a:srgbClr val="008000"/>
                </a:solidFill>
              </a:rPr>
              <a:t>Real Time Downhole Detected Vibration is useful for observing actual vibration on Drill String and immediate mitigation.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68288" y="723900"/>
            <a:ext cx="8875712" cy="563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000" b="1" smtClean="0">
                <a:solidFill>
                  <a:srgbClr val="008000"/>
                </a:solidFill>
              </a:rPr>
              <a:t>12-1/4” BHA – Vibration Record Summary of Offset Wells</a:t>
            </a:r>
          </a:p>
        </p:txBody>
      </p:sp>
      <p:pic>
        <p:nvPicPr>
          <p:cNvPr id="20483" name="Picture 7" descr="j02920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9413" y="5792788"/>
            <a:ext cx="1082675" cy="102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Text Box 12"/>
          <p:cNvSpPr txBox="1">
            <a:spLocks noChangeArrowheads="1"/>
          </p:cNvSpPr>
          <p:nvPr/>
        </p:nvSpPr>
        <p:spPr bwMode="auto">
          <a:xfrm>
            <a:off x="836613" y="5232400"/>
            <a:ext cx="7342187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1775" indent="-23177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sz="1800" b="1">
                <a:solidFill>
                  <a:srgbClr val="008000"/>
                </a:solidFill>
              </a:rPr>
              <a:t>No backward motion was reported on Packed BHA</a:t>
            </a:r>
          </a:p>
          <a:p>
            <a:pPr eaLnBrk="1" hangingPunct="1">
              <a:buFontTx/>
              <a:buChar char="•"/>
            </a:pPr>
            <a:r>
              <a:rPr lang="en-US" altLang="en-US" sz="1800" b="1">
                <a:solidFill>
                  <a:srgbClr val="008000"/>
                </a:solidFill>
              </a:rPr>
              <a:t>Pendulum BHA has more lateral and axial vibration</a:t>
            </a:r>
          </a:p>
          <a:p>
            <a:pPr eaLnBrk="1" hangingPunct="1">
              <a:buFontTx/>
              <a:buChar char="•"/>
            </a:pPr>
            <a:r>
              <a:rPr lang="en-US" altLang="en-US" sz="1800" b="1">
                <a:solidFill>
                  <a:srgbClr val="008000"/>
                </a:solidFill>
              </a:rPr>
              <a:t>Stabilizer distance on motor may effect on vibration magnitude</a:t>
            </a:r>
          </a:p>
          <a:p>
            <a:pPr eaLnBrk="1" hangingPunct="1">
              <a:buFontTx/>
              <a:buChar char="•"/>
            </a:pPr>
            <a:r>
              <a:rPr lang="en-US" altLang="en-US" sz="1800" b="1">
                <a:solidFill>
                  <a:srgbClr val="008000"/>
                </a:solidFill>
              </a:rPr>
              <a:t>The lowest vibration was reported when placed stabilizer just above the motor</a:t>
            </a:r>
          </a:p>
        </p:txBody>
      </p:sp>
      <p:sp>
        <p:nvSpPr>
          <p:cNvPr id="20485" name="Text Box 15"/>
          <p:cNvSpPr txBox="1">
            <a:spLocks noChangeArrowheads="1"/>
          </p:cNvSpPr>
          <p:nvPr/>
        </p:nvSpPr>
        <p:spPr bwMode="auto">
          <a:xfrm>
            <a:off x="7597775" y="4408488"/>
            <a:ext cx="15462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Reference: </a:t>
            </a:r>
          </a:p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BHA Offset &amp; T Drilling Dynamic Study</a:t>
            </a:r>
          </a:p>
        </p:txBody>
      </p:sp>
      <p:pic>
        <p:nvPicPr>
          <p:cNvPr id="20486" name="Picture 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1135063"/>
            <a:ext cx="7246937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7" name="Picture 2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0950" y="939800"/>
            <a:ext cx="1293813" cy="344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488" name="Rectangle 21"/>
          <p:cNvSpPr>
            <a:spLocks noChangeArrowheads="1"/>
          </p:cNvSpPr>
          <p:nvPr/>
        </p:nvSpPr>
        <p:spPr bwMode="auto">
          <a:xfrm>
            <a:off x="357188" y="1695450"/>
            <a:ext cx="609600" cy="54292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id-ID" altLang="en-US" sz="1800" b="1">
                <a:solidFill>
                  <a:srgbClr val="008000"/>
                </a:solidFill>
              </a:rPr>
              <a:t>V-4</a:t>
            </a:r>
          </a:p>
        </p:txBody>
      </p:sp>
      <p:sp>
        <p:nvSpPr>
          <p:cNvPr id="20489" name="Rectangle 21"/>
          <p:cNvSpPr>
            <a:spLocks noChangeArrowheads="1"/>
          </p:cNvSpPr>
          <p:nvPr/>
        </p:nvSpPr>
        <p:spPr bwMode="auto">
          <a:xfrm>
            <a:off x="357188" y="2238375"/>
            <a:ext cx="609600" cy="68262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id-ID" altLang="en-US" sz="1800" b="1">
                <a:solidFill>
                  <a:srgbClr val="008000"/>
                </a:solidFill>
              </a:rPr>
              <a:t>V-5</a:t>
            </a:r>
          </a:p>
        </p:txBody>
      </p:sp>
      <p:sp>
        <p:nvSpPr>
          <p:cNvPr id="20490" name="Rectangle 21"/>
          <p:cNvSpPr>
            <a:spLocks noChangeArrowheads="1"/>
          </p:cNvSpPr>
          <p:nvPr/>
        </p:nvSpPr>
        <p:spPr bwMode="auto">
          <a:xfrm>
            <a:off x="357188" y="2921000"/>
            <a:ext cx="609600" cy="44132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id-ID" altLang="en-US" sz="1800" b="1">
                <a:solidFill>
                  <a:srgbClr val="008000"/>
                </a:solidFill>
              </a:rPr>
              <a:t>V-6</a:t>
            </a:r>
          </a:p>
        </p:txBody>
      </p:sp>
      <p:sp>
        <p:nvSpPr>
          <p:cNvPr id="20491" name="Rectangle 21"/>
          <p:cNvSpPr>
            <a:spLocks noChangeArrowheads="1"/>
          </p:cNvSpPr>
          <p:nvPr/>
        </p:nvSpPr>
        <p:spPr bwMode="auto">
          <a:xfrm>
            <a:off x="357188" y="3378200"/>
            <a:ext cx="609600" cy="93662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id-ID" altLang="en-US" sz="1800" b="1">
                <a:solidFill>
                  <a:srgbClr val="008000"/>
                </a:solidFill>
              </a:rPr>
              <a:t>V-7</a:t>
            </a:r>
          </a:p>
        </p:txBody>
      </p:sp>
      <p:sp>
        <p:nvSpPr>
          <p:cNvPr id="20492" name="Rectangle 21"/>
          <p:cNvSpPr>
            <a:spLocks noChangeArrowheads="1"/>
          </p:cNvSpPr>
          <p:nvPr/>
        </p:nvSpPr>
        <p:spPr bwMode="auto">
          <a:xfrm>
            <a:off x="357188" y="4314825"/>
            <a:ext cx="609600" cy="7239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id-ID" altLang="en-US" sz="1800" b="1">
                <a:solidFill>
                  <a:srgbClr val="008000"/>
                </a:solidFill>
              </a:rPr>
              <a:t>V-9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849313" y="169545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 sz="180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879475" y="2898775"/>
            <a:ext cx="7146925" cy="6127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3200" b="1" smtClean="0">
                <a:solidFill>
                  <a:srgbClr val="008000"/>
                </a:solidFill>
              </a:rPr>
              <a:t>12-1/4” BHA: JARS AND DC SIZES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766763"/>
            <a:ext cx="8229600" cy="4333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400" b="1" smtClean="0">
                <a:solidFill>
                  <a:srgbClr val="008000"/>
                </a:solidFill>
              </a:rPr>
              <a:t>12-1/4” BHA – Failure record on BHA component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z="2400" smtClean="0"/>
          </a:p>
          <a:p>
            <a:pPr eaLnBrk="1" hangingPunct="1">
              <a:buFontTx/>
              <a:buNone/>
            </a:pPr>
            <a:endParaRPr lang="en-US" altLang="en-US" sz="2400" smtClean="0"/>
          </a:p>
        </p:txBody>
      </p:sp>
      <p:sp>
        <p:nvSpPr>
          <p:cNvPr id="22532" name="Text Box 9"/>
          <p:cNvSpPr txBox="1">
            <a:spLocks noChangeArrowheads="1"/>
          </p:cNvSpPr>
          <p:nvPr/>
        </p:nvSpPr>
        <p:spPr bwMode="auto">
          <a:xfrm>
            <a:off x="236538" y="4021138"/>
            <a:ext cx="5773737" cy="1082675"/>
          </a:xfrm>
          <a:prstGeom prst="rect">
            <a:avLst/>
          </a:prstGeom>
          <a:noFill/>
          <a:ln w="12700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1775" indent="-23177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tx2"/>
                </a:solidFill>
              </a:rPr>
              <a:t>V Wells 12-1/4” BHA failure:</a:t>
            </a:r>
          </a:p>
          <a:p>
            <a:pPr eaLnBrk="1" hangingPunct="1">
              <a:buFontTx/>
              <a:buChar char="•"/>
            </a:pPr>
            <a:r>
              <a:rPr lang="en-US" altLang="en-US" sz="1600" b="1">
                <a:solidFill>
                  <a:srgbClr val="008000"/>
                </a:solidFill>
              </a:rPr>
              <a:t>No major failure on mud motor BHA.</a:t>
            </a:r>
          </a:p>
          <a:p>
            <a:pPr eaLnBrk="1" hangingPunct="1">
              <a:buFontTx/>
              <a:buChar char="•"/>
            </a:pPr>
            <a:r>
              <a:rPr lang="en-US" altLang="en-US" sz="1600" b="1">
                <a:solidFill>
                  <a:srgbClr val="008000"/>
                </a:solidFill>
              </a:rPr>
              <a:t>The most frequent failure of BHA component is Jars</a:t>
            </a:r>
          </a:p>
          <a:p>
            <a:pPr eaLnBrk="1" hangingPunct="1">
              <a:buFontTx/>
              <a:buChar char="•"/>
            </a:pPr>
            <a:r>
              <a:rPr lang="en-US" altLang="en-US" sz="1600" b="1">
                <a:solidFill>
                  <a:srgbClr val="008000"/>
                </a:solidFill>
              </a:rPr>
              <a:t>2 of 3 DC failures were 6.5” DC size</a:t>
            </a:r>
          </a:p>
        </p:txBody>
      </p:sp>
      <p:graphicFrame>
        <p:nvGraphicFramePr>
          <p:cNvPr id="22533" name="Object 11"/>
          <p:cNvGraphicFramePr>
            <a:graphicFrameLocks noGrp="1" noChangeAspect="1"/>
          </p:cNvGraphicFramePr>
          <p:nvPr>
            <p:ph sz="half" idx="2"/>
          </p:nvPr>
        </p:nvGraphicFramePr>
        <p:xfrm>
          <a:off x="303213" y="1547813"/>
          <a:ext cx="4341812" cy="242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" name="Chart" r:id="rId3" imgW="5200802" imgH="4648200" progId="MSGraph.Chart.8">
                  <p:embed followColorScheme="full"/>
                </p:oleObj>
              </mc:Choice>
              <mc:Fallback>
                <p:oleObj name="Chart" r:id="rId3" imgW="5200802" imgH="4648200" progId="MSGraph.Chart.8">
                  <p:embed followColorScheme="full"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3" y="1547813"/>
                        <a:ext cx="4341812" cy="2420937"/>
                      </a:xfrm>
                      <a:prstGeom prst="rect">
                        <a:avLst/>
                      </a:prstGeom>
                      <a:noFill/>
                      <a:ln w="3175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534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5050" y="1503363"/>
            <a:ext cx="4033838" cy="2443162"/>
          </a:xfrm>
          <a:prstGeom prst="rect">
            <a:avLst/>
          </a:prstGeom>
          <a:noFill/>
          <a:ln w="25400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535" name="Text Box 15"/>
          <p:cNvSpPr txBox="1">
            <a:spLocks noChangeArrowheads="1"/>
          </p:cNvSpPr>
          <p:nvPr/>
        </p:nvSpPr>
        <p:spPr bwMode="auto">
          <a:xfrm>
            <a:off x="2070100" y="1693863"/>
            <a:ext cx="8747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8000"/>
                </a:solidFill>
              </a:rPr>
              <a:t>Vorwata</a:t>
            </a:r>
          </a:p>
        </p:txBody>
      </p:sp>
      <p:cxnSp>
        <p:nvCxnSpPr>
          <p:cNvPr id="22536" name="AutoShape 18"/>
          <p:cNvCxnSpPr>
            <a:cxnSpLocks noChangeShapeType="1"/>
            <a:stCxn id="22534" idx="2"/>
            <a:endCxn id="22532" idx="3"/>
          </p:cNvCxnSpPr>
          <p:nvPr/>
        </p:nvCxnSpPr>
        <p:spPr bwMode="auto">
          <a:xfrm rot="5400000">
            <a:off x="6134894" y="3834606"/>
            <a:ext cx="603250" cy="852488"/>
          </a:xfrm>
          <a:prstGeom prst="bentConnector2">
            <a:avLst/>
          </a:prstGeom>
          <a:noFill/>
          <a:ln w="60325">
            <a:solidFill>
              <a:srgbClr val="FF66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37" name="Text Box 19"/>
          <p:cNvSpPr txBox="1">
            <a:spLocks noChangeArrowheads="1"/>
          </p:cNvSpPr>
          <p:nvPr/>
        </p:nvSpPr>
        <p:spPr bwMode="auto">
          <a:xfrm>
            <a:off x="6918325" y="3998913"/>
            <a:ext cx="2225675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BHA failure at W wells had similarity with V wells </a:t>
            </a:r>
          </a:p>
        </p:txBody>
      </p:sp>
      <p:pic>
        <p:nvPicPr>
          <p:cNvPr id="22538" name="Picture 20" descr="j029202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9413" y="5792788"/>
            <a:ext cx="1082675" cy="102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9" name="AutoShape 22"/>
          <p:cNvSpPr>
            <a:spLocks noChangeArrowheads="1"/>
          </p:cNvSpPr>
          <p:nvPr/>
        </p:nvSpPr>
        <p:spPr bwMode="auto">
          <a:xfrm>
            <a:off x="5762625" y="5108575"/>
            <a:ext cx="3167063" cy="820738"/>
          </a:xfrm>
          <a:prstGeom prst="cloudCallout">
            <a:avLst>
              <a:gd name="adj1" fmla="val 26843"/>
              <a:gd name="adj2" fmla="val 73403"/>
            </a:avLst>
          </a:prstGeom>
          <a:solidFill>
            <a:srgbClr val="CCFFCC"/>
          </a:solidFill>
          <a:ln w="6350">
            <a:solidFill>
              <a:srgbClr val="008000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b="1">
                <a:solidFill>
                  <a:srgbClr val="FF0000"/>
                </a:solidFill>
              </a:rPr>
              <a:t>Why Jars…?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766763"/>
            <a:ext cx="8229600" cy="4333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400" b="1" smtClean="0">
                <a:solidFill>
                  <a:srgbClr val="008000"/>
                </a:solidFill>
              </a:rPr>
              <a:t>12-1/4” BHA – Failure Evaluation on BHA component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z="2400" smtClean="0"/>
          </a:p>
          <a:p>
            <a:pPr eaLnBrk="1" hangingPunct="1">
              <a:buFontTx/>
              <a:buNone/>
            </a:pPr>
            <a:endParaRPr lang="en-US" altLang="en-US" sz="2400" smtClean="0"/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612775" y="4797425"/>
            <a:ext cx="7937500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1775" indent="-23177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tx2"/>
                </a:solidFill>
              </a:rPr>
              <a:t>V wells 12-1/4” BHA failure:</a:t>
            </a:r>
          </a:p>
          <a:p>
            <a:pPr eaLnBrk="1" hangingPunct="1">
              <a:buFontTx/>
              <a:buChar char="•"/>
            </a:pPr>
            <a:r>
              <a:rPr lang="en-US" altLang="en-US" sz="1600" b="1">
                <a:solidFill>
                  <a:srgbClr val="008000"/>
                </a:solidFill>
              </a:rPr>
              <a:t>10 of 17 failures (DC, Jars and X/O) are located at maximum Torsional Displacement </a:t>
            </a:r>
          </a:p>
          <a:p>
            <a:pPr eaLnBrk="1" hangingPunct="1">
              <a:buFontTx/>
              <a:buChar char="•"/>
            </a:pPr>
            <a:r>
              <a:rPr lang="en-US" altLang="en-US" sz="1600" b="1">
                <a:solidFill>
                  <a:srgbClr val="008000"/>
                </a:solidFill>
              </a:rPr>
              <a:t>2 of 17 failures are located near of neutral point</a:t>
            </a:r>
          </a:p>
          <a:p>
            <a:pPr eaLnBrk="1" hangingPunct="1">
              <a:buFontTx/>
              <a:buChar char="•"/>
            </a:pPr>
            <a:r>
              <a:rPr lang="en-US" altLang="en-US" sz="1600" b="1">
                <a:solidFill>
                  <a:srgbClr val="008000"/>
                </a:solidFill>
              </a:rPr>
              <a:t>2 of 3 failures on DC </a:t>
            </a:r>
            <a:r>
              <a:rPr lang="id-ID" altLang="en-US" sz="1600" b="1">
                <a:solidFill>
                  <a:srgbClr val="008000"/>
                </a:solidFill>
              </a:rPr>
              <a:t>(</a:t>
            </a:r>
            <a:r>
              <a:rPr lang="en-US" altLang="en-US" sz="1600" b="1">
                <a:solidFill>
                  <a:srgbClr val="008000"/>
                </a:solidFill>
              </a:rPr>
              <a:t>6.5” DC size</a:t>
            </a:r>
            <a:r>
              <a:rPr lang="id-ID" altLang="en-US" sz="1600" b="1">
                <a:solidFill>
                  <a:srgbClr val="008000"/>
                </a:solidFill>
              </a:rPr>
              <a:t>)</a:t>
            </a:r>
            <a:endParaRPr lang="en-US" altLang="en-US" sz="1600" b="1">
              <a:solidFill>
                <a:srgbClr val="008000"/>
              </a:solidFill>
            </a:endParaRPr>
          </a:p>
        </p:txBody>
      </p:sp>
      <p:pic>
        <p:nvPicPr>
          <p:cNvPr id="23557" name="Picture 10" descr="j02920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9413" y="5792788"/>
            <a:ext cx="1082675" cy="102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1384300"/>
            <a:ext cx="7934325" cy="333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559" name="AutoShape 15"/>
          <p:cNvSpPr>
            <a:spLocks noChangeArrowheads="1"/>
          </p:cNvSpPr>
          <p:nvPr/>
        </p:nvSpPr>
        <p:spPr bwMode="auto">
          <a:xfrm>
            <a:off x="5775325" y="2511425"/>
            <a:ext cx="233363" cy="188913"/>
          </a:xfrm>
          <a:prstGeom prst="leftArrow">
            <a:avLst>
              <a:gd name="adj1" fmla="val 50000"/>
              <a:gd name="adj2" fmla="val 30882"/>
            </a:avLst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23560" name="AutoShape 16"/>
          <p:cNvSpPr>
            <a:spLocks noChangeArrowheads="1"/>
          </p:cNvSpPr>
          <p:nvPr/>
        </p:nvSpPr>
        <p:spPr bwMode="auto">
          <a:xfrm>
            <a:off x="5840413" y="2025650"/>
            <a:ext cx="233362" cy="188913"/>
          </a:xfrm>
          <a:prstGeom prst="leftArrow">
            <a:avLst>
              <a:gd name="adj1" fmla="val 50000"/>
              <a:gd name="adj2" fmla="val 30882"/>
            </a:avLst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23561" name="Rectangle 17"/>
          <p:cNvSpPr>
            <a:spLocks noChangeArrowheads="1"/>
          </p:cNvSpPr>
          <p:nvPr/>
        </p:nvSpPr>
        <p:spPr bwMode="auto">
          <a:xfrm>
            <a:off x="914400" y="1716088"/>
            <a:ext cx="666750" cy="19685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id-ID" altLang="en-US" sz="1800" b="1">
                <a:solidFill>
                  <a:srgbClr val="008000"/>
                </a:solidFill>
              </a:rPr>
              <a:t>V1 – V10</a:t>
            </a:r>
          </a:p>
        </p:txBody>
      </p:sp>
      <p:sp>
        <p:nvSpPr>
          <p:cNvPr id="23562" name="Rectangle 17"/>
          <p:cNvSpPr>
            <a:spLocks noChangeArrowheads="1"/>
          </p:cNvSpPr>
          <p:nvPr/>
        </p:nvSpPr>
        <p:spPr bwMode="auto">
          <a:xfrm>
            <a:off x="914400" y="3684588"/>
            <a:ext cx="666750" cy="79533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id-ID" altLang="en-US" sz="1800" b="1">
                <a:solidFill>
                  <a:srgbClr val="008000"/>
                </a:solidFill>
              </a:rPr>
              <a:t>Rbb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766763"/>
            <a:ext cx="8229600" cy="5635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800" b="1" smtClean="0">
                <a:solidFill>
                  <a:srgbClr val="008000"/>
                </a:solidFill>
              </a:rPr>
              <a:t>Why Drilling Jars fail..?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z="2800" smtClean="0"/>
          </a:p>
          <a:p>
            <a:pPr eaLnBrk="1" hangingPunct="1">
              <a:buFontTx/>
              <a:buNone/>
            </a:pPr>
            <a:endParaRPr lang="en-US" altLang="en-US" sz="2800" smtClean="0"/>
          </a:p>
        </p:txBody>
      </p:sp>
      <p:pic>
        <p:nvPicPr>
          <p:cNvPr id="2458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1270000"/>
            <a:ext cx="8545512" cy="447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81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187692">
            <a:off x="3494088" y="3336925"/>
            <a:ext cx="619125" cy="539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582" name="Line 19"/>
          <p:cNvSpPr>
            <a:spLocks noChangeShapeType="1"/>
          </p:cNvSpPr>
          <p:nvPr/>
        </p:nvSpPr>
        <p:spPr bwMode="auto">
          <a:xfrm>
            <a:off x="3686175" y="2133600"/>
            <a:ext cx="782638" cy="3832225"/>
          </a:xfrm>
          <a:prstGeom prst="line">
            <a:avLst/>
          </a:prstGeom>
          <a:noFill/>
          <a:ln w="22225">
            <a:solidFill>
              <a:srgbClr val="FF66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3" name="Line 21"/>
          <p:cNvSpPr>
            <a:spLocks noChangeShapeType="1"/>
          </p:cNvSpPr>
          <p:nvPr/>
        </p:nvSpPr>
        <p:spPr bwMode="auto">
          <a:xfrm flipH="1">
            <a:off x="957263" y="4470400"/>
            <a:ext cx="1044575" cy="2119313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4" name="AutoShape 22"/>
          <p:cNvSpPr>
            <a:spLocks noChangeArrowheads="1"/>
          </p:cNvSpPr>
          <p:nvPr/>
        </p:nvSpPr>
        <p:spPr bwMode="auto">
          <a:xfrm rot="1242299">
            <a:off x="3779838" y="2227263"/>
            <a:ext cx="449262" cy="290512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24585" name="Text Box 23"/>
          <p:cNvSpPr txBox="1">
            <a:spLocks noChangeArrowheads="1"/>
          </p:cNvSpPr>
          <p:nvPr/>
        </p:nvSpPr>
        <p:spPr bwMode="auto">
          <a:xfrm rot="-216797">
            <a:off x="4403725" y="5468938"/>
            <a:ext cx="47307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8000"/>
                </a:solidFill>
              </a:rPr>
              <a:t>Jars position at maximum torsional displacement</a:t>
            </a:r>
          </a:p>
        </p:txBody>
      </p:sp>
      <p:sp>
        <p:nvSpPr>
          <p:cNvPr id="24586" name="Text Box 24"/>
          <p:cNvSpPr txBox="1">
            <a:spLocks noChangeArrowheads="1"/>
          </p:cNvSpPr>
          <p:nvPr/>
        </p:nvSpPr>
        <p:spPr bwMode="auto">
          <a:xfrm>
            <a:off x="212725" y="6380163"/>
            <a:ext cx="28717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chemeClr val="accent2"/>
                </a:solidFill>
              </a:rPr>
              <a:t>Wellplan 2000, Critical Speed Module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1243013"/>
            <a:ext cx="8528050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60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809625"/>
            <a:ext cx="8229600" cy="563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800" b="1" smtClean="0">
                <a:solidFill>
                  <a:srgbClr val="008000"/>
                </a:solidFill>
              </a:rPr>
              <a:t>Why Drilling Jars fail..?</a:t>
            </a:r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z="2800" smtClean="0"/>
          </a:p>
          <a:p>
            <a:pPr eaLnBrk="1" hangingPunct="1">
              <a:buFontTx/>
              <a:buNone/>
            </a:pPr>
            <a:endParaRPr lang="en-US" altLang="en-US" sz="2800" smtClean="0"/>
          </a:p>
        </p:txBody>
      </p:sp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8" y="2606675"/>
            <a:ext cx="2740025" cy="2963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3675" y="2736850"/>
            <a:ext cx="3687763" cy="145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607" name="Oval 7"/>
          <p:cNvSpPr>
            <a:spLocks noChangeArrowheads="1"/>
          </p:cNvSpPr>
          <p:nvPr/>
        </p:nvSpPr>
        <p:spPr bwMode="auto">
          <a:xfrm>
            <a:off x="5935663" y="1450975"/>
            <a:ext cx="769937" cy="538163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25608" name="Oval 8"/>
          <p:cNvSpPr>
            <a:spLocks noChangeArrowheads="1"/>
          </p:cNvSpPr>
          <p:nvPr/>
        </p:nvSpPr>
        <p:spPr bwMode="auto">
          <a:xfrm>
            <a:off x="647700" y="1373188"/>
            <a:ext cx="841375" cy="798512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25609" name="Text Box 9"/>
          <p:cNvSpPr txBox="1">
            <a:spLocks noChangeArrowheads="1"/>
          </p:cNvSpPr>
          <p:nvPr/>
        </p:nvSpPr>
        <p:spPr bwMode="auto">
          <a:xfrm>
            <a:off x="227013" y="2120900"/>
            <a:ext cx="5183187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sz="1600" b="1">
                <a:solidFill>
                  <a:schemeClr val="accent2"/>
                </a:solidFill>
              </a:rPr>
              <a:t> Not solid part, but consist of mandrel and housing</a:t>
            </a:r>
          </a:p>
          <a:p>
            <a:pPr eaLnBrk="1" hangingPunct="1">
              <a:buFontTx/>
              <a:buChar char="•"/>
            </a:pPr>
            <a:r>
              <a:rPr lang="en-US" altLang="en-US" sz="1600" b="1">
                <a:solidFill>
                  <a:schemeClr val="accent2"/>
                </a:solidFill>
              </a:rPr>
              <a:t> Flex section, OD reduction</a:t>
            </a:r>
          </a:p>
        </p:txBody>
      </p:sp>
      <p:sp>
        <p:nvSpPr>
          <p:cNvPr id="25610" name="Text Box 10"/>
          <p:cNvSpPr txBox="1">
            <a:spLocks noChangeArrowheads="1"/>
          </p:cNvSpPr>
          <p:nvPr/>
        </p:nvSpPr>
        <p:spPr bwMode="auto">
          <a:xfrm>
            <a:off x="3643313" y="4216400"/>
            <a:ext cx="5500687" cy="147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4625" indent="-17462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chemeClr val="accent2"/>
                </a:solidFill>
              </a:rPr>
              <a:t>Weak Points </a:t>
            </a:r>
            <a:r>
              <a:rPr lang="en-US" altLang="en-US" sz="1200" b="1">
                <a:solidFill>
                  <a:srgbClr val="993300"/>
                </a:solidFill>
              </a:rPr>
              <a:t>(T Drilling Dynamics Study):</a:t>
            </a:r>
          </a:p>
          <a:p>
            <a:pPr eaLnBrk="1" hangingPunct="1">
              <a:buFontTx/>
              <a:buChar char="•"/>
            </a:pPr>
            <a:r>
              <a:rPr lang="en-US" altLang="en-US" sz="1500" b="1">
                <a:solidFill>
                  <a:schemeClr val="accent2"/>
                </a:solidFill>
              </a:rPr>
              <a:t>ACME or non-API thread with sharper root radii than API RSC thread root</a:t>
            </a:r>
          </a:p>
          <a:p>
            <a:pPr eaLnBrk="1" hangingPunct="1">
              <a:buFontTx/>
              <a:buChar char="•"/>
            </a:pPr>
            <a:r>
              <a:rPr lang="en-US" altLang="en-US" sz="1500" b="1">
                <a:solidFill>
                  <a:schemeClr val="accent2"/>
                </a:solidFill>
              </a:rPr>
              <a:t>Mid body connection have smaller cross-section areas</a:t>
            </a:r>
          </a:p>
          <a:p>
            <a:pPr eaLnBrk="1" hangingPunct="1">
              <a:buFontTx/>
              <a:buChar char="•"/>
            </a:pPr>
            <a:r>
              <a:rPr lang="en-US" altLang="en-US" sz="1500" b="1">
                <a:solidFill>
                  <a:schemeClr val="accent2"/>
                </a:solidFill>
              </a:rPr>
              <a:t>Notch or hole in jars housing will accelerate fatigue</a:t>
            </a:r>
          </a:p>
          <a:p>
            <a:pPr eaLnBrk="1" hangingPunct="1">
              <a:buFontTx/>
              <a:buChar char="•"/>
            </a:pPr>
            <a:r>
              <a:rPr lang="en-US" altLang="en-US" sz="1500" b="1">
                <a:solidFill>
                  <a:schemeClr val="accent2"/>
                </a:solidFill>
              </a:rPr>
              <a:t>Various internal component age traceability</a:t>
            </a:r>
          </a:p>
        </p:txBody>
      </p:sp>
      <p:sp>
        <p:nvSpPr>
          <p:cNvPr id="25611" name="Rectangle 11"/>
          <p:cNvSpPr>
            <a:spLocks noChangeArrowheads="1"/>
          </p:cNvSpPr>
          <p:nvPr/>
        </p:nvSpPr>
        <p:spPr bwMode="auto">
          <a:xfrm>
            <a:off x="5095875" y="2728913"/>
            <a:ext cx="1130300" cy="274637"/>
          </a:xfrm>
          <a:prstGeom prst="rect">
            <a:avLst/>
          </a:prstGeom>
          <a:noFill/>
          <a:ln w="15875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25612" name="AutoShape 12"/>
          <p:cNvSpPr>
            <a:spLocks noChangeArrowheads="1"/>
          </p:cNvSpPr>
          <p:nvPr/>
        </p:nvSpPr>
        <p:spPr bwMode="auto">
          <a:xfrm>
            <a:off x="6153150" y="2392363"/>
            <a:ext cx="449263" cy="290512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25613" name="Text Box 13"/>
          <p:cNvSpPr txBox="1">
            <a:spLocks noChangeArrowheads="1"/>
          </p:cNvSpPr>
          <p:nvPr/>
        </p:nvSpPr>
        <p:spPr bwMode="auto">
          <a:xfrm>
            <a:off x="198438" y="5603875"/>
            <a:ext cx="4989512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4625" indent="-17462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FF0000"/>
                </a:solidFill>
              </a:rPr>
              <a:t>Jars Placement</a:t>
            </a:r>
          </a:p>
          <a:p>
            <a:pPr eaLnBrk="1" hangingPunct="1">
              <a:buFontTx/>
              <a:buChar char="•"/>
            </a:pPr>
            <a:r>
              <a:rPr lang="en-US" altLang="en-US" sz="1600" b="1">
                <a:solidFill>
                  <a:srgbClr val="FF0000"/>
                </a:solidFill>
              </a:rPr>
              <a:t>Most of the jars were placed at distance from bit where torque displacement is maximum</a:t>
            </a:r>
          </a:p>
        </p:txBody>
      </p:sp>
      <p:sp>
        <p:nvSpPr>
          <p:cNvPr id="25614" name="AutoShape 14"/>
          <p:cNvSpPr>
            <a:spLocks noChangeArrowheads="1"/>
          </p:cNvSpPr>
          <p:nvPr/>
        </p:nvSpPr>
        <p:spPr bwMode="auto">
          <a:xfrm rot="1242299">
            <a:off x="1647825" y="3155950"/>
            <a:ext cx="449263" cy="290513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1225550"/>
            <a:ext cx="1047750" cy="472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428625" y="723900"/>
            <a:ext cx="8229600" cy="404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008000"/>
                </a:solidFill>
              </a:rPr>
              <a:t>12-1/4” BHA – Jars Failure Summary</a:t>
            </a:r>
          </a:p>
        </p:txBody>
      </p:sp>
      <p:sp>
        <p:nvSpPr>
          <p:cNvPr id="26628" name="Rectangle 6"/>
          <p:cNvSpPr>
            <a:spLocks noChangeArrowheads="1"/>
          </p:cNvSpPr>
          <p:nvPr/>
        </p:nvSpPr>
        <p:spPr bwMode="auto">
          <a:xfrm>
            <a:off x="703263" y="4516438"/>
            <a:ext cx="492125" cy="323850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26629" name="AutoShape 7"/>
          <p:cNvSpPr>
            <a:spLocks noChangeArrowheads="1"/>
          </p:cNvSpPr>
          <p:nvPr/>
        </p:nvSpPr>
        <p:spPr bwMode="auto">
          <a:xfrm>
            <a:off x="663575" y="1562100"/>
            <a:ext cx="182563" cy="211138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26630" name="AutoShape 8"/>
          <p:cNvSpPr>
            <a:spLocks noChangeArrowheads="1"/>
          </p:cNvSpPr>
          <p:nvPr/>
        </p:nvSpPr>
        <p:spPr bwMode="auto">
          <a:xfrm>
            <a:off x="604838" y="2417763"/>
            <a:ext cx="182562" cy="211137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26631" name="Text Box 9"/>
          <p:cNvSpPr txBox="1">
            <a:spLocks noChangeArrowheads="1"/>
          </p:cNvSpPr>
          <p:nvPr/>
        </p:nvSpPr>
        <p:spPr bwMode="auto">
          <a:xfrm>
            <a:off x="274638" y="1511300"/>
            <a:ext cx="409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3x</a:t>
            </a:r>
          </a:p>
        </p:txBody>
      </p:sp>
      <p:pic>
        <p:nvPicPr>
          <p:cNvPr id="26632" name="Picture 12" descr="j028603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188" y="5762625"/>
            <a:ext cx="9144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3" name="Text Box 13"/>
          <p:cNvSpPr txBox="1">
            <a:spLocks noChangeArrowheads="1"/>
          </p:cNvSpPr>
          <p:nvPr/>
        </p:nvSpPr>
        <p:spPr bwMode="auto">
          <a:xfrm>
            <a:off x="196850" y="6235700"/>
            <a:ext cx="33369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chemeClr val="accent2"/>
                </a:solidFill>
              </a:rPr>
              <a:t>Summarized from DIMS &amp; Final Well Report</a:t>
            </a:r>
          </a:p>
        </p:txBody>
      </p:sp>
      <p:pic>
        <p:nvPicPr>
          <p:cNvPr id="26634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275" y="1171575"/>
            <a:ext cx="6719888" cy="4849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635" name="Rectangle 17"/>
          <p:cNvSpPr>
            <a:spLocks noChangeArrowheads="1"/>
          </p:cNvSpPr>
          <p:nvPr/>
        </p:nvSpPr>
        <p:spPr bwMode="auto">
          <a:xfrm>
            <a:off x="1581150" y="1512888"/>
            <a:ext cx="666750" cy="1839912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id-ID" altLang="en-US" sz="1800" b="1">
                <a:solidFill>
                  <a:srgbClr val="008000"/>
                </a:solidFill>
              </a:rPr>
              <a:t>V2, V9, V10</a:t>
            </a:r>
          </a:p>
        </p:txBody>
      </p:sp>
      <p:sp>
        <p:nvSpPr>
          <p:cNvPr id="26636" name="Rectangle 17"/>
          <p:cNvSpPr>
            <a:spLocks noChangeArrowheads="1"/>
          </p:cNvSpPr>
          <p:nvPr/>
        </p:nvSpPr>
        <p:spPr bwMode="auto">
          <a:xfrm>
            <a:off x="1581150" y="3352800"/>
            <a:ext cx="666750" cy="919163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id-ID" altLang="en-US" sz="1800" b="1">
                <a:solidFill>
                  <a:srgbClr val="008000"/>
                </a:solidFill>
              </a:rPr>
              <a:t>Rbb 1</a:t>
            </a:r>
          </a:p>
        </p:txBody>
      </p:sp>
      <p:sp>
        <p:nvSpPr>
          <p:cNvPr id="26637" name="Rectangle 17"/>
          <p:cNvSpPr>
            <a:spLocks noChangeArrowheads="1"/>
          </p:cNvSpPr>
          <p:nvPr/>
        </p:nvSpPr>
        <p:spPr bwMode="auto">
          <a:xfrm>
            <a:off x="1581150" y="4283075"/>
            <a:ext cx="666750" cy="17303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id-ID" altLang="en-US" sz="1800" b="1">
                <a:solidFill>
                  <a:srgbClr val="008000"/>
                </a:solidFill>
              </a:rPr>
              <a:t>WD 1 - 3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" y="1319213"/>
            <a:ext cx="8955088" cy="3436937"/>
          </a:xfrm>
          <a:prstGeom prst="rect">
            <a:avLst/>
          </a:prstGeom>
          <a:noFill/>
          <a:ln w="22225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428625" y="811213"/>
            <a:ext cx="82296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008000"/>
                </a:solidFill>
              </a:rPr>
              <a:t>12-1/4” BHA – Drilling Jars Technical Comparison</a:t>
            </a:r>
          </a:p>
        </p:txBody>
      </p:sp>
      <p:sp>
        <p:nvSpPr>
          <p:cNvPr id="27652" name="Rectangle 18"/>
          <p:cNvSpPr>
            <a:spLocks noChangeArrowheads="1"/>
          </p:cNvSpPr>
          <p:nvPr/>
        </p:nvSpPr>
        <p:spPr bwMode="auto">
          <a:xfrm>
            <a:off x="4192588" y="1625600"/>
            <a:ext cx="2222500" cy="3124200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27653" name="Oval 21"/>
          <p:cNvSpPr>
            <a:spLocks noChangeArrowheads="1"/>
          </p:cNvSpPr>
          <p:nvPr/>
        </p:nvSpPr>
        <p:spPr bwMode="auto">
          <a:xfrm>
            <a:off x="6472238" y="2582863"/>
            <a:ext cx="1058862" cy="261937"/>
          </a:xfrm>
          <a:prstGeom prst="ellipse">
            <a:avLst/>
          </a:prstGeom>
          <a:noFill/>
          <a:ln w="9525">
            <a:solidFill>
              <a:srgbClr val="FF0000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27654" name="AutoShape 22"/>
          <p:cNvSpPr>
            <a:spLocks/>
          </p:cNvSpPr>
          <p:nvPr/>
        </p:nvSpPr>
        <p:spPr bwMode="auto">
          <a:xfrm>
            <a:off x="7388225" y="4805363"/>
            <a:ext cx="1755775" cy="682625"/>
          </a:xfrm>
          <a:prstGeom prst="borderCallout2">
            <a:avLst>
              <a:gd name="adj1" fmla="val 16745"/>
              <a:gd name="adj2" fmla="val -4338"/>
              <a:gd name="adj3" fmla="val 16745"/>
              <a:gd name="adj4" fmla="val -13472"/>
              <a:gd name="adj5" fmla="val -286514"/>
              <a:gd name="adj6" fmla="val -21065"/>
            </a:avLst>
          </a:prstGeom>
          <a:noFill/>
          <a:ln w="12700">
            <a:solidFill>
              <a:srgbClr val="FF0000"/>
            </a:solidFill>
            <a:miter lim="800000"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Less Torsional Yield strength in its class</a:t>
            </a:r>
          </a:p>
        </p:txBody>
      </p:sp>
      <p:sp>
        <p:nvSpPr>
          <p:cNvPr id="27655" name="Text Box 23"/>
          <p:cNvSpPr txBox="1">
            <a:spLocks noChangeArrowheads="1"/>
          </p:cNvSpPr>
          <p:nvPr/>
        </p:nvSpPr>
        <p:spPr bwMode="auto">
          <a:xfrm>
            <a:off x="0" y="5175250"/>
            <a:ext cx="51038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4625" indent="-17462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sz="1800" b="1">
                <a:solidFill>
                  <a:srgbClr val="008000"/>
                </a:solidFill>
              </a:rPr>
              <a:t>Run high strength drilling Jars, torsional yield not less than 100 ft-klbs</a:t>
            </a:r>
          </a:p>
        </p:txBody>
      </p:sp>
      <p:sp>
        <p:nvSpPr>
          <p:cNvPr id="27656" name="AutoShape 24"/>
          <p:cNvSpPr>
            <a:spLocks noChangeArrowheads="1"/>
          </p:cNvSpPr>
          <p:nvPr/>
        </p:nvSpPr>
        <p:spPr bwMode="auto">
          <a:xfrm>
            <a:off x="4949825" y="4978400"/>
            <a:ext cx="566738" cy="465138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1553635622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1553635622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2754 h 21600"/>
              <a:gd name="T20" fmla="*/ 19059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157" y="0"/>
                </a:moveTo>
                <a:lnTo>
                  <a:pt x="8713" y="7225"/>
                </a:lnTo>
                <a:lnTo>
                  <a:pt x="11254" y="7225"/>
                </a:lnTo>
                <a:lnTo>
                  <a:pt x="11254" y="12754"/>
                </a:lnTo>
                <a:lnTo>
                  <a:pt x="0" y="12754"/>
                </a:lnTo>
                <a:lnTo>
                  <a:pt x="0" y="21600"/>
                </a:lnTo>
                <a:lnTo>
                  <a:pt x="19059" y="21600"/>
                </a:lnTo>
                <a:lnTo>
                  <a:pt x="19059" y="7225"/>
                </a:lnTo>
                <a:lnTo>
                  <a:pt x="21600" y="7225"/>
                </a:lnTo>
                <a:lnTo>
                  <a:pt x="15157" y="0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7657" name="Picture 25" descr="j01995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8513"/>
            <a:ext cx="911225" cy="97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8" name="Text Box 26"/>
          <p:cNvSpPr txBox="1">
            <a:spLocks noChangeArrowheads="1"/>
          </p:cNvSpPr>
          <p:nvPr/>
        </p:nvSpPr>
        <p:spPr bwMode="auto">
          <a:xfrm>
            <a:off x="884238" y="5827713"/>
            <a:ext cx="8131175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4625" indent="-17462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sz="2000" b="1">
                <a:solidFill>
                  <a:srgbClr val="008000"/>
                </a:solidFill>
              </a:rPr>
              <a:t>Will run 6-1/2” drilling Jars for drilling 12-1/4” hole? </a:t>
            </a:r>
          </a:p>
          <a:p>
            <a:pPr eaLnBrk="1" hangingPunct="1">
              <a:buFontTx/>
              <a:buChar char="•"/>
            </a:pPr>
            <a:r>
              <a:rPr lang="en-US" altLang="en-US" sz="2000" b="1">
                <a:solidFill>
                  <a:srgbClr val="008000"/>
                </a:solidFill>
              </a:rPr>
              <a:t>Griffith has double acting jars that has bigger Torsional Yield.</a:t>
            </a:r>
            <a:endParaRPr lang="en-US" altLang="en-US" sz="2000" b="1">
              <a:solidFill>
                <a:srgbClr val="FF5050"/>
              </a:solidFill>
            </a:endParaRPr>
          </a:p>
        </p:txBody>
      </p:sp>
      <p:sp>
        <p:nvSpPr>
          <p:cNvPr id="27659" name="Text Box 27"/>
          <p:cNvSpPr txBox="1">
            <a:spLocks noChangeArrowheads="1"/>
          </p:cNvSpPr>
          <p:nvPr/>
        </p:nvSpPr>
        <p:spPr bwMode="auto">
          <a:xfrm>
            <a:off x="0" y="4810125"/>
            <a:ext cx="35448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Source: Jars Technical Specification from Manufacturer</a:t>
            </a:r>
          </a:p>
        </p:txBody>
      </p:sp>
      <p:sp>
        <p:nvSpPr>
          <p:cNvPr id="27660" name="Oval 28"/>
          <p:cNvSpPr>
            <a:spLocks noChangeArrowheads="1"/>
          </p:cNvSpPr>
          <p:nvPr/>
        </p:nvSpPr>
        <p:spPr bwMode="auto">
          <a:xfrm>
            <a:off x="2605088" y="2562225"/>
            <a:ext cx="1408112" cy="276225"/>
          </a:xfrm>
          <a:prstGeom prst="ellipse">
            <a:avLst/>
          </a:prstGeom>
          <a:noFill/>
          <a:ln w="9525">
            <a:solidFill>
              <a:srgbClr val="FF0000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27661" name="Line 29"/>
          <p:cNvSpPr>
            <a:spLocks noChangeShapeType="1"/>
          </p:cNvSpPr>
          <p:nvPr/>
        </p:nvSpPr>
        <p:spPr bwMode="auto">
          <a:xfrm>
            <a:off x="3309938" y="2844800"/>
            <a:ext cx="942975" cy="2074863"/>
          </a:xfrm>
          <a:prstGeom prst="line">
            <a:avLst/>
          </a:prstGeom>
          <a:noFill/>
          <a:ln w="127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2" name="Line 30"/>
          <p:cNvSpPr>
            <a:spLocks noChangeShapeType="1"/>
          </p:cNvSpPr>
          <p:nvPr/>
        </p:nvSpPr>
        <p:spPr bwMode="auto">
          <a:xfrm>
            <a:off x="4252913" y="4921250"/>
            <a:ext cx="3062287" cy="0"/>
          </a:xfrm>
          <a:prstGeom prst="line">
            <a:avLst/>
          </a:prstGeom>
          <a:noFill/>
          <a:ln w="12700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9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1379538"/>
            <a:ext cx="4116387" cy="4932362"/>
          </a:xfrm>
          <a:prstGeom prst="rect">
            <a:avLst/>
          </a:prstGeom>
          <a:noFill/>
          <a:ln w="25400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854075"/>
            <a:ext cx="8229600" cy="563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400" b="1" smtClean="0">
                <a:solidFill>
                  <a:srgbClr val="008000"/>
                </a:solidFill>
              </a:rPr>
              <a:t>12-1/4” BHA – Vibration analysis on various DC Sizes</a:t>
            </a:r>
          </a:p>
        </p:txBody>
      </p:sp>
      <p:sp>
        <p:nvSpPr>
          <p:cNvPr id="28676" name="Text Box 5"/>
          <p:cNvSpPr txBox="1">
            <a:spLocks noChangeArrowheads="1"/>
          </p:cNvSpPr>
          <p:nvPr/>
        </p:nvSpPr>
        <p:spPr bwMode="auto">
          <a:xfrm>
            <a:off x="5429250" y="1500188"/>
            <a:ext cx="3714750" cy="449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4625" indent="-17462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sz="1600" b="1">
                <a:solidFill>
                  <a:srgbClr val="008000"/>
                </a:solidFill>
              </a:rPr>
              <a:t>Do not use combination 9-1/2”x8-1/2”x6-1/2” DC or 9-1/2”x8-1/2” DC due to causing higher average net lateral displacement.</a:t>
            </a:r>
          </a:p>
          <a:p>
            <a:pPr eaLnBrk="1" hangingPunct="1">
              <a:buFontTx/>
              <a:buChar char="•"/>
            </a:pPr>
            <a:endParaRPr lang="en-US" altLang="en-US" sz="1600" b="1">
              <a:solidFill>
                <a:srgbClr val="008000"/>
              </a:solidFill>
            </a:endParaRPr>
          </a:p>
          <a:p>
            <a:pPr eaLnBrk="1" hangingPunct="1">
              <a:buFontTx/>
              <a:buChar char="•"/>
            </a:pPr>
            <a:r>
              <a:rPr lang="en-US" altLang="en-US" sz="1600" b="1">
                <a:solidFill>
                  <a:srgbClr val="008000"/>
                </a:solidFill>
              </a:rPr>
              <a:t>BHA with 9.5” DC will use X/O to 8.5” DC that could be as additional weak component on BHA</a:t>
            </a:r>
          </a:p>
          <a:p>
            <a:pPr eaLnBrk="1" hangingPunct="1">
              <a:buFontTx/>
              <a:buChar char="•"/>
            </a:pPr>
            <a:endParaRPr lang="en-US" altLang="en-US" sz="1600" b="1">
              <a:solidFill>
                <a:srgbClr val="008000"/>
              </a:solidFill>
            </a:endParaRPr>
          </a:p>
          <a:p>
            <a:pPr eaLnBrk="1" hangingPunct="1">
              <a:buFontTx/>
              <a:buChar char="•"/>
            </a:pPr>
            <a:r>
              <a:rPr lang="en-US" altLang="en-US" sz="1600" b="1">
                <a:solidFill>
                  <a:srgbClr val="008000"/>
                </a:solidFill>
              </a:rPr>
              <a:t>Use single size of 8.5” DC series: Less average net lateral displacement which will improve the bit ROP.</a:t>
            </a:r>
          </a:p>
          <a:p>
            <a:pPr eaLnBrk="1" hangingPunct="1">
              <a:buFontTx/>
              <a:buChar char="•"/>
            </a:pPr>
            <a:endParaRPr lang="en-US" altLang="en-US" sz="1600" b="1">
              <a:solidFill>
                <a:srgbClr val="008000"/>
              </a:solidFill>
            </a:endParaRPr>
          </a:p>
          <a:p>
            <a:pPr eaLnBrk="1" hangingPunct="1">
              <a:buFontTx/>
              <a:buChar char="•"/>
            </a:pPr>
            <a:r>
              <a:rPr lang="en-US" altLang="en-US" sz="1600" b="1">
                <a:solidFill>
                  <a:srgbClr val="008000"/>
                </a:solidFill>
              </a:rPr>
              <a:t>If use 9-1/2” motor for drilling performance reason, crossed directly above it to 8-1/2” DCs series</a:t>
            </a:r>
            <a:r>
              <a:rPr lang="en-US" altLang="en-US"/>
              <a:t> </a:t>
            </a:r>
            <a:r>
              <a:rPr lang="en-US" altLang="en-US" sz="1600" b="1">
                <a:solidFill>
                  <a:srgbClr val="008000"/>
                </a:solidFill>
              </a:rPr>
              <a:t>or 8-1/2” downhole tools.</a:t>
            </a:r>
          </a:p>
        </p:txBody>
      </p:sp>
      <p:grpSp>
        <p:nvGrpSpPr>
          <p:cNvPr id="28677" name="Group 95"/>
          <p:cNvGrpSpPr>
            <a:grpSpLocks/>
          </p:cNvGrpSpPr>
          <p:nvPr/>
        </p:nvGrpSpPr>
        <p:grpSpPr bwMode="auto">
          <a:xfrm>
            <a:off x="4513263" y="1766888"/>
            <a:ext cx="1004887" cy="4117975"/>
            <a:chOff x="4901" y="820"/>
            <a:chExt cx="633" cy="2594"/>
          </a:xfrm>
        </p:grpSpPr>
        <p:grpSp>
          <p:nvGrpSpPr>
            <p:cNvPr id="28683" name="Group 94"/>
            <p:cNvGrpSpPr>
              <a:grpSpLocks/>
            </p:cNvGrpSpPr>
            <p:nvPr/>
          </p:nvGrpSpPr>
          <p:grpSpPr bwMode="auto">
            <a:xfrm>
              <a:off x="4973" y="820"/>
              <a:ext cx="561" cy="2594"/>
              <a:chOff x="4973" y="820"/>
              <a:chExt cx="561" cy="2594"/>
            </a:xfrm>
          </p:grpSpPr>
          <p:pic>
            <p:nvPicPr>
              <p:cNvPr id="28686" name="Picture 8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73" y="3199"/>
                <a:ext cx="242" cy="2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0000"/>
                    </a:solidFill>
                  </a14:hiddenFill>
                </a:ext>
                <a:ext uri="{91240B29-F687-4F45-9708-019B960494DF}">
                  <a14:hiddenLine xmlns:a14="http://schemas.microsoft.com/office/drawing/2010/main" w="1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28687" name="Group 9"/>
              <p:cNvGrpSpPr>
                <a:grpSpLocks/>
              </p:cNvGrpSpPr>
              <p:nvPr/>
            </p:nvGrpSpPr>
            <p:grpSpPr bwMode="auto">
              <a:xfrm>
                <a:off x="5006" y="3085"/>
                <a:ext cx="171" cy="121"/>
                <a:chOff x="52" y="831"/>
                <a:chExt cx="37" cy="36"/>
              </a:xfrm>
            </p:grpSpPr>
            <p:sp>
              <p:nvSpPr>
                <p:cNvPr id="28763" name="Rectangle 10"/>
                <p:cNvSpPr>
                  <a:spLocks noChangeArrowheads="1"/>
                </p:cNvSpPr>
                <p:nvPr/>
              </p:nvSpPr>
              <p:spPr bwMode="auto">
                <a:xfrm>
                  <a:off x="58" y="831"/>
                  <a:ext cx="26" cy="3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FFFFFF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sp>
              <p:nvSpPr>
                <p:cNvPr id="28764" name="AutoShape 11"/>
                <p:cNvSpPr>
                  <a:spLocks noChangeArrowheads="1"/>
                </p:cNvSpPr>
                <p:nvPr/>
              </p:nvSpPr>
              <p:spPr bwMode="auto">
                <a:xfrm rot="-5400000">
                  <a:off x="74" y="846"/>
                  <a:ext cx="25" cy="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3456 w 21600"/>
                    <a:gd name="T13" fmla="*/ 4320 h 21600"/>
                    <a:gd name="T14" fmla="*/ 18144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2749" y="21600"/>
                      </a:lnTo>
                      <a:lnTo>
                        <a:pt x="18851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00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65" name="AutoShape 12"/>
                <p:cNvSpPr>
                  <a:spLocks noChangeArrowheads="1"/>
                </p:cNvSpPr>
                <p:nvPr/>
              </p:nvSpPr>
              <p:spPr bwMode="auto">
                <a:xfrm rot="5400000" flipH="1">
                  <a:off x="42" y="846"/>
                  <a:ext cx="25" cy="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3456 w 21600"/>
                    <a:gd name="T13" fmla="*/ 4320 h 21600"/>
                    <a:gd name="T14" fmla="*/ 18144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2749" y="21600"/>
                      </a:lnTo>
                      <a:lnTo>
                        <a:pt x="18851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00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66" name="Rectangle 13"/>
                <p:cNvSpPr>
                  <a:spLocks noChangeArrowheads="1"/>
                </p:cNvSpPr>
                <p:nvPr/>
              </p:nvSpPr>
              <p:spPr bwMode="auto">
                <a:xfrm>
                  <a:off x="66" y="836"/>
                  <a:ext cx="8" cy="2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sp>
              <p:nvSpPr>
                <p:cNvPr id="28767" name="Rectangle 14"/>
                <p:cNvSpPr>
                  <a:spLocks noChangeArrowheads="1"/>
                </p:cNvSpPr>
                <p:nvPr/>
              </p:nvSpPr>
              <p:spPr bwMode="auto">
                <a:xfrm>
                  <a:off x="66" y="836"/>
                  <a:ext cx="8" cy="4"/>
                </a:xfrm>
                <a:prstGeom prst="rect">
                  <a:avLst/>
                </a:prstGeom>
                <a:noFill/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69696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sp>
              <p:nvSpPr>
                <p:cNvPr id="28768" name="Rectangle 15"/>
                <p:cNvSpPr>
                  <a:spLocks noChangeArrowheads="1"/>
                </p:cNvSpPr>
                <p:nvPr/>
              </p:nvSpPr>
              <p:spPr bwMode="auto">
                <a:xfrm>
                  <a:off x="66" y="858"/>
                  <a:ext cx="8" cy="4"/>
                </a:xfrm>
                <a:prstGeom prst="rect">
                  <a:avLst/>
                </a:prstGeom>
                <a:noFill/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69696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</p:grpSp>
          <p:sp>
            <p:nvSpPr>
              <p:cNvPr id="28688" name="Rectangle 16"/>
              <p:cNvSpPr>
                <a:spLocks noChangeArrowheads="1"/>
              </p:cNvSpPr>
              <p:nvPr/>
            </p:nvSpPr>
            <p:spPr bwMode="auto">
              <a:xfrm>
                <a:off x="5035" y="3202"/>
                <a:ext cx="119" cy="57"/>
              </a:xfrm>
              <a:prstGeom prst="rect">
                <a:avLst/>
              </a:prstGeom>
              <a:gradFill rotWithShape="1">
                <a:gsLst>
                  <a:gs pos="0">
                    <a:srgbClr val="000000"/>
                  </a:gs>
                  <a:gs pos="50000">
                    <a:srgbClr val="FFFFFF"/>
                  </a:gs>
                  <a:gs pos="100000">
                    <a:srgbClr val="00000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id-ID" altLang="en-US"/>
              </a:p>
            </p:txBody>
          </p:sp>
          <p:sp>
            <p:nvSpPr>
              <p:cNvPr id="28689" name="Rectangle 17"/>
              <p:cNvSpPr>
                <a:spLocks noChangeArrowheads="1"/>
              </p:cNvSpPr>
              <p:nvPr/>
            </p:nvSpPr>
            <p:spPr bwMode="auto">
              <a:xfrm>
                <a:off x="5035" y="2934"/>
                <a:ext cx="119" cy="151"/>
              </a:xfrm>
              <a:prstGeom prst="rect">
                <a:avLst/>
              </a:prstGeom>
              <a:gradFill rotWithShape="1">
                <a:gsLst>
                  <a:gs pos="0">
                    <a:srgbClr val="000000"/>
                  </a:gs>
                  <a:gs pos="50000">
                    <a:srgbClr val="FFFFFF"/>
                  </a:gs>
                  <a:gs pos="100000">
                    <a:srgbClr val="00000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id-ID" altLang="en-US"/>
              </a:p>
            </p:txBody>
          </p:sp>
          <p:grpSp>
            <p:nvGrpSpPr>
              <p:cNvPr id="28690" name="Group 18"/>
              <p:cNvGrpSpPr>
                <a:grpSpLocks/>
              </p:cNvGrpSpPr>
              <p:nvPr/>
            </p:nvGrpSpPr>
            <p:grpSpPr bwMode="auto">
              <a:xfrm>
                <a:off x="5006" y="2426"/>
                <a:ext cx="171" cy="121"/>
                <a:chOff x="53" y="599"/>
                <a:chExt cx="36" cy="36"/>
              </a:xfrm>
            </p:grpSpPr>
            <p:sp>
              <p:nvSpPr>
                <p:cNvPr id="28757" name="Rectangle 19"/>
                <p:cNvSpPr>
                  <a:spLocks noChangeArrowheads="1"/>
                </p:cNvSpPr>
                <p:nvPr/>
              </p:nvSpPr>
              <p:spPr bwMode="auto">
                <a:xfrm>
                  <a:off x="59" y="599"/>
                  <a:ext cx="25" cy="3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FFFFFF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sp>
              <p:nvSpPr>
                <p:cNvPr id="28758" name="AutoShape 20"/>
                <p:cNvSpPr>
                  <a:spLocks noChangeArrowheads="1"/>
                </p:cNvSpPr>
                <p:nvPr/>
              </p:nvSpPr>
              <p:spPr bwMode="auto">
                <a:xfrm rot="-5400000">
                  <a:off x="74" y="614"/>
                  <a:ext cx="25" cy="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3456 w 21600"/>
                    <a:gd name="T13" fmla="*/ 4320 h 21600"/>
                    <a:gd name="T14" fmla="*/ 18144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2749" y="21600"/>
                      </a:lnTo>
                      <a:lnTo>
                        <a:pt x="18851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00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59" name="AutoShape 21"/>
                <p:cNvSpPr>
                  <a:spLocks noChangeArrowheads="1"/>
                </p:cNvSpPr>
                <p:nvPr/>
              </p:nvSpPr>
              <p:spPr bwMode="auto">
                <a:xfrm rot="5400000" flipH="1">
                  <a:off x="43" y="614"/>
                  <a:ext cx="25" cy="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3456 w 21600"/>
                    <a:gd name="T13" fmla="*/ 4320 h 21600"/>
                    <a:gd name="T14" fmla="*/ 18144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2749" y="21600"/>
                      </a:lnTo>
                      <a:lnTo>
                        <a:pt x="18851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00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60" name="Rectangle 22"/>
                <p:cNvSpPr>
                  <a:spLocks noChangeArrowheads="1"/>
                </p:cNvSpPr>
                <p:nvPr/>
              </p:nvSpPr>
              <p:spPr bwMode="auto">
                <a:xfrm>
                  <a:off x="67" y="604"/>
                  <a:ext cx="7" cy="2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sp>
              <p:nvSpPr>
                <p:cNvPr id="28761" name="Rectangle 23"/>
                <p:cNvSpPr>
                  <a:spLocks noChangeArrowheads="1"/>
                </p:cNvSpPr>
                <p:nvPr/>
              </p:nvSpPr>
              <p:spPr bwMode="auto">
                <a:xfrm>
                  <a:off x="67" y="604"/>
                  <a:ext cx="7" cy="4"/>
                </a:xfrm>
                <a:prstGeom prst="rect">
                  <a:avLst/>
                </a:prstGeom>
                <a:noFill/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69696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sp>
              <p:nvSpPr>
                <p:cNvPr id="28762" name="Rectangle 24"/>
                <p:cNvSpPr>
                  <a:spLocks noChangeArrowheads="1"/>
                </p:cNvSpPr>
                <p:nvPr/>
              </p:nvSpPr>
              <p:spPr bwMode="auto">
                <a:xfrm>
                  <a:off x="67" y="626"/>
                  <a:ext cx="7" cy="4"/>
                </a:xfrm>
                <a:prstGeom prst="rect">
                  <a:avLst/>
                </a:prstGeom>
                <a:noFill/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69696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</p:grpSp>
          <p:grpSp>
            <p:nvGrpSpPr>
              <p:cNvPr id="28691" name="Group 25"/>
              <p:cNvGrpSpPr>
                <a:grpSpLocks/>
              </p:cNvGrpSpPr>
              <p:nvPr/>
            </p:nvGrpSpPr>
            <p:grpSpPr bwMode="auto">
              <a:xfrm>
                <a:off x="5006" y="2813"/>
                <a:ext cx="171" cy="121"/>
                <a:chOff x="52" y="831"/>
                <a:chExt cx="37" cy="36"/>
              </a:xfrm>
            </p:grpSpPr>
            <p:sp>
              <p:nvSpPr>
                <p:cNvPr id="28751" name="Rectangle 26"/>
                <p:cNvSpPr>
                  <a:spLocks noChangeArrowheads="1"/>
                </p:cNvSpPr>
                <p:nvPr/>
              </p:nvSpPr>
              <p:spPr bwMode="auto">
                <a:xfrm>
                  <a:off x="58" y="831"/>
                  <a:ext cx="26" cy="3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FFFFFF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sp>
              <p:nvSpPr>
                <p:cNvPr id="28752" name="AutoShape 27"/>
                <p:cNvSpPr>
                  <a:spLocks noChangeArrowheads="1"/>
                </p:cNvSpPr>
                <p:nvPr/>
              </p:nvSpPr>
              <p:spPr bwMode="auto">
                <a:xfrm rot="-5400000">
                  <a:off x="74" y="846"/>
                  <a:ext cx="25" cy="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3456 w 21600"/>
                    <a:gd name="T13" fmla="*/ 4320 h 21600"/>
                    <a:gd name="T14" fmla="*/ 18144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2749" y="21600"/>
                      </a:lnTo>
                      <a:lnTo>
                        <a:pt x="18851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00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53" name="AutoShape 28"/>
                <p:cNvSpPr>
                  <a:spLocks noChangeArrowheads="1"/>
                </p:cNvSpPr>
                <p:nvPr/>
              </p:nvSpPr>
              <p:spPr bwMode="auto">
                <a:xfrm rot="5400000" flipH="1">
                  <a:off x="42" y="846"/>
                  <a:ext cx="25" cy="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3456 w 21600"/>
                    <a:gd name="T13" fmla="*/ 4320 h 21600"/>
                    <a:gd name="T14" fmla="*/ 18144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2749" y="21600"/>
                      </a:lnTo>
                      <a:lnTo>
                        <a:pt x="18851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00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54" name="Rectangle 29"/>
                <p:cNvSpPr>
                  <a:spLocks noChangeArrowheads="1"/>
                </p:cNvSpPr>
                <p:nvPr/>
              </p:nvSpPr>
              <p:spPr bwMode="auto">
                <a:xfrm>
                  <a:off x="66" y="836"/>
                  <a:ext cx="8" cy="2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sp>
              <p:nvSpPr>
                <p:cNvPr id="28755" name="Rectangle 30"/>
                <p:cNvSpPr>
                  <a:spLocks noChangeArrowheads="1"/>
                </p:cNvSpPr>
                <p:nvPr/>
              </p:nvSpPr>
              <p:spPr bwMode="auto">
                <a:xfrm>
                  <a:off x="66" y="836"/>
                  <a:ext cx="8" cy="4"/>
                </a:xfrm>
                <a:prstGeom prst="rect">
                  <a:avLst/>
                </a:prstGeom>
                <a:noFill/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69696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sp>
              <p:nvSpPr>
                <p:cNvPr id="28756" name="Rectangle 31"/>
                <p:cNvSpPr>
                  <a:spLocks noChangeArrowheads="1"/>
                </p:cNvSpPr>
                <p:nvPr/>
              </p:nvSpPr>
              <p:spPr bwMode="auto">
                <a:xfrm>
                  <a:off x="66" y="858"/>
                  <a:ext cx="8" cy="4"/>
                </a:xfrm>
                <a:prstGeom prst="rect">
                  <a:avLst/>
                </a:prstGeom>
                <a:noFill/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69696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</p:grpSp>
          <p:sp>
            <p:nvSpPr>
              <p:cNvPr id="28692" name="Rectangle 32"/>
              <p:cNvSpPr>
                <a:spLocks noChangeArrowheads="1"/>
              </p:cNvSpPr>
              <p:nvPr/>
            </p:nvSpPr>
            <p:spPr bwMode="auto">
              <a:xfrm>
                <a:off x="5035" y="2547"/>
                <a:ext cx="119" cy="266"/>
              </a:xfrm>
              <a:prstGeom prst="rect">
                <a:avLst/>
              </a:prstGeom>
              <a:gradFill rotWithShape="1">
                <a:gsLst>
                  <a:gs pos="0">
                    <a:srgbClr val="000000"/>
                  </a:gs>
                  <a:gs pos="50000">
                    <a:srgbClr val="FFFFFF"/>
                  </a:gs>
                  <a:gs pos="100000">
                    <a:srgbClr val="00000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id-ID" altLang="en-US"/>
              </a:p>
            </p:txBody>
          </p:sp>
          <p:grpSp>
            <p:nvGrpSpPr>
              <p:cNvPr id="28693" name="Group 33"/>
              <p:cNvGrpSpPr>
                <a:grpSpLocks/>
              </p:cNvGrpSpPr>
              <p:nvPr/>
            </p:nvGrpSpPr>
            <p:grpSpPr bwMode="auto">
              <a:xfrm>
                <a:off x="5049" y="830"/>
                <a:ext cx="90" cy="1522"/>
                <a:chOff x="601" y="129"/>
                <a:chExt cx="25" cy="482"/>
              </a:xfrm>
            </p:grpSpPr>
            <p:sp>
              <p:nvSpPr>
                <p:cNvPr id="28738" name="Rectangle 34"/>
                <p:cNvSpPr>
                  <a:spLocks noChangeArrowheads="1"/>
                </p:cNvSpPr>
                <p:nvPr/>
              </p:nvSpPr>
              <p:spPr bwMode="auto">
                <a:xfrm>
                  <a:off x="601" y="570"/>
                  <a:ext cx="25" cy="41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9999FF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sp>
              <p:nvSpPr>
                <p:cNvPr id="28739" name="Rectangle 35"/>
                <p:cNvSpPr>
                  <a:spLocks noChangeArrowheads="1"/>
                </p:cNvSpPr>
                <p:nvPr/>
              </p:nvSpPr>
              <p:spPr bwMode="auto">
                <a:xfrm>
                  <a:off x="601" y="419"/>
                  <a:ext cx="25" cy="11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FFFFFF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grpSp>
              <p:nvGrpSpPr>
                <p:cNvPr id="28740" name="Group 36"/>
                <p:cNvGrpSpPr>
                  <a:grpSpLocks/>
                </p:cNvGrpSpPr>
                <p:nvPr/>
              </p:nvGrpSpPr>
              <p:grpSpPr bwMode="auto">
                <a:xfrm>
                  <a:off x="601" y="342"/>
                  <a:ext cx="25" cy="77"/>
                  <a:chOff x="241" y="806"/>
                  <a:chExt cx="26" cy="76"/>
                </a:xfrm>
              </p:grpSpPr>
              <p:sp>
                <p:nvSpPr>
                  <p:cNvPr id="28748" name="Rectangle 37"/>
                  <p:cNvSpPr>
                    <a:spLocks noChangeArrowheads="1"/>
                  </p:cNvSpPr>
                  <p:nvPr/>
                </p:nvSpPr>
                <p:spPr bwMode="auto">
                  <a:xfrm>
                    <a:off x="241" y="828"/>
                    <a:ext cx="26" cy="54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000000"/>
                      </a:gs>
                      <a:gs pos="50000">
                        <a:srgbClr val="993300"/>
                      </a:gs>
                      <a:gs pos="100000">
                        <a:srgbClr val="000000"/>
                      </a:gs>
                    </a:gsLst>
                    <a:lin ang="0" scaled="1"/>
                  </a:gra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id-ID" altLang="en-US"/>
                  </a:p>
                </p:txBody>
              </p:sp>
              <p:sp>
                <p:nvSpPr>
                  <p:cNvPr id="28749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241" y="806"/>
                    <a:ext cx="26" cy="1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000000"/>
                      </a:gs>
                      <a:gs pos="50000">
                        <a:srgbClr val="993300"/>
                      </a:gs>
                      <a:gs pos="100000">
                        <a:srgbClr val="000000"/>
                      </a:gs>
                    </a:gsLst>
                    <a:lin ang="0" scaled="1"/>
                  </a:gra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id-ID" altLang="en-US"/>
                  </a:p>
                </p:txBody>
              </p:sp>
              <p:sp>
                <p:nvSpPr>
                  <p:cNvPr id="28750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245" y="821"/>
                    <a:ext cx="19" cy="7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000000"/>
                      </a:gs>
                      <a:gs pos="50000">
                        <a:srgbClr val="993300"/>
                      </a:gs>
                      <a:gs pos="100000">
                        <a:srgbClr val="000000"/>
                      </a:gs>
                    </a:gsLst>
                    <a:lin ang="0" scaled="1"/>
                  </a:gra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id-ID" altLang="en-US"/>
                  </a:p>
                </p:txBody>
              </p:sp>
            </p:grpSp>
            <p:sp>
              <p:nvSpPr>
                <p:cNvPr id="28741" name="Rectangle 40"/>
                <p:cNvSpPr>
                  <a:spLocks noChangeArrowheads="1"/>
                </p:cNvSpPr>
                <p:nvPr/>
              </p:nvSpPr>
              <p:spPr bwMode="auto">
                <a:xfrm>
                  <a:off x="601" y="282"/>
                  <a:ext cx="25" cy="60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FFFFFF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grpSp>
              <p:nvGrpSpPr>
                <p:cNvPr id="28742" name="Group 41"/>
                <p:cNvGrpSpPr>
                  <a:grpSpLocks/>
                </p:cNvGrpSpPr>
                <p:nvPr/>
              </p:nvGrpSpPr>
              <p:grpSpPr bwMode="auto">
                <a:xfrm>
                  <a:off x="601" y="251"/>
                  <a:ext cx="25" cy="31"/>
                  <a:chOff x="59" y="241"/>
                  <a:chExt cx="25" cy="31"/>
                </a:xfrm>
              </p:grpSpPr>
              <p:sp>
                <p:nvSpPr>
                  <p:cNvPr id="28745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59" y="263"/>
                    <a:ext cx="25" cy="9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000000"/>
                      </a:gs>
                      <a:gs pos="50000">
                        <a:srgbClr val="FFFFFF"/>
                      </a:gs>
                      <a:gs pos="100000">
                        <a:srgbClr val="000000"/>
                      </a:gs>
                    </a:gsLst>
                    <a:lin ang="0" scaled="1"/>
                  </a:gra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id-ID" altLang="en-US"/>
                  </a:p>
                </p:txBody>
              </p:sp>
              <p:sp>
                <p:nvSpPr>
                  <p:cNvPr id="28746" name="Rectangle 43"/>
                  <p:cNvSpPr>
                    <a:spLocks noChangeArrowheads="1"/>
                  </p:cNvSpPr>
                  <p:nvPr/>
                </p:nvSpPr>
                <p:spPr bwMode="auto">
                  <a:xfrm>
                    <a:off x="64" y="241"/>
                    <a:ext cx="15" cy="10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000000"/>
                      </a:gs>
                      <a:gs pos="50000">
                        <a:srgbClr val="FFFFFF"/>
                      </a:gs>
                      <a:gs pos="100000">
                        <a:srgbClr val="000000"/>
                      </a:gs>
                    </a:gsLst>
                    <a:lin ang="0" scaled="1"/>
                  </a:gra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id-ID" altLang="en-US"/>
                  </a:p>
                </p:txBody>
              </p:sp>
              <p:sp>
                <p:nvSpPr>
                  <p:cNvPr id="28747" name="AutoShape 44"/>
                  <p:cNvSpPr>
                    <a:spLocks noChangeArrowheads="1"/>
                  </p:cNvSpPr>
                  <p:nvPr/>
                </p:nvSpPr>
                <p:spPr bwMode="auto">
                  <a:xfrm rot="10800000">
                    <a:off x="59" y="251"/>
                    <a:ext cx="25" cy="12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320 w 21600"/>
                      <a:gd name="T13" fmla="*/ 3600 h 21600"/>
                      <a:gd name="T14" fmla="*/ 17280 w 21600"/>
                      <a:gd name="T15" fmla="*/ 1800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4320" y="21600"/>
                        </a:lnTo>
                        <a:lnTo>
                          <a:pt x="1728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00"/>
                      </a:gs>
                      <a:gs pos="50000">
                        <a:srgbClr val="FFFFFF"/>
                      </a:gs>
                      <a:gs pos="100000">
                        <a:srgbClr val="000000"/>
                      </a:gs>
                    </a:gsLst>
                    <a:lin ang="0" scaled="1"/>
                  </a:gra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8743" name="Rectangle 45"/>
                <p:cNvSpPr>
                  <a:spLocks noChangeArrowheads="1"/>
                </p:cNvSpPr>
                <p:nvPr/>
              </p:nvSpPr>
              <p:spPr bwMode="auto">
                <a:xfrm>
                  <a:off x="606" y="129"/>
                  <a:ext cx="15" cy="12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FFFFFF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sp>
              <p:nvSpPr>
                <p:cNvPr id="28744" name="Rectangle 46"/>
                <p:cNvSpPr>
                  <a:spLocks noChangeArrowheads="1"/>
                </p:cNvSpPr>
                <p:nvPr/>
              </p:nvSpPr>
              <p:spPr bwMode="auto">
                <a:xfrm>
                  <a:off x="601" y="530"/>
                  <a:ext cx="25" cy="40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9999FF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</p:grpSp>
          <p:grpSp>
            <p:nvGrpSpPr>
              <p:cNvPr id="28694" name="Group 47"/>
              <p:cNvGrpSpPr>
                <a:grpSpLocks/>
              </p:cNvGrpSpPr>
              <p:nvPr/>
            </p:nvGrpSpPr>
            <p:grpSpPr bwMode="auto">
              <a:xfrm>
                <a:off x="5035" y="2322"/>
                <a:ext cx="119" cy="104"/>
                <a:chOff x="59" y="241"/>
                <a:chExt cx="25" cy="31"/>
              </a:xfrm>
            </p:grpSpPr>
            <p:sp>
              <p:nvSpPr>
                <p:cNvPr id="28735" name="Rectangle 48"/>
                <p:cNvSpPr>
                  <a:spLocks noChangeArrowheads="1"/>
                </p:cNvSpPr>
                <p:nvPr/>
              </p:nvSpPr>
              <p:spPr bwMode="auto">
                <a:xfrm>
                  <a:off x="59" y="263"/>
                  <a:ext cx="25" cy="9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FFFFFF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sp>
              <p:nvSpPr>
                <p:cNvPr id="28736" name="Rectangle 49"/>
                <p:cNvSpPr>
                  <a:spLocks noChangeArrowheads="1"/>
                </p:cNvSpPr>
                <p:nvPr/>
              </p:nvSpPr>
              <p:spPr bwMode="auto">
                <a:xfrm>
                  <a:off x="64" y="241"/>
                  <a:ext cx="15" cy="10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FFFFFF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sp>
              <p:nvSpPr>
                <p:cNvPr id="28737" name="AutoShape 50"/>
                <p:cNvSpPr>
                  <a:spLocks noChangeArrowheads="1"/>
                </p:cNvSpPr>
                <p:nvPr/>
              </p:nvSpPr>
              <p:spPr bwMode="auto">
                <a:xfrm rot="10800000">
                  <a:off x="59" y="251"/>
                  <a:ext cx="25" cy="1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320 w 21600"/>
                    <a:gd name="T13" fmla="*/ 3600 h 21600"/>
                    <a:gd name="T14" fmla="*/ 17280 w 21600"/>
                    <a:gd name="T15" fmla="*/ 1800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4320" y="21600"/>
                      </a:lnTo>
                      <a:lnTo>
                        <a:pt x="1728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00"/>
                    </a:gs>
                    <a:gs pos="50000">
                      <a:srgbClr val="FFFFFF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8695" name="Picture 51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92" y="3199"/>
                <a:ext cx="242" cy="2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0000"/>
                    </a:solidFill>
                  </a14:hiddenFill>
                </a:ext>
                <a:ext uri="{91240B29-F687-4F45-9708-019B960494DF}">
                  <a14:hiddenLine xmlns:a14="http://schemas.microsoft.com/office/drawing/2010/main" w="1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28696" name="Group 52"/>
              <p:cNvGrpSpPr>
                <a:grpSpLocks/>
              </p:cNvGrpSpPr>
              <p:nvPr/>
            </p:nvGrpSpPr>
            <p:grpSpPr bwMode="auto">
              <a:xfrm>
                <a:off x="5325" y="3071"/>
                <a:ext cx="171" cy="121"/>
                <a:chOff x="481" y="830"/>
                <a:chExt cx="36" cy="36"/>
              </a:xfrm>
            </p:grpSpPr>
            <p:sp>
              <p:nvSpPr>
                <p:cNvPr id="28729" name="Rectangle 53"/>
                <p:cNvSpPr>
                  <a:spLocks noChangeArrowheads="1"/>
                </p:cNvSpPr>
                <p:nvPr/>
              </p:nvSpPr>
              <p:spPr bwMode="auto">
                <a:xfrm>
                  <a:off x="490" y="830"/>
                  <a:ext cx="18" cy="3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FFFFFF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sp>
              <p:nvSpPr>
                <p:cNvPr id="28730" name="AutoShape 54"/>
                <p:cNvSpPr>
                  <a:spLocks noChangeArrowheads="1"/>
                </p:cNvSpPr>
                <p:nvPr/>
              </p:nvSpPr>
              <p:spPr bwMode="auto">
                <a:xfrm rot="-5400000">
                  <a:off x="500" y="843"/>
                  <a:ext cx="25" cy="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3456 w 21600"/>
                    <a:gd name="T13" fmla="*/ 2400 h 21600"/>
                    <a:gd name="T14" fmla="*/ 18144 w 21600"/>
                    <a:gd name="T15" fmla="*/ 1920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2749" y="21600"/>
                      </a:lnTo>
                      <a:lnTo>
                        <a:pt x="18851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00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1" name="AutoShape 55"/>
                <p:cNvSpPr>
                  <a:spLocks noChangeArrowheads="1"/>
                </p:cNvSpPr>
                <p:nvPr/>
              </p:nvSpPr>
              <p:spPr bwMode="auto">
                <a:xfrm rot="5400000" flipH="1">
                  <a:off x="472" y="844"/>
                  <a:ext cx="25" cy="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3456 w 21600"/>
                    <a:gd name="T13" fmla="*/ 2700 h 21600"/>
                    <a:gd name="T14" fmla="*/ 18144 w 21600"/>
                    <a:gd name="T15" fmla="*/ 1890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2749" y="21600"/>
                      </a:lnTo>
                      <a:lnTo>
                        <a:pt x="18851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00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2" name="Rectangle 56"/>
                <p:cNvSpPr>
                  <a:spLocks noChangeArrowheads="1"/>
                </p:cNvSpPr>
                <p:nvPr/>
              </p:nvSpPr>
              <p:spPr bwMode="auto">
                <a:xfrm>
                  <a:off x="495" y="835"/>
                  <a:ext cx="7" cy="2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sp>
              <p:nvSpPr>
                <p:cNvPr id="28733" name="Rectangle 57"/>
                <p:cNvSpPr>
                  <a:spLocks noChangeArrowheads="1"/>
                </p:cNvSpPr>
                <p:nvPr/>
              </p:nvSpPr>
              <p:spPr bwMode="auto">
                <a:xfrm>
                  <a:off x="495" y="835"/>
                  <a:ext cx="7" cy="4"/>
                </a:xfrm>
                <a:prstGeom prst="rect">
                  <a:avLst/>
                </a:prstGeom>
                <a:noFill/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69696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sp>
              <p:nvSpPr>
                <p:cNvPr id="28734" name="Rectangle 58"/>
                <p:cNvSpPr>
                  <a:spLocks noChangeArrowheads="1"/>
                </p:cNvSpPr>
                <p:nvPr/>
              </p:nvSpPr>
              <p:spPr bwMode="auto">
                <a:xfrm>
                  <a:off x="495" y="857"/>
                  <a:ext cx="7" cy="4"/>
                </a:xfrm>
                <a:prstGeom prst="rect">
                  <a:avLst/>
                </a:prstGeom>
                <a:noFill/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69696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</p:grpSp>
          <p:grpSp>
            <p:nvGrpSpPr>
              <p:cNvPr id="28697" name="Group 59"/>
              <p:cNvGrpSpPr>
                <a:grpSpLocks/>
              </p:cNvGrpSpPr>
              <p:nvPr/>
            </p:nvGrpSpPr>
            <p:grpSpPr bwMode="auto">
              <a:xfrm>
                <a:off x="5368" y="820"/>
                <a:ext cx="85" cy="2429"/>
                <a:chOff x="665" y="171"/>
                <a:chExt cx="25" cy="723"/>
              </a:xfrm>
            </p:grpSpPr>
            <p:sp>
              <p:nvSpPr>
                <p:cNvPr id="28712" name="Rectangle 60"/>
                <p:cNvSpPr>
                  <a:spLocks noChangeArrowheads="1"/>
                </p:cNvSpPr>
                <p:nvPr/>
              </p:nvSpPr>
              <p:spPr bwMode="auto">
                <a:xfrm>
                  <a:off x="665" y="877"/>
                  <a:ext cx="25" cy="17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FFFFFF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sp>
              <p:nvSpPr>
                <p:cNvPr id="28713" name="Rectangle 61"/>
                <p:cNvSpPr>
                  <a:spLocks noChangeArrowheads="1"/>
                </p:cNvSpPr>
                <p:nvPr/>
              </p:nvSpPr>
              <p:spPr bwMode="auto">
                <a:xfrm>
                  <a:off x="665" y="797"/>
                  <a:ext cx="25" cy="45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FFFFFF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sp>
              <p:nvSpPr>
                <p:cNvPr id="28714" name="Rectangle 62"/>
                <p:cNvSpPr>
                  <a:spLocks noChangeArrowheads="1"/>
                </p:cNvSpPr>
                <p:nvPr/>
              </p:nvSpPr>
              <p:spPr bwMode="auto">
                <a:xfrm>
                  <a:off x="665" y="682"/>
                  <a:ext cx="25" cy="79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FFFFFF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grpSp>
              <p:nvGrpSpPr>
                <p:cNvPr id="28715" name="Group 63"/>
                <p:cNvGrpSpPr>
                  <a:grpSpLocks/>
                </p:cNvGrpSpPr>
                <p:nvPr/>
              </p:nvGrpSpPr>
              <p:grpSpPr bwMode="auto">
                <a:xfrm>
                  <a:off x="665" y="171"/>
                  <a:ext cx="25" cy="475"/>
                  <a:chOff x="665" y="129"/>
                  <a:chExt cx="25" cy="482"/>
                </a:xfrm>
              </p:grpSpPr>
              <p:sp>
                <p:nvSpPr>
                  <p:cNvPr id="28716" name="Rectangle 64"/>
                  <p:cNvSpPr>
                    <a:spLocks noChangeArrowheads="1"/>
                  </p:cNvSpPr>
                  <p:nvPr/>
                </p:nvSpPr>
                <p:spPr bwMode="auto">
                  <a:xfrm>
                    <a:off x="665" y="570"/>
                    <a:ext cx="25" cy="41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000000"/>
                      </a:gs>
                      <a:gs pos="50000">
                        <a:srgbClr val="9999FF"/>
                      </a:gs>
                      <a:gs pos="100000">
                        <a:srgbClr val="000000"/>
                      </a:gs>
                    </a:gsLst>
                    <a:lin ang="0" scaled="1"/>
                  </a:gra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id-ID" altLang="en-US"/>
                  </a:p>
                </p:txBody>
              </p:sp>
              <p:sp>
                <p:nvSpPr>
                  <p:cNvPr id="28717" name="Rectangle 65"/>
                  <p:cNvSpPr>
                    <a:spLocks noChangeArrowheads="1"/>
                  </p:cNvSpPr>
                  <p:nvPr/>
                </p:nvSpPr>
                <p:spPr bwMode="auto">
                  <a:xfrm>
                    <a:off x="665" y="419"/>
                    <a:ext cx="25" cy="112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000000"/>
                      </a:gs>
                      <a:gs pos="50000">
                        <a:srgbClr val="FFFFFF"/>
                      </a:gs>
                      <a:gs pos="100000">
                        <a:srgbClr val="000000"/>
                      </a:gs>
                    </a:gsLst>
                    <a:lin ang="0" scaled="1"/>
                  </a:gra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id-ID" altLang="en-US"/>
                  </a:p>
                </p:txBody>
              </p:sp>
              <p:grpSp>
                <p:nvGrpSpPr>
                  <p:cNvPr id="28718" name="Group 66"/>
                  <p:cNvGrpSpPr>
                    <a:grpSpLocks/>
                  </p:cNvGrpSpPr>
                  <p:nvPr/>
                </p:nvGrpSpPr>
                <p:grpSpPr bwMode="auto">
                  <a:xfrm>
                    <a:off x="665" y="342"/>
                    <a:ext cx="25" cy="77"/>
                    <a:chOff x="241" y="806"/>
                    <a:chExt cx="26" cy="76"/>
                  </a:xfrm>
                </p:grpSpPr>
                <p:sp>
                  <p:nvSpPr>
                    <p:cNvPr id="28726" name="Rectangle 6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1" y="828"/>
                      <a:ext cx="26" cy="54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000000"/>
                        </a:gs>
                        <a:gs pos="50000">
                          <a:srgbClr val="993300"/>
                        </a:gs>
                        <a:gs pos="100000">
                          <a:srgbClr val="000000"/>
                        </a:gs>
                      </a:gsLst>
                      <a:lin ang="0" scaled="1"/>
                    </a:gra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id-ID" altLang="en-US"/>
                    </a:p>
                  </p:txBody>
                </p:sp>
                <p:sp>
                  <p:nvSpPr>
                    <p:cNvPr id="28727" name="Rectangle 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1" y="806"/>
                      <a:ext cx="26" cy="1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000000"/>
                        </a:gs>
                        <a:gs pos="50000">
                          <a:srgbClr val="993300"/>
                        </a:gs>
                        <a:gs pos="100000">
                          <a:srgbClr val="000000"/>
                        </a:gs>
                      </a:gsLst>
                      <a:lin ang="0" scaled="1"/>
                    </a:gra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id-ID" altLang="en-US"/>
                    </a:p>
                  </p:txBody>
                </p:sp>
                <p:sp>
                  <p:nvSpPr>
                    <p:cNvPr id="28728" name="Rectangle 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5" y="821"/>
                      <a:ext cx="19" cy="7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000000"/>
                        </a:gs>
                        <a:gs pos="50000">
                          <a:srgbClr val="993300"/>
                        </a:gs>
                        <a:gs pos="100000">
                          <a:srgbClr val="000000"/>
                        </a:gs>
                      </a:gsLst>
                      <a:lin ang="0" scaled="1"/>
                    </a:gra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id-ID" altLang="en-US"/>
                    </a:p>
                  </p:txBody>
                </p:sp>
              </p:grpSp>
              <p:sp>
                <p:nvSpPr>
                  <p:cNvPr id="28719" name="Rectangle 70"/>
                  <p:cNvSpPr>
                    <a:spLocks noChangeArrowheads="1"/>
                  </p:cNvSpPr>
                  <p:nvPr/>
                </p:nvSpPr>
                <p:spPr bwMode="auto">
                  <a:xfrm>
                    <a:off x="665" y="282"/>
                    <a:ext cx="25" cy="60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000000"/>
                      </a:gs>
                      <a:gs pos="50000">
                        <a:srgbClr val="FFFFFF"/>
                      </a:gs>
                      <a:gs pos="100000">
                        <a:srgbClr val="000000"/>
                      </a:gs>
                    </a:gsLst>
                    <a:lin ang="0" scaled="1"/>
                  </a:gra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id-ID" altLang="en-US"/>
                  </a:p>
                </p:txBody>
              </p:sp>
              <p:grpSp>
                <p:nvGrpSpPr>
                  <p:cNvPr id="28720" name="Group 71"/>
                  <p:cNvGrpSpPr>
                    <a:grpSpLocks/>
                  </p:cNvGrpSpPr>
                  <p:nvPr/>
                </p:nvGrpSpPr>
                <p:grpSpPr bwMode="auto">
                  <a:xfrm>
                    <a:off x="665" y="251"/>
                    <a:ext cx="25" cy="31"/>
                    <a:chOff x="59" y="241"/>
                    <a:chExt cx="25" cy="31"/>
                  </a:xfrm>
                </p:grpSpPr>
                <p:sp>
                  <p:nvSpPr>
                    <p:cNvPr id="28723" name="Rectangle 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9" y="263"/>
                      <a:ext cx="25" cy="9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000000"/>
                        </a:gs>
                        <a:gs pos="50000">
                          <a:srgbClr val="FFFFFF"/>
                        </a:gs>
                        <a:gs pos="100000">
                          <a:srgbClr val="000000"/>
                        </a:gs>
                      </a:gsLst>
                      <a:lin ang="0" scaled="1"/>
                    </a:gra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id-ID" altLang="en-US"/>
                    </a:p>
                  </p:txBody>
                </p:sp>
                <p:sp>
                  <p:nvSpPr>
                    <p:cNvPr id="28724" name="Rectangle 7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4" y="241"/>
                      <a:ext cx="15" cy="10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000000"/>
                        </a:gs>
                        <a:gs pos="50000">
                          <a:srgbClr val="FFFFFF"/>
                        </a:gs>
                        <a:gs pos="100000">
                          <a:srgbClr val="000000"/>
                        </a:gs>
                      </a:gsLst>
                      <a:lin ang="0" scaled="1"/>
                    </a:gra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id-ID" altLang="en-US"/>
                    </a:p>
                  </p:txBody>
                </p:sp>
                <p:sp>
                  <p:nvSpPr>
                    <p:cNvPr id="28725" name="AutoShape 74"/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59" y="251"/>
                      <a:ext cx="25" cy="12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320 w 21600"/>
                        <a:gd name="T13" fmla="*/ 3600 h 21600"/>
                        <a:gd name="T14" fmla="*/ 17280 w 21600"/>
                        <a:gd name="T15" fmla="*/ 18000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4320" y="21600"/>
                          </a:lnTo>
                          <a:lnTo>
                            <a:pt x="1728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0000"/>
                        </a:gs>
                        <a:gs pos="50000">
                          <a:srgbClr val="FFFFFF"/>
                        </a:gs>
                        <a:gs pos="100000">
                          <a:srgbClr val="000000"/>
                        </a:gs>
                      </a:gsLst>
                      <a:lin ang="0" scaled="1"/>
                    </a:gra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8721" name="Rectangle 75"/>
                  <p:cNvSpPr>
                    <a:spLocks noChangeArrowheads="1"/>
                  </p:cNvSpPr>
                  <p:nvPr/>
                </p:nvSpPr>
                <p:spPr bwMode="auto">
                  <a:xfrm>
                    <a:off x="670" y="129"/>
                    <a:ext cx="15" cy="122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000000"/>
                      </a:gs>
                      <a:gs pos="50000">
                        <a:srgbClr val="FFFFFF"/>
                      </a:gs>
                      <a:gs pos="100000">
                        <a:srgbClr val="000000"/>
                      </a:gs>
                    </a:gsLst>
                    <a:lin ang="0" scaled="1"/>
                  </a:gra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id-ID" altLang="en-US"/>
                  </a:p>
                </p:txBody>
              </p:sp>
              <p:sp>
                <p:nvSpPr>
                  <p:cNvPr id="28722" name="Rectangle 76"/>
                  <p:cNvSpPr>
                    <a:spLocks noChangeArrowheads="1"/>
                  </p:cNvSpPr>
                  <p:nvPr/>
                </p:nvSpPr>
                <p:spPr bwMode="auto">
                  <a:xfrm>
                    <a:off x="665" y="530"/>
                    <a:ext cx="25" cy="40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000000"/>
                      </a:gs>
                      <a:gs pos="50000">
                        <a:srgbClr val="9999FF"/>
                      </a:gs>
                      <a:gs pos="100000">
                        <a:srgbClr val="000000"/>
                      </a:gs>
                    </a:gsLst>
                    <a:lin ang="0" scaled="1"/>
                  </a:gra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id-ID" altLang="en-US"/>
                  </a:p>
                </p:txBody>
              </p:sp>
            </p:grpSp>
          </p:grpSp>
          <p:grpSp>
            <p:nvGrpSpPr>
              <p:cNvPr id="28698" name="Group 77"/>
              <p:cNvGrpSpPr>
                <a:grpSpLocks/>
              </p:cNvGrpSpPr>
              <p:nvPr/>
            </p:nvGrpSpPr>
            <p:grpSpPr bwMode="auto">
              <a:xfrm>
                <a:off x="5325" y="2802"/>
                <a:ext cx="171" cy="121"/>
                <a:chOff x="481" y="830"/>
                <a:chExt cx="36" cy="36"/>
              </a:xfrm>
            </p:grpSpPr>
            <p:sp>
              <p:nvSpPr>
                <p:cNvPr id="28706" name="Rectangle 78"/>
                <p:cNvSpPr>
                  <a:spLocks noChangeArrowheads="1"/>
                </p:cNvSpPr>
                <p:nvPr/>
              </p:nvSpPr>
              <p:spPr bwMode="auto">
                <a:xfrm>
                  <a:off x="490" y="830"/>
                  <a:ext cx="18" cy="3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FFFFFF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sp>
              <p:nvSpPr>
                <p:cNvPr id="28707" name="AutoShape 79"/>
                <p:cNvSpPr>
                  <a:spLocks noChangeArrowheads="1"/>
                </p:cNvSpPr>
                <p:nvPr/>
              </p:nvSpPr>
              <p:spPr bwMode="auto">
                <a:xfrm rot="-5400000">
                  <a:off x="500" y="843"/>
                  <a:ext cx="25" cy="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3456 w 21600"/>
                    <a:gd name="T13" fmla="*/ 2400 h 21600"/>
                    <a:gd name="T14" fmla="*/ 18144 w 21600"/>
                    <a:gd name="T15" fmla="*/ 1920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2749" y="21600"/>
                      </a:lnTo>
                      <a:lnTo>
                        <a:pt x="18851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00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8" name="AutoShape 80"/>
                <p:cNvSpPr>
                  <a:spLocks noChangeArrowheads="1"/>
                </p:cNvSpPr>
                <p:nvPr/>
              </p:nvSpPr>
              <p:spPr bwMode="auto">
                <a:xfrm rot="5400000" flipH="1">
                  <a:off x="472" y="844"/>
                  <a:ext cx="25" cy="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3456 w 21600"/>
                    <a:gd name="T13" fmla="*/ 2700 h 21600"/>
                    <a:gd name="T14" fmla="*/ 18144 w 21600"/>
                    <a:gd name="T15" fmla="*/ 1890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2749" y="21600"/>
                      </a:lnTo>
                      <a:lnTo>
                        <a:pt x="18851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00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9" name="Rectangle 81"/>
                <p:cNvSpPr>
                  <a:spLocks noChangeArrowheads="1"/>
                </p:cNvSpPr>
                <p:nvPr/>
              </p:nvSpPr>
              <p:spPr bwMode="auto">
                <a:xfrm>
                  <a:off x="495" y="835"/>
                  <a:ext cx="7" cy="2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sp>
              <p:nvSpPr>
                <p:cNvPr id="28710" name="Rectangle 82"/>
                <p:cNvSpPr>
                  <a:spLocks noChangeArrowheads="1"/>
                </p:cNvSpPr>
                <p:nvPr/>
              </p:nvSpPr>
              <p:spPr bwMode="auto">
                <a:xfrm>
                  <a:off x="495" y="835"/>
                  <a:ext cx="7" cy="4"/>
                </a:xfrm>
                <a:prstGeom prst="rect">
                  <a:avLst/>
                </a:prstGeom>
                <a:noFill/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69696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sp>
              <p:nvSpPr>
                <p:cNvPr id="28711" name="Rectangle 83"/>
                <p:cNvSpPr>
                  <a:spLocks noChangeArrowheads="1"/>
                </p:cNvSpPr>
                <p:nvPr/>
              </p:nvSpPr>
              <p:spPr bwMode="auto">
                <a:xfrm>
                  <a:off x="495" y="857"/>
                  <a:ext cx="7" cy="4"/>
                </a:xfrm>
                <a:prstGeom prst="rect">
                  <a:avLst/>
                </a:prstGeom>
                <a:noFill/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69696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</p:grpSp>
          <p:grpSp>
            <p:nvGrpSpPr>
              <p:cNvPr id="28699" name="Group 84"/>
              <p:cNvGrpSpPr>
                <a:grpSpLocks/>
              </p:cNvGrpSpPr>
              <p:nvPr/>
            </p:nvGrpSpPr>
            <p:grpSpPr bwMode="auto">
              <a:xfrm>
                <a:off x="5325" y="2416"/>
                <a:ext cx="171" cy="121"/>
                <a:chOff x="481" y="830"/>
                <a:chExt cx="36" cy="36"/>
              </a:xfrm>
            </p:grpSpPr>
            <p:sp>
              <p:nvSpPr>
                <p:cNvPr id="28700" name="Rectangle 85"/>
                <p:cNvSpPr>
                  <a:spLocks noChangeArrowheads="1"/>
                </p:cNvSpPr>
                <p:nvPr/>
              </p:nvSpPr>
              <p:spPr bwMode="auto">
                <a:xfrm>
                  <a:off x="490" y="830"/>
                  <a:ext cx="18" cy="3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FFFFFF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sp>
              <p:nvSpPr>
                <p:cNvPr id="28701" name="AutoShape 86"/>
                <p:cNvSpPr>
                  <a:spLocks noChangeArrowheads="1"/>
                </p:cNvSpPr>
                <p:nvPr/>
              </p:nvSpPr>
              <p:spPr bwMode="auto">
                <a:xfrm rot="-5400000">
                  <a:off x="500" y="843"/>
                  <a:ext cx="25" cy="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3456 w 21600"/>
                    <a:gd name="T13" fmla="*/ 2400 h 21600"/>
                    <a:gd name="T14" fmla="*/ 18144 w 21600"/>
                    <a:gd name="T15" fmla="*/ 1920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2749" y="21600"/>
                      </a:lnTo>
                      <a:lnTo>
                        <a:pt x="18851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00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2" name="AutoShape 87"/>
                <p:cNvSpPr>
                  <a:spLocks noChangeArrowheads="1"/>
                </p:cNvSpPr>
                <p:nvPr/>
              </p:nvSpPr>
              <p:spPr bwMode="auto">
                <a:xfrm rot="5400000" flipH="1">
                  <a:off x="472" y="844"/>
                  <a:ext cx="25" cy="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3456 w 21600"/>
                    <a:gd name="T13" fmla="*/ 2700 h 21600"/>
                    <a:gd name="T14" fmla="*/ 18144 w 21600"/>
                    <a:gd name="T15" fmla="*/ 1890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2749" y="21600"/>
                      </a:lnTo>
                      <a:lnTo>
                        <a:pt x="18851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00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3" name="Rectangle 88"/>
                <p:cNvSpPr>
                  <a:spLocks noChangeArrowheads="1"/>
                </p:cNvSpPr>
                <p:nvPr/>
              </p:nvSpPr>
              <p:spPr bwMode="auto">
                <a:xfrm>
                  <a:off x="495" y="835"/>
                  <a:ext cx="7" cy="2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sp>
              <p:nvSpPr>
                <p:cNvPr id="28704" name="Rectangle 89"/>
                <p:cNvSpPr>
                  <a:spLocks noChangeArrowheads="1"/>
                </p:cNvSpPr>
                <p:nvPr/>
              </p:nvSpPr>
              <p:spPr bwMode="auto">
                <a:xfrm>
                  <a:off x="495" y="835"/>
                  <a:ext cx="7" cy="4"/>
                </a:xfrm>
                <a:prstGeom prst="rect">
                  <a:avLst/>
                </a:prstGeom>
                <a:noFill/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69696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  <p:sp>
              <p:nvSpPr>
                <p:cNvPr id="28705" name="Rectangle 90"/>
                <p:cNvSpPr>
                  <a:spLocks noChangeArrowheads="1"/>
                </p:cNvSpPr>
                <p:nvPr/>
              </p:nvSpPr>
              <p:spPr bwMode="auto">
                <a:xfrm>
                  <a:off x="495" y="857"/>
                  <a:ext cx="7" cy="4"/>
                </a:xfrm>
                <a:prstGeom prst="rect">
                  <a:avLst/>
                </a:prstGeom>
                <a:noFill/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69696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id-ID" altLang="en-US"/>
                </a:p>
              </p:txBody>
            </p:sp>
          </p:grpSp>
        </p:grpSp>
        <p:sp>
          <p:nvSpPr>
            <p:cNvPr id="28684" name="AutoShape 91"/>
            <p:cNvSpPr>
              <a:spLocks noChangeArrowheads="1"/>
            </p:cNvSpPr>
            <p:nvPr/>
          </p:nvSpPr>
          <p:spPr bwMode="auto">
            <a:xfrm>
              <a:off x="4901" y="2624"/>
              <a:ext cx="109" cy="119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66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id-ID" altLang="en-US"/>
            </a:p>
          </p:txBody>
        </p:sp>
        <p:sp>
          <p:nvSpPr>
            <p:cNvPr id="28685" name="AutoShape 92"/>
            <p:cNvSpPr>
              <a:spLocks noChangeArrowheads="1"/>
            </p:cNvSpPr>
            <p:nvPr/>
          </p:nvSpPr>
          <p:spPr bwMode="auto">
            <a:xfrm>
              <a:off x="4916" y="2297"/>
              <a:ext cx="109" cy="119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66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id-ID" altLang="en-US"/>
            </a:p>
          </p:txBody>
        </p:sp>
      </p:grpSp>
      <p:sp>
        <p:nvSpPr>
          <p:cNvPr id="28678" name="Text Box 96"/>
          <p:cNvSpPr txBox="1">
            <a:spLocks noChangeArrowheads="1"/>
          </p:cNvSpPr>
          <p:nvPr/>
        </p:nvSpPr>
        <p:spPr bwMode="auto">
          <a:xfrm>
            <a:off x="241300" y="6380163"/>
            <a:ext cx="28717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chemeClr val="accent2"/>
                </a:solidFill>
              </a:rPr>
              <a:t>Wellplan 2000, Critical Speed Module</a:t>
            </a:r>
          </a:p>
        </p:txBody>
      </p:sp>
      <p:sp>
        <p:nvSpPr>
          <p:cNvPr id="28679" name="AutoShape 98"/>
          <p:cNvSpPr>
            <a:spLocks noChangeArrowheads="1"/>
          </p:cNvSpPr>
          <p:nvPr/>
        </p:nvSpPr>
        <p:spPr bwMode="auto">
          <a:xfrm rot="1242299">
            <a:off x="2573338" y="1476375"/>
            <a:ext cx="290512" cy="2413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28680" name="AutoShape 99"/>
          <p:cNvSpPr>
            <a:spLocks noChangeArrowheads="1"/>
          </p:cNvSpPr>
          <p:nvPr/>
        </p:nvSpPr>
        <p:spPr bwMode="auto">
          <a:xfrm rot="1242299">
            <a:off x="1809750" y="1468438"/>
            <a:ext cx="290513" cy="2413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28681" name="Text Box 100"/>
          <p:cNvSpPr txBox="1">
            <a:spLocks noChangeArrowheads="1"/>
          </p:cNvSpPr>
          <p:nvPr/>
        </p:nvSpPr>
        <p:spPr bwMode="auto">
          <a:xfrm>
            <a:off x="4579938" y="5948363"/>
            <a:ext cx="471487" cy="396875"/>
          </a:xfrm>
          <a:prstGeom prst="rect">
            <a:avLst/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FF00"/>
                </a:solidFill>
              </a:rPr>
              <a:t>9-1/2</a:t>
            </a:r>
          </a:p>
          <a:p>
            <a:pPr eaLnBrk="1" hangingPunct="1"/>
            <a:r>
              <a:rPr lang="en-US" altLang="en-US" b="1">
                <a:solidFill>
                  <a:srgbClr val="FFFF00"/>
                </a:solidFill>
              </a:rPr>
              <a:t>8-1/2</a:t>
            </a:r>
          </a:p>
        </p:txBody>
      </p:sp>
      <p:sp>
        <p:nvSpPr>
          <p:cNvPr id="28682" name="Text Box 101"/>
          <p:cNvSpPr txBox="1">
            <a:spLocks noChangeArrowheads="1"/>
          </p:cNvSpPr>
          <p:nvPr/>
        </p:nvSpPr>
        <p:spPr bwMode="auto">
          <a:xfrm>
            <a:off x="5114925" y="5951538"/>
            <a:ext cx="471488" cy="244475"/>
          </a:xfrm>
          <a:prstGeom prst="rect">
            <a:avLst/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FF00"/>
                </a:solidFill>
              </a:rPr>
              <a:t>8-1/2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1"/>
          <p:cNvSpPr>
            <a:spLocks noChangeArrowheads="1"/>
          </p:cNvSpPr>
          <p:nvPr/>
        </p:nvSpPr>
        <p:spPr bwMode="auto">
          <a:xfrm>
            <a:off x="0" y="3976688"/>
            <a:ext cx="9144000" cy="2881312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796925"/>
            <a:ext cx="8229600" cy="620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800" b="1" smtClean="0">
                <a:solidFill>
                  <a:srgbClr val="008000"/>
                </a:solidFill>
              </a:rPr>
              <a:t>12-1/4” BHA – The Fact …….!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sz="half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z="2400" smtClean="0"/>
          </a:p>
          <a:p>
            <a:pPr eaLnBrk="1" hangingPunct="1">
              <a:buFontTx/>
              <a:buNone/>
            </a:pPr>
            <a:endParaRPr lang="en-US" altLang="en-US" sz="2400" smtClean="0"/>
          </a:p>
        </p:txBody>
      </p:sp>
      <p:pic>
        <p:nvPicPr>
          <p:cNvPr id="29701" name="Picture 11" descr="j028603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188" y="5762625"/>
            <a:ext cx="9144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9702" name="Object 12"/>
          <p:cNvGraphicFramePr>
            <a:graphicFrameLocks noGrp="1" noChangeAspect="1"/>
          </p:cNvGraphicFramePr>
          <p:nvPr/>
        </p:nvGraphicFramePr>
        <p:xfrm>
          <a:off x="188913" y="1273175"/>
          <a:ext cx="5224462" cy="280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5" name="Chart" r:id="rId4" imgW="2495702" imgH="1685849" progId="MSGraph.Chart.8">
                  <p:embed followColorScheme="full"/>
                </p:oleObj>
              </mc:Choice>
              <mc:Fallback>
                <p:oleObj name="Chart" r:id="rId4" imgW="2495702" imgH="1685849" progId="MSGraph.Chart.8">
                  <p:embed followColorScheme="full"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913" y="1273175"/>
                        <a:ext cx="5224462" cy="280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3" name="Text Box 14"/>
          <p:cNvSpPr txBox="1">
            <a:spLocks noChangeArrowheads="1"/>
          </p:cNvSpPr>
          <p:nvPr/>
        </p:nvSpPr>
        <p:spPr bwMode="auto">
          <a:xfrm>
            <a:off x="5116513" y="1639888"/>
            <a:ext cx="4027487" cy="1220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4625" indent="-17462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/>
              <a:t>BHA with 9-1/2” DC Series</a:t>
            </a:r>
          </a:p>
          <a:p>
            <a:pPr eaLnBrk="1" hangingPunct="1">
              <a:buFontTx/>
              <a:buChar char="•"/>
            </a:pPr>
            <a:r>
              <a:rPr lang="en-US" altLang="en-US" sz="1800"/>
              <a:t>Motor BHA: 2 failures of 4 run </a:t>
            </a:r>
          </a:p>
          <a:p>
            <a:pPr eaLnBrk="1" hangingPunct="1">
              <a:buFontTx/>
              <a:buChar char="•"/>
            </a:pPr>
            <a:r>
              <a:rPr lang="en-US" altLang="en-US" sz="1800"/>
              <a:t>Packed BHA: 5 failures of 12 run</a:t>
            </a:r>
          </a:p>
          <a:p>
            <a:pPr eaLnBrk="1" hangingPunct="1">
              <a:buFontTx/>
              <a:buChar char="•"/>
            </a:pPr>
            <a:r>
              <a:rPr lang="en-US" altLang="en-US" sz="1800"/>
              <a:t>Pendulum BHA: 9 failures of 14 run</a:t>
            </a:r>
          </a:p>
        </p:txBody>
      </p:sp>
      <p:graphicFrame>
        <p:nvGraphicFramePr>
          <p:cNvPr id="29704" name="Object 15"/>
          <p:cNvGraphicFramePr>
            <a:graphicFrameLocks noGrp="1" noChangeAspect="1"/>
          </p:cNvGraphicFramePr>
          <p:nvPr>
            <p:ph sz="half" idx="2"/>
          </p:nvPr>
        </p:nvGraphicFramePr>
        <p:xfrm>
          <a:off x="493713" y="3990975"/>
          <a:ext cx="5021262" cy="230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6" name="Chart" r:id="rId6" imgW="4572000" imgH="2104949" progId="MSGraph.Chart.8">
                  <p:embed followColorScheme="full"/>
                </p:oleObj>
              </mc:Choice>
              <mc:Fallback>
                <p:oleObj name="Chart" r:id="rId6" imgW="4572000" imgH="2104949" progId="MSGraph.Chart.8">
                  <p:embed followColorScheme="full"/>
                  <p:pic>
                    <p:nvPicPr>
                      <p:cNvPr id="0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713" y="3990975"/>
                        <a:ext cx="5021262" cy="230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5" name="Text Box 17"/>
          <p:cNvSpPr txBox="1">
            <a:spLocks noChangeArrowheads="1"/>
          </p:cNvSpPr>
          <p:nvPr/>
        </p:nvSpPr>
        <p:spPr bwMode="auto">
          <a:xfrm>
            <a:off x="5151438" y="4070350"/>
            <a:ext cx="3992562" cy="1220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4625" indent="-17462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/>
              <a:t>BHA with 8-1/2” DC Series</a:t>
            </a:r>
          </a:p>
          <a:p>
            <a:pPr eaLnBrk="1" hangingPunct="1">
              <a:buFontTx/>
              <a:buChar char="•"/>
            </a:pPr>
            <a:r>
              <a:rPr lang="en-US" altLang="en-US" sz="1800"/>
              <a:t>Motor BHA: </a:t>
            </a:r>
            <a:r>
              <a:rPr lang="en-US" altLang="en-US" sz="1800" b="1">
                <a:solidFill>
                  <a:srgbClr val="008000"/>
                </a:solidFill>
              </a:rPr>
              <a:t>No failure</a:t>
            </a:r>
            <a:r>
              <a:rPr lang="en-US" altLang="en-US" sz="1800"/>
              <a:t> of 14 run </a:t>
            </a:r>
          </a:p>
          <a:p>
            <a:pPr eaLnBrk="1" hangingPunct="1">
              <a:buFontTx/>
              <a:buChar char="•"/>
            </a:pPr>
            <a:r>
              <a:rPr lang="en-US" altLang="en-US" sz="1800"/>
              <a:t>Packed BHA: 2 failure of 11 run</a:t>
            </a:r>
          </a:p>
          <a:p>
            <a:pPr eaLnBrk="1" hangingPunct="1">
              <a:buFontTx/>
              <a:buChar char="•"/>
            </a:pPr>
            <a:r>
              <a:rPr lang="en-US" altLang="en-US" sz="1800"/>
              <a:t>Pendulum BHA: 5 failures of 10 run</a:t>
            </a:r>
          </a:p>
        </p:txBody>
      </p:sp>
      <p:sp>
        <p:nvSpPr>
          <p:cNvPr id="29706" name="Text Box 18"/>
          <p:cNvSpPr txBox="1">
            <a:spLocks noChangeArrowheads="1"/>
          </p:cNvSpPr>
          <p:nvPr/>
        </p:nvSpPr>
        <p:spPr bwMode="auto">
          <a:xfrm>
            <a:off x="5408613" y="3040063"/>
            <a:ext cx="2819400" cy="482600"/>
          </a:xfrm>
          <a:prstGeom prst="rect">
            <a:avLst/>
          </a:prstGeom>
          <a:noFill/>
          <a:ln w="25400">
            <a:solidFill>
              <a:srgbClr val="FF66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53% BHA  failures</a:t>
            </a:r>
          </a:p>
        </p:txBody>
      </p:sp>
      <p:sp>
        <p:nvSpPr>
          <p:cNvPr id="29707" name="Text Box 19"/>
          <p:cNvSpPr txBox="1">
            <a:spLocks noChangeArrowheads="1"/>
          </p:cNvSpPr>
          <p:nvPr/>
        </p:nvSpPr>
        <p:spPr bwMode="auto">
          <a:xfrm>
            <a:off x="5459413" y="5340350"/>
            <a:ext cx="2819400" cy="482600"/>
          </a:xfrm>
          <a:prstGeom prst="rect">
            <a:avLst/>
          </a:prstGeom>
          <a:noFill/>
          <a:ln w="25400">
            <a:solidFill>
              <a:srgbClr val="FF66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20% BHA  failures</a:t>
            </a:r>
          </a:p>
        </p:txBody>
      </p:sp>
      <p:sp>
        <p:nvSpPr>
          <p:cNvPr id="29708" name="Text Box 20"/>
          <p:cNvSpPr txBox="1">
            <a:spLocks noChangeArrowheads="1"/>
          </p:cNvSpPr>
          <p:nvPr/>
        </p:nvSpPr>
        <p:spPr bwMode="auto">
          <a:xfrm rot="800641">
            <a:off x="8348663" y="2719388"/>
            <a:ext cx="3651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0">
                <a:solidFill>
                  <a:srgbClr val="FF0000"/>
                </a:solidFill>
                <a:latin typeface="Comic Sans MS" panose="030F0702030302020204" pitchFamily="66" charset="0"/>
              </a:rPr>
              <a:t>!</a:t>
            </a:r>
          </a:p>
        </p:txBody>
      </p:sp>
      <p:sp>
        <p:nvSpPr>
          <p:cNvPr id="29709" name="AutoShape 22"/>
          <p:cNvSpPr>
            <a:spLocks noChangeArrowheads="1"/>
          </p:cNvSpPr>
          <p:nvPr/>
        </p:nvSpPr>
        <p:spPr bwMode="auto">
          <a:xfrm>
            <a:off x="1974850" y="5356225"/>
            <a:ext cx="392113" cy="319088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29710" name="AutoShape 23"/>
          <p:cNvSpPr>
            <a:spLocks noChangeArrowheads="1"/>
          </p:cNvSpPr>
          <p:nvPr/>
        </p:nvSpPr>
        <p:spPr bwMode="auto">
          <a:xfrm>
            <a:off x="3230563" y="5218113"/>
            <a:ext cx="392112" cy="319087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29711" name="Text Box 24"/>
          <p:cNvSpPr txBox="1">
            <a:spLocks noChangeArrowheads="1"/>
          </p:cNvSpPr>
          <p:nvPr/>
        </p:nvSpPr>
        <p:spPr bwMode="auto">
          <a:xfrm>
            <a:off x="1984375" y="5059363"/>
            <a:ext cx="40322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008000"/>
                </a:solidFill>
              </a:rPr>
              <a:t>0%</a:t>
            </a:r>
          </a:p>
        </p:txBody>
      </p:sp>
      <p:sp>
        <p:nvSpPr>
          <p:cNvPr id="29712" name="Text Box 25"/>
          <p:cNvSpPr txBox="1">
            <a:spLocks noChangeArrowheads="1"/>
          </p:cNvSpPr>
          <p:nvPr/>
        </p:nvSpPr>
        <p:spPr bwMode="auto">
          <a:xfrm>
            <a:off x="3209925" y="4935538"/>
            <a:ext cx="48736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008000"/>
                </a:solidFill>
              </a:rPr>
              <a:t>18%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796925"/>
            <a:ext cx="8229600" cy="620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800" b="1" smtClean="0">
                <a:solidFill>
                  <a:srgbClr val="008000"/>
                </a:solidFill>
              </a:rPr>
              <a:t>12-1/4” BHA – The Fact …….!</a:t>
            </a:r>
          </a:p>
        </p:txBody>
      </p:sp>
      <p:sp>
        <p:nvSpPr>
          <p:cNvPr id="30723" name="Rectangle 4"/>
          <p:cNvSpPr>
            <a:spLocks noGrp="1" noChangeArrowheads="1"/>
          </p:cNvSpPr>
          <p:nvPr>
            <p:ph type="body" sz="half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z="2400" smtClean="0"/>
          </a:p>
          <a:p>
            <a:pPr eaLnBrk="1" hangingPunct="1">
              <a:buFontTx/>
              <a:buNone/>
            </a:pPr>
            <a:endParaRPr lang="en-US" altLang="en-US" sz="2400" smtClean="0"/>
          </a:p>
        </p:txBody>
      </p:sp>
      <p:pic>
        <p:nvPicPr>
          <p:cNvPr id="30724" name="Picture 5" descr="j028603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188" y="5762625"/>
            <a:ext cx="9144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0725" name="Object 6"/>
          <p:cNvGraphicFramePr>
            <a:graphicFrameLocks noGrp="1" noChangeAspect="1"/>
          </p:cNvGraphicFramePr>
          <p:nvPr/>
        </p:nvGraphicFramePr>
        <p:xfrm>
          <a:off x="0" y="1639888"/>
          <a:ext cx="6256338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9" name="Chart" r:id="rId4" imgW="2705100" imgH="1685849" progId="MSGraph.Chart.8">
                  <p:embed followColorScheme="full"/>
                </p:oleObj>
              </mc:Choice>
              <mc:Fallback>
                <p:oleObj name="Chart" r:id="rId4" imgW="2705100" imgH="1685849" progId="MSGraph.Chart.8">
                  <p:embed followColorScheme="full"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639888"/>
                        <a:ext cx="6256338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6" name="Text Box 7"/>
          <p:cNvSpPr txBox="1">
            <a:spLocks noChangeArrowheads="1"/>
          </p:cNvSpPr>
          <p:nvPr/>
        </p:nvSpPr>
        <p:spPr bwMode="auto">
          <a:xfrm>
            <a:off x="6129338" y="2190750"/>
            <a:ext cx="2838450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15888" indent="-115888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sz="2000" b="1">
                <a:solidFill>
                  <a:srgbClr val="008000"/>
                </a:solidFill>
              </a:rPr>
              <a:t>Faster ROP for Packed &amp; pendulum BHA that used 9-1/2” DC Series</a:t>
            </a:r>
          </a:p>
          <a:p>
            <a:pPr eaLnBrk="1" hangingPunct="1">
              <a:buFontTx/>
              <a:buChar char="•"/>
            </a:pPr>
            <a:endParaRPr lang="en-US" altLang="en-US" sz="2000" b="1">
              <a:solidFill>
                <a:srgbClr val="008000"/>
              </a:solidFill>
            </a:endParaRPr>
          </a:p>
          <a:p>
            <a:pPr eaLnBrk="1" hangingPunct="1">
              <a:buFontTx/>
              <a:buChar char="•"/>
            </a:pPr>
            <a:r>
              <a:rPr lang="en-US" altLang="en-US" sz="2000" b="1">
                <a:solidFill>
                  <a:srgbClr val="008000"/>
                </a:solidFill>
              </a:rPr>
              <a:t>Faster ROP for Motor BHA that used 8-1/2” DC Series</a:t>
            </a:r>
          </a:p>
        </p:txBody>
      </p:sp>
      <p:sp>
        <p:nvSpPr>
          <p:cNvPr id="30727" name="AutoShape 14"/>
          <p:cNvSpPr>
            <a:spLocks noChangeArrowheads="1"/>
          </p:cNvSpPr>
          <p:nvPr/>
        </p:nvSpPr>
        <p:spPr bwMode="auto">
          <a:xfrm>
            <a:off x="2133600" y="2582863"/>
            <a:ext cx="477838" cy="24765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33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12750" y="1433513"/>
            <a:ext cx="8358188" cy="752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3200" b="1" smtClean="0">
                <a:solidFill>
                  <a:srgbClr val="008000"/>
                </a:solidFill>
              </a:rPr>
              <a:t>Bit ROP Enhancement:</a:t>
            </a:r>
            <a:br>
              <a:rPr lang="en-US" altLang="en-US" sz="3200" b="1" smtClean="0">
                <a:solidFill>
                  <a:srgbClr val="008000"/>
                </a:solidFill>
              </a:rPr>
            </a:br>
            <a:endParaRPr lang="en-US" altLang="en-US" sz="3200" b="1" smtClean="0">
              <a:solidFill>
                <a:srgbClr val="008000"/>
              </a:solidFill>
            </a:endParaRPr>
          </a:p>
        </p:txBody>
      </p:sp>
      <p:pic>
        <p:nvPicPr>
          <p:cNvPr id="31747" name="Picture 7" descr="j029198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100" y="4857750"/>
            <a:ext cx="1809750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Rectangle 9"/>
          <p:cNvSpPr>
            <a:spLocks noChangeArrowheads="1"/>
          </p:cNvSpPr>
          <p:nvPr/>
        </p:nvSpPr>
        <p:spPr bwMode="auto">
          <a:xfrm>
            <a:off x="390525" y="2474913"/>
            <a:ext cx="8358188" cy="198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838200" indent="-8382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>
                <a:solidFill>
                  <a:srgbClr val="008000"/>
                </a:solidFill>
              </a:rPr>
              <a:t>1. Shock Tool</a:t>
            </a:r>
            <a:br>
              <a:rPr lang="en-US" altLang="en-US" sz="3200" b="1">
                <a:solidFill>
                  <a:srgbClr val="008000"/>
                </a:solidFill>
              </a:rPr>
            </a:br>
            <a:r>
              <a:rPr lang="en-US" altLang="en-US" sz="3200" b="1">
                <a:solidFill>
                  <a:srgbClr val="008000"/>
                </a:solidFill>
              </a:rPr>
              <a:t>2. Optimize BHA Stabilization</a:t>
            </a:r>
            <a:br>
              <a:rPr lang="en-US" altLang="en-US" sz="3200" b="1">
                <a:solidFill>
                  <a:srgbClr val="008000"/>
                </a:solidFill>
              </a:rPr>
            </a:br>
            <a:r>
              <a:rPr lang="en-US" altLang="en-US" sz="3200" b="1">
                <a:solidFill>
                  <a:srgbClr val="008000"/>
                </a:solidFill>
              </a:rPr>
              <a:t>3. Downhole Vibration Tool (optional)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13" y="1597025"/>
            <a:ext cx="6429375" cy="3086100"/>
          </a:xfrm>
          <a:prstGeom prst="rect">
            <a:avLst/>
          </a:prstGeom>
          <a:noFill/>
          <a:ln w="222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5763" y="855663"/>
            <a:ext cx="8229600" cy="517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800" b="1" smtClean="0">
                <a:solidFill>
                  <a:srgbClr val="008000"/>
                </a:solidFill>
              </a:rPr>
              <a:t>12-1/4” Bit ROP verses Number of stabilizers</a:t>
            </a:r>
          </a:p>
        </p:txBody>
      </p:sp>
      <p:sp>
        <p:nvSpPr>
          <p:cNvPr id="32772" name="Rectangle 5"/>
          <p:cNvSpPr>
            <a:spLocks noChangeArrowheads="1"/>
          </p:cNvSpPr>
          <p:nvPr/>
        </p:nvSpPr>
        <p:spPr bwMode="auto">
          <a:xfrm>
            <a:off x="500063" y="3487738"/>
            <a:ext cx="381000" cy="1128712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32773" name="Text Box 6"/>
          <p:cNvSpPr txBox="1">
            <a:spLocks noChangeArrowheads="1"/>
          </p:cNvSpPr>
          <p:nvPr/>
        </p:nvSpPr>
        <p:spPr bwMode="auto">
          <a:xfrm>
            <a:off x="292100" y="4964113"/>
            <a:ext cx="85598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7663" indent="-347663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sz="1800" b="1">
                <a:solidFill>
                  <a:srgbClr val="008000"/>
                </a:solidFill>
              </a:rPr>
              <a:t>ROP is minimum on motor BHA when without stabilizer.</a:t>
            </a:r>
          </a:p>
          <a:p>
            <a:pPr eaLnBrk="1" hangingPunct="1">
              <a:buFontTx/>
              <a:buChar char="•"/>
            </a:pPr>
            <a:r>
              <a:rPr lang="en-US" altLang="en-US" sz="1800" b="1">
                <a:solidFill>
                  <a:srgbClr val="008000"/>
                </a:solidFill>
              </a:rPr>
              <a:t>Maximum ROP of motor BHA were achieved when utilized 4 stabilizers</a:t>
            </a:r>
          </a:p>
          <a:p>
            <a:pPr eaLnBrk="1" hangingPunct="1">
              <a:buFontTx/>
              <a:buChar char="•"/>
            </a:pPr>
            <a:r>
              <a:rPr lang="en-US" altLang="en-US" sz="1800" b="1">
                <a:solidFill>
                  <a:srgbClr val="008000"/>
                </a:solidFill>
              </a:rPr>
              <a:t>Maximum ROP of packed BHA were achieved when utilized</a:t>
            </a:r>
            <a:r>
              <a:rPr lang="en-US" altLang="en-US" sz="1800"/>
              <a:t> </a:t>
            </a:r>
            <a:r>
              <a:rPr lang="en-US" altLang="en-US" sz="1800" b="1">
                <a:solidFill>
                  <a:srgbClr val="008000"/>
                </a:solidFill>
              </a:rPr>
              <a:t>3 stabilizers &amp; shock sub</a:t>
            </a:r>
          </a:p>
        </p:txBody>
      </p:sp>
      <p:grpSp>
        <p:nvGrpSpPr>
          <p:cNvPr id="32774" name="Group 9"/>
          <p:cNvGrpSpPr>
            <a:grpSpLocks/>
          </p:cNvGrpSpPr>
          <p:nvPr/>
        </p:nvGrpSpPr>
        <p:grpSpPr bwMode="auto">
          <a:xfrm>
            <a:off x="6662738" y="2046288"/>
            <a:ext cx="1879600" cy="304800"/>
            <a:chOff x="4151" y="1353"/>
            <a:chExt cx="1184" cy="192"/>
          </a:xfrm>
        </p:grpSpPr>
        <p:sp>
          <p:nvSpPr>
            <p:cNvPr id="32778" name="Rectangle 7"/>
            <p:cNvSpPr>
              <a:spLocks noChangeArrowheads="1"/>
            </p:cNvSpPr>
            <p:nvPr/>
          </p:nvSpPr>
          <p:spPr bwMode="auto">
            <a:xfrm>
              <a:off x="4151" y="1407"/>
              <a:ext cx="128" cy="64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id-ID" altLang="en-US"/>
            </a:p>
          </p:txBody>
        </p:sp>
        <p:sp>
          <p:nvSpPr>
            <p:cNvPr id="32779" name="Text Box 8"/>
            <p:cNvSpPr txBox="1">
              <a:spLocks noChangeArrowheads="1"/>
            </p:cNvSpPr>
            <p:nvPr/>
          </p:nvSpPr>
          <p:spPr bwMode="auto">
            <a:xfrm>
              <a:off x="4301" y="1353"/>
              <a:ext cx="103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 b="1">
                  <a:solidFill>
                    <a:srgbClr val="993300"/>
                  </a:solidFill>
                </a:rPr>
                <a:t>Using Shock Sub</a:t>
              </a:r>
            </a:p>
          </p:txBody>
        </p:sp>
      </p:grpSp>
      <p:sp>
        <p:nvSpPr>
          <p:cNvPr id="32775" name="Text Box 10"/>
          <p:cNvSpPr txBox="1">
            <a:spLocks noChangeArrowheads="1"/>
          </p:cNvSpPr>
          <p:nvPr/>
        </p:nvSpPr>
        <p:spPr bwMode="auto">
          <a:xfrm>
            <a:off x="6611938" y="2574925"/>
            <a:ext cx="2532062" cy="155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/>
              <a:t>Shock Sub (SS) vs Average bit ROP on Packed BHA:</a:t>
            </a:r>
          </a:p>
          <a:p>
            <a:pPr eaLnBrk="1" hangingPunct="1"/>
            <a:endParaRPr lang="en-US" altLang="en-US" sz="1600" b="1"/>
          </a:p>
          <a:p>
            <a:pPr eaLnBrk="1" hangingPunct="1">
              <a:buFontTx/>
              <a:buChar char="•"/>
            </a:pPr>
            <a:r>
              <a:rPr lang="en-US" altLang="en-US" sz="1600" b="1"/>
              <a:t> W/O SS : 21.2 fph</a:t>
            </a:r>
          </a:p>
          <a:p>
            <a:pPr eaLnBrk="1" hangingPunct="1">
              <a:buFontTx/>
              <a:buChar char="•"/>
            </a:pPr>
            <a:r>
              <a:rPr lang="en-US" altLang="en-US" sz="1600" b="1"/>
              <a:t> With SS : </a:t>
            </a:r>
            <a:r>
              <a:rPr lang="en-US" altLang="en-US" sz="1600" b="1">
                <a:solidFill>
                  <a:srgbClr val="0000FF"/>
                </a:solidFill>
              </a:rPr>
              <a:t>28.6 fph</a:t>
            </a:r>
          </a:p>
        </p:txBody>
      </p:sp>
      <p:sp>
        <p:nvSpPr>
          <p:cNvPr id="32776" name="Rectangle 13"/>
          <p:cNvSpPr>
            <a:spLocks noChangeArrowheads="1"/>
          </p:cNvSpPr>
          <p:nvPr/>
        </p:nvSpPr>
        <p:spPr bwMode="auto">
          <a:xfrm>
            <a:off x="514350" y="1695450"/>
            <a:ext cx="609600" cy="20955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32777" name="Rectangle 14"/>
          <p:cNvSpPr>
            <a:spLocks noChangeArrowheads="1"/>
          </p:cNvSpPr>
          <p:nvPr/>
        </p:nvSpPr>
        <p:spPr bwMode="auto">
          <a:xfrm>
            <a:off x="3663950" y="1695450"/>
            <a:ext cx="609600" cy="20955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854075"/>
            <a:ext cx="8229600" cy="563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800" b="1" smtClean="0">
                <a:solidFill>
                  <a:srgbClr val="008000"/>
                </a:solidFill>
              </a:rPr>
              <a:t>12-1/4” Offset BHA – Shock Tool vs ROP</a:t>
            </a:r>
          </a:p>
        </p:txBody>
      </p:sp>
      <p:sp>
        <p:nvSpPr>
          <p:cNvPr id="33795" name="Text Box 5"/>
          <p:cNvSpPr txBox="1">
            <a:spLocks noChangeArrowheads="1"/>
          </p:cNvSpPr>
          <p:nvPr/>
        </p:nvSpPr>
        <p:spPr bwMode="auto">
          <a:xfrm>
            <a:off x="442913" y="5148263"/>
            <a:ext cx="754062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7663" indent="-347663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sz="1800" b="1">
                <a:solidFill>
                  <a:srgbClr val="008000"/>
                </a:solidFill>
              </a:rPr>
              <a:t>Use Shock Sub on packed BHA to improve bit ROP performance (V-1, 2 &amp; 6) </a:t>
            </a:r>
          </a:p>
          <a:p>
            <a:pPr eaLnBrk="1" hangingPunct="1">
              <a:buFontTx/>
              <a:buChar char="•"/>
            </a:pPr>
            <a:r>
              <a:rPr lang="en-US" altLang="en-US" sz="1800" b="1">
                <a:solidFill>
                  <a:srgbClr val="008000"/>
                </a:solidFill>
              </a:rPr>
              <a:t>Motor with top stabilizer (without Shock Sub) perform best ROP (V-8 &amp; 11).</a:t>
            </a:r>
          </a:p>
        </p:txBody>
      </p:sp>
      <p:pic>
        <p:nvPicPr>
          <p:cNvPr id="33796" name="Picture 9" descr="j02832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988" y="5765800"/>
            <a:ext cx="1116012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7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38" y="1649413"/>
            <a:ext cx="7177087" cy="3155950"/>
          </a:xfrm>
          <a:prstGeom prst="rect">
            <a:avLst/>
          </a:prstGeom>
          <a:noFill/>
          <a:ln w="22225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798" name="Line 11"/>
          <p:cNvSpPr>
            <a:spLocks noChangeShapeType="1"/>
          </p:cNvSpPr>
          <p:nvPr/>
        </p:nvSpPr>
        <p:spPr bwMode="auto">
          <a:xfrm flipV="1">
            <a:off x="5748338" y="2046288"/>
            <a:ext cx="288925" cy="231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9" name="Text Box 12"/>
          <p:cNvSpPr txBox="1">
            <a:spLocks noChangeArrowheads="1"/>
          </p:cNvSpPr>
          <p:nvPr/>
        </p:nvSpPr>
        <p:spPr bwMode="auto">
          <a:xfrm>
            <a:off x="5786438" y="1808163"/>
            <a:ext cx="15097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008000"/>
                </a:solidFill>
              </a:rPr>
              <a:t>Motor w/ Top Stab</a:t>
            </a:r>
          </a:p>
        </p:txBody>
      </p:sp>
      <p:sp>
        <p:nvSpPr>
          <p:cNvPr id="33800" name="Line 13"/>
          <p:cNvSpPr>
            <a:spLocks noChangeShapeType="1"/>
          </p:cNvSpPr>
          <p:nvPr/>
        </p:nvSpPr>
        <p:spPr bwMode="auto">
          <a:xfrm flipV="1">
            <a:off x="6677025" y="2074863"/>
            <a:ext cx="0" cy="595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1" name="TextBox 9"/>
          <p:cNvSpPr txBox="1">
            <a:spLocks noChangeArrowheads="1"/>
          </p:cNvSpPr>
          <p:nvPr/>
        </p:nvSpPr>
        <p:spPr bwMode="auto">
          <a:xfrm>
            <a:off x="1681163" y="4040188"/>
            <a:ext cx="5119687" cy="708025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id-ID" altLang="en-US" sz="2000"/>
              <a:t>Well </a:t>
            </a:r>
          </a:p>
          <a:p>
            <a:pPr algn="ctr" eaLnBrk="1" hangingPunct="1"/>
            <a:r>
              <a:rPr lang="id-ID" altLang="en-US" sz="2000"/>
              <a:t>V1 – V11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0849" y="4040327"/>
            <a:ext cx="430887" cy="707886"/>
          </a:xfrm>
          <a:prstGeom prst="rect">
            <a:avLst/>
          </a:prstGeom>
          <a:solidFill>
            <a:srgbClr val="99FF99"/>
          </a:solidFill>
        </p:spPr>
        <p:txBody>
          <a:bodyPr vert="vert270">
            <a:spAutoFit/>
          </a:bodyPr>
          <a:lstStyle/>
          <a:p>
            <a:pPr algn="ctr" eaLnBrk="1" hangingPunct="1">
              <a:defRPr/>
            </a:pPr>
            <a:r>
              <a:rPr lang="id-ID" sz="1600" dirty="0">
                <a:latin typeface="Arial" charset="0"/>
                <a:cs typeface="Arial" charset="0"/>
              </a:rPr>
              <a:t>Rbb-1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768350"/>
            <a:ext cx="8229600" cy="635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800" b="1" smtClean="0">
                <a:solidFill>
                  <a:srgbClr val="008000"/>
                </a:solidFill>
              </a:rPr>
              <a:t>12-1/4” Packed BHA Stabilization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sz="half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z="2400" smtClean="0"/>
          </a:p>
          <a:p>
            <a:pPr eaLnBrk="1" hangingPunct="1">
              <a:buFontTx/>
              <a:buNone/>
            </a:pPr>
            <a:endParaRPr lang="en-US" altLang="en-US" sz="2400" smtClean="0"/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1068388" y="1473200"/>
            <a:ext cx="63214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7663" indent="-347663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sz="2400" b="1">
                <a:solidFill>
                  <a:srgbClr val="0000FF"/>
                </a:solidFill>
              </a:rPr>
              <a:t>Vibration evaluation of various packed BHA stabilization model</a:t>
            </a:r>
          </a:p>
        </p:txBody>
      </p:sp>
      <p:graphicFrame>
        <p:nvGraphicFramePr>
          <p:cNvPr id="123966" name="Group 62"/>
          <p:cNvGraphicFramePr>
            <a:graphicFrameLocks noGrp="1"/>
          </p:cNvGraphicFramePr>
          <p:nvPr>
            <p:ph sz="half" idx="2"/>
          </p:nvPr>
        </p:nvGraphicFramePr>
        <p:xfrm>
          <a:off x="3990975" y="2354263"/>
          <a:ext cx="1890713" cy="2133600"/>
        </p:xfrm>
        <a:graphic>
          <a:graphicData uri="http://schemas.openxmlformats.org/drawingml/2006/table">
            <a:tbl>
              <a:tblPr/>
              <a:tblGrid>
                <a:gridCol w="94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B, ft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charset="0"/>
                          <a:cs typeface="Arial" charset="0"/>
                        </a:rPr>
                        <a:t>C, ft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847" name="Text Box 57"/>
          <p:cNvSpPr txBox="1">
            <a:spLocks noChangeArrowheads="1"/>
          </p:cNvSpPr>
          <p:nvPr/>
        </p:nvSpPr>
        <p:spPr bwMode="auto">
          <a:xfrm>
            <a:off x="2105025" y="2962275"/>
            <a:ext cx="18430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1400" b="1"/>
              <a:t>Stabilizer Distance</a:t>
            </a:r>
          </a:p>
        </p:txBody>
      </p:sp>
      <p:grpSp>
        <p:nvGrpSpPr>
          <p:cNvPr id="34848" name="Group 63"/>
          <p:cNvGrpSpPr>
            <a:grpSpLocks/>
          </p:cNvGrpSpPr>
          <p:nvPr/>
        </p:nvGrpSpPr>
        <p:grpSpPr bwMode="auto">
          <a:xfrm>
            <a:off x="450850" y="4303713"/>
            <a:ext cx="7543800" cy="2041525"/>
            <a:chOff x="458" y="2592"/>
            <a:chExt cx="4752" cy="1286"/>
          </a:xfrm>
        </p:grpSpPr>
        <p:sp>
          <p:nvSpPr>
            <p:cNvPr id="34850" name="Line 6"/>
            <p:cNvSpPr>
              <a:spLocks noChangeShapeType="1"/>
            </p:cNvSpPr>
            <p:nvPr/>
          </p:nvSpPr>
          <p:spPr bwMode="auto">
            <a:xfrm flipV="1">
              <a:off x="549" y="2754"/>
              <a:ext cx="0" cy="3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1" name="Line 7"/>
            <p:cNvSpPr>
              <a:spLocks noChangeShapeType="1"/>
            </p:cNvSpPr>
            <p:nvPr/>
          </p:nvSpPr>
          <p:spPr bwMode="auto">
            <a:xfrm flipV="1">
              <a:off x="934" y="2836"/>
              <a:ext cx="0" cy="2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2" name="Line 8"/>
            <p:cNvSpPr>
              <a:spLocks noChangeShapeType="1"/>
            </p:cNvSpPr>
            <p:nvPr/>
          </p:nvSpPr>
          <p:spPr bwMode="auto">
            <a:xfrm flipV="1">
              <a:off x="1340" y="2833"/>
              <a:ext cx="0" cy="2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3" name="Line 9"/>
            <p:cNvSpPr>
              <a:spLocks noChangeShapeType="1"/>
            </p:cNvSpPr>
            <p:nvPr/>
          </p:nvSpPr>
          <p:spPr bwMode="auto">
            <a:xfrm flipV="1">
              <a:off x="2086" y="2834"/>
              <a:ext cx="0" cy="2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4" name="Line 10"/>
            <p:cNvSpPr>
              <a:spLocks noChangeShapeType="1"/>
            </p:cNvSpPr>
            <p:nvPr/>
          </p:nvSpPr>
          <p:spPr bwMode="auto">
            <a:xfrm flipV="1">
              <a:off x="3409" y="2842"/>
              <a:ext cx="0" cy="2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5" name="Line 11"/>
            <p:cNvSpPr>
              <a:spLocks noChangeShapeType="1"/>
            </p:cNvSpPr>
            <p:nvPr/>
          </p:nvSpPr>
          <p:spPr bwMode="auto">
            <a:xfrm flipV="1">
              <a:off x="3900" y="2759"/>
              <a:ext cx="0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6" name="Line 12"/>
            <p:cNvSpPr>
              <a:spLocks noChangeShapeType="1"/>
            </p:cNvSpPr>
            <p:nvPr/>
          </p:nvSpPr>
          <p:spPr bwMode="auto">
            <a:xfrm>
              <a:off x="546" y="2808"/>
              <a:ext cx="33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7" name="Line 13"/>
            <p:cNvSpPr>
              <a:spLocks noChangeShapeType="1"/>
            </p:cNvSpPr>
            <p:nvPr/>
          </p:nvSpPr>
          <p:spPr bwMode="auto">
            <a:xfrm>
              <a:off x="549" y="2889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8" name="Line 14"/>
            <p:cNvSpPr>
              <a:spLocks noChangeShapeType="1"/>
            </p:cNvSpPr>
            <p:nvPr/>
          </p:nvSpPr>
          <p:spPr bwMode="auto">
            <a:xfrm>
              <a:off x="936" y="2889"/>
              <a:ext cx="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9" name="Line 15"/>
            <p:cNvSpPr>
              <a:spLocks noChangeShapeType="1"/>
            </p:cNvSpPr>
            <p:nvPr/>
          </p:nvSpPr>
          <p:spPr bwMode="auto">
            <a:xfrm>
              <a:off x="1344" y="2889"/>
              <a:ext cx="7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0" name="Line 16"/>
            <p:cNvSpPr>
              <a:spLocks noChangeShapeType="1"/>
            </p:cNvSpPr>
            <p:nvPr/>
          </p:nvSpPr>
          <p:spPr bwMode="auto">
            <a:xfrm>
              <a:off x="2088" y="2889"/>
              <a:ext cx="13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1" name="Line 17"/>
            <p:cNvSpPr>
              <a:spLocks noChangeShapeType="1"/>
            </p:cNvSpPr>
            <p:nvPr/>
          </p:nvSpPr>
          <p:spPr bwMode="auto">
            <a:xfrm flipV="1">
              <a:off x="3411" y="2889"/>
              <a:ext cx="4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34862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" y="3036"/>
              <a:ext cx="4752" cy="8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4863" name="AutoShape 18"/>
            <p:cNvSpPr>
              <a:spLocks noChangeArrowheads="1"/>
            </p:cNvSpPr>
            <p:nvPr/>
          </p:nvSpPr>
          <p:spPr bwMode="auto">
            <a:xfrm>
              <a:off x="649" y="2912"/>
              <a:ext cx="190" cy="190"/>
            </a:xfrm>
            <a:prstGeom prst="octagon">
              <a:avLst>
                <a:gd name="adj" fmla="val 29287"/>
              </a:avLst>
            </a:pr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800" b="1">
                  <a:solidFill>
                    <a:srgbClr val="FFFF00"/>
                  </a:solidFill>
                </a:rPr>
                <a:t>A</a:t>
              </a:r>
            </a:p>
          </p:txBody>
        </p:sp>
        <p:sp>
          <p:nvSpPr>
            <p:cNvPr id="34864" name="AutoShape 19"/>
            <p:cNvSpPr>
              <a:spLocks noChangeArrowheads="1"/>
            </p:cNvSpPr>
            <p:nvPr/>
          </p:nvSpPr>
          <p:spPr bwMode="auto">
            <a:xfrm>
              <a:off x="1028" y="2916"/>
              <a:ext cx="190" cy="190"/>
            </a:xfrm>
            <a:prstGeom prst="octagon">
              <a:avLst>
                <a:gd name="adj" fmla="val 29287"/>
              </a:avLst>
            </a:pr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800" b="1">
                  <a:solidFill>
                    <a:srgbClr val="FFFF00"/>
                  </a:solidFill>
                </a:rPr>
                <a:t>B</a:t>
              </a:r>
            </a:p>
          </p:txBody>
        </p:sp>
        <p:sp>
          <p:nvSpPr>
            <p:cNvPr id="34865" name="AutoShape 20"/>
            <p:cNvSpPr>
              <a:spLocks noChangeArrowheads="1"/>
            </p:cNvSpPr>
            <p:nvPr/>
          </p:nvSpPr>
          <p:spPr bwMode="auto">
            <a:xfrm>
              <a:off x="1632" y="2907"/>
              <a:ext cx="190" cy="190"/>
            </a:xfrm>
            <a:prstGeom prst="octagon">
              <a:avLst>
                <a:gd name="adj" fmla="val 29287"/>
              </a:avLst>
            </a:pr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800" b="1">
                  <a:solidFill>
                    <a:srgbClr val="FFFF00"/>
                  </a:solidFill>
                </a:rPr>
                <a:t>C</a:t>
              </a:r>
            </a:p>
          </p:txBody>
        </p:sp>
        <p:sp>
          <p:nvSpPr>
            <p:cNvPr id="34866" name="AutoShape 21"/>
            <p:cNvSpPr>
              <a:spLocks noChangeArrowheads="1"/>
            </p:cNvSpPr>
            <p:nvPr/>
          </p:nvSpPr>
          <p:spPr bwMode="auto">
            <a:xfrm>
              <a:off x="2684" y="2907"/>
              <a:ext cx="190" cy="190"/>
            </a:xfrm>
            <a:prstGeom prst="octagon">
              <a:avLst>
                <a:gd name="adj" fmla="val 29287"/>
              </a:avLst>
            </a:pr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800" b="1">
                  <a:solidFill>
                    <a:srgbClr val="FFFF00"/>
                  </a:solidFill>
                </a:rPr>
                <a:t>D</a:t>
              </a:r>
            </a:p>
          </p:txBody>
        </p:sp>
        <p:sp>
          <p:nvSpPr>
            <p:cNvPr id="34867" name="AutoShape 58"/>
            <p:cNvSpPr>
              <a:spLocks noChangeArrowheads="1"/>
            </p:cNvSpPr>
            <p:nvPr/>
          </p:nvSpPr>
          <p:spPr bwMode="auto">
            <a:xfrm>
              <a:off x="3566" y="2911"/>
              <a:ext cx="190" cy="190"/>
            </a:xfrm>
            <a:prstGeom prst="octagon">
              <a:avLst>
                <a:gd name="adj" fmla="val 29287"/>
              </a:avLst>
            </a:pr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800" b="1">
                  <a:solidFill>
                    <a:srgbClr val="FFFF00"/>
                  </a:solidFill>
                </a:rPr>
                <a:t>E</a:t>
              </a:r>
            </a:p>
          </p:txBody>
        </p:sp>
        <p:sp>
          <p:nvSpPr>
            <p:cNvPr id="34868" name="AutoShape 59"/>
            <p:cNvSpPr>
              <a:spLocks noChangeArrowheads="1"/>
            </p:cNvSpPr>
            <p:nvPr/>
          </p:nvSpPr>
          <p:spPr bwMode="auto">
            <a:xfrm>
              <a:off x="2085" y="2592"/>
              <a:ext cx="190" cy="190"/>
            </a:xfrm>
            <a:prstGeom prst="octagon">
              <a:avLst>
                <a:gd name="adj" fmla="val 29287"/>
              </a:avLst>
            </a:pr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800" b="1">
                  <a:solidFill>
                    <a:srgbClr val="FFFF00"/>
                  </a:solidFill>
                </a:rPr>
                <a:t>F</a:t>
              </a:r>
            </a:p>
          </p:txBody>
        </p:sp>
      </p:grpSp>
      <p:pic>
        <p:nvPicPr>
          <p:cNvPr id="34849" name="Picture 60" descr="j02920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0" y="5372100"/>
            <a:ext cx="1525588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" y="3260725"/>
            <a:ext cx="4492625" cy="1693863"/>
          </a:xfrm>
          <a:prstGeom prst="rect">
            <a:avLst/>
          </a:prstGeom>
          <a:noFill/>
          <a:ln w="19050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5763" y="855663"/>
            <a:ext cx="8229600" cy="517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800" b="1" smtClean="0">
                <a:solidFill>
                  <a:srgbClr val="008000"/>
                </a:solidFill>
              </a:rPr>
              <a:t>12-1/4” Packed BHA vs. Various Stabilization</a:t>
            </a:r>
          </a:p>
        </p:txBody>
      </p:sp>
      <p:pic>
        <p:nvPicPr>
          <p:cNvPr id="3584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63" y="1484313"/>
            <a:ext cx="4494212" cy="1785937"/>
          </a:xfrm>
          <a:prstGeom prst="rect">
            <a:avLst/>
          </a:prstGeom>
          <a:noFill/>
          <a:ln w="19050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4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075" y="1408113"/>
            <a:ext cx="2200275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46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4949825"/>
            <a:ext cx="4478337" cy="1398588"/>
          </a:xfrm>
          <a:prstGeom prst="rect">
            <a:avLst/>
          </a:prstGeom>
          <a:noFill/>
          <a:ln w="19050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847" name="AutoShape 10"/>
          <p:cNvSpPr>
            <a:spLocks noChangeArrowheads="1"/>
          </p:cNvSpPr>
          <p:nvPr/>
        </p:nvSpPr>
        <p:spPr bwMode="auto">
          <a:xfrm>
            <a:off x="7213600" y="1743075"/>
            <a:ext cx="1746250" cy="1196975"/>
          </a:xfrm>
          <a:prstGeom prst="leftArrow">
            <a:avLst>
              <a:gd name="adj1" fmla="val 50000"/>
              <a:gd name="adj2" fmla="val 36472"/>
            </a:avLst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b="1"/>
              <a:t>BHA Component</a:t>
            </a:r>
          </a:p>
        </p:txBody>
      </p:sp>
      <p:sp>
        <p:nvSpPr>
          <p:cNvPr id="35848" name="Text Box 11"/>
          <p:cNvSpPr txBox="1">
            <a:spLocks noChangeArrowheads="1"/>
          </p:cNvSpPr>
          <p:nvPr/>
        </p:nvSpPr>
        <p:spPr bwMode="auto">
          <a:xfrm>
            <a:off x="5006975" y="3389313"/>
            <a:ext cx="4137025" cy="228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1775" indent="-23177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/>
              <a:t>Packed BHA Stabilization:</a:t>
            </a:r>
          </a:p>
          <a:p>
            <a:pPr eaLnBrk="1" hangingPunct="1">
              <a:buFontTx/>
              <a:buChar char="•"/>
            </a:pPr>
            <a:r>
              <a:rPr lang="en-US" altLang="en-US" sz="1800" b="1">
                <a:solidFill>
                  <a:srgbClr val="FF0000"/>
                </a:solidFill>
              </a:rPr>
              <a:t>Do not apply 15 / 60 ft and 20 / 60</a:t>
            </a:r>
            <a:r>
              <a:rPr lang="en-US" altLang="en-US" sz="1800" b="1"/>
              <a:t> ft BHA stabilization. The net lateral displacement is higher.</a:t>
            </a:r>
          </a:p>
          <a:p>
            <a:pPr eaLnBrk="1" hangingPunct="1">
              <a:buFontTx/>
              <a:buChar char="•"/>
            </a:pPr>
            <a:endParaRPr lang="en-US" altLang="en-US" sz="1800" b="1"/>
          </a:p>
          <a:p>
            <a:pPr eaLnBrk="1" hangingPunct="1">
              <a:buFontTx/>
              <a:buChar char="•"/>
            </a:pPr>
            <a:r>
              <a:rPr lang="en-US" altLang="en-US" sz="1800" b="1"/>
              <a:t>Various stabilization model are no significant impact on torsional displacement.</a:t>
            </a:r>
          </a:p>
        </p:txBody>
      </p:sp>
      <p:sp>
        <p:nvSpPr>
          <p:cNvPr id="35849" name="AutoShape 12"/>
          <p:cNvSpPr>
            <a:spLocks noChangeArrowheads="1"/>
          </p:cNvSpPr>
          <p:nvPr/>
        </p:nvSpPr>
        <p:spPr bwMode="auto">
          <a:xfrm rot="-2814461">
            <a:off x="3147219" y="2282031"/>
            <a:ext cx="204788" cy="231775"/>
          </a:xfrm>
          <a:prstGeom prst="leftArrow">
            <a:avLst>
              <a:gd name="adj1" fmla="val 47546"/>
              <a:gd name="adj2" fmla="val 46333"/>
            </a:avLst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35850" name="AutoShape 13"/>
          <p:cNvSpPr>
            <a:spLocks noChangeArrowheads="1"/>
          </p:cNvSpPr>
          <p:nvPr/>
        </p:nvSpPr>
        <p:spPr bwMode="auto">
          <a:xfrm rot="-2814461">
            <a:off x="3823494" y="1539081"/>
            <a:ext cx="204788" cy="231775"/>
          </a:xfrm>
          <a:prstGeom prst="leftArrow">
            <a:avLst>
              <a:gd name="adj1" fmla="val 47546"/>
              <a:gd name="adj2" fmla="val 46333"/>
            </a:avLst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35851" name="AutoShape 14"/>
          <p:cNvSpPr>
            <a:spLocks noChangeArrowheads="1"/>
          </p:cNvSpPr>
          <p:nvPr/>
        </p:nvSpPr>
        <p:spPr bwMode="auto">
          <a:xfrm rot="-2814461">
            <a:off x="2642394" y="2291556"/>
            <a:ext cx="204788" cy="231775"/>
          </a:xfrm>
          <a:prstGeom prst="leftArrow">
            <a:avLst>
              <a:gd name="adj1" fmla="val 47546"/>
              <a:gd name="adj2" fmla="val 46333"/>
            </a:avLst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35852" name="AutoShape 16"/>
          <p:cNvSpPr>
            <a:spLocks noChangeArrowheads="1"/>
          </p:cNvSpPr>
          <p:nvPr/>
        </p:nvSpPr>
        <p:spPr bwMode="auto">
          <a:xfrm rot="-2814461">
            <a:off x="1837532" y="3752056"/>
            <a:ext cx="204788" cy="231775"/>
          </a:xfrm>
          <a:prstGeom prst="leftArrow">
            <a:avLst>
              <a:gd name="adj1" fmla="val 47546"/>
              <a:gd name="adj2" fmla="val 46333"/>
            </a:avLst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pic>
        <p:nvPicPr>
          <p:cNvPr id="35853" name="Picture 2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138" y="5703888"/>
            <a:ext cx="3871912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854" name="Text Box 26"/>
          <p:cNvSpPr txBox="1">
            <a:spLocks noChangeArrowheads="1"/>
          </p:cNvSpPr>
          <p:nvPr/>
        </p:nvSpPr>
        <p:spPr bwMode="auto">
          <a:xfrm>
            <a:off x="385763" y="6380163"/>
            <a:ext cx="287178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chemeClr val="accent2"/>
                </a:solidFill>
              </a:rPr>
              <a:t>Wellplan 2000, Critical Speed Module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3" y="1339850"/>
            <a:ext cx="8537575" cy="4743450"/>
          </a:xfrm>
          <a:prstGeom prst="rect">
            <a:avLst/>
          </a:prstGeom>
          <a:noFill/>
          <a:ln w="22225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86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825500"/>
            <a:ext cx="8229600" cy="433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400" b="1" smtClean="0">
                <a:solidFill>
                  <a:srgbClr val="008000"/>
                </a:solidFill>
              </a:rPr>
              <a:t>12-1/4” Hole – BHA Type vs Run Casing problem</a:t>
            </a:r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z="2800" smtClean="0"/>
          </a:p>
          <a:p>
            <a:pPr eaLnBrk="1" hangingPunct="1">
              <a:buFontTx/>
              <a:buNone/>
            </a:pPr>
            <a:endParaRPr lang="en-US" altLang="en-US" sz="2800" smtClean="0"/>
          </a:p>
        </p:txBody>
      </p:sp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338138" y="2703513"/>
            <a:ext cx="8453437" cy="655637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36870" name="Text Box 6"/>
          <p:cNvSpPr txBox="1">
            <a:spLocks noChangeArrowheads="1"/>
          </p:cNvSpPr>
          <p:nvPr/>
        </p:nvSpPr>
        <p:spPr bwMode="auto">
          <a:xfrm>
            <a:off x="241300" y="6118225"/>
            <a:ext cx="86931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chemeClr val="accent2"/>
                </a:solidFill>
              </a:rPr>
              <a:t>Note: SPE/IADC 52820 – Consequences and Relevance of Drillstring Vibration on Wellbore Stability. Petrobras @1999</a:t>
            </a:r>
          </a:p>
        </p:txBody>
      </p:sp>
      <p:sp>
        <p:nvSpPr>
          <p:cNvPr id="36871" name="Rectangle 7"/>
          <p:cNvSpPr>
            <a:spLocks noChangeArrowheads="1"/>
          </p:cNvSpPr>
          <p:nvPr/>
        </p:nvSpPr>
        <p:spPr bwMode="auto">
          <a:xfrm>
            <a:off x="290513" y="1682750"/>
            <a:ext cx="1030287" cy="4398963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5763" y="695325"/>
            <a:ext cx="8229600" cy="474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400" b="1" smtClean="0">
                <a:solidFill>
                  <a:srgbClr val="008000"/>
                </a:solidFill>
              </a:rPr>
              <a:t>Develop 12-1/4” Packed and Motor BHA Configuration</a:t>
            </a:r>
          </a:p>
        </p:txBody>
      </p:sp>
      <p:sp>
        <p:nvSpPr>
          <p:cNvPr id="37891" name="Text Box 6"/>
          <p:cNvSpPr txBox="1">
            <a:spLocks noChangeArrowheads="1"/>
          </p:cNvSpPr>
          <p:nvPr/>
        </p:nvSpPr>
        <p:spPr bwMode="auto">
          <a:xfrm>
            <a:off x="5297488" y="1123950"/>
            <a:ext cx="3846512" cy="509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1775" indent="-23177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008000"/>
                </a:solidFill>
              </a:rPr>
              <a:t>Packed or Motor BHA Design:</a:t>
            </a:r>
          </a:p>
          <a:p>
            <a:pPr eaLnBrk="1" hangingPunct="1"/>
            <a:endParaRPr lang="en-US" altLang="en-US" sz="2000" b="1">
              <a:solidFill>
                <a:srgbClr val="008000"/>
              </a:solidFill>
            </a:endParaRPr>
          </a:p>
          <a:p>
            <a:pPr eaLnBrk="1" hangingPunct="1">
              <a:buFontTx/>
              <a:buChar char="•"/>
            </a:pPr>
            <a:r>
              <a:rPr lang="en-US" altLang="en-US" sz="1800" b="1"/>
              <a:t>Use 3 or 4 stabilizers</a:t>
            </a:r>
          </a:p>
          <a:p>
            <a:pPr eaLnBrk="1" hangingPunct="1">
              <a:buFontTx/>
              <a:buChar char="•"/>
            </a:pPr>
            <a:endParaRPr lang="en-US" altLang="en-US" sz="1800" b="1"/>
          </a:p>
          <a:p>
            <a:pPr eaLnBrk="1" hangingPunct="1">
              <a:buFontTx/>
              <a:buChar char="•"/>
            </a:pPr>
            <a:r>
              <a:rPr lang="en-US" altLang="en-US" sz="1800" b="1"/>
              <a:t>Not required Shock Tool on Motor BHA</a:t>
            </a:r>
          </a:p>
          <a:p>
            <a:pPr eaLnBrk="1" hangingPunct="1"/>
            <a:endParaRPr lang="en-US" altLang="en-US" sz="1800" b="1"/>
          </a:p>
          <a:p>
            <a:pPr eaLnBrk="1" hangingPunct="1">
              <a:buFontTx/>
              <a:buChar char="•"/>
            </a:pPr>
            <a:r>
              <a:rPr lang="en-US" altLang="en-US" sz="1800" b="1">
                <a:solidFill>
                  <a:srgbClr val="008000"/>
                </a:solidFill>
              </a:rPr>
              <a:t>Recommended distance between stabilizers: </a:t>
            </a:r>
          </a:p>
          <a:p>
            <a:pPr eaLnBrk="1" hangingPunct="1"/>
            <a:r>
              <a:rPr lang="en-US" altLang="en-US" sz="1800" b="1">
                <a:solidFill>
                  <a:srgbClr val="008000"/>
                </a:solidFill>
              </a:rPr>
              <a:t>	15/20/30 - 30 ft Or 30 - 60 ft</a:t>
            </a:r>
          </a:p>
          <a:p>
            <a:pPr eaLnBrk="1" hangingPunct="1">
              <a:buFontTx/>
              <a:buChar char="•"/>
            </a:pPr>
            <a:endParaRPr lang="en-US" altLang="en-US" sz="1800" b="1">
              <a:solidFill>
                <a:srgbClr val="008000"/>
              </a:solidFill>
            </a:endParaRPr>
          </a:p>
          <a:p>
            <a:pPr eaLnBrk="1" hangingPunct="1">
              <a:buFontTx/>
              <a:buChar char="•"/>
            </a:pPr>
            <a:r>
              <a:rPr lang="en-US" altLang="en-US" sz="1800" b="1">
                <a:solidFill>
                  <a:srgbClr val="FF0000"/>
                </a:solidFill>
              </a:rPr>
              <a:t>Do not to use BHA Stabilization of 15 - 60 ft or 20 - 60 ft belly.</a:t>
            </a:r>
          </a:p>
          <a:p>
            <a:pPr eaLnBrk="1" hangingPunct="1">
              <a:buFontTx/>
              <a:buChar char="•"/>
            </a:pPr>
            <a:endParaRPr lang="en-US" altLang="en-US" sz="1800" b="1">
              <a:solidFill>
                <a:srgbClr val="FF0000"/>
              </a:solidFill>
            </a:endParaRPr>
          </a:p>
          <a:p>
            <a:pPr eaLnBrk="1" hangingPunct="1">
              <a:buFontTx/>
              <a:buChar char="•"/>
            </a:pPr>
            <a:r>
              <a:rPr lang="en-US" altLang="en-US" sz="1800" b="1"/>
              <a:t>Benefit to use downhole vibration tool (i.e HIS, AG-itator) must be discussed further. </a:t>
            </a:r>
          </a:p>
        </p:txBody>
      </p:sp>
      <p:pic>
        <p:nvPicPr>
          <p:cNvPr id="37892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8" y="1263650"/>
            <a:ext cx="5072062" cy="519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39938" y="3003550"/>
            <a:ext cx="5240337" cy="781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4000" b="1" smtClean="0">
                <a:solidFill>
                  <a:srgbClr val="008000"/>
                </a:solidFill>
              </a:rPr>
              <a:t>8-1/2” Hole Section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z="2800" smtClean="0"/>
          </a:p>
          <a:p>
            <a:pPr eaLnBrk="1" hangingPunct="1">
              <a:buFontTx/>
              <a:buNone/>
            </a:pPr>
            <a:endParaRPr lang="en-US" altLang="en-US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854075"/>
            <a:ext cx="8229600" cy="563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800" b="1" smtClean="0">
                <a:solidFill>
                  <a:srgbClr val="008000"/>
                </a:solidFill>
              </a:rPr>
              <a:t>8-1/2” BHA – Offset well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z="2800" smtClean="0"/>
          </a:p>
          <a:p>
            <a:pPr eaLnBrk="1" hangingPunct="1">
              <a:buFontTx/>
              <a:buNone/>
            </a:pPr>
            <a:endParaRPr lang="en-US" altLang="en-US" sz="2800" smtClean="0"/>
          </a:p>
        </p:txBody>
      </p:sp>
      <p:sp>
        <p:nvSpPr>
          <p:cNvPr id="39940" name="Rectangle 5"/>
          <p:cNvSpPr>
            <a:spLocks noChangeArrowheads="1"/>
          </p:cNvSpPr>
          <p:nvPr/>
        </p:nvSpPr>
        <p:spPr bwMode="auto">
          <a:xfrm>
            <a:off x="1771650" y="1514475"/>
            <a:ext cx="6884988" cy="369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000"/>
              <a:t>No BHA failure except in Roabiba-1 wells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000"/>
              <a:t>Low ROP (overbalance &amp; vibration?)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000"/>
              <a:t>Some of wells had mud losses (28%)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000"/>
              <a:t>BHA type: Pendulum, Pack, Motor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000"/>
              <a:t>Various combination number of joints 6.5” DC and 5” HWDP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000"/>
              <a:t>PDC or insert bits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000"/>
              <a:t>WOB of the bit 15 – 40 klbs. 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000"/>
              <a:t>Drilled into overpressure Paleocene, Roabiba, Permian formation.</a:t>
            </a:r>
          </a:p>
        </p:txBody>
      </p:sp>
      <p:pic>
        <p:nvPicPr>
          <p:cNvPr id="3994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1409700"/>
            <a:ext cx="1012825" cy="4706938"/>
          </a:xfrm>
          <a:prstGeom prst="rect">
            <a:avLst/>
          </a:prstGeom>
          <a:noFill/>
          <a:ln w="15875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9942" name="AutoShape 7"/>
          <p:cNvSpPr>
            <a:spLocks/>
          </p:cNvSpPr>
          <p:nvPr/>
        </p:nvSpPr>
        <p:spPr bwMode="auto">
          <a:xfrm>
            <a:off x="1397000" y="3940175"/>
            <a:ext cx="249238" cy="2178050"/>
          </a:xfrm>
          <a:prstGeom prst="rightBrace">
            <a:avLst>
              <a:gd name="adj1" fmla="val 72824"/>
              <a:gd name="adj2" fmla="val 50000"/>
            </a:avLst>
          </a:prstGeom>
          <a:noFill/>
          <a:ln w="4127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849313" y="169545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 sz="180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14338" y="838200"/>
            <a:ext cx="8004175" cy="468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3200" b="1" smtClean="0">
                <a:solidFill>
                  <a:srgbClr val="008000"/>
                </a:solidFill>
              </a:rPr>
              <a:t>8-1/2” Hole – BHA study conclusion</a:t>
            </a:r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358775" y="1571625"/>
            <a:ext cx="8391525" cy="362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25425" indent="-22542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8000"/>
                </a:solidFill>
              </a:rPr>
              <a:t>DO:</a:t>
            </a:r>
          </a:p>
          <a:p>
            <a:pPr eaLnBrk="1" hangingPunct="1">
              <a:buFontTx/>
              <a:buChar char="•"/>
            </a:pPr>
            <a:r>
              <a:rPr lang="en-US" altLang="en-US" sz="2200"/>
              <a:t>BHA type: mud motor with top stabilizers. Stabilize BHA with 2 or 3 stabilizer above the mud motor.</a:t>
            </a:r>
          </a:p>
          <a:p>
            <a:pPr eaLnBrk="1" hangingPunct="1">
              <a:buFontTx/>
              <a:buChar char="•"/>
            </a:pPr>
            <a:r>
              <a:rPr lang="en-US" altLang="en-US" sz="2200"/>
              <a:t>Use minimum 6-1/2” DC series. Utilize HWDP for providing bit WOB. This configuration will minimize vibration of net lateral displacement to enhance bit ROP and also have less risk of differential sticking.</a:t>
            </a:r>
          </a:p>
          <a:p>
            <a:pPr eaLnBrk="1" hangingPunct="1">
              <a:buFontTx/>
              <a:buChar char="•"/>
            </a:pPr>
            <a:endParaRPr lang="en-US" altLang="en-US" sz="2200"/>
          </a:p>
          <a:p>
            <a:pPr eaLnBrk="1" hangingPunct="1"/>
            <a:r>
              <a:rPr lang="en-US" altLang="en-US" sz="2800" b="1">
                <a:solidFill>
                  <a:srgbClr val="FF0000"/>
                </a:solidFill>
              </a:rPr>
              <a:t>DON’T:</a:t>
            </a:r>
          </a:p>
          <a:p>
            <a:pPr eaLnBrk="1" hangingPunct="1">
              <a:buFontTx/>
              <a:buChar char="•"/>
            </a:pPr>
            <a:r>
              <a:rPr lang="en-US" altLang="en-US" sz="2200"/>
              <a:t>Do not utilize 6-1/2” DC for providing bit WOB.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781050"/>
            <a:ext cx="8229600" cy="390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800" b="1" smtClean="0">
                <a:solidFill>
                  <a:srgbClr val="008000"/>
                </a:solidFill>
              </a:rPr>
              <a:t>8-1/2” BHA – BHA Type vs. Bit ROP (V wells)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z="2800" smtClean="0"/>
          </a:p>
          <a:p>
            <a:pPr eaLnBrk="1" hangingPunct="1">
              <a:buFontTx/>
              <a:buNone/>
            </a:pPr>
            <a:endParaRPr lang="en-US" altLang="en-US" sz="2800" smtClean="0"/>
          </a:p>
        </p:txBody>
      </p:sp>
      <p:pic>
        <p:nvPicPr>
          <p:cNvPr id="4198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1978025"/>
            <a:ext cx="4621212" cy="2595563"/>
          </a:xfrm>
          <a:prstGeom prst="rect">
            <a:avLst/>
          </a:prstGeom>
          <a:noFill/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989" name="Text Box 237"/>
          <p:cNvSpPr txBox="1">
            <a:spLocks noChangeArrowheads="1"/>
          </p:cNvSpPr>
          <p:nvPr/>
        </p:nvSpPr>
        <p:spPr bwMode="auto">
          <a:xfrm>
            <a:off x="5376863" y="2746375"/>
            <a:ext cx="340201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1775" indent="-23177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sz="2000" b="1">
                <a:solidFill>
                  <a:srgbClr val="008000"/>
                </a:solidFill>
              </a:rPr>
              <a:t>Use Motor assembly</a:t>
            </a:r>
          </a:p>
          <a:p>
            <a:pPr lvl="1" eaLnBrk="1" hangingPunct="1">
              <a:buFontTx/>
              <a:buChar char="•"/>
            </a:pPr>
            <a:r>
              <a:rPr lang="en-US" altLang="en-US" sz="2000" b="1">
                <a:solidFill>
                  <a:srgbClr val="008000"/>
                </a:solidFill>
              </a:rPr>
              <a:t> Better ROP</a:t>
            </a:r>
          </a:p>
          <a:p>
            <a:pPr lvl="1" eaLnBrk="1" hangingPunct="1">
              <a:buFontTx/>
              <a:buChar char="•"/>
            </a:pPr>
            <a:r>
              <a:rPr lang="en-US" altLang="en-US" sz="2000" b="1">
                <a:solidFill>
                  <a:srgbClr val="008000"/>
                </a:solidFill>
              </a:rPr>
              <a:t> Better bit footage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781050"/>
            <a:ext cx="8229600" cy="390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400" b="1" smtClean="0">
                <a:solidFill>
                  <a:srgbClr val="008000"/>
                </a:solidFill>
              </a:rPr>
              <a:t>8-1/2” BHA – Motor Assembly Stabilization vs. Bit ROP</a:t>
            </a:r>
          </a:p>
        </p:txBody>
      </p:sp>
      <p:pic>
        <p:nvPicPr>
          <p:cNvPr id="43011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300" y="1328738"/>
            <a:ext cx="7073900" cy="3508375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012" name="Text Box 11"/>
          <p:cNvSpPr txBox="1">
            <a:spLocks noChangeArrowheads="1"/>
          </p:cNvSpPr>
          <p:nvPr/>
        </p:nvSpPr>
        <p:spPr bwMode="auto">
          <a:xfrm>
            <a:off x="4189413" y="1371600"/>
            <a:ext cx="958850" cy="366713"/>
          </a:xfrm>
          <a:prstGeom prst="rect">
            <a:avLst/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FFFF00"/>
                </a:solidFill>
              </a:rPr>
              <a:t>V wells</a:t>
            </a:r>
          </a:p>
        </p:txBody>
      </p:sp>
      <p:sp>
        <p:nvSpPr>
          <p:cNvPr id="43013" name="Rectangle 13"/>
          <p:cNvSpPr>
            <a:spLocks noChangeArrowheads="1"/>
          </p:cNvSpPr>
          <p:nvPr/>
        </p:nvSpPr>
        <p:spPr bwMode="auto">
          <a:xfrm>
            <a:off x="3976688" y="1784350"/>
            <a:ext cx="3554412" cy="2946400"/>
          </a:xfrm>
          <a:prstGeom prst="rect">
            <a:avLst/>
          </a:prstGeom>
          <a:solidFill>
            <a:srgbClr val="FF0000">
              <a:alpha val="5882"/>
            </a:srgbClr>
          </a:solidFill>
          <a:ln w="9525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43014" name="Text Box 15"/>
          <p:cNvSpPr txBox="1">
            <a:spLocks noChangeArrowheads="1"/>
          </p:cNvSpPr>
          <p:nvPr/>
        </p:nvSpPr>
        <p:spPr bwMode="auto">
          <a:xfrm>
            <a:off x="1042988" y="4895850"/>
            <a:ext cx="7015162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4625" indent="-17462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sz="1800" b="1">
                <a:solidFill>
                  <a:srgbClr val="008000"/>
                </a:solidFill>
              </a:rPr>
              <a:t>Longer pendulum length (distance first stabilizer to the bit) performed less ROP.</a:t>
            </a:r>
          </a:p>
          <a:p>
            <a:pPr eaLnBrk="1" hangingPunct="1"/>
            <a:endParaRPr lang="en-US" altLang="en-US" sz="1800" b="1">
              <a:solidFill>
                <a:srgbClr val="008000"/>
              </a:solidFill>
            </a:endParaRPr>
          </a:p>
          <a:p>
            <a:pPr eaLnBrk="1" hangingPunct="1">
              <a:buFontTx/>
              <a:buChar char="•"/>
            </a:pPr>
            <a:r>
              <a:rPr lang="en-US" altLang="en-US" sz="1800" b="1">
                <a:solidFill>
                  <a:srgbClr val="008000"/>
                </a:solidFill>
              </a:rPr>
              <a:t>Better ROP on motor BHA with 2 or 3 stabilizers</a:t>
            </a:r>
          </a:p>
        </p:txBody>
      </p:sp>
      <p:pic>
        <p:nvPicPr>
          <p:cNvPr id="43015" name="Picture 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1165225"/>
            <a:ext cx="536575" cy="569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016" name="Text Box 22"/>
          <p:cNvSpPr txBox="1">
            <a:spLocks noChangeArrowheads="1"/>
          </p:cNvSpPr>
          <p:nvPr/>
        </p:nvSpPr>
        <p:spPr bwMode="auto">
          <a:xfrm>
            <a:off x="2708275" y="2505075"/>
            <a:ext cx="7826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008000"/>
                </a:solidFill>
              </a:rPr>
              <a:t>Average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781050"/>
            <a:ext cx="8229600" cy="390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800" b="1" smtClean="0">
                <a:solidFill>
                  <a:srgbClr val="008000"/>
                </a:solidFill>
              </a:rPr>
              <a:t>8-1/2” Offset BHA – DC and HWDP review</a:t>
            </a:r>
          </a:p>
        </p:txBody>
      </p:sp>
      <p:pic>
        <p:nvPicPr>
          <p:cNvPr id="4403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3" y="1906588"/>
            <a:ext cx="4867275" cy="305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036" name="Text Box 5"/>
          <p:cNvSpPr txBox="1">
            <a:spLocks noChangeArrowheads="1"/>
          </p:cNvSpPr>
          <p:nvPr/>
        </p:nvSpPr>
        <p:spPr bwMode="auto">
          <a:xfrm>
            <a:off x="5670550" y="2746375"/>
            <a:ext cx="3240088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/>
              <a:t>Which’s better to utilize Drill Collars or Heavy Drill Pipes for providing bit WOB?</a:t>
            </a:r>
          </a:p>
        </p:txBody>
      </p:sp>
      <p:sp>
        <p:nvSpPr>
          <p:cNvPr id="44037" name="Text Box 7"/>
          <p:cNvSpPr txBox="1">
            <a:spLocks noChangeArrowheads="1"/>
          </p:cNvSpPr>
          <p:nvPr/>
        </p:nvSpPr>
        <p:spPr bwMode="auto">
          <a:xfrm>
            <a:off x="576263" y="1555750"/>
            <a:ext cx="34004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/>
              <a:t>DC and HWDP Utilization on BHA</a:t>
            </a:r>
          </a:p>
        </p:txBody>
      </p:sp>
      <p:sp>
        <p:nvSpPr>
          <p:cNvPr id="44038" name="Text Box 8"/>
          <p:cNvSpPr txBox="1">
            <a:spLocks noChangeArrowheads="1"/>
          </p:cNvSpPr>
          <p:nvPr/>
        </p:nvSpPr>
        <p:spPr bwMode="auto">
          <a:xfrm>
            <a:off x="6745288" y="1333500"/>
            <a:ext cx="866775" cy="143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8800" b="1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44039" name="Line 10"/>
          <p:cNvSpPr>
            <a:spLocks noChangeShapeType="1"/>
          </p:cNvSpPr>
          <p:nvPr/>
        </p:nvSpPr>
        <p:spPr bwMode="auto">
          <a:xfrm>
            <a:off x="3440113" y="3294063"/>
            <a:ext cx="1668462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0" name="Text Box 11"/>
          <p:cNvSpPr txBox="1">
            <a:spLocks noChangeArrowheads="1"/>
          </p:cNvSpPr>
          <p:nvPr/>
        </p:nvSpPr>
        <p:spPr bwMode="auto">
          <a:xfrm>
            <a:off x="3232150" y="2890838"/>
            <a:ext cx="9064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/>
              <a:t>35 Klbs</a:t>
            </a:r>
          </a:p>
        </p:txBody>
      </p:sp>
      <p:sp>
        <p:nvSpPr>
          <p:cNvPr id="44041" name="Text Box 12"/>
          <p:cNvSpPr txBox="1">
            <a:spLocks noChangeArrowheads="1"/>
          </p:cNvSpPr>
          <p:nvPr/>
        </p:nvSpPr>
        <p:spPr bwMode="auto">
          <a:xfrm>
            <a:off x="4691063" y="2911475"/>
            <a:ext cx="9064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/>
              <a:t>50 Klbs</a:t>
            </a:r>
          </a:p>
        </p:txBody>
      </p:sp>
      <p:sp>
        <p:nvSpPr>
          <p:cNvPr id="44042" name="Line 13"/>
          <p:cNvSpPr>
            <a:spLocks noChangeShapeType="1"/>
          </p:cNvSpPr>
          <p:nvPr/>
        </p:nvSpPr>
        <p:spPr bwMode="auto">
          <a:xfrm>
            <a:off x="1122363" y="3286125"/>
            <a:ext cx="2265362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3" name="Text Box 14"/>
          <p:cNvSpPr txBox="1">
            <a:spLocks noChangeArrowheads="1"/>
          </p:cNvSpPr>
          <p:nvPr/>
        </p:nvSpPr>
        <p:spPr bwMode="auto">
          <a:xfrm>
            <a:off x="1250950" y="2941638"/>
            <a:ext cx="1685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/>
              <a:t>HWDP for WOB</a:t>
            </a:r>
          </a:p>
        </p:txBody>
      </p:sp>
      <p:pic>
        <p:nvPicPr>
          <p:cNvPr id="44044" name="Picture 15" descr="j029198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0" y="4943475"/>
            <a:ext cx="1809750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45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0" y="5072063"/>
            <a:ext cx="701198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046" name="Picture 1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88" y="5630863"/>
            <a:ext cx="7053262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047" name="Text Box 18"/>
          <p:cNvSpPr txBox="1">
            <a:spLocks noChangeArrowheads="1"/>
          </p:cNvSpPr>
          <p:nvPr/>
        </p:nvSpPr>
        <p:spPr bwMode="auto">
          <a:xfrm>
            <a:off x="3201988" y="2659063"/>
            <a:ext cx="6810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/>
              <a:t>WOB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3778250"/>
            <a:ext cx="4276725" cy="2501900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7025" y="709613"/>
            <a:ext cx="8432800" cy="390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400" b="1" smtClean="0">
                <a:solidFill>
                  <a:srgbClr val="008000"/>
                </a:solidFill>
              </a:rPr>
              <a:t>8-1/2” BHA Model – Optimum DC &amp; HWDP configuration</a:t>
            </a:r>
          </a:p>
        </p:txBody>
      </p:sp>
      <p:pic>
        <p:nvPicPr>
          <p:cNvPr id="4506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8" y="1281113"/>
            <a:ext cx="4265612" cy="2495550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061" name="Text Box 6"/>
          <p:cNvSpPr txBox="1">
            <a:spLocks noChangeArrowheads="1"/>
          </p:cNvSpPr>
          <p:nvPr/>
        </p:nvSpPr>
        <p:spPr bwMode="auto">
          <a:xfrm>
            <a:off x="4551363" y="1231900"/>
            <a:ext cx="4592637" cy="351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1775" indent="-23177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sz="1600" b="1">
                <a:solidFill>
                  <a:srgbClr val="008000"/>
                </a:solidFill>
              </a:rPr>
              <a:t>Replacing DC with HWDP to provide bit WOB will have less lateral displacement (RPM&lt;180), which could enhance bit ROP. </a:t>
            </a:r>
          </a:p>
          <a:p>
            <a:pPr eaLnBrk="1" hangingPunct="1">
              <a:buFontTx/>
              <a:buChar char="•"/>
            </a:pPr>
            <a:r>
              <a:rPr lang="en-US" altLang="en-US" sz="1600" b="1">
                <a:solidFill>
                  <a:srgbClr val="008000"/>
                </a:solidFill>
              </a:rPr>
              <a:t>Use HWDP could minimize risk of differential sticking while drilling into high mud overbalance environment.</a:t>
            </a:r>
          </a:p>
          <a:p>
            <a:pPr eaLnBrk="1" hangingPunct="1">
              <a:buFontTx/>
              <a:buChar char="•"/>
            </a:pPr>
            <a:r>
              <a:rPr lang="en-US" altLang="en-US" sz="1600" b="1">
                <a:solidFill>
                  <a:srgbClr val="008000"/>
                </a:solidFill>
              </a:rPr>
              <a:t>Utilize HWDP will have less axial displacement which could prolong bit life.</a:t>
            </a:r>
          </a:p>
          <a:p>
            <a:pPr eaLnBrk="1" hangingPunct="1"/>
            <a:endParaRPr lang="en-US" altLang="en-US" sz="1600" b="1">
              <a:solidFill>
                <a:srgbClr val="008000"/>
              </a:solidFill>
            </a:endParaRPr>
          </a:p>
          <a:p>
            <a:pPr eaLnBrk="1" hangingPunct="1">
              <a:buFontTx/>
              <a:buChar char="•"/>
            </a:pPr>
            <a:r>
              <a:rPr lang="en-US" altLang="en-US" sz="1600" b="1">
                <a:solidFill>
                  <a:schemeClr val="accent2"/>
                </a:solidFill>
              </a:rPr>
              <a:t>HWDP does not have stress concentrated internal upsets, its ID is constant (*).</a:t>
            </a:r>
          </a:p>
          <a:p>
            <a:pPr eaLnBrk="1" hangingPunct="1">
              <a:buFontTx/>
              <a:buChar char="•"/>
            </a:pPr>
            <a:r>
              <a:rPr lang="en-US" altLang="en-US" sz="1600" b="1">
                <a:solidFill>
                  <a:schemeClr val="accent2"/>
                </a:solidFill>
              </a:rPr>
              <a:t>HWDP: tube stiffness more closely approximates the connection stiffness, making it the most balance component (*). </a:t>
            </a:r>
          </a:p>
        </p:txBody>
      </p:sp>
      <p:sp>
        <p:nvSpPr>
          <p:cNvPr id="45062" name="Text Box 7"/>
          <p:cNvSpPr txBox="1">
            <a:spLocks noChangeArrowheads="1"/>
          </p:cNvSpPr>
          <p:nvPr/>
        </p:nvSpPr>
        <p:spPr bwMode="auto">
          <a:xfrm>
            <a:off x="620713" y="3168650"/>
            <a:ext cx="323691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FF"/>
                </a:solidFill>
              </a:rPr>
              <a:t>Note: 30-30 ft belly &amp; 30-60 belly have similar value</a:t>
            </a:r>
          </a:p>
        </p:txBody>
      </p:sp>
      <p:sp>
        <p:nvSpPr>
          <p:cNvPr id="45063" name="Text Box 8"/>
          <p:cNvSpPr txBox="1">
            <a:spLocks noChangeArrowheads="1"/>
          </p:cNvSpPr>
          <p:nvPr/>
        </p:nvSpPr>
        <p:spPr bwMode="auto">
          <a:xfrm>
            <a:off x="684213" y="5672138"/>
            <a:ext cx="323691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FF"/>
                </a:solidFill>
              </a:rPr>
              <a:t>Note: 30-30 ft belly &amp; 30-60 belly have similar value</a:t>
            </a:r>
          </a:p>
        </p:txBody>
      </p:sp>
      <p:sp>
        <p:nvSpPr>
          <p:cNvPr id="45064" name="AutoShape 9"/>
          <p:cNvSpPr>
            <a:spLocks noChangeArrowheads="1"/>
          </p:cNvSpPr>
          <p:nvPr/>
        </p:nvSpPr>
        <p:spPr bwMode="auto">
          <a:xfrm rot="-1897581">
            <a:off x="3729038" y="2206625"/>
            <a:ext cx="276225" cy="304800"/>
          </a:xfrm>
          <a:prstGeom prst="lef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FFFF00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45065" name="AutoShape 10"/>
          <p:cNvSpPr>
            <a:spLocks noChangeArrowheads="1"/>
          </p:cNvSpPr>
          <p:nvPr/>
        </p:nvSpPr>
        <p:spPr bwMode="auto">
          <a:xfrm rot="4775535">
            <a:off x="3910012" y="5378451"/>
            <a:ext cx="276225" cy="304800"/>
          </a:xfrm>
          <a:prstGeom prst="lef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FFFF00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45066" name="AutoShape 11"/>
          <p:cNvSpPr>
            <a:spLocks noChangeArrowheads="1"/>
          </p:cNvSpPr>
          <p:nvPr/>
        </p:nvSpPr>
        <p:spPr bwMode="auto">
          <a:xfrm rot="-7240177">
            <a:off x="2081212" y="2168526"/>
            <a:ext cx="276225" cy="304800"/>
          </a:xfrm>
          <a:prstGeom prst="lef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FFFF00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45067" name="AutoShape 12"/>
          <p:cNvSpPr>
            <a:spLocks noChangeArrowheads="1"/>
          </p:cNvSpPr>
          <p:nvPr/>
        </p:nvSpPr>
        <p:spPr bwMode="auto">
          <a:xfrm rot="-7240177">
            <a:off x="2290762" y="1812926"/>
            <a:ext cx="276225" cy="304800"/>
          </a:xfrm>
          <a:prstGeom prst="lef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FFFF99"/>
              </a:gs>
              <a:gs pos="100000">
                <a:srgbClr val="FF0000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45068" name="AutoShape 13"/>
          <p:cNvSpPr>
            <a:spLocks noChangeArrowheads="1"/>
          </p:cNvSpPr>
          <p:nvPr/>
        </p:nvSpPr>
        <p:spPr bwMode="auto">
          <a:xfrm rot="-7240177">
            <a:off x="2530475" y="3967163"/>
            <a:ext cx="276225" cy="304800"/>
          </a:xfrm>
          <a:prstGeom prst="lef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FFFF99"/>
              </a:gs>
              <a:gs pos="100000">
                <a:srgbClr val="FF0000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pic>
        <p:nvPicPr>
          <p:cNvPr id="45069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4738" y="4811713"/>
            <a:ext cx="3641725" cy="1584325"/>
          </a:xfrm>
          <a:prstGeom prst="rect">
            <a:avLst/>
          </a:prstGeom>
          <a:noFill/>
          <a:ln w="15875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070" name="Text Box 17"/>
          <p:cNvSpPr txBox="1">
            <a:spLocks noChangeArrowheads="1"/>
          </p:cNvSpPr>
          <p:nvPr/>
        </p:nvSpPr>
        <p:spPr bwMode="auto">
          <a:xfrm>
            <a:off x="174625" y="6292850"/>
            <a:ext cx="3354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chemeClr val="accent2"/>
                </a:solidFill>
              </a:rPr>
              <a:t>Reff: - Wellplan 2000, Critical Speed Module</a:t>
            </a:r>
          </a:p>
          <a:p>
            <a:pPr eaLnBrk="1" hangingPunct="1"/>
            <a:r>
              <a:rPr lang="en-US" altLang="en-US" sz="1200" b="1">
                <a:solidFill>
                  <a:schemeClr val="accent2"/>
                </a:solidFill>
              </a:rPr>
              <a:t>         (*) T Drilling Dynamics Study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709613"/>
            <a:ext cx="8229600" cy="346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400" b="1" smtClean="0">
                <a:solidFill>
                  <a:srgbClr val="008000"/>
                </a:solidFill>
              </a:rPr>
              <a:t>8-1/2” BHA Model Schematic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92750" y="1136650"/>
            <a:ext cx="3651250" cy="5149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74625" indent="-174625" eaLnBrk="1" hangingPunct="1">
              <a:lnSpc>
                <a:spcPct val="80000"/>
              </a:lnSpc>
            </a:pPr>
            <a:r>
              <a:rPr lang="en-US" altLang="en-US" sz="2000" b="1" smtClean="0">
                <a:solidFill>
                  <a:srgbClr val="008000"/>
                </a:solidFill>
              </a:rPr>
              <a:t>BHA stabilization: 30-30 ft or 30-60 ft belly</a:t>
            </a:r>
          </a:p>
          <a:p>
            <a:pPr marL="174625" indent="-174625" eaLnBrk="1" hangingPunct="1">
              <a:lnSpc>
                <a:spcPct val="80000"/>
              </a:lnSpc>
            </a:pPr>
            <a:endParaRPr lang="en-US" altLang="en-US" sz="2000" b="1" smtClean="0">
              <a:solidFill>
                <a:srgbClr val="008000"/>
              </a:solidFill>
            </a:endParaRPr>
          </a:p>
          <a:p>
            <a:pPr marL="174625" indent="-174625" eaLnBrk="1" hangingPunct="1">
              <a:lnSpc>
                <a:spcPct val="80000"/>
              </a:lnSpc>
            </a:pPr>
            <a:r>
              <a:rPr lang="en-US" altLang="en-US" sz="2000" b="1" smtClean="0">
                <a:solidFill>
                  <a:srgbClr val="008000"/>
                </a:solidFill>
              </a:rPr>
              <a:t>Use HWDP to provide bit WOB</a:t>
            </a:r>
          </a:p>
          <a:p>
            <a:pPr marL="174625" indent="-174625" eaLnBrk="1" hangingPunct="1">
              <a:lnSpc>
                <a:spcPct val="80000"/>
              </a:lnSpc>
            </a:pPr>
            <a:endParaRPr lang="en-US" altLang="en-US" sz="2000" b="1" smtClean="0">
              <a:solidFill>
                <a:srgbClr val="008000"/>
              </a:solidFill>
            </a:endParaRPr>
          </a:p>
          <a:p>
            <a:pPr marL="174625" indent="-174625" eaLnBrk="1" hangingPunct="1">
              <a:lnSpc>
                <a:spcPct val="80000"/>
              </a:lnSpc>
            </a:pPr>
            <a:r>
              <a:rPr lang="en-US" altLang="en-US" sz="2000" b="1" smtClean="0">
                <a:solidFill>
                  <a:srgbClr val="008000"/>
                </a:solidFill>
              </a:rPr>
              <a:t>On execution, run vibration analysis using actual each BHA component weight to determine safe drilling RPM range.</a:t>
            </a:r>
          </a:p>
          <a:p>
            <a:pPr marL="174625" indent="-174625" eaLnBrk="1" hangingPunct="1">
              <a:lnSpc>
                <a:spcPct val="80000"/>
              </a:lnSpc>
            </a:pPr>
            <a:endParaRPr lang="en-US" altLang="en-US" sz="2000" b="1" smtClean="0">
              <a:solidFill>
                <a:srgbClr val="008000"/>
              </a:solidFill>
            </a:endParaRPr>
          </a:p>
          <a:p>
            <a:pPr marL="174625" indent="-174625" eaLnBrk="1" hangingPunct="1">
              <a:lnSpc>
                <a:spcPct val="80000"/>
              </a:lnSpc>
            </a:pPr>
            <a:r>
              <a:rPr lang="en-US" altLang="en-US" sz="2000" b="1" smtClean="0">
                <a:solidFill>
                  <a:srgbClr val="008000"/>
                </a:solidFill>
              </a:rPr>
              <a:t>Benefit to use downhole vibration tool (i.e HIS, AG-itator) must be discussed further. </a:t>
            </a:r>
          </a:p>
        </p:txBody>
      </p:sp>
      <p:pic>
        <p:nvPicPr>
          <p:cNvPr id="4608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" y="1139825"/>
            <a:ext cx="4922838" cy="516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854075"/>
            <a:ext cx="8229600" cy="563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3200" b="1" smtClean="0">
                <a:solidFill>
                  <a:srgbClr val="008000"/>
                </a:solidFill>
              </a:rPr>
              <a:t>Further Discussion</a:t>
            </a:r>
          </a:p>
        </p:txBody>
      </p:sp>
      <p:sp>
        <p:nvSpPr>
          <p:cNvPr id="47107" name="Text Box 4"/>
          <p:cNvSpPr txBox="1">
            <a:spLocks noChangeArrowheads="1"/>
          </p:cNvSpPr>
          <p:nvPr/>
        </p:nvSpPr>
        <p:spPr bwMode="auto">
          <a:xfrm>
            <a:off x="849313" y="169545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 sz="1800"/>
          </a:p>
        </p:txBody>
      </p:sp>
      <p:sp>
        <p:nvSpPr>
          <p:cNvPr id="47108" name="Rectangle 5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mtClean="0"/>
              <a:t>Mud motor or Rotary Steerable System</a:t>
            </a:r>
          </a:p>
          <a:p>
            <a:pPr eaLnBrk="1" hangingPunct="1"/>
            <a:r>
              <a:rPr lang="en-US" altLang="en-US" smtClean="0"/>
              <a:t>String Stabilizer type</a:t>
            </a:r>
          </a:p>
          <a:p>
            <a:pPr eaLnBrk="1" hangingPunct="1"/>
            <a:r>
              <a:rPr lang="en-US" altLang="en-US" smtClean="0"/>
              <a:t>Downhole vibration tool, ie. Harmonic isolation tool, AG-itator etc.</a:t>
            </a:r>
          </a:p>
          <a:p>
            <a:pPr eaLnBrk="1" hangingPunct="1"/>
            <a:r>
              <a:rPr lang="en-US" altLang="en-US" smtClean="0"/>
              <a:t>Real time drill string vibration monitoring</a:t>
            </a:r>
          </a:p>
          <a:p>
            <a:pPr eaLnBrk="1" hangingPunct="1"/>
            <a:r>
              <a:rPr lang="en-US" altLang="en-US" smtClean="0"/>
              <a:t>Drillstring vibration software</a:t>
            </a:r>
          </a:p>
          <a:p>
            <a:pPr eaLnBrk="1" hangingPunct="1"/>
            <a:r>
              <a:rPr lang="en-US" altLang="en-US" smtClean="0"/>
              <a:t>Fatigue analysis / sotfware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854075"/>
            <a:ext cx="8229600" cy="563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3200" b="1" smtClean="0">
                <a:solidFill>
                  <a:srgbClr val="008000"/>
                </a:solidFill>
              </a:rPr>
              <a:t>String Stabilizer Type</a:t>
            </a:r>
          </a:p>
        </p:txBody>
      </p:sp>
      <p:grpSp>
        <p:nvGrpSpPr>
          <p:cNvPr id="48131" name="Group 16"/>
          <p:cNvGrpSpPr>
            <a:grpSpLocks/>
          </p:cNvGrpSpPr>
          <p:nvPr/>
        </p:nvGrpSpPr>
        <p:grpSpPr bwMode="auto">
          <a:xfrm>
            <a:off x="2444750" y="1916113"/>
            <a:ext cx="2771775" cy="2771775"/>
            <a:chOff x="717" y="1198"/>
            <a:chExt cx="1746" cy="1746"/>
          </a:xfrm>
        </p:grpSpPr>
        <p:sp>
          <p:nvSpPr>
            <p:cNvPr id="48186" name="Oval 6"/>
            <p:cNvSpPr>
              <a:spLocks noChangeArrowheads="1"/>
            </p:cNvSpPr>
            <p:nvPr/>
          </p:nvSpPr>
          <p:spPr bwMode="auto">
            <a:xfrm>
              <a:off x="1042" y="1618"/>
              <a:ext cx="921" cy="924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rgbClr val="00808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id-ID" altLang="en-US"/>
            </a:p>
          </p:txBody>
        </p:sp>
        <p:grpSp>
          <p:nvGrpSpPr>
            <p:cNvPr id="48187" name="Group 10"/>
            <p:cNvGrpSpPr>
              <a:grpSpLocks/>
            </p:cNvGrpSpPr>
            <p:nvPr/>
          </p:nvGrpSpPr>
          <p:grpSpPr bwMode="auto">
            <a:xfrm>
              <a:off x="1439" y="1386"/>
              <a:ext cx="124" cy="1393"/>
              <a:chOff x="1439" y="1386"/>
              <a:chExt cx="124" cy="1393"/>
            </a:xfrm>
          </p:grpSpPr>
          <p:sp>
            <p:nvSpPr>
              <p:cNvPr id="48193" name="Rectangle 7"/>
              <p:cNvSpPr>
                <a:spLocks noChangeArrowheads="1"/>
              </p:cNvSpPr>
              <p:nvPr/>
            </p:nvSpPr>
            <p:spPr bwMode="auto">
              <a:xfrm>
                <a:off x="1444" y="2542"/>
                <a:ext cx="119" cy="237"/>
              </a:xfrm>
              <a:prstGeom prst="rect">
                <a:avLst/>
              </a:prstGeom>
              <a:solidFill>
                <a:srgbClr val="008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id-ID" altLang="en-US"/>
              </a:p>
            </p:txBody>
          </p:sp>
          <p:sp>
            <p:nvSpPr>
              <p:cNvPr id="48194" name="Rectangle 8"/>
              <p:cNvSpPr>
                <a:spLocks noChangeArrowheads="1"/>
              </p:cNvSpPr>
              <p:nvPr/>
            </p:nvSpPr>
            <p:spPr bwMode="auto">
              <a:xfrm>
                <a:off x="1439" y="1386"/>
                <a:ext cx="119" cy="237"/>
              </a:xfrm>
              <a:prstGeom prst="rect">
                <a:avLst/>
              </a:prstGeom>
              <a:solidFill>
                <a:srgbClr val="008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id-ID" altLang="en-US"/>
              </a:p>
            </p:txBody>
          </p:sp>
        </p:grpSp>
        <p:sp>
          <p:nvSpPr>
            <p:cNvPr id="48188" name="Line 9"/>
            <p:cNvSpPr>
              <a:spLocks noChangeShapeType="1"/>
            </p:cNvSpPr>
            <p:nvPr/>
          </p:nvSpPr>
          <p:spPr bwMode="auto">
            <a:xfrm flipH="1">
              <a:off x="1489" y="1198"/>
              <a:ext cx="10" cy="1746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8189" name="Group 11"/>
            <p:cNvGrpSpPr>
              <a:grpSpLocks/>
            </p:cNvGrpSpPr>
            <p:nvPr/>
          </p:nvGrpSpPr>
          <p:grpSpPr bwMode="auto">
            <a:xfrm rot="5400000">
              <a:off x="1443" y="1390"/>
              <a:ext cx="124" cy="1393"/>
              <a:chOff x="1439" y="1386"/>
              <a:chExt cx="124" cy="1393"/>
            </a:xfrm>
          </p:grpSpPr>
          <p:sp>
            <p:nvSpPr>
              <p:cNvPr id="48191" name="Rectangle 12"/>
              <p:cNvSpPr>
                <a:spLocks noChangeArrowheads="1"/>
              </p:cNvSpPr>
              <p:nvPr/>
            </p:nvSpPr>
            <p:spPr bwMode="auto">
              <a:xfrm>
                <a:off x="1444" y="2542"/>
                <a:ext cx="119" cy="237"/>
              </a:xfrm>
              <a:prstGeom prst="rect">
                <a:avLst/>
              </a:prstGeom>
              <a:solidFill>
                <a:srgbClr val="008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id-ID" altLang="en-US"/>
              </a:p>
            </p:txBody>
          </p:sp>
          <p:sp>
            <p:nvSpPr>
              <p:cNvPr id="48192" name="Rectangle 13"/>
              <p:cNvSpPr>
                <a:spLocks noChangeArrowheads="1"/>
              </p:cNvSpPr>
              <p:nvPr/>
            </p:nvSpPr>
            <p:spPr bwMode="auto">
              <a:xfrm>
                <a:off x="1439" y="1386"/>
                <a:ext cx="119" cy="237"/>
              </a:xfrm>
              <a:prstGeom prst="rect">
                <a:avLst/>
              </a:prstGeom>
              <a:solidFill>
                <a:srgbClr val="008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id-ID" altLang="en-US"/>
              </a:p>
            </p:txBody>
          </p:sp>
        </p:grpSp>
        <p:sp>
          <p:nvSpPr>
            <p:cNvPr id="48190" name="Line 14"/>
            <p:cNvSpPr>
              <a:spLocks noChangeShapeType="1"/>
            </p:cNvSpPr>
            <p:nvPr/>
          </p:nvSpPr>
          <p:spPr bwMode="auto">
            <a:xfrm rot="5400000" flipH="1">
              <a:off x="1585" y="1212"/>
              <a:ext cx="10" cy="1746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132" name="Rectangle 15" descr="Granite"/>
          <p:cNvSpPr>
            <a:spLocks noChangeArrowheads="1"/>
          </p:cNvSpPr>
          <p:nvPr/>
        </p:nvSpPr>
        <p:spPr bwMode="auto">
          <a:xfrm>
            <a:off x="0" y="4425950"/>
            <a:ext cx="9144000" cy="465138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grpSp>
        <p:nvGrpSpPr>
          <p:cNvPr id="48133" name="Group 17"/>
          <p:cNvGrpSpPr>
            <a:grpSpLocks/>
          </p:cNvGrpSpPr>
          <p:nvPr/>
        </p:nvGrpSpPr>
        <p:grpSpPr bwMode="auto">
          <a:xfrm>
            <a:off x="6372225" y="1893888"/>
            <a:ext cx="2771775" cy="2771775"/>
            <a:chOff x="717" y="1198"/>
            <a:chExt cx="1746" cy="1746"/>
          </a:xfrm>
        </p:grpSpPr>
        <p:sp>
          <p:nvSpPr>
            <p:cNvPr id="48177" name="Oval 18"/>
            <p:cNvSpPr>
              <a:spLocks noChangeArrowheads="1"/>
            </p:cNvSpPr>
            <p:nvPr/>
          </p:nvSpPr>
          <p:spPr bwMode="auto">
            <a:xfrm>
              <a:off x="1042" y="1618"/>
              <a:ext cx="921" cy="924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rgbClr val="00808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id-ID" altLang="en-US"/>
            </a:p>
          </p:txBody>
        </p:sp>
        <p:grpSp>
          <p:nvGrpSpPr>
            <p:cNvPr id="48178" name="Group 19"/>
            <p:cNvGrpSpPr>
              <a:grpSpLocks/>
            </p:cNvGrpSpPr>
            <p:nvPr/>
          </p:nvGrpSpPr>
          <p:grpSpPr bwMode="auto">
            <a:xfrm>
              <a:off x="1439" y="1386"/>
              <a:ext cx="124" cy="1393"/>
              <a:chOff x="1439" y="1386"/>
              <a:chExt cx="124" cy="1393"/>
            </a:xfrm>
          </p:grpSpPr>
          <p:sp>
            <p:nvSpPr>
              <p:cNvPr id="48184" name="Rectangle 20"/>
              <p:cNvSpPr>
                <a:spLocks noChangeArrowheads="1"/>
              </p:cNvSpPr>
              <p:nvPr/>
            </p:nvSpPr>
            <p:spPr bwMode="auto">
              <a:xfrm>
                <a:off x="1444" y="2542"/>
                <a:ext cx="119" cy="237"/>
              </a:xfrm>
              <a:prstGeom prst="rect">
                <a:avLst/>
              </a:prstGeom>
              <a:solidFill>
                <a:srgbClr val="008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id-ID" altLang="en-US"/>
              </a:p>
            </p:txBody>
          </p:sp>
          <p:sp>
            <p:nvSpPr>
              <p:cNvPr id="48185" name="Rectangle 21"/>
              <p:cNvSpPr>
                <a:spLocks noChangeArrowheads="1"/>
              </p:cNvSpPr>
              <p:nvPr/>
            </p:nvSpPr>
            <p:spPr bwMode="auto">
              <a:xfrm>
                <a:off x="1439" y="1386"/>
                <a:ext cx="119" cy="237"/>
              </a:xfrm>
              <a:prstGeom prst="rect">
                <a:avLst/>
              </a:prstGeom>
              <a:solidFill>
                <a:srgbClr val="008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id-ID" altLang="en-US"/>
              </a:p>
            </p:txBody>
          </p:sp>
        </p:grpSp>
        <p:sp>
          <p:nvSpPr>
            <p:cNvPr id="48179" name="Line 22"/>
            <p:cNvSpPr>
              <a:spLocks noChangeShapeType="1"/>
            </p:cNvSpPr>
            <p:nvPr/>
          </p:nvSpPr>
          <p:spPr bwMode="auto">
            <a:xfrm flipH="1">
              <a:off x="1489" y="1198"/>
              <a:ext cx="10" cy="1746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8180" name="Group 23"/>
            <p:cNvGrpSpPr>
              <a:grpSpLocks/>
            </p:cNvGrpSpPr>
            <p:nvPr/>
          </p:nvGrpSpPr>
          <p:grpSpPr bwMode="auto">
            <a:xfrm rot="5400000">
              <a:off x="1443" y="1390"/>
              <a:ext cx="124" cy="1393"/>
              <a:chOff x="1439" y="1386"/>
              <a:chExt cx="124" cy="1393"/>
            </a:xfrm>
          </p:grpSpPr>
          <p:sp>
            <p:nvSpPr>
              <p:cNvPr id="48182" name="Rectangle 24"/>
              <p:cNvSpPr>
                <a:spLocks noChangeArrowheads="1"/>
              </p:cNvSpPr>
              <p:nvPr/>
            </p:nvSpPr>
            <p:spPr bwMode="auto">
              <a:xfrm>
                <a:off x="1444" y="2542"/>
                <a:ext cx="119" cy="237"/>
              </a:xfrm>
              <a:prstGeom prst="rect">
                <a:avLst/>
              </a:prstGeom>
              <a:solidFill>
                <a:srgbClr val="008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id-ID" altLang="en-US"/>
              </a:p>
            </p:txBody>
          </p:sp>
          <p:sp>
            <p:nvSpPr>
              <p:cNvPr id="48183" name="Rectangle 25"/>
              <p:cNvSpPr>
                <a:spLocks noChangeArrowheads="1"/>
              </p:cNvSpPr>
              <p:nvPr/>
            </p:nvSpPr>
            <p:spPr bwMode="auto">
              <a:xfrm>
                <a:off x="1439" y="1386"/>
                <a:ext cx="119" cy="237"/>
              </a:xfrm>
              <a:prstGeom prst="rect">
                <a:avLst/>
              </a:prstGeom>
              <a:solidFill>
                <a:srgbClr val="008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id-ID" altLang="en-US"/>
              </a:p>
            </p:txBody>
          </p:sp>
        </p:grpSp>
        <p:sp>
          <p:nvSpPr>
            <p:cNvPr id="48181" name="Line 26"/>
            <p:cNvSpPr>
              <a:spLocks noChangeShapeType="1"/>
            </p:cNvSpPr>
            <p:nvPr/>
          </p:nvSpPr>
          <p:spPr bwMode="auto">
            <a:xfrm rot="5400000" flipH="1">
              <a:off x="1585" y="1212"/>
              <a:ext cx="10" cy="1746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134" name="Group 27"/>
          <p:cNvGrpSpPr>
            <a:grpSpLocks/>
          </p:cNvGrpSpPr>
          <p:nvPr/>
        </p:nvGrpSpPr>
        <p:grpSpPr bwMode="auto">
          <a:xfrm rot="2718584">
            <a:off x="4338638" y="2257425"/>
            <a:ext cx="2771775" cy="2771775"/>
            <a:chOff x="717" y="1198"/>
            <a:chExt cx="1746" cy="1746"/>
          </a:xfrm>
        </p:grpSpPr>
        <p:sp>
          <p:nvSpPr>
            <p:cNvPr id="48168" name="Oval 28"/>
            <p:cNvSpPr>
              <a:spLocks noChangeArrowheads="1"/>
            </p:cNvSpPr>
            <p:nvPr/>
          </p:nvSpPr>
          <p:spPr bwMode="auto">
            <a:xfrm>
              <a:off x="1042" y="1618"/>
              <a:ext cx="921" cy="924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rgbClr val="00808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id-ID" altLang="en-US"/>
            </a:p>
          </p:txBody>
        </p:sp>
        <p:grpSp>
          <p:nvGrpSpPr>
            <p:cNvPr id="48169" name="Group 29"/>
            <p:cNvGrpSpPr>
              <a:grpSpLocks/>
            </p:cNvGrpSpPr>
            <p:nvPr/>
          </p:nvGrpSpPr>
          <p:grpSpPr bwMode="auto">
            <a:xfrm>
              <a:off x="1439" y="1386"/>
              <a:ext cx="124" cy="1393"/>
              <a:chOff x="1439" y="1386"/>
              <a:chExt cx="124" cy="1393"/>
            </a:xfrm>
          </p:grpSpPr>
          <p:sp>
            <p:nvSpPr>
              <p:cNvPr id="48175" name="Rectangle 30"/>
              <p:cNvSpPr>
                <a:spLocks noChangeArrowheads="1"/>
              </p:cNvSpPr>
              <p:nvPr/>
            </p:nvSpPr>
            <p:spPr bwMode="auto">
              <a:xfrm>
                <a:off x="1444" y="2542"/>
                <a:ext cx="119" cy="237"/>
              </a:xfrm>
              <a:prstGeom prst="rect">
                <a:avLst/>
              </a:prstGeom>
              <a:solidFill>
                <a:srgbClr val="008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id-ID" altLang="en-US"/>
              </a:p>
            </p:txBody>
          </p:sp>
          <p:sp>
            <p:nvSpPr>
              <p:cNvPr id="48176" name="Rectangle 31"/>
              <p:cNvSpPr>
                <a:spLocks noChangeArrowheads="1"/>
              </p:cNvSpPr>
              <p:nvPr/>
            </p:nvSpPr>
            <p:spPr bwMode="auto">
              <a:xfrm>
                <a:off x="1439" y="1386"/>
                <a:ext cx="119" cy="237"/>
              </a:xfrm>
              <a:prstGeom prst="rect">
                <a:avLst/>
              </a:prstGeom>
              <a:solidFill>
                <a:srgbClr val="008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id-ID" altLang="en-US"/>
              </a:p>
            </p:txBody>
          </p:sp>
        </p:grpSp>
        <p:sp>
          <p:nvSpPr>
            <p:cNvPr id="48170" name="Line 32"/>
            <p:cNvSpPr>
              <a:spLocks noChangeShapeType="1"/>
            </p:cNvSpPr>
            <p:nvPr/>
          </p:nvSpPr>
          <p:spPr bwMode="auto">
            <a:xfrm flipH="1">
              <a:off x="1489" y="1198"/>
              <a:ext cx="10" cy="1746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8171" name="Group 33"/>
            <p:cNvGrpSpPr>
              <a:grpSpLocks/>
            </p:cNvGrpSpPr>
            <p:nvPr/>
          </p:nvGrpSpPr>
          <p:grpSpPr bwMode="auto">
            <a:xfrm rot="5400000">
              <a:off x="1443" y="1390"/>
              <a:ext cx="124" cy="1393"/>
              <a:chOff x="1439" y="1386"/>
              <a:chExt cx="124" cy="1393"/>
            </a:xfrm>
          </p:grpSpPr>
          <p:sp>
            <p:nvSpPr>
              <p:cNvPr id="48173" name="Rectangle 34"/>
              <p:cNvSpPr>
                <a:spLocks noChangeArrowheads="1"/>
              </p:cNvSpPr>
              <p:nvPr/>
            </p:nvSpPr>
            <p:spPr bwMode="auto">
              <a:xfrm>
                <a:off x="1444" y="2542"/>
                <a:ext cx="119" cy="237"/>
              </a:xfrm>
              <a:prstGeom prst="rect">
                <a:avLst/>
              </a:prstGeom>
              <a:solidFill>
                <a:srgbClr val="008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id-ID" altLang="en-US"/>
              </a:p>
            </p:txBody>
          </p:sp>
          <p:sp>
            <p:nvSpPr>
              <p:cNvPr id="48174" name="Rectangle 35"/>
              <p:cNvSpPr>
                <a:spLocks noChangeArrowheads="1"/>
              </p:cNvSpPr>
              <p:nvPr/>
            </p:nvSpPr>
            <p:spPr bwMode="auto">
              <a:xfrm>
                <a:off x="1439" y="1386"/>
                <a:ext cx="119" cy="237"/>
              </a:xfrm>
              <a:prstGeom prst="rect">
                <a:avLst/>
              </a:prstGeom>
              <a:solidFill>
                <a:srgbClr val="008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id-ID" altLang="en-US"/>
              </a:p>
            </p:txBody>
          </p:sp>
        </p:grpSp>
        <p:sp>
          <p:nvSpPr>
            <p:cNvPr id="48172" name="Line 36"/>
            <p:cNvSpPr>
              <a:spLocks noChangeShapeType="1"/>
            </p:cNvSpPr>
            <p:nvPr/>
          </p:nvSpPr>
          <p:spPr bwMode="auto">
            <a:xfrm rot="5400000" flipH="1">
              <a:off x="1585" y="1212"/>
              <a:ext cx="10" cy="1746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135" name="Group 37"/>
          <p:cNvGrpSpPr>
            <a:grpSpLocks/>
          </p:cNvGrpSpPr>
          <p:nvPr/>
        </p:nvGrpSpPr>
        <p:grpSpPr bwMode="auto">
          <a:xfrm>
            <a:off x="0" y="1908175"/>
            <a:ext cx="2771775" cy="2771775"/>
            <a:chOff x="717" y="1198"/>
            <a:chExt cx="1746" cy="1746"/>
          </a:xfrm>
        </p:grpSpPr>
        <p:sp>
          <p:nvSpPr>
            <p:cNvPr id="48159" name="Oval 38"/>
            <p:cNvSpPr>
              <a:spLocks noChangeArrowheads="1"/>
            </p:cNvSpPr>
            <p:nvPr/>
          </p:nvSpPr>
          <p:spPr bwMode="auto">
            <a:xfrm>
              <a:off x="1042" y="1618"/>
              <a:ext cx="921" cy="924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rgbClr val="00808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id-ID" altLang="en-US"/>
            </a:p>
          </p:txBody>
        </p:sp>
        <p:grpSp>
          <p:nvGrpSpPr>
            <p:cNvPr id="48160" name="Group 39"/>
            <p:cNvGrpSpPr>
              <a:grpSpLocks/>
            </p:cNvGrpSpPr>
            <p:nvPr/>
          </p:nvGrpSpPr>
          <p:grpSpPr bwMode="auto">
            <a:xfrm>
              <a:off x="1439" y="1386"/>
              <a:ext cx="124" cy="1393"/>
              <a:chOff x="1439" y="1386"/>
              <a:chExt cx="124" cy="1393"/>
            </a:xfrm>
          </p:grpSpPr>
          <p:sp>
            <p:nvSpPr>
              <p:cNvPr id="48166" name="Rectangle 40"/>
              <p:cNvSpPr>
                <a:spLocks noChangeArrowheads="1"/>
              </p:cNvSpPr>
              <p:nvPr/>
            </p:nvSpPr>
            <p:spPr bwMode="auto">
              <a:xfrm>
                <a:off x="1444" y="2542"/>
                <a:ext cx="119" cy="237"/>
              </a:xfrm>
              <a:prstGeom prst="rect">
                <a:avLst/>
              </a:prstGeom>
              <a:solidFill>
                <a:srgbClr val="008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id-ID" altLang="en-US"/>
              </a:p>
            </p:txBody>
          </p:sp>
          <p:sp>
            <p:nvSpPr>
              <p:cNvPr id="48167" name="Rectangle 41"/>
              <p:cNvSpPr>
                <a:spLocks noChangeArrowheads="1"/>
              </p:cNvSpPr>
              <p:nvPr/>
            </p:nvSpPr>
            <p:spPr bwMode="auto">
              <a:xfrm>
                <a:off x="1439" y="1386"/>
                <a:ext cx="119" cy="237"/>
              </a:xfrm>
              <a:prstGeom prst="rect">
                <a:avLst/>
              </a:prstGeom>
              <a:solidFill>
                <a:srgbClr val="008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id-ID" altLang="en-US"/>
              </a:p>
            </p:txBody>
          </p:sp>
        </p:grpSp>
        <p:sp>
          <p:nvSpPr>
            <p:cNvPr id="48161" name="Line 42"/>
            <p:cNvSpPr>
              <a:spLocks noChangeShapeType="1"/>
            </p:cNvSpPr>
            <p:nvPr/>
          </p:nvSpPr>
          <p:spPr bwMode="auto">
            <a:xfrm flipH="1">
              <a:off x="1489" y="1198"/>
              <a:ext cx="10" cy="1746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8162" name="Group 43"/>
            <p:cNvGrpSpPr>
              <a:grpSpLocks/>
            </p:cNvGrpSpPr>
            <p:nvPr/>
          </p:nvGrpSpPr>
          <p:grpSpPr bwMode="auto">
            <a:xfrm rot="5400000">
              <a:off x="1443" y="1390"/>
              <a:ext cx="124" cy="1393"/>
              <a:chOff x="1439" y="1386"/>
              <a:chExt cx="124" cy="1393"/>
            </a:xfrm>
          </p:grpSpPr>
          <p:sp>
            <p:nvSpPr>
              <p:cNvPr id="48164" name="Rectangle 44"/>
              <p:cNvSpPr>
                <a:spLocks noChangeArrowheads="1"/>
              </p:cNvSpPr>
              <p:nvPr/>
            </p:nvSpPr>
            <p:spPr bwMode="auto">
              <a:xfrm>
                <a:off x="1444" y="2542"/>
                <a:ext cx="119" cy="237"/>
              </a:xfrm>
              <a:prstGeom prst="rect">
                <a:avLst/>
              </a:prstGeom>
              <a:solidFill>
                <a:srgbClr val="008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id-ID" altLang="en-US"/>
              </a:p>
            </p:txBody>
          </p:sp>
          <p:sp>
            <p:nvSpPr>
              <p:cNvPr id="48165" name="Rectangle 45"/>
              <p:cNvSpPr>
                <a:spLocks noChangeArrowheads="1"/>
              </p:cNvSpPr>
              <p:nvPr/>
            </p:nvSpPr>
            <p:spPr bwMode="auto">
              <a:xfrm>
                <a:off x="1439" y="1386"/>
                <a:ext cx="119" cy="237"/>
              </a:xfrm>
              <a:prstGeom prst="rect">
                <a:avLst/>
              </a:prstGeom>
              <a:solidFill>
                <a:srgbClr val="008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id-ID" altLang="en-US"/>
              </a:p>
            </p:txBody>
          </p:sp>
        </p:grpSp>
        <p:sp>
          <p:nvSpPr>
            <p:cNvPr id="48163" name="Line 46"/>
            <p:cNvSpPr>
              <a:spLocks noChangeShapeType="1"/>
            </p:cNvSpPr>
            <p:nvPr/>
          </p:nvSpPr>
          <p:spPr bwMode="auto">
            <a:xfrm rot="5400000" flipH="1">
              <a:off x="1585" y="1212"/>
              <a:ext cx="10" cy="1746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136" name="Line 57"/>
          <p:cNvSpPr>
            <a:spLocks noChangeShapeType="1"/>
          </p:cNvSpPr>
          <p:nvPr/>
        </p:nvSpPr>
        <p:spPr bwMode="auto">
          <a:xfrm>
            <a:off x="3671888" y="3324225"/>
            <a:ext cx="1930400" cy="231775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7" name="Line 58"/>
          <p:cNvSpPr>
            <a:spLocks noChangeShapeType="1"/>
          </p:cNvSpPr>
          <p:nvPr/>
        </p:nvSpPr>
        <p:spPr bwMode="auto">
          <a:xfrm flipV="1">
            <a:off x="5595938" y="3316288"/>
            <a:ext cx="1987550" cy="239712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138" name="Group 69"/>
          <p:cNvGrpSpPr>
            <a:grpSpLocks/>
          </p:cNvGrpSpPr>
          <p:nvPr/>
        </p:nvGrpSpPr>
        <p:grpSpPr bwMode="auto">
          <a:xfrm>
            <a:off x="-128588" y="2279650"/>
            <a:ext cx="2771776" cy="2771775"/>
            <a:chOff x="-68" y="1436"/>
            <a:chExt cx="1746" cy="1746"/>
          </a:xfrm>
        </p:grpSpPr>
        <p:sp>
          <p:nvSpPr>
            <p:cNvPr id="48150" name="Oval 60"/>
            <p:cNvSpPr>
              <a:spLocks noChangeArrowheads="1"/>
            </p:cNvSpPr>
            <p:nvPr/>
          </p:nvSpPr>
          <p:spPr bwMode="auto">
            <a:xfrm rot="2718584">
              <a:off x="344" y="1782"/>
              <a:ext cx="921" cy="924"/>
            </a:xfrm>
            <a:prstGeom prst="ellipse">
              <a:avLst/>
            </a:prstGeom>
            <a:solidFill>
              <a:srgbClr val="CCFFCC">
                <a:alpha val="30196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id-ID" altLang="en-US"/>
            </a:p>
          </p:txBody>
        </p:sp>
        <p:grpSp>
          <p:nvGrpSpPr>
            <p:cNvPr id="48151" name="Group 61"/>
            <p:cNvGrpSpPr>
              <a:grpSpLocks/>
            </p:cNvGrpSpPr>
            <p:nvPr/>
          </p:nvGrpSpPr>
          <p:grpSpPr bwMode="auto">
            <a:xfrm rot="2718584">
              <a:off x="739" y="1548"/>
              <a:ext cx="124" cy="1393"/>
              <a:chOff x="1439" y="1386"/>
              <a:chExt cx="124" cy="1393"/>
            </a:xfrm>
          </p:grpSpPr>
          <p:sp>
            <p:nvSpPr>
              <p:cNvPr id="48157" name="Rectangle 62"/>
              <p:cNvSpPr>
                <a:spLocks noChangeArrowheads="1"/>
              </p:cNvSpPr>
              <p:nvPr/>
            </p:nvSpPr>
            <p:spPr bwMode="auto">
              <a:xfrm>
                <a:off x="1444" y="2542"/>
                <a:ext cx="119" cy="237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id-ID" altLang="en-US"/>
              </a:p>
            </p:txBody>
          </p:sp>
          <p:sp>
            <p:nvSpPr>
              <p:cNvPr id="48158" name="Rectangle 63"/>
              <p:cNvSpPr>
                <a:spLocks noChangeArrowheads="1"/>
              </p:cNvSpPr>
              <p:nvPr/>
            </p:nvSpPr>
            <p:spPr bwMode="auto">
              <a:xfrm>
                <a:off x="1439" y="1386"/>
                <a:ext cx="119" cy="237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id-ID" altLang="en-US"/>
              </a:p>
            </p:txBody>
          </p:sp>
        </p:grpSp>
        <p:sp>
          <p:nvSpPr>
            <p:cNvPr id="48152" name="Line 64"/>
            <p:cNvSpPr>
              <a:spLocks noChangeShapeType="1"/>
            </p:cNvSpPr>
            <p:nvPr/>
          </p:nvSpPr>
          <p:spPr bwMode="auto">
            <a:xfrm rot="2718584" flipH="1">
              <a:off x="800" y="1358"/>
              <a:ext cx="10" cy="1746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8153" name="Group 65"/>
            <p:cNvGrpSpPr>
              <a:grpSpLocks/>
            </p:cNvGrpSpPr>
            <p:nvPr/>
          </p:nvGrpSpPr>
          <p:grpSpPr bwMode="auto">
            <a:xfrm rot="8118584">
              <a:off x="739" y="1553"/>
              <a:ext cx="124" cy="1393"/>
              <a:chOff x="1439" y="1386"/>
              <a:chExt cx="124" cy="1393"/>
            </a:xfrm>
          </p:grpSpPr>
          <p:sp>
            <p:nvSpPr>
              <p:cNvPr id="48155" name="Rectangle 66"/>
              <p:cNvSpPr>
                <a:spLocks noChangeArrowheads="1"/>
              </p:cNvSpPr>
              <p:nvPr/>
            </p:nvSpPr>
            <p:spPr bwMode="auto">
              <a:xfrm>
                <a:off x="1444" y="2542"/>
                <a:ext cx="119" cy="237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id-ID" altLang="en-US"/>
              </a:p>
            </p:txBody>
          </p:sp>
          <p:sp>
            <p:nvSpPr>
              <p:cNvPr id="48156" name="Rectangle 67"/>
              <p:cNvSpPr>
                <a:spLocks noChangeArrowheads="1"/>
              </p:cNvSpPr>
              <p:nvPr/>
            </p:nvSpPr>
            <p:spPr bwMode="auto">
              <a:xfrm>
                <a:off x="1439" y="1386"/>
                <a:ext cx="119" cy="237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id-ID" altLang="en-US"/>
              </a:p>
            </p:txBody>
          </p:sp>
        </p:grpSp>
        <p:sp>
          <p:nvSpPr>
            <p:cNvPr id="48154" name="Line 68"/>
            <p:cNvSpPr>
              <a:spLocks noChangeShapeType="1"/>
            </p:cNvSpPr>
            <p:nvPr/>
          </p:nvSpPr>
          <p:spPr bwMode="auto">
            <a:xfrm rot="8118584" flipH="1">
              <a:off x="858" y="1436"/>
              <a:ext cx="10" cy="1746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139" name="Oval 70"/>
          <p:cNvSpPr>
            <a:spLocks noChangeArrowheads="1"/>
          </p:cNvSpPr>
          <p:nvPr/>
        </p:nvSpPr>
        <p:spPr bwMode="auto">
          <a:xfrm>
            <a:off x="1146175" y="3482975"/>
            <a:ext cx="182563" cy="182563"/>
          </a:xfrm>
          <a:prstGeom prst="ellipse">
            <a:avLst/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48140" name="Oval 71"/>
          <p:cNvSpPr>
            <a:spLocks noChangeArrowheads="1"/>
          </p:cNvSpPr>
          <p:nvPr/>
        </p:nvSpPr>
        <p:spPr bwMode="auto">
          <a:xfrm>
            <a:off x="1139825" y="3214688"/>
            <a:ext cx="182563" cy="182562"/>
          </a:xfrm>
          <a:prstGeom prst="ellipse">
            <a:avLst/>
          </a:prstGeom>
          <a:solidFill>
            <a:srgbClr val="008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48141" name="Line 72"/>
          <p:cNvSpPr>
            <a:spLocks noChangeShapeType="1"/>
          </p:cNvSpPr>
          <p:nvPr/>
        </p:nvSpPr>
        <p:spPr bwMode="auto">
          <a:xfrm>
            <a:off x="1552575" y="3309938"/>
            <a:ext cx="0" cy="319087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42" name="Text Box 73"/>
          <p:cNvSpPr txBox="1">
            <a:spLocks noChangeArrowheads="1"/>
          </p:cNvSpPr>
          <p:nvPr/>
        </p:nvSpPr>
        <p:spPr bwMode="auto">
          <a:xfrm>
            <a:off x="341313" y="5043488"/>
            <a:ext cx="79311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1775" indent="-23177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sz="1800" b="1">
                <a:solidFill>
                  <a:schemeClr val="accent2"/>
                </a:solidFill>
              </a:rPr>
              <a:t>Replace Straight Blades Stabilizers with Spiraled Blades Stabilizers</a:t>
            </a:r>
            <a:r>
              <a:rPr lang="en-US" altLang="en-US">
                <a:solidFill>
                  <a:schemeClr val="accent2"/>
                </a:solidFill>
              </a:rPr>
              <a:t> </a:t>
            </a:r>
            <a:endParaRPr lang="en-US" altLang="en-US" sz="1800" b="1">
              <a:solidFill>
                <a:schemeClr val="accent2"/>
              </a:solidFill>
            </a:endParaRPr>
          </a:p>
          <a:p>
            <a:pPr eaLnBrk="1" hangingPunct="1">
              <a:buFontTx/>
              <a:buChar char="•"/>
            </a:pPr>
            <a:r>
              <a:rPr lang="en-US" altLang="en-US" sz="1800" b="1">
                <a:solidFill>
                  <a:schemeClr val="accent2"/>
                </a:solidFill>
              </a:rPr>
              <a:t>Straight Blades Stabilizers generate Lateral and Torsional Shocks to the drillstring in Inclined Wellbores</a:t>
            </a:r>
          </a:p>
        </p:txBody>
      </p:sp>
      <p:sp>
        <p:nvSpPr>
          <p:cNvPr id="48143" name="Text Box 74"/>
          <p:cNvSpPr txBox="1">
            <a:spLocks noChangeArrowheads="1"/>
          </p:cNvSpPr>
          <p:nvPr/>
        </p:nvSpPr>
        <p:spPr bwMode="auto">
          <a:xfrm>
            <a:off x="3860800" y="5930900"/>
            <a:ext cx="47307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chemeClr val="accent2"/>
                </a:solidFill>
              </a:rPr>
              <a:t>Reference: T Drilling Dynamic Study for Arco Berau &amp; Wiriagar</a:t>
            </a:r>
          </a:p>
        </p:txBody>
      </p:sp>
      <p:sp>
        <p:nvSpPr>
          <p:cNvPr id="48144" name="AutoShape 75"/>
          <p:cNvSpPr>
            <a:spLocks noChangeArrowheads="1"/>
          </p:cNvSpPr>
          <p:nvPr/>
        </p:nvSpPr>
        <p:spPr bwMode="auto">
          <a:xfrm>
            <a:off x="3411538" y="1495425"/>
            <a:ext cx="522287" cy="376238"/>
          </a:xfrm>
          <a:prstGeom prst="triangle">
            <a:avLst>
              <a:gd name="adj" fmla="val 50000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008000"/>
                </a:solidFill>
              </a:rPr>
              <a:t>1</a:t>
            </a:r>
          </a:p>
        </p:txBody>
      </p:sp>
      <p:sp>
        <p:nvSpPr>
          <p:cNvPr id="48145" name="AutoShape 76"/>
          <p:cNvSpPr>
            <a:spLocks noChangeArrowheads="1"/>
          </p:cNvSpPr>
          <p:nvPr/>
        </p:nvSpPr>
        <p:spPr bwMode="auto">
          <a:xfrm>
            <a:off x="5319713" y="1487488"/>
            <a:ext cx="522287" cy="376237"/>
          </a:xfrm>
          <a:prstGeom prst="triangle">
            <a:avLst>
              <a:gd name="adj" fmla="val 50000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008000"/>
                </a:solidFill>
              </a:rPr>
              <a:t>2</a:t>
            </a:r>
          </a:p>
        </p:txBody>
      </p:sp>
      <p:sp>
        <p:nvSpPr>
          <p:cNvPr id="48146" name="AutoShape 77"/>
          <p:cNvSpPr>
            <a:spLocks noChangeArrowheads="1"/>
          </p:cNvSpPr>
          <p:nvPr/>
        </p:nvSpPr>
        <p:spPr bwMode="auto">
          <a:xfrm>
            <a:off x="7337425" y="1487488"/>
            <a:ext cx="522288" cy="376237"/>
          </a:xfrm>
          <a:prstGeom prst="triangle">
            <a:avLst>
              <a:gd name="adj" fmla="val 50000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008000"/>
                </a:solidFill>
              </a:rPr>
              <a:t>3</a:t>
            </a:r>
          </a:p>
        </p:txBody>
      </p:sp>
      <p:sp>
        <p:nvSpPr>
          <p:cNvPr id="48147" name="Oval 79"/>
          <p:cNvSpPr>
            <a:spLocks noChangeArrowheads="1"/>
          </p:cNvSpPr>
          <p:nvPr/>
        </p:nvSpPr>
        <p:spPr bwMode="auto">
          <a:xfrm>
            <a:off x="3584575" y="3232150"/>
            <a:ext cx="182563" cy="182563"/>
          </a:xfrm>
          <a:prstGeom prst="ellipse">
            <a:avLst/>
          </a:prstGeom>
          <a:solidFill>
            <a:srgbClr val="008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48148" name="Oval 80"/>
          <p:cNvSpPr>
            <a:spLocks noChangeArrowheads="1"/>
          </p:cNvSpPr>
          <p:nvPr/>
        </p:nvSpPr>
        <p:spPr bwMode="auto">
          <a:xfrm>
            <a:off x="7513638" y="3206750"/>
            <a:ext cx="182562" cy="182563"/>
          </a:xfrm>
          <a:prstGeom prst="ellipse">
            <a:avLst/>
          </a:prstGeom>
          <a:solidFill>
            <a:srgbClr val="008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48149" name="Oval 81"/>
          <p:cNvSpPr>
            <a:spLocks noChangeArrowheads="1"/>
          </p:cNvSpPr>
          <p:nvPr/>
        </p:nvSpPr>
        <p:spPr bwMode="auto">
          <a:xfrm>
            <a:off x="5514975" y="3451225"/>
            <a:ext cx="182563" cy="182563"/>
          </a:xfrm>
          <a:prstGeom prst="ellipse">
            <a:avLst/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854075"/>
            <a:ext cx="8229600" cy="563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3200" b="1" smtClean="0">
                <a:solidFill>
                  <a:srgbClr val="008000"/>
                </a:solidFill>
              </a:rPr>
              <a:t>Further Discussion</a:t>
            </a: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849313" y="169545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 sz="1800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60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mtClean="0">
                <a:hlinkClick r:id="rId2" action="ppaction://hlinkfile"/>
              </a:rPr>
              <a:t>Drillstring vibration software animation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854075"/>
            <a:ext cx="822960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800" b="1" smtClean="0">
                <a:solidFill>
                  <a:srgbClr val="008000"/>
                </a:solidFill>
              </a:rPr>
              <a:t>Harmonic Isolation Tool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z="2800" smtClean="0"/>
          </a:p>
          <a:p>
            <a:pPr eaLnBrk="1" hangingPunct="1">
              <a:buFontTx/>
              <a:buNone/>
            </a:pPr>
            <a:endParaRPr lang="en-US" altLang="en-US" sz="2800" smtClean="0"/>
          </a:p>
        </p:txBody>
      </p:sp>
      <p:pic>
        <p:nvPicPr>
          <p:cNvPr id="501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013" y="1393825"/>
            <a:ext cx="3952875" cy="401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018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63" y="2066925"/>
            <a:ext cx="4171950" cy="286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854075"/>
            <a:ext cx="822960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800" b="1" smtClean="0">
                <a:solidFill>
                  <a:srgbClr val="008000"/>
                </a:solidFill>
              </a:rPr>
              <a:t>AG-itator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z="2800" smtClean="0"/>
          </a:p>
          <a:p>
            <a:pPr eaLnBrk="1" hangingPunct="1">
              <a:buFontTx/>
              <a:buNone/>
            </a:pPr>
            <a:endParaRPr lang="en-US" altLang="en-US" sz="2800" smtClean="0"/>
          </a:p>
        </p:txBody>
      </p:sp>
      <p:pic>
        <p:nvPicPr>
          <p:cNvPr id="512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800" y="796925"/>
            <a:ext cx="4391025" cy="562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854075"/>
            <a:ext cx="822960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800" b="1" smtClean="0">
                <a:solidFill>
                  <a:srgbClr val="008000"/>
                </a:solidFill>
              </a:rPr>
              <a:t>Shock Tool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z="2800" smtClean="0"/>
          </a:p>
          <a:p>
            <a:pPr eaLnBrk="1" hangingPunct="1">
              <a:buFontTx/>
              <a:buNone/>
            </a:pPr>
            <a:endParaRPr lang="en-US" altLang="en-US" sz="2800" smtClean="0"/>
          </a:p>
        </p:txBody>
      </p:sp>
      <p:pic>
        <p:nvPicPr>
          <p:cNvPr id="522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800" y="844550"/>
            <a:ext cx="4222750" cy="5519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854075"/>
            <a:ext cx="822960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800" b="1" smtClean="0">
                <a:solidFill>
                  <a:srgbClr val="008000"/>
                </a:solidFill>
              </a:rPr>
              <a:t>Isolator For Controlling BHA Vibration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z="2800" smtClean="0"/>
          </a:p>
          <a:p>
            <a:pPr eaLnBrk="1" hangingPunct="1">
              <a:buFontTx/>
              <a:buNone/>
            </a:pPr>
            <a:endParaRPr lang="en-US" altLang="en-US" sz="2800" smtClean="0"/>
          </a:p>
        </p:txBody>
      </p:sp>
      <p:pic>
        <p:nvPicPr>
          <p:cNvPr id="5325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1814513"/>
            <a:ext cx="28194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2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213" y="3235325"/>
            <a:ext cx="933450" cy="300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254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663" y="1511300"/>
            <a:ext cx="2667000" cy="256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255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4003675"/>
            <a:ext cx="2619375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256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563" y="1763713"/>
            <a:ext cx="2638425" cy="153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3257" name="Line 10"/>
          <p:cNvSpPr>
            <a:spLocks noChangeShapeType="1"/>
          </p:cNvSpPr>
          <p:nvPr/>
        </p:nvSpPr>
        <p:spPr bwMode="auto">
          <a:xfrm>
            <a:off x="3352800" y="1685925"/>
            <a:ext cx="5297488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17513" y="3125788"/>
            <a:ext cx="8229600" cy="5635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3200" b="1" smtClean="0">
                <a:solidFill>
                  <a:srgbClr val="008000"/>
                </a:solidFill>
              </a:rPr>
              <a:t>The End</a:t>
            </a:r>
          </a:p>
        </p:txBody>
      </p:sp>
      <p:sp>
        <p:nvSpPr>
          <p:cNvPr id="54275" name="Text Box 4"/>
          <p:cNvSpPr txBox="1">
            <a:spLocks noChangeArrowheads="1"/>
          </p:cNvSpPr>
          <p:nvPr/>
        </p:nvSpPr>
        <p:spPr bwMode="auto">
          <a:xfrm>
            <a:off x="849313" y="169545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3"/>
          <p:cNvSpPr txBox="1">
            <a:spLocks noChangeArrowheads="1"/>
          </p:cNvSpPr>
          <p:nvPr/>
        </p:nvSpPr>
        <p:spPr bwMode="auto">
          <a:xfrm>
            <a:off x="849313" y="169545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 sz="1800"/>
          </a:p>
        </p:txBody>
      </p:sp>
      <p:sp>
        <p:nvSpPr>
          <p:cNvPr id="5529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768350"/>
            <a:ext cx="8229600" cy="474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400" b="1" smtClean="0">
                <a:solidFill>
                  <a:srgbClr val="008000"/>
                </a:solidFill>
              </a:rPr>
              <a:t>How To Measure Drill String Vibration</a:t>
            </a:r>
          </a:p>
        </p:txBody>
      </p:sp>
      <p:sp>
        <p:nvSpPr>
          <p:cNvPr id="55300" name="Text Box 5"/>
          <p:cNvSpPr txBox="1">
            <a:spLocks noChangeArrowheads="1"/>
          </p:cNvSpPr>
          <p:nvPr/>
        </p:nvSpPr>
        <p:spPr bwMode="auto">
          <a:xfrm>
            <a:off x="330200" y="1338263"/>
            <a:ext cx="2311400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/>
              <a:t>Surface Detection</a:t>
            </a:r>
          </a:p>
          <a:p>
            <a:pPr eaLnBrk="1" hangingPunct="1">
              <a:buFontTx/>
              <a:buChar char="•"/>
            </a:pPr>
            <a:r>
              <a:rPr lang="en-US" altLang="en-US" sz="1600"/>
              <a:t> Proximity Sensor</a:t>
            </a:r>
          </a:p>
          <a:p>
            <a:pPr eaLnBrk="1" hangingPunct="1">
              <a:buFontTx/>
              <a:buChar char="•"/>
            </a:pPr>
            <a:r>
              <a:rPr lang="en-US" altLang="en-US" sz="1600"/>
              <a:t> Rotary Torque Sensor</a:t>
            </a:r>
          </a:p>
          <a:p>
            <a:pPr eaLnBrk="1" hangingPunct="1">
              <a:buFontTx/>
              <a:buChar char="•"/>
            </a:pPr>
            <a:r>
              <a:rPr lang="en-US" altLang="en-US" sz="1600"/>
              <a:t> Pressure Sensor</a:t>
            </a:r>
          </a:p>
        </p:txBody>
      </p:sp>
      <p:sp>
        <p:nvSpPr>
          <p:cNvPr id="55301" name="Text Box 6"/>
          <p:cNvSpPr txBox="1">
            <a:spLocks noChangeArrowheads="1"/>
          </p:cNvSpPr>
          <p:nvPr/>
        </p:nvSpPr>
        <p:spPr bwMode="auto">
          <a:xfrm>
            <a:off x="3603625" y="1374775"/>
            <a:ext cx="5227638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/>
              <a:t>Downhole Detection</a:t>
            </a:r>
          </a:p>
          <a:p>
            <a:pPr eaLnBrk="1" hangingPunct="1">
              <a:buFontTx/>
              <a:buChar char="•"/>
            </a:pPr>
            <a:r>
              <a:rPr lang="en-US" altLang="en-US" sz="1600"/>
              <a:t> Accelerometer (Lateral &amp; Axial Vibration)</a:t>
            </a:r>
          </a:p>
          <a:p>
            <a:pPr eaLnBrk="1" hangingPunct="1">
              <a:buFontTx/>
              <a:buChar char="•"/>
            </a:pPr>
            <a:r>
              <a:rPr lang="en-US" altLang="en-US" sz="1600"/>
              <a:t> Magnetometers (Torsional Vibration)</a:t>
            </a:r>
          </a:p>
          <a:p>
            <a:pPr eaLnBrk="1" hangingPunct="1">
              <a:buFontTx/>
              <a:buChar char="•"/>
            </a:pPr>
            <a:r>
              <a:rPr lang="en-US" altLang="en-US" sz="1600"/>
              <a:t> Strain Gauge</a:t>
            </a:r>
          </a:p>
        </p:txBody>
      </p:sp>
      <p:sp>
        <p:nvSpPr>
          <p:cNvPr id="55302" name="Text Box 7"/>
          <p:cNvSpPr txBox="1">
            <a:spLocks noChangeArrowheads="1"/>
          </p:cNvSpPr>
          <p:nvPr/>
        </p:nvSpPr>
        <p:spPr bwMode="auto">
          <a:xfrm>
            <a:off x="227013" y="2484438"/>
            <a:ext cx="8716962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1775" indent="-23177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/>
              <a:t>Accelerometer:</a:t>
            </a:r>
          </a:p>
          <a:p>
            <a:pPr eaLnBrk="1" hangingPunct="1">
              <a:buFontTx/>
              <a:buChar char="•"/>
            </a:pPr>
            <a:r>
              <a:rPr lang="en-US" altLang="en-US" sz="1600"/>
              <a:t>BHI, SperySun most commonly use Mean, RMS (Root Mean Square) and actual g force value for describing the magnitude of the vibration type.</a:t>
            </a:r>
          </a:p>
          <a:p>
            <a:pPr eaLnBrk="1" hangingPunct="1">
              <a:buFontTx/>
              <a:buChar char="•"/>
            </a:pPr>
            <a:r>
              <a:rPr lang="en-US" altLang="en-US" sz="1600"/>
              <a:t>Anadrill, on other hand, is known for monitoring “shock” counts</a:t>
            </a:r>
          </a:p>
        </p:txBody>
      </p:sp>
      <p:graphicFrame>
        <p:nvGraphicFramePr>
          <p:cNvPr id="182323" name="Group 51"/>
          <p:cNvGraphicFramePr>
            <a:graphicFrameLocks noGrp="1"/>
          </p:cNvGraphicFramePr>
          <p:nvPr>
            <p:ph idx="1"/>
          </p:nvPr>
        </p:nvGraphicFramePr>
        <p:xfrm>
          <a:off x="457200" y="3817938"/>
          <a:ext cx="4102100" cy="2587625"/>
        </p:xfrm>
        <a:graphic>
          <a:graphicData uri="http://schemas.openxmlformats.org/drawingml/2006/table">
            <a:tbl>
              <a:tblPr/>
              <a:tblGrid>
                <a:gridCol w="2338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3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Axial / Lateral Vibration Severity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Level RMS G’s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 – 0.6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0.6 – 1.25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1.25 – 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2.5 – 5.0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5.0 – 10.0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10.0 – 20.0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20.0 – 40.0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&gt; 40.0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849313" y="169545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 sz="180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768350"/>
            <a:ext cx="8229600" cy="474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400" b="1" smtClean="0">
                <a:solidFill>
                  <a:srgbClr val="008000"/>
                </a:solidFill>
              </a:rPr>
              <a:t>How To Measure Drill String Vibration</a:t>
            </a:r>
          </a:p>
        </p:txBody>
      </p:sp>
      <p:sp>
        <p:nvSpPr>
          <p:cNvPr id="56324" name="Text Box 6"/>
          <p:cNvSpPr txBox="1">
            <a:spLocks noChangeArrowheads="1"/>
          </p:cNvSpPr>
          <p:nvPr/>
        </p:nvSpPr>
        <p:spPr bwMode="auto">
          <a:xfrm>
            <a:off x="227013" y="1265238"/>
            <a:ext cx="8716962" cy="2292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1775" indent="-231775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/>
              <a:t>Magnetometers :</a:t>
            </a:r>
          </a:p>
          <a:p>
            <a:pPr eaLnBrk="1" hangingPunct="1">
              <a:buFontTx/>
              <a:buChar char="•"/>
            </a:pPr>
            <a:r>
              <a:rPr lang="en-US" altLang="en-US" sz="1600"/>
              <a:t>Measure RPM fluctuation in the X and Y axes</a:t>
            </a:r>
          </a:p>
          <a:p>
            <a:pPr eaLnBrk="1" hangingPunct="1">
              <a:buFontTx/>
              <a:buChar char="•"/>
            </a:pPr>
            <a:r>
              <a:rPr lang="en-US" altLang="en-US" sz="1600"/>
              <a:t>The X and Y axis magnetometers are sampled at 20 Hz collected over a 7.5 second time interval. The RPM is then calculated and smoothed to 30 samples. Record Min, Max and Average to obtain two variables:</a:t>
            </a:r>
          </a:p>
          <a:p>
            <a:pPr lvl="1" eaLnBrk="1" hangingPunct="1">
              <a:buFontTx/>
              <a:buChar char="•"/>
            </a:pPr>
            <a:r>
              <a:rPr lang="en-US" altLang="en-US" sz="1600"/>
              <a:t>S1 = (RPM_Max-RPM_Min)/2 X RPM_Avg. </a:t>
            </a:r>
          </a:p>
          <a:p>
            <a:pPr lvl="1" eaLnBrk="1" hangingPunct="1"/>
            <a:r>
              <a:rPr lang="en-US" altLang="en-US" sz="1600">
                <a:sym typeface="Wingdings" panose="05000000000000000000" pitchFamily="2" charset="2"/>
              </a:rPr>
              <a:t>	 If S1 &gt; 0.2 Torsional Oscillation is occurring, If S1 &gt; 0.8, Stick-Slip is occurring</a:t>
            </a:r>
            <a:endParaRPr lang="en-US" altLang="en-US" sz="1600"/>
          </a:p>
          <a:p>
            <a:pPr lvl="1" eaLnBrk="1" hangingPunct="1">
              <a:buFontTx/>
              <a:buChar char="•"/>
            </a:pPr>
            <a:r>
              <a:rPr lang="en-US" altLang="en-US" sz="1600"/>
              <a:t>S2 = (# of samples &lt; 0) / 30 </a:t>
            </a:r>
          </a:p>
          <a:p>
            <a:pPr lvl="1" eaLnBrk="1" hangingPunct="1"/>
            <a:r>
              <a:rPr lang="en-US" altLang="en-US" sz="1600">
                <a:sym typeface="Wingdings" panose="05000000000000000000" pitchFamily="2" charset="2"/>
              </a:rPr>
              <a:t>	 If S2 &gt; 0.1 then backwards rotation has occurred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8527</TotalTime>
  <Words>2407</Words>
  <Application>Microsoft Office PowerPoint</Application>
  <PresentationFormat>On-screen Show (4:3)</PresentationFormat>
  <Paragraphs>409</Paragraphs>
  <Slides>51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Arial</vt:lpstr>
      <vt:lpstr>Comic Sans MS</vt:lpstr>
      <vt:lpstr>Wingdings 2</vt:lpstr>
      <vt:lpstr>Wingdings</vt:lpstr>
      <vt:lpstr>Default Design</vt:lpstr>
      <vt:lpstr>Microsoft Graph Chart</vt:lpstr>
      <vt:lpstr>PowerPoint Presentation</vt:lpstr>
      <vt:lpstr>PowerPoint Presentation</vt:lpstr>
      <vt:lpstr>PowerPoint Presentation</vt:lpstr>
      <vt:lpstr>Introduction to Vibration</vt:lpstr>
      <vt:lpstr>PowerPoint Presentation</vt:lpstr>
      <vt:lpstr>PowerPoint Presentation</vt:lpstr>
      <vt:lpstr>PowerPoint Presentation</vt:lpstr>
      <vt:lpstr>12-1/4” Hole – Offset Wells Summary </vt:lpstr>
      <vt:lpstr>12-1/4” Hole – BHA study conclusion</vt:lpstr>
      <vt:lpstr>12-1/4” BHA TYPE </vt:lpstr>
      <vt:lpstr>Conceptual 12-1/4” BHA Design</vt:lpstr>
      <vt:lpstr>12-1/4” Offset BHA: The Fact ……..</vt:lpstr>
      <vt:lpstr>12-1/4” Offset BHA – BHA Type vs. BHA Failure</vt:lpstr>
      <vt:lpstr>12-1/4” BHA – Lateral Displacement and BHA type</vt:lpstr>
      <vt:lpstr>Downhole Vibration Record - sample</vt:lpstr>
      <vt:lpstr>12-1/4” BHA – Vibration Record Summary of Offset Wells</vt:lpstr>
      <vt:lpstr>12-1/4” BHA: JARS AND DC SIZES</vt:lpstr>
      <vt:lpstr>12-1/4” BHA – Failure record on BHA component</vt:lpstr>
      <vt:lpstr>12-1/4” BHA – Failure Evaluation on BHA component</vt:lpstr>
      <vt:lpstr>Why Drilling Jars fail..?</vt:lpstr>
      <vt:lpstr>Why Drilling Jars fail..?</vt:lpstr>
      <vt:lpstr>PowerPoint Presentation</vt:lpstr>
      <vt:lpstr>PowerPoint Presentation</vt:lpstr>
      <vt:lpstr>12-1/4” BHA – Vibration analysis on various DC Sizes</vt:lpstr>
      <vt:lpstr>12-1/4” BHA – The Fact …….!</vt:lpstr>
      <vt:lpstr>12-1/4” BHA – The Fact …….!</vt:lpstr>
      <vt:lpstr>Bit ROP Enhancement: </vt:lpstr>
      <vt:lpstr>12-1/4” Bit ROP verses Number of stabilizers</vt:lpstr>
      <vt:lpstr>12-1/4” Offset BHA – Shock Tool vs ROP</vt:lpstr>
      <vt:lpstr>12-1/4” Packed BHA Stabilization</vt:lpstr>
      <vt:lpstr>12-1/4” Packed BHA vs. Various Stabilization</vt:lpstr>
      <vt:lpstr>12-1/4” Hole – BHA Type vs Run Casing problem</vt:lpstr>
      <vt:lpstr>Develop 12-1/4” Packed and Motor BHA Configuration</vt:lpstr>
      <vt:lpstr>8-1/2” Hole Section</vt:lpstr>
      <vt:lpstr>8-1/2” BHA – Offset well</vt:lpstr>
      <vt:lpstr>8-1/2” Hole – BHA study conclusion</vt:lpstr>
      <vt:lpstr>8-1/2” BHA – BHA Type vs. Bit ROP (V wells)</vt:lpstr>
      <vt:lpstr>8-1/2” BHA – Motor Assembly Stabilization vs. Bit ROP</vt:lpstr>
      <vt:lpstr>8-1/2” Offset BHA – DC and HWDP review</vt:lpstr>
      <vt:lpstr>8-1/2” BHA Model – Optimum DC &amp; HWDP configuration</vt:lpstr>
      <vt:lpstr>8-1/2” BHA Model Schematic</vt:lpstr>
      <vt:lpstr>Further Discussion</vt:lpstr>
      <vt:lpstr>String Stabilizer Type</vt:lpstr>
      <vt:lpstr>Further Discussion</vt:lpstr>
      <vt:lpstr>Harmonic Isolation Tool</vt:lpstr>
      <vt:lpstr>AG-itator</vt:lpstr>
      <vt:lpstr>Shock Tool</vt:lpstr>
      <vt:lpstr>Isolator For Controlling BHA Vibration</vt:lpstr>
      <vt:lpstr>The End</vt:lpstr>
      <vt:lpstr>How To Measure Drill String Vibration</vt:lpstr>
      <vt:lpstr>How To Measure Drill String Vibration</vt:lpstr>
    </vt:vector>
  </TitlesOfParts>
  <Company>BP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Yudi</dc:creator>
  <cp:lastModifiedBy>Yudi Hartono</cp:lastModifiedBy>
  <cp:revision>321</cp:revision>
  <dcterms:created xsi:type="dcterms:W3CDTF">2005-05-18T07:45:47Z</dcterms:created>
  <dcterms:modified xsi:type="dcterms:W3CDTF">2020-02-10T01:09:51Z</dcterms:modified>
</cp:coreProperties>
</file>