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3" r:id="rId2"/>
    <p:sldId id="259" r:id="rId3"/>
    <p:sldId id="394" r:id="rId4"/>
    <p:sldId id="396" r:id="rId5"/>
    <p:sldId id="395" r:id="rId6"/>
    <p:sldId id="393" r:id="rId7"/>
  </p:sldIdLst>
  <p:sldSz cx="12192000" cy="6858000"/>
  <p:notesSz cx="12192000" cy="6858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422" y="67"/>
      </p:cViewPr>
      <p:guideLst>
        <p:guide orient="horz" pos="2880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HAMMAM REZA" userId="6f12bb17-f50d-4a66-af65-c2edb74213f0" providerId="ADAL" clId="{7241535F-5DDC-4A35-8843-08B89ADAC583}"/>
    <pc:docChg chg="modSld">
      <pc:chgData name="MUHAMMAD HAMMAM REZA" userId="6f12bb17-f50d-4a66-af65-c2edb74213f0" providerId="ADAL" clId="{7241535F-5DDC-4A35-8843-08B89ADAC583}" dt="2024-12-06T06:33:46.588" v="8" actId="20577"/>
      <pc:docMkLst>
        <pc:docMk/>
      </pc:docMkLst>
      <pc:sldChg chg="modSp mod">
        <pc:chgData name="MUHAMMAD HAMMAM REZA" userId="6f12bb17-f50d-4a66-af65-c2edb74213f0" providerId="ADAL" clId="{7241535F-5DDC-4A35-8843-08B89ADAC583}" dt="2024-12-06T06:32:14.815" v="6" actId="20577"/>
        <pc:sldMkLst>
          <pc:docMk/>
          <pc:sldMk cId="0" sldId="259"/>
        </pc:sldMkLst>
        <pc:spChg chg="mod">
          <ac:chgData name="MUHAMMAD HAMMAM REZA" userId="6f12bb17-f50d-4a66-af65-c2edb74213f0" providerId="ADAL" clId="{7241535F-5DDC-4A35-8843-08B89ADAC583}" dt="2024-12-06T06:32:14.815" v="6" actId="20577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MUHAMMAD HAMMAM REZA" userId="6f12bb17-f50d-4a66-af65-c2edb74213f0" providerId="ADAL" clId="{7241535F-5DDC-4A35-8843-08B89ADAC583}" dt="2024-12-06T06:33:46.588" v="8" actId="20577"/>
        <pc:sldMkLst>
          <pc:docMk/>
          <pc:sldMk cId="3152364930" sldId="394"/>
        </pc:sldMkLst>
        <pc:spChg chg="mod">
          <ac:chgData name="MUHAMMAD HAMMAM REZA" userId="6f12bb17-f50d-4a66-af65-c2edb74213f0" providerId="ADAL" clId="{7241535F-5DDC-4A35-8843-08B89ADAC583}" dt="2024-12-06T06:33:46.588" v="8" actId="20577"/>
          <ac:spMkLst>
            <pc:docMk/>
            <pc:sldMk cId="3152364930" sldId="394"/>
            <ac:spMk id="4" creationId="{20F0B9CF-ED01-2E4D-607C-95453DF74D7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089784" y="2681096"/>
            <a:ext cx="8012430" cy="756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99555-6DFD-9A3B-FA9A-60F9C8BFE3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9869BB-2ACC-DD53-790D-0F9073A7B4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71922-D3FE-8AD7-A9F4-C696F9008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70784-B1A2-49FD-B9B0-C97F27329781}" type="datetimeFigureOut">
              <a:rPr lang="en-ID" smtClean="0"/>
              <a:t>06/12/2024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D1B86-9B28-AE6D-5A0D-04084BCA4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82D52-A8FA-5DB2-238D-4287A23D3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410A3-3A8C-4F70-9B8C-8AF03EEE701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45559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308228"/>
            <a:ext cx="10358120" cy="1300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2227529"/>
            <a:ext cx="10358120" cy="30968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svg"/><Relationship Id="rId7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jpeg"/><Relationship Id="rId5" Type="http://schemas.openxmlformats.org/officeDocument/2006/relationships/image" Target="../media/image2.sv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713C4-8D6D-CAD7-9C06-E4B8411DD4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45884"/>
            <a:ext cx="9144000" cy="2387600"/>
          </a:xfrm>
        </p:spPr>
        <p:txBody>
          <a:bodyPr>
            <a:noAutofit/>
          </a:bodyPr>
          <a:lstStyle/>
          <a:p>
            <a:r>
              <a:rPr lang="en-US" sz="4800" b="1" spc="-35" dirty="0"/>
              <a:t>LATIHAN SENDIRI</a:t>
            </a:r>
            <a:br>
              <a:rPr lang="en-US" sz="3600" b="1" dirty="0"/>
            </a:br>
            <a:br>
              <a:rPr lang="en-US" sz="3600" dirty="0"/>
            </a:br>
            <a:r>
              <a:rPr lang="en-US" sz="2400" dirty="0"/>
              <a:t>Ali Ashat</a:t>
            </a:r>
            <a:br>
              <a:rPr lang="en-US" sz="2400" dirty="0"/>
            </a:br>
            <a:r>
              <a:rPr lang="en-US" sz="2400" dirty="0"/>
              <a:t>Sabtu, 30 November 2024</a:t>
            </a:r>
            <a:endParaRPr lang="en-ID" sz="3600" dirty="0"/>
          </a:p>
        </p:txBody>
      </p:sp>
      <p:grpSp>
        <p:nvGrpSpPr>
          <p:cNvPr id="17" name="Group 2">
            <a:extLst>
              <a:ext uri="{FF2B5EF4-FFF2-40B4-BE49-F238E27FC236}">
                <a16:creationId xmlns:a16="http://schemas.microsoft.com/office/drawing/2014/main" id="{62686D8D-9EC3-B16A-C10D-D813573DD236}"/>
              </a:ext>
            </a:extLst>
          </p:cNvPr>
          <p:cNvGrpSpPr/>
          <p:nvPr/>
        </p:nvGrpSpPr>
        <p:grpSpPr>
          <a:xfrm>
            <a:off x="8657862" y="-11575"/>
            <a:ext cx="3699187" cy="3044142"/>
            <a:chOff x="0" y="0"/>
            <a:chExt cx="8166851" cy="8166851"/>
          </a:xfrm>
        </p:grpSpPr>
        <p:grpSp>
          <p:nvGrpSpPr>
            <p:cNvPr id="18" name="Group 3">
              <a:extLst>
                <a:ext uri="{FF2B5EF4-FFF2-40B4-BE49-F238E27FC236}">
                  <a16:creationId xmlns:a16="http://schemas.microsoft.com/office/drawing/2014/main" id="{45107525-04A6-BA35-97D8-212F66E65EC8}"/>
                </a:ext>
              </a:extLst>
            </p:cNvPr>
            <p:cNvGrpSpPr/>
            <p:nvPr/>
          </p:nvGrpSpPr>
          <p:grpSpPr>
            <a:xfrm>
              <a:off x="2335390" y="4387434"/>
              <a:ext cx="1381641" cy="1381641"/>
              <a:chOff x="0" y="0"/>
              <a:chExt cx="812800" cy="812800"/>
            </a:xfrm>
          </p:grpSpPr>
          <p:sp>
            <p:nvSpPr>
              <p:cNvPr id="22" name="Freeform 4">
                <a:extLst>
                  <a:ext uri="{FF2B5EF4-FFF2-40B4-BE49-F238E27FC236}">
                    <a16:creationId xmlns:a16="http://schemas.microsoft.com/office/drawing/2014/main" id="{BB468658-B1B1-104B-389D-0B318BD0F23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E448C"/>
              </a:solidFill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23" name="TextBox 5">
                <a:extLst>
                  <a:ext uri="{FF2B5EF4-FFF2-40B4-BE49-F238E27FC236}">
                    <a16:creationId xmlns:a16="http://schemas.microsoft.com/office/drawing/2014/main" id="{585D3D4B-E293-7FD9-805C-51C4DE9B6388}"/>
                  </a:ext>
                </a:extLst>
              </p:cNvPr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80907" tIns="80907" rIns="80907" bIns="80907" rtlCol="0" anchor="ctr"/>
              <a:lstStyle/>
              <a:p>
                <a:pPr algn="ctr">
                  <a:lnSpc>
                    <a:spcPts val="1254"/>
                  </a:lnSpc>
                </a:pPr>
                <a:endParaRPr/>
              </a:p>
            </p:txBody>
          </p:sp>
        </p:grp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84C6DAE9-0F29-D8EA-535D-415DF6E1C2ED}"/>
                </a:ext>
              </a:extLst>
            </p:cNvPr>
            <p:cNvSpPr/>
            <p:nvPr/>
          </p:nvSpPr>
          <p:spPr>
            <a:xfrm rot="-5400000">
              <a:off x="4083425" y="4083425"/>
              <a:ext cx="4083425" cy="4083425"/>
            </a:xfrm>
            <a:custGeom>
              <a:avLst/>
              <a:gdLst/>
              <a:ahLst/>
              <a:cxnLst/>
              <a:rect l="l" t="t" r="r" b="b"/>
              <a:pathLst>
                <a:path w="4083425" h="4083425">
                  <a:moveTo>
                    <a:pt x="0" y="0"/>
                  </a:moveTo>
                  <a:lnTo>
                    <a:pt x="4083426" y="0"/>
                  </a:lnTo>
                  <a:lnTo>
                    <a:pt x="4083426" y="4083426"/>
                  </a:lnTo>
                  <a:lnTo>
                    <a:pt x="0" y="4083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d-ID"/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64780F22-CB12-A2E3-6382-8D9000158C71}"/>
                </a:ext>
              </a:extLst>
            </p:cNvPr>
            <p:cNvSpPr/>
            <p:nvPr/>
          </p:nvSpPr>
          <p:spPr>
            <a:xfrm rot="-5400000">
              <a:off x="0" y="0"/>
              <a:ext cx="4083425" cy="4083425"/>
            </a:xfrm>
            <a:custGeom>
              <a:avLst/>
              <a:gdLst/>
              <a:ahLst/>
              <a:cxnLst/>
              <a:rect l="l" t="t" r="r" b="b"/>
              <a:pathLst>
                <a:path w="4083425" h="4083425">
                  <a:moveTo>
                    <a:pt x="0" y="0"/>
                  </a:moveTo>
                  <a:lnTo>
                    <a:pt x="4083425" y="0"/>
                  </a:lnTo>
                  <a:lnTo>
                    <a:pt x="4083425" y="4083425"/>
                  </a:lnTo>
                  <a:lnTo>
                    <a:pt x="0" y="4083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d-ID"/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C9A03968-518D-E471-3168-E2D826FA0F52}"/>
                </a:ext>
              </a:extLst>
            </p:cNvPr>
            <p:cNvSpPr/>
            <p:nvPr/>
          </p:nvSpPr>
          <p:spPr>
            <a:xfrm rot="-5400000">
              <a:off x="2834907" y="0"/>
              <a:ext cx="5117677" cy="5117677"/>
            </a:xfrm>
            <a:custGeom>
              <a:avLst/>
              <a:gdLst/>
              <a:ahLst/>
              <a:cxnLst/>
              <a:rect l="l" t="t" r="r" b="b"/>
              <a:pathLst>
                <a:path w="5117677" h="5117677">
                  <a:moveTo>
                    <a:pt x="0" y="0"/>
                  </a:moveTo>
                  <a:lnTo>
                    <a:pt x="5117677" y="0"/>
                  </a:lnTo>
                  <a:lnTo>
                    <a:pt x="5117677" y="5117677"/>
                  </a:lnTo>
                  <a:lnTo>
                    <a:pt x="0" y="51176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d-ID"/>
            </a:p>
          </p:txBody>
        </p:sp>
      </p:grpSp>
      <p:sp>
        <p:nvSpPr>
          <p:cNvPr id="24" name="Freeform 9">
            <a:extLst>
              <a:ext uri="{FF2B5EF4-FFF2-40B4-BE49-F238E27FC236}">
                <a16:creationId xmlns:a16="http://schemas.microsoft.com/office/drawing/2014/main" id="{DFEE18A4-0D78-BF1D-C75A-C5232A3091CA}"/>
              </a:ext>
            </a:extLst>
          </p:cNvPr>
          <p:cNvSpPr/>
          <p:nvPr/>
        </p:nvSpPr>
        <p:spPr>
          <a:xfrm>
            <a:off x="714119" y="607223"/>
            <a:ext cx="2689716" cy="669984"/>
          </a:xfrm>
          <a:custGeom>
            <a:avLst/>
            <a:gdLst/>
            <a:ahLst/>
            <a:cxnLst/>
            <a:rect l="l" t="t" r="r" b="b"/>
            <a:pathLst>
              <a:path w="4627868" h="1152760">
                <a:moveTo>
                  <a:pt x="0" y="0"/>
                </a:moveTo>
                <a:lnTo>
                  <a:pt x="4627868" y="0"/>
                </a:lnTo>
                <a:lnTo>
                  <a:pt x="4627868" y="1152760"/>
                </a:lnTo>
                <a:lnTo>
                  <a:pt x="0" y="11527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25" name="Freeform 10">
            <a:extLst>
              <a:ext uri="{FF2B5EF4-FFF2-40B4-BE49-F238E27FC236}">
                <a16:creationId xmlns:a16="http://schemas.microsoft.com/office/drawing/2014/main" id="{67959240-4EC3-FD2B-0731-E6C9D940E786}"/>
              </a:ext>
            </a:extLst>
          </p:cNvPr>
          <p:cNvSpPr/>
          <p:nvPr/>
        </p:nvSpPr>
        <p:spPr>
          <a:xfrm>
            <a:off x="3748220" y="483204"/>
            <a:ext cx="835828" cy="1146396"/>
          </a:xfrm>
          <a:custGeom>
            <a:avLst/>
            <a:gdLst/>
            <a:ahLst/>
            <a:cxnLst/>
            <a:rect l="l" t="t" r="r" b="b"/>
            <a:pathLst>
              <a:path w="1372269" h="1882164">
                <a:moveTo>
                  <a:pt x="0" y="0"/>
                </a:moveTo>
                <a:lnTo>
                  <a:pt x="1372269" y="0"/>
                </a:lnTo>
                <a:lnTo>
                  <a:pt x="1372269" y="1882164"/>
                </a:lnTo>
                <a:lnTo>
                  <a:pt x="0" y="18821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26" name="Freeform 11">
            <a:extLst>
              <a:ext uri="{FF2B5EF4-FFF2-40B4-BE49-F238E27FC236}">
                <a16:creationId xmlns:a16="http://schemas.microsoft.com/office/drawing/2014/main" id="{413D63B0-4A3F-30EA-C42E-DBC9B4C8C436}"/>
              </a:ext>
            </a:extLst>
          </p:cNvPr>
          <p:cNvSpPr/>
          <p:nvPr/>
        </p:nvSpPr>
        <p:spPr>
          <a:xfrm>
            <a:off x="4886865" y="715297"/>
            <a:ext cx="3128960" cy="561910"/>
          </a:xfrm>
          <a:custGeom>
            <a:avLst/>
            <a:gdLst/>
            <a:ahLst/>
            <a:cxnLst/>
            <a:rect l="l" t="t" r="r" b="b"/>
            <a:pathLst>
              <a:path w="3473326" h="623751">
                <a:moveTo>
                  <a:pt x="0" y="0"/>
                </a:moveTo>
                <a:lnTo>
                  <a:pt x="3473326" y="0"/>
                </a:lnTo>
                <a:lnTo>
                  <a:pt x="3473326" y="623752"/>
                </a:lnTo>
                <a:lnTo>
                  <a:pt x="0" y="6237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21372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7928" y="576247"/>
            <a:ext cx="802513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b="1" spc="-10" dirty="0" err="1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Thermodinamika</a:t>
            </a:r>
            <a:endParaRPr sz="3200" b="1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0348" y="1132015"/>
            <a:ext cx="7972425" cy="525977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spc="-20" dirty="0">
                <a:latin typeface="Calibri"/>
                <a:cs typeface="Calibri"/>
              </a:rPr>
              <a:t>Dengan menggunakan </a:t>
            </a:r>
            <a:r>
              <a:rPr lang="en-US" sz="2800" spc="-20" dirty="0" err="1">
                <a:latin typeface="Calibri"/>
                <a:cs typeface="Calibri"/>
              </a:rPr>
              <a:t>Aplikasi</a:t>
            </a:r>
            <a:r>
              <a:rPr lang="en-US" sz="2800" spc="-20" dirty="0">
                <a:cs typeface="Calibri"/>
              </a:rPr>
              <a:t> Macro Excel </a:t>
            </a:r>
            <a:r>
              <a:rPr lang="en-US" sz="2800" spc="-20" dirty="0" err="1">
                <a:cs typeface="Calibri"/>
              </a:rPr>
              <a:t>Thermodinamika</a:t>
            </a:r>
            <a:r>
              <a:rPr lang="en-US" sz="2800" spc="-20" dirty="0">
                <a:cs typeface="Calibri"/>
              </a:rPr>
              <a:t> Air (</a:t>
            </a:r>
            <a:r>
              <a:rPr lang="en-US" sz="2800" spc="-20" dirty="0" err="1">
                <a:cs typeface="Calibri"/>
              </a:rPr>
              <a:t>Steamprog</a:t>
            </a:r>
            <a:r>
              <a:rPr lang="en-US" sz="2800" spc="-20" dirty="0">
                <a:cs typeface="Calibri"/>
              </a:rPr>
              <a:t>), </a:t>
            </a:r>
            <a:r>
              <a:rPr lang="en-US" sz="2800" spc="-20" dirty="0" err="1">
                <a:cs typeface="Calibri"/>
              </a:rPr>
              <a:t>jawablah</a:t>
            </a:r>
            <a:r>
              <a:rPr lang="en-US" sz="2800" spc="-20" dirty="0">
                <a:cs typeface="Calibri"/>
              </a:rPr>
              <a:t> </a:t>
            </a:r>
            <a:r>
              <a:rPr lang="en-US" sz="2800" spc="-20" dirty="0" err="1">
                <a:cs typeface="Calibri"/>
              </a:rPr>
              <a:t>beberapa</a:t>
            </a:r>
            <a:r>
              <a:rPr lang="en-US" sz="2800" spc="-20" dirty="0">
                <a:cs typeface="Calibri"/>
              </a:rPr>
              <a:t> </a:t>
            </a:r>
            <a:r>
              <a:rPr lang="en-US" sz="2800" spc="-20" dirty="0" err="1">
                <a:cs typeface="Calibri"/>
              </a:rPr>
              <a:t>pertanyaan</a:t>
            </a:r>
            <a:r>
              <a:rPr lang="en-US" sz="2800" spc="-20" dirty="0">
                <a:cs typeface="Calibri"/>
              </a:rPr>
              <a:t> </a:t>
            </a:r>
            <a:r>
              <a:rPr lang="en-US" sz="2800" spc="-20" dirty="0" err="1">
                <a:cs typeface="Calibri"/>
              </a:rPr>
              <a:t>berikut</a:t>
            </a:r>
            <a:r>
              <a:rPr lang="en-US" sz="2800" spc="-20" dirty="0">
                <a:cs typeface="Calibri"/>
              </a:rPr>
              <a:t>: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US" sz="2800" spc="-20" dirty="0">
              <a:latin typeface="Calibri"/>
              <a:cs typeface="Calibri"/>
            </a:endParaRPr>
          </a:p>
          <a:p>
            <a:pPr marL="527050" indent="-514350">
              <a:lnSpc>
                <a:spcPct val="100000"/>
              </a:lnSpc>
              <a:spcBef>
                <a:spcPts val="95"/>
              </a:spcBef>
              <a:buAutoNum type="arabicPeriod"/>
            </a:pPr>
            <a:r>
              <a:rPr lang="en-US" sz="2800" spc="-20" dirty="0">
                <a:latin typeface="Calibri"/>
                <a:cs typeface="Calibri"/>
              </a:rPr>
              <a:t>Berapa tekanan </a:t>
            </a:r>
            <a:r>
              <a:rPr lang="en-US" sz="2800" spc="-20" dirty="0" err="1">
                <a:latin typeface="Calibri"/>
                <a:cs typeface="Calibri"/>
              </a:rPr>
              <a:t>saturasi</a:t>
            </a:r>
            <a:r>
              <a:rPr lang="en-US" sz="2800" spc="-20" dirty="0">
                <a:latin typeface="Calibri"/>
                <a:cs typeface="Calibri"/>
              </a:rPr>
              <a:t> air pada </a:t>
            </a:r>
            <a:r>
              <a:rPr lang="en-US" sz="2800" spc="-20" dirty="0" err="1">
                <a:latin typeface="Calibri"/>
                <a:cs typeface="Calibri"/>
              </a:rPr>
              <a:t>suhu</a:t>
            </a:r>
            <a:r>
              <a:rPr lang="en-US" sz="2800" spc="-20" dirty="0">
                <a:latin typeface="Calibri"/>
                <a:cs typeface="Calibri"/>
              </a:rPr>
              <a:t> 100, 150, 200, dan 250 deg-C. V</a:t>
            </a:r>
          </a:p>
          <a:p>
            <a:pPr marL="527050" indent="-514350">
              <a:lnSpc>
                <a:spcPct val="100000"/>
              </a:lnSpc>
              <a:spcBef>
                <a:spcPts val="95"/>
              </a:spcBef>
              <a:buAutoNum type="arabicPeriod"/>
            </a:pPr>
            <a:endParaRPr lang="en-US" sz="2800" spc="-20" dirty="0">
              <a:latin typeface="Calibri"/>
              <a:cs typeface="Calibri"/>
            </a:endParaRPr>
          </a:p>
          <a:p>
            <a:pPr marL="527050" indent="-514350">
              <a:lnSpc>
                <a:spcPct val="100000"/>
              </a:lnSpc>
              <a:spcBef>
                <a:spcPts val="95"/>
              </a:spcBef>
              <a:buAutoNum type="arabicPeriod"/>
            </a:pPr>
            <a:r>
              <a:rPr lang="en-US" sz="2800" spc="-20" dirty="0">
                <a:latin typeface="Calibri"/>
                <a:cs typeface="Calibri"/>
              </a:rPr>
              <a:t>Berapa </a:t>
            </a:r>
            <a:r>
              <a:rPr lang="en-US" sz="2800" spc="-20" dirty="0" err="1">
                <a:latin typeface="Calibri"/>
                <a:cs typeface="Calibri"/>
              </a:rPr>
              <a:t>temperatur</a:t>
            </a:r>
            <a:r>
              <a:rPr lang="en-US" sz="2800" spc="-20" dirty="0">
                <a:latin typeface="Calibri"/>
                <a:cs typeface="Calibri"/>
              </a:rPr>
              <a:t> </a:t>
            </a:r>
            <a:r>
              <a:rPr lang="en-US" sz="2800" spc="-20" dirty="0" err="1">
                <a:latin typeface="Calibri"/>
                <a:cs typeface="Calibri"/>
              </a:rPr>
              <a:t>saturasi</a:t>
            </a:r>
            <a:r>
              <a:rPr lang="en-US" sz="2800" spc="-20" dirty="0">
                <a:latin typeface="Calibri"/>
                <a:cs typeface="Calibri"/>
              </a:rPr>
              <a:t> air pada tekanan 1, 5, 10, dan 15 bar-abs. V</a:t>
            </a:r>
          </a:p>
          <a:p>
            <a:pPr marL="527050" indent="-514350">
              <a:lnSpc>
                <a:spcPct val="100000"/>
              </a:lnSpc>
              <a:spcBef>
                <a:spcPts val="95"/>
              </a:spcBef>
              <a:buAutoNum type="arabicPeriod"/>
            </a:pPr>
            <a:endParaRPr lang="en-US" sz="2800" spc="-20" dirty="0">
              <a:latin typeface="Calibri"/>
              <a:cs typeface="Calibri"/>
            </a:endParaRPr>
          </a:p>
          <a:p>
            <a:pPr marL="527050" indent="-514350">
              <a:lnSpc>
                <a:spcPct val="100000"/>
              </a:lnSpc>
              <a:spcBef>
                <a:spcPts val="95"/>
              </a:spcBef>
              <a:buAutoNum type="arabicPeriod"/>
            </a:pPr>
            <a:r>
              <a:rPr lang="en-US" sz="2800" spc="-20" dirty="0">
                <a:latin typeface="Calibri"/>
                <a:cs typeface="Calibri"/>
              </a:rPr>
              <a:t>Reservoir </a:t>
            </a:r>
            <a:r>
              <a:rPr lang="en-US" sz="2800" spc="-20" dirty="0" err="1">
                <a:latin typeface="Calibri"/>
                <a:cs typeface="Calibri"/>
              </a:rPr>
              <a:t>panas</a:t>
            </a:r>
            <a:r>
              <a:rPr lang="en-US" sz="2800" spc="-20" dirty="0">
                <a:latin typeface="Calibri"/>
                <a:cs typeface="Calibri"/>
              </a:rPr>
              <a:t> </a:t>
            </a:r>
            <a:r>
              <a:rPr lang="en-US" sz="2800" spc="-20" dirty="0" err="1">
                <a:latin typeface="Calibri"/>
                <a:cs typeface="Calibri"/>
              </a:rPr>
              <a:t>bumi</a:t>
            </a:r>
            <a:r>
              <a:rPr lang="en-US" sz="2800" spc="-20" dirty="0">
                <a:latin typeface="Calibri"/>
                <a:cs typeface="Calibri"/>
              </a:rPr>
              <a:t> memiliki </a:t>
            </a:r>
            <a:r>
              <a:rPr lang="en-US" sz="2800" spc="-20" dirty="0" err="1">
                <a:latin typeface="Calibri"/>
                <a:cs typeface="Calibri"/>
              </a:rPr>
              <a:t>suhu</a:t>
            </a:r>
            <a:r>
              <a:rPr lang="en-US" sz="2800" spc="-20" dirty="0">
                <a:latin typeface="Calibri"/>
                <a:cs typeface="Calibri"/>
              </a:rPr>
              <a:t> 270 deg-C dan tekanan 70 bar-a. Apakah </a:t>
            </a:r>
            <a:r>
              <a:rPr lang="en-US" sz="2800" spc="-20" dirty="0" err="1">
                <a:latin typeface="Calibri"/>
                <a:cs typeface="Calibri"/>
              </a:rPr>
              <a:t>fasa</a:t>
            </a:r>
            <a:r>
              <a:rPr lang="en-US" sz="2800" spc="-20" dirty="0">
                <a:latin typeface="Calibri"/>
                <a:cs typeface="Calibri"/>
              </a:rPr>
              <a:t> reservoir ini? V</a:t>
            </a:r>
            <a:endParaRPr lang="en-US" sz="2800" dirty="0">
              <a:latin typeface="Calibri"/>
              <a:cs typeface="Calibri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AB8FBD3B-A4E8-9AB8-A3A3-65F158BBCCD2}"/>
              </a:ext>
            </a:extLst>
          </p:cNvPr>
          <p:cNvGrpSpPr/>
          <p:nvPr/>
        </p:nvGrpSpPr>
        <p:grpSpPr>
          <a:xfrm>
            <a:off x="8565267" y="-230559"/>
            <a:ext cx="4041826" cy="1056432"/>
            <a:chOff x="0" y="0"/>
            <a:chExt cx="9621976" cy="251494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5416040-3AAF-DB84-EBFA-5394AC0CE5D6}"/>
                </a:ext>
              </a:extLst>
            </p:cNvPr>
            <p:cNvGrpSpPr/>
            <p:nvPr/>
          </p:nvGrpSpPr>
          <p:grpSpPr>
            <a:xfrm>
              <a:off x="2159701" y="0"/>
              <a:ext cx="7462275" cy="2514942"/>
              <a:chOff x="0" y="0"/>
              <a:chExt cx="1198684" cy="403981"/>
            </a:xfrm>
          </p:grpSpPr>
          <p:sp>
            <p:nvSpPr>
              <p:cNvPr id="10" name="Freeform 8">
                <a:extLst>
                  <a:ext uri="{FF2B5EF4-FFF2-40B4-BE49-F238E27FC236}">
                    <a16:creationId xmlns:a16="http://schemas.microsoft.com/office/drawing/2014/main" id="{8E4DB681-A6FB-D54C-A984-F8D71E490182}"/>
                  </a:ext>
                </a:extLst>
              </p:cNvPr>
              <p:cNvSpPr/>
              <p:nvPr/>
            </p:nvSpPr>
            <p:spPr>
              <a:xfrm>
                <a:off x="0" y="0"/>
                <a:ext cx="1198684" cy="403981"/>
              </a:xfrm>
              <a:custGeom>
                <a:avLst/>
                <a:gdLst/>
                <a:ahLst/>
                <a:cxnLst/>
                <a:rect l="l" t="t" r="r" b="b"/>
                <a:pathLst>
                  <a:path w="1198684" h="403981">
                    <a:moveTo>
                      <a:pt x="0" y="0"/>
                    </a:moveTo>
                    <a:lnTo>
                      <a:pt x="1198684" y="0"/>
                    </a:lnTo>
                    <a:lnTo>
                      <a:pt x="1198684" y="403981"/>
                    </a:lnTo>
                    <a:lnTo>
                      <a:pt x="0" y="403981"/>
                    </a:lnTo>
                    <a:close/>
                  </a:path>
                </a:pathLst>
              </a:custGeom>
              <a:solidFill>
                <a:srgbClr val="6AD8BA"/>
              </a:solidFill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1" name="TextBox 9">
                <a:extLst>
                  <a:ext uri="{FF2B5EF4-FFF2-40B4-BE49-F238E27FC236}">
                    <a16:creationId xmlns:a16="http://schemas.microsoft.com/office/drawing/2014/main" id="{9F3AD46B-1EF4-B478-C343-6841A1A0425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198684" cy="442081"/>
              </a:xfrm>
              <a:prstGeom prst="rect">
                <a:avLst/>
              </a:prstGeom>
            </p:spPr>
            <p:txBody>
              <a:bodyPr lIns="62469" tIns="62469" rIns="62469" bIns="62469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57DA188B-D8A0-F5BF-A7AC-6CDF7027A729}"/>
                </a:ext>
              </a:extLst>
            </p:cNvPr>
            <p:cNvSpPr/>
            <p:nvPr/>
          </p:nvSpPr>
          <p:spPr>
            <a:xfrm>
              <a:off x="0" y="55310"/>
              <a:ext cx="2459631" cy="2459631"/>
            </a:xfrm>
            <a:custGeom>
              <a:avLst/>
              <a:gdLst/>
              <a:ahLst/>
              <a:cxnLst/>
              <a:rect l="l" t="t" r="r" b="b"/>
              <a:pathLst>
                <a:path w="2459631" h="2459631">
                  <a:moveTo>
                    <a:pt x="0" y="0"/>
                  </a:moveTo>
                  <a:lnTo>
                    <a:pt x="2459631" y="0"/>
                  </a:lnTo>
                  <a:lnTo>
                    <a:pt x="2459631" y="2459632"/>
                  </a:lnTo>
                  <a:lnTo>
                    <a:pt x="0" y="2459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d-ID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DA2919DF-9735-C582-2090-9CD23FDC6A1C}"/>
                </a:ext>
              </a:extLst>
            </p:cNvPr>
            <p:cNvSpPr/>
            <p:nvPr/>
          </p:nvSpPr>
          <p:spPr>
            <a:xfrm>
              <a:off x="1229816" y="640193"/>
              <a:ext cx="6254139" cy="1557849"/>
            </a:xfrm>
            <a:custGeom>
              <a:avLst/>
              <a:gdLst/>
              <a:ahLst/>
              <a:cxnLst/>
              <a:rect l="l" t="t" r="r" b="b"/>
              <a:pathLst>
                <a:path w="6254139" h="1557849">
                  <a:moveTo>
                    <a:pt x="0" y="0"/>
                  </a:moveTo>
                  <a:lnTo>
                    <a:pt x="6254139" y="0"/>
                  </a:lnTo>
                  <a:lnTo>
                    <a:pt x="6254139" y="1557849"/>
                  </a:lnTo>
                  <a:lnTo>
                    <a:pt x="0" y="15578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id-ID"/>
            </a:p>
          </p:txBody>
        </p:sp>
      </p:grpSp>
      <p:sp>
        <p:nvSpPr>
          <p:cNvPr id="12" name="Freeform 2">
            <a:extLst>
              <a:ext uri="{FF2B5EF4-FFF2-40B4-BE49-F238E27FC236}">
                <a16:creationId xmlns:a16="http://schemas.microsoft.com/office/drawing/2014/main" id="{8DCD130F-C9BD-AB5B-9A31-D444CCC183CE}"/>
              </a:ext>
            </a:extLst>
          </p:cNvPr>
          <p:cNvSpPr/>
          <p:nvPr/>
        </p:nvSpPr>
        <p:spPr>
          <a:xfrm>
            <a:off x="11005844" y="5718403"/>
            <a:ext cx="1189700" cy="703592"/>
          </a:xfrm>
          <a:custGeom>
            <a:avLst/>
            <a:gdLst/>
            <a:ahLst/>
            <a:cxnLst/>
            <a:rect l="l" t="t" r="r" b="b"/>
            <a:pathLst>
              <a:path w="1844724" h="1844724">
                <a:moveTo>
                  <a:pt x="0" y="0"/>
                </a:moveTo>
                <a:lnTo>
                  <a:pt x="1844723" y="0"/>
                </a:lnTo>
                <a:lnTo>
                  <a:pt x="1844723" y="1844724"/>
                </a:lnTo>
                <a:lnTo>
                  <a:pt x="0" y="1844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grpSp>
        <p:nvGrpSpPr>
          <p:cNvPr id="13" name="Group 3">
            <a:extLst>
              <a:ext uri="{FF2B5EF4-FFF2-40B4-BE49-F238E27FC236}">
                <a16:creationId xmlns:a16="http://schemas.microsoft.com/office/drawing/2014/main" id="{F5586366-9A44-850F-39CC-AF2D6D5951AA}"/>
              </a:ext>
            </a:extLst>
          </p:cNvPr>
          <p:cNvGrpSpPr/>
          <p:nvPr/>
        </p:nvGrpSpPr>
        <p:grpSpPr>
          <a:xfrm>
            <a:off x="-228600" y="6401897"/>
            <a:ext cx="12649199" cy="702970"/>
            <a:chOff x="0" y="0"/>
            <a:chExt cx="4911100" cy="338538"/>
          </a:xfrm>
        </p:grpSpPr>
        <p:sp>
          <p:nvSpPr>
            <p:cNvPr id="14" name="Freeform 4">
              <a:extLst>
                <a:ext uri="{FF2B5EF4-FFF2-40B4-BE49-F238E27FC236}">
                  <a16:creationId xmlns:a16="http://schemas.microsoft.com/office/drawing/2014/main" id="{B5408E1B-15CE-40F9-A77E-0CC54DDBA417}"/>
                </a:ext>
              </a:extLst>
            </p:cNvPr>
            <p:cNvSpPr/>
            <p:nvPr/>
          </p:nvSpPr>
          <p:spPr>
            <a:xfrm>
              <a:off x="0" y="0"/>
              <a:ext cx="4911100" cy="338538"/>
            </a:xfrm>
            <a:custGeom>
              <a:avLst/>
              <a:gdLst/>
              <a:ahLst/>
              <a:cxnLst/>
              <a:rect l="l" t="t" r="r" b="b"/>
              <a:pathLst>
                <a:path w="4911100" h="338538">
                  <a:moveTo>
                    <a:pt x="0" y="0"/>
                  </a:moveTo>
                  <a:lnTo>
                    <a:pt x="4911100" y="0"/>
                  </a:lnTo>
                  <a:lnTo>
                    <a:pt x="4911100" y="338538"/>
                  </a:lnTo>
                  <a:lnTo>
                    <a:pt x="0" y="338538"/>
                  </a:lnTo>
                  <a:close/>
                </a:path>
              </a:pathLst>
            </a:custGeom>
            <a:solidFill>
              <a:srgbClr val="0E448C"/>
            </a:solidFill>
          </p:spPr>
          <p:txBody>
            <a:bodyPr/>
            <a:lstStyle/>
            <a:p>
              <a:endParaRPr lang="id-ID"/>
            </a:p>
          </p:txBody>
        </p:sp>
        <p:sp>
          <p:nvSpPr>
            <p:cNvPr id="15" name="TextBox 5">
              <a:extLst>
                <a:ext uri="{FF2B5EF4-FFF2-40B4-BE49-F238E27FC236}">
                  <a16:creationId xmlns:a16="http://schemas.microsoft.com/office/drawing/2014/main" id="{AAF06243-E0AA-C1B4-60BB-88BFD5A0CA0D}"/>
                </a:ext>
              </a:extLst>
            </p:cNvPr>
            <p:cNvSpPr txBox="1"/>
            <p:nvPr/>
          </p:nvSpPr>
          <p:spPr>
            <a:xfrm>
              <a:off x="0" y="-57150"/>
              <a:ext cx="4911100" cy="395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4">
            <a:extLst>
              <a:ext uri="{FF2B5EF4-FFF2-40B4-BE49-F238E27FC236}">
                <a16:creationId xmlns:a16="http://schemas.microsoft.com/office/drawing/2014/main" id="{BA519C39-69F6-63B9-92F3-6BDF9224BBA7}"/>
              </a:ext>
            </a:extLst>
          </p:cNvPr>
          <p:cNvSpPr txBox="1"/>
          <p:nvPr/>
        </p:nvSpPr>
        <p:spPr>
          <a:xfrm>
            <a:off x="11457932" y="5825101"/>
            <a:ext cx="502120" cy="5622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19"/>
              </a:lnSpc>
            </a:pPr>
            <a:r>
              <a:rPr lang="en-US" sz="2800" dirty="0">
                <a:solidFill>
                  <a:srgbClr val="41478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BD5F5-D40D-0C8C-9A79-3674ADB2D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D093A67-82B0-DFD2-0E8D-125519D069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7928" y="576247"/>
            <a:ext cx="802513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b="1" spc="-10" dirty="0" err="1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Thermodinamika</a:t>
            </a:r>
            <a:endParaRPr sz="3200" b="1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0F0B9CF-ED01-2E4D-607C-95453DF74D74}"/>
              </a:ext>
            </a:extLst>
          </p:cNvPr>
          <p:cNvSpPr txBox="1"/>
          <p:nvPr/>
        </p:nvSpPr>
        <p:spPr>
          <a:xfrm>
            <a:off x="624218" y="1517382"/>
            <a:ext cx="7972425" cy="482888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spc="-20" dirty="0">
                <a:latin typeface="Calibri"/>
                <a:cs typeface="Calibri"/>
              </a:rPr>
              <a:t>4. Reservoir </a:t>
            </a:r>
            <a:r>
              <a:rPr lang="en-US" sz="2800" spc="-20" dirty="0" err="1">
                <a:latin typeface="Calibri"/>
                <a:cs typeface="Calibri"/>
              </a:rPr>
              <a:t>panas</a:t>
            </a:r>
            <a:r>
              <a:rPr lang="en-US" sz="2800" spc="-20" dirty="0">
                <a:latin typeface="Calibri"/>
                <a:cs typeface="Calibri"/>
              </a:rPr>
              <a:t> </a:t>
            </a:r>
            <a:r>
              <a:rPr lang="en-US" sz="2800" spc="-20" dirty="0" err="1">
                <a:latin typeface="Calibri"/>
                <a:cs typeface="Calibri"/>
              </a:rPr>
              <a:t>bumi</a:t>
            </a:r>
            <a:r>
              <a:rPr lang="en-US" sz="2800" spc="-20" dirty="0">
                <a:latin typeface="Calibri"/>
                <a:cs typeface="Calibri"/>
              </a:rPr>
              <a:t> memiliki </a:t>
            </a:r>
            <a:r>
              <a:rPr lang="en-US" sz="2800" spc="-20" dirty="0" err="1">
                <a:latin typeface="Calibri"/>
                <a:cs typeface="Calibri"/>
              </a:rPr>
              <a:t>suhu</a:t>
            </a:r>
            <a:r>
              <a:rPr lang="en-US" sz="2800" spc="-20" dirty="0">
                <a:latin typeface="Calibri"/>
                <a:cs typeface="Calibri"/>
              </a:rPr>
              <a:t> 240 deg-C dan tekanan 33.4 bar-a. Apakah </a:t>
            </a:r>
            <a:r>
              <a:rPr lang="en-US" sz="2800" spc="-20" dirty="0" err="1">
                <a:latin typeface="Calibri"/>
                <a:cs typeface="Calibri"/>
              </a:rPr>
              <a:t>fasa</a:t>
            </a:r>
            <a:r>
              <a:rPr lang="en-US" sz="2800" spc="-20" dirty="0">
                <a:latin typeface="Calibri"/>
                <a:cs typeface="Calibri"/>
              </a:rPr>
              <a:t> reservoir ini? V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US" sz="2800" spc="-2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spc="-20" dirty="0">
                <a:latin typeface="Calibri"/>
                <a:cs typeface="Calibri"/>
              </a:rPr>
              <a:t>5. Berapa </a:t>
            </a:r>
            <a:r>
              <a:rPr lang="en-US" sz="2800" spc="-20" dirty="0" err="1">
                <a:latin typeface="Calibri"/>
                <a:cs typeface="Calibri"/>
              </a:rPr>
              <a:t>entalpi</a:t>
            </a:r>
            <a:r>
              <a:rPr lang="en-US" sz="2800" spc="-20" dirty="0">
                <a:latin typeface="Calibri"/>
                <a:cs typeface="Calibri"/>
              </a:rPr>
              <a:t> </a:t>
            </a:r>
            <a:r>
              <a:rPr lang="en-US" sz="2800" spc="-20" dirty="0" err="1">
                <a:latin typeface="Calibri"/>
                <a:cs typeface="Calibri"/>
              </a:rPr>
              <a:t>saturasi</a:t>
            </a:r>
            <a:r>
              <a:rPr lang="en-US" sz="2800" spc="-20" dirty="0">
                <a:latin typeface="Calibri"/>
                <a:cs typeface="Calibri"/>
              </a:rPr>
              <a:t> air dan uap pada </a:t>
            </a:r>
            <a:r>
              <a:rPr lang="en-US" sz="2800" spc="-20" dirty="0" err="1">
                <a:latin typeface="Calibri"/>
                <a:cs typeface="Calibri"/>
              </a:rPr>
              <a:t>suhu</a:t>
            </a:r>
            <a:r>
              <a:rPr lang="en-US" sz="2800" spc="-20" dirty="0">
                <a:latin typeface="Calibri"/>
                <a:cs typeface="Calibri"/>
              </a:rPr>
              <a:t> 100, 150, 200, dan 250 </a:t>
            </a:r>
            <a:r>
              <a:rPr lang="en-US" sz="2800" spc="-20">
                <a:latin typeface="Calibri"/>
                <a:cs typeface="Calibri"/>
              </a:rPr>
              <a:t>deg-C. </a:t>
            </a:r>
            <a:endParaRPr lang="en-US" sz="2800" spc="-2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US" sz="2800" spc="-20" dirty="0">
              <a:latin typeface="Calibri"/>
              <a:cs typeface="Calibri"/>
            </a:endParaRPr>
          </a:p>
          <a:p>
            <a:pPr marL="12700">
              <a:spcBef>
                <a:spcPts val="95"/>
              </a:spcBef>
            </a:pPr>
            <a:r>
              <a:rPr lang="en-US" sz="2800" spc="-20" dirty="0">
                <a:latin typeface="Calibri"/>
                <a:cs typeface="Calibri"/>
              </a:rPr>
              <a:t>6. Berapa </a:t>
            </a:r>
            <a:r>
              <a:rPr lang="en-US" sz="2800" spc="-20" dirty="0" err="1">
                <a:latin typeface="Calibri"/>
                <a:cs typeface="Calibri"/>
              </a:rPr>
              <a:t>entalpi</a:t>
            </a:r>
            <a:r>
              <a:rPr lang="en-US" sz="2800" spc="-20" dirty="0">
                <a:latin typeface="Calibri"/>
                <a:cs typeface="Calibri"/>
              </a:rPr>
              <a:t> pada </a:t>
            </a:r>
            <a:r>
              <a:rPr lang="en-US" sz="2800" spc="-20" dirty="0" err="1">
                <a:latin typeface="Calibri"/>
                <a:cs typeface="Calibri"/>
              </a:rPr>
              <a:t>suhu</a:t>
            </a:r>
            <a:r>
              <a:rPr lang="en-US" sz="2800" spc="-20" dirty="0">
                <a:latin typeface="Calibri"/>
                <a:cs typeface="Calibri"/>
              </a:rPr>
              <a:t> 250 deg-C dan tekanan 60 bar-a.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US" sz="2800" spc="-20" dirty="0">
              <a:latin typeface="Calibri"/>
              <a:cs typeface="Calibri"/>
            </a:endParaRPr>
          </a:p>
          <a:p>
            <a:pPr marL="12700">
              <a:spcBef>
                <a:spcPts val="95"/>
              </a:spcBef>
            </a:pPr>
            <a:r>
              <a:rPr lang="en-US" sz="2800" spc="-20" dirty="0">
                <a:latin typeface="Calibri"/>
                <a:cs typeface="Calibri"/>
              </a:rPr>
              <a:t>7. Berapa </a:t>
            </a:r>
            <a:r>
              <a:rPr lang="en-US" sz="2800" spc="-20" dirty="0" err="1">
                <a:latin typeface="Calibri"/>
                <a:cs typeface="Calibri"/>
              </a:rPr>
              <a:t>entalpi</a:t>
            </a:r>
            <a:r>
              <a:rPr lang="en-US" sz="2800" spc="-20" dirty="0">
                <a:latin typeface="Calibri"/>
                <a:cs typeface="Calibri"/>
              </a:rPr>
              <a:t> pada </a:t>
            </a:r>
            <a:r>
              <a:rPr lang="en-US" sz="2800" spc="-20" dirty="0" err="1">
                <a:latin typeface="Calibri"/>
                <a:cs typeface="Calibri"/>
              </a:rPr>
              <a:t>suhu</a:t>
            </a:r>
            <a:r>
              <a:rPr lang="en-US" sz="2800" spc="-20" dirty="0">
                <a:latin typeface="Calibri"/>
                <a:cs typeface="Calibri"/>
              </a:rPr>
              <a:t> 300 deg-C dan tekanan 60 bar-a.</a:t>
            </a:r>
            <a:endParaRPr lang="en-US" sz="2800" dirty="0">
              <a:latin typeface="Calibri"/>
              <a:cs typeface="Calibri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AA82AB4B-688E-9EB5-8F99-ADDD6BA8DF77}"/>
              </a:ext>
            </a:extLst>
          </p:cNvPr>
          <p:cNvGrpSpPr/>
          <p:nvPr/>
        </p:nvGrpSpPr>
        <p:grpSpPr>
          <a:xfrm>
            <a:off x="8565267" y="-230559"/>
            <a:ext cx="4041826" cy="1056432"/>
            <a:chOff x="0" y="0"/>
            <a:chExt cx="9621976" cy="251494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8029E09-8CA5-A22D-6DD7-2F1483067E88}"/>
                </a:ext>
              </a:extLst>
            </p:cNvPr>
            <p:cNvGrpSpPr/>
            <p:nvPr/>
          </p:nvGrpSpPr>
          <p:grpSpPr>
            <a:xfrm>
              <a:off x="2159701" y="0"/>
              <a:ext cx="7462275" cy="2514942"/>
              <a:chOff x="0" y="0"/>
              <a:chExt cx="1198684" cy="403981"/>
            </a:xfrm>
          </p:grpSpPr>
          <p:sp>
            <p:nvSpPr>
              <p:cNvPr id="10" name="Freeform 8">
                <a:extLst>
                  <a:ext uri="{FF2B5EF4-FFF2-40B4-BE49-F238E27FC236}">
                    <a16:creationId xmlns:a16="http://schemas.microsoft.com/office/drawing/2014/main" id="{72289109-34C0-37FD-EC70-70A58E14B89E}"/>
                  </a:ext>
                </a:extLst>
              </p:cNvPr>
              <p:cNvSpPr/>
              <p:nvPr/>
            </p:nvSpPr>
            <p:spPr>
              <a:xfrm>
                <a:off x="0" y="0"/>
                <a:ext cx="1198684" cy="403981"/>
              </a:xfrm>
              <a:custGeom>
                <a:avLst/>
                <a:gdLst/>
                <a:ahLst/>
                <a:cxnLst/>
                <a:rect l="l" t="t" r="r" b="b"/>
                <a:pathLst>
                  <a:path w="1198684" h="403981">
                    <a:moveTo>
                      <a:pt x="0" y="0"/>
                    </a:moveTo>
                    <a:lnTo>
                      <a:pt x="1198684" y="0"/>
                    </a:lnTo>
                    <a:lnTo>
                      <a:pt x="1198684" y="403981"/>
                    </a:lnTo>
                    <a:lnTo>
                      <a:pt x="0" y="403981"/>
                    </a:lnTo>
                    <a:close/>
                  </a:path>
                </a:pathLst>
              </a:custGeom>
              <a:solidFill>
                <a:srgbClr val="6AD8BA"/>
              </a:solidFill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1" name="TextBox 9">
                <a:extLst>
                  <a:ext uri="{FF2B5EF4-FFF2-40B4-BE49-F238E27FC236}">
                    <a16:creationId xmlns:a16="http://schemas.microsoft.com/office/drawing/2014/main" id="{358BFC04-27B0-7858-3217-F6038FB97F2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198684" cy="442081"/>
              </a:xfrm>
              <a:prstGeom prst="rect">
                <a:avLst/>
              </a:prstGeom>
            </p:spPr>
            <p:txBody>
              <a:bodyPr lIns="62469" tIns="62469" rIns="62469" bIns="62469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FD7A88DF-B222-0B89-E586-B9DCD52A3961}"/>
                </a:ext>
              </a:extLst>
            </p:cNvPr>
            <p:cNvSpPr/>
            <p:nvPr/>
          </p:nvSpPr>
          <p:spPr>
            <a:xfrm>
              <a:off x="0" y="55310"/>
              <a:ext cx="2459631" cy="2459631"/>
            </a:xfrm>
            <a:custGeom>
              <a:avLst/>
              <a:gdLst/>
              <a:ahLst/>
              <a:cxnLst/>
              <a:rect l="l" t="t" r="r" b="b"/>
              <a:pathLst>
                <a:path w="2459631" h="2459631">
                  <a:moveTo>
                    <a:pt x="0" y="0"/>
                  </a:moveTo>
                  <a:lnTo>
                    <a:pt x="2459631" y="0"/>
                  </a:lnTo>
                  <a:lnTo>
                    <a:pt x="2459631" y="2459632"/>
                  </a:lnTo>
                  <a:lnTo>
                    <a:pt x="0" y="2459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d-ID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4A4AEE63-1DE0-BD03-2807-93A803EF5ECE}"/>
                </a:ext>
              </a:extLst>
            </p:cNvPr>
            <p:cNvSpPr/>
            <p:nvPr/>
          </p:nvSpPr>
          <p:spPr>
            <a:xfrm>
              <a:off x="1229816" y="640193"/>
              <a:ext cx="6254139" cy="1557849"/>
            </a:xfrm>
            <a:custGeom>
              <a:avLst/>
              <a:gdLst/>
              <a:ahLst/>
              <a:cxnLst/>
              <a:rect l="l" t="t" r="r" b="b"/>
              <a:pathLst>
                <a:path w="6254139" h="1557849">
                  <a:moveTo>
                    <a:pt x="0" y="0"/>
                  </a:moveTo>
                  <a:lnTo>
                    <a:pt x="6254139" y="0"/>
                  </a:lnTo>
                  <a:lnTo>
                    <a:pt x="6254139" y="1557849"/>
                  </a:lnTo>
                  <a:lnTo>
                    <a:pt x="0" y="15578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id-ID"/>
            </a:p>
          </p:txBody>
        </p:sp>
      </p:grpSp>
      <p:sp>
        <p:nvSpPr>
          <p:cNvPr id="12" name="Freeform 2">
            <a:extLst>
              <a:ext uri="{FF2B5EF4-FFF2-40B4-BE49-F238E27FC236}">
                <a16:creationId xmlns:a16="http://schemas.microsoft.com/office/drawing/2014/main" id="{503F9A01-92C3-6C23-4DBB-AA2761A0C8BB}"/>
              </a:ext>
            </a:extLst>
          </p:cNvPr>
          <p:cNvSpPr/>
          <p:nvPr/>
        </p:nvSpPr>
        <p:spPr>
          <a:xfrm>
            <a:off x="11005844" y="5718403"/>
            <a:ext cx="1189700" cy="703592"/>
          </a:xfrm>
          <a:custGeom>
            <a:avLst/>
            <a:gdLst/>
            <a:ahLst/>
            <a:cxnLst/>
            <a:rect l="l" t="t" r="r" b="b"/>
            <a:pathLst>
              <a:path w="1844724" h="1844724">
                <a:moveTo>
                  <a:pt x="0" y="0"/>
                </a:moveTo>
                <a:lnTo>
                  <a:pt x="1844723" y="0"/>
                </a:lnTo>
                <a:lnTo>
                  <a:pt x="1844723" y="1844724"/>
                </a:lnTo>
                <a:lnTo>
                  <a:pt x="0" y="1844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grpSp>
        <p:nvGrpSpPr>
          <p:cNvPr id="13" name="Group 3">
            <a:extLst>
              <a:ext uri="{FF2B5EF4-FFF2-40B4-BE49-F238E27FC236}">
                <a16:creationId xmlns:a16="http://schemas.microsoft.com/office/drawing/2014/main" id="{3FD81855-C8AB-4A65-5E70-F5EAF4391DD4}"/>
              </a:ext>
            </a:extLst>
          </p:cNvPr>
          <p:cNvGrpSpPr/>
          <p:nvPr/>
        </p:nvGrpSpPr>
        <p:grpSpPr>
          <a:xfrm>
            <a:off x="-228600" y="6401897"/>
            <a:ext cx="12649199" cy="702970"/>
            <a:chOff x="0" y="0"/>
            <a:chExt cx="4911100" cy="338538"/>
          </a:xfrm>
        </p:grpSpPr>
        <p:sp>
          <p:nvSpPr>
            <p:cNvPr id="14" name="Freeform 4">
              <a:extLst>
                <a:ext uri="{FF2B5EF4-FFF2-40B4-BE49-F238E27FC236}">
                  <a16:creationId xmlns:a16="http://schemas.microsoft.com/office/drawing/2014/main" id="{E8870439-79BE-62D4-3B7A-C870339129E2}"/>
                </a:ext>
              </a:extLst>
            </p:cNvPr>
            <p:cNvSpPr/>
            <p:nvPr/>
          </p:nvSpPr>
          <p:spPr>
            <a:xfrm>
              <a:off x="0" y="0"/>
              <a:ext cx="4911100" cy="338538"/>
            </a:xfrm>
            <a:custGeom>
              <a:avLst/>
              <a:gdLst/>
              <a:ahLst/>
              <a:cxnLst/>
              <a:rect l="l" t="t" r="r" b="b"/>
              <a:pathLst>
                <a:path w="4911100" h="338538">
                  <a:moveTo>
                    <a:pt x="0" y="0"/>
                  </a:moveTo>
                  <a:lnTo>
                    <a:pt x="4911100" y="0"/>
                  </a:lnTo>
                  <a:lnTo>
                    <a:pt x="4911100" y="338538"/>
                  </a:lnTo>
                  <a:lnTo>
                    <a:pt x="0" y="338538"/>
                  </a:lnTo>
                  <a:close/>
                </a:path>
              </a:pathLst>
            </a:custGeom>
            <a:solidFill>
              <a:srgbClr val="0E448C"/>
            </a:solidFill>
          </p:spPr>
          <p:txBody>
            <a:bodyPr/>
            <a:lstStyle/>
            <a:p>
              <a:endParaRPr lang="id-ID"/>
            </a:p>
          </p:txBody>
        </p:sp>
        <p:sp>
          <p:nvSpPr>
            <p:cNvPr id="15" name="TextBox 5">
              <a:extLst>
                <a:ext uri="{FF2B5EF4-FFF2-40B4-BE49-F238E27FC236}">
                  <a16:creationId xmlns:a16="http://schemas.microsoft.com/office/drawing/2014/main" id="{5EC57EB4-4661-08BA-3449-FDD8484722C3}"/>
                </a:ext>
              </a:extLst>
            </p:cNvPr>
            <p:cNvSpPr txBox="1"/>
            <p:nvPr/>
          </p:nvSpPr>
          <p:spPr>
            <a:xfrm>
              <a:off x="0" y="-57150"/>
              <a:ext cx="4911100" cy="395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4">
            <a:extLst>
              <a:ext uri="{FF2B5EF4-FFF2-40B4-BE49-F238E27FC236}">
                <a16:creationId xmlns:a16="http://schemas.microsoft.com/office/drawing/2014/main" id="{420B44AE-E9F7-0B73-94B6-FCDA06F92220}"/>
              </a:ext>
            </a:extLst>
          </p:cNvPr>
          <p:cNvSpPr txBox="1"/>
          <p:nvPr/>
        </p:nvSpPr>
        <p:spPr>
          <a:xfrm>
            <a:off x="11457932" y="5825101"/>
            <a:ext cx="502120" cy="5622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19"/>
              </a:lnSpc>
            </a:pPr>
            <a:r>
              <a:rPr lang="en-US" sz="2800" dirty="0">
                <a:solidFill>
                  <a:srgbClr val="41478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52364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81E27-AD2D-A8C1-4120-A21CEF0D9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C8F3611-E071-AF1F-9322-B199EEE89B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7928" y="576247"/>
            <a:ext cx="802513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b="1" spc="-10" dirty="0" err="1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Thermodinamika</a:t>
            </a:r>
            <a:endParaRPr sz="3200" b="1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5789FB4-B40D-4099-E5A6-0D550F374103}"/>
              </a:ext>
            </a:extLst>
          </p:cNvPr>
          <p:cNvSpPr txBox="1"/>
          <p:nvPr/>
        </p:nvSpPr>
        <p:spPr>
          <a:xfrm>
            <a:off x="624218" y="1517382"/>
            <a:ext cx="7972425" cy="482888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spc="-20" dirty="0">
                <a:latin typeface="Calibri"/>
                <a:cs typeface="Calibri"/>
              </a:rPr>
              <a:t>4. Reservoir </a:t>
            </a:r>
            <a:r>
              <a:rPr lang="en-US" sz="2800" spc="-20" dirty="0" err="1">
                <a:latin typeface="Calibri"/>
                <a:cs typeface="Calibri"/>
              </a:rPr>
              <a:t>panas</a:t>
            </a:r>
            <a:r>
              <a:rPr lang="en-US" sz="2800" spc="-20" dirty="0">
                <a:latin typeface="Calibri"/>
                <a:cs typeface="Calibri"/>
              </a:rPr>
              <a:t> </a:t>
            </a:r>
            <a:r>
              <a:rPr lang="en-US" sz="2800" spc="-20" dirty="0" err="1">
                <a:latin typeface="Calibri"/>
                <a:cs typeface="Calibri"/>
              </a:rPr>
              <a:t>bumi</a:t>
            </a:r>
            <a:r>
              <a:rPr lang="en-US" sz="2800" spc="-20" dirty="0">
                <a:latin typeface="Calibri"/>
                <a:cs typeface="Calibri"/>
              </a:rPr>
              <a:t> memiliki </a:t>
            </a:r>
            <a:r>
              <a:rPr lang="en-US" sz="2800" spc="-20" dirty="0" err="1">
                <a:latin typeface="Calibri"/>
                <a:cs typeface="Calibri"/>
              </a:rPr>
              <a:t>suhu</a:t>
            </a:r>
            <a:r>
              <a:rPr lang="en-US" sz="2800" spc="-20" dirty="0">
                <a:latin typeface="Calibri"/>
                <a:cs typeface="Calibri"/>
              </a:rPr>
              <a:t> 240 deg-C dan tekanan 33.4 </a:t>
            </a:r>
            <a:r>
              <a:rPr lang="en-US" sz="2800" spc="-20" dirty="0" err="1">
                <a:latin typeface="Calibri"/>
                <a:cs typeface="Calibri"/>
              </a:rPr>
              <a:t>barg</a:t>
            </a:r>
            <a:r>
              <a:rPr lang="en-US" sz="2800" spc="-20" dirty="0">
                <a:latin typeface="Calibri"/>
                <a:cs typeface="Calibri"/>
              </a:rPr>
              <a:t>-a. Apakah </a:t>
            </a:r>
            <a:r>
              <a:rPr lang="en-US" sz="2800" spc="-20" dirty="0" err="1">
                <a:latin typeface="Calibri"/>
                <a:cs typeface="Calibri"/>
              </a:rPr>
              <a:t>fasa</a:t>
            </a:r>
            <a:r>
              <a:rPr lang="en-US" sz="2800" spc="-20" dirty="0">
                <a:latin typeface="Calibri"/>
                <a:cs typeface="Calibri"/>
              </a:rPr>
              <a:t> reservoir ini? 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US" sz="2800" spc="-2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spc="-20" dirty="0">
                <a:latin typeface="Calibri"/>
                <a:cs typeface="Calibri"/>
              </a:rPr>
              <a:t>5. Berapa </a:t>
            </a:r>
            <a:r>
              <a:rPr lang="en-US" sz="2800" spc="-20" dirty="0" err="1">
                <a:latin typeface="Calibri"/>
                <a:cs typeface="Calibri"/>
              </a:rPr>
              <a:t>entalpi</a:t>
            </a:r>
            <a:r>
              <a:rPr lang="en-US" sz="2800" spc="-20" dirty="0">
                <a:latin typeface="Calibri"/>
                <a:cs typeface="Calibri"/>
              </a:rPr>
              <a:t> </a:t>
            </a:r>
            <a:r>
              <a:rPr lang="en-US" sz="2800" spc="-20" dirty="0" err="1">
                <a:latin typeface="Calibri"/>
                <a:cs typeface="Calibri"/>
              </a:rPr>
              <a:t>saturasi</a:t>
            </a:r>
            <a:r>
              <a:rPr lang="en-US" sz="2800" spc="-20" dirty="0">
                <a:latin typeface="Calibri"/>
                <a:cs typeface="Calibri"/>
              </a:rPr>
              <a:t> air dan uap pada </a:t>
            </a:r>
            <a:r>
              <a:rPr lang="en-US" sz="2800" spc="-20" dirty="0" err="1">
                <a:latin typeface="Calibri"/>
                <a:cs typeface="Calibri"/>
              </a:rPr>
              <a:t>suhu</a:t>
            </a:r>
            <a:r>
              <a:rPr lang="en-US" sz="2800" spc="-20" dirty="0">
                <a:latin typeface="Calibri"/>
                <a:cs typeface="Calibri"/>
              </a:rPr>
              <a:t> 100, 150, 200, dan 250 deg-C.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US" sz="2800" spc="-20" dirty="0">
              <a:latin typeface="Calibri"/>
              <a:cs typeface="Calibri"/>
            </a:endParaRPr>
          </a:p>
          <a:p>
            <a:pPr marL="12700">
              <a:spcBef>
                <a:spcPts val="95"/>
              </a:spcBef>
            </a:pPr>
            <a:r>
              <a:rPr lang="en-US" sz="2800" spc="-20" dirty="0">
                <a:latin typeface="Calibri"/>
                <a:cs typeface="Calibri"/>
              </a:rPr>
              <a:t>6. Berapa </a:t>
            </a:r>
            <a:r>
              <a:rPr lang="en-US" sz="2800" spc="-20" dirty="0" err="1">
                <a:latin typeface="Calibri"/>
                <a:cs typeface="Calibri"/>
              </a:rPr>
              <a:t>entalpi</a:t>
            </a:r>
            <a:r>
              <a:rPr lang="en-US" sz="2800" spc="-20" dirty="0">
                <a:latin typeface="Calibri"/>
                <a:cs typeface="Calibri"/>
              </a:rPr>
              <a:t> pada </a:t>
            </a:r>
            <a:r>
              <a:rPr lang="en-US" sz="2800" spc="-20" dirty="0" err="1">
                <a:latin typeface="Calibri"/>
                <a:cs typeface="Calibri"/>
              </a:rPr>
              <a:t>suhu</a:t>
            </a:r>
            <a:r>
              <a:rPr lang="en-US" sz="2800" spc="-20" dirty="0">
                <a:latin typeface="Calibri"/>
                <a:cs typeface="Calibri"/>
              </a:rPr>
              <a:t> 250 deg-C dan tekanan 60 bar-a.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US" sz="2800" spc="-20" dirty="0">
              <a:latin typeface="Calibri"/>
              <a:cs typeface="Calibri"/>
            </a:endParaRPr>
          </a:p>
          <a:p>
            <a:pPr marL="12700">
              <a:spcBef>
                <a:spcPts val="95"/>
              </a:spcBef>
            </a:pPr>
            <a:r>
              <a:rPr lang="en-US" sz="2800" spc="-20" dirty="0">
                <a:latin typeface="Calibri"/>
                <a:cs typeface="Calibri"/>
              </a:rPr>
              <a:t>7. Berapa </a:t>
            </a:r>
            <a:r>
              <a:rPr lang="en-US" sz="2800" spc="-20" dirty="0" err="1">
                <a:latin typeface="Calibri"/>
                <a:cs typeface="Calibri"/>
              </a:rPr>
              <a:t>entalpi</a:t>
            </a:r>
            <a:r>
              <a:rPr lang="en-US" sz="2800" spc="-20" dirty="0">
                <a:latin typeface="Calibri"/>
                <a:cs typeface="Calibri"/>
              </a:rPr>
              <a:t> pada </a:t>
            </a:r>
            <a:r>
              <a:rPr lang="en-US" sz="2800" spc="-20" dirty="0" err="1">
                <a:latin typeface="Calibri"/>
                <a:cs typeface="Calibri"/>
              </a:rPr>
              <a:t>suhu</a:t>
            </a:r>
            <a:r>
              <a:rPr lang="en-US" sz="2800" spc="-20" dirty="0">
                <a:latin typeface="Calibri"/>
                <a:cs typeface="Calibri"/>
              </a:rPr>
              <a:t> 300 deg-C dan tekanan 60 bar-a.</a:t>
            </a:r>
            <a:endParaRPr lang="en-US" sz="2800" dirty="0">
              <a:latin typeface="Calibri"/>
              <a:cs typeface="Calibri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5345F12F-BC9E-8B99-13A9-57FC421518C2}"/>
              </a:ext>
            </a:extLst>
          </p:cNvPr>
          <p:cNvGrpSpPr/>
          <p:nvPr/>
        </p:nvGrpSpPr>
        <p:grpSpPr>
          <a:xfrm>
            <a:off x="8565267" y="-230559"/>
            <a:ext cx="4041826" cy="1056432"/>
            <a:chOff x="0" y="0"/>
            <a:chExt cx="9621976" cy="251494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7FE34BE-6CD4-96B5-7B9C-0A6B050E52CE}"/>
                </a:ext>
              </a:extLst>
            </p:cNvPr>
            <p:cNvGrpSpPr/>
            <p:nvPr/>
          </p:nvGrpSpPr>
          <p:grpSpPr>
            <a:xfrm>
              <a:off x="2159701" y="0"/>
              <a:ext cx="7462275" cy="2514942"/>
              <a:chOff x="0" y="0"/>
              <a:chExt cx="1198684" cy="403981"/>
            </a:xfrm>
          </p:grpSpPr>
          <p:sp>
            <p:nvSpPr>
              <p:cNvPr id="10" name="Freeform 8">
                <a:extLst>
                  <a:ext uri="{FF2B5EF4-FFF2-40B4-BE49-F238E27FC236}">
                    <a16:creationId xmlns:a16="http://schemas.microsoft.com/office/drawing/2014/main" id="{B6EF0799-568A-5F0C-1C91-226691095C92}"/>
                  </a:ext>
                </a:extLst>
              </p:cNvPr>
              <p:cNvSpPr/>
              <p:nvPr/>
            </p:nvSpPr>
            <p:spPr>
              <a:xfrm>
                <a:off x="0" y="0"/>
                <a:ext cx="1198684" cy="403981"/>
              </a:xfrm>
              <a:custGeom>
                <a:avLst/>
                <a:gdLst/>
                <a:ahLst/>
                <a:cxnLst/>
                <a:rect l="l" t="t" r="r" b="b"/>
                <a:pathLst>
                  <a:path w="1198684" h="403981">
                    <a:moveTo>
                      <a:pt x="0" y="0"/>
                    </a:moveTo>
                    <a:lnTo>
                      <a:pt x="1198684" y="0"/>
                    </a:lnTo>
                    <a:lnTo>
                      <a:pt x="1198684" y="403981"/>
                    </a:lnTo>
                    <a:lnTo>
                      <a:pt x="0" y="403981"/>
                    </a:lnTo>
                    <a:close/>
                  </a:path>
                </a:pathLst>
              </a:custGeom>
              <a:solidFill>
                <a:srgbClr val="6AD8BA"/>
              </a:solidFill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1" name="TextBox 9">
                <a:extLst>
                  <a:ext uri="{FF2B5EF4-FFF2-40B4-BE49-F238E27FC236}">
                    <a16:creationId xmlns:a16="http://schemas.microsoft.com/office/drawing/2014/main" id="{62971769-2191-6001-0578-3B1AC2B9700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198684" cy="442081"/>
              </a:xfrm>
              <a:prstGeom prst="rect">
                <a:avLst/>
              </a:prstGeom>
            </p:spPr>
            <p:txBody>
              <a:bodyPr lIns="62469" tIns="62469" rIns="62469" bIns="62469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140B9AA2-24D3-224B-83BC-3B786C60BCCC}"/>
                </a:ext>
              </a:extLst>
            </p:cNvPr>
            <p:cNvSpPr/>
            <p:nvPr/>
          </p:nvSpPr>
          <p:spPr>
            <a:xfrm>
              <a:off x="0" y="55310"/>
              <a:ext cx="2459631" cy="2459631"/>
            </a:xfrm>
            <a:custGeom>
              <a:avLst/>
              <a:gdLst/>
              <a:ahLst/>
              <a:cxnLst/>
              <a:rect l="l" t="t" r="r" b="b"/>
              <a:pathLst>
                <a:path w="2459631" h="2459631">
                  <a:moveTo>
                    <a:pt x="0" y="0"/>
                  </a:moveTo>
                  <a:lnTo>
                    <a:pt x="2459631" y="0"/>
                  </a:lnTo>
                  <a:lnTo>
                    <a:pt x="2459631" y="2459632"/>
                  </a:lnTo>
                  <a:lnTo>
                    <a:pt x="0" y="2459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d-ID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123CA6D0-B578-9D51-F7A7-B52A676168CF}"/>
                </a:ext>
              </a:extLst>
            </p:cNvPr>
            <p:cNvSpPr/>
            <p:nvPr/>
          </p:nvSpPr>
          <p:spPr>
            <a:xfrm>
              <a:off x="1229816" y="640193"/>
              <a:ext cx="6254139" cy="1557849"/>
            </a:xfrm>
            <a:custGeom>
              <a:avLst/>
              <a:gdLst/>
              <a:ahLst/>
              <a:cxnLst/>
              <a:rect l="l" t="t" r="r" b="b"/>
              <a:pathLst>
                <a:path w="6254139" h="1557849">
                  <a:moveTo>
                    <a:pt x="0" y="0"/>
                  </a:moveTo>
                  <a:lnTo>
                    <a:pt x="6254139" y="0"/>
                  </a:lnTo>
                  <a:lnTo>
                    <a:pt x="6254139" y="1557849"/>
                  </a:lnTo>
                  <a:lnTo>
                    <a:pt x="0" y="15578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id-ID"/>
            </a:p>
          </p:txBody>
        </p:sp>
      </p:grpSp>
      <p:sp>
        <p:nvSpPr>
          <p:cNvPr id="12" name="Freeform 2">
            <a:extLst>
              <a:ext uri="{FF2B5EF4-FFF2-40B4-BE49-F238E27FC236}">
                <a16:creationId xmlns:a16="http://schemas.microsoft.com/office/drawing/2014/main" id="{DE6DC6B9-ECAF-7FB1-BB53-3FD867960AAD}"/>
              </a:ext>
            </a:extLst>
          </p:cNvPr>
          <p:cNvSpPr/>
          <p:nvPr/>
        </p:nvSpPr>
        <p:spPr>
          <a:xfrm>
            <a:off x="11005844" y="5718403"/>
            <a:ext cx="1189700" cy="703592"/>
          </a:xfrm>
          <a:custGeom>
            <a:avLst/>
            <a:gdLst/>
            <a:ahLst/>
            <a:cxnLst/>
            <a:rect l="l" t="t" r="r" b="b"/>
            <a:pathLst>
              <a:path w="1844724" h="1844724">
                <a:moveTo>
                  <a:pt x="0" y="0"/>
                </a:moveTo>
                <a:lnTo>
                  <a:pt x="1844723" y="0"/>
                </a:lnTo>
                <a:lnTo>
                  <a:pt x="1844723" y="1844724"/>
                </a:lnTo>
                <a:lnTo>
                  <a:pt x="0" y="1844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grpSp>
        <p:nvGrpSpPr>
          <p:cNvPr id="13" name="Group 3">
            <a:extLst>
              <a:ext uri="{FF2B5EF4-FFF2-40B4-BE49-F238E27FC236}">
                <a16:creationId xmlns:a16="http://schemas.microsoft.com/office/drawing/2014/main" id="{45006AD6-D7DD-F5B5-6ED5-7B88FB00DE76}"/>
              </a:ext>
            </a:extLst>
          </p:cNvPr>
          <p:cNvGrpSpPr/>
          <p:nvPr/>
        </p:nvGrpSpPr>
        <p:grpSpPr>
          <a:xfrm>
            <a:off x="-228600" y="6401897"/>
            <a:ext cx="12649199" cy="702970"/>
            <a:chOff x="0" y="0"/>
            <a:chExt cx="4911100" cy="338538"/>
          </a:xfrm>
        </p:grpSpPr>
        <p:sp>
          <p:nvSpPr>
            <p:cNvPr id="14" name="Freeform 4">
              <a:extLst>
                <a:ext uri="{FF2B5EF4-FFF2-40B4-BE49-F238E27FC236}">
                  <a16:creationId xmlns:a16="http://schemas.microsoft.com/office/drawing/2014/main" id="{329E4A58-B37A-C520-C7CF-110808A13E51}"/>
                </a:ext>
              </a:extLst>
            </p:cNvPr>
            <p:cNvSpPr/>
            <p:nvPr/>
          </p:nvSpPr>
          <p:spPr>
            <a:xfrm>
              <a:off x="0" y="0"/>
              <a:ext cx="4911100" cy="338538"/>
            </a:xfrm>
            <a:custGeom>
              <a:avLst/>
              <a:gdLst/>
              <a:ahLst/>
              <a:cxnLst/>
              <a:rect l="l" t="t" r="r" b="b"/>
              <a:pathLst>
                <a:path w="4911100" h="338538">
                  <a:moveTo>
                    <a:pt x="0" y="0"/>
                  </a:moveTo>
                  <a:lnTo>
                    <a:pt x="4911100" y="0"/>
                  </a:lnTo>
                  <a:lnTo>
                    <a:pt x="4911100" y="338538"/>
                  </a:lnTo>
                  <a:lnTo>
                    <a:pt x="0" y="338538"/>
                  </a:lnTo>
                  <a:close/>
                </a:path>
              </a:pathLst>
            </a:custGeom>
            <a:solidFill>
              <a:srgbClr val="0E448C"/>
            </a:solidFill>
          </p:spPr>
          <p:txBody>
            <a:bodyPr/>
            <a:lstStyle/>
            <a:p>
              <a:endParaRPr lang="id-ID"/>
            </a:p>
          </p:txBody>
        </p:sp>
        <p:sp>
          <p:nvSpPr>
            <p:cNvPr id="15" name="TextBox 5">
              <a:extLst>
                <a:ext uri="{FF2B5EF4-FFF2-40B4-BE49-F238E27FC236}">
                  <a16:creationId xmlns:a16="http://schemas.microsoft.com/office/drawing/2014/main" id="{67BAA195-25EB-CE8A-E5EF-7071DC26DA90}"/>
                </a:ext>
              </a:extLst>
            </p:cNvPr>
            <p:cNvSpPr txBox="1"/>
            <p:nvPr/>
          </p:nvSpPr>
          <p:spPr>
            <a:xfrm>
              <a:off x="0" y="-57150"/>
              <a:ext cx="4911100" cy="395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4">
            <a:extLst>
              <a:ext uri="{FF2B5EF4-FFF2-40B4-BE49-F238E27FC236}">
                <a16:creationId xmlns:a16="http://schemas.microsoft.com/office/drawing/2014/main" id="{61D209B4-8F05-AC54-97CF-8A60D81C4DA9}"/>
              </a:ext>
            </a:extLst>
          </p:cNvPr>
          <p:cNvSpPr txBox="1"/>
          <p:nvPr/>
        </p:nvSpPr>
        <p:spPr>
          <a:xfrm>
            <a:off x="11457932" y="5825101"/>
            <a:ext cx="502120" cy="5622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19"/>
              </a:lnSpc>
            </a:pPr>
            <a:r>
              <a:rPr lang="en-US" sz="2800" dirty="0">
                <a:solidFill>
                  <a:srgbClr val="41478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39962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56D72-B0EC-DB9C-BA2A-919B87055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CEC5CED-D89B-7C03-5B75-9BFDDDD036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7928" y="576247"/>
            <a:ext cx="802513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b="1" spc="-10" dirty="0" err="1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Thermodinamika</a:t>
            </a:r>
            <a:endParaRPr sz="3200" b="1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8088603-51F5-F5B1-912F-B45F7F7ABF3B}"/>
              </a:ext>
            </a:extLst>
          </p:cNvPr>
          <p:cNvSpPr txBox="1"/>
          <p:nvPr/>
        </p:nvSpPr>
        <p:spPr>
          <a:xfrm>
            <a:off x="624218" y="1517382"/>
            <a:ext cx="7972425" cy="219226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spc="-20" dirty="0">
                <a:latin typeface="Calibri"/>
                <a:cs typeface="Calibri"/>
              </a:rPr>
              <a:t>8. Berapa </a:t>
            </a:r>
            <a:r>
              <a:rPr lang="en-US" sz="2800" spc="-20" dirty="0" err="1">
                <a:latin typeface="Calibri"/>
                <a:cs typeface="Calibri"/>
              </a:rPr>
              <a:t>entropi</a:t>
            </a:r>
            <a:r>
              <a:rPr lang="en-US" sz="2800" spc="-20" dirty="0">
                <a:latin typeface="Calibri"/>
                <a:cs typeface="Calibri"/>
              </a:rPr>
              <a:t> pada </a:t>
            </a:r>
            <a:r>
              <a:rPr lang="en-US" sz="2800" spc="-20" dirty="0" err="1">
                <a:latin typeface="Calibri"/>
                <a:cs typeface="Calibri"/>
              </a:rPr>
              <a:t>suhu</a:t>
            </a:r>
            <a:r>
              <a:rPr lang="en-US" sz="2800" spc="-20" dirty="0">
                <a:latin typeface="Calibri"/>
                <a:cs typeface="Calibri"/>
              </a:rPr>
              <a:t> 250 deg-C dan tekanan 60 bar-a.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US" sz="2800" spc="-20" dirty="0">
              <a:latin typeface="Calibri"/>
              <a:cs typeface="Calibri"/>
            </a:endParaRPr>
          </a:p>
          <a:p>
            <a:pPr marL="12700">
              <a:spcBef>
                <a:spcPts val="95"/>
              </a:spcBef>
            </a:pPr>
            <a:r>
              <a:rPr lang="en-US" sz="2800" spc="-20" dirty="0">
                <a:latin typeface="Calibri"/>
                <a:cs typeface="Calibri"/>
              </a:rPr>
              <a:t>9. Berapa </a:t>
            </a:r>
            <a:r>
              <a:rPr lang="en-US" sz="2800" spc="-20" dirty="0" err="1">
                <a:latin typeface="Calibri"/>
                <a:cs typeface="Calibri"/>
              </a:rPr>
              <a:t>entropi</a:t>
            </a:r>
            <a:r>
              <a:rPr lang="en-US" sz="2800" spc="-20" dirty="0">
                <a:latin typeface="Calibri"/>
                <a:cs typeface="Calibri"/>
              </a:rPr>
              <a:t> pada </a:t>
            </a:r>
            <a:r>
              <a:rPr lang="en-US" sz="2800" spc="-20" dirty="0" err="1">
                <a:latin typeface="Calibri"/>
                <a:cs typeface="Calibri"/>
              </a:rPr>
              <a:t>suhu</a:t>
            </a:r>
            <a:r>
              <a:rPr lang="en-US" sz="2800" spc="-20" dirty="0">
                <a:latin typeface="Calibri"/>
                <a:cs typeface="Calibri"/>
              </a:rPr>
              <a:t> 300 deg-C dan tekanan 60 bar-a.</a:t>
            </a:r>
            <a:endParaRPr lang="en-US" sz="2800" dirty="0">
              <a:latin typeface="Calibri"/>
              <a:cs typeface="Calibri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13238A63-4FA8-DF67-AC98-D8026E46FDB0}"/>
              </a:ext>
            </a:extLst>
          </p:cNvPr>
          <p:cNvGrpSpPr/>
          <p:nvPr/>
        </p:nvGrpSpPr>
        <p:grpSpPr>
          <a:xfrm>
            <a:off x="8565267" y="-230559"/>
            <a:ext cx="4041826" cy="1056432"/>
            <a:chOff x="0" y="0"/>
            <a:chExt cx="9621976" cy="251494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F9DD518-9C3D-421F-3656-6F7CFDD67080}"/>
                </a:ext>
              </a:extLst>
            </p:cNvPr>
            <p:cNvGrpSpPr/>
            <p:nvPr/>
          </p:nvGrpSpPr>
          <p:grpSpPr>
            <a:xfrm>
              <a:off x="2159701" y="0"/>
              <a:ext cx="7462275" cy="2514942"/>
              <a:chOff x="0" y="0"/>
              <a:chExt cx="1198684" cy="403981"/>
            </a:xfrm>
          </p:grpSpPr>
          <p:sp>
            <p:nvSpPr>
              <p:cNvPr id="10" name="Freeform 8">
                <a:extLst>
                  <a:ext uri="{FF2B5EF4-FFF2-40B4-BE49-F238E27FC236}">
                    <a16:creationId xmlns:a16="http://schemas.microsoft.com/office/drawing/2014/main" id="{EC0E5FF4-8AA7-D789-A207-73D1F162A470}"/>
                  </a:ext>
                </a:extLst>
              </p:cNvPr>
              <p:cNvSpPr/>
              <p:nvPr/>
            </p:nvSpPr>
            <p:spPr>
              <a:xfrm>
                <a:off x="0" y="0"/>
                <a:ext cx="1198684" cy="403981"/>
              </a:xfrm>
              <a:custGeom>
                <a:avLst/>
                <a:gdLst/>
                <a:ahLst/>
                <a:cxnLst/>
                <a:rect l="l" t="t" r="r" b="b"/>
                <a:pathLst>
                  <a:path w="1198684" h="403981">
                    <a:moveTo>
                      <a:pt x="0" y="0"/>
                    </a:moveTo>
                    <a:lnTo>
                      <a:pt x="1198684" y="0"/>
                    </a:lnTo>
                    <a:lnTo>
                      <a:pt x="1198684" y="403981"/>
                    </a:lnTo>
                    <a:lnTo>
                      <a:pt x="0" y="403981"/>
                    </a:lnTo>
                    <a:close/>
                  </a:path>
                </a:pathLst>
              </a:custGeom>
              <a:solidFill>
                <a:srgbClr val="6AD8BA"/>
              </a:solidFill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1" name="TextBox 9">
                <a:extLst>
                  <a:ext uri="{FF2B5EF4-FFF2-40B4-BE49-F238E27FC236}">
                    <a16:creationId xmlns:a16="http://schemas.microsoft.com/office/drawing/2014/main" id="{6A87B5BF-C8C8-1617-4988-2381F0E7603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198684" cy="442081"/>
              </a:xfrm>
              <a:prstGeom prst="rect">
                <a:avLst/>
              </a:prstGeom>
            </p:spPr>
            <p:txBody>
              <a:bodyPr lIns="62469" tIns="62469" rIns="62469" bIns="62469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F6DC8B0F-CAB1-5CD2-E98B-40420A1A9F0D}"/>
                </a:ext>
              </a:extLst>
            </p:cNvPr>
            <p:cNvSpPr/>
            <p:nvPr/>
          </p:nvSpPr>
          <p:spPr>
            <a:xfrm>
              <a:off x="0" y="55310"/>
              <a:ext cx="2459631" cy="2459631"/>
            </a:xfrm>
            <a:custGeom>
              <a:avLst/>
              <a:gdLst/>
              <a:ahLst/>
              <a:cxnLst/>
              <a:rect l="l" t="t" r="r" b="b"/>
              <a:pathLst>
                <a:path w="2459631" h="2459631">
                  <a:moveTo>
                    <a:pt x="0" y="0"/>
                  </a:moveTo>
                  <a:lnTo>
                    <a:pt x="2459631" y="0"/>
                  </a:lnTo>
                  <a:lnTo>
                    <a:pt x="2459631" y="2459632"/>
                  </a:lnTo>
                  <a:lnTo>
                    <a:pt x="0" y="2459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d-ID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3D8A8F8A-F35A-FCA4-FBA0-86F117339134}"/>
                </a:ext>
              </a:extLst>
            </p:cNvPr>
            <p:cNvSpPr/>
            <p:nvPr/>
          </p:nvSpPr>
          <p:spPr>
            <a:xfrm>
              <a:off x="1229816" y="640193"/>
              <a:ext cx="6254139" cy="1557849"/>
            </a:xfrm>
            <a:custGeom>
              <a:avLst/>
              <a:gdLst/>
              <a:ahLst/>
              <a:cxnLst/>
              <a:rect l="l" t="t" r="r" b="b"/>
              <a:pathLst>
                <a:path w="6254139" h="1557849">
                  <a:moveTo>
                    <a:pt x="0" y="0"/>
                  </a:moveTo>
                  <a:lnTo>
                    <a:pt x="6254139" y="0"/>
                  </a:lnTo>
                  <a:lnTo>
                    <a:pt x="6254139" y="1557849"/>
                  </a:lnTo>
                  <a:lnTo>
                    <a:pt x="0" y="15578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id-ID"/>
            </a:p>
          </p:txBody>
        </p:sp>
      </p:grpSp>
      <p:sp>
        <p:nvSpPr>
          <p:cNvPr id="12" name="Freeform 2">
            <a:extLst>
              <a:ext uri="{FF2B5EF4-FFF2-40B4-BE49-F238E27FC236}">
                <a16:creationId xmlns:a16="http://schemas.microsoft.com/office/drawing/2014/main" id="{57C5A37C-55A1-7F3E-09A5-1281D06CCE50}"/>
              </a:ext>
            </a:extLst>
          </p:cNvPr>
          <p:cNvSpPr/>
          <p:nvPr/>
        </p:nvSpPr>
        <p:spPr>
          <a:xfrm>
            <a:off x="11005844" y="5718403"/>
            <a:ext cx="1189700" cy="703592"/>
          </a:xfrm>
          <a:custGeom>
            <a:avLst/>
            <a:gdLst/>
            <a:ahLst/>
            <a:cxnLst/>
            <a:rect l="l" t="t" r="r" b="b"/>
            <a:pathLst>
              <a:path w="1844724" h="1844724">
                <a:moveTo>
                  <a:pt x="0" y="0"/>
                </a:moveTo>
                <a:lnTo>
                  <a:pt x="1844723" y="0"/>
                </a:lnTo>
                <a:lnTo>
                  <a:pt x="1844723" y="1844724"/>
                </a:lnTo>
                <a:lnTo>
                  <a:pt x="0" y="1844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grpSp>
        <p:nvGrpSpPr>
          <p:cNvPr id="13" name="Group 3">
            <a:extLst>
              <a:ext uri="{FF2B5EF4-FFF2-40B4-BE49-F238E27FC236}">
                <a16:creationId xmlns:a16="http://schemas.microsoft.com/office/drawing/2014/main" id="{811A708C-C299-198F-11B4-F9E5D9C84B89}"/>
              </a:ext>
            </a:extLst>
          </p:cNvPr>
          <p:cNvGrpSpPr/>
          <p:nvPr/>
        </p:nvGrpSpPr>
        <p:grpSpPr>
          <a:xfrm>
            <a:off x="-228600" y="6401897"/>
            <a:ext cx="12649199" cy="702970"/>
            <a:chOff x="0" y="0"/>
            <a:chExt cx="4911100" cy="338538"/>
          </a:xfrm>
        </p:grpSpPr>
        <p:sp>
          <p:nvSpPr>
            <p:cNvPr id="14" name="Freeform 4">
              <a:extLst>
                <a:ext uri="{FF2B5EF4-FFF2-40B4-BE49-F238E27FC236}">
                  <a16:creationId xmlns:a16="http://schemas.microsoft.com/office/drawing/2014/main" id="{5B381F02-4126-C134-FC5F-D37BBB207539}"/>
                </a:ext>
              </a:extLst>
            </p:cNvPr>
            <p:cNvSpPr/>
            <p:nvPr/>
          </p:nvSpPr>
          <p:spPr>
            <a:xfrm>
              <a:off x="0" y="0"/>
              <a:ext cx="4911100" cy="338538"/>
            </a:xfrm>
            <a:custGeom>
              <a:avLst/>
              <a:gdLst/>
              <a:ahLst/>
              <a:cxnLst/>
              <a:rect l="l" t="t" r="r" b="b"/>
              <a:pathLst>
                <a:path w="4911100" h="338538">
                  <a:moveTo>
                    <a:pt x="0" y="0"/>
                  </a:moveTo>
                  <a:lnTo>
                    <a:pt x="4911100" y="0"/>
                  </a:lnTo>
                  <a:lnTo>
                    <a:pt x="4911100" y="338538"/>
                  </a:lnTo>
                  <a:lnTo>
                    <a:pt x="0" y="338538"/>
                  </a:lnTo>
                  <a:close/>
                </a:path>
              </a:pathLst>
            </a:custGeom>
            <a:solidFill>
              <a:srgbClr val="0E448C"/>
            </a:solidFill>
          </p:spPr>
          <p:txBody>
            <a:bodyPr/>
            <a:lstStyle/>
            <a:p>
              <a:endParaRPr lang="id-ID"/>
            </a:p>
          </p:txBody>
        </p:sp>
        <p:sp>
          <p:nvSpPr>
            <p:cNvPr id="15" name="TextBox 5">
              <a:extLst>
                <a:ext uri="{FF2B5EF4-FFF2-40B4-BE49-F238E27FC236}">
                  <a16:creationId xmlns:a16="http://schemas.microsoft.com/office/drawing/2014/main" id="{5D7AE356-034C-D90A-BC45-F7D60FCACFFE}"/>
                </a:ext>
              </a:extLst>
            </p:cNvPr>
            <p:cNvSpPr txBox="1"/>
            <p:nvPr/>
          </p:nvSpPr>
          <p:spPr>
            <a:xfrm>
              <a:off x="0" y="-57150"/>
              <a:ext cx="4911100" cy="395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4">
            <a:extLst>
              <a:ext uri="{FF2B5EF4-FFF2-40B4-BE49-F238E27FC236}">
                <a16:creationId xmlns:a16="http://schemas.microsoft.com/office/drawing/2014/main" id="{D34389DD-72FC-BF77-4D88-A8FB8E655914}"/>
              </a:ext>
            </a:extLst>
          </p:cNvPr>
          <p:cNvSpPr txBox="1"/>
          <p:nvPr/>
        </p:nvSpPr>
        <p:spPr>
          <a:xfrm>
            <a:off x="11457932" y="5825101"/>
            <a:ext cx="502120" cy="5622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19"/>
              </a:lnSpc>
            </a:pPr>
            <a:r>
              <a:rPr lang="en-US" sz="2800" dirty="0">
                <a:solidFill>
                  <a:srgbClr val="41478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57907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0975" y="2094148"/>
            <a:ext cx="5085543" cy="2590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121"/>
              </a:lnSpc>
            </a:pPr>
            <a:r>
              <a:rPr lang="en-US" sz="9284" b="1">
                <a:solidFill>
                  <a:srgbClr val="41478F"/>
                </a:solidFill>
                <a:latin typeface="Poppins Bold"/>
                <a:ea typeface="Poppins Bold"/>
                <a:cs typeface="Poppins Bold"/>
                <a:sym typeface="Poppins Bold"/>
              </a:rPr>
              <a:t>TERIMA </a:t>
            </a:r>
          </a:p>
          <a:p>
            <a:pPr>
              <a:lnSpc>
                <a:spcPts val="10121"/>
              </a:lnSpc>
            </a:pPr>
            <a:r>
              <a:rPr lang="en-US" sz="9284" b="1">
                <a:solidFill>
                  <a:srgbClr val="41478F"/>
                </a:solidFill>
                <a:latin typeface="Poppins Bold"/>
                <a:ea typeface="Poppins Bold"/>
                <a:cs typeface="Poppins Bold"/>
                <a:sym typeface="Poppins Bold"/>
              </a:rPr>
              <a:t>KASIH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5986519" y="0"/>
            <a:ext cx="6413732" cy="6413732"/>
            <a:chOff x="0" y="0"/>
            <a:chExt cx="12827464" cy="12827464"/>
          </a:xfrm>
        </p:grpSpPr>
        <p:grpSp>
          <p:nvGrpSpPr>
            <p:cNvPr id="4" name="Group 4"/>
            <p:cNvGrpSpPr/>
            <p:nvPr/>
          </p:nvGrpSpPr>
          <p:grpSpPr>
            <a:xfrm>
              <a:off x="3668137" y="6891230"/>
              <a:ext cx="2170108" cy="2170108"/>
              <a:chOff x="0" y="0"/>
              <a:chExt cx="812800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AD8BA"/>
              </a:solidFill>
            </p:spPr>
            <p:txBody>
              <a:bodyPr/>
              <a:lstStyle/>
              <a:p>
                <a:endParaRPr lang="id-ID" sz="1200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3938" tIns="53938" rIns="53938" bIns="53938" rtlCol="0" anchor="ctr"/>
              <a:lstStyle/>
              <a:p>
                <a:pPr algn="ctr">
                  <a:lnSpc>
                    <a:spcPts val="836"/>
                  </a:lnSpc>
                </a:pPr>
                <a:endParaRPr sz="1200"/>
              </a:p>
            </p:txBody>
          </p:sp>
        </p:grpSp>
        <p:sp>
          <p:nvSpPr>
            <p:cNvPr id="7" name="Freeform 7"/>
            <p:cNvSpPr/>
            <p:nvPr/>
          </p:nvSpPr>
          <p:spPr>
            <a:xfrm rot="-5400000">
              <a:off x="6413732" y="6413732"/>
              <a:ext cx="6413732" cy="6413732"/>
            </a:xfrm>
            <a:custGeom>
              <a:avLst/>
              <a:gdLst/>
              <a:ahLst/>
              <a:cxnLst/>
              <a:rect l="l" t="t" r="r" b="b"/>
              <a:pathLst>
                <a:path w="6413732" h="6413732">
                  <a:moveTo>
                    <a:pt x="0" y="0"/>
                  </a:moveTo>
                  <a:lnTo>
                    <a:pt x="6413732" y="0"/>
                  </a:lnTo>
                  <a:lnTo>
                    <a:pt x="6413732" y="6413732"/>
                  </a:lnTo>
                  <a:lnTo>
                    <a:pt x="0" y="6413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d-ID" sz="1200"/>
            </a:p>
          </p:txBody>
        </p:sp>
        <p:sp>
          <p:nvSpPr>
            <p:cNvPr id="8" name="Freeform 8"/>
            <p:cNvSpPr/>
            <p:nvPr/>
          </p:nvSpPr>
          <p:spPr>
            <a:xfrm rot="-5400000">
              <a:off x="0" y="0"/>
              <a:ext cx="6413732" cy="6413732"/>
            </a:xfrm>
            <a:custGeom>
              <a:avLst/>
              <a:gdLst/>
              <a:ahLst/>
              <a:cxnLst/>
              <a:rect l="l" t="t" r="r" b="b"/>
              <a:pathLst>
                <a:path w="6413732" h="6413732">
                  <a:moveTo>
                    <a:pt x="0" y="0"/>
                  </a:moveTo>
                  <a:lnTo>
                    <a:pt x="6413732" y="0"/>
                  </a:lnTo>
                  <a:lnTo>
                    <a:pt x="6413732" y="6413732"/>
                  </a:lnTo>
                  <a:lnTo>
                    <a:pt x="0" y="6413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d-ID" sz="1200"/>
            </a:p>
          </p:txBody>
        </p:sp>
        <p:sp>
          <p:nvSpPr>
            <p:cNvPr id="9" name="Freeform 9"/>
            <p:cNvSpPr/>
            <p:nvPr/>
          </p:nvSpPr>
          <p:spPr>
            <a:xfrm rot="-5400000">
              <a:off x="4452716" y="0"/>
              <a:ext cx="8038205" cy="8038205"/>
            </a:xfrm>
            <a:custGeom>
              <a:avLst/>
              <a:gdLst/>
              <a:ahLst/>
              <a:cxnLst/>
              <a:rect l="l" t="t" r="r" b="b"/>
              <a:pathLst>
                <a:path w="8038205" h="8038205">
                  <a:moveTo>
                    <a:pt x="0" y="0"/>
                  </a:moveTo>
                  <a:lnTo>
                    <a:pt x="8038205" y="0"/>
                  </a:lnTo>
                  <a:lnTo>
                    <a:pt x="8038205" y="8038205"/>
                  </a:lnTo>
                  <a:lnTo>
                    <a:pt x="0" y="80382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d-ID" sz="1200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88880" y="5079324"/>
            <a:ext cx="7411585" cy="938321"/>
            <a:chOff x="0" y="0"/>
            <a:chExt cx="14823171" cy="1876643"/>
          </a:xfrm>
        </p:grpSpPr>
        <p:sp>
          <p:nvSpPr>
            <p:cNvPr id="11" name="Freeform 11"/>
            <p:cNvSpPr/>
            <p:nvPr/>
          </p:nvSpPr>
          <p:spPr>
            <a:xfrm>
              <a:off x="1826421" y="0"/>
              <a:ext cx="1758090" cy="1753541"/>
            </a:xfrm>
            <a:custGeom>
              <a:avLst/>
              <a:gdLst/>
              <a:ahLst/>
              <a:cxnLst/>
              <a:rect l="l" t="t" r="r" b="b"/>
              <a:pathLst>
                <a:path w="1758090" h="1753541">
                  <a:moveTo>
                    <a:pt x="0" y="0"/>
                  </a:moveTo>
                  <a:lnTo>
                    <a:pt x="1758090" y="0"/>
                  </a:lnTo>
                  <a:lnTo>
                    <a:pt x="1758090" y="1753541"/>
                  </a:lnTo>
                  <a:lnTo>
                    <a:pt x="0" y="17535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id-ID" sz="1200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42563"/>
              <a:ext cx="1668416" cy="1668416"/>
            </a:xfrm>
            <a:custGeom>
              <a:avLst/>
              <a:gdLst/>
              <a:ahLst/>
              <a:cxnLst/>
              <a:rect l="l" t="t" r="r" b="b"/>
              <a:pathLst>
                <a:path w="1668416" h="1668416">
                  <a:moveTo>
                    <a:pt x="0" y="0"/>
                  </a:moveTo>
                  <a:lnTo>
                    <a:pt x="1668416" y="0"/>
                  </a:lnTo>
                  <a:lnTo>
                    <a:pt x="1668416" y="1668415"/>
                  </a:lnTo>
                  <a:lnTo>
                    <a:pt x="0" y="1668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id-ID" sz="1200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3787318" y="316036"/>
              <a:ext cx="4490629" cy="1121469"/>
            </a:xfrm>
            <a:custGeom>
              <a:avLst/>
              <a:gdLst/>
              <a:ahLst/>
              <a:cxnLst/>
              <a:rect l="l" t="t" r="r" b="b"/>
              <a:pathLst>
                <a:path w="4490629" h="1121469">
                  <a:moveTo>
                    <a:pt x="0" y="0"/>
                  </a:moveTo>
                  <a:lnTo>
                    <a:pt x="4490629" y="0"/>
                  </a:lnTo>
                  <a:lnTo>
                    <a:pt x="4490629" y="1121469"/>
                  </a:lnTo>
                  <a:lnTo>
                    <a:pt x="0" y="1121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id-ID" sz="1200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10003167" y="542884"/>
              <a:ext cx="4820004" cy="865592"/>
            </a:xfrm>
            <a:custGeom>
              <a:avLst/>
              <a:gdLst/>
              <a:ahLst/>
              <a:cxnLst/>
              <a:rect l="l" t="t" r="r" b="b"/>
              <a:pathLst>
                <a:path w="4820004" h="865592">
                  <a:moveTo>
                    <a:pt x="0" y="0"/>
                  </a:moveTo>
                  <a:lnTo>
                    <a:pt x="4820004" y="0"/>
                  </a:lnTo>
                  <a:lnTo>
                    <a:pt x="4820004" y="865593"/>
                  </a:lnTo>
                  <a:lnTo>
                    <a:pt x="0" y="8655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id-ID" sz="1200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8472662" y="0"/>
              <a:ext cx="1368243" cy="1876643"/>
            </a:xfrm>
            <a:custGeom>
              <a:avLst/>
              <a:gdLst/>
              <a:ahLst/>
              <a:cxnLst/>
              <a:rect l="l" t="t" r="r" b="b"/>
              <a:pathLst>
                <a:path w="1368243" h="1876643">
                  <a:moveTo>
                    <a:pt x="0" y="0"/>
                  </a:moveTo>
                  <a:lnTo>
                    <a:pt x="1368243" y="0"/>
                  </a:lnTo>
                  <a:lnTo>
                    <a:pt x="1368243" y="1876643"/>
                  </a:lnTo>
                  <a:lnTo>
                    <a:pt x="0" y="18766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id-ID" sz="120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357</TotalTime>
  <Words>246</Words>
  <Application>Microsoft Office PowerPoint</Application>
  <PresentationFormat>Widescreen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Calibri Light</vt:lpstr>
      <vt:lpstr>Poppins</vt:lpstr>
      <vt:lpstr>Poppins Bold</vt:lpstr>
      <vt:lpstr>Office Theme</vt:lpstr>
      <vt:lpstr>LATIHAN SENDIRI  Ali Ashat Sabtu, 30 November 2024</vt:lpstr>
      <vt:lpstr>Thermodinamika</vt:lpstr>
      <vt:lpstr>Thermodinamika</vt:lpstr>
      <vt:lpstr>Thermodinamika</vt:lpstr>
      <vt:lpstr>Thermodinamika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ali ashat</dc:creator>
  <cp:lastModifiedBy>MUHAMMAD HAMMAM REZA</cp:lastModifiedBy>
  <cp:revision>6</cp:revision>
  <dcterms:created xsi:type="dcterms:W3CDTF">2024-11-29T03:40:18Z</dcterms:created>
  <dcterms:modified xsi:type="dcterms:W3CDTF">2024-12-06T06:33:55Z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2023-12-07T00:00:00Z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2024-11-29T00:00:00Z</vt:filetime>
  </property>
</Properties>
</file>